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267" r:id="rId2"/>
    <p:sldId id="257" r:id="rId3"/>
    <p:sldId id="350" r:id="rId4"/>
    <p:sldId id="353" r:id="rId5"/>
    <p:sldId id="354" r:id="rId6"/>
    <p:sldId id="355" r:id="rId7"/>
    <p:sldId id="356" r:id="rId8"/>
    <p:sldId id="367" r:id="rId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69" autoAdjust="0"/>
    <p:restoredTop sz="93238" autoAdjust="0"/>
  </p:normalViewPr>
  <p:slideViewPr>
    <p:cSldViewPr>
      <p:cViewPr varScale="1">
        <p:scale>
          <a:sx n="63" d="100"/>
          <a:sy n="63" d="100"/>
        </p:scale>
        <p:origin x="1426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6B92C-A3ED-43FA-BADF-87F6441901AD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8B23C-602E-4E3B-978A-A2DE0905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13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8A0B8-2FB9-4F62-9B25-57B65BFF151F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12D48-EB1D-4C38-ABBD-2CDE5BB58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65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A12D48-EB1D-4C38-ABBD-2CDE5BB583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74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A12D48-EB1D-4C38-ABBD-2CDE5BB583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49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UML defines 13 diagrams that describe 4+1 architectural 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A12D48-EB1D-4C38-ABBD-2CDE5BB583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49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A12D48-EB1D-4C38-ABBD-2CDE5BB583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49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A12D48-EB1D-4C38-ABBD-2CDE5BB583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49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A12D48-EB1D-4C38-ABBD-2CDE5BB583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49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1295400"/>
            <a:ext cx="8229600" cy="2057400"/>
          </a:xfrm>
          <a:prstGeom prst="roundRect">
            <a:avLst/>
          </a:prstGeom>
          <a:solidFill>
            <a:srgbClr val="3333B2"/>
          </a:solidFill>
          <a:ln>
            <a:solidFill>
              <a:srgbClr val="3333B2"/>
            </a:solidFill>
          </a:ln>
          <a:effectLst>
            <a:outerShdw blurRad="114300" dist="152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1563" y="6488113"/>
            <a:ext cx="3500437" cy="369887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7772400" cy="1752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505200"/>
            <a:ext cx="6400800" cy="5334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492875"/>
            <a:ext cx="11430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/>
          <p:cNvSpPr txBox="1">
            <a:spLocks/>
          </p:cNvSpPr>
          <p:nvPr/>
        </p:nvSpPr>
        <p:spPr bwMode="auto">
          <a:xfrm>
            <a:off x="1219200" y="685800"/>
            <a:ext cx="6400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Click to edit Master subtitle style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/>
            </a:lvl1pPr>
            <a:lvl2pPr>
              <a:buSzPct val="60000"/>
              <a:buFontTx/>
              <a:buBlip>
                <a:blip r:embed="rId3"/>
              </a:buBlip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762000"/>
          </a:xfrm>
        </p:spPr>
        <p:txBody>
          <a:bodyPr/>
          <a:lstStyle>
            <a:lvl1pPr marL="18288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81000" y="2057400"/>
            <a:ext cx="8229600" cy="2057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05062"/>
            <a:ext cx="7772400" cy="1362075"/>
          </a:xfrm>
        </p:spPr>
        <p:txBody>
          <a:bodyPr anchor="ctr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71563" y="6488113"/>
            <a:ext cx="3500437" cy="369887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+mn-lt"/>
                <a:cs typeface="+mn-cs"/>
              </a:rPr>
              <a:t>Vu Pham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066800"/>
            <a:ext cx="42672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800"/>
            </a:lvl1pPr>
            <a:lvl2pPr>
              <a:buSzPct val="60000"/>
              <a:buFontTx/>
              <a:buBlip>
                <a:blip r:embed="rId2"/>
              </a:buBlip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2672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800"/>
            </a:lvl1pPr>
            <a:lvl2pPr>
              <a:buSzPct val="60000"/>
              <a:buFontTx/>
              <a:buBlip>
                <a:blip r:embed="rId2"/>
              </a:buBlip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762000"/>
          </a:xfrm>
        </p:spPr>
        <p:txBody>
          <a:bodyPr/>
          <a:lstStyle>
            <a:lvl1pPr marL="18288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0" y="6492875"/>
            <a:ext cx="3505200" cy="365125"/>
          </a:xfrm>
        </p:spPr>
        <p:txBody>
          <a:bodyPr/>
          <a:lstStyle>
            <a:lvl1pPr algn="l">
              <a:defRPr baseline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6400"/>
            <a:ext cx="4040188" cy="44497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400"/>
            </a:lvl1pPr>
            <a:lvl2pPr>
              <a:buSzPct val="60000"/>
              <a:buFontTx/>
              <a:buBlip>
                <a:blip r:embed="rId2"/>
              </a:buBlip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906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6400"/>
            <a:ext cx="4041775" cy="44497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400"/>
            </a:lvl1pPr>
            <a:lvl2pPr>
              <a:buSzPct val="60000"/>
              <a:buFontTx/>
              <a:buBlip>
                <a:blip r:embed="rId2"/>
              </a:buBlip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066800" y="6477000"/>
            <a:ext cx="3505200" cy="381000"/>
          </a:xfrm>
        </p:spPr>
        <p:txBody>
          <a:bodyPr anchor="ctr">
            <a:normAutofit/>
          </a:bodyPr>
          <a:lstStyle>
            <a:lvl1pPr algn="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066800" y="6477000"/>
            <a:ext cx="3505200" cy="381000"/>
          </a:xfrm>
        </p:spPr>
        <p:txBody>
          <a:bodyPr anchor="ctr">
            <a:normAutofit/>
          </a:bodyPr>
          <a:lstStyle>
            <a:lvl1pPr algn="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wipe dir="r"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UML</a:t>
            </a:r>
          </a:p>
        </p:txBody>
      </p:sp>
      <p:sp>
        <p:nvSpPr>
          <p:cNvPr id="6" name="Subtitle 4"/>
          <p:cNvSpPr txBox="1">
            <a:spLocks/>
          </p:cNvSpPr>
          <p:nvPr/>
        </p:nvSpPr>
        <p:spPr bwMode="auto">
          <a:xfrm>
            <a:off x="533400" y="685800"/>
            <a:ext cx="2133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srgbClr val="00B0F0"/>
                </a:solidFill>
              </a:rPr>
              <a:t>Chương</a:t>
            </a:r>
            <a:r>
              <a:rPr lang="en-US" b="1">
                <a:solidFill>
                  <a:srgbClr val="00B0F0"/>
                </a:solidFill>
              </a:rPr>
              <a:t> 4</a:t>
            </a:r>
            <a:endParaRPr lang="en-US" b="1" dirty="0">
              <a:solidFill>
                <a:srgbClr val="00B0F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76200"/>
            <a:ext cx="1645340" cy="11049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67339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2514599"/>
          </a:xfrm>
        </p:spPr>
        <p:txBody>
          <a:bodyPr/>
          <a:lstStyle/>
          <a:p>
            <a:r>
              <a:rPr lang="en-US"/>
              <a:t>UML</a:t>
            </a:r>
          </a:p>
          <a:p>
            <a:r>
              <a:rPr lang="en-US"/>
              <a:t>Các dạng biểu đồ cơ bản trong UML</a:t>
            </a:r>
          </a:p>
          <a:p>
            <a:r>
              <a:rPr lang="en-US"/>
              <a:t>Nắm bắt yêu cầu</a:t>
            </a:r>
          </a:p>
          <a:p>
            <a:r>
              <a:rPr lang="en-US"/>
              <a:t>Mô hình hóa yêu cầu</a:t>
            </a:r>
          </a:p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69529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6693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5029199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00B050"/>
                </a:solidFill>
              </a:rPr>
              <a:t>Khái niệm: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Ngôn ngữ </a:t>
            </a:r>
            <a:r>
              <a:rPr lang="en-US" b="1">
                <a:solidFill>
                  <a:srgbClr val="FF0000"/>
                </a:solidFill>
              </a:rPr>
              <a:t>mô hình hóa</a:t>
            </a:r>
            <a:r>
              <a:rPr lang="en-US"/>
              <a:t> hợp nhất (UML – Unified Modeling Language)</a:t>
            </a:r>
          </a:p>
          <a:p>
            <a:pPr algn="just">
              <a:buFont typeface="Wingdings" pitchFamily="2" charset="2"/>
              <a:buChar char="Ø"/>
            </a:pPr>
            <a:r>
              <a:rPr lang="en-US"/>
              <a:t>Là ngôn ngữ được dùng để xác định, trực quan hóa, xây dựng và lập tài liệu cho các kết quả của quá trình xây dựng phần mềm</a:t>
            </a:r>
          </a:p>
          <a:p>
            <a:pPr algn="just">
              <a:buFont typeface="Wingdings" pitchFamily="2" charset="2"/>
              <a:buChar char="Ø"/>
            </a:pPr>
            <a:r>
              <a:rPr lang="en-US"/>
              <a:t>Ưu điểm: trực quan, dễ hiểu, </a:t>
            </a:r>
            <a:r>
              <a:rPr lang="en-US" b="1">
                <a:solidFill>
                  <a:srgbClr val="FF0000"/>
                </a:solidFill>
              </a:rPr>
              <a:t>theo tiêu chuẩn</a:t>
            </a:r>
            <a:r>
              <a:rPr lang="en-US"/>
              <a:t> và có thể được chia sẻ bởi các bên liên quan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20273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143000"/>
            <a:ext cx="8718261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75276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990600"/>
            <a:ext cx="8837613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09692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5333999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00B050"/>
                </a:solidFill>
              </a:rPr>
              <a:t>Một số dạng biểu đồ phổ biến: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Biểu đồ pha sử dụng (Use case Diagram)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Biểu đồ lớp (Class Diagram)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Biểu đồ đối tượng (Object Diagram)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Biểu đồ tuần tự (Sequence Diagram)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Biểu đồ tương tác (Communication Diagram)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Biểu đồ hoạt động (Activity Diagram)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Biểu đồ thành phần (Component Diagram)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Biểu đồ triển khai (Deployment Diagram)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72324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88734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17971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themes</Template>
  <TotalTime>5393</TotalTime>
  <Words>195</Words>
  <Application>Microsoft Office PowerPoint</Application>
  <PresentationFormat>On-screen Show (4:3)</PresentationFormat>
  <Paragraphs>41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Template</vt:lpstr>
      <vt:lpstr>UML</vt:lpstr>
      <vt:lpstr>NỘI DUNG</vt:lpstr>
      <vt:lpstr>UML</vt:lpstr>
      <vt:lpstr>UML</vt:lpstr>
      <vt:lpstr>UML</vt:lpstr>
      <vt:lpstr>UML</vt:lpstr>
      <vt:lpstr>UML</vt:lpstr>
      <vt:lpstr>UML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Brene</dc:creator>
  <cp:lastModifiedBy>thao.ttt@huflit.edu.vn</cp:lastModifiedBy>
  <cp:revision>335</cp:revision>
  <cp:lastPrinted>2017-09-01T05:23:21Z</cp:lastPrinted>
  <dcterms:created xsi:type="dcterms:W3CDTF">2006-08-16T00:00:00Z</dcterms:created>
  <dcterms:modified xsi:type="dcterms:W3CDTF">2021-02-18T07:56:22Z</dcterms:modified>
</cp:coreProperties>
</file>