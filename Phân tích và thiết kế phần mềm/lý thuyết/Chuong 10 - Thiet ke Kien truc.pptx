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handoutMasterIdLst>
    <p:handoutMasterId r:id="rId32"/>
  </p:handoutMasterIdLst>
  <p:sldIdLst>
    <p:sldId id="267" r:id="rId2"/>
    <p:sldId id="257" r:id="rId3"/>
    <p:sldId id="350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69" autoAdjust="0"/>
    <p:restoredTop sz="93060" autoAdjust="0"/>
  </p:normalViewPr>
  <p:slideViewPr>
    <p:cSldViewPr>
      <p:cViewPr>
        <p:scale>
          <a:sx n="66" d="100"/>
          <a:sy n="66" d="100"/>
        </p:scale>
        <p:origin x="-2070" y="-6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6B92C-A3ED-43FA-BADF-87F6441901AD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8B23C-602E-4E3B-978A-A2DE0905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13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8A0B8-2FB9-4F62-9B25-57B65BFF151F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12D48-EB1D-4C38-ABBD-2CDE5BB58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65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 smtClean="0"/>
              <a:t>Học</a:t>
            </a:r>
            <a:r>
              <a:rPr lang="en-US" baseline="0" smtClean="0"/>
              <a:t> 3 </a:t>
            </a:r>
            <a:r>
              <a:rPr lang="en-US" baseline="0" err="1" smtClean="0"/>
              <a:t>buổi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A12D48-EB1D-4C38-ABBD-2CDE5BB583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74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1000" y="1295400"/>
            <a:ext cx="8229600" cy="2057400"/>
          </a:xfrm>
          <a:prstGeom prst="roundRect">
            <a:avLst/>
          </a:prstGeom>
          <a:solidFill>
            <a:srgbClr val="3333B2"/>
          </a:solidFill>
          <a:ln>
            <a:solidFill>
              <a:srgbClr val="3333B2"/>
            </a:solidFill>
          </a:ln>
          <a:effectLst>
            <a:outerShdw blurRad="114300" dist="152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71563" y="6488113"/>
            <a:ext cx="3500437" cy="369887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7772400" cy="1752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505200"/>
            <a:ext cx="6400800" cy="5334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492875"/>
            <a:ext cx="11430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title 2"/>
          <p:cNvSpPr txBox="1">
            <a:spLocks/>
          </p:cNvSpPr>
          <p:nvPr/>
        </p:nvSpPr>
        <p:spPr bwMode="auto">
          <a:xfrm>
            <a:off x="1219200" y="685800"/>
            <a:ext cx="6400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smtClean="0"/>
              <a:t>Click to edit Master subtitle style</a:t>
            </a:r>
            <a:endParaRPr lang="en-US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0593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/>
            </a:lvl1pPr>
            <a:lvl2pPr>
              <a:buSzPct val="60000"/>
              <a:buFontTx/>
              <a:buBlip>
                <a:blip r:embed="rId3"/>
              </a:buBlip>
              <a:defRPr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762000"/>
          </a:xfrm>
        </p:spPr>
        <p:txBody>
          <a:bodyPr/>
          <a:lstStyle>
            <a:lvl1pPr marL="182880" algn="l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81000" y="2057400"/>
            <a:ext cx="8229600" cy="2057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05062"/>
            <a:ext cx="7772400" cy="1362075"/>
          </a:xfrm>
        </p:spPr>
        <p:txBody>
          <a:bodyPr anchor="ctr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71563" y="6488113"/>
            <a:ext cx="3500437" cy="369887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  <a:latin typeface="+mn-lt"/>
                <a:cs typeface="+mn-cs"/>
              </a:rPr>
              <a:t>Vu Pham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066800"/>
            <a:ext cx="4267200" cy="50593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800"/>
            </a:lvl1pPr>
            <a:lvl2pPr>
              <a:buSzPct val="60000"/>
              <a:buFontTx/>
              <a:buBlip>
                <a:blip r:embed="rId2"/>
              </a:buBlip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267200" cy="50593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800"/>
            </a:lvl1pPr>
            <a:lvl2pPr>
              <a:buSzPct val="60000"/>
              <a:buFontTx/>
              <a:buBlip>
                <a:blip r:embed="rId2"/>
              </a:buBlip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39200" cy="762000"/>
          </a:xfrm>
        </p:spPr>
        <p:txBody>
          <a:bodyPr/>
          <a:lstStyle>
            <a:lvl1pPr marL="182880" algn="l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0" y="6492875"/>
            <a:ext cx="3505200" cy="365125"/>
          </a:xfrm>
        </p:spPr>
        <p:txBody>
          <a:bodyPr/>
          <a:lstStyle>
            <a:lvl1pPr algn="l">
              <a:defRPr baseline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6400"/>
            <a:ext cx="4040188" cy="44497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400"/>
            </a:lvl1pPr>
            <a:lvl2pPr>
              <a:buSzPct val="60000"/>
              <a:buFontTx/>
              <a:buBlip>
                <a:blip r:embed="rId2"/>
              </a:buBlip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9906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6400"/>
            <a:ext cx="4041775" cy="44497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400"/>
            </a:lvl1pPr>
            <a:lvl2pPr>
              <a:buSzPct val="60000"/>
              <a:buFontTx/>
              <a:buBlip>
                <a:blip r:embed="rId2"/>
              </a:buBlip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39200" cy="762000"/>
          </a:xfrm>
        </p:spPr>
        <p:txBody>
          <a:bodyPr/>
          <a:lstStyle>
            <a:lvl1pPr marL="182880" algn="l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762000"/>
          </a:xfrm>
        </p:spPr>
        <p:txBody>
          <a:bodyPr/>
          <a:lstStyle>
            <a:lvl1pPr marL="182880" algn="l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066800" y="6477000"/>
            <a:ext cx="3505200" cy="381000"/>
          </a:xfrm>
        </p:spPr>
        <p:txBody>
          <a:bodyPr anchor="ctr">
            <a:normAutofit/>
          </a:bodyPr>
          <a:lstStyle>
            <a:lvl1pPr algn="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066800" y="6477000"/>
            <a:ext cx="3505200" cy="381000"/>
          </a:xfrm>
        </p:spPr>
        <p:txBody>
          <a:bodyPr anchor="ctr">
            <a:normAutofit/>
          </a:bodyPr>
          <a:lstStyle>
            <a:lvl1pPr algn="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6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wipe dir="r"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smtClean="0"/>
              <a:t>Thiết kế kiến trúc</a:t>
            </a:r>
            <a:endParaRPr lang="en-US" b="1"/>
          </a:p>
        </p:txBody>
      </p:sp>
      <p:sp>
        <p:nvSpPr>
          <p:cNvPr id="6" name="Subtitle 4"/>
          <p:cNvSpPr txBox="1">
            <a:spLocks/>
          </p:cNvSpPr>
          <p:nvPr/>
        </p:nvSpPr>
        <p:spPr bwMode="auto">
          <a:xfrm>
            <a:off x="533400" y="685800"/>
            <a:ext cx="2133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 smtClean="0">
                <a:solidFill>
                  <a:srgbClr val="00B0F0"/>
                </a:solidFill>
              </a:rPr>
              <a:t>Chương</a:t>
            </a:r>
            <a:r>
              <a:rPr lang="en-US" b="1" smtClean="0">
                <a:solidFill>
                  <a:srgbClr val="00B0F0"/>
                </a:solidFill>
              </a:rPr>
              <a:t> </a:t>
            </a:r>
            <a:r>
              <a:rPr lang="en-US" b="1" smtClean="0">
                <a:solidFill>
                  <a:srgbClr val="00B0F0"/>
                </a:solidFill>
              </a:rPr>
              <a:t>10</a:t>
            </a:r>
            <a:endParaRPr lang="en-US" b="1">
              <a:solidFill>
                <a:srgbClr val="00B0F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76200"/>
            <a:ext cx="1645340" cy="11049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6733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2362200"/>
          </a:xfrm>
        </p:spPr>
        <p:txBody>
          <a:bodyPr/>
          <a:lstStyle/>
          <a:p>
            <a:r>
              <a:rPr lang="en-US"/>
              <a:t>Software Architecture (Kiến trúc phần mềm)</a:t>
            </a:r>
          </a:p>
          <a:p>
            <a:r>
              <a:rPr lang="en-US" smtClean="0"/>
              <a:t>Client-Server </a:t>
            </a:r>
            <a:r>
              <a:rPr lang="en-US"/>
              <a:t>Architecture</a:t>
            </a:r>
          </a:p>
          <a:p>
            <a:r>
              <a:rPr lang="en-US" smtClean="0"/>
              <a:t>3-Tier </a:t>
            </a:r>
            <a:r>
              <a:rPr lang="en-US"/>
              <a:t>/ Multi-Tier Architectures</a:t>
            </a:r>
          </a:p>
          <a:p>
            <a:r>
              <a:rPr lang="en-US" smtClean="0"/>
              <a:t>MVC </a:t>
            </a:r>
            <a:r>
              <a:rPr lang="en-US"/>
              <a:t>(Model-View-Controller)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NỘI DUNG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6952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Tổng quan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669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Tổng quan</a:t>
            </a:r>
            <a:endParaRPr lang="en-US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extLst/>
          </a:blip>
          <a:srcRect/>
          <a:stretch>
            <a:fillRect/>
          </a:stretch>
        </p:blipFill>
        <p:spPr bwMode="auto">
          <a:xfrm>
            <a:off x="769257" y="914400"/>
            <a:ext cx="7078718" cy="5486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9382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23622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Kiến </a:t>
            </a:r>
            <a:r>
              <a:rPr lang="en-US" b="1">
                <a:solidFill>
                  <a:srgbClr val="00B050"/>
                </a:solidFill>
              </a:rPr>
              <a:t>trúc phần </a:t>
            </a:r>
            <a:r>
              <a:rPr lang="en-US" b="1" smtClean="0">
                <a:solidFill>
                  <a:srgbClr val="00B050"/>
                </a:solidFill>
              </a:rPr>
              <a:t>mềm</a:t>
            </a:r>
            <a:endParaRPr lang="en-US" b="1">
              <a:solidFill>
                <a:srgbClr val="00B050"/>
              </a:solidFill>
            </a:endParaRP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Kiến trúc phần mềm – Software architecture là bản </a:t>
            </a:r>
            <a:r>
              <a:rPr lang="vi-VN" b="1">
                <a:solidFill>
                  <a:srgbClr val="FF0000"/>
                </a:solidFill>
                <a:latin typeface="Calibri" pitchFamily="34" charset="0"/>
              </a:rPr>
              <a:t>thiết kế kĩ thuật</a:t>
            </a:r>
            <a:r>
              <a:rPr lang="vi-VN">
                <a:latin typeface="Calibri" pitchFamily="34" charset="0"/>
              </a:rPr>
              <a:t> giúp giải thích cách thức phần mềm sẽ được xây dựng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Kiến trúc phần mềm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829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48768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Kiến </a:t>
            </a:r>
            <a:r>
              <a:rPr lang="en-US" b="1">
                <a:solidFill>
                  <a:srgbClr val="00B050"/>
                </a:solidFill>
              </a:rPr>
              <a:t>trúc phần </a:t>
            </a:r>
            <a:r>
              <a:rPr lang="en-US" b="1" smtClean="0">
                <a:solidFill>
                  <a:srgbClr val="00B050"/>
                </a:solidFill>
              </a:rPr>
              <a:t>mềm</a:t>
            </a:r>
            <a:endParaRPr lang="en-US" b="1">
              <a:solidFill>
                <a:srgbClr val="00B050"/>
              </a:solidFill>
            </a:endParaRP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Kiến trúc hệ thống sẽ mô tả:</a:t>
            </a:r>
          </a:p>
          <a:p>
            <a:pPr lvl="1" algn="just">
              <a:buFont typeface="Wingdings" pitchFamily="2" charset="2"/>
              <a:buChar char="ü"/>
            </a:pPr>
            <a:r>
              <a:rPr lang="vi-VN" smtClean="0">
                <a:latin typeface="Calibri" pitchFamily="34" charset="0"/>
              </a:rPr>
              <a:t>Các</a:t>
            </a:r>
            <a:r>
              <a:rPr lang="en-US" smtClean="0">
                <a:latin typeface="Calibri" pitchFamily="34" charset="0"/>
              </a:rPr>
              <a:t>h</a:t>
            </a:r>
            <a:r>
              <a:rPr lang="vi-VN" smtClean="0">
                <a:latin typeface="Calibri" pitchFamily="34" charset="0"/>
              </a:rPr>
              <a:t> </a:t>
            </a:r>
            <a:r>
              <a:rPr lang="vi-VN">
                <a:latin typeface="Calibri" pitchFamily="34" charset="0"/>
              </a:rPr>
              <a:t>thức hệ thống được phân tách thành các hệ thống con (modules)</a:t>
            </a:r>
          </a:p>
          <a:p>
            <a:pPr lvl="1" algn="just">
              <a:buFont typeface="Wingdings" pitchFamily="2" charset="2"/>
              <a:buChar char="ü"/>
            </a:pPr>
            <a:r>
              <a:rPr lang="vi-VN">
                <a:latin typeface="Calibri" pitchFamily="34" charset="0"/>
              </a:rPr>
              <a:t>Trách nhiệm của từng module</a:t>
            </a:r>
          </a:p>
          <a:p>
            <a:pPr lvl="1" algn="just">
              <a:buFont typeface="Wingdings" pitchFamily="2" charset="2"/>
              <a:buChar char="ü"/>
            </a:pPr>
            <a:r>
              <a:rPr lang="vi-VN">
                <a:latin typeface="Calibri" pitchFamily="34" charset="0"/>
              </a:rPr>
              <a:t>Giao tiếp giữa các module</a:t>
            </a:r>
          </a:p>
          <a:p>
            <a:pPr lvl="1" algn="just">
              <a:buFont typeface="Wingdings" pitchFamily="2" charset="2"/>
              <a:buChar char="ü"/>
            </a:pPr>
            <a:r>
              <a:rPr lang="vi-VN">
                <a:latin typeface="Calibri" pitchFamily="34" charset="0"/>
              </a:rPr>
              <a:t>Platforms và các kĩ thuật được </a:t>
            </a:r>
            <a:r>
              <a:rPr lang="vi-VN" smtClean="0">
                <a:latin typeface="Calibri" pitchFamily="34" charset="0"/>
              </a:rPr>
              <a:t>dùng</a:t>
            </a:r>
            <a:endParaRPr lang="en-US" smtClean="0">
              <a:latin typeface="Calibri" pitchFamily="34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vi-VN">
                <a:latin typeface="Calibri" pitchFamily="34" charset="0"/>
              </a:rPr>
              <a:t>Mỗi module cũng có thể được hiện thực bằng một mô hình/mẫu kiến trúc </a:t>
            </a:r>
          </a:p>
          <a:p>
            <a:pPr lvl="1" algn="just">
              <a:buFont typeface="Wingdings" pitchFamily="2" charset="2"/>
              <a:buChar char="ü"/>
            </a:pPr>
            <a:endParaRPr lang="vi-VN">
              <a:latin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Kiến trúc phần mềm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9210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Kiến trúc phần mềm</a:t>
            </a:r>
            <a:endParaRPr lang="en-US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>
            <a:extLst/>
          </a:blip>
          <a:srcRect/>
          <a:stretch>
            <a:fillRect/>
          </a:stretch>
        </p:blipFill>
        <p:spPr bwMode="auto">
          <a:xfrm>
            <a:off x="304799" y="914400"/>
            <a:ext cx="8238151" cy="5492186"/>
          </a:xfrm>
          <a:prstGeom prst="roundRect">
            <a:avLst>
              <a:gd name="adj" fmla="val 2513"/>
            </a:avLst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196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Client - server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4742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Client - Server</a:t>
            </a:r>
            <a:endParaRPr lang="en-US"/>
          </a:p>
        </p:txBody>
      </p:sp>
      <p:pic>
        <p:nvPicPr>
          <p:cNvPr id="5" name="Picture 2" descr="https://upload.wikimedia.org/wikipedia/commons/thumb/c/c9/Client-server-model.svg/2000px-Client-server-model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990600"/>
            <a:ext cx="8741885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6732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48768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Thường bao gồm:</a:t>
            </a:r>
            <a:endParaRPr lang="en-US" b="1">
              <a:solidFill>
                <a:srgbClr val="00B050"/>
              </a:solidFill>
            </a:endParaRP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Server: một máy/ứng dụng cung cấp các dịch vụ (services) cho nhiều clients</a:t>
            </a:r>
          </a:p>
          <a:p>
            <a:pPr lvl="1" algn="just">
              <a:buFont typeface="Wingdings" pitchFamily="2" charset="2"/>
              <a:buChar char="ü"/>
            </a:pPr>
            <a:r>
              <a:rPr lang="vi-VN">
                <a:latin typeface="Calibri" pitchFamily="34" charset="0"/>
              </a:rPr>
              <a:t>IIS based Web server</a:t>
            </a:r>
          </a:p>
          <a:p>
            <a:pPr lvl="1" algn="just">
              <a:buFont typeface="Wingdings" pitchFamily="2" charset="2"/>
              <a:buChar char="ü"/>
            </a:pPr>
            <a:r>
              <a:rPr lang="vi-VN">
                <a:latin typeface="Calibri" pitchFamily="34" charset="0"/>
              </a:rPr>
              <a:t>WCF based service</a:t>
            </a:r>
          </a:p>
          <a:p>
            <a:pPr lvl="1" algn="just">
              <a:buFont typeface="Wingdings" pitchFamily="2" charset="2"/>
              <a:buChar char="ü"/>
            </a:pPr>
            <a:r>
              <a:rPr lang="vi-VN">
                <a:latin typeface="Calibri" pitchFamily="34" charset="0"/>
              </a:rPr>
              <a:t>Các dịch vụ trên nền tảng cloud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Clients: các phần mềm ứng dụng cung cấp UI để truy xuất các service của server</a:t>
            </a:r>
          </a:p>
          <a:p>
            <a:pPr lvl="1" algn="just">
              <a:buFont typeface="Wingdings" pitchFamily="2" charset="2"/>
              <a:buChar char="ü"/>
            </a:pPr>
            <a:r>
              <a:rPr lang="vi-VN">
                <a:latin typeface="Calibri" pitchFamily="34" charset="0"/>
              </a:rPr>
              <a:t>WPF, HTML5, Silverlight, ASP.NET, ...</a:t>
            </a:r>
          </a:p>
          <a:p>
            <a:pPr lvl="1" algn="just">
              <a:buFont typeface="Wingdings" pitchFamily="2" charset="2"/>
              <a:buChar char="ü"/>
            </a:pPr>
            <a:endParaRPr lang="vi-VN">
              <a:latin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Client -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0348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37338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Ví dụ:</a:t>
            </a:r>
            <a:endParaRPr lang="en-US" b="1">
              <a:solidFill>
                <a:srgbClr val="00B050"/>
              </a:solidFill>
            </a:endParaRP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Web server (IIS) – Web browser (Firefox)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FTP server (ftpd) – FTP client (FileZilla)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EMail server (qmail) – email client (Outlook)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SQL Server – SQL Server Management Studio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BitTorrent Tracker – Torrent client (</a:t>
            </a:r>
            <a:r>
              <a:rPr lang="el-GR">
                <a:latin typeface="Calibri" pitchFamily="34" charset="0"/>
              </a:rPr>
              <a:t>μ</a:t>
            </a:r>
            <a:r>
              <a:rPr lang="vi-VN">
                <a:latin typeface="Calibri" pitchFamily="34" charset="0"/>
              </a:rPr>
              <a:t>Torrent</a:t>
            </a:r>
            <a:r>
              <a:rPr lang="vi-VN" smtClean="0">
                <a:latin typeface="Calibri" pitchFamily="34" charset="0"/>
              </a:rPr>
              <a:t>)</a:t>
            </a:r>
            <a:endParaRPr lang="vi-VN">
              <a:latin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Client -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0894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28956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Ví dụ:</a:t>
            </a:r>
            <a:endParaRPr lang="en-US" b="1">
              <a:solidFill>
                <a:srgbClr val="00B050"/>
              </a:solidFill>
            </a:endParaRP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DNS server (bind) – DNS client (resolver)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DHCP server (wireless router firmware) – DHCP client (mobile phone /Android DHCP client/)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SMB server (Windows) – SMB client (Windows)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Client -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6725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3-Tier / Multi-Tier Architectures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3264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6096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Mô hình phân lớp truyền thống:</a:t>
            </a:r>
            <a:endParaRPr lang="en-US" b="1">
              <a:solidFill>
                <a:srgbClr val="00B05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3-Tier/Multi-Tier Architectures</a:t>
            </a:r>
          </a:p>
        </p:txBody>
      </p:sp>
      <p:pic>
        <p:nvPicPr>
          <p:cNvPr id="4" name="Picture 2" descr="http://download.oracle.com/docs/cd/E17904_01/web.1111/b32441/img/threetierov.gif"/>
          <p:cNvPicPr>
            <a:picLocks noChangeAspect="1" noChangeArrowheads="1"/>
          </p:cNvPicPr>
          <p:nvPr/>
        </p:nvPicPr>
        <p:blipFill>
          <a:blip r:embed="rId2" cstate="print">
            <a:extLst/>
          </a:blip>
          <a:srcRect/>
          <a:stretch>
            <a:fillRect/>
          </a:stretch>
        </p:blipFill>
        <p:spPr bwMode="auto">
          <a:xfrm>
            <a:off x="95981" y="2057400"/>
            <a:ext cx="8952035" cy="3580814"/>
          </a:xfrm>
          <a:prstGeom prst="roundRect">
            <a:avLst>
              <a:gd name="adj" fmla="val 4000"/>
            </a:avLst>
          </a:prstGeom>
          <a:noFill/>
          <a:ex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8366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3-Tier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12777" y="1752600"/>
            <a:ext cx="784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845175" y="1219200"/>
            <a:ext cx="2927350" cy="5029200"/>
          </a:xfrm>
          <a:prstGeom prst="roundRect">
            <a:avLst>
              <a:gd name="adj" fmla="val 5695"/>
            </a:avLst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pPr eaLnBrk="0" hangingPunct="0">
              <a:buClr>
                <a:srgbClr val="B5DBE5"/>
              </a:buClr>
              <a:buSzPct val="70000"/>
              <a:buFont typeface="Wingdings 2" pitchFamily="18" charset="2"/>
              <a:buNone/>
            </a:pPr>
            <a:endParaRPr lang="en-US" sz="18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cs typeface="Consolas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38400" y="1231900"/>
            <a:ext cx="2133600" cy="5029200"/>
          </a:xfrm>
          <a:prstGeom prst="roundRect">
            <a:avLst>
              <a:gd name="adj" fmla="val 5695"/>
            </a:avLst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pPr eaLnBrk="0" hangingPunct="0">
              <a:buClr>
                <a:srgbClr val="B5DBE5"/>
              </a:buClr>
              <a:buSzPct val="70000"/>
              <a:buFont typeface="Wingdings 2" pitchFamily="18" charset="2"/>
              <a:buNone/>
            </a:pPr>
            <a:endParaRPr lang="en-US" sz="18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cs typeface="Consolas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5600" y="1219412"/>
            <a:ext cx="1828800" cy="5041174"/>
          </a:xfrm>
          <a:prstGeom prst="roundRect">
            <a:avLst>
              <a:gd name="adj" fmla="val 5695"/>
            </a:avLst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pPr eaLnBrk="0" hangingPunct="0">
              <a:buClr>
                <a:srgbClr val="B5DBE5"/>
              </a:buClr>
              <a:buSzPct val="70000"/>
              <a:buFont typeface="Wingdings 2" pitchFamily="18" charset="2"/>
              <a:buNone/>
            </a:pPr>
            <a:endParaRPr lang="en-US" sz="18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cs typeface="Consolas" pitchFamily="49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576388" y="3581400"/>
            <a:ext cx="1471612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886200" y="3848100"/>
            <a:ext cx="2781300" cy="16002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759200" y="3568700"/>
            <a:ext cx="3022600" cy="2794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886200" y="2209800"/>
            <a:ext cx="2767013" cy="1143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19400" y="4651375"/>
            <a:ext cx="112082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Business</a:t>
            </a:r>
          </a:p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Logic</a:t>
            </a:r>
          </a:p>
        </p:txBody>
      </p:sp>
      <p:pic>
        <p:nvPicPr>
          <p:cNvPr id="14" name="Picture 3" descr="C:\Users\nakov\Downloads\hp_mobile_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6625" y="3276600"/>
            <a:ext cx="1447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7" descr="laptop,comput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6625" y="1676400"/>
            <a:ext cx="1447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1" descr="computer,monitor,screen,displa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6625" y="4724400"/>
            <a:ext cx="1447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7413625" y="5181600"/>
            <a:ext cx="10310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Desktop</a:t>
            </a:r>
          </a:p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2688" y="3505200"/>
            <a:ext cx="86433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Mobile</a:t>
            </a:r>
          </a:p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5512" y="1836738"/>
            <a:ext cx="105670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Client</a:t>
            </a:r>
          </a:p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Machine</a:t>
            </a:r>
          </a:p>
        </p:txBody>
      </p:sp>
      <p:pic>
        <p:nvPicPr>
          <p:cNvPr id="20" name="Picture 13" descr="off,server,compute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4600" y="2667000"/>
            <a:ext cx="1890713" cy="189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Box 20"/>
          <p:cNvSpPr txBox="1"/>
          <p:nvPr/>
        </p:nvSpPr>
        <p:spPr>
          <a:xfrm rot="20309905">
            <a:off x="4715473" y="2404547"/>
            <a:ext cx="9925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network</a:t>
            </a:r>
          </a:p>
        </p:txBody>
      </p:sp>
      <p:sp>
        <p:nvSpPr>
          <p:cNvPr id="22" name="TextBox 21"/>
          <p:cNvSpPr txBox="1"/>
          <p:nvPr/>
        </p:nvSpPr>
        <p:spPr>
          <a:xfrm rot="249247">
            <a:off x="4734523" y="3331647"/>
            <a:ext cx="9925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network</a:t>
            </a:r>
          </a:p>
        </p:txBody>
      </p:sp>
      <p:sp>
        <p:nvSpPr>
          <p:cNvPr id="23" name="TextBox 22"/>
          <p:cNvSpPr txBox="1"/>
          <p:nvPr/>
        </p:nvSpPr>
        <p:spPr>
          <a:xfrm rot="1808832">
            <a:off x="4721823" y="4209534"/>
            <a:ext cx="9925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network</a:t>
            </a:r>
          </a:p>
        </p:txBody>
      </p:sp>
      <p:pic>
        <p:nvPicPr>
          <p:cNvPr id="24" name="Picture 2" descr="database,db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9250" y="2667000"/>
            <a:ext cx="1835150" cy="183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TextBox 24"/>
          <p:cNvSpPr txBox="1"/>
          <p:nvPr/>
        </p:nvSpPr>
        <p:spPr>
          <a:xfrm>
            <a:off x="520700" y="4495800"/>
            <a:ext cx="11721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350" y="1219200"/>
            <a:ext cx="133882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Data Tier</a:t>
            </a:r>
          </a:p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(Back-End)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7450" y="1231900"/>
            <a:ext cx="172361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Middle Tier</a:t>
            </a:r>
          </a:p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(Business Tier)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1213" y="1231900"/>
            <a:ext cx="24674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Client Tier (Front-End)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3018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3-Tier</a:t>
            </a:r>
            <a:endParaRPr lang="en-US"/>
          </a:p>
        </p:txBody>
      </p:sp>
      <p:pic>
        <p:nvPicPr>
          <p:cNvPr id="29" name="Picture 2" descr="https://upload.wikimedia.org/wikipedia/commons/thumb/5/51/Overview_of_a_three-tier_application_vectorVersion.svg/593px-Overview_of_a_three-tier_application_vectorVersion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14400"/>
            <a:ext cx="8467381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4573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1-tier, 3-layer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14399"/>
            <a:ext cx="8915400" cy="5440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2859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2-tier, 3-layer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14399"/>
            <a:ext cx="8915400" cy="5410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3737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5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3-tier</a:t>
            </a:r>
            <a:r>
              <a:rPr lang="en-US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, 3-layer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00" y="936171"/>
            <a:ext cx="88583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541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5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cs typeface="Arial" pitchFamily="34" charset="0"/>
              </a:rPr>
              <a:t>Middle Tier</a:t>
            </a:r>
            <a:endParaRPr lang="en-US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7067" y="2245151"/>
            <a:ext cx="8382000" cy="681038"/>
          </a:xfrm>
          <a:prstGeom prst="roundRect">
            <a:avLst>
              <a:gd name="adj" fmla="val 5695"/>
            </a:avLst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pPr eaLnBrk="0" hangingPunct="0">
              <a:buClr>
                <a:srgbClr val="B5DBE5"/>
              </a:buClr>
              <a:buSzPct val="70000"/>
              <a:buFont typeface="Wingdings 2" pitchFamily="18" charset="2"/>
              <a:buNone/>
            </a:pPr>
            <a:endParaRPr lang="en-US" sz="1800" b="1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9368" y="2240389"/>
            <a:ext cx="8356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Presentation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267" y="2545189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Implements the UI of the application (HTML5, Silverlight, WPF, …)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7067" y="3388151"/>
            <a:ext cx="8382000" cy="681038"/>
          </a:xfrm>
          <a:prstGeom prst="roundRect">
            <a:avLst>
              <a:gd name="adj" fmla="val 5695"/>
            </a:avLst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pPr eaLnBrk="0" hangingPunct="0">
              <a:buClr>
                <a:srgbClr val="B5DBE5"/>
              </a:buClr>
              <a:buSzPct val="70000"/>
              <a:buFont typeface="Wingdings 2" pitchFamily="18" charset="2"/>
              <a:buNone/>
            </a:pPr>
            <a:endParaRPr lang="en-US" sz="1800" b="1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6811" y="3383389"/>
            <a:ext cx="6982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Business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267" y="3688189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Implements the core processes / services of the 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067" y="4531151"/>
            <a:ext cx="8382000" cy="681038"/>
          </a:xfrm>
          <a:prstGeom prst="roundRect">
            <a:avLst>
              <a:gd name="adj" fmla="val 5695"/>
            </a:avLst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pPr eaLnBrk="0" hangingPunct="0">
              <a:buClr>
                <a:srgbClr val="B5DBE5"/>
              </a:buClr>
              <a:buSzPct val="70000"/>
              <a:buFont typeface="Wingdings 2" pitchFamily="18" charset="2"/>
              <a:buNone/>
            </a:pPr>
            <a:endParaRPr lang="en-US" sz="1800" b="1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cs typeface="Consolas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3267" y="4526389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Data Access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268" y="4831189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Implements the data access functionality (usually ORM framework)</a:t>
            </a:r>
          </a:p>
        </p:txBody>
      </p:sp>
      <p:pic>
        <p:nvPicPr>
          <p:cNvPr id="14" name="Picture 2" descr="database,d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8467" y="5567789"/>
            <a:ext cx="1219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" name="Straight Connector 14"/>
          <p:cNvCxnSpPr/>
          <p:nvPr/>
        </p:nvCxnSpPr>
        <p:spPr>
          <a:xfrm>
            <a:off x="4608067" y="2903963"/>
            <a:ext cx="0" cy="452438"/>
          </a:xfrm>
          <a:prstGeom prst="line">
            <a:avLst/>
          </a:prstGeom>
          <a:ln w="38100">
            <a:solidFill>
              <a:schemeClr val="tx1">
                <a:lumMod val="40000"/>
                <a:lumOff val="60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608067" y="4051726"/>
            <a:ext cx="0" cy="452437"/>
          </a:xfrm>
          <a:prstGeom prst="line">
            <a:avLst/>
          </a:prstGeom>
          <a:ln w="38100">
            <a:solidFill>
              <a:schemeClr val="tx1">
                <a:lumMod val="40000"/>
                <a:lumOff val="60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608067" y="5194726"/>
            <a:ext cx="0" cy="452437"/>
          </a:xfrm>
          <a:prstGeom prst="line">
            <a:avLst/>
          </a:prstGeom>
          <a:ln w="38100">
            <a:solidFill>
              <a:schemeClr val="tx1">
                <a:lumMod val="40000"/>
                <a:lumOff val="60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1219200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rgbClr val="00B050"/>
                </a:solidFill>
              </a:rPr>
              <a:t>Middle tier thường chứa logic liên quan đến front-end, business logic </a:t>
            </a:r>
            <a:r>
              <a:rPr lang="en-US" b="1" smtClean="0">
                <a:solidFill>
                  <a:srgbClr val="00B050"/>
                </a:solidFill>
              </a:rPr>
              <a:t>và back-end</a:t>
            </a:r>
            <a:endParaRPr lang="vi-VN">
              <a:latin typeface="Calibri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1608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mvc </a:t>
            </a:r>
            <a:r>
              <a:rPr lang="en-US"/>
              <a:t>Architectures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1448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6096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Mô hình MVC:</a:t>
            </a:r>
            <a:endParaRPr lang="en-US" b="1">
              <a:solidFill>
                <a:srgbClr val="00B05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MVC</a:t>
            </a:r>
            <a:endParaRPr lang="en-US"/>
          </a:p>
        </p:txBody>
      </p:sp>
      <p:pic>
        <p:nvPicPr>
          <p:cNvPr id="5" name="Picture 2" descr="http://www.doolwind.com/images/blog/MVC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575" y="2058570"/>
            <a:ext cx="4264026" cy="3669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 descr="http://www.shopno-dinga.com/dustbin/mvc.png"/>
          <p:cNvPicPr>
            <a:picLocks noChangeAspect="1" noChangeArrowheads="1"/>
          </p:cNvPicPr>
          <p:nvPr/>
        </p:nvPicPr>
        <p:blipFill>
          <a:blip r:embed="rId3" cstate="print">
            <a:extLst/>
          </a:blip>
          <a:srcRect/>
          <a:stretch>
            <a:fillRect/>
          </a:stretch>
        </p:blipFill>
        <p:spPr bwMode="auto">
          <a:xfrm>
            <a:off x="4571999" y="2087878"/>
            <a:ext cx="4283403" cy="3426722"/>
          </a:xfrm>
          <a:prstGeom prst="roundRect">
            <a:avLst>
              <a:gd name="adj" fmla="val 5442"/>
            </a:avLst>
          </a:prstGeom>
          <a:noFill/>
          <a:ex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5915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MVC</a:t>
            </a:r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90600"/>
            <a:ext cx="8229600" cy="5316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369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0292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Tổng quan:</a:t>
            </a:r>
            <a:endParaRPr lang="en-US" b="1">
              <a:solidFill>
                <a:srgbClr val="00B050"/>
              </a:solidFill>
            </a:endParaRP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Phân tách business logic ra khỏi dữ liệu ứng dụng (application data) và giao diện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Model</a:t>
            </a:r>
          </a:p>
          <a:p>
            <a:pPr lvl="1" algn="just">
              <a:buFont typeface="Wingdings" pitchFamily="2" charset="2"/>
              <a:buChar char="ü"/>
            </a:pPr>
            <a:r>
              <a:rPr lang="vi-VN">
                <a:latin typeface="Calibri" pitchFamily="34" charset="0"/>
              </a:rPr>
              <a:t>Lưu giữ trạng thái của ứng dụng (data)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View</a:t>
            </a:r>
          </a:p>
          <a:p>
            <a:pPr lvl="1" algn="just">
              <a:buFont typeface="Wingdings" pitchFamily="2" charset="2"/>
              <a:buChar char="ü"/>
            </a:pPr>
            <a:r>
              <a:rPr lang="vi-VN">
                <a:latin typeface="Calibri" pitchFamily="34" charset="0"/>
              </a:rPr>
              <a:t>Biểu thị dữ liệu đến người dùng (UI)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Controller</a:t>
            </a:r>
          </a:p>
          <a:p>
            <a:pPr lvl="1" algn="just">
              <a:buFont typeface="Wingdings" pitchFamily="2" charset="2"/>
              <a:buChar char="ü"/>
            </a:pPr>
            <a:r>
              <a:rPr lang="vi-VN">
                <a:latin typeface="Calibri" pitchFamily="34" charset="0"/>
              </a:rPr>
              <a:t>Xử lý tương tác với người dùng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MVC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8641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0292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Model:</a:t>
            </a:r>
            <a:endParaRPr lang="en-US" b="1">
              <a:solidFill>
                <a:srgbClr val="00B050"/>
              </a:solidFill>
            </a:endParaRP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Mô hình hóa dữ liệu và hành vi sau các business process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Quản lý thông tin – nếu có thay đổi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Lưu trữ dữ liệu và các hàm chức năng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Ánh xạ thực thể trong thế giới thực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Thực hiện truy vấn CSDL</a:t>
            </a:r>
          </a:p>
          <a:p>
            <a:pPr algn="just">
              <a:buFont typeface="Wingdings" pitchFamily="2" charset="2"/>
              <a:buChar char="Ø"/>
            </a:pPr>
            <a:r>
              <a:rPr lang="vi-VN" smtClean="0">
                <a:latin typeface="Calibri" pitchFamily="34" charset="0"/>
              </a:rPr>
              <a:t>Bao </a:t>
            </a:r>
            <a:r>
              <a:rPr lang="vi-VN">
                <a:latin typeface="Calibri" pitchFamily="34" charset="0"/>
              </a:rPr>
              <a:t>đóng các domain logic độc lập với presentation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MVC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4516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40386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View:</a:t>
            </a:r>
            <a:endParaRPr lang="en-US" b="1">
              <a:solidFill>
                <a:srgbClr val="00B050"/>
              </a:solidFill>
            </a:endParaRP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Lấy dữ liệu từ model và hiển thị cho user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Đại diện cho Input/Ouputs của chương trình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Thể hiện kết quả tính toán cho logic nghiệp vụ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Tự do truy xuất Model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Đọc dữ liệu từ Model – Sử dụng các phương thức truy vấn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MVC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0723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0292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Controller:</a:t>
            </a:r>
            <a:endParaRPr lang="en-US" b="1">
              <a:solidFill>
                <a:srgbClr val="00B050"/>
              </a:solidFill>
            </a:endParaRP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Đóng vai trò là lớp kết nối luận lý giữa các hành vi của người dùng và qui trình nghiệp vụ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Nhận và chuyển đổi input thành các request tới model / view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Nhận Input từ phía user và xây dựng các model cũng như view để thực hiện hành động tương ứng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Lựa chọn giữa nhiều cách hiển thị khác nhau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MVC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8557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4648200"/>
          </a:xfrm>
        </p:spPr>
        <p:txBody>
          <a:bodyPr/>
          <a:lstStyle/>
          <a:p>
            <a:pPr marL="0" indent="0" algn="just">
              <a:buNone/>
            </a:pPr>
            <a:r>
              <a:rPr lang="vi-VN" b="1">
                <a:solidFill>
                  <a:srgbClr val="00B050"/>
                </a:solidFill>
                <a:latin typeface="Calibri" pitchFamily="34" charset="0"/>
              </a:rPr>
              <a:t>View </a:t>
            </a:r>
            <a:r>
              <a:rPr lang="en-US" b="1" smtClean="0">
                <a:solidFill>
                  <a:srgbClr val="00B050"/>
                </a:solidFill>
                <a:latin typeface="Calibri" pitchFamily="34" charset="0"/>
              </a:rPr>
              <a:t>và </a:t>
            </a:r>
            <a:r>
              <a:rPr lang="vi-VN" b="1" smtClean="0">
                <a:solidFill>
                  <a:srgbClr val="00B050"/>
                </a:solidFill>
                <a:latin typeface="Calibri" pitchFamily="34" charset="0"/>
              </a:rPr>
              <a:t>Controller</a:t>
            </a:r>
            <a:r>
              <a:rPr lang="en-US" b="1" smtClean="0">
                <a:solidFill>
                  <a:srgbClr val="00B050"/>
                </a:solidFill>
                <a:latin typeface="Calibri" pitchFamily="34" charset="0"/>
              </a:rPr>
              <a:t>: </a:t>
            </a:r>
            <a:r>
              <a:rPr lang="vi-VN" smtClean="0">
                <a:latin typeface="Calibri" pitchFamily="34" charset="0"/>
              </a:rPr>
              <a:t>Controller </a:t>
            </a:r>
            <a:r>
              <a:rPr lang="vi-VN">
                <a:latin typeface="Calibri" pitchFamily="34" charset="0"/>
              </a:rPr>
              <a:t>đóng vai trò tạo ra hoặc chọn lựa </a:t>
            </a:r>
            <a:r>
              <a:rPr lang="vi-VN" smtClean="0">
                <a:latin typeface="Calibri" pitchFamily="34" charset="0"/>
              </a:rPr>
              <a:t>View</a:t>
            </a:r>
            <a:endParaRPr lang="en-US" smtClean="0">
              <a:latin typeface="Calibri" pitchFamily="34" charset="0"/>
            </a:endParaRPr>
          </a:p>
          <a:p>
            <a:pPr marL="0" indent="0" algn="just">
              <a:buNone/>
            </a:pPr>
            <a:r>
              <a:rPr lang="vi-VN" b="1">
                <a:solidFill>
                  <a:srgbClr val="00B050"/>
                </a:solidFill>
                <a:latin typeface="Calibri" pitchFamily="34" charset="0"/>
              </a:rPr>
              <a:t>Model </a:t>
            </a:r>
            <a:r>
              <a:rPr lang="en-US" b="1" smtClean="0">
                <a:solidFill>
                  <a:srgbClr val="00B050"/>
                </a:solidFill>
                <a:latin typeface="Calibri" pitchFamily="34" charset="0"/>
              </a:rPr>
              <a:t>và </a:t>
            </a:r>
            <a:r>
              <a:rPr lang="vi-VN" b="1" smtClean="0">
                <a:solidFill>
                  <a:srgbClr val="00B050"/>
                </a:solidFill>
                <a:latin typeface="Calibri" pitchFamily="34" charset="0"/>
              </a:rPr>
              <a:t>Controller</a:t>
            </a:r>
            <a:r>
              <a:rPr lang="en-US" b="1" smtClean="0">
                <a:latin typeface="Calibri" pitchFamily="34" charset="0"/>
              </a:rPr>
              <a:t>:</a:t>
            </a:r>
            <a:r>
              <a:rPr lang="en-US" smtClean="0">
                <a:latin typeface="Calibri" pitchFamily="34" charset="0"/>
              </a:rPr>
              <a:t> </a:t>
            </a:r>
            <a:r>
              <a:rPr lang="vi-VN" smtClean="0">
                <a:latin typeface="Calibri" pitchFamily="34" charset="0"/>
              </a:rPr>
              <a:t>Controller </a:t>
            </a:r>
            <a:r>
              <a:rPr lang="vi-VN">
                <a:latin typeface="Calibri" pitchFamily="34" charset="0"/>
              </a:rPr>
              <a:t>phụ thuộc vào Model, nếu có yêu cầu thay đổi Model thì nhiều khả năng sẽ có yêu cầu thay đổi song song trên Controller</a:t>
            </a:r>
          </a:p>
          <a:p>
            <a:pPr marL="0" indent="0" algn="just">
              <a:buNone/>
            </a:pPr>
            <a:r>
              <a:rPr lang="vi-VN" b="1">
                <a:solidFill>
                  <a:srgbClr val="00B050"/>
                </a:solidFill>
                <a:latin typeface="Calibri" pitchFamily="34" charset="0"/>
              </a:rPr>
              <a:t>Model and </a:t>
            </a:r>
            <a:r>
              <a:rPr lang="vi-VN" b="1" smtClean="0">
                <a:solidFill>
                  <a:srgbClr val="00B050"/>
                </a:solidFill>
                <a:latin typeface="Calibri" pitchFamily="34" charset="0"/>
              </a:rPr>
              <a:t>View</a:t>
            </a:r>
            <a:r>
              <a:rPr lang="en-US" b="1" smtClean="0">
                <a:solidFill>
                  <a:srgbClr val="00B050"/>
                </a:solidFill>
                <a:latin typeface="Calibri" pitchFamily="34" charset="0"/>
              </a:rPr>
              <a:t>:</a:t>
            </a:r>
            <a:r>
              <a:rPr lang="en-US" smtClean="0">
                <a:latin typeface="Calibri" pitchFamily="34" charset="0"/>
              </a:rPr>
              <a:t> </a:t>
            </a:r>
            <a:r>
              <a:rPr lang="vi-VN" smtClean="0">
                <a:latin typeface="Calibri" pitchFamily="34" charset="0"/>
              </a:rPr>
              <a:t>View </a:t>
            </a:r>
            <a:r>
              <a:rPr lang="vi-VN">
                <a:latin typeface="Calibri" pitchFamily="34" charset="0"/>
              </a:rPr>
              <a:t>phụ thuộc vào Model, nếu có yêu cầu thay đổi Model thì nhiều khả năng sẽ có yêu cầu thay đổi song song trên View</a:t>
            </a:r>
          </a:p>
          <a:p>
            <a:pPr marL="0" indent="0">
              <a:buNone/>
            </a:pPr>
            <a:endParaRPr lang="vi-VN">
              <a:latin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Mối liên hệ giữa các thành phần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9164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46482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smtClean="0">
                <a:solidFill>
                  <a:srgbClr val="00B050"/>
                </a:solidFill>
                <a:latin typeface="Calibri" pitchFamily="34" charset="0"/>
              </a:rPr>
              <a:t>Một số framework cơ bản:</a:t>
            </a:r>
          </a:p>
          <a:p>
            <a:pPr marL="0" indent="0" algn="just">
              <a:buNone/>
            </a:pPr>
            <a:r>
              <a:rPr lang="en-US">
                <a:latin typeface="Calibri" pitchFamily="34" charset="0"/>
              </a:rPr>
              <a:t>.NET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	ASP.NET </a:t>
            </a:r>
            <a:r>
              <a:rPr lang="en-US">
                <a:latin typeface="Calibri" pitchFamily="34" charset="0"/>
              </a:rPr>
              <a:t>MVC, MonoRail</a:t>
            </a:r>
          </a:p>
          <a:p>
            <a:pPr marL="0" indent="0" algn="just">
              <a:buNone/>
            </a:pPr>
            <a:r>
              <a:rPr lang="en-US">
                <a:latin typeface="Calibri" pitchFamily="34" charset="0"/>
              </a:rPr>
              <a:t>Java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	JavaServer </a:t>
            </a:r>
            <a:r>
              <a:rPr lang="en-US">
                <a:latin typeface="Calibri" pitchFamily="34" charset="0"/>
              </a:rPr>
              <a:t>Faces (JSF), Struts, Spring Web MVC, Tapestry, JBoss Seam, Swing</a:t>
            </a:r>
          </a:p>
          <a:p>
            <a:pPr marL="0" indent="0" algn="just">
              <a:buNone/>
            </a:pPr>
            <a:r>
              <a:rPr lang="en-US">
                <a:latin typeface="Calibri" pitchFamily="34" charset="0"/>
              </a:rPr>
              <a:t>PHP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	CakePHP</a:t>
            </a:r>
            <a:r>
              <a:rPr lang="en-US">
                <a:latin typeface="Calibri" pitchFamily="34" charset="0"/>
              </a:rPr>
              <a:t>, Symfony, Zend, Joomla, Yii, Mojavi</a:t>
            </a:r>
          </a:p>
          <a:p>
            <a:pPr marL="0" indent="0" algn="just">
              <a:buNone/>
            </a:pPr>
            <a:endParaRPr lang="en-US" b="1" smtClean="0">
              <a:solidFill>
                <a:srgbClr val="00B050"/>
              </a:solidFill>
              <a:latin typeface="Calibri" pitchFamily="34" charset="0"/>
            </a:endParaRPr>
          </a:p>
          <a:p>
            <a:pPr marL="0" indent="0" algn="just">
              <a:buNone/>
            </a:pPr>
            <a:endParaRPr lang="vi-VN">
              <a:latin typeface="Calibri" pitchFamily="34" charset="0"/>
            </a:endParaRPr>
          </a:p>
          <a:p>
            <a:pPr marL="0" indent="0">
              <a:buNone/>
            </a:pPr>
            <a:endParaRPr lang="vi-VN">
              <a:latin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MVC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29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themes</Template>
  <TotalTime>5320</TotalTime>
  <Words>759</Words>
  <Application>Microsoft Office PowerPoint</Application>
  <PresentationFormat>On-screen Show (4:3)</PresentationFormat>
  <Paragraphs>154</Paragraphs>
  <Slides>29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Template</vt:lpstr>
      <vt:lpstr>Thiết kế kiến trúc</vt:lpstr>
      <vt:lpstr>NỘI DUNG</vt:lpstr>
      <vt:lpstr>Tổng quan</vt:lpstr>
      <vt:lpstr>Tổng quan</vt:lpstr>
      <vt:lpstr>Kiến trúc phần mềm</vt:lpstr>
      <vt:lpstr>Kiến trúc phần mềm</vt:lpstr>
      <vt:lpstr>Kiến trúc phần mềm</vt:lpstr>
      <vt:lpstr>Client - server</vt:lpstr>
      <vt:lpstr>Client - Server</vt:lpstr>
      <vt:lpstr>Client - Server</vt:lpstr>
      <vt:lpstr>Client - Server</vt:lpstr>
      <vt:lpstr>Client - Server</vt:lpstr>
      <vt:lpstr>3-Tier / Multi-Tier Architectures</vt:lpstr>
      <vt:lpstr>3-Tier/Multi-Tier Architectures</vt:lpstr>
      <vt:lpstr>3-Tier</vt:lpstr>
      <vt:lpstr>3-Tier</vt:lpstr>
      <vt:lpstr>1-tier, 3-layer</vt:lpstr>
      <vt:lpstr>2-tier, 3-layer</vt:lpstr>
      <vt:lpstr>3-tier, 3-layer</vt:lpstr>
      <vt:lpstr>Middle Tier</vt:lpstr>
      <vt:lpstr>mvc Architectures</vt:lpstr>
      <vt:lpstr>MVC</vt:lpstr>
      <vt:lpstr>MVC</vt:lpstr>
      <vt:lpstr>MVC</vt:lpstr>
      <vt:lpstr>MVC</vt:lpstr>
      <vt:lpstr>MVC</vt:lpstr>
      <vt:lpstr>MVC</vt:lpstr>
      <vt:lpstr>Mối liên hệ giữa các thành phần</vt:lpstr>
      <vt:lpstr>MVC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Brene</dc:creator>
  <cp:lastModifiedBy>admin</cp:lastModifiedBy>
  <cp:revision>335</cp:revision>
  <cp:lastPrinted>2018-01-17T03:29:02Z</cp:lastPrinted>
  <dcterms:created xsi:type="dcterms:W3CDTF">2006-08-16T00:00:00Z</dcterms:created>
  <dcterms:modified xsi:type="dcterms:W3CDTF">2019-02-28T01:55:39Z</dcterms:modified>
</cp:coreProperties>
</file>