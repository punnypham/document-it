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0"/>
  </p:notesMasterIdLst>
  <p:handoutMasterIdLst>
    <p:handoutMasterId r:id="rId51"/>
  </p:handoutMasterIdLst>
  <p:sldIdLst>
    <p:sldId id="267" r:id="rId2"/>
    <p:sldId id="257" r:id="rId3"/>
    <p:sldId id="350" r:id="rId4"/>
    <p:sldId id="351" r:id="rId5"/>
    <p:sldId id="352" r:id="rId6"/>
    <p:sldId id="353" r:id="rId7"/>
    <p:sldId id="354" r:id="rId8"/>
    <p:sldId id="355" r:id="rId9"/>
    <p:sldId id="384" r:id="rId10"/>
    <p:sldId id="385" r:id="rId11"/>
    <p:sldId id="432" r:id="rId12"/>
    <p:sldId id="431" r:id="rId13"/>
    <p:sldId id="386" r:id="rId14"/>
    <p:sldId id="387" r:id="rId15"/>
    <p:sldId id="388" r:id="rId16"/>
    <p:sldId id="389" r:id="rId17"/>
    <p:sldId id="390" r:id="rId18"/>
    <p:sldId id="395" r:id="rId19"/>
    <p:sldId id="396" r:id="rId20"/>
    <p:sldId id="397" r:id="rId21"/>
    <p:sldId id="398" r:id="rId22"/>
    <p:sldId id="399" r:id="rId23"/>
    <p:sldId id="400" r:id="rId24"/>
    <p:sldId id="401" r:id="rId25"/>
    <p:sldId id="402" r:id="rId26"/>
    <p:sldId id="403" r:id="rId27"/>
    <p:sldId id="404" r:id="rId28"/>
    <p:sldId id="428" r:id="rId29"/>
    <p:sldId id="434" r:id="rId30"/>
    <p:sldId id="435" r:id="rId31"/>
    <p:sldId id="405" r:id="rId32"/>
    <p:sldId id="407" r:id="rId33"/>
    <p:sldId id="408" r:id="rId34"/>
    <p:sldId id="429" r:id="rId35"/>
    <p:sldId id="409" r:id="rId36"/>
    <p:sldId id="430" r:id="rId37"/>
    <p:sldId id="415" r:id="rId38"/>
    <p:sldId id="416" r:id="rId39"/>
    <p:sldId id="417" r:id="rId40"/>
    <p:sldId id="418" r:id="rId41"/>
    <p:sldId id="419" r:id="rId42"/>
    <p:sldId id="420" r:id="rId43"/>
    <p:sldId id="421" r:id="rId44"/>
    <p:sldId id="422" r:id="rId45"/>
    <p:sldId id="423" r:id="rId46"/>
    <p:sldId id="424" r:id="rId47"/>
    <p:sldId id="425" r:id="rId48"/>
    <p:sldId id="426" r:id="rId4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69" autoAdjust="0"/>
    <p:restoredTop sz="93060" autoAdjust="0"/>
  </p:normalViewPr>
  <p:slideViewPr>
    <p:cSldViewPr>
      <p:cViewPr varScale="1">
        <p:scale>
          <a:sx n="82" d="100"/>
          <a:sy n="82" d="100"/>
        </p:scale>
        <p:origin x="15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6B92C-A3ED-43FA-BADF-87F6441901AD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8B23C-602E-4E3B-978A-A2DE09057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13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8A0B8-2FB9-4F62-9B25-57B65BFF151F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12D48-EB1D-4C38-ABBD-2CDE5BB58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65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 smtClean="0"/>
              <a:t>Học</a:t>
            </a:r>
            <a:r>
              <a:rPr lang="en-US" baseline="0" smtClean="0"/>
              <a:t> 3 </a:t>
            </a:r>
            <a:r>
              <a:rPr lang="en-US" baseline="0" err="1" smtClean="0"/>
              <a:t>buổi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A12D48-EB1D-4C38-ABBD-2CDE5BB583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74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1000" y="1295400"/>
            <a:ext cx="8229600" cy="2057400"/>
          </a:xfrm>
          <a:prstGeom prst="roundRect">
            <a:avLst/>
          </a:prstGeom>
          <a:solidFill>
            <a:srgbClr val="3333B2"/>
          </a:solidFill>
          <a:ln>
            <a:solidFill>
              <a:srgbClr val="3333B2"/>
            </a:solidFill>
          </a:ln>
          <a:effectLst>
            <a:outerShdw blurRad="114300" dist="152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71563" y="6488113"/>
            <a:ext cx="3500437" cy="369887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447800"/>
            <a:ext cx="7772400" cy="17526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505200"/>
            <a:ext cx="6400800" cy="5334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492875"/>
            <a:ext cx="11430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btitle 2"/>
          <p:cNvSpPr txBox="1">
            <a:spLocks/>
          </p:cNvSpPr>
          <p:nvPr/>
        </p:nvSpPr>
        <p:spPr bwMode="auto">
          <a:xfrm>
            <a:off x="1219200" y="685800"/>
            <a:ext cx="6400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smtClean="0"/>
              <a:t>Click to edit Master subtitle style</a:t>
            </a:r>
            <a:endParaRPr lang="en-US" sz="24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0593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/>
            </a:lvl1pPr>
            <a:lvl2pPr>
              <a:buSzPct val="60000"/>
              <a:buFontTx/>
              <a:buBlip>
                <a:blip r:embed="rId3"/>
              </a:buBlip>
              <a:defRPr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762000"/>
          </a:xfrm>
        </p:spPr>
        <p:txBody>
          <a:bodyPr/>
          <a:lstStyle>
            <a:lvl1pPr marL="182880" algn="l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81000" y="2057400"/>
            <a:ext cx="8229600" cy="2057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05062"/>
            <a:ext cx="7772400" cy="1362075"/>
          </a:xfrm>
        </p:spPr>
        <p:txBody>
          <a:bodyPr anchor="ctr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71563" y="6488113"/>
            <a:ext cx="3500437" cy="369887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chemeClr val="bg1"/>
                </a:solidFill>
                <a:latin typeface="+mn-lt"/>
                <a:cs typeface="+mn-cs"/>
              </a:rPr>
              <a:t>Vu Pham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066800"/>
            <a:ext cx="4267200" cy="50593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800"/>
            </a:lvl1pPr>
            <a:lvl2pPr>
              <a:buSzPct val="60000"/>
              <a:buFontTx/>
              <a:buBlip>
                <a:blip r:embed="rId2"/>
              </a:buBlip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267200" cy="50593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800"/>
            </a:lvl1pPr>
            <a:lvl2pPr>
              <a:buSzPct val="60000"/>
              <a:buFontTx/>
              <a:buBlip>
                <a:blip r:embed="rId2"/>
              </a:buBlip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839200" cy="762000"/>
          </a:xfrm>
        </p:spPr>
        <p:txBody>
          <a:bodyPr/>
          <a:lstStyle>
            <a:lvl1pPr marL="182880" algn="l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0" y="6492875"/>
            <a:ext cx="3505200" cy="365125"/>
          </a:xfrm>
        </p:spPr>
        <p:txBody>
          <a:bodyPr/>
          <a:lstStyle>
            <a:lvl1pPr algn="l">
              <a:defRPr baseline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6400"/>
            <a:ext cx="4040188" cy="44497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400"/>
            </a:lvl1pPr>
            <a:lvl2pPr>
              <a:buSzPct val="60000"/>
              <a:buFontTx/>
              <a:buBlip>
                <a:blip r:embed="rId2"/>
              </a:buBlip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9906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6400"/>
            <a:ext cx="4041775" cy="44497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400"/>
            </a:lvl1pPr>
            <a:lvl2pPr>
              <a:buSzPct val="60000"/>
              <a:buFontTx/>
              <a:buBlip>
                <a:blip r:embed="rId2"/>
              </a:buBlip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839200" cy="762000"/>
          </a:xfrm>
        </p:spPr>
        <p:txBody>
          <a:bodyPr/>
          <a:lstStyle>
            <a:lvl1pPr marL="182880" algn="l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762000"/>
          </a:xfrm>
        </p:spPr>
        <p:txBody>
          <a:bodyPr/>
          <a:lstStyle>
            <a:lvl1pPr marL="182880" algn="l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066800" y="6477000"/>
            <a:ext cx="3505200" cy="381000"/>
          </a:xfrm>
        </p:spPr>
        <p:txBody>
          <a:bodyPr anchor="ctr">
            <a:normAutofit/>
          </a:bodyPr>
          <a:lstStyle>
            <a:lvl1pPr algn="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066800" y="6477000"/>
            <a:ext cx="3505200" cy="381000"/>
          </a:xfrm>
        </p:spPr>
        <p:txBody>
          <a:bodyPr anchor="ctr">
            <a:normAutofit/>
          </a:bodyPr>
          <a:lstStyle>
            <a:lvl1pPr algn="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6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wipe dir="r"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smtClean="0"/>
              <a:t>GIỚI THIỆU</a:t>
            </a:r>
            <a:endParaRPr lang="en-US" b="1"/>
          </a:p>
        </p:txBody>
      </p:sp>
      <p:sp>
        <p:nvSpPr>
          <p:cNvPr id="6" name="Subtitle 4"/>
          <p:cNvSpPr txBox="1">
            <a:spLocks/>
          </p:cNvSpPr>
          <p:nvPr/>
        </p:nvSpPr>
        <p:spPr bwMode="auto">
          <a:xfrm>
            <a:off x="533400" y="685800"/>
            <a:ext cx="2133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smtClean="0">
                <a:solidFill>
                  <a:srgbClr val="00B0F0"/>
                </a:solidFill>
              </a:rPr>
              <a:t>Chương 1</a:t>
            </a:r>
            <a:endParaRPr lang="en-US" b="1">
              <a:solidFill>
                <a:srgbClr val="00B0F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76200"/>
            <a:ext cx="1645340" cy="11049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6733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Mở đầu</a:t>
            </a:r>
          </a:p>
          <a:p>
            <a:r>
              <a:rPr lang="en-US" smtClean="0"/>
              <a:t>Các tính chất của phần mềm</a:t>
            </a:r>
          </a:p>
          <a:p>
            <a:r>
              <a:rPr lang="en-US" smtClean="0"/>
              <a:t>Qui trình phát triển phần mềm</a:t>
            </a:r>
          </a:p>
          <a:p>
            <a:r>
              <a:rPr lang="en-US"/>
              <a:t>Phân tích – Thiết kế phần </a:t>
            </a:r>
            <a:r>
              <a:rPr lang="en-US" smtClean="0"/>
              <a:t>mềm</a:t>
            </a:r>
          </a:p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NỘI DUNG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6952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Mở đầu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669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44958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Phần mềm là gì ?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Tập các chỉ thị mà khi thực hiện sẽ cung cấp cho người dùng các chức năng mà họ mong muốn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Gồm các cấu trúc dữ liệu giúp chương trình xử lý thông tin một cách hiệu quả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Gồm các bản tài liệu mô tả cách sử dụng cũng như phương thức chương trình hoạt động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Mở đầu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79382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44958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Thách thức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Việc xây dựng phần mềm ngày càng trở nên phức tạp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Các yêu cầu về giao diện, lưu trữ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Các yêu cầu về khả năng mở rộng, thay đổi, bảo trì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Làm sao có thể giảm được </a:t>
            </a:r>
            <a:r>
              <a:rPr lang="en-US" b="1" smtClean="0">
                <a:solidFill>
                  <a:srgbClr val="FF0000"/>
                </a:solidFill>
              </a:rPr>
              <a:t>độ phức tạp</a:t>
            </a:r>
            <a:r>
              <a:rPr lang="en-US" smtClean="0"/>
              <a:t> khi xây dựng phần mềm ?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Mở đầu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1117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3657599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Phương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pháp</a:t>
            </a:r>
            <a:endParaRPr lang="en-US" b="1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 smtClean="0"/>
              <a:t>dựng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, </a:t>
            </a:r>
            <a:r>
              <a:rPr lang="en-US" dirty="0" err="1" smtClean="0"/>
              <a:t>đo</a:t>
            </a:r>
            <a:r>
              <a:rPr lang="en-US" dirty="0" smtClean="0"/>
              <a:t> </a:t>
            </a:r>
            <a:r>
              <a:rPr lang="en-US" dirty="0" err="1" smtClean="0"/>
              <a:t>lường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cận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cận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cận</a:t>
            </a:r>
            <a:r>
              <a:rPr lang="en-US" dirty="0" smtClean="0"/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hướng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đối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tượng</a:t>
            </a:r>
            <a:endParaRPr lang="en-US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Mở đầu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4135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đặc điểm của phần mềm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14626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43433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Những tính chất quan trọng mà một phần mềm tốt phải có: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Có thể bảo trì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Bảo mật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Hiệu quả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Dễ sử dụng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...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Đặc điểm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9490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Qui trình phát triển phần mềm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951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50291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Xây dựng một căn nhà: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Bước 1: Tính toán xem ta sẽ bỏ ra bao nhiêu tiền </a:t>
            </a:r>
            <a:r>
              <a:rPr lang="en-US" smtClean="0">
                <a:latin typeface="Calibri" pitchFamily="34" charset="0"/>
                <a:sym typeface="Wingdings" pitchFamily="2" charset="2"/>
              </a:rPr>
              <a:t> với số tiền đó sẽ xây nhà loại gì  màu sắc, nguyên vật liệu  chọn đơn vị xây dựng. Tất cả có thể xem là ở giai đoạn </a:t>
            </a:r>
            <a:r>
              <a:rPr lang="en-US" b="1" smtClean="0">
                <a:solidFill>
                  <a:srgbClr val="FF0000"/>
                </a:solidFill>
                <a:latin typeface="Calibri" pitchFamily="34" charset="0"/>
                <a:sym typeface="Wingdings" pitchFamily="2" charset="2"/>
              </a:rPr>
              <a:t>phân tích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  <a:sym typeface="Wingdings" pitchFamily="2" charset="2"/>
              </a:rPr>
              <a:t>Bước 2: Đơn vị xây dựng thiết kế chi tiết các thành phần của căn nhà  giai đoạn </a:t>
            </a:r>
            <a:r>
              <a:rPr lang="en-US" b="1" smtClean="0">
                <a:solidFill>
                  <a:srgbClr val="FF0000"/>
                </a:solidFill>
                <a:latin typeface="Calibri" pitchFamily="34" charset="0"/>
                <a:sym typeface="Wingdings" pitchFamily="2" charset="2"/>
              </a:rPr>
              <a:t>thiết kế</a:t>
            </a:r>
            <a:r>
              <a:rPr lang="en-US" b="1" smtClean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Bước 3: Dựa vào bản thiết kế để </a:t>
            </a:r>
            <a:r>
              <a:rPr lang="en-US" b="1" smtClean="0">
                <a:solidFill>
                  <a:srgbClr val="FF0000"/>
                </a:solidFill>
                <a:latin typeface="Calibri" pitchFamily="34" charset="0"/>
              </a:rPr>
              <a:t>xây dựng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Bước 4: Chuyển giao, bảo trì và sửa chữa</a:t>
            </a:r>
            <a:endParaRPr lang="en-US">
              <a:latin typeface="Calibri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 về qui trình phát triển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0229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Ví dụ về qui trình phát triển</a:t>
            </a:r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19200"/>
            <a:ext cx="8704933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6053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37337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Thường gồm 5 hoạt động cơ bản:</a:t>
            </a:r>
          </a:p>
          <a:p>
            <a:pPr algn="just">
              <a:buFont typeface="Wingdings" pitchFamily="2" charset="2"/>
              <a:buChar char="Ø"/>
            </a:pPr>
            <a:r>
              <a:rPr lang="en-US">
                <a:latin typeface="Calibri" pitchFamily="34" charset="0"/>
              </a:rPr>
              <a:t>Communication</a:t>
            </a:r>
          </a:p>
          <a:p>
            <a:pPr algn="just">
              <a:buFont typeface="Wingdings" pitchFamily="2" charset="2"/>
              <a:buChar char="Ø"/>
            </a:pPr>
            <a:r>
              <a:rPr lang="en-US">
                <a:latin typeface="Calibri" pitchFamily="34" charset="0"/>
              </a:rPr>
              <a:t>Planning</a:t>
            </a:r>
          </a:p>
          <a:p>
            <a:pPr algn="just">
              <a:buFont typeface="Wingdings" pitchFamily="2" charset="2"/>
              <a:buChar char="Ø"/>
            </a:pPr>
            <a:r>
              <a:rPr lang="en-US">
                <a:latin typeface="Calibri" pitchFamily="34" charset="0"/>
              </a:rPr>
              <a:t>Modeling</a:t>
            </a:r>
          </a:p>
          <a:p>
            <a:pPr algn="just">
              <a:buFont typeface="Wingdings" pitchFamily="2" charset="2"/>
              <a:buChar char="Ø"/>
            </a:pPr>
            <a:r>
              <a:rPr lang="en-US">
                <a:latin typeface="Calibri" pitchFamily="34" charset="0"/>
              </a:rPr>
              <a:t>Construction</a:t>
            </a:r>
          </a:p>
          <a:p>
            <a:pPr algn="just">
              <a:buFont typeface="Wingdings" pitchFamily="2" charset="2"/>
              <a:buChar char="Ø"/>
            </a:pPr>
            <a:r>
              <a:rPr lang="en-US">
                <a:latin typeface="Calibri" pitchFamily="34" charset="0"/>
              </a:rPr>
              <a:t>Deployment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Các hoạt động chính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2330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47243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Communication: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Thảo </a:t>
            </a:r>
            <a:r>
              <a:rPr lang="en-US">
                <a:latin typeface="Calibri" pitchFamily="34" charset="0"/>
              </a:rPr>
              <a:t>luận với khách hàng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Nắm </a:t>
            </a:r>
            <a:r>
              <a:rPr lang="en-US">
                <a:latin typeface="Calibri" pitchFamily="34" charset="0"/>
              </a:rPr>
              <a:t>rõ yêu cầu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Đảm </a:t>
            </a:r>
            <a:r>
              <a:rPr lang="en-US">
                <a:latin typeface="Calibri" pitchFamily="34" charset="0"/>
              </a:rPr>
              <a:t>bảo nhất quán </a:t>
            </a:r>
            <a:endParaRPr lang="en-US" smtClean="0">
              <a:latin typeface="Calibri" pitchFamily="34" charset="0"/>
            </a:endParaRPr>
          </a:p>
          <a:p>
            <a:pPr marL="0" indent="0" algn="just">
              <a:buNone/>
            </a:pPr>
            <a:r>
              <a:rPr lang="en-US" smtClean="0">
                <a:latin typeface="Calibri" pitchFamily="34" charset="0"/>
              </a:rPr>
              <a:t>trong </a:t>
            </a:r>
            <a:r>
              <a:rPr lang="en-US">
                <a:latin typeface="Calibri" pitchFamily="34" charset="0"/>
              </a:rPr>
              <a:t>yêu cầu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Các hoạt động chính</a:t>
            </a:r>
            <a:endParaRPr lang="en-US"/>
          </a:p>
        </p:txBody>
      </p:sp>
      <p:pic>
        <p:nvPicPr>
          <p:cNvPr id="4" name="Picture 2" descr="http://denovati.com/wp-content/uploads/2014/08/Change-Management-and-Communication-300x21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133600"/>
            <a:ext cx="4021665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9558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47243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Planning: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Xác định chi tiết các công việc phải thực hiện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Xác định nguy cơ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Xác định tài nguyên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Xác định sản phẩm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Lịch trình cụ thể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Các hoạt động chính</a:t>
            </a:r>
            <a:endParaRPr lang="en-US"/>
          </a:p>
        </p:txBody>
      </p:sp>
      <p:pic>
        <p:nvPicPr>
          <p:cNvPr id="4" name="Picture 2" descr="http://denovati.com/wp-content/uploads/2014/08/Change-Management-and-Communication-300x21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514600"/>
            <a:ext cx="4021665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7385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47243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Modeling: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Phân tích &amp; thiết kế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Mô hình hóa các yêu cầu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Mô hình hóa thiết kế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Nhấn mạnh yếu tố chi </a:t>
            </a:r>
            <a:r>
              <a:rPr lang="vi-VN" smtClean="0">
                <a:latin typeface="Calibri" pitchFamily="34" charset="0"/>
              </a:rPr>
              <a:t>tiết</a:t>
            </a:r>
            <a:endParaRPr lang="vi-VN">
              <a:latin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Các hoạt động chính</a:t>
            </a:r>
            <a:endParaRPr lang="en-US"/>
          </a:p>
        </p:txBody>
      </p:sp>
      <p:pic>
        <p:nvPicPr>
          <p:cNvPr id="4" name="Picture 2" descr="http://denovati.com/wp-content/uploads/2014/08/Change-Management-and-Communication-300x21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023257"/>
            <a:ext cx="4021665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3068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47243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Construction:</a:t>
            </a:r>
          </a:p>
          <a:p>
            <a:pPr algn="just">
              <a:buFont typeface="Wingdings" pitchFamily="2" charset="2"/>
              <a:buChar char="Ø"/>
            </a:pPr>
            <a:r>
              <a:rPr lang="en-US">
                <a:latin typeface="Calibri" pitchFamily="34" charset="0"/>
              </a:rPr>
              <a:t>Coding</a:t>
            </a:r>
          </a:p>
          <a:p>
            <a:pPr algn="just">
              <a:buFont typeface="Wingdings" pitchFamily="2" charset="2"/>
              <a:buChar char="Ø"/>
            </a:pPr>
            <a:r>
              <a:rPr lang="en-US">
                <a:latin typeface="Calibri" pitchFamily="34" charset="0"/>
              </a:rPr>
              <a:t>Testing (Manual or Auto)</a:t>
            </a:r>
          </a:p>
          <a:p>
            <a:pPr algn="just">
              <a:buFont typeface="Wingdings" pitchFamily="2" charset="2"/>
              <a:buChar char="Ø"/>
            </a:pPr>
            <a:endParaRPr lang="vi-VN">
              <a:latin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Các hoạt động chính</a:t>
            </a:r>
            <a:endParaRPr lang="en-US"/>
          </a:p>
        </p:txBody>
      </p:sp>
      <p:pic>
        <p:nvPicPr>
          <p:cNvPr id="5" name="Picture 2" descr="C:\Users\Lenovo\AppData\Local\Microsoft\Windows\INetCache\IE\HHE6YO0Y\a_code_project_icon_for_c____java_and_c__by_qkthomas-d5cl7cr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143000"/>
            <a:ext cx="3693369" cy="369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5659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47243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Deployment:</a:t>
            </a:r>
          </a:p>
          <a:p>
            <a:pPr algn="just">
              <a:buFont typeface="Wingdings" pitchFamily="2" charset="2"/>
              <a:buChar char="Ø"/>
            </a:pPr>
            <a:r>
              <a:rPr lang="en-US">
                <a:latin typeface="Calibri" pitchFamily="34" charset="0"/>
              </a:rPr>
              <a:t>Chuyển giao cho khách hàng</a:t>
            </a:r>
          </a:p>
          <a:p>
            <a:pPr algn="just">
              <a:buFont typeface="Wingdings" pitchFamily="2" charset="2"/>
              <a:buChar char="Ø"/>
            </a:pPr>
            <a:r>
              <a:rPr lang="en-US">
                <a:latin typeface="Calibri" pitchFamily="34" charset="0"/>
              </a:rPr>
              <a:t>Nhận </a:t>
            </a:r>
            <a:r>
              <a:rPr lang="en-US" smtClean="0">
                <a:latin typeface="Calibri" pitchFamily="34" charset="0"/>
              </a:rPr>
              <a:t>feedback</a:t>
            </a:r>
            <a:endParaRPr lang="en-US">
              <a:latin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Các hoạt động chính</a:t>
            </a:r>
            <a:endParaRPr lang="en-US"/>
          </a:p>
        </p:txBody>
      </p:sp>
      <p:pic>
        <p:nvPicPr>
          <p:cNvPr id="6" name="Picture 2" descr="C:\Users\Lenovo\AppData\Local\Microsoft\Windows\INetCache\IE\HHE6YO0Y\download_package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98120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2960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MỘT SỐ QUI TRÌNH PHÁT TRIỂN PHẦN MỀM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066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Waterfall</a:t>
            </a:r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" y="990600"/>
            <a:ext cx="8991600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1"/>
          <p:cNvSpPr>
            <a:spLocks noGrp="1"/>
          </p:cNvSpPr>
          <p:nvPr>
            <p:ph idx="1"/>
          </p:nvPr>
        </p:nvSpPr>
        <p:spPr>
          <a:xfrm>
            <a:off x="304800" y="3276600"/>
            <a:ext cx="8382000" cy="25146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Tính chất: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Theo hướng tuần tự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Có lịch sử phát triển lâu đời</a:t>
            </a:r>
          </a:p>
          <a:p>
            <a:pPr algn="just">
              <a:buFont typeface="Wingdings" pitchFamily="2" charset="2"/>
              <a:buChar char="Ø"/>
            </a:pPr>
            <a:r>
              <a:rPr lang="en-US" b="1" smtClean="0">
                <a:solidFill>
                  <a:srgbClr val="FF0000"/>
                </a:solidFill>
                <a:latin typeface="Calibri" pitchFamily="34" charset="0"/>
              </a:rPr>
              <a:t>Nhận xét ?</a:t>
            </a:r>
            <a:endParaRPr lang="en-US" b="1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2630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Waterfall</a:t>
            </a:r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" y="990600"/>
            <a:ext cx="8991600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1"/>
          <p:cNvSpPr>
            <a:spLocks noGrp="1"/>
          </p:cNvSpPr>
          <p:nvPr>
            <p:ph idx="1"/>
          </p:nvPr>
        </p:nvSpPr>
        <p:spPr>
          <a:xfrm>
            <a:off x="304800" y="3276600"/>
            <a:ext cx="8382000" cy="30480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Khuyết điểm: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Dự án hiếm khi diễn ra theo tuần tự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Các yêu cầu khó có thể được xác định đầy đủ và chính xác ngay từ đầu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Thích hợp với các dự án qui mô nhỏ</a:t>
            </a:r>
            <a:endParaRPr lang="en-US">
              <a:latin typeface="Calibri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055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Prototype</a:t>
            </a:r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1" y="990600"/>
            <a:ext cx="5715000" cy="5455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 flipH="1">
            <a:off x="6934201" y="2405743"/>
            <a:ext cx="990600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flipH="1">
            <a:off x="6565901" y="4572000"/>
            <a:ext cx="990600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3596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Prototype</a:t>
            </a:r>
            <a:endParaRPr lang="en-US"/>
          </a:p>
        </p:txBody>
      </p:sp>
      <p:sp>
        <p:nvSpPr>
          <p:cNvPr id="6" name="Content Placeholder 1"/>
          <p:cNvSpPr>
            <a:spLocks noGrp="1"/>
          </p:cNvSpPr>
          <p:nvPr>
            <p:ph idx="1"/>
          </p:nvPr>
        </p:nvSpPr>
        <p:spPr>
          <a:xfrm>
            <a:off x="304800" y="1219200"/>
            <a:ext cx="8382000" cy="32766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Ưu điểm: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C</a:t>
            </a:r>
            <a:r>
              <a:rPr lang="vi-VN" smtClean="0">
                <a:latin typeface="Calibri" pitchFamily="34" charset="0"/>
              </a:rPr>
              <a:t>ung </a:t>
            </a:r>
            <a:r>
              <a:rPr lang="vi-VN">
                <a:latin typeface="Calibri" pitchFamily="34" charset="0"/>
              </a:rPr>
              <a:t>cấp cho người sử dụng cái nhìn rõ ràng hơn về sản phẩm, về những đặc điểm mà đôi khi chính họ cũng chưa hình dung </a:t>
            </a:r>
            <a:r>
              <a:rPr lang="vi-VN" smtClean="0">
                <a:latin typeface="Calibri" pitchFamily="34" charset="0"/>
              </a:rPr>
              <a:t>được</a:t>
            </a:r>
            <a:endParaRPr lang="en-US" smtClean="0">
              <a:latin typeface="Calibri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Giúp ta lấy yêu cầu sử dụng từ phía người dùng chính xác hơn</a:t>
            </a:r>
            <a:endParaRPr lang="vi-VN">
              <a:latin typeface="Calibri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11495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Prototype</a:t>
            </a:r>
            <a:endParaRPr lang="en-US"/>
          </a:p>
        </p:txBody>
      </p:sp>
      <p:sp>
        <p:nvSpPr>
          <p:cNvPr id="6" name="Content Placeholder 1"/>
          <p:cNvSpPr>
            <a:spLocks noGrp="1"/>
          </p:cNvSpPr>
          <p:nvPr>
            <p:ph idx="1"/>
          </p:nvPr>
        </p:nvSpPr>
        <p:spPr>
          <a:xfrm>
            <a:off x="304800" y="1219200"/>
            <a:ext cx="8382000" cy="28194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Khuyết điểm: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C</a:t>
            </a:r>
            <a:r>
              <a:rPr lang="vi-VN" smtClean="0">
                <a:latin typeface="Calibri" pitchFamily="34" charset="0"/>
              </a:rPr>
              <a:t>ó </a:t>
            </a:r>
            <a:r>
              <a:rPr lang="vi-VN">
                <a:latin typeface="Calibri" pitchFamily="34" charset="0"/>
              </a:rPr>
              <a:t>thể gây ra lãng phí, quy trình cần được kiểm soát gắt gao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Phù hợp với các hệ thống nhỏ, thời gian triển khai ngắn hoặc khó xác định yêu cầu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80824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Xoắn ốc</a:t>
            </a:r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7857"/>
            <a:ext cx="8139676" cy="5279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1983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Xoắn ốc</a:t>
            </a:r>
            <a:endParaRPr lang="en-US"/>
          </a:p>
        </p:txBody>
      </p:sp>
      <p:sp>
        <p:nvSpPr>
          <p:cNvPr id="6" name="Content Placeholder 1"/>
          <p:cNvSpPr>
            <a:spLocks noGrp="1"/>
          </p:cNvSpPr>
          <p:nvPr>
            <p:ph idx="1"/>
          </p:nvPr>
        </p:nvSpPr>
        <p:spPr>
          <a:xfrm>
            <a:off x="304800" y="1219200"/>
            <a:ext cx="8382000" cy="28194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Ưu điểm: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L</a:t>
            </a:r>
            <a:r>
              <a:rPr lang="vi-VN" smtClean="0">
                <a:latin typeface="Calibri" pitchFamily="34" charset="0"/>
              </a:rPr>
              <a:t>à </a:t>
            </a:r>
            <a:r>
              <a:rPr lang="vi-VN">
                <a:latin typeface="Calibri" pitchFamily="34" charset="0"/>
              </a:rPr>
              <a:t>sự kết hợp giữa đặc tính của Prototype model và Waterfall model. </a:t>
            </a:r>
            <a:endParaRPr lang="en-US" smtClean="0">
              <a:latin typeface="Calibri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vi-VN" smtClean="0">
                <a:latin typeface="Calibri" pitchFamily="34" charset="0"/>
              </a:rPr>
              <a:t>Hỗ </a:t>
            </a:r>
            <a:r>
              <a:rPr lang="vi-VN">
                <a:latin typeface="Calibri" pitchFamily="34" charset="0"/>
              </a:rPr>
              <a:t>trợ đánh giá rủi ro và giúp cải thiện dần qua từng phiên bản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2917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Xoắn ốc</a:t>
            </a:r>
            <a:endParaRPr lang="en-US"/>
          </a:p>
        </p:txBody>
      </p:sp>
      <p:sp>
        <p:nvSpPr>
          <p:cNvPr id="6" name="Content Placeholder 1"/>
          <p:cNvSpPr>
            <a:spLocks noGrp="1"/>
          </p:cNvSpPr>
          <p:nvPr>
            <p:ph idx="1"/>
          </p:nvPr>
        </p:nvSpPr>
        <p:spPr>
          <a:xfrm>
            <a:off x="304800" y="1219200"/>
            <a:ext cx="8382000" cy="3429000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Khuyết điểm: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T</a:t>
            </a:r>
            <a:r>
              <a:rPr lang="vi-VN" smtClean="0">
                <a:latin typeface="Calibri" pitchFamily="34" charset="0"/>
              </a:rPr>
              <a:t>ốn </a:t>
            </a:r>
            <a:r>
              <a:rPr lang="vi-VN">
                <a:latin typeface="Calibri" pitchFamily="34" charset="0"/>
              </a:rPr>
              <a:t>chi phí cho đánh giá rủi ro, phức tạp, khó quản lý cũng như khó thuyết phục khách hàng chấp nhận</a:t>
            </a:r>
          </a:p>
          <a:p>
            <a:pPr algn="just">
              <a:buFont typeface="Wingdings" pitchFamily="2" charset="2"/>
              <a:buChar char="Ø"/>
            </a:pPr>
            <a:r>
              <a:rPr lang="vi-VN">
                <a:latin typeface="Calibri" pitchFamily="34" charset="0"/>
              </a:rPr>
              <a:t>Phù hợp cho những hệ thống lớn, phức tạp và cần nhiều thời gian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7009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Phân tích – thiết kế phần mềm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6142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Phân tích – Thiết kế</a:t>
            </a:r>
            <a:endParaRPr lang="en-US"/>
          </a:p>
        </p:txBody>
      </p:sp>
      <p:pic>
        <p:nvPicPr>
          <p:cNvPr id="5" name="Picture 4" descr="https://upload.wikimedia.org/wikipedia/commons/c/cb/Sydney_Opera_House_Sails_edit02_adj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611868"/>
            <a:ext cx="3959225" cy="383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https://www.chalkstreet.com/blog/wp-content/uploads/2015/09/807769-free-architectural-wallpaper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144" y="1611867"/>
            <a:ext cx="4312920" cy="383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8659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Phân tích – Thiết kế</a:t>
            </a:r>
            <a:endParaRPr lang="en-US"/>
          </a:p>
        </p:txBody>
      </p:sp>
      <p:grpSp>
        <p:nvGrpSpPr>
          <p:cNvPr id="13" name="Group 4"/>
          <p:cNvGrpSpPr>
            <a:grpSpLocks/>
          </p:cNvGrpSpPr>
          <p:nvPr/>
        </p:nvGrpSpPr>
        <p:grpSpPr bwMode="auto">
          <a:xfrm>
            <a:off x="657202" y="1026082"/>
            <a:ext cx="7719439" cy="5445836"/>
            <a:chOff x="1440" y="1536"/>
            <a:chExt cx="3360" cy="2384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440" y="1536"/>
              <a:ext cx="3360" cy="2215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/>
            <a:lstStyle/>
            <a:p>
              <a:pPr algn="r"/>
              <a:endParaRPr kumimoji="1" lang="en-US"/>
            </a:p>
          </p:txBody>
        </p:sp>
        <p:sp>
          <p:nvSpPr>
            <p:cNvPr id="15" name="Rectangle 6"/>
            <p:cNvSpPr>
              <a:spLocks noChangeArrowheads="1"/>
            </p:cNvSpPr>
            <p:nvPr/>
          </p:nvSpPr>
          <p:spPr bwMode="auto">
            <a:xfrm>
              <a:off x="1898" y="2241"/>
              <a:ext cx="2719" cy="1067"/>
            </a:xfrm>
            <a:prstGeom prst="rect">
              <a:avLst/>
            </a:prstGeom>
            <a:solidFill>
              <a:srgbClr val="C0C0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7"/>
            <p:cNvSpPr>
              <a:spLocks noChangeShapeType="1"/>
            </p:cNvSpPr>
            <p:nvPr/>
          </p:nvSpPr>
          <p:spPr bwMode="auto">
            <a:xfrm>
              <a:off x="1898" y="3153"/>
              <a:ext cx="27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auto">
            <a:xfrm>
              <a:off x="1898" y="3007"/>
              <a:ext cx="27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9"/>
            <p:cNvSpPr>
              <a:spLocks noChangeShapeType="1"/>
            </p:cNvSpPr>
            <p:nvPr/>
          </p:nvSpPr>
          <p:spPr bwMode="auto">
            <a:xfrm>
              <a:off x="1898" y="2852"/>
              <a:ext cx="27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0"/>
            <p:cNvSpPr>
              <a:spLocks noChangeShapeType="1"/>
            </p:cNvSpPr>
            <p:nvPr/>
          </p:nvSpPr>
          <p:spPr bwMode="auto">
            <a:xfrm>
              <a:off x="1898" y="2697"/>
              <a:ext cx="27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1"/>
            <p:cNvSpPr>
              <a:spLocks noChangeShapeType="1"/>
            </p:cNvSpPr>
            <p:nvPr/>
          </p:nvSpPr>
          <p:spPr bwMode="auto">
            <a:xfrm>
              <a:off x="1898" y="2542"/>
              <a:ext cx="27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2"/>
            <p:cNvSpPr>
              <a:spLocks noChangeShapeType="1"/>
            </p:cNvSpPr>
            <p:nvPr/>
          </p:nvSpPr>
          <p:spPr bwMode="auto">
            <a:xfrm>
              <a:off x="1898" y="2396"/>
              <a:ext cx="27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1898" y="2241"/>
              <a:ext cx="27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14"/>
            <p:cNvSpPr>
              <a:spLocks noChangeArrowheads="1"/>
            </p:cNvSpPr>
            <p:nvPr/>
          </p:nvSpPr>
          <p:spPr bwMode="auto">
            <a:xfrm>
              <a:off x="1898" y="2241"/>
              <a:ext cx="2719" cy="1067"/>
            </a:xfrm>
            <a:prstGeom prst="rect">
              <a:avLst/>
            </a:prstGeom>
            <a:noFill/>
            <a:ln w="14288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15"/>
            <p:cNvSpPr>
              <a:spLocks noChangeArrowheads="1"/>
            </p:cNvSpPr>
            <p:nvPr/>
          </p:nvSpPr>
          <p:spPr bwMode="auto">
            <a:xfrm>
              <a:off x="2061" y="2331"/>
              <a:ext cx="217" cy="977"/>
            </a:xfrm>
            <a:prstGeom prst="rect">
              <a:avLst/>
            </a:prstGeom>
            <a:solidFill>
              <a:srgbClr val="9999FF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Rectangle 16"/>
            <p:cNvSpPr>
              <a:spLocks noChangeArrowheads="1"/>
            </p:cNvSpPr>
            <p:nvPr/>
          </p:nvSpPr>
          <p:spPr bwMode="auto">
            <a:xfrm>
              <a:off x="2603" y="2640"/>
              <a:ext cx="216" cy="668"/>
            </a:xfrm>
            <a:prstGeom prst="rect">
              <a:avLst/>
            </a:prstGeom>
            <a:solidFill>
              <a:srgbClr val="9999FF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Rectangle 17"/>
            <p:cNvSpPr>
              <a:spLocks noChangeArrowheads="1"/>
            </p:cNvSpPr>
            <p:nvPr/>
          </p:nvSpPr>
          <p:spPr bwMode="auto">
            <a:xfrm>
              <a:off x="3144" y="2942"/>
              <a:ext cx="226" cy="366"/>
            </a:xfrm>
            <a:prstGeom prst="rect">
              <a:avLst/>
            </a:prstGeom>
            <a:solidFill>
              <a:srgbClr val="9999FF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18"/>
            <p:cNvSpPr>
              <a:spLocks noChangeArrowheads="1"/>
            </p:cNvSpPr>
            <p:nvPr/>
          </p:nvSpPr>
          <p:spPr bwMode="auto">
            <a:xfrm>
              <a:off x="3695" y="3064"/>
              <a:ext cx="217" cy="244"/>
            </a:xfrm>
            <a:prstGeom prst="rect">
              <a:avLst/>
            </a:prstGeom>
            <a:solidFill>
              <a:srgbClr val="9999FF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19"/>
            <p:cNvSpPr>
              <a:spLocks noChangeArrowheads="1"/>
            </p:cNvSpPr>
            <p:nvPr/>
          </p:nvSpPr>
          <p:spPr bwMode="auto">
            <a:xfrm>
              <a:off x="4237" y="3153"/>
              <a:ext cx="217" cy="155"/>
            </a:xfrm>
            <a:prstGeom prst="rect">
              <a:avLst/>
            </a:prstGeom>
            <a:solidFill>
              <a:srgbClr val="9999FF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0"/>
            <p:cNvSpPr>
              <a:spLocks noChangeShapeType="1"/>
            </p:cNvSpPr>
            <p:nvPr/>
          </p:nvSpPr>
          <p:spPr bwMode="auto">
            <a:xfrm>
              <a:off x="1855" y="2241"/>
              <a:ext cx="1" cy="106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1"/>
            <p:cNvSpPr>
              <a:spLocks noChangeShapeType="1"/>
            </p:cNvSpPr>
            <p:nvPr/>
          </p:nvSpPr>
          <p:spPr bwMode="auto">
            <a:xfrm>
              <a:off x="1819" y="3308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2"/>
            <p:cNvSpPr>
              <a:spLocks noChangeShapeType="1"/>
            </p:cNvSpPr>
            <p:nvPr/>
          </p:nvSpPr>
          <p:spPr bwMode="auto">
            <a:xfrm>
              <a:off x="1819" y="3153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3"/>
            <p:cNvSpPr>
              <a:spLocks noChangeShapeType="1"/>
            </p:cNvSpPr>
            <p:nvPr/>
          </p:nvSpPr>
          <p:spPr bwMode="auto">
            <a:xfrm>
              <a:off x="1819" y="3007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24"/>
            <p:cNvSpPr>
              <a:spLocks noChangeShapeType="1"/>
            </p:cNvSpPr>
            <p:nvPr/>
          </p:nvSpPr>
          <p:spPr bwMode="auto">
            <a:xfrm>
              <a:off x="1819" y="2852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25"/>
            <p:cNvSpPr>
              <a:spLocks noChangeShapeType="1"/>
            </p:cNvSpPr>
            <p:nvPr/>
          </p:nvSpPr>
          <p:spPr bwMode="auto">
            <a:xfrm>
              <a:off x="1819" y="2697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26"/>
            <p:cNvSpPr>
              <a:spLocks noChangeShapeType="1"/>
            </p:cNvSpPr>
            <p:nvPr/>
          </p:nvSpPr>
          <p:spPr bwMode="auto">
            <a:xfrm>
              <a:off x="1819" y="2542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27"/>
            <p:cNvSpPr>
              <a:spLocks noChangeShapeType="1"/>
            </p:cNvSpPr>
            <p:nvPr/>
          </p:nvSpPr>
          <p:spPr bwMode="auto">
            <a:xfrm>
              <a:off x="1819" y="2396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28"/>
            <p:cNvSpPr>
              <a:spLocks noChangeShapeType="1"/>
            </p:cNvSpPr>
            <p:nvPr/>
          </p:nvSpPr>
          <p:spPr bwMode="auto">
            <a:xfrm>
              <a:off x="1819" y="2241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29"/>
            <p:cNvSpPr>
              <a:spLocks noChangeShapeType="1"/>
            </p:cNvSpPr>
            <p:nvPr/>
          </p:nvSpPr>
          <p:spPr bwMode="auto">
            <a:xfrm>
              <a:off x="1898" y="3308"/>
              <a:ext cx="271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0"/>
            <p:cNvSpPr>
              <a:spLocks noChangeShapeType="1"/>
            </p:cNvSpPr>
            <p:nvPr/>
          </p:nvSpPr>
          <p:spPr bwMode="auto">
            <a:xfrm flipV="1">
              <a:off x="1855" y="3308"/>
              <a:ext cx="1" cy="3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31"/>
            <p:cNvSpPr>
              <a:spLocks noChangeShapeType="1"/>
            </p:cNvSpPr>
            <p:nvPr/>
          </p:nvSpPr>
          <p:spPr bwMode="auto">
            <a:xfrm flipV="1">
              <a:off x="2440" y="3308"/>
              <a:ext cx="1" cy="3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32"/>
            <p:cNvSpPr>
              <a:spLocks noChangeShapeType="1"/>
            </p:cNvSpPr>
            <p:nvPr/>
          </p:nvSpPr>
          <p:spPr bwMode="auto">
            <a:xfrm flipV="1">
              <a:off x="2982" y="3308"/>
              <a:ext cx="1" cy="3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33"/>
            <p:cNvSpPr>
              <a:spLocks noChangeShapeType="1"/>
            </p:cNvSpPr>
            <p:nvPr/>
          </p:nvSpPr>
          <p:spPr bwMode="auto">
            <a:xfrm flipV="1">
              <a:off x="3533" y="3308"/>
              <a:ext cx="1" cy="3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34"/>
            <p:cNvSpPr>
              <a:spLocks noChangeShapeType="1"/>
            </p:cNvSpPr>
            <p:nvPr/>
          </p:nvSpPr>
          <p:spPr bwMode="auto">
            <a:xfrm flipV="1">
              <a:off x="4075" y="3308"/>
              <a:ext cx="1" cy="3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35"/>
            <p:cNvSpPr>
              <a:spLocks noChangeShapeType="1"/>
            </p:cNvSpPr>
            <p:nvPr/>
          </p:nvSpPr>
          <p:spPr bwMode="auto">
            <a:xfrm flipV="1">
              <a:off x="4617" y="3308"/>
              <a:ext cx="1" cy="3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Rectangle 36"/>
            <p:cNvSpPr>
              <a:spLocks noChangeArrowheads="1"/>
            </p:cNvSpPr>
            <p:nvPr/>
          </p:nvSpPr>
          <p:spPr bwMode="auto">
            <a:xfrm>
              <a:off x="1920" y="1850"/>
              <a:ext cx="259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kumimoji="1" lang="en-US" sz="1800">
                  <a:solidFill>
                    <a:srgbClr val="A50021"/>
                  </a:solidFill>
                </a:rPr>
                <a:t>Dự án phần mềm của US defence</a:t>
              </a:r>
            </a:p>
          </p:txBody>
        </p:sp>
        <p:sp>
          <p:nvSpPr>
            <p:cNvPr id="46" name="Rectangle 37"/>
            <p:cNvSpPr>
              <a:spLocks noChangeArrowheads="1"/>
            </p:cNvSpPr>
            <p:nvPr/>
          </p:nvSpPr>
          <p:spPr bwMode="auto">
            <a:xfrm>
              <a:off x="1766" y="3243"/>
              <a:ext cx="62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kumimoji="1" lang="en-US" sz="1400">
                  <a:solidFill>
                    <a:srgbClr val="000000"/>
                  </a:solidFill>
                  <a:latin typeface="Arial" charset="0"/>
                </a:rPr>
                <a:t>0</a:t>
              </a:r>
              <a:endParaRPr kumimoji="1" lang="en-US"/>
            </a:p>
          </p:txBody>
        </p:sp>
        <p:sp>
          <p:nvSpPr>
            <p:cNvPr id="47" name="Rectangle 38"/>
            <p:cNvSpPr>
              <a:spLocks noChangeArrowheads="1"/>
            </p:cNvSpPr>
            <p:nvPr/>
          </p:nvSpPr>
          <p:spPr bwMode="auto">
            <a:xfrm>
              <a:off x="1682" y="3088"/>
              <a:ext cx="155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kumimoji="1" lang="en-US" sz="1400">
                  <a:solidFill>
                    <a:srgbClr val="000000"/>
                  </a:solidFill>
                  <a:latin typeface="Arial" charset="0"/>
                </a:rPr>
                <a:t>0.5</a:t>
              </a:r>
              <a:endParaRPr kumimoji="1" lang="en-US"/>
            </a:p>
          </p:txBody>
        </p:sp>
        <p:sp>
          <p:nvSpPr>
            <p:cNvPr id="48" name="Rectangle 39"/>
            <p:cNvSpPr>
              <a:spLocks noChangeArrowheads="1"/>
            </p:cNvSpPr>
            <p:nvPr/>
          </p:nvSpPr>
          <p:spPr bwMode="auto">
            <a:xfrm>
              <a:off x="1766" y="2942"/>
              <a:ext cx="62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kumimoji="1" lang="en-US" sz="1400">
                  <a:solidFill>
                    <a:srgbClr val="000000"/>
                  </a:solidFill>
                  <a:latin typeface="Arial" charset="0"/>
                </a:rPr>
                <a:t>1</a:t>
              </a:r>
              <a:endParaRPr kumimoji="1" lang="en-US"/>
            </a:p>
          </p:txBody>
        </p:sp>
        <p:sp>
          <p:nvSpPr>
            <p:cNvPr id="49" name="Rectangle 40"/>
            <p:cNvSpPr>
              <a:spLocks noChangeArrowheads="1"/>
            </p:cNvSpPr>
            <p:nvPr/>
          </p:nvSpPr>
          <p:spPr bwMode="auto">
            <a:xfrm>
              <a:off x="1682" y="2787"/>
              <a:ext cx="155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kumimoji="1" lang="en-US" sz="1400">
                  <a:solidFill>
                    <a:srgbClr val="000000"/>
                  </a:solidFill>
                  <a:latin typeface="Arial" charset="0"/>
                </a:rPr>
                <a:t>1.5</a:t>
              </a:r>
              <a:endParaRPr kumimoji="1" lang="en-US"/>
            </a:p>
          </p:txBody>
        </p:sp>
        <p:sp>
          <p:nvSpPr>
            <p:cNvPr id="50" name="Rectangle 41"/>
            <p:cNvSpPr>
              <a:spLocks noChangeArrowheads="1"/>
            </p:cNvSpPr>
            <p:nvPr/>
          </p:nvSpPr>
          <p:spPr bwMode="auto">
            <a:xfrm>
              <a:off x="1766" y="2632"/>
              <a:ext cx="62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kumimoji="1" lang="en-US" sz="1400">
                  <a:solidFill>
                    <a:srgbClr val="000000"/>
                  </a:solidFill>
                  <a:latin typeface="Arial" charset="0"/>
                </a:rPr>
                <a:t>2</a:t>
              </a:r>
              <a:endParaRPr kumimoji="1" lang="en-US"/>
            </a:p>
          </p:txBody>
        </p:sp>
        <p:sp>
          <p:nvSpPr>
            <p:cNvPr id="51" name="Rectangle 42"/>
            <p:cNvSpPr>
              <a:spLocks noChangeArrowheads="1"/>
            </p:cNvSpPr>
            <p:nvPr/>
          </p:nvSpPr>
          <p:spPr bwMode="auto">
            <a:xfrm>
              <a:off x="1682" y="2477"/>
              <a:ext cx="155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kumimoji="1" lang="en-US" sz="1400">
                  <a:solidFill>
                    <a:srgbClr val="000000"/>
                  </a:solidFill>
                  <a:latin typeface="Arial" charset="0"/>
                </a:rPr>
                <a:t>2.5</a:t>
              </a:r>
              <a:endParaRPr kumimoji="1" lang="en-US"/>
            </a:p>
          </p:txBody>
        </p:sp>
        <p:sp>
          <p:nvSpPr>
            <p:cNvPr id="52" name="Rectangle 43"/>
            <p:cNvSpPr>
              <a:spLocks noChangeArrowheads="1"/>
            </p:cNvSpPr>
            <p:nvPr/>
          </p:nvSpPr>
          <p:spPr bwMode="auto">
            <a:xfrm>
              <a:off x="1766" y="2331"/>
              <a:ext cx="62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kumimoji="1" lang="en-US" sz="1400">
                  <a:solidFill>
                    <a:srgbClr val="000000"/>
                  </a:solidFill>
                  <a:latin typeface="Arial" charset="0"/>
                </a:rPr>
                <a:t>3</a:t>
              </a:r>
              <a:endParaRPr kumimoji="1" lang="en-US"/>
            </a:p>
          </p:txBody>
        </p:sp>
        <p:sp>
          <p:nvSpPr>
            <p:cNvPr id="53" name="Rectangle 44"/>
            <p:cNvSpPr>
              <a:spLocks noChangeArrowheads="1"/>
            </p:cNvSpPr>
            <p:nvPr/>
          </p:nvSpPr>
          <p:spPr bwMode="auto">
            <a:xfrm>
              <a:off x="1682" y="2176"/>
              <a:ext cx="155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kumimoji="1" lang="en-US" sz="1400">
                  <a:solidFill>
                    <a:srgbClr val="000000"/>
                  </a:solidFill>
                  <a:latin typeface="Arial" charset="0"/>
                </a:rPr>
                <a:t>3.5</a:t>
              </a:r>
              <a:endParaRPr kumimoji="1" lang="en-US"/>
            </a:p>
          </p:txBody>
        </p:sp>
        <p:sp>
          <p:nvSpPr>
            <p:cNvPr id="54" name="Rectangle 45"/>
            <p:cNvSpPr>
              <a:spLocks noChangeArrowheads="1"/>
            </p:cNvSpPr>
            <p:nvPr/>
          </p:nvSpPr>
          <p:spPr bwMode="auto">
            <a:xfrm>
              <a:off x="1923" y="3406"/>
              <a:ext cx="501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sz="1400">
                  <a:solidFill>
                    <a:srgbClr val="000000"/>
                  </a:solidFill>
                  <a:latin typeface="Arial Narrow" pitchFamily="34" charset="0"/>
                </a:rPr>
                <a:t>Paid for but </a:t>
              </a:r>
            </a:p>
            <a:p>
              <a:pPr algn="ctr"/>
              <a:r>
                <a:rPr kumimoji="1" lang="en-US" sz="1400">
                  <a:solidFill>
                    <a:srgbClr val="000000"/>
                  </a:solidFill>
                  <a:latin typeface="Arial Narrow" pitchFamily="34" charset="0"/>
                </a:rPr>
                <a:t>not received</a:t>
              </a:r>
              <a:endParaRPr kumimoji="1" lang="en-US" sz="1400">
                <a:latin typeface="Arial Narrow" pitchFamily="34" charset="0"/>
              </a:endParaRPr>
            </a:p>
          </p:txBody>
        </p:sp>
        <p:sp>
          <p:nvSpPr>
            <p:cNvPr id="55" name="Rectangle 46"/>
            <p:cNvSpPr>
              <a:spLocks noChangeArrowheads="1"/>
            </p:cNvSpPr>
            <p:nvPr/>
          </p:nvSpPr>
          <p:spPr bwMode="auto">
            <a:xfrm>
              <a:off x="2485" y="3422"/>
              <a:ext cx="541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sz="1400">
                  <a:solidFill>
                    <a:srgbClr val="000000"/>
                  </a:solidFill>
                  <a:latin typeface="Arial Narrow" pitchFamily="34" charset="0"/>
                </a:rPr>
                <a:t>Delivered but</a:t>
              </a:r>
            </a:p>
            <a:p>
              <a:pPr algn="ctr"/>
              <a:r>
                <a:rPr kumimoji="1" lang="en-US" sz="1400">
                  <a:solidFill>
                    <a:srgbClr val="000000"/>
                  </a:solidFill>
                  <a:latin typeface="Arial Narrow" pitchFamily="34" charset="0"/>
                </a:rPr>
                <a:t> not used</a:t>
              </a:r>
              <a:endParaRPr kumimoji="1" lang="en-US" sz="1400">
                <a:latin typeface="Arial Narrow" pitchFamily="34" charset="0"/>
              </a:endParaRPr>
            </a:p>
          </p:txBody>
        </p:sp>
        <p:sp>
          <p:nvSpPr>
            <p:cNvPr id="56" name="Rectangle 47"/>
            <p:cNvSpPr>
              <a:spLocks noChangeArrowheads="1"/>
            </p:cNvSpPr>
            <p:nvPr/>
          </p:nvSpPr>
          <p:spPr bwMode="auto">
            <a:xfrm>
              <a:off x="3066" y="3415"/>
              <a:ext cx="48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kumimoji="1" lang="en-US" sz="1400">
                  <a:solidFill>
                    <a:srgbClr val="000000"/>
                  </a:solidFill>
                  <a:latin typeface="Arial Narrow" pitchFamily="34" charset="0"/>
                </a:rPr>
                <a:t>Abandoned</a:t>
              </a:r>
            </a:p>
            <a:p>
              <a:pPr algn="r"/>
              <a:r>
                <a:rPr kumimoji="1" lang="en-US" sz="1400">
                  <a:solidFill>
                    <a:srgbClr val="000000"/>
                  </a:solidFill>
                  <a:latin typeface="Arial Narrow" pitchFamily="34" charset="0"/>
                </a:rPr>
                <a:t>or reworked</a:t>
              </a:r>
              <a:endParaRPr kumimoji="1" lang="en-US" sz="1400">
                <a:latin typeface="Arial Narrow" pitchFamily="34" charset="0"/>
              </a:endParaRPr>
            </a:p>
          </p:txBody>
        </p:sp>
        <p:sp>
          <p:nvSpPr>
            <p:cNvPr id="57" name="Rectangle 48"/>
            <p:cNvSpPr>
              <a:spLocks noChangeArrowheads="1"/>
            </p:cNvSpPr>
            <p:nvPr/>
          </p:nvSpPr>
          <p:spPr bwMode="auto">
            <a:xfrm>
              <a:off x="3655" y="3406"/>
              <a:ext cx="42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sz="1400">
                  <a:latin typeface="Arial Narrow" pitchFamily="34" charset="0"/>
                </a:rPr>
                <a:t>Used after</a:t>
              </a:r>
            </a:p>
            <a:p>
              <a:pPr algn="ctr"/>
              <a:r>
                <a:rPr kumimoji="1" lang="en-US" sz="1400">
                  <a:latin typeface="Arial Narrow" pitchFamily="34" charset="0"/>
                </a:rPr>
                <a:t>change</a:t>
              </a:r>
            </a:p>
          </p:txBody>
        </p:sp>
        <p:sp>
          <p:nvSpPr>
            <p:cNvPr id="58" name="Rectangle 49"/>
            <p:cNvSpPr>
              <a:spLocks noChangeArrowheads="1"/>
            </p:cNvSpPr>
            <p:nvPr/>
          </p:nvSpPr>
          <p:spPr bwMode="auto">
            <a:xfrm>
              <a:off x="4224" y="3406"/>
              <a:ext cx="372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sz="1400">
                  <a:latin typeface="Arial Narrow" pitchFamily="34" charset="0"/>
                </a:rPr>
                <a:t>Used as</a:t>
              </a:r>
            </a:p>
            <a:p>
              <a:pPr algn="ctr"/>
              <a:r>
                <a:rPr kumimoji="1" lang="en-US" sz="1400">
                  <a:latin typeface="Arial Narrow" pitchFamily="34" charset="0"/>
                </a:rPr>
                <a:t>delivered</a:t>
              </a:r>
            </a:p>
          </p:txBody>
        </p:sp>
        <p:sp>
          <p:nvSpPr>
            <p:cNvPr id="59" name="Rectangle 50"/>
            <p:cNvSpPr>
              <a:spLocks noChangeArrowheads="1"/>
            </p:cNvSpPr>
            <p:nvPr/>
          </p:nvSpPr>
          <p:spPr bwMode="auto">
            <a:xfrm rot="16200000">
              <a:off x="1095" y="2660"/>
              <a:ext cx="85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kumimoji="1" lang="en-US" sz="1600" b="1">
                  <a:solidFill>
                    <a:srgbClr val="000000"/>
                  </a:solidFill>
                  <a:latin typeface="Arial Narrow" pitchFamily="34" charset="0"/>
                </a:rPr>
                <a:t> Project value $M</a:t>
              </a:r>
              <a:endParaRPr kumimoji="1" lang="en-US" sz="1600" b="1">
                <a:latin typeface="Arial Narrow" pitchFamily="34" charset="0"/>
              </a:endParaRPr>
            </a:p>
          </p:txBody>
        </p:sp>
        <p:sp>
          <p:nvSpPr>
            <p:cNvPr id="60" name="Rectangle 51"/>
            <p:cNvSpPr>
              <a:spLocks noChangeArrowheads="1"/>
            </p:cNvSpPr>
            <p:nvPr/>
          </p:nvSpPr>
          <p:spPr bwMode="auto">
            <a:xfrm>
              <a:off x="2547" y="3766"/>
              <a:ext cx="107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kumimoji="1" lang="en-US" sz="1600" b="1">
                  <a:solidFill>
                    <a:srgbClr val="000000"/>
                  </a:solidFill>
                  <a:latin typeface="Arial Narrow" pitchFamily="34" charset="0"/>
                </a:rPr>
                <a:t>Projects</a:t>
              </a:r>
              <a:endParaRPr kumimoji="1" lang="en-US" sz="1600" b="1">
                <a:latin typeface="Arial Narrow" pitchFamily="34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5182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Phân tích – Thiết kế</a:t>
            </a:r>
            <a:endParaRPr lang="en-US"/>
          </a:p>
        </p:txBody>
      </p:sp>
      <p:pic>
        <p:nvPicPr>
          <p:cNvPr id="61" name="Picture 3" descr="software engineering explain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914400"/>
            <a:ext cx="7391400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8845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50291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Tổng quan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L</a:t>
            </a:r>
            <a:r>
              <a:rPr lang="vi-VN" smtClean="0">
                <a:latin typeface="Calibri" pitchFamily="34" charset="0"/>
              </a:rPr>
              <a:t>à </a:t>
            </a:r>
            <a:r>
              <a:rPr lang="vi-VN">
                <a:latin typeface="Calibri" pitchFamily="34" charset="0"/>
              </a:rPr>
              <a:t>một tập hợp các hoạt động với mục tiêu chính nhằm chuyển tải tất cả các yêu cầu chuyên biệt của phần mềm thành các thao tác hiện </a:t>
            </a:r>
            <a:r>
              <a:rPr lang="vi-VN" smtClean="0">
                <a:latin typeface="Calibri" pitchFamily="34" charset="0"/>
              </a:rPr>
              <a:t>thực</a:t>
            </a:r>
            <a:endParaRPr lang="en-US" smtClean="0">
              <a:latin typeface="Calibri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L</a:t>
            </a:r>
            <a:r>
              <a:rPr lang="vi-VN" smtClean="0">
                <a:latin typeface="Calibri" pitchFamily="34" charset="0"/>
              </a:rPr>
              <a:t>à bước </a:t>
            </a:r>
            <a:r>
              <a:rPr lang="vi-VN">
                <a:latin typeface="Calibri" pitchFamily="34" charset="0"/>
              </a:rPr>
              <a:t>trung gian giúp chuyển đổi các yêu cầu của khách hàng thành mã code hiện thực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Đòi hỏi thời gian, sự tỉ mỉ, khả năng suy luận và diễn đạt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Phân tích – Thiết kế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1022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18287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Hai phương pháp nổi tiếng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Phân tích - thiết kế hướng chức năng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Phân tích - thiết kế hướng đối tượng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Phân tích – Thiết kế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3020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50291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Phân tích</a:t>
            </a:r>
          </a:p>
          <a:p>
            <a:pPr algn="just">
              <a:buFont typeface="Wingdings" pitchFamily="2" charset="2"/>
              <a:buChar char="Ø"/>
            </a:pPr>
            <a:r>
              <a:rPr lang="en-US">
                <a:latin typeface="Calibri" pitchFamily="34" charset="0"/>
              </a:rPr>
              <a:t>L</a:t>
            </a:r>
            <a:r>
              <a:rPr lang="en-US" smtClean="0">
                <a:latin typeface="Calibri" pitchFamily="34" charset="0"/>
              </a:rPr>
              <a:t>à tách, chia nhỏ yêu cầu thành các thành phần để tìm ra các đặc tính, chức năng, quan hệ của chúng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Phân tích theo hướng đối tượng: nghiên cứu miền lĩnh vực, đặc tả các thông tin quan sát. Mô tả các đối tượng trong hệ thống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VD: Trong thư viện có các đối tượng: sách, thủ thư, người đọc, ...</a:t>
            </a:r>
          </a:p>
          <a:p>
            <a:pPr algn="just">
              <a:buFont typeface="Wingdings" pitchFamily="2" charset="2"/>
              <a:buChar char="Ø"/>
            </a:pPr>
            <a:endParaRPr lang="en-US" smtClean="0">
              <a:latin typeface="Calibri" pitchFamily="34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mtClean="0">
              <a:latin typeface="Calibri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Phân tích – Thiết kế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6804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50291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Phân tích gồm các bước chính: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Thu thập yêu cầu hệ thống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Nghiên cứu các yêu cầu, mô hình hóa để dễ nhớ, dễ hiểu và dễ loại bỏ các yêu cầu dư thừa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Tạo ra được các phương án thiết kế phù hợp với yêu cầu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Kết quả của giai đoạn này là bản mô tả về hệ thống (bao gồm các chức năng và hướng giải quyết)</a:t>
            </a:r>
          </a:p>
          <a:p>
            <a:pPr algn="just">
              <a:buFont typeface="Wingdings" pitchFamily="2" charset="2"/>
              <a:buChar char="Ø"/>
            </a:pPr>
            <a:endParaRPr lang="en-US" smtClean="0">
              <a:latin typeface="Calibri" pitchFamily="34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mtClean="0">
              <a:latin typeface="Calibri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Phân tích – Thiết kế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9479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50291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Thiết kế:</a:t>
            </a:r>
          </a:p>
          <a:p>
            <a:pPr algn="just">
              <a:buFont typeface="Wingdings" pitchFamily="2" charset="2"/>
              <a:buChar char="Ø"/>
            </a:pPr>
            <a:r>
              <a:rPr lang="en-US">
                <a:latin typeface="Calibri" pitchFamily="34" charset="0"/>
              </a:rPr>
              <a:t>L</a:t>
            </a:r>
            <a:r>
              <a:rPr lang="en-US" smtClean="0">
                <a:latin typeface="Calibri" pitchFamily="34" charset="0"/>
              </a:rPr>
              <a:t>à đưa ra các tập tài liệu kĩ thuật: bản vẽ, mô tả chi tiết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Là cơ sở để xây dựng nên công trình hoàn chỉnh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Trong tiếp cận hướng đối tượng, là đặc tả các hành vi bên ngoài + bổ sung chi tiết (nếu cần)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VD: Thiết kế giao diện, CSDL, bổ sung các hành vi cho các lớp, đối tượng, ...</a:t>
            </a:r>
          </a:p>
          <a:p>
            <a:pPr algn="just">
              <a:buFont typeface="Wingdings" pitchFamily="2" charset="2"/>
              <a:buChar char="Ø"/>
            </a:pPr>
            <a:endParaRPr lang="en-US" smtClean="0">
              <a:latin typeface="Calibri" pitchFamily="34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mtClean="0">
              <a:latin typeface="Calibri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Phân tích – Thiết kế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24086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50291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Thiết kế: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Thiết kế mức luận lý: mô tả hệ thống ở mức độ trừu tượng, dựa trên tài liệu đã có ở giai đoạn phân tích, không quan tâm đến nền tảng phần cứng và hệ điều hành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Thiết kế mức vật lý: đặc tả cụ thể phần cứng, ngôn ngữ lập trình đã chọn </a:t>
            </a:r>
            <a:r>
              <a:rPr lang="en-US" smtClean="0">
                <a:latin typeface="Calibri" pitchFamily="34" charset="0"/>
                <a:sym typeface="Wingdings" pitchFamily="2" charset="2"/>
              </a:rPr>
              <a:t> có thể giao cho lập trình viên và hiện thực</a:t>
            </a:r>
            <a:endParaRPr lang="en-US" smtClean="0">
              <a:latin typeface="Calibri" pitchFamily="34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mtClean="0">
              <a:latin typeface="Calibri" pitchFamily="34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mtClean="0">
              <a:latin typeface="Calibri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Phân tích – Thiết kế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25087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Phân tích – thiết kế phần mềm hướng đối tượng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7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47243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Khái niệm: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Đây là phương pháp trong đó trọng tâm là </a:t>
            </a:r>
            <a:r>
              <a:rPr lang="en-US" b="1" smtClean="0">
                <a:solidFill>
                  <a:srgbClr val="FF0000"/>
                </a:solidFill>
                <a:latin typeface="Calibri" pitchFamily="34" charset="0"/>
              </a:rPr>
              <a:t>đối tượng (object)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Khái niệm đối tượng là sự tổng hợp giữa khái niệm xử lý và khái niệm dữ liệu chung trong một cách tiếp cận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Hệ thống là tập hợp các đối tượng có liên kết với nhau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Hướng đối tượng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4878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47243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Khái niệm: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Ánh xạ các đối tượng trong thế giới thực thành các đối tượng trong phần mềm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Là phương pháp phân tích thế hệ thứ ba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Một số phương pháp tiêu biểu: OOAD, OOSE, RUP/UML, ...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Hướng đối tượng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2985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47243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Tính bao đóng (Encapsulation):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Quan niệm mối quan hệ giữa đối tượng nhận và đối tượng cung cấp là dạng </a:t>
            </a:r>
            <a:r>
              <a:rPr lang="en-US" b="1" smtClean="0">
                <a:solidFill>
                  <a:srgbClr val="FF0000"/>
                </a:solidFill>
                <a:latin typeface="Calibri" pitchFamily="34" charset="0"/>
              </a:rPr>
              <a:t>hộp đen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Đặc trưng</a:t>
            </a:r>
            <a:endParaRPr lang="en-US"/>
          </a:p>
        </p:txBody>
      </p:sp>
      <p:pic>
        <p:nvPicPr>
          <p:cNvPr id="1026" name="Picture 2" descr="Image result for encapsu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497" y="2971800"/>
            <a:ext cx="5225621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2132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35051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Tính bao đóng (Encapsulation):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Đối tượng nhận chỉ có thể truy xuất đối tượng cung cấp qua giao diện (interface) được định nghĩa bởi đối tượng cung cấp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Không được truy cập qua các thông tin “nội bộ” của đối tượng cung cấp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Đặc trưng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2783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47243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Tính phân loại (Classification):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Gom nhóm các đối tượng có cùng cấu trúc và hành vi vào thành một class</a:t>
            </a:r>
            <a:endParaRPr lang="en-US" b="1" smtClean="0">
              <a:solidFill>
                <a:srgbClr val="FF0000"/>
              </a:solidFill>
              <a:latin typeface="Calibri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Đặc trưng</a:t>
            </a:r>
            <a:endParaRPr lang="en-US"/>
          </a:p>
        </p:txBody>
      </p:sp>
      <p:pic>
        <p:nvPicPr>
          <p:cNvPr id="2050" name="Picture 2" descr="Image result for classif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629" y="2848025"/>
            <a:ext cx="5867400" cy="3694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5174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47243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Tính bao gộp (Aggregation):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Kết hợp các đối tượng lớn và các đối tượng thể hiện chi tiết cấu thành nó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Mô tả cấu trúc cục bộ của các đối tượng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Mô tả sự phụ thuộc giữa các đối tượng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VD: Trong một chiếc xe sẽ bao gồm biển số, bánh xe, cần điều khiển, ...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Đặc trưng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2568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47243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Tính bao gộp (Aggregation):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Đặc trưng</a:t>
            </a:r>
            <a:endParaRPr lang="en-US"/>
          </a:p>
        </p:txBody>
      </p:sp>
      <p:pic>
        <p:nvPicPr>
          <p:cNvPr id="4" name="Picture 2" descr="Image result for aggregation 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752599"/>
            <a:ext cx="3962400" cy="461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0734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19049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Tính thừa kế (Inheritance):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Tổng quát hóa, </a:t>
            </a:r>
            <a:r>
              <a:rPr lang="en-US">
                <a:latin typeface="Calibri" pitchFamily="34" charset="0"/>
              </a:rPr>
              <a:t>c</a:t>
            </a:r>
            <a:r>
              <a:rPr lang="en-US" smtClean="0">
                <a:latin typeface="Calibri" pitchFamily="34" charset="0"/>
              </a:rPr>
              <a:t>huyên biệt hóa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Chia sẻ các đặc trưng của một đối tượng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Đặc trưng</a:t>
            </a:r>
            <a:endParaRPr lang="en-US"/>
          </a:p>
        </p:txBody>
      </p:sp>
      <p:pic>
        <p:nvPicPr>
          <p:cNvPr id="6146" name="Picture 2" descr="Image result for inherit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771" y="2895600"/>
            <a:ext cx="6096000" cy="343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1893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24383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Giao tiếp bằng thông điệp (Message):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Các đối tượng liên hệ với nhau thông qua nhận và gửi thông điệp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Thể hiện dưới dạng các phương thức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Đặc trưng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617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29717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Đa hình (Polymorphism):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Là các thông điệp “đồng âm”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Được gửi đến các đối tượng của những lớp khác nhau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Calibri" pitchFamily="34" charset="0"/>
              </a:rPr>
              <a:t>Thực hiện những hành vi khác nhau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Đặc trưng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3751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66801"/>
            <a:ext cx="8382000" cy="609599"/>
          </a:xfrm>
        </p:spPr>
        <p:txBody>
          <a:bodyPr/>
          <a:lstStyle/>
          <a:p>
            <a:pPr marL="0" indent="0">
              <a:buNone/>
            </a:pPr>
            <a:r>
              <a:rPr lang="en-US" b="1" smtClean="0">
                <a:solidFill>
                  <a:srgbClr val="00B050"/>
                </a:solidFill>
              </a:rPr>
              <a:t>Đa hình (Polymorphism):</a:t>
            </a:r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Đặc trưng</a:t>
            </a:r>
            <a:endParaRPr lang="en-US"/>
          </a:p>
        </p:txBody>
      </p:sp>
      <p:pic>
        <p:nvPicPr>
          <p:cNvPr id="8194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65514"/>
            <a:ext cx="6324600" cy="4696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0285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themes</Template>
  <TotalTime>4313</TotalTime>
  <Words>1613</Words>
  <Application>Microsoft Office PowerPoint</Application>
  <PresentationFormat>On-screen Show (4:3)</PresentationFormat>
  <Paragraphs>257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Arial Narrow</vt:lpstr>
      <vt:lpstr>Calibri</vt:lpstr>
      <vt:lpstr>Wingdings</vt:lpstr>
      <vt:lpstr>Template</vt:lpstr>
      <vt:lpstr>GIỚI THIỆU</vt:lpstr>
      <vt:lpstr>NỘI DUNG</vt:lpstr>
      <vt:lpstr>Mở đầu</vt:lpstr>
      <vt:lpstr>Mở đầu</vt:lpstr>
      <vt:lpstr>Mở đầu</vt:lpstr>
      <vt:lpstr>Mở đầu</vt:lpstr>
      <vt:lpstr>đặc điểm của phần mềm</vt:lpstr>
      <vt:lpstr>Đặc điểm</vt:lpstr>
      <vt:lpstr>Qui trình phát triển phần mềm</vt:lpstr>
      <vt:lpstr>Ví dụ về qui trình phát triển</vt:lpstr>
      <vt:lpstr>Ví dụ về qui trình phát triển</vt:lpstr>
      <vt:lpstr>Các hoạt động chính</vt:lpstr>
      <vt:lpstr>Các hoạt động chính</vt:lpstr>
      <vt:lpstr>Các hoạt động chính</vt:lpstr>
      <vt:lpstr>Các hoạt động chính</vt:lpstr>
      <vt:lpstr>Các hoạt động chính</vt:lpstr>
      <vt:lpstr>Các hoạt động chính</vt:lpstr>
      <vt:lpstr>MỘT SỐ QUI TRÌNH PHÁT TRIỂN PHẦN MỀM</vt:lpstr>
      <vt:lpstr>Waterfall</vt:lpstr>
      <vt:lpstr>Waterfall</vt:lpstr>
      <vt:lpstr>Prototype</vt:lpstr>
      <vt:lpstr>Prototype</vt:lpstr>
      <vt:lpstr>Prototype</vt:lpstr>
      <vt:lpstr>Xoắn ốc</vt:lpstr>
      <vt:lpstr>Xoắn ốc</vt:lpstr>
      <vt:lpstr>Xoắn ốc</vt:lpstr>
      <vt:lpstr>Phân tích – thiết kế phần mềm</vt:lpstr>
      <vt:lpstr>Phân tích – Thiết kế</vt:lpstr>
      <vt:lpstr>Phân tích – Thiết kế</vt:lpstr>
      <vt:lpstr>Phân tích – Thiết kế</vt:lpstr>
      <vt:lpstr>Phân tích – Thiết kế</vt:lpstr>
      <vt:lpstr>Phân tích – Thiết kế</vt:lpstr>
      <vt:lpstr>Phân tích – Thiết kế</vt:lpstr>
      <vt:lpstr>Phân tích – Thiết kế</vt:lpstr>
      <vt:lpstr>Phân tích – Thiết kế</vt:lpstr>
      <vt:lpstr>Phân tích – Thiết kế</vt:lpstr>
      <vt:lpstr>Phân tích – thiết kế phần mềm hướng đối tượng</vt:lpstr>
      <vt:lpstr>Hướng đối tượng</vt:lpstr>
      <vt:lpstr>Hướng đối tượng</vt:lpstr>
      <vt:lpstr>Đặc trưng</vt:lpstr>
      <vt:lpstr>Đặc trưng</vt:lpstr>
      <vt:lpstr>Đặc trưng</vt:lpstr>
      <vt:lpstr>Đặc trưng</vt:lpstr>
      <vt:lpstr>Đặc trưng</vt:lpstr>
      <vt:lpstr>Đặc trưng</vt:lpstr>
      <vt:lpstr>Đặc trưng</vt:lpstr>
      <vt:lpstr>Đặc trưng</vt:lpstr>
      <vt:lpstr>Đặc trưng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Brene</dc:creator>
  <cp:lastModifiedBy>CUONG</cp:lastModifiedBy>
  <cp:revision>299</cp:revision>
  <cp:lastPrinted>2018-01-17T03:20:45Z</cp:lastPrinted>
  <dcterms:created xsi:type="dcterms:W3CDTF">2006-08-16T00:00:00Z</dcterms:created>
  <dcterms:modified xsi:type="dcterms:W3CDTF">2023-01-31T02:51:53Z</dcterms:modified>
</cp:coreProperties>
</file>