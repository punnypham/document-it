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handoutMasterIdLst>
    <p:handoutMasterId r:id="rId59"/>
  </p:handoutMasterIdLst>
  <p:sldIdLst>
    <p:sldId id="257" r:id="rId2"/>
    <p:sldId id="258" r:id="rId3"/>
    <p:sldId id="259" r:id="rId4"/>
    <p:sldId id="260" r:id="rId5"/>
    <p:sldId id="261" r:id="rId6"/>
    <p:sldId id="262" r:id="rId7"/>
    <p:sldId id="263" r:id="rId8"/>
    <p:sldId id="311" r:id="rId9"/>
    <p:sldId id="312" r:id="rId10"/>
    <p:sldId id="313" r:id="rId11"/>
    <p:sldId id="264" r:id="rId12"/>
    <p:sldId id="267" r:id="rId13"/>
    <p:sldId id="265" r:id="rId14"/>
    <p:sldId id="268" r:id="rId15"/>
    <p:sldId id="269" r:id="rId16"/>
    <p:sldId id="266"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3" r:id="rId49"/>
    <p:sldId id="302" r:id="rId50"/>
    <p:sldId id="304" r:id="rId51"/>
    <p:sldId id="305" r:id="rId52"/>
    <p:sldId id="306" r:id="rId53"/>
    <p:sldId id="307" r:id="rId54"/>
    <p:sldId id="308" r:id="rId55"/>
    <p:sldId id="309" r:id="rId56"/>
    <p:sldId id="310" r:id="rId57"/>
  </p:sldIdLst>
  <p:sldSz cx="9144000" cy="6858000" type="screen4x3"/>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8968" autoAdjust="0"/>
  </p:normalViewPr>
  <p:slideViewPr>
    <p:cSldViewPr>
      <p:cViewPr varScale="1">
        <p:scale>
          <a:sx n="96" d="100"/>
          <a:sy n="96" d="100"/>
        </p:scale>
        <p:origin x="-150" y="-1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937" cy="36527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438180" y="0"/>
            <a:ext cx="4160937" cy="365276"/>
          </a:xfrm>
          <a:prstGeom prst="rect">
            <a:avLst/>
          </a:prstGeom>
        </p:spPr>
        <p:txBody>
          <a:bodyPr vert="horz" lIns="91440" tIns="45720" rIns="91440" bIns="45720" rtlCol="0"/>
          <a:lstStyle>
            <a:lvl1pPr algn="r">
              <a:defRPr sz="1200"/>
            </a:lvl1pPr>
          </a:lstStyle>
          <a:p>
            <a:fld id="{138E34B7-88F2-445B-B448-57758571869D}" type="datetimeFigureOut">
              <a:rPr lang="en-US" smtClean="0"/>
              <a:t>5/23/2021</a:t>
            </a:fld>
            <a:endParaRPr lang="en-US"/>
          </a:p>
        </p:txBody>
      </p:sp>
      <p:sp>
        <p:nvSpPr>
          <p:cNvPr id="4" name="Footer Placeholder 3"/>
          <p:cNvSpPr>
            <a:spLocks noGrp="1"/>
          </p:cNvSpPr>
          <p:nvPr>
            <p:ph type="ftr" sz="quarter" idx="2"/>
          </p:nvPr>
        </p:nvSpPr>
        <p:spPr>
          <a:xfrm>
            <a:off x="0" y="6948715"/>
            <a:ext cx="4160937" cy="36527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438180" y="6948715"/>
            <a:ext cx="4160937" cy="365276"/>
          </a:xfrm>
          <a:prstGeom prst="rect">
            <a:avLst/>
          </a:prstGeom>
        </p:spPr>
        <p:txBody>
          <a:bodyPr vert="horz" lIns="91440" tIns="45720" rIns="91440" bIns="45720" rtlCol="0" anchor="b"/>
          <a:lstStyle>
            <a:lvl1pPr algn="r">
              <a:defRPr sz="1200"/>
            </a:lvl1pPr>
          </a:lstStyle>
          <a:p>
            <a:fld id="{C6253E26-5630-4347-A082-DC7F3CE96A0F}" type="slidenum">
              <a:rPr lang="en-US" smtClean="0"/>
              <a:t>‹#›</a:t>
            </a:fld>
            <a:endParaRPr lang="en-US"/>
          </a:p>
        </p:txBody>
      </p:sp>
    </p:spTree>
    <p:extLst>
      <p:ext uri="{BB962C8B-B14F-4D97-AF65-F5344CB8AC3E}">
        <p14:creationId xmlns:p14="http://schemas.microsoft.com/office/powerpoint/2010/main" val="9900983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5438458" y="0"/>
            <a:ext cx="4160520" cy="365760"/>
          </a:xfrm>
          <a:prstGeom prst="rect">
            <a:avLst/>
          </a:prstGeom>
        </p:spPr>
        <p:txBody>
          <a:bodyPr vert="horz" lIns="96661" tIns="48331" rIns="96661" bIns="48331" rtlCol="0"/>
          <a:lstStyle>
            <a:lvl1pPr algn="r">
              <a:defRPr sz="1300"/>
            </a:lvl1pPr>
          </a:lstStyle>
          <a:p>
            <a:fld id="{F76C5060-921E-4620-B971-1C9B49191B05}" type="datetimeFigureOut">
              <a:rPr lang="en-US" smtClean="0"/>
              <a:t>5/23/2021</a:t>
            </a:fld>
            <a:endParaRPr lang="en-US"/>
          </a:p>
        </p:txBody>
      </p:sp>
      <p:sp>
        <p:nvSpPr>
          <p:cNvPr id="4" name="Slide Image Placeholder 3"/>
          <p:cNvSpPr>
            <a:spLocks noGrp="1" noRot="1" noChangeAspect="1"/>
          </p:cNvSpPr>
          <p:nvPr>
            <p:ph type="sldImg" idx="2"/>
          </p:nvPr>
        </p:nvSpPr>
        <p:spPr>
          <a:xfrm>
            <a:off x="2971800" y="549275"/>
            <a:ext cx="3657600" cy="274320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5438458" y="6948171"/>
            <a:ext cx="4160520" cy="365760"/>
          </a:xfrm>
          <a:prstGeom prst="rect">
            <a:avLst/>
          </a:prstGeom>
        </p:spPr>
        <p:txBody>
          <a:bodyPr vert="horz" lIns="96661" tIns="48331" rIns="96661" bIns="48331" rtlCol="0" anchor="b"/>
          <a:lstStyle>
            <a:lvl1pPr algn="r">
              <a:defRPr sz="1300"/>
            </a:lvl1pPr>
          </a:lstStyle>
          <a:p>
            <a:fld id="{F304BACC-CBAB-43D0-AEB0-A6C288158D50}" type="slidenum">
              <a:rPr lang="en-US" smtClean="0"/>
              <a:t>‹#›</a:t>
            </a:fld>
            <a:endParaRPr lang="en-US"/>
          </a:p>
        </p:txBody>
      </p:sp>
    </p:spTree>
    <p:extLst>
      <p:ext uri="{BB962C8B-B14F-4D97-AF65-F5344CB8AC3E}">
        <p14:creationId xmlns:p14="http://schemas.microsoft.com/office/powerpoint/2010/main" val="95805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References/Projects/YourBank_CRM_SRS_v1.0.1.docx" TargetMode="External"/><Relationship Id="rId2" Type="http://schemas.openxmlformats.org/officeDocument/2006/relationships/slide" Target="../slides/slide28.xml"/><Relationship Id="rId1" Type="http://schemas.openxmlformats.org/officeDocument/2006/relationships/notesMaster" Target="../notesMasters/notesMaster1.xml"/><Relationship Id="rId5" Type="http://schemas.openxmlformats.org/officeDocument/2006/relationships/hyperlink" Target="../References/Projects/AQUILA_SRS_v1.0.doc" TargetMode="External"/><Relationship Id="rId4" Type="http://schemas.openxmlformats.org/officeDocument/2006/relationships/hyperlink" Target="../Refs/AQUILA_SRS_v1.0.doc" TargetMode="External"/></Relationships>
</file>

<file path=ppt/notesSlides/_rels/notesSlide28.xml.rels><?xml version="1.0" encoding="UTF-8" standalone="yes"?>
<Relationships xmlns="http://schemas.openxmlformats.org/package/2006/relationships"><Relationship Id="rId3" Type="http://schemas.openxmlformats.org/officeDocument/2006/relationships/hyperlink" Target="../References/Projects/YourBank_CRM_SRS_v1.0.1.docx" TargetMode="External"/><Relationship Id="rId2" Type="http://schemas.openxmlformats.org/officeDocument/2006/relationships/slide" Target="../slides/slide29.xml"/><Relationship Id="rId1" Type="http://schemas.openxmlformats.org/officeDocument/2006/relationships/notesMaster" Target="../notesMasters/notesMaster1.xml"/><Relationship Id="rId5" Type="http://schemas.openxmlformats.org/officeDocument/2006/relationships/hyperlink" Target="../References/Projects/AQUILA_SRS_v1.0.doc" TargetMode="External"/><Relationship Id="rId4" Type="http://schemas.openxmlformats.org/officeDocument/2006/relationships/hyperlink" Target="../Refs/AQUILA_SRS_v1.0.doc"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References/QualityManagementSystem/Template_Requirement%20Management%20Sheet.xls"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Day02_02_Q&amp;A%20Making%20Guideline.xlsx"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Day02_02_Q&amp;A%20Making%20Guideline.xlsx"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Day02_02_Q&amp;A%20Making%20Guideline.xlsx"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Day02_02_Q&amp;A%20Making%20Guideline.xlsx"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Day02_02_Q&amp;A%20Making%20Guideline.xlsx"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Day02_02_Q&amp;A%20Making%20Guideline.xlsx"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a:t>The requirements for a system are the descriptions of what the system should do— the services that it provides and the constraints on its operation. </a:t>
            </a:r>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level</a:t>
            </a:r>
          </a:p>
          <a:p>
            <a:r>
              <a:rPr lang="en-US"/>
              <a:t> Define business problems to be solved or business opportunities to be addressed by the software product</a:t>
            </a:r>
          </a:p>
          <a:p>
            <a:r>
              <a:rPr lang="en-US"/>
              <a:t> Define why the software product is being developed</a:t>
            </a:r>
          </a:p>
          <a:p>
            <a:endParaRPr lang="en-US"/>
          </a:p>
          <a:p>
            <a:r>
              <a:rPr lang="en-US"/>
              <a:t>Eg. HCVS offers customers an element of on-line fleet management, reporting and driver functionality, branded Capital Control. Linked to Capital Control are a number of bespoke customer driver web sites that have general driver information (for example car policy).</a:t>
            </a:r>
          </a:p>
          <a:p>
            <a:r>
              <a:rPr lang="en-US"/>
              <a:t> </a:t>
            </a:r>
          </a:p>
          <a:p>
            <a:r>
              <a:rPr lang="en-US"/>
              <a:t>This offering has been developed and live for a number of years and was initially market leading. Over the past few years the competitors have developed better on-line capability that has leapfrogged the HCVS proposition.</a:t>
            </a:r>
          </a:p>
          <a:p>
            <a:r>
              <a:rPr lang="en-US"/>
              <a:t> </a:t>
            </a:r>
          </a:p>
          <a:p>
            <a:r>
              <a:rPr lang="en-US"/>
              <a:t>This objective of the project is to provide a web-based eCommerce application and data warehouse to supersede Capital Control and Online Quoting tool and retake the market lead. </a:t>
            </a:r>
          </a:p>
          <a:p>
            <a:r>
              <a:rPr lang="en-US"/>
              <a:t> </a:t>
            </a:r>
          </a:p>
          <a:p>
            <a:r>
              <a:rPr lang="en-US"/>
              <a:t>To achieve this business objective, the project will focus on the user experience.</a:t>
            </a:r>
          </a:p>
          <a:p>
            <a:endParaRPr lang="en-US"/>
          </a:p>
          <a:p>
            <a:r>
              <a:rPr lang="en-US"/>
              <a:t>User level (URD - could be use as part of a RFP (Request For Proposal) to open for contract bidding)</a:t>
            </a:r>
          </a:p>
          <a:p>
            <a:r>
              <a:rPr lang="en-US"/>
              <a:t>High-level descriptions of the system services and constraints</a:t>
            </a:r>
          </a:p>
          <a:p>
            <a:r>
              <a:rPr lang="en-US"/>
              <a:t>Focus on system’s functionality from user’s perspective</a:t>
            </a:r>
          </a:p>
          <a:p>
            <a:r>
              <a:rPr lang="en-US"/>
              <a:t>Define what system shall provide to achieve users’ objectives</a:t>
            </a:r>
          </a:p>
          <a:p>
            <a:r>
              <a:rPr lang="en-US"/>
              <a:t>Multiple user requirements to fulfill a single business requirements</a:t>
            </a:r>
          </a:p>
          <a:p>
            <a:r>
              <a:rPr lang="en-US"/>
              <a:t>Business rules are specific policies defining how users </a:t>
            </a:r>
            <a:br>
              <a:rPr lang="en-US"/>
            </a:br>
            <a:r>
              <a:rPr lang="en-US"/>
              <a:t>do business </a:t>
            </a:r>
          </a:p>
          <a:p>
            <a:r>
              <a:rPr lang="en-US"/>
              <a:t>Primarily for end-users and written in natural language (avoid technical terminologies) plus diagrams</a:t>
            </a:r>
          </a:p>
          <a:p>
            <a:endParaRPr lang="en-US"/>
          </a:p>
          <a:p>
            <a:r>
              <a:rPr lang="en-US"/>
              <a:t>Product level (Software requirement – SRS, could be use as part of a contract between client and contractor)</a:t>
            </a:r>
          </a:p>
          <a:p>
            <a:r>
              <a:rPr lang="en-US"/>
              <a:t>Detailed descriptions of the system services and constraints</a:t>
            </a:r>
          </a:p>
          <a:p>
            <a:r>
              <a:rPr lang="en-US"/>
              <a:t>Specify functionality that must be built into the software to accomplish users’ tasks</a:t>
            </a:r>
          </a:p>
          <a:p>
            <a:r>
              <a:rPr lang="en-US"/>
              <a:t>Multiple product-level requirements to fulfill a single user-level requirements</a:t>
            </a:r>
          </a:p>
          <a:p>
            <a:r>
              <a:rPr lang="en-US"/>
              <a:t>Primarily for engineers to start design</a:t>
            </a:r>
          </a:p>
          <a:p>
            <a:r>
              <a:rPr lang="en-US"/>
              <a:t>Written in structured natural plus diagrams and math notations</a:t>
            </a:r>
          </a:p>
        </p:txBody>
      </p:sp>
      <p:sp>
        <p:nvSpPr>
          <p:cNvPr id="4" name="Slide Number Placeholder 3"/>
          <p:cNvSpPr>
            <a:spLocks noGrp="1"/>
          </p:cNvSpPr>
          <p:nvPr>
            <p:ph type="sldNum" sz="quarter" idx="10"/>
          </p:nvPr>
        </p:nvSpPr>
        <p:spPr/>
        <p:txBody>
          <a:bodyPr/>
          <a:lstStyle/>
          <a:p>
            <a:fld id="{F304BACC-CBAB-43D0-AEB0-A6C288158D50}" type="slidenum">
              <a:rPr lang="en-US" smtClean="0"/>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level</a:t>
            </a:r>
          </a:p>
          <a:p>
            <a:r>
              <a:rPr lang="en-US"/>
              <a:t> Define business problems to be solved or business opportunities to be addressed by the software product</a:t>
            </a:r>
          </a:p>
          <a:p>
            <a:r>
              <a:rPr lang="en-US"/>
              <a:t> Define why the software product is being developed</a:t>
            </a:r>
          </a:p>
          <a:p>
            <a:endParaRPr lang="en-US"/>
          </a:p>
          <a:p>
            <a:r>
              <a:rPr lang="en-US"/>
              <a:t>Eg. HCVS offers customers an element of on-line fleet management, reporting and driver functionality, branded Capital Control. Linked to Capital Control are a number of bespoke customer driver web sites that have general driver information (for example car policy).</a:t>
            </a:r>
          </a:p>
          <a:p>
            <a:r>
              <a:rPr lang="en-US"/>
              <a:t> </a:t>
            </a:r>
          </a:p>
          <a:p>
            <a:r>
              <a:rPr lang="en-US"/>
              <a:t>This offering has been developed and live for a number of years and was initially market leading. Over the past few years the competitors have developed better on-line capability that has leapfrogged the HCVS proposition.</a:t>
            </a:r>
          </a:p>
          <a:p>
            <a:r>
              <a:rPr lang="en-US"/>
              <a:t> </a:t>
            </a:r>
          </a:p>
          <a:p>
            <a:r>
              <a:rPr lang="en-US"/>
              <a:t>This objective of the project is to provide a web-based eCommerce application and data warehouse to supersede Capital Control and Online Quoting tool and retake the market lead. </a:t>
            </a:r>
          </a:p>
          <a:p>
            <a:r>
              <a:rPr lang="en-US"/>
              <a:t> </a:t>
            </a:r>
          </a:p>
          <a:p>
            <a:r>
              <a:rPr lang="en-US"/>
              <a:t>To achieve this business objective, the project will focus on the user experience.</a:t>
            </a:r>
          </a:p>
          <a:p>
            <a:endParaRPr lang="en-US"/>
          </a:p>
          <a:p>
            <a:r>
              <a:rPr lang="en-US"/>
              <a:t>User level (URD - could be use as part of a RFP (Request For Proposal) to open for contract bidding)</a:t>
            </a:r>
          </a:p>
          <a:p>
            <a:r>
              <a:rPr lang="en-US"/>
              <a:t>High-level descriptions of the system services and constraints</a:t>
            </a:r>
          </a:p>
          <a:p>
            <a:r>
              <a:rPr lang="en-US"/>
              <a:t>Focus on system’s functionality from user’s perspective</a:t>
            </a:r>
          </a:p>
          <a:p>
            <a:r>
              <a:rPr lang="en-US"/>
              <a:t>Define what system shall provide to achieve users’ objectives</a:t>
            </a:r>
          </a:p>
          <a:p>
            <a:r>
              <a:rPr lang="en-US"/>
              <a:t>Multiple user requirements to fulfill a single business requirements</a:t>
            </a:r>
          </a:p>
          <a:p>
            <a:r>
              <a:rPr lang="en-US"/>
              <a:t>Business rules are specific policies defining how users </a:t>
            </a:r>
            <a:br>
              <a:rPr lang="en-US"/>
            </a:br>
            <a:r>
              <a:rPr lang="en-US"/>
              <a:t>do business </a:t>
            </a:r>
          </a:p>
          <a:p>
            <a:r>
              <a:rPr lang="en-US"/>
              <a:t>Primarily for end-users and written in natural language (avoid technical terminologies) plus diagrams</a:t>
            </a:r>
          </a:p>
          <a:p>
            <a:endParaRPr lang="en-US"/>
          </a:p>
          <a:p>
            <a:r>
              <a:rPr lang="en-US"/>
              <a:t>Product level (Software requirement – SRS, could be use as part of a contract between client and contractor)</a:t>
            </a:r>
          </a:p>
          <a:p>
            <a:r>
              <a:rPr lang="en-US"/>
              <a:t>Detailed descriptions of the system services and constraints</a:t>
            </a:r>
          </a:p>
          <a:p>
            <a:r>
              <a:rPr lang="en-US"/>
              <a:t>Specify functionality that must be built into the software to accomplish users’ tasks</a:t>
            </a:r>
          </a:p>
          <a:p>
            <a:r>
              <a:rPr lang="en-US"/>
              <a:t>Multiple product-level requirements to fulfill a single user-level requirements</a:t>
            </a:r>
          </a:p>
          <a:p>
            <a:r>
              <a:rPr lang="en-US"/>
              <a:t>Primarily for engineers to start design</a:t>
            </a:r>
          </a:p>
          <a:p>
            <a:r>
              <a:rPr lang="en-US"/>
              <a:t>Written in structured natural plus diagrams and math notations</a:t>
            </a:r>
          </a:p>
        </p:txBody>
      </p:sp>
      <p:sp>
        <p:nvSpPr>
          <p:cNvPr id="4" name="Slide Number Placeholder 3"/>
          <p:cNvSpPr>
            <a:spLocks noGrp="1"/>
          </p:cNvSpPr>
          <p:nvPr>
            <p:ph type="sldNum" sz="quarter" idx="10"/>
          </p:nvPr>
        </p:nvSpPr>
        <p:spPr/>
        <p:txBody>
          <a:bodyPr/>
          <a:lstStyle/>
          <a:p>
            <a:fld id="{F304BACC-CBAB-43D0-AEB0-A6C288158D50}" type="slidenum">
              <a:rPr lang="en-US" smtClean="0"/>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level</a:t>
            </a:r>
          </a:p>
          <a:p>
            <a:r>
              <a:rPr lang="en-US"/>
              <a:t> Define business problems to be solved or business opportunities to be addressed by the software product</a:t>
            </a:r>
          </a:p>
          <a:p>
            <a:r>
              <a:rPr lang="en-US"/>
              <a:t> Define why the software product is being developed</a:t>
            </a:r>
          </a:p>
          <a:p>
            <a:endParaRPr lang="en-US"/>
          </a:p>
          <a:p>
            <a:r>
              <a:rPr lang="en-US"/>
              <a:t>Eg. HCVS offers customers an element of on-line fleet management, reporting and driver functionality, branded Capital Control. Linked to Capital Control are a number of bespoke customer driver web sites that have general driver information (for example car policy).</a:t>
            </a:r>
          </a:p>
          <a:p>
            <a:r>
              <a:rPr lang="en-US"/>
              <a:t> </a:t>
            </a:r>
          </a:p>
          <a:p>
            <a:r>
              <a:rPr lang="en-US"/>
              <a:t>This offering has been developed and live for a number of years and was initially market leading. Over the past few years the competitors have developed better on-line capability that has leapfrogged the HCVS proposition.</a:t>
            </a:r>
          </a:p>
          <a:p>
            <a:r>
              <a:rPr lang="en-US"/>
              <a:t> </a:t>
            </a:r>
          </a:p>
          <a:p>
            <a:r>
              <a:rPr lang="en-US"/>
              <a:t>This objective of the project is to provide a web-based eCommerce application and data warehouse to supersede Capital Control and Online Quoting tool and retake the market lead. </a:t>
            </a:r>
          </a:p>
          <a:p>
            <a:r>
              <a:rPr lang="en-US"/>
              <a:t> </a:t>
            </a:r>
          </a:p>
          <a:p>
            <a:r>
              <a:rPr lang="en-US"/>
              <a:t>To achieve this business objective, the project will focus on the user experience.</a:t>
            </a:r>
          </a:p>
          <a:p>
            <a:endParaRPr lang="en-US"/>
          </a:p>
          <a:p>
            <a:r>
              <a:rPr lang="en-US"/>
              <a:t>User level (URD - could be use as part of a RFP (Request For Proposal) to open for contract bidding)</a:t>
            </a:r>
          </a:p>
          <a:p>
            <a:r>
              <a:rPr lang="en-US"/>
              <a:t>High-level descriptions of the system services and constraints</a:t>
            </a:r>
          </a:p>
          <a:p>
            <a:r>
              <a:rPr lang="en-US"/>
              <a:t>Focus on system’s functionality from user’s perspective</a:t>
            </a:r>
          </a:p>
          <a:p>
            <a:r>
              <a:rPr lang="en-US"/>
              <a:t>Define what system shall provide to achieve users’ objectives</a:t>
            </a:r>
          </a:p>
          <a:p>
            <a:r>
              <a:rPr lang="en-US"/>
              <a:t>Multiple user requirements to fulfill a single business requirements</a:t>
            </a:r>
          </a:p>
          <a:p>
            <a:r>
              <a:rPr lang="en-US"/>
              <a:t>Business rules are specific policies defining how users </a:t>
            </a:r>
            <a:br>
              <a:rPr lang="en-US"/>
            </a:br>
            <a:r>
              <a:rPr lang="en-US"/>
              <a:t>do business </a:t>
            </a:r>
          </a:p>
          <a:p>
            <a:r>
              <a:rPr lang="en-US"/>
              <a:t>Primarily for end-users and written in natural language (avoid technical terminologies) plus diagrams</a:t>
            </a:r>
          </a:p>
          <a:p>
            <a:endParaRPr lang="en-US"/>
          </a:p>
          <a:p>
            <a:r>
              <a:rPr lang="en-US"/>
              <a:t>Product level (Software requirement – SRS, could be use as part of a contract between client and contractor)</a:t>
            </a:r>
          </a:p>
          <a:p>
            <a:r>
              <a:rPr lang="en-US"/>
              <a:t>Detailed descriptions of the system services and constraints</a:t>
            </a:r>
          </a:p>
          <a:p>
            <a:r>
              <a:rPr lang="en-US"/>
              <a:t>Specify functionality that must be built into the software to accomplish users’ tasks</a:t>
            </a:r>
          </a:p>
          <a:p>
            <a:r>
              <a:rPr lang="en-US"/>
              <a:t>Multiple product-level requirements to fulfill a single user-level requirements</a:t>
            </a:r>
          </a:p>
          <a:p>
            <a:r>
              <a:rPr lang="en-US"/>
              <a:t>Primarily for engineers to start design</a:t>
            </a:r>
          </a:p>
          <a:p>
            <a:r>
              <a:rPr lang="en-US"/>
              <a:t>Written in structured natural plus diagrams and math notations</a:t>
            </a:r>
          </a:p>
        </p:txBody>
      </p:sp>
      <p:sp>
        <p:nvSpPr>
          <p:cNvPr id="4" name="Slide Number Placeholder 3"/>
          <p:cNvSpPr>
            <a:spLocks noGrp="1"/>
          </p:cNvSpPr>
          <p:nvPr>
            <p:ph type="sldNum" sz="quarter" idx="10"/>
          </p:nvPr>
        </p:nvSpPr>
        <p:spPr/>
        <p:txBody>
          <a:bodyPr/>
          <a:lstStyle/>
          <a:p>
            <a:fld id="{F304BACC-CBAB-43D0-AEB0-A6C288158D50}" type="slidenum">
              <a:rPr lang="en-US" smtClean="0"/>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level</a:t>
            </a:r>
          </a:p>
          <a:p>
            <a:r>
              <a:rPr lang="en-US"/>
              <a:t> Define business problems to be solved or business opportunities to be addressed by the software product</a:t>
            </a:r>
          </a:p>
          <a:p>
            <a:r>
              <a:rPr lang="en-US"/>
              <a:t> Define why the software product is being developed</a:t>
            </a:r>
          </a:p>
          <a:p>
            <a:endParaRPr lang="en-US"/>
          </a:p>
          <a:p>
            <a:r>
              <a:rPr lang="en-US"/>
              <a:t>Eg. HCVS offers customers an element of on-line fleet management, reporting and driver functionality, branded Capital Control. Linked to Capital Control are a number of bespoke customer driver web sites that have general driver information (for example car policy).</a:t>
            </a:r>
          </a:p>
          <a:p>
            <a:r>
              <a:rPr lang="en-US"/>
              <a:t> </a:t>
            </a:r>
          </a:p>
          <a:p>
            <a:r>
              <a:rPr lang="en-US"/>
              <a:t>This offering has been developed and live for a number of years and was initially market leading. Over the past few years the competitors have developed better on-line capability that has leapfrogged the HCVS proposition.</a:t>
            </a:r>
          </a:p>
          <a:p>
            <a:r>
              <a:rPr lang="en-US"/>
              <a:t> </a:t>
            </a:r>
          </a:p>
          <a:p>
            <a:r>
              <a:rPr lang="en-US"/>
              <a:t>This objective of the project is to provide a web-based eCommerce application and data warehouse to supersede Capital Control and Online Quoting tool and retake the market lead. </a:t>
            </a:r>
          </a:p>
          <a:p>
            <a:r>
              <a:rPr lang="en-US"/>
              <a:t> </a:t>
            </a:r>
          </a:p>
          <a:p>
            <a:r>
              <a:rPr lang="en-US"/>
              <a:t>To achieve this business objective, the project will focus on the user experience.</a:t>
            </a:r>
          </a:p>
          <a:p>
            <a:endParaRPr lang="en-US"/>
          </a:p>
          <a:p>
            <a:r>
              <a:rPr lang="en-US"/>
              <a:t>User level (URD - could be use as part of a RFP (Request For Proposal) to open for contract bidding)</a:t>
            </a:r>
          </a:p>
          <a:p>
            <a:r>
              <a:rPr lang="en-US"/>
              <a:t>High-level descriptions of the system services and constraints</a:t>
            </a:r>
          </a:p>
          <a:p>
            <a:r>
              <a:rPr lang="en-US"/>
              <a:t>Focus on system’s functionality from user’s perspective</a:t>
            </a:r>
          </a:p>
          <a:p>
            <a:r>
              <a:rPr lang="en-US"/>
              <a:t>Define what system shall provide to achieve users’ objectives</a:t>
            </a:r>
          </a:p>
          <a:p>
            <a:r>
              <a:rPr lang="en-US"/>
              <a:t>Multiple user requirements to fulfill a single business requirements</a:t>
            </a:r>
          </a:p>
          <a:p>
            <a:r>
              <a:rPr lang="en-US"/>
              <a:t>Business rules are specific policies defining how users </a:t>
            </a:r>
            <a:br>
              <a:rPr lang="en-US"/>
            </a:br>
            <a:r>
              <a:rPr lang="en-US"/>
              <a:t>do business </a:t>
            </a:r>
          </a:p>
          <a:p>
            <a:r>
              <a:rPr lang="en-US"/>
              <a:t>Primarily for end-users and written in natural language (avoid technical terminologies) plus diagrams</a:t>
            </a:r>
          </a:p>
          <a:p>
            <a:endParaRPr lang="en-US"/>
          </a:p>
          <a:p>
            <a:r>
              <a:rPr lang="en-US"/>
              <a:t>Product level (Software requirement – SRS, could be use as part of a contract between client and contractor)</a:t>
            </a:r>
          </a:p>
          <a:p>
            <a:r>
              <a:rPr lang="en-US"/>
              <a:t>Detailed descriptions of the system services and constraints</a:t>
            </a:r>
          </a:p>
          <a:p>
            <a:r>
              <a:rPr lang="en-US"/>
              <a:t>Specify functionality that must be built into the software to accomplish users’ tasks</a:t>
            </a:r>
          </a:p>
          <a:p>
            <a:r>
              <a:rPr lang="en-US"/>
              <a:t>Multiple product-level requirements to fulfill a single user-level requirements</a:t>
            </a:r>
          </a:p>
          <a:p>
            <a:r>
              <a:rPr lang="en-US"/>
              <a:t>Primarily for engineers to start design</a:t>
            </a:r>
          </a:p>
          <a:p>
            <a:r>
              <a:rPr lang="en-US"/>
              <a:t>Written in structured natural plus diagrams and math notations</a:t>
            </a:r>
          </a:p>
        </p:txBody>
      </p:sp>
      <p:sp>
        <p:nvSpPr>
          <p:cNvPr id="4" name="Slide Number Placeholder 3"/>
          <p:cNvSpPr>
            <a:spLocks noGrp="1"/>
          </p:cNvSpPr>
          <p:nvPr>
            <p:ph type="sldNum" sz="quarter" idx="10"/>
          </p:nvPr>
        </p:nvSpPr>
        <p:spPr/>
        <p:txBody>
          <a:bodyPr/>
          <a:lstStyle/>
          <a:p>
            <a:fld id="{F304BACC-CBAB-43D0-AEB0-A6C288158D50}" type="slidenum">
              <a:rPr lang="en-US" smtClean="0"/>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a:t>Sample: </a:t>
            </a:r>
            <a:r>
              <a:rPr lang="en-US" sz="1300">
                <a:hlinkClick r:id="rId3" action="ppaction://hlinkfile"/>
              </a:rPr>
              <a:t>YourBank_CRM_SRS_v1.0.1.docx</a:t>
            </a:r>
            <a:endParaRPr lang="en-US" sz="1300"/>
          </a:p>
          <a:p>
            <a:pPr defTabSz="966612">
              <a:defRPr/>
            </a:pPr>
            <a:r>
              <a:rPr lang="en-US" sz="1300"/>
              <a:t>Sample:</a:t>
            </a:r>
            <a:r>
              <a:rPr lang="en-US" sz="1300">
                <a:hlinkClick r:id="rId4" action="ppaction://hlinkfile"/>
              </a:rPr>
              <a:t> </a:t>
            </a:r>
            <a:r>
              <a:rPr lang="en-US" sz="1300">
                <a:hlinkClick r:id="rId5" action="ppaction://hlinkfile"/>
              </a:rPr>
              <a:t>AQUILA_SRS_v1.0.doc</a:t>
            </a: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a:t>Sample: </a:t>
            </a:r>
            <a:r>
              <a:rPr lang="en-US" sz="1300">
                <a:hlinkClick r:id="rId3" action="ppaction://hlinkfile"/>
              </a:rPr>
              <a:t>YourBank_CRM_SRS_v1.0.1.docx</a:t>
            </a:r>
            <a:endParaRPr lang="en-US" sz="1300"/>
          </a:p>
          <a:p>
            <a:pPr defTabSz="966612">
              <a:defRPr/>
            </a:pPr>
            <a:r>
              <a:rPr lang="en-US" sz="1300"/>
              <a:t>Sample:</a:t>
            </a:r>
            <a:r>
              <a:rPr lang="en-US" sz="1300">
                <a:hlinkClick r:id="rId4" action="ppaction://hlinkfile"/>
              </a:rPr>
              <a:t> </a:t>
            </a:r>
            <a:r>
              <a:rPr lang="en-US" sz="1300">
                <a:hlinkClick r:id="rId5" action="ppaction://hlinkfile"/>
              </a:rPr>
              <a:t>AQUILA_SRS_v1.0.doc</a:t>
            </a: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37</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a:t>Verification: “Are we building the product right?”</a:t>
            </a:r>
            <a:br>
              <a:rPr lang="en-US" sz="1300"/>
            </a:br>
            <a:r>
              <a:rPr lang="en-US" sz="1300"/>
              <a:t>Validation: “Are we building the right product?”</a:t>
            </a:r>
          </a:p>
        </p:txBody>
      </p:sp>
      <p:sp>
        <p:nvSpPr>
          <p:cNvPr id="4" name="Slide Number Placeholder 3"/>
          <p:cNvSpPr>
            <a:spLocks noGrp="1"/>
          </p:cNvSpPr>
          <p:nvPr>
            <p:ph type="sldNum" sz="quarter" idx="10"/>
          </p:nvPr>
        </p:nvSpPr>
        <p:spPr/>
        <p:txBody>
          <a:bodyPr/>
          <a:lstStyle/>
          <a:p>
            <a:fld id="{F304BACC-CBAB-43D0-AEB0-A6C288158D50}" type="slidenum">
              <a:rPr lang="en-US" smtClean="0"/>
              <a:t>38</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1653" indent="-241653">
              <a:buAutoNum type="arabicPeriod"/>
            </a:pPr>
            <a:r>
              <a:rPr lang="en-US" baseline="0"/>
              <a:t>Validity check</a:t>
            </a:r>
          </a:p>
          <a:p>
            <a:pPr marL="724959" lvl="1" indent="-241653">
              <a:buAutoNum type="arabicPeriod"/>
            </a:pPr>
            <a:r>
              <a:rPr lang="en-US"/>
              <a:t>A user may think that a system is needed to perform certain functions. However, further thought and analysis may identify additional or different functions that are required. Systems have diverse stakeholders with distinct needs and any set of requirements is inevitably a compromise across the stakeholder community.</a:t>
            </a:r>
          </a:p>
          <a:p>
            <a:pPr marL="724959" lvl="1" indent="-241653">
              <a:buAutoNum type="arabicPeriod"/>
            </a:pPr>
            <a:r>
              <a:rPr lang="en-US" b="1" u="sng">
                <a:solidFill>
                  <a:srgbClr val="FFFF00"/>
                </a:solidFill>
              </a:rPr>
              <a:t>Does the system provide RIGHT functionalities as customer’s NEED?</a:t>
            </a:r>
            <a:endParaRPr lang="en-US" baseline="0"/>
          </a:p>
          <a:p>
            <a:pPr marL="241653" indent="-241653">
              <a:buAutoNum type="arabicPeriod"/>
            </a:pPr>
            <a:endParaRPr lang="en-US" baseline="0"/>
          </a:p>
          <a:p>
            <a:pPr marL="241653" indent="-241653">
              <a:buAutoNum type="arabicPeriod"/>
            </a:pPr>
            <a:r>
              <a:rPr lang="en-US" baseline="0"/>
              <a:t>Consistency check</a:t>
            </a:r>
          </a:p>
          <a:p>
            <a:pPr marL="724959" lvl="1" indent="-241653">
              <a:buAutoNum type="arabicPeriod"/>
            </a:pPr>
            <a:r>
              <a:rPr lang="en-US"/>
              <a:t>Requirements in the document should not conflict. That is, there should be no contradictory constraints or descriptions of the same system function.</a:t>
            </a:r>
          </a:p>
          <a:p>
            <a:pPr marL="724959" lvl="1" indent="-241653">
              <a:buAutoNum type="arabicPeriod"/>
            </a:pPr>
            <a:r>
              <a:rPr lang="en-US" b="1" u="sng">
                <a:solidFill>
                  <a:srgbClr val="FFFF00"/>
                </a:solidFill>
              </a:rPr>
              <a:t>Is there any requirement CONFLICT?</a:t>
            </a:r>
            <a:endParaRPr lang="en-US" baseline="0"/>
          </a:p>
          <a:p>
            <a:pPr marL="241653" indent="-241653">
              <a:buAutoNum type="arabicPeriod"/>
            </a:pPr>
            <a:endParaRPr lang="en-US" baseline="0"/>
          </a:p>
          <a:p>
            <a:pPr marL="241653" indent="-241653">
              <a:buAutoNum type="arabicPeriod"/>
            </a:pPr>
            <a:r>
              <a:rPr lang="en-US" baseline="0"/>
              <a:t>Completeness check</a:t>
            </a:r>
          </a:p>
          <a:p>
            <a:pPr marL="724959" lvl="1" indent="-241653">
              <a:buAutoNum type="arabicPeriod"/>
            </a:pPr>
            <a:r>
              <a:rPr lang="en-US"/>
              <a:t>The requirements document should include requirements which define all functions, and constraints intended by the system user.</a:t>
            </a:r>
          </a:p>
          <a:p>
            <a:pPr marL="724959" lvl="1" indent="-241653">
              <a:buAutoNum type="arabicPeriod"/>
            </a:pPr>
            <a:r>
              <a:rPr lang="en-US" b="1" u="sng">
                <a:solidFill>
                  <a:srgbClr val="FFFF00"/>
                </a:solidFill>
              </a:rPr>
              <a:t>Are all functions required by customer INCLUDED?</a:t>
            </a:r>
          </a:p>
          <a:p>
            <a:pPr marL="724959" lvl="1" indent="-241653">
              <a:buAutoNum type="arabicPeriod"/>
            </a:pPr>
            <a:r>
              <a:rPr lang="en-US" b="1" u="sng">
                <a:solidFill>
                  <a:srgbClr val="FFFF00"/>
                </a:solidFill>
              </a:rPr>
              <a:t>Is there any common checklists that you can use?</a:t>
            </a:r>
            <a:endParaRPr lang="en-US" u="sng" baseline="0"/>
          </a:p>
          <a:p>
            <a:pPr marL="241653" indent="-241653">
              <a:buAutoNum type="arabicPeriod"/>
            </a:pPr>
            <a:endParaRPr lang="en-US" baseline="0"/>
          </a:p>
          <a:p>
            <a:pPr marL="241653" indent="-241653">
              <a:buAutoNum type="arabicPeriod"/>
            </a:pPr>
            <a:r>
              <a:rPr lang="en-US" baseline="0"/>
              <a:t>Realism check</a:t>
            </a:r>
          </a:p>
          <a:p>
            <a:pPr marL="724959" lvl="1" indent="-241653">
              <a:buAutoNum type="arabicPeriod"/>
            </a:pPr>
            <a:r>
              <a:rPr lang="en-US"/>
              <a:t>Using knowledge of existing technology, the requirement should be checked to ensure that they could actually be implemented. These checks should also take account of the budget and schedule for the system development.</a:t>
            </a:r>
          </a:p>
          <a:p>
            <a:pPr marL="724959" lvl="1" indent="-241653">
              <a:buAutoNum type="arabicPeriod"/>
            </a:pPr>
            <a:r>
              <a:rPr lang="en-US" b="1" u="sng">
                <a:solidFill>
                  <a:srgbClr val="FFFF00"/>
                </a:solidFill>
              </a:rPr>
              <a:t>Can requirement be IMPLEMENTED with given available budget and technology?</a:t>
            </a:r>
            <a:endParaRPr lang="en-US" u="sng" baseline="0"/>
          </a:p>
          <a:p>
            <a:pPr marL="241653" indent="-241653">
              <a:buAutoNum type="arabicPeriod"/>
            </a:pPr>
            <a:endParaRPr lang="en-US" baseline="0"/>
          </a:p>
          <a:p>
            <a:pPr marL="241653" indent="-241653">
              <a:buAutoNum type="arabicPeriod"/>
            </a:pPr>
            <a:r>
              <a:rPr lang="en-US" baseline="0"/>
              <a:t>Verifiability check (in FSOFT process ~ acceptance criteria – a part in SRS)</a:t>
            </a:r>
          </a:p>
          <a:p>
            <a:pPr marL="724959" lvl="1" indent="-241653">
              <a:buAutoNum type="arabicPeriod"/>
            </a:pPr>
            <a:r>
              <a:rPr lang="en-US"/>
              <a:t>To reduce the potential for dispute between customer and contractor, system requirements should always be written so that they are verifiable. This means that you should be able to write a set of tests that can demonstrate that the delivered system meets each specified requirement.</a:t>
            </a:r>
          </a:p>
          <a:p>
            <a:pPr marL="724959" lvl="1" indent="-241653">
              <a:buAutoNum type="arabicPeriod"/>
            </a:pPr>
            <a:r>
              <a:rPr lang="en-US" b="1" u="sng">
                <a:solidFill>
                  <a:srgbClr val="FFFF00"/>
                </a:solidFill>
              </a:rPr>
              <a:t>Can requirement be TESTED?</a:t>
            </a:r>
            <a:endParaRPr lang="en-US" b="1" u="sng" dirty="0">
              <a:solidFill>
                <a:srgbClr val="FFFF00"/>
              </a:solidFill>
            </a:endParaRPr>
          </a:p>
        </p:txBody>
      </p:sp>
      <p:sp>
        <p:nvSpPr>
          <p:cNvPr id="4" name="Slide Number Placeholder 3"/>
          <p:cNvSpPr>
            <a:spLocks noGrp="1"/>
          </p:cNvSpPr>
          <p:nvPr>
            <p:ph type="sldNum" sz="quarter" idx="10"/>
          </p:nvPr>
        </p:nvSpPr>
        <p:spPr/>
        <p:txBody>
          <a:bodyPr/>
          <a:lstStyle/>
          <a:p>
            <a:fld id="{F304BACC-CBAB-43D0-AEB0-A6C288158D50}" type="slidenum">
              <a:rPr lang="en-US" smtClean="0"/>
              <a:t>39</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Requirements Review</a:t>
            </a:r>
          </a:p>
          <a:p>
            <a:pPr lvl="1"/>
            <a:r>
              <a:rPr lang="en-GB"/>
              <a:t>Systematic manual analysis of the requirements</a:t>
            </a:r>
          </a:p>
          <a:p>
            <a:pPr lvl="1"/>
            <a:r>
              <a:rPr lang="en-GB"/>
              <a:t>Involving development staff, customers and relevant stakeholders</a:t>
            </a:r>
          </a:p>
          <a:p>
            <a:r>
              <a:rPr lang="en-GB"/>
              <a:t>Prototyping</a:t>
            </a:r>
          </a:p>
          <a:p>
            <a:pPr lvl="1"/>
            <a:r>
              <a:rPr lang="en-GB"/>
              <a:t>Using an executable model of the system to check requirements</a:t>
            </a:r>
          </a:p>
          <a:p>
            <a:r>
              <a:rPr lang="en-GB"/>
              <a:t>Model Validation</a:t>
            </a:r>
          </a:p>
          <a:p>
            <a:pPr lvl="1"/>
            <a:r>
              <a:rPr lang="en-US"/>
              <a:t>Validate the quality of the models developed during analysis</a:t>
            </a:r>
            <a:endParaRPr lang="en-GB"/>
          </a:p>
          <a:p>
            <a:r>
              <a:rPr lang="en-GB"/>
              <a:t>Test-case generation</a:t>
            </a:r>
          </a:p>
          <a:p>
            <a:pPr lvl="1"/>
            <a:r>
              <a:rPr lang="en-GB"/>
              <a:t>Developing tests for requirements to check testability</a:t>
            </a:r>
            <a:endParaRPr lang="en-GB" dirty="0"/>
          </a:p>
        </p:txBody>
      </p:sp>
      <p:sp>
        <p:nvSpPr>
          <p:cNvPr id="4" name="Slide Number Placeholder 3"/>
          <p:cNvSpPr>
            <a:spLocks noGrp="1"/>
          </p:cNvSpPr>
          <p:nvPr>
            <p:ph type="sldNum" sz="quarter" idx="10"/>
          </p:nvPr>
        </p:nvSpPr>
        <p:spPr/>
        <p:txBody>
          <a:bodyPr/>
          <a:lstStyle/>
          <a:p>
            <a:fld id="{F304BACC-CBAB-43D0-AEB0-A6C288158D50}" type="slidenum">
              <a:rPr lang="en-US" smtClean="0"/>
              <a:t>40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41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42</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a:t>The sheet is created the first time client requirement come</a:t>
            </a:r>
          </a:p>
          <a:p>
            <a:pPr marL="483306" lvl="1" defTabSz="966612">
              <a:defRPr/>
            </a:pPr>
            <a:r>
              <a:rPr lang="en-US"/>
              <a:t>Refer: </a:t>
            </a:r>
            <a:r>
              <a:rPr lang="en-US">
                <a:hlinkClick r:id="rId3" action="ppaction://hlinkfile"/>
              </a:rPr>
              <a:t>Template_Requirement Management Sheet.xls</a:t>
            </a:r>
            <a:endParaRPr lang="en-US"/>
          </a:p>
          <a:p>
            <a:pPr lvl="1"/>
            <a:endParaRPr lang="en-US"/>
          </a:p>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43</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a:p>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44</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a:p>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45</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a:p>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46</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a:p>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47</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a:p>
          <a:p>
            <a:pPr defTabSz="966612">
              <a:defRPr/>
            </a:pPr>
            <a:endParaRPr lang="en-US" sz="1300"/>
          </a:p>
        </p:txBody>
      </p:sp>
      <p:sp>
        <p:nvSpPr>
          <p:cNvPr id="4" name="Slide Number Placeholder 3"/>
          <p:cNvSpPr>
            <a:spLocks noGrp="1"/>
          </p:cNvSpPr>
          <p:nvPr>
            <p:ph type="sldNum" sz="quarter" idx="10"/>
          </p:nvPr>
        </p:nvSpPr>
        <p:spPr/>
        <p:txBody>
          <a:bodyPr/>
          <a:lstStyle/>
          <a:p>
            <a:fld id="{F304BACC-CBAB-43D0-AEB0-A6C288158D50}" type="slidenum">
              <a:rPr lang="en-US" smtClean="0"/>
              <a:t>48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83306" lvl="1" defTabSz="966612">
              <a:defRPr/>
            </a:pPr>
            <a:r>
              <a:rPr lang="en-US"/>
              <a:t>Refer: </a:t>
            </a:r>
            <a:r>
              <a:rPr lang="en-US">
                <a:hlinkClick r:id="rId3" action="ppaction://hlinkfile"/>
              </a:rPr>
              <a:t>Q&amp;A Making Guideline</a:t>
            </a:r>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49</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83306" lvl="1" defTabSz="966612">
              <a:defRPr/>
            </a:pPr>
            <a:r>
              <a:rPr lang="en-US"/>
              <a:t>Refer: </a:t>
            </a:r>
            <a:r>
              <a:rPr lang="en-US">
                <a:hlinkClick r:id="rId3" action="ppaction://hlinkfile"/>
              </a:rPr>
              <a:t>Q&amp;A Making Guideline</a:t>
            </a:r>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50</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83306" lvl="1" defTabSz="966612">
              <a:defRPr/>
            </a:pPr>
            <a:r>
              <a:rPr lang="en-US"/>
              <a:t>Refer: </a:t>
            </a:r>
            <a:r>
              <a:rPr lang="en-US">
                <a:hlinkClick r:id="rId3" action="ppaction://hlinkfile"/>
              </a:rPr>
              <a:t>Q&amp;A Making Guideline</a:t>
            </a:r>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51</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83306" lvl="1" defTabSz="966612">
              <a:defRPr/>
            </a:pPr>
            <a:r>
              <a:rPr lang="en-US"/>
              <a:t>Refer: </a:t>
            </a:r>
            <a:r>
              <a:rPr lang="en-US">
                <a:hlinkClick r:id="rId3" action="ppaction://hlinkfile"/>
              </a:rPr>
              <a:t>Q&amp;A Making Guideline</a:t>
            </a:r>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52</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Common issues:</a:t>
            </a:r>
          </a:p>
          <a:p>
            <a:pPr lvl="1"/>
            <a:r>
              <a:rPr lang="en-US"/>
              <a:t>Requirement isn't clear. Don't understand customer mean.</a:t>
            </a:r>
          </a:p>
          <a:p>
            <a:pPr lvl="1"/>
            <a:r>
              <a:rPr lang="en-US"/>
              <a:t>Requirement analysis is not documented/centralized recorded -&gt; misunderstanding</a:t>
            </a:r>
          </a:p>
          <a:p>
            <a:pPr lvl="1"/>
            <a:r>
              <a:rPr lang="en-US"/>
              <a:t>How to verify the understanding of team members about requirement</a:t>
            </a:r>
            <a:endParaRPr lang="en-US" dirty="0"/>
          </a:p>
        </p:txBody>
      </p:sp>
      <p:sp>
        <p:nvSpPr>
          <p:cNvPr id="4" name="Slide Number Placeholder 3"/>
          <p:cNvSpPr>
            <a:spLocks noGrp="1"/>
          </p:cNvSpPr>
          <p:nvPr>
            <p:ph type="sldNum" sz="quarter" idx="10"/>
          </p:nvPr>
        </p:nvSpPr>
        <p:spPr/>
        <p:txBody>
          <a:bodyPr/>
          <a:lstStyle/>
          <a:p>
            <a:fld id="{F304BACC-CBAB-43D0-AEB0-A6C288158D50}" type="slidenum">
              <a:rPr lang="en-US" smtClean="0"/>
              <a:t>53</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83306" lvl="1" defTabSz="966612">
              <a:defRPr/>
            </a:pPr>
            <a:r>
              <a:rPr lang="en-US"/>
              <a:t>Refer: </a:t>
            </a:r>
            <a:r>
              <a:rPr lang="en-US">
                <a:hlinkClick r:id="rId3" action="ppaction://hlinkfile"/>
              </a:rPr>
              <a:t>Q&amp;A Making Guideline</a:t>
            </a:r>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54</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83306" lvl="1" defTabSz="966612">
              <a:defRPr/>
            </a:pPr>
            <a:r>
              <a:rPr lang="en-US"/>
              <a:t>Refer: </a:t>
            </a:r>
            <a:r>
              <a:rPr lang="en-US">
                <a:hlinkClick r:id="rId3" action="ppaction://hlinkfile"/>
              </a:rPr>
              <a:t>Q&amp;A Making Guideline</a:t>
            </a:r>
            <a:endParaRPr lang="en-US"/>
          </a:p>
        </p:txBody>
      </p:sp>
      <p:sp>
        <p:nvSpPr>
          <p:cNvPr id="4" name="Slide Number Placeholder 3"/>
          <p:cNvSpPr>
            <a:spLocks noGrp="1"/>
          </p:cNvSpPr>
          <p:nvPr>
            <p:ph type="sldNum" sz="quarter" idx="10"/>
          </p:nvPr>
        </p:nvSpPr>
        <p:spPr/>
        <p:txBody>
          <a:bodyPr/>
          <a:lstStyle/>
          <a:p>
            <a:fld id="{F304BACC-CBAB-43D0-AEB0-A6C288158D50}" type="slidenum">
              <a:rPr lang="en-US" smtClean="0"/>
              <a:t>55</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71800" y="549275"/>
            <a:ext cx="3657600" cy="2743200"/>
          </a:xfrm>
        </p:spPr>
      </p:sp>
      <p:sp>
        <p:nvSpPr>
          <p:cNvPr id="3" name="Notes Placeholder 2"/>
          <p:cNvSpPr>
            <a:spLocks noGrp="1"/>
          </p:cNvSpPr>
          <p:nvPr>
            <p:ph type="body" idx="1"/>
          </p:nvPr>
        </p:nvSpPr>
        <p:spPr/>
        <p:txBody>
          <a:bodyPr/>
          <a:lstStyle/>
          <a:p>
            <a:r>
              <a:rPr lang="en-US"/>
              <a:t>Nguồn:</a:t>
            </a:r>
            <a:r>
              <a:rPr lang="en-US" baseline="0"/>
              <a:t> www.clipartkid.com</a:t>
            </a:r>
            <a:endParaRPr lang="en-US"/>
          </a:p>
        </p:txBody>
      </p:sp>
      <p:sp>
        <p:nvSpPr>
          <p:cNvPr id="4" name="Slide Number Placeholder 3"/>
          <p:cNvSpPr>
            <a:spLocks noGrp="1"/>
          </p:cNvSpPr>
          <p:nvPr>
            <p:ph type="sldNum" sz="quarter" idx="10"/>
          </p:nvPr>
        </p:nvSpPr>
        <p:spPr/>
        <p:txBody>
          <a:bodyPr/>
          <a:lstStyle/>
          <a:p>
            <a:fld id="{F0B37002-8C6A-41BC-A89D-EA5197A045A0}" type="slidenum">
              <a:rPr lang="en-US" smtClean="0"/>
              <a:t>56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EC40751-D9BD-4C22-B2AE-6ED8EEC96B41}" type="datetimeFigureOut">
              <a:rPr lang="en-US" smtClean="0"/>
              <a:t>5/23/2021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C40751-D9BD-4C22-B2AE-6ED8EEC96B41}" type="datetimeFigureOut">
              <a:rPr lang="en-US" smtClean="0"/>
              <a:t>5/23/2021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C40751-D9BD-4C22-B2AE-6ED8EEC96B41}" type="datetimeFigureOut">
              <a:rPr lang="en-US" smtClean="0"/>
              <a:t>5/23/2021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EC40751-D9BD-4C22-B2AE-6ED8EEC96B41}" type="datetimeFigureOut">
              <a:rPr lang="en-US" smtClean="0"/>
              <a:t>5/23/2021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EC40751-D9BD-4C22-B2AE-6ED8EEC96B41}" type="datetimeFigureOut">
              <a:rPr lang="en-US" smtClean="0"/>
              <a:t>5/23/2021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EC40751-D9BD-4C22-B2AE-6ED8EEC96B41}" type="datetimeFigureOut">
              <a:rPr lang="en-US" smtClean="0"/>
              <a:t>5/23/2021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C40751-D9BD-4C22-B2AE-6ED8EEC96B41}" type="datetimeFigureOut">
              <a:rPr lang="en-US" smtClean="0"/>
              <a:t>5/23/2021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C40751-D9BD-4C22-B2AE-6ED8EEC96B41}" type="datetimeFigureOut">
              <a:rPr lang="en-US" smtClean="0"/>
              <a:t>5/23/2021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C40751-D9BD-4C22-B2AE-6ED8EEC96B41}" type="datetimeFigureOut">
              <a:rPr lang="en-US" smtClean="0"/>
              <a:t>5/23/2021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C40751-D9BD-4C22-B2AE-6ED8EEC96B41}" type="datetimeFigureOut">
              <a:rPr lang="en-US" smtClean="0"/>
              <a:t>5/23/2021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C40751-D9BD-4C22-B2AE-6ED8EEC96B41}" type="datetimeFigureOut">
              <a:rPr lang="en-US" smtClean="0"/>
              <a:t>5/23/2021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C40751-D9BD-4C22-B2AE-6ED8EEC96B41}" type="datetimeFigureOut">
              <a:rPr lang="en-US" smtClean="0"/>
              <a:t>5/23/2021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318FBB-6A95-4EB9-B788-BB7494B5DC3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References/QualityManagementSystem/Template_Software%20Requirements%20Specification.dot"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References/QualityManagementSystem/Template_Requirement%20Management%20Sheet.xls"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hyperlink" Target="../References/QualityManagementSystem/Template_Software%20Requirements%20Specification.dot"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hyperlink" Target="../References/QualityManagementSystem/Template_Requirement%20Management%20Sheet.xls"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hyperlink" Target="../References/QualityManagementSystem/Template_Software%20Requirements%20Specification.dot" TargetMode="External"/><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hyperlink" Target="../References/QualityManagementSystem/Template_Requirement%20Management%20Sheet.xls"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Day02_02_Q&amp;A%20Making%20Guideline.xlsx"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pic>
        <p:nvPicPr>
          <p:cNvPr id="1028" name="Picture 4" descr="http://www.mytimemanagement.com/images/time_management_software_full_1417754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2700"/>
            <a:ext cx="1498600" cy="130775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749300" y="1219200"/>
            <a:ext cx="7861300" cy="3139321"/>
          </a:xfrm>
          <a:prstGeom prst="rect">
            <a:avLst/>
          </a:prstGeom>
          <a:noFill/>
        </p:spPr>
        <p:txBody>
          <a:bodyPr wrap="square" rtlCol="0">
            <a:spAutoFit/>
          </a:bodyPr>
          <a:lstStyle/>
          <a:p>
            <a:pPr algn="ct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Chương</a:t>
            </a:r>
            <a:r>
              <a:rPr lang="en-US" sz="6600" b="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11</a:t>
            </a: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endParaRPr>
          </a:p>
          <a:p>
            <a:pPr algn="ct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Yêu</a:t>
            </a: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cầu</a:t>
            </a: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phần</a:t>
            </a: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mềm</a:t>
            </a: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cho</a:t>
            </a: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Hệ</a:t>
            </a: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thống</a:t>
            </a: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lớn</a:t>
            </a: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endParaRP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034" name="Picture 10" descr="http://www.ecommercetimes.com/article_images/story_graphics_xlarge/xl-2016-software-development-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4281054"/>
            <a:ext cx="8229600" cy="2111479"/>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a:t>
            </a:fld>
            <a:endParaRPr lang="en-US" sz="2000" b="1">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Nội dung</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3" name="TextBox 2"/>
          <p:cNvSpPr txBox="1"/>
          <p:nvPr/>
        </p:nvSpPr>
        <p:spPr>
          <a:xfrm>
            <a:off x="460375" y="1524000"/>
            <a:ext cx="8226425" cy="3539430"/>
          </a:xfrm>
          <a:prstGeom prst="rect">
            <a:avLst/>
          </a:prstGeom>
          <a:noFill/>
        </p:spPr>
        <p:txBody>
          <a:bodyPr wrap="square" rtlCol="0">
            <a:spAutoFit/>
          </a:bodyPr>
          <a:lstStyle/>
          <a:p>
            <a:pPr marL="342900" indent="-342900">
              <a:buFont typeface="Wingdings" panose="05000000000000000000" pitchFamily="2" charset="2"/>
              <a:buChar char="v"/>
            </a:pPr>
            <a:r>
              <a:rPr lang="en-US" sz="3200">
                <a:latin typeface="Arial" panose="020B0604020202020204" pitchFamily="34" charset="0"/>
              </a:rPr>
              <a:t> Các khái niệm về yêu cầu</a:t>
            </a:r>
          </a:p>
          <a:p>
            <a:pPr marL="914400" lvl="1" indent="-457200">
              <a:buFont typeface="Arial" panose="020B0604020202020204" pitchFamily="34" charset="0"/>
              <a:buChar char="•"/>
            </a:pPr>
            <a:r>
              <a:rPr lang="en-US" sz="3200">
                <a:latin typeface="Arial" panose="020B0604020202020204" pitchFamily="34" charset="0"/>
              </a:rPr>
              <a:t> Phân loại yêu cầu</a:t>
            </a:r>
          </a:p>
          <a:p>
            <a:pPr marL="914400" lvl="1" indent="-457200">
              <a:buFont typeface="Arial" panose="020B0604020202020204" pitchFamily="34" charset="0"/>
              <a:buChar char="•"/>
            </a:pPr>
            <a:r>
              <a:rPr lang="en-US" sz="3200">
                <a:latin typeface="Arial" panose="020B0604020202020204" pitchFamily="34" charset="0"/>
              </a:rPr>
              <a:t> Mô hình hóa yêu cầu</a:t>
            </a:r>
          </a:p>
          <a:p>
            <a:pPr marL="342900" indent="-342900">
              <a:buFont typeface="Wingdings" panose="05000000000000000000" pitchFamily="2" charset="2"/>
              <a:buChar char="v"/>
            </a:pPr>
            <a:r>
              <a:rPr lang="en-US" sz="3200">
                <a:latin typeface="Arial" panose="020B0604020202020204" pitchFamily="34" charset="0"/>
              </a:rPr>
              <a:t> Qui trình xử lý yêu cầu (Requirement Process)</a:t>
            </a:r>
          </a:p>
          <a:p>
            <a:pPr marL="342900" indent="-342900">
              <a:buFont typeface="Wingdings" panose="05000000000000000000" pitchFamily="2" charset="2"/>
              <a:buChar char="v"/>
            </a:pPr>
            <a:r>
              <a:rPr lang="en-US" sz="3200">
                <a:latin typeface="Arial" panose="020B0604020202020204" pitchFamily="34" charset="0"/>
              </a:rPr>
              <a:t> Một số kĩ thuật lấy yêu cầu</a:t>
            </a:r>
          </a:p>
          <a:p>
            <a:pPr marL="342900" indent="-342900">
              <a:buFont typeface="Wingdings" panose="05000000000000000000" pitchFamily="2" charset="2"/>
              <a:buChar char="v"/>
            </a:pPr>
            <a:r>
              <a:rPr lang="en-US" sz="3200">
                <a:latin typeface="Arial" panose="020B0604020202020204" pitchFamily="34" charset="0"/>
              </a:rPr>
              <a:t> Làm rõ yêu cầu thông qua Q&amp;A</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Khái niệm về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3" name="TextBox 2"/>
          <p:cNvSpPr txBox="1"/>
          <p:nvPr/>
        </p:nvSpPr>
        <p:spPr>
          <a:xfrm>
            <a:off x="460375" y="1524000"/>
            <a:ext cx="8226425" cy="584775"/>
          </a:xfrm>
          <a:prstGeom prst="rect">
            <a:avLst/>
          </a:prstGeom>
          <a:noFill/>
        </p:spPr>
        <p:txBody>
          <a:bodyPr wrap="square" rtlCol="0">
            <a:spAutoFit/>
          </a:bodyPr>
          <a:lstStyle/>
          <a:p>
            <a:r>
              <a:rPr lang="en-US" sz="3200" b="1">
                <a:solidFill>
                  <a:srgbClr val="FF0000"/>
                </a:solidFill>
                <a:latin typeface="Arial" panose="020B0604020202020204" pitchFamily="34" charset="0"/>
              </a:rPr>
              <a:t>Yêu cầu là gì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2" y="2590800"/>
            <a:ext cx="3629025"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422277" y="2286000"/>
            <a:ext cx="4606924" cy="2062103"/>
          </a:xfrm>
          <a:prstGeom prst="rect">
            <a:avLst/>
          </a:prstGeom>
          <a:noFill/>
        </p:spPr>
        <p:txBody>
          <a:bodyPr wrap="square" rtlCol="0">
            <a:spAutoFit/>
          </a:bodyPr>
          <a:lstStyle/>
          <a:p>
            <a:pPr marL="342900" indent="-342900">
              <a:buFont typeface="Wingdings" panose="05000000000000000000" pitchFamily="2" charset="2"/>
              <a:buChar char="v"/>
            </a:pPr>
            <a:r>
              <a:rPr lang="en-US" sz="3200">
                <a:latin typeface="Arial" panose="020B0604020202020204" pitchFamily="34" charset="0"/>
              </a:rPr>
              <a:t> Là mô tả về những gì mà hệ thống nên làm – những </a:t>
            </a:r>
            <a:r>
              <a:rPr lang="en-US" sz="3200" u="sng">
                <a:solidFill>
                  <a:srgbClr val="FF0000"/>
                </a:solidFill>
                <a:latin typeface="Arial" panose="020B0604020202020204" pitchFamily="34" charset="0"/>
              </a:rPr>
              <a:t>services</a:t>
            </a:r>
            <a:r>
              <a:rPr lang="en-US" sz="3200">
                <a:solidFill>
                  <a:srgbClr val="FF0000"/>
                </a:solidFill>
                <a:latin typeface="Arial" panose="020B0604020202020204" pitchFamily="34" charset="0"/>
              </a:rPr>
              <a:t> </a:t>
            </a:r>
            <a:r>
              <a:rPr lang="en-US" sz="3200">
                <a:latin typeface="Arial" panose="020B0604020202020204" pitchFamily="34" charset="0"/>
              </a:rPr>
              <a:t>mà nó cung cấp</a:t>
            </a:r>
          </a:p>
        </p:txBody>
      </p:sp>
      <p:sp>
        <p:nvSpPr>
          <p:cNvPr id="14" name="TextBox 13"/>
          <p:cNvSpPr txBox="1"/>
          <p:nvPr/>
        </p:nvSpPr>
        <p:spPr>
          <a:xfrm>
            <a:off x="455612" y="4348103"/>
            <a:ext cx="4606924" cy="2062103"/>
          </a:xfrm>
          <a:prstGeom prst="rect">
            <a:avLst/>
          </a:prstGeom>
          <a:noFill/>
        </p:spPr>
        <p:txBody>
          <a:bodyPr wrap="square" rtlCol="0">
            <a:spAutoFit/>
          </a:bodyPr>
          <a:lstStyle/>
          <a:p>
            <a:pPr marL="342900" indent="-342900">
              <a:buFont typeface="Wingdings" panose="05000000000000000000" pitchFamily="2" charset="2"/>
              <a:buChar char="v"/>
            </a:pPr>
            <a:r>
              <a:rPr lang="en-US" sz="3200">
                <a:latin typeface="Arial" panose="020B0604020202020204" pitchFamily="34" charset="0"/>
              </a:rPr>
              <a:t> Là mô tả về những ràng buộc (</a:t>
            </a:r>
            <a:r>
              <a:rPr lang="en-US" sz="3200" u="sng">
                <a:solidFill>
                  <a:srgbClr val="FF0000"/>
                </a:solidFill>
                <a:latin typeface="Arial" panose="020B0604020202020204" pitchFamily="34" charset="0"/>
              </a:rPr>
              <a:t>constraints</a:t>
            </a:r>
            <a:r>
              <a:rPr lang="en-US" sz="3200">
                <a:latin typeface="Arial" panose="020B0604020202020204" pitchFamily="34" charset="0"/>
              </a:rPr>
              <a:t>) mà hệ thống phải thỏa mãn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Khái niệm về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3" name="TextBox 2"/>
          <p:cNvSpPr txBox="1"/>
          <p:nvPr/>
        </p:nvSpPr>
        <p:spPr>
          <a:xfrm>
            <a:off x="458787" y="1352491"/>
            <a:ext cx="8226425" cy="584775"/>
          </a:xfrm>
          <a:prstGeom prst="rect">
            <a:avLst/>
          </a:prstGeom>
          <a:noFill/>
        </p:spPr>
        <p:txBody>
          <a:bodyPr wrap="square" rtlCol="0">
            <a:spAutoFit/>
          </a:bodyPr>
          <a:lstStyle/>
          <a:p>
            <a:r>
              <a:rPr lang="en-US" sz="3200" b="1">
                <a:solidFill>
                  <a:srgbClr val="FF0000"/>
                </a:solidFill>
                <a:latin typeface="Arial" panose="020B0604020202020204" pitchFamily="34" charset="0"/>
              </a:rPr>
              <a:t>Tại sao ta lại cần định nghĩa yêu cầu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987" y="2121932"/>
            <a:ext cx="8074023" cy="4583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Khái niệm về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5</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3" name="TextBox 2"/>
          <p:cNvSpPr txBox="1"/>
          <p:nvPr/>
        </p:nvSpPr>
        <p:spPr>
          <a:xfrm>
            <a:off x="458787" y="1352491"/>
            <a:ext cx="8226425" cy="5509200"/>
          </a:xfrm>
          <a:prstGeom prst="rect">
            <a:avLst/>
          </a:prstGeom>
          <a:noFill/>
        </p:spPr>
        <p:txBody>
          <a:bodyPr wrap="square" rtlCol="0">
            <a:spAutoFit/>
          </a:bodyPr>
          <a:lstStyle/>
          <a:p>
            <a:r>
              <a:rPr lang="en-US" sz="3200" b="1">
                <a:solidFill>
                  <a:srgbClr val="FF0000"/>
                </a:solidFill>
                <a:latin typeface="Arial" panose="020B0604020202020204" pitchFamily="34" charset="0"/>
              </a:rPr>
              <a:t>Tại sao ta lại cần định nghĩa yêu cầu ?</a:t>
            </a:r>
          </a:p>
          <a:p>
            <a:pPr marL="457200" indent="-457200">
              <a:buFont typeface="Arial" panose="020B0604020202020204" pitchFamily="34" charset="0"/>
              <a:buChar char="•"/>
            </a:pPr>
            <a:r>
              <a:rPr lang="en-US" sz="3200">
                <a:latin typeface="Arial" panose="020B0604020202020204" pitchFamily="34" charset="0"/>
              </a:rPr>
              <a:t>Là cơ sở cho quá trình đấu thầu hợp đồng, do đó cần ở mức </a:t>
            </a:r>
            <a:r>
              <a:rPr lang="en-US" sz="3200" i="1">
                <a:solidFill>
                  <a:srgbClr val="FF0000"/>
                </a:solidFill>
                <a:latin typeface="Arial" panose="020B0604020202020204" pitchFamily="34" charset="0"/>
              </a:rPr>
              <a:t>high – level </a:t>
            </a:r>
            <a:r>
              <a:rPr lang="en-US" sz="3200">
                <a:latin typeface="Arial" panose="020B0604020202020204" pitchFamily="34" charset="0"/>
              </a:rPr>
              <a:t>để có thể mở rộng cho các công ty đấu thầu được cạnh tranh và trình bày phương án</a:t>
            </a:r>
          </a:p>
          <a:p>
            <a:pPr marL="457200" indent="-457200">
              <a:buFont typeface="Arial" panose="020B0604020202020204" pitchFamily="34" charset="0"/>
              <a:buChar char="•"/>
            </a:pPr>
            <a:r>
              <a:rPr lang="en-US" sz="3200">
                <a:latin typeface="Arial" panose="020B0604020202020204" pitchFamily="34" charset="0"/>
              </a:rPr>
              <a:t>Là cơ sở cho chính bản hợp đồng – khi nhà thầu đã được chấp nhận, họ cần phải viết lại định nghĩa hệ thống ở mức độ </a:t>
            </a:r>
            <a:r>
              <a:rPr lang="en-US" sz="3200" i="1">
                <a:solidFill>
                  <a:srgbClr val="FF0000"/>
                </a:solidFill>
                <a:latin typeface="Arial" panose="020B0604020202020204" pitchFamily="34" charset="0"/>
              </a:rPr>
              <a:t>chi tiết (detailed)</a:t>
            </a:r>
            <a:r>
              <a:rPr lang="en-US" sz="3200">
                <a:latin typeface="Arial" panose="020B0604020202020204" pitchFamily="34" charset="0"/>
              </a:rPr>
              <a:t> để client có thể hiểu được</a:t>
            </a:r>
          </a:p>
          <a:p>
            <a:pPr marL="457200" indent="-457200">
              <a:buFont typeface="Arial" panose="020B0604020202020204" pitchFamily="34" charset="0"/>
              <a:buChar char="•"/>
            </a:pPr>
            <a:r>
              <a:rPr lang="en-US" sz="3200">
                <a:latin typeface="Arial" panose="020B0604020202020204" pitchFamily="34" charset="0"/>
              </a:rPr>
              <a:t>Như vậy yêu cầu có thể ở high level hoặc detailed</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Khái niệm về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6</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3" name="TextBox 2"/>
          <p:cNvSpPr txBox="1"/>
          <p:nvPr/>
        </p:nvSpPr>
        <p:spPr>
          <a:xfrm>
            <a:off x="458787" y="1352491"/>
            <a:ext cx="8226425" cy="5016758"/>
          </a:xfrm>
          <a:prstGeom prst="rect">
            <a:avLst/>
          </a:prstGeom>
          <a:noFill/>
        </p:spPr>
        <p:txBody>
          <a:bodyPr wrap="square" rtlCol="0">
            <a:spAutoFit/>
          </a:bodyPr>
          <a:lstStyle/>
          <a:p>
            <a:r>
              <a:rPr lang="en-US" sz="3200" b="1">
                <a:solidFill>
                  <a:srgbClr val="FF0000"/>
                </a:solidFill>
                <a:latin typeface="Arial" panose="020B0604020202020204" pitchFamily="34" charset="0"/>
              </a:rPr>
              <a:t>Những gì không phải là yêu cầu ?</a:t>
            </a:r>
          </a:p>
          <a:p>
            <a:endParaRPr lang="en-US" sz="3200" b="1">
              <a:solidFill>
                <a:srgbClr val="FF0000"/>
              </a:solidFill>
              <a:latin typeface="Arial" panose="020B0604020202020204" pitchFamily="34" charset="0"/>
            </a:endParaRPr>
          </a:p>
          <a:p>
            <a:pPr marL="457200" indent="-457200">
              <a:buFont typeface="Arial" panose="020B0604020202020204" pitchFamily="34" charset="0"/>
              <a:buChar char="•"/>
            </a:pPr>
            <a:r>
              <a:rPr lang="en-US" sz="3200">
                <a:latin typeface="Arial" panose="020B0604020202020204" pitchFamily="34" charset="0"/>
              </a:rPr>
              <a:t>Chi tiết thiết kế hoặc hiện thực (trừ các ràng buộc đã biết)</a:t>
            </a:r>
          </a:p>
          <a:p>
            <a:pPr marL="457200" indent="-457200">
              <a:buFont typeface="Arial" panose="020B0604020202020204" pitchFamily="34" charset="0"/>
              <a:buChar char="•"/>
            </a:pPr>
            <a:r>
              <a:rPr lang="en-US" sz="3200">
                <a:latin typeface="Arial" panose="020B0604020202020204" pitchFamily="34" charset="0"/>
              </a:rPr>
              <a:t>Project planning information (kế hoạch dự án)</a:t>
            </a:r>
          </a:p>
          <a:p>
            <a:pPr marL="457200" indent="-457200">
              <a:buFont typeface="Arial" panose="020B0604020202020204" pitchFamily="34" charset="0"/>
              <a:buChar char="•"/>
            </a:pPr>
            <a:r>
              <a:rPr lang="en-US" sz="3200">
                <a:latin typeface="Arial" panose="020B0604020202020204" pitchFamily="34" charset="0"/>
              </a:rPr>
              <a:t>Testing information (thông tin kiểm thử)</a:t>
            </a:r>
          </a:p>
          <a:p>
            <a:pPr marL="457200" indent="-457200">
              <a:buFont typeface="Arial" panose="020B0604020202020204" pitchFamily="34" charset="0"/>
              <a:buChar char="•"/>
            </a:pPr>
            <a:endParaRPr lang="en-US" sz="3200">
              <a:latin typeface="Arial" panose="020B0604020202020204" pitchFamily="34" charset="0"/>
            </a:endParaRPr>
          </a:p>
          <a:p>
            <a:r>
              <a:rPr lang="en-US" sz="3200">
                <a:latin typeface="Arial" panose="020B0604020202020204" pitchFamily="34" charset="0"/>
              </a:rPr>
              <a:t>Tham khảo: YourBank_CRM_SRS_v1.0.1.docx</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Phân loại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7</a:t>
            </a:fld>
            <a:endParaRPr lang="en-US" sz="2000" b="1">
              <a:solidFill>
                <a:srgbClr val="FF0000"/>
              </a:solidFill>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778" y="1295400"/>
            <a:ext cx="8510443"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Phân loại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8</a:t>
            </a:fld>
            <a:endParaRPr lang="en-US" sz="2000" b="1">
              <a:solidFill>
                <a:srgbClr val="FF0000"/>
              </a:solidFill>
            </a:endParaRPr>
          </a:p>
        </p:txBody>
      </p:sp>
      <p:sp>
        <p:nvSpPr>
          <p:cNvPr id="7" name="TextBox 6"/>
          <p:cNvSpPr txBox="1"/>
          <p:nvPr/>
        </p:nvSpPr>
        <p:spPr>
          <a:xfrm>
            <a:off x="458786" y="1219200"/>
            <a:ext cx="8226425" cy="5509200"/>
          </a:xfrm>
          <a:prstGeom prst="rect">
            <a:avLst/>
          </a:prstGeom>
          <a:noFill/>
        </p:spPr>
        <p:txBody>
          <a:bodyPr wrap="square" rtlCol="0">
            <a:spAutoFit/>
          </a:bodyPr>
          <a:lstStyle/>
          <a:p>
            <a:r>
              <a:rPr lang="en-US" sz="3200" b="1">
                <a:solidFill>
                  <a:srgbClr val="FF0000"/>
                </a:solidFill>
                <a:latin typeface="Arial" panose="020B0604020202020204" pitchFamily="34" charset="0"/>
              </a:rPr>
              <a:t>Business level</a:t>
            </a:r>
          </a:p>
          <a:p>
            <a:pPr marL="971550" lvl="1" indent="-514350">
              <a:buFont typeface="Courier New" panose="02070309020205020404" pitchFamily="49" charset="0"/>
              <a:buChar char="o"/>
            </a:pPr>
            <a:r>
              <a:rPr lang="en-US" sz="3200">
                <a:latin typeface="Arial" panose="020B0604020202020204" pitchFamily="34" charset="0"/>
              </a:rPr>
              <a:t>“Define </a:t>
            </a:r>
            <a:r>
              <a:rPr lang="en-US" sz="3200" b="1" i="1">
                <a:solidFill>
                  <a:srgbClr val="FF0000"/>
                </a:solidFill>
                <a:latin typeface="Arial" panose="020B0604020202020204" pitchFamily="34" charset="0"/>
              </a:rPr>
              <a:t>business problems</a:t>
            </a:r>
            <a:r>
              <a:rPr lang="en-US" sz="3200">
                <a:latin typeface="Arial" panose="020B0604020202020204" pitchFamily="34" charset="0"/>
              </a:rPr>
              <a:t> to be solved or business opportunities to be addressed by the software product”</a:t>
            </a:r>
          </a:p>
          <a:p>
            <a:pPr marL="971550" lvl="1" indent="-514350">
              <a:buFont typeface="Courier New" panose="02070309020205020404" pitchFamily="49" charset="0"/>
              <a:buChar char="o"/>
            </a:pPr>
            <a:r>
              <a:rPr lang="en-US" sz="3200">
                <a:latin typeface="Arial" panose="020B0604020202020204" pitchFamily="34" charset="0"/>
              </a:rPr>
              <a:t>Định nghĩa </a:t>
            </a:r>
            <a:r>
              <a:rPr lang="en-US" sz="3200" b="1" i="1">
                <a:solidFill>
                  <a:srgbClr val="FF0000"/>
                </a:solidFill>
                <a:latin typeface="Arial" panose="020B0604020202020204" pitchFamily="34" charset="0"/>
              </a:rPr>
              <a:t>tại sao </a:t>
            </a:r>
            <a:r>
              <a:rPr lang="en-US" sz="3200">
                <a:latin typeface="Arial" panose="020B0604020202020204" pitchFamily="34" charset="0"/>
              </a:rPr>
              <a:t>sản phẩm phần mềm cần được phát triển</a:t>
            </a:r>
          </a:p>
          <a:p>
            <a:pPr marL="971550" lvl="1" indent="-514350">
              <a:buFont typeface="Courier New" panose="02070309020205020404" pitchFamily="49" charset="0"/>
              <a:buChar char="o"/>
            </a:pPr>
            <a:r>
              <a:rPr lang="en-US" sz="3200">
                <a:latin typeface="Arial" panose="020B0604020202020204" pitchFamily="34" charset="0"/>
              </a:rPr>
              <a:t>EX: </a:t>
            </a:r>
            <a:r>
              <a:rPr lang="en-US" sz="3200"/>
              <a:t>This objective of the project is to provide a web-based eCommerce application and data warehouse to supersede Capital Control and Online Quoting tool and retake the market lead. </a:t>
            </a:r>
            <a:endParaRPr lang="en-US" sz="3200">
              <a:latin typeface="Arial" panose="020B060402020202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Phân loại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9</a:t>
            </a:fld>
            <a:endParaRPr lang="en-US" sz="2000" b="1">
              <a:solidFill>
                <a:srgbClr val="FF0000"/>
              </a:solidFill>
            </a:endParaRPr>
          </a:p>
        </p:txBody>
      </p:sp>
      <p:sp>
        <p:nvSpPr>
          <p:cNvPr id="7" name="TextBox 6"/>
          <p:cNvSpPr txBox="1"/>
          <p:nvPr/>
        </p:nvSpPr>
        <p:spPr>
          <a:xfrm>
            <a:off x="458786" y="1447800"/>
            <a:ext cx="8532814" cy="4524315"/>
          </a:xfrm>
          <a:prstGeom prst="rect">
            <a:avLst/>
          </a:prstGeom>
          <a:noFill/>
        </p:spPr>
        <p:txBody>
          <a:bodyPr wrap="square" rtlCol="0">
            <a:spAutoFit/>
          </a:bodyPr>
          <a:lstStyle/>
          <a:p>
            <a:r>
              <a:rPr lang="en-US" sz="3200" b="1">
                <a:solidFill>
                  <a:srgbClr val="FF0000"/>
                </a:solidFill>
                <a:latin typeface="Arial" panose="020B0604020202020204" pitchFamily="34" charset="0"/>
              </a:rPr>
              <a:t>User level</a:t>
            </a:r>
          </a:p>
          <a:p>
            <a:pPr marL="971550" lvl="1" indent="-514350">
              <a:buFont typeface="Courier New" panose="02070309020205020404" pitchFamily="49" charset="0"/>
              <a:buChar char="o"/>
            </a:pPr>
            <a:r>
              <a:rPr lang="en-US" sz="3200">
                <a:latin typeface="Arial" panose="020B0604020202020204" pitchFamily="34" charset="0"/>
              </a:rPr>
              <a:t>Các mô tả mức </a:t>
            </a:r>
            <a:r>
              <a:rPr lang="en-US" sz="3200" b="1" i="1">
                <a:solidFill>
                  <a:srgbClr val="FF0000"/>
                </a:solidFill>
                <a:latin typeface="Arial" panose="020B0604020202020204" pitchFamily="34" charset="0"/>
              </a:rPr>
              <a:t>high level</a:t>
            </a:r>
            <a:r>
              <a:rPr lang="en-US" sz="3200">
                <a:latin typeface="Arial" panose="020B0604020202020204" pitchFamily="34" charset="0"/>
              </a:rPr>
              <a:t> về các chức năng cũng như ràng buộc của hệ thống</a:t>
            </a:r>
          </a:p>
          <a:p>
            <a:pPr marL="971550" lvl="1" indent="-514350">
              <a:buFont typeface="Courier New" panose="02070309020205020404" pitchFamily="49" charset="0"/>
              <a:buChar char="o"/>
            </a:pPr>
            <a:r>
              <a:rPr lang="en-US" sz="3200">
                <a:latin typeface="Arial" panose="020B0604020202020204" pitchFamily="34" charset="0"/>
              </a:rPr>
              <a:t>Tập trung vào chức năng của system từ góc nhìn của người sử dụng</a:t>
            </a:r>
          </a:p>
          <a:p>
            <a:pPr marL="971550" lvl="1" indent="-514350">
              <a:buFont typeface="Courier New" panose="02070309020205020404" pitchFamily="49" charset="0"/>
              <a:buChar char="o"/>
            </a:pPr>
            <a:r>
              <a:rPr lang="en-US" sz="3200">
                <a:latin typeface="Arial" panose="020B0604020202020204" pitchFamily="34" charset="0"/>
              </a:rPr>
              <a:t>Nhiều user requirements tương ứng với một business requirements</a:t>
            </a:r>
          </a:p>
          <a:p>
            <a:pPr marL="971550" lvl="1" indent="-514350">
              <a:buFont typeface="Courier New" panose="02070309020205020404" pitchFamily="49" charset="0"/>
              <a:buChar char="o"/>
            </a:pPr>
            <a:r>
              <a:rPr lang="en-US" sz="3200">
                <a:latin typeface="Arial" panose="020B0604020202020204" pitchFamily="34" charset="0"/>
              </a:rPr>
              <a:t>Chủ yếu được viết dưới dạng ngôn ngữ tự nhiên + lược đồ</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Phân loại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10</a:t>
            </a:fld>
            <a:endParaRPr lang="en-US" sz="2000" b="1">
              <a:solidFill>
                <a:srgbClr val="FF0000"/>
              </a:solidFill>
            </a:endParaRPr>
          </a:p>
        </p:txBody>
      </p:sp>
      <p:sp>
        <p:nvSpPr>
          <p:cNvPr id="7" name="TextBox 6"/>
          <p:cNvSpPr txBox="1"/>
          <p:nvPr/>
        </p:nvSpPr>
        <p:spPr>
          <a:xfrm>
            <a:off x="458784" y="1219200"/>
            <a:ext cx="8532816" cy="4524315"/>
          </a:xfrm>
          <a:prstGeom prst="rect">
            <a:avLst/>
          </a:prstGeom>
          <a:noFill/>
        </p:spPr>
        <p:txBody>
          <a:bodyPr wrap="square" rtlCol="0">
            <a:spAutoFit/>
          </a:bodyPr>
          <a:lstStyle/>
          <a:p>
            <a:r>
              <a:rPr lang="en-US" sz="3200" b="1">
                <a:solidFill>
                  <a:srgbClr val="FF0000"/>
                </a:solidFill>
                <a:latin typeface="Arial" panose="020B0604020202020204" pitchFamily="34" charset="0"/>
              </a:rPr>
              <a:t>Product level</a:t>
            </a:r>
          </a:p>
          <a:p>
            <a:pPr marL="971550" lvl="1" indent="-514350">
              <a:buFont typeface="Courier New" panose="02070309020205020404" pitchFamily="49" charset="0"/>
              <a:buChar char="o"/>
            </a:pPr>
            <a:r>
              <a:rPr lang="en-US" sz="3200">
                <a:latin typeface="Arial" panose="020B0604020202020204" pitchFamily="34" charset="0"/>
              </a:rPr>
              <a:t>Các mô tả mức </a:t>
            </a:r>
            <a:r>
              <a:rPr lang="en-US" sz="3200" b="1" i="1">
                <a:solidFill>
                  <a:srgbClr val="FF0000"/>
                </a:solidFill>
                <a:latin typeface="Arial" panose="020B0604020202020204" pitchFamily="34" charset="0"/>
              </a:rPr>
              <a:t>chi tiết</a:t>
            </a:r>
            <a:r>
              <a:rPr lang="en-US" sz="3200">
                <a:latin typeface="Arial" panose="020B0604020202020204" pitchFamily="34" charset="0"/>
              </a:rPr>
              <a:t> về các chức năng cũng như ràng buộc của hệ thống</a:t>
            </a:r>
          </a:p>
          <a:p>
            <a:pPr marL="971550" lvl="1" indent="-514350">
              <a:buFont typeface="Courier New" panose="02070309020205020404" pitchFamily="49" charset="0"/>
              <a:buChar char="o"/>
            </a:pPr>
            <a:r>
              <a:rPr lang="en-US" sz="3200">
                <a:latin typeface="Arial" panose="020B0604020202020204" pitchFamily="34" charset="0"/>
              </a:rPr>
              <a:t>Xác định rõ từng chức năng cụ thể</a:t>
            </a:r>
          </a:p>
          <a:p>
            <a:pPr marL="971550" lvl="1" indent="-514350">
              <a:buFont typeface="Courier New" panose="02070309020205020404" pitchFamily="49" charset="0"/>
              <a:buChar char="o"/>
            </a:pPr>
            <a:r>
              <a:rPr lang="en-US" sz="3200">
                <a:latin typeface="Arial" panose="020B0604020202020204" pitchFamily="34" charset="0"/>
              </a:rPr>
              <a:t>Nhiều product-level requirements tương ứng với một user-level requirements</a:t>
            </a:r>
          </a:p>
          <a:p>
            <a:pPr marL="971550" lvl="1" indent="-514350">
              <a:buFont typeface="Courier New" panose="02070309020205020404" pitchFamily="49" charset="0"/>
              <a:buChar char="o"/>
            </a:pPr>
            <a:r>
              <a:rPr lang="en-US" sz="3200">
                <a:latin typeface="Arial" panose="020B0604020202020204" pitchFamily="34" charset="0"/>
              </a:rPr>
              <a:t>Chủ yếu được viết dưới dạng ngôn ngữ tự nhiên + lược đồ và kí hiệu toán học</a:t>
            </a:r>
          </a:p>
          <a:p>
            <a:pPr marL="971550" lvl="1" indent="-514350">
              <a:buFont typeface="Courier New" panose="02070309020205020404" pitchFamily="49" charset="0"/>
              <a:buChar char="o"/>
            </a:pPr>
            <a:r>
              <a:rPr lang="en-US" sz="3200">
                <a:latin typeface="Arial" panose="020B0604020202020204" pitchFamily="34" charset="0"/>
              </a:rPr>
              <a:t>Chủ yếu dùng cho kĩ sư để thiết kế</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Phân loại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11</a:t>
            </a:fld>
            <a:endParaRPr lang="en-US" sz="2000" b="1">
              <a:solidFill>
                <a:srgbClr val="FF0000"/>
              </a:solidFill>
            </a:endParaRPr>
          </a:p>
        </p:txBody>
      </p:sp>
      <p:sp>
        <p:nvSpPr>
          <p:cNvPr id="7" name="TextBox 6"/>
          <p:cNvSpPr txBox="1"/>
          <p:nvPr/>
        </p:nvSpPr>
        <p:spPr>
          <a:xfrm>
            <a:off x="458787" y="1352491"/>
            <a:ext cx="8226425" cy="5016758"/>
          </a:xfrm>
          <a:prstGeom prst="rect">
            <a:avLst/>
          </a:prstGeom>
          <a:noFill/>
        </p:spPr>
        <p:txBody>
          <a:bodyPr wrap="square" rtlCol="0">
            <a:spAutoFit/>
          </a:bodyPr>
          <a:lstStyle/>
          <a:p>
            <a:r>
              <a:rPr lang="en-US" sz="3200" b="1">
                <a:solidFill>
                  <a:srgbClr val="FF0000"/>
                </a:solidFill>
                <a:latin typeface="Arial" panose="020B0604020202020204" pitchFamily="34" charset="0"/>
              </a:rPr>
              <a:t>Yêu cầu có thể được phân loại thành:</a:t>
            </a:r>
          </a:p>
          <a:p>
            <a:endParaRPr lang="en-US" sz="3200" b="1">
              <a:solidFill>
                <a:srgbClr val="FF0000"/>
              </a:solidFill>
              <a:latin typeface="Arial" panose="020B0604020202020204" pitchFamily="34" charset="0"/>
            </a:endParaRPr>
          </a:p>
          <a:p>
            <a:pPr marL="514350" indent="-514350">
              <a:buFont typeface="+mj-lt"/>
              <a:buAutoNum type="arabicPeriod"/>
            </a:pPr>
            <a:r>
              <a:rPr lang="en-US" sz="3200">
                <a:latin typeface="Arial" panose="020B0604020202020204" pitchFamily="34" charset="0"/>
              </a:rPr>
              <a:t>Yêu cầu chức năng (Functional requirement)</a:t>
            </a:r>
          </a:p>
          <a:p>
            <a:pPr marL="971550" lvl="1" indent="-514350">
              <a:buFont typeface="Courier New" panose="02070309020205020404" pitchFamily="49" charset="0"/>
              <a:buChar char="o"/>
            </a:pPr>
            <a:r>
              <a:rPr lang="en-US" sz="3200">
                <a:latin typeface="Arial" panose="020B0604020202020204" pitchFamily="34" charset="0"/>
              </a:rPr>
              <a:t>Những service mà system phải cung câp</a:t>
            </a:r>
          </a:p>
          <a:p>
            <a:pPr marL="971550" lvl="1" indent="-514350">
              <a:buFont typeface="Courier New" panose="02070309020205020404" pitchFamily="49" charset="0"/>
              <a:buChar char="o"/>
            </a:pPr>
            <a:r>
              <a:rPr lang="en-US" sz="3200">
                <a:latin typeface="Arial" panose="020B0604020202020204" pitchFamily="34" charset="0"/>
              </a:rPr>
              <a:t>Hành vi tương ứng với từng tình huống cụ thể</a:t>
            </a:r>
          </a:p>
          <a:p>
            <a:pPr marL="971550" lvl="1" indent="-514350">
              <a:buFont typeface="Courier New" panose="02070309020205020404" pitchFamily="49" charset="0"/>
              <a:buChar char="o"/>
            </a:pPr>
            <a:r>
              <a:rPr lang="en-US" sz="3200">
                <a:latin typeface="Arial" panose="020B0604020202020204" pitchFamily="34" charset="0"/>
              </a:rPr>
              <a:t>Đôi khi liệt kê rõ những gì mà hệ thống không được làm</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Yêu cầu chức năng</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12</a:t>
            </a:fld>
            <a:endParaRPr lang="en-US" sz="2000" b="1">
              <a:solidFill>
                <a:srgbClr val="FF0000"/>
              </a:solidFill>
            </a:endParaRPr>
          </a:p>
        </p:txBody>
      </p:sp>
      <p:sp>
        <p:nvSpPr>
          <p:cNvPr id="7" name="TextBox 6"/>
          <p:cNvSpPr txBox="1"/>
          <p:nvPr/>
        </p:nvSpPr>
        <p:spPr>
          <a:xfrm>
            <a:off x="458787" y="1352491"/>
            <a:ext cx="8226425" cy="1569660"/>
          </a:xfrm>
          <a:prstGeom prst="rect">
            <a:avLst/>
          </a:prstGeom>
          <a:noFill/>
        </p:spPr>
        <p:txBody>
          <a:bodyPr wrap="square" rtlCol="0">
            <a:spAutoFit/>
          </a:bodyPr>
          <a:lstStyle/>
          <a:p>
            <a:r>
              <a:rPr lang="en-US" sz="3200">
                <a:latin typeface="Arial" panose="020B0604020202020204" pitchFamily="34" charset="0"/>
              </a:rPr>
              <a:t>Ví dụ yêu cầu chức năng (Functional requirement). </a:t>
            </a:r>
          </a:p>
          <a:p>
            <a:pPr marL="971550" lvl="1" indent="-514350">
              <a:buFont typeface="Courier New" panose="02070309020205020404" pitchFamily="49" charset="0"/>
              <a:buChar char="o"/>
            </a:pPr>
            <a:endParaRPr lang="en-US" sz="3200">
              <a:latin typeface="Arial" panose="020B0604020202020204" pitchFamily="34" charset="0"/>
            </a:endParaRPr>
          </a:p>
        </p:txBody>
      </p:sp>
      <p:pic>
        <p:nvPicPr>
          <p:cNvPr id="4098" name="Picture 2" descr="http://images.clipartpanda.com/patient-clipart-cliparti1_patient-clipart_0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87" y="3200400"/>
            <a:ext cx="3427413" cy="2724151"/>
          </a:xfrm>
          <a:prstGeom prst="rect">
            <a:avLst/>
          </a:prstGeom>
          <a:noFill/>
          <a:extLst>
            <a:ext uri="{909E8E84-426E-40DD-AFC4-6F175D3DCCD1}">
              <a14:hiddenFill xmlns:a14="http://schemas.microsoft.com/office/drawing/2010/main">
                <a:solidFill>
                  <a:srgbClr val="FFFFFF"/>
                </a:solidFill>
              </a14:hiddenFill>
            </a:ext>
          </a:extLst>
        </p:spPr>
      </p:pic>
      <p:sp>
        <p:nvSpPr>
          <p:cNvPr id="2" name="Flowchart: Alternate Process 1"/>
          <p:cNvSpPr/>
          <p:nvPr/>
        </p:nvSpPr>
        <p:spPr>
          <a:xfrm>
            <a:off x="4800600" y="2137321"/>
            <a:ext cx="3581401" cy="1063079"/>
          </a:xfrm>
          <a:prstGeom prst="flowChartAlternateProcess">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a:t>Liệt kê danh sách cuộc hẹn ở tất cả phòng khám</a:t>
            </a:r>
          </a:p>
        </p:txBody>
      </p:sp>
      <p:sp>
        <p:nvSpPr>
          <p:cNvPr id="9" name="Flowchart: Alternate Process 8"/>
          <p:cNvSpPr/>
          <p:nvPr/>
        </p:nvSpPr>
        <p:spPr>
          <a:xfrm>
            <a:off x="4866409" y="3657600"/>
            <a:ext cx="3581401" cy="1063079"/>
          </a:xfrm>
          <a:prstGeom prst="flowChartAlternateProcess">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a:t>Liệt kê danh sách bệnh nhân theo ngày</a:t>
            </a:r>
          </a:p>
        </p:txBody>
      </p:sp>
      <p:sp>
        <p:nvSpPr>
          <p:cNvPr id="13" name="Flowchart: Alternate Process 12"/>
          <p:cNvSpPr/>
          <p:nvPr/>
        </p:nvSpPr>
        <p:spPr>
          <a:xfrm>
            <a:off x="4887191" y="5105400"/>
            <a:ext cx="3581401" cy="1063079"/>
          </a:xfrm>
          <a:prstGeom prst="flowChartAlternateProcess">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a:t>Mỗi nhân viên được phân biệt qua mã gồm 8 số</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Phân loại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13</a:t>
            </a:fld>
            <a:endParaRPr lang="en-US" sz="2000" b="1">
              <a:solidFill>
                <a:srgbClr val="FF0000"/>
              </a:solidFill>
            </a:endParaRPr>
          </a:p>
        </p:txBody>
      </p:sp>
      <p:sp>
        <p:nvSpPr>
          <p:cNvPr id="7" name="TextBox 6"/>
          <p:cNvSpPr txBox="1"/>
          <p:nvPr/>
        </p:nvSpPr>
        <p:spPr>
          <a:xfrm>
            <a:off x="458787" y="1352491"/>
            <a:ext cx="8226425" cy="4031873"/>
          </a:xfrm>
          <a:prstGeom prst="rect">
            <a:avLst/>
          </a:prstGeom>
          <a:noFill/>
        </p:spPr>
        <p:txBody>
          <a:bodyPr wrap="square" rtlCol="0">
            <a:spAutoFit/>
          </a:bodyPr>
          <a:lstStyle/>
          <a:p>
            <a:r>
              <a:rPr lang="en-US" sz="3200" b="1">
                <a:solidFill>
                  <a:srgbClr val="FF0000"/>
                </a:solidFill>
                <a:latin typeface="Arial" panose="020B0604020202020204" pitchFamily="34" charset="0"/>
              </a:rPr>
              <a:t>Yêu cầu có thể được phân loại thành:</a:t>
            </a:r>
          </a:p>
          <a:p>
            <a:endParaRPr lang="en-US" sz="3200" b="1">
              <a:solidFill>
                <a:srgbClr val="FF0000"/>
              </a:solidFill>
              <a:latin typeface="Arial" panose="020B0604020202020204" pitchFamily="34" charset="0"/>
            </a:endParaRPr>
          </a:p>
          <a:p>
            <a:r>
              <a:rPr lang="en-US" sz="3200">
                <a:latin typeface="Arial" panose="020B0604020202020204" pitchFamily="34" charset="0"/>
              </a:rPr>
              <a:t>2. Yêu cầu phi chức năng (Non-functional requirement)</a:t>
            </a:r>
          </a:p>
          <a:p>
            <a:pPr marL="914400" lvl="1" indent="-457200">
              <a:buFont typeface="Courier New" panose="02070309020205020404" pitchFamily="49" charset="0"/>
              <a:buChar char="o"/>
            </a:pPr>
            <a:r>
              <a:rPr lang="en-US" sz="3200">
                <a:latin typeface="Arial" panose="020B0604020202020204" pitchFamily="34" charset="0"/>
              </a:rPr>
              <a:t>Ràng buộc mà hệ thống phải đáp ứng (ràng buộc về thời gian, về qui trình phát triển hay ràng buộc về tiêu chuẩn)		</a:t>
            </a:r>
          </a:p>
        </p:txBody>
      </p:sp>
      <p:sp>
        <p:nvSpPr>
          <p:cNvPr id="2" name="Rectangle 1"/>
          <p:cNvSpPr/>
          <p:nvPr/>
        </p:nvSpPr>
        <p:spPr>
          <a:xfrm>
            <a:off x="459582" y="5105400"/>
            <a:ext cx="8224837" cy="16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a:t>“Functional requirements deal with the What, non functional requirements deal with the How” (Ariel Schlesinger)</a:t>
            </a:r>
          </a:p>
          <a:p>
            <a:pPr algn="ct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Yêu cầu phi chức năng</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14</a:t>
            </a:fld>
            <a:endParaRPr lang="en-US" sz="2000" b="1">
              <a:solidFill>
                <a:srgbClr val="FF0000"/>
              </a:solidFill>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138238"/>
            <a:ext cx="8836025" cy="526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Yêu cầu phi chức năng</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15</a:t>
            </a:fld>
            <a:endParaRPr lang="en-US" sz="2000" b="1">
              <a:solidFill>
                <a:srgbClr val="FF0000"/>
              </a:solidFill>
            </a:endParaRPr>
          </a:p>
        </p:txBody>
      </p:sp>
      <p:sp>
        <p:nvSpPr>
          <p:cNvPr id="6" name="TextBox 5"/>
          <p:cNvSpPr txBox="1"/>
          <p:nvPr/>
        </p:nvSpPr>
        <p:spPr>
          <a:xfrm>
            <a:off x="458787" y="1352491"/>
            <a:ext cx="8532813" cy="5232202"/>
          </a:xfrm>
          <a:prstGeom prst="rect">
            <a:avLst/>
          </a:prstGeom>
          <a:noFill/>
        </p:spPr>
        <p:txBody>
          <a:bodyPr wrap="square" rtlCol="0">
            <a:spAutoFit/>
          </a:bodyPr>
          <a:lstStyle/>
          <a:p>
            <a:r>
              <a:rPr lang="en-US" sz="3200">
                <a:latin typeface="Arial" panose="020B0604020202020204" pitchFamily="34" charset="0"/>
              </a:rPr>
              <a:t>Yêu cầu phi chức năng có thể được phân thành 3 nhóm: [2]</a:t>
            </a:r>
          </a:p>
          <a:p>
            <a:pPr marL="457200" indent="-457200">
              <a:buFont typeface="Arial" panose="020B0604020202020204" pitchFamily="34" charset="0"/>
              <a:buChar char="•"/>
            </a:pPr>
            <a:r>
              <a:rPr lang="en-US" sz="3000" b="1">
                <a:solidFill>
                  <a:srgbClr val="FF0000"/>
                </a:solidFill>
                <a:latin typeface="Arial" panose="020B0604020202020204" pitchFamily="34" charset="0"/>
              </a:rPr>
              <a:t>Product requirements</a:t>
            </a:r>
            <a:r>
              <a:rPr lang="en-US" sz="3000">
                <a:latin typeface="Arial" panose="020B0604020202020204" pitchFamily="34" charset="0"/>
              </a:rPr>
              <a:t>: xác định hoặc giới hạn hành vi cho phép của phần mềm</a:t>
            </a:r>
          </a:p>
          <a:p>
            <a:pPr marL="914400" lvl="1" indent="-457200">
              <a:buFont typeface="Courier New" panose="02070309020205020404" pitchFamily="49" charset="0"/>
              <a:buChar char="o"/>
            </a:pPr>
            <a:r>
              <a:rPr lang="en-US" sz="3000">
                <a:latin typeface="Arial" panose="020B0604020202020204" pitchFamily="34" charset="0"/>
              </a:rPr>
              <a:t>VD: tốc độ, memory, security ...</a:t>
            </a:r>
          </a:p>
          <a:p>
            <a:pPr marL="457200" indent="-457200">
              <a:buFont typeface="Arial" panose="020B0604020202020204" pitchFamily="34" charset="0"/>
              <a:buChar char="•"/>
            </a:pPr>
            <a:r>
              <a:rPr lang="en-US" sz="3000" b="1">
                <a:solidFill>
                  <a:srgbClr val="FF0000"/>
                </a:solidFill>
                <a:latin typeface="Arial" panose="020B0604020202020204" pitchFamily="34" charset="0"/>
              </a:rPr>
              <a:t>Organizational requirements</a:t>
            </a:r>
            <a:r>
              <a:rPr lang="en-US" sz="3000">
                <a:latin typeface="Arial" panose="020B0604020202020204" pitchFamily="34" charset="0"/>
              </a:rPr>
              <a:t>: các yêu cầu dẫn xuất từ chính sách/thủ tục đến từ tổ chức của client/developer</a:t>
            </a:r>
          </a:p>
          <a:p>
            <a:pPr marL="914400" lvl="1" indent="-457200">
              <a:buFont typeface="Courier New" panose="02070309020205020404" pitchFamily="49" charset="0"/>
              <a:buChar char="o"/>
            </a:pPr>
            <a:r>
              <a:rPr lang="en-US" sz="3000">
                <a:latin typeface="Arial" panose="020B0604020202020204" pitchFamily="34" charset="0"/>
              </a:rPr>
              <a:t>VD: ngôn ngữ, tiêu chuẩn qui trình ...</a:t>
            </a:r>
          </a:p>
          <a:p>
            <a:pPr marL="457200" indent="-457200">
              <a:buFont typeface="Courier New" panose="02070309020205020404" pitchFamily="49" charset="0"/>
              <a:buChar char="o"/>
            </a:pPr>
            <a:r>
              <a:rPr lang="en-US" sz="3000" b="1">
                <a:solidFill>
                  <a:srgbClr val="FF0000"/>
                </a:solidFill>
                <a:latin typeface="Arial" panose="020B0604020202020204" pitchFamily="34" charset="0"/>
              </a:rPr>
              <a:t>External requirements</a:t>
            </a:r>
            <a:r>
              <a:rPr lang="en-US" sz="3000">
                <a:latin typeface="Arial" panose="020B0604020202020204" pitchFamily="34" charset="0"/>
              </a:rPr>
              <a:t>: yêu cầu về mặt pháp luật, đạo đức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Phân loại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16</a:t>
            </a:fld>
            <a:endParaRPr lang="en-US" sz="2000" b="1">
              <a:solidFill>
                <a:srgbClr val="FF0000"/>
              </a:solidFill>
            </a:endParaRPr>
          </a:p>
        </p:txBody>
      </p:sp>
      <p:sp>
        <p:nvSpPr>
          <p:cNvPr id="7" name="TextBox 6"/>
          <p:cNvSpPr txBox="1"/>
          <p:nvPr/>
        </p:nvSpPr>
        <p:spPr>
          <a:xfrm>
            <a:off x="458787" y="1352491"/>
            <a:ext cx="8226425" cy="5016758"/>
          </a:xfrm>
          <a:prstGeom prst="rect">
            <a:avLst/>
          </a:prstGeom>
          <a:noFill/>
        </p:spPr>
        <p:txBody>
          <a:bodyPr wrap="square" rtlCol="0">
            <a:spAutoFit/>
          </a:bodyPr>
          <a:lstStyle/>
          <a:p>
            <a:r>
              <a:rPr lang="en-US" sz="3200" b="1">
                <a:solidFill>
                  <a:srgbClr val="FF0000"/>
                </a:solidFill>
                <a:latin typeface="Arial" panose="020B0604020202020204" pitchFamily="34" charset="0"/>
              </a:rPr>
              <a:t>Lưu ý:</a:t>
            </a:r>
          </a:p>
          <a:p>
            <a:r>
              <a:rPr lang="en-US" sz="3200">
                <a:latin typeface="Arial" panose="020B0604020202020204" pitchFamily="34" charset="0"/>
              </a:rPr>
              <a:t>Trong thực tế, việc phân loại yêu cầu đôi khi không rõ ràng. </a:t>
            </a:r>
          </a:p>
          <a:p>
            <a:endParaRPr lang="en-US" sz="3200">
              <a:latin typeface="Arial" panose="020B0604020202020204" pitchFamily="34" charset="0"/>
            </a:endParaRPr>
          </a:p>
          <a:p>
            <a:r>
              <a:rPr lang="en-US" sz="3200" i="1">
                <a:solidFill>
                  <a:srgbClr val="FF0000"/>
                </a:solidFill>
                <a:latin typeface="Arial" panose="020B0604020202020204" pitchFamily="34" charset="0"/>
              </a:rPr>
              <a:t>VD</a:t>
            </a:r>
            <a:r>
              <a:rPr lang="en-US" sz="3200">
                <a:solidFill>
                  <a:srgbClr val="FF0000"/>
                </a:solidFill>
                <a:latin typeface="Arial" panose="020B0604020202020204" pitchFamily="34" charset="0"/>
              </a:rPr>
              <a:t>: </a:t>
            </a:r>
            <a:r>
              <a:rPr lang="en-US" sz="3200">
                <a:latin typeface="Arial" panose="020B0604020202020204" pitchFamily="34" charset="0"/>
              </a:rPr>
              <a:t>Yêu cầu liên quan đến vấn đề bảo mật như giới hạn quyền truy cập của user là một yêu cầu phi chức năng. Nhưng khi bắt tay vào quá trình hiện thực chi tiết thì sẽ phát sinh ra các yêu cầu chức năng (như thêm chức năng xác thực user vào system)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Mô hình hóa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17</a:t>
            </a:fld>
            <a:endParaRPr lang="en-US" sz="2000" b="1">
              <a:solidFill>
                <a:srgbClr val="FF0000"/>
              </a:solidFill>
            </a:endParaRPr>
          </a:p>
        </p:txBody>
      </p:sp>
      <p:sp>
        <p:nvSpPr>
          <p:cNvPr id="7" name="TextBox 6"/>
          <p:cNvSpPr txBox="1"/>
          <p:nvPr/>
        </p:nvSpPr>
        <p:spPr>
          <a:xfrm>
            <a:off x="458787" y="1352491"/>
            <a:ext cx="8226425" cy="3539430"/>
          </a:xfrm>
          <a:prstGeom prst="rect">
            <a:avLst/>
          </a:prstGeom>
          <a:noFill/>
        </p:spPr>
        <p:txBody>
          <a:bodyPr wrap="square" rtlCol="0">
            <a:spAutoFit/>
          </a:bodyPr>
          <a:lstStyle/>
          <a:p>
            <a:r>
              <a:rPr lang="en-US" sz="3200" b="1">
                <a:solidFill>
                  <a:srgbClr val="FF0000"/>
                </a:solidFill>
                <a:latin typeface="Arial" panose="020B0604020202020204" pitchFamily="34" charset="0"/>
              </a:rPr>
              <a:t>Mục tiêu</a:t>
            </a:r>
          </a:p>
          <a:p>
            <a:endParaRPr lang="en-US" sz="3200" b="1">
              <a:solidFill>
                <a:srgbClr val="FF0000"/>
              </a:solidFill>
              <a:latin typeface="Arial" panose="020B0604020202020204" pitchFamily="34" charset="0"/>
            </a:endParaRPr>
          </a:p>
          <a:p>
            <a:pPr marL="457200" indent="-457200">
              <a:buFont typeface="Arial" panose="020B0604020202020204" pitchFamily="34" charset="0"/>
              <a:buChar char="•"/>
            </a:pPr>
            <a:r>
              <a:rPr lang="en-US" sz="3200">
                <a:latin typeface="Arial" panose="020B0604020202020204" pitchFamily="34" charset="0"/>
              </a:rPr>
              <a:t>Hiểu rõ ràng các chức năng của hệ thống</a:t>
            </a:r>
          </a:p>
          <a:p>
            <a:pPr marL="457200" indent="-457200">
              <a:buFont typeface="Arial" panose="020B0604020202020204" pitchFamily="34" charset="0"/>
              <a:buChar char="•"/>
            </a:pPr>
            <a:r>
              <a:rPr lang="en-US" sz="3200">
                <a:latin typeface="Arial" panose="020B0604020202020204" pitchFamily="34" charset="0"/>
              </a:rPr>
              <a:t>Diễn tả hệ thống dưới các góc nhìn khác nhau</a:t>
            </a:r>
          </a:p>
          <a:p>
            <a:pPr marL="457200" indent="-457200">
              <a:buFont typeface="Arial" panose="020B0604020202020204" pitchFamily="34" charset="0"/>
              <a:buChar char="•"/>
            </a:pPr>
            <a:r>
              <a:rPr lang="en-US" sz="3200">
                <a:latin typeface="Arial" panose="020B0604020202020204" pitchFamily="34" charset="0"/>
              </a:rPr>
              <a:t>Một số công cụ hỗ trợ: lược đồ Usecase, DFD, ERD,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Mô hình hóa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18</a:t>
            </a:fld>
            <a:endParaRPr lang="en-US" sz="2000" b="1">
              <a:solidFill>
                <a:srgbClr val="FF0000"/>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775" y="1143000"/>
            <a:ext cx="8074025" cy="5441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010" y="1981200"/>
            <a:ext cx="8420389"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19</a:t>
            </a:fld>
            <a:endParaRPr lang="en-US" sz="2000" b="1">
              <a:solidFill>
                <a:srgbClr val="FF0000"/>
              </a:solidFill>
            </a:endParaRPr>
          </a:p>
        </p:txBody>
      </p:sp>
      <p:sp>
        <p:nvSpPr>
          <p:cNvPr id="9" name="TextBox 8"/>
          <p:cNvSpPr txBox="1"/>
          <p:nvPr/>
        </p:nvSpPr>
        <p:spPr>
          <a:xfrm>
            <a:off x="458787" y="1352491"/>
            <a:ext cx="8226425" cy="584775"/>
          </a:xfrm>
          <a:prstGeom prst="rect">
            <a:avLst/>
          </a:prstGeom>
          <a:noFill/>
        </p:spPr>
        <p:txBody>
          <a:bodyPr wrap="square" rtlCol="0">
            <a:spAutoFit/>
          </a:bodyPr>
          <a:lstStyle/>
          <a:p>
            <a:r>
              <a:rPr lang="en-US" sz="3200" b="1">
                <a:solidFill>
                  <a:srgbClr val="FF0000"/>
                </a:solidFill>
                <a:latin typeface="Arial" panose="020B0604020202020204" pitchFamily="34" charset="0"/>
              </a:rPr>
              <a:t>Là process đầu tiên của CNPM</a:t>
            </a:r>
          </a:p>
        </p:txBody>
      </p:sp>
      <p:sp>
        <p:nvSpPr>
          <p:cNvPr id="2" name="Rectangle 1"/>
          <p:cNvSpPr/>
          <p:nvPr/>
        </p:nvSpPr>
        <p:spPr>
          <a:xfrm>
            <a:off x="1600200" y="3124200"/>
            <a:ext cx="6172200" cy="381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20</a:t>
            </a:fld>
            <a:endParaRPr lang="en-US" sz="2000" b="1">
              <a:solidFill>
                <a:srgbClr val="FF0000"/>
              </a:solidFill>
            </a:endParaRPr>
          </a:p>
        </p:txBody>
      </p:sp>
      <p:sp>
        <p:nvSpPr>
          <p:cNvPr id="13" name="TextBox 12"/>
          <p:cNvSpPr txBox="1"/>
          <p:nvPr/>
        </p:nvSpPr>
        <p:spPr>
          <a:xfrm>
            <a:off x="458787" y="1352491"/>
            <a:ext cx="8226425" cy="5016758"/>
          </a:xfrm>
          <a:prstGeom prst="rect">
            <a:avLst/>
          </a:prstGeom>
          <a:noFill/>
        </p:spPr>
        <p:txBody>
          <a:bodyPr wrap="square" rtlCol="0">
            <a:spAutoFit/>
          </a:bodyPr>
          <a:lstStyle/>
          <a:p>
            <a:r>
              <a:rPr lang="en-US" sz="3200" b="1" dirty="0" err="1">
                <a:solidFill>
                  <a:srgbClr val="FF0000"/>
                </a:solidFill>
                <a:latin typeface="Arial" panose="020B0604020202020204" pitchFamily="34" charset="0"/>
              </a:rPr>
              <a:t>Mục</a:t>
            </a:r>
            <a:r>
              <a:rPr lang="en-US" sz="3200" b="1" dirty="0">
                <a:solidFill>
                  <a:srgbClr val="FF0000"/>
                </a:solidFill>
                <a:latin typeface="Arial" panose="020B0604020202020204" pitchFamily="34" charset="0"/>
              </a:rPr>
              <a:t> </a:t>
            </a:r>
            <a:r>
              <a:rPr lang="en-US" sz="3200" b="1" dirty="0" err="1">
                <a:solidFill>
                  <a:srgbClr val="FF0000"/>
                </a:solidFill>
                <a:latin typeface="Arial" panose="020B0604020202020204" pitchFamily="34" charset="0"/>
              </a:rPr>
              <a:t>tiêu</a:t>
            </a:r>
            <a:endParaRPr lang="en-US" sz="3200" b="1" dirty="0">
              <a:solidFill>
                <a:srgbClr val="FF0000"/>
              </a:solidFill>
              <a:latin typeface="Arial" panose="020B0604020202020204" pitchFamily="34" charset="0"/>
            </a:endParaRPr>
          </a:p>
          <a:p>
            <a:endParaRPr lang="en-US" sz="3200" b="1" dirty="0">
              <a:solidFill>
                <a:srgbClr val="FF0000"/>
              </a:solidFill>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Đảm</a:t>
            </a:r>
            <a:r>
              <a:rPr lang="en-US" sz="3200" dirty="0">
                <a:latin typeface="Arial" panose="020B0604020202020204" pitchFamily="34" charset="0"/>
              </a:rPr>
              <a:t> </a:t>
            </a:r>
            <a:r>
              <a:rPr lang="en-US" sz="3200" dirty="0" err="1">
                <a:latin typeface="Arial" panose="020B0604020202020204" pitchFamily="34" charset="0"/>
              </a:rPr>
              <a:t>bảo</a:t>
            </a:r>
            <a:r>
              <a:rPr lang="en-US" sz="3200" dirty="0">
                <a:latin typeface="Arial" panose="020B0604020202020204" pitchFamily="34" charset="0"/>
              </a:rPr>
              <a:t> </a:t>
            </a:r>
            <a:r>
              <a:rPr lang="en-US" sz="3200" dirty="0" err="1">
                <a:latin typeface="Arial" panose="020B0604020202020204" pitchFamily="34" charset="0"/>
              </a:rPr>
              <a:t>rằng</a:t>
            </a:r>
            <a:r>
              <a:rPr lang="en-US" sz="3200" dirty="0">
                <a:latin typeface="Arial" panose="020B0604020202020204" pitchFamily="34" charset="0"/>
              </a:rPr>
              <a:t> </a:t>
            </a:r>
            <a:r>
              <a:rPr lang="en-US" sz="3200" dirty="0" err="1">
                <a:latin typeface="Arial" panose="020B0604020202020204" pitchFamily="34" charset="0"/>
              </a:rPr>
              <a:t>tất</a:t>
            </a:r>
            <a:r>
              <a:rPr lang="en-US" sz="3200" dirty="0">
                <a:latin typeface="Arial" panose="020B0604020202020204" pitchFamily="34" charset="0"/>
              </a:rPr>
              <a:t> </a:t>
            </a:r>
            <a:r>
              <a:rPr lang="en-US" sz="3200" dirty="0" err="1">
                <a:latin typeface="Arial" panose="020B0604020202020204" pitchFamily="34" charset="0"/>
              </a:rPr>
              <a:t>cả</a:t>
            </a:r>
            <a:r>
              <a:rPr lang="en-US" sz="3200" dirty="0">
                <a:latin typeface="Arial" panose="020B0604020202020204" pitchFamily="34" charset="0"/>
              </a:rPr>
              <a:t> </a:t>
            </a:r>
            <a:r>
              <a:rPr lang="en-US" sz="3200" dirty="0" err="1">
                <a:latin typeface="Arial" panose="020B0604020202020204" pitchFamily="34" charset="0"/>
              </a:rPr>
              <a:t>yêu</a:t>
            </a:r>
            <a:r>
              <a:rPr lang="en-US" sz="3200" dirty="0">
                <a:latin typeface="Arial" panose="020B0604020202020204" pitchFamily="34" charset="0"/>
              </a:rPr>
              <a:t> </a:t>
            </a:r>
            <a:r>
              <a:rPr lang="en-US" sz="3200" dirty="0" err="1">
                <a:latin typeface="Arial" panose="020B0604020202020204" pitchFamily="34" charset="0"/>
              </a:rPr>
              <a:t>cầu</a:t>
            </a:r>
            <a:r>
              <a:rPr lang="en-US" sz="3200" dirty="0">
                <a:latin typeface="Arial" panose="020B0604020202020204" pitchFamily="34" charset="0"/>
              </a:rPr>
              <a:t> </a:t>
            </a:r>
            <a:r>
              <a:rPr lang="en-US" sz="3200" dirty="0" err="1">
                <a:latin typeface="Arial" panose="020B0604020202020204" pitchFamily="34" charset="0"/>
              </a:rPr>
              <a:t>đều</a:t>
            </a:r>
            <a:r>
              <a:rPr lang="en-US" sz="3200" dirty="0">
                <a:latin typeface="Arial" panose="020B0604020202020204" pitchFamily="34" charset="0"/>
              </a:rPr>
              <a:t> </a:t>
            </a:r>
            <a:r>
              <a:rPr lang="en-US" sz="3200" dirty="0" err="1">
                <a:latin typeface="Arial" panose="020B0604020202020204" pitchFamily="34" charset="0"/>
              </a:rPr>
              <a:t>được</a:t>
            </a:r>
            <a:r>
              <a:rPr lang="en-US" sz="3200" dirty="0">
                <a:latin typeface="Arial" panose="020B0604020202020204" pitchFamily="34" charset="0"/>
              </a:rPr>
              <a:t> </a:t>
            </a:r>
            <a:r>
              <a:rPr lang="en-US" sz="3200" dirty="0" err="1">
                <a:latin typeface="Arial" panose="020B0604020202020204" pitchFamily="34" charset="0"/>
              </a:rPr>
              <a:t>định</a:t>
            </a:r>
            <a:r>
              <a:rPr lang="en-US" sz="3200" dirty="0">
                <a:latin typeface="Arial" panose="020B0604020202020204" pitchFamily="34" charset="0"/>
              </a:rPr>
              <a:t> </a:t>
            </a:r>
            <a:r>
              <a:rPr lang="en-US" sz="3200" dirty="0" err="1">
                <a:latin typeface="Arial" panose="020B0604020202020204" pitchFamily="34" charset="0"/>
              </a:rPr>
              <a:t>nghĩa</a:t>
            </a:r>
            <a:r>
              <a:rPr lang="en-US" sz="3200" dirty="0">
                <a:latin typeface="Arial" panose="020B0604020202020204" pitchFamily="34" charset="0"/>
              </a:rPr>
              <a:t> </a:t>
            </a:r>
            <a:r>
              <a:rPr lang="en-US" sz="3200" dirty="0" err="1">
                <a:latin typeface="Arial" panose="020B0604020202020204" pitchFamily="34" charset="0"/>
              </a:rPr>
              <a:t>và</a:t>
            </a:r>
            <a:r>
              <a:rPr lang="en-US" sz="3200" dirty="0">
                <a:latin typeface="Arial" panose="020B0604020202020204" pitchFamily="34" charset="0"/>
              </a:rPr>
              <a:t> </a:t>
            </a:r>
            <a:r>
              <a:rPr lang="en-US" sz="3200" dirty="0" err="1">
                <a:latin typeface="Arial" panose="020B0604020202020204" pitchFamily="34" charset="0"/>
              </a:rPr>
              <a:t>hiểu</a:t>
            </a:r>
            <a:r>
              <a:rPr lang="en-US" sz="3200" dirty="0">
                <a:latin typeface="Arial" panose="020B0604020202020204" pitchFamily="34" charset="0"/>
              </a:rPr>
              <a:t> </a:t>
            </a:r>
            <a:r>
              <a:rPr lang="en-US" sz="3200" dirty="0" err="1">
                <a:latin typeface="Arial" panose="020B0604020202020204" pitchFamily="34" charset="0"/>
              </a:rPr>
              <a:t>đúng</a:t>
            </a:r>
            <a:endParaRPr lang="en-US" sz="3200" dirty="0">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Hiểu</a:t>
            </a:r>
            <a:r>
              <a:rPr lang="en-US" sz="3200" dirty="0">
                <a:latin typeface="Arial" panose="020B0604020202020204" pitchFamily="34" charset="0"/>
              </a:rPr>
              <a:t> </a:t>
            </a:r>
            <a:r>
              <a:rPr lang="en-US" sz="3200" dirty="0" err="1">
                <a:latin typeface="Arial" panose="020B0604020202020204" pitchFamily="34" charset="0"/>
              </a:rPr>
              <a:t>rõ</a:t>
            </a:r>
            <a:r>
              <a:rPr lang="en-US" sz="3200" dirty="0">
                <a:latin typeface="Arial" panose="020B0604020202020204" pitchFamily="34" charset="0"/>
              </a:rPr>
              <a:t> </a:t>
            </a:r>
            <a:r>
              <a:rPr lang="en-US" sz="3200" dirty="0" err="1">
                <a:latin typeface="Arial" panose="020B0604020202020204" pitchFamily="34" charset="0"/>
              </a:rPr>
              <a:t>yêu</a:t>
            </a:r>
            <a:r>
              <a:rPr lang="en-US" sz="3200" dirty="0">
                <a:latin typeface="Arial" panose="020B0604020202020204" pitchFamily="34" charset="0"/>
              </a:rPr>
              <a:t> </a:t>
            </a:r>
            <a:r>
              <a:rPr lang="en-US" sz="3200" dirty="0" err="1">
                <a:latin typeface="Arial" panose="020B0604020202020204" pitchFamily="34" charset="0"/>
              </a:rPr>
              <a:t>cầu</a:t>
            </a:r>
            <a:r>
              <a:rPr lang="en-US" sz="3200" dirty="0">
                <a:latin typeface="Arial" panose="020B0604020202020204" pitchFamily="34" charset="0"/>
              </a:rPr>
              <a:t> </a:t>
            </a:r>
            <a:r>
              <a:rPr lang="en-US" sz="3200" dirty="0" err="1">
                <a:latin typeface="Arial" panose="020B0604020202020204" pitchFamily="34" charset="0"/>
              </a:rPr>
              <a:t>khách</a:t>
            </a:r>
            <a:r>
              <a:rPr lang="en-US" sz="3200" dirty="0">
                <a:latin typeface="Arial" panose="020B0604020202020204" pitchFamily="34" charset="0"/>
              </a:rPr>
              <a:t> </a:t>
            </a:r>
            <a:r>
              <a:rPr lang="en-US" sz="3200" dirty="0" err="1">
                <a:latin typeface="Arial" panose="020B0604020202020204" pitchFamily="34" charset="0"/>
              </a:rPr>
              <a:t>hàng</a:t>
            </a:r>
            <a:r>
              <a:rPr lang="en-US" sz="3200" dirty="0">
                <a:latin typeface="Arial" panose="020B0604020202020204" pitchFamily="34" charset="0"/>
              </a:rPr>
              <a:t> </a:t>
            </a:r>
            <a:r>
              <a:rPr lang="en-US" sz="3200" dirty="0" err="1">
                <a:latin typeface="Arial" panose="020B0604020202020204" pitchFamily="34" charset="0"/>
              </a:rPr>
              <a:t>là</a:t>
            </a:r>
            <a:r>
              <a:rPr lang="en-US" sz="3200" dirty="0">
                <a:latin typeface="Arial" panose="020B0604020202020204" pitchFamily="34" charset="0"/>
              </a:rPr>
              <a:t> </a:t>
            </a:r>
            <a:r>
              <a:rPr lang="en-US" sz="3200" dirty="0" err="1">
                <a:latin typeface="Arial" panose="020B0604020202020204" pitchFamily="34" charset="0"/>
              </a:rPr>
              <a:t>gì</a:t>
            </a:r>
            <a:r>
              <a:rPr lang="en-US" sz="3200" dirty="0">
                <a:latin typeface="Arial" panose="020B0604020202020204" pitchFamily="34" charset="0"/>
              </a:rPr>
              <a:t>, </a:t>
            </a:r>
            <a:r>
              <a:rPr lang="en-US" sz="3200" dirty="0" err="1">
                <a:latin typeface="Arial" panose="020B0604020202020204" pitchFamily="34" charset="0"/>
              </a:rPr>
              <a:t>mong</a:t>
            </a:r>
            <a:r>
              <a:rPr lang="en-US" sz="3200" dirty="0">
                <a:latin typeface="Arial" panose="020B0604020202020204" pitchFamily="34" charset="0"/>
              </a:rPr>
              <a:t> </a:t>
            </a:r>
            <a:r>
              <a:rPr lang="en-US" sz="3200" dirty="0" err="1">
                <a:latin typeface="Arial" panose="020B0604020202020204" pitchFamily="34" charset="0"/>
              </a:rPr>
              <a:t>đợi</a:t>
            </a:r>
            <a:r>
              <a:rPr lang="en-US" sz="3200" dirty="0">
                <a:latin typeface="Arial" panose="020B0604020202020204" pitchFamily="34" charset="0"/>
              </a:rPr>
              <a:t> </a:t>
            </a:r>
            <a:r>
              <a:rPr lang="en-US" sz="3200" dirty="0" err="1">
                <a:latin typeface="Arial" panose="020B0604020202020204" pitchFamily="34" charset="0"/>
              </a:rPr>
              <a:t>của</a:t>
            </a:r>
            <a:r>
              <a:rPr lang="en-US" sz="3200" dirty="0">
                <a:latin typeface="Arial" panose="020B0604020202020204" pitchFamily="34" charset="0"/>
              </a:rPr>
              <a:t> </a:t>
            </a:r>
            <a:r>
              <a:rPr lang="en-US" sz="3200" dirty="0" err="1">
                <a:latin typeface="Arial" panose="020B0604020202020204" pitchFamily="34" charset="0"/>
              </a:rPr>
              <a:t>họ</a:t>
            </a:r>
            <a:r>
              <a:rPr lang="en-US" sz="3200" dirty="0">
                <a:latin typeface="Arial" panose="020B0604020202020204" pitchFamily="34" charset="0"/>
              </a:rPr>
              <a:t> </a:t>
            </a:r>
            <a:r>
              <a:rPr lang="en-US" sz="3200" dirty="0" err="1">
                <a:latin typeface="Arial" panose="020B0604020202020204" pitchFamily="34" charset="0"/>
              </a:rPr>
              <a:t>là</a:t>
            </a:r>
            <a:r>
              <a:rPr lang="en-US" sz="3200" dirty="0">
                <a:latin typeface="Arial" panose="020B0604020202020204" pitchFamily="34" charset="0"/>
              </a:rPr>
              <a:t> </a:t>
            </a:r>
            <a:r>
              <a:rPr lang="en-US" sz="3200" dirty="0" err="1">
                <a:latin typeface="Arial" panose="020B0604020202020204" pitchFamily="34" charset="0"/>
              </a:rPr>
              <a:t>gì</a:t>
            </a:r>
            <a:endParaRPr lang="en-US" sz="3200" dirty="0">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Tạo</a:t>
            </a:r>
            <a:r>
              <a:rPr lang="en-US" sz="3200" dirty="0">
                <a:latin typeface="Arial" panose="020B0604020202020204" pitchFamily="34" charset="0"/>
              </a:rPr>
              <a:t> </a:t>
            </a:r>
            <a:r>
              <a:rPr lang="en-US" sz="3200" dirty="0" err="1">
                <a:latin typeface="Arial" panose="020B0604020202020204" pitchFamily="34" charset="0"/>
              </a:rPr>
              <a:t>ra</a:t>
            </a:r>
            <a:r>
              <a:rPr lang="en-US" sz="3200" dirty="0">
                <a:latin typeface="Arial" panose="020B0604020202020204" pitchFamily="34" charset="0"/>
              </a:rPr>
              <a:t> </a:t>
            </a:r>
            <a:r>
              <a:rPr lang="en-US" sz="3200" i="1" dirty="0">
                <a:solidFill>
                  <a:srgbClr val="FF0000"/>
                </a:solidFill>
                <a:latin typeface="Arial" panose="020B0604020202020204" pitchFamily="34" charset="0"/>
              </a:rPr>
              <a:t>SRS (Software Requirement Specification)</a:t>
            </a:r>
            <a:r>
              <a:rPr lang="en-US" sz="3200" dirty="0">
                <a:latin typeface="Arial" panose="020B0604020202020204" pitchFamily="34" charset="0"/>
              </a:rPr>
              <a:t> – </a:t>
            </a:r>
            <a:r>
              <a:rPr lang="en-US" sz="3200" dirty="0" err="1">
                <a:latin typeface="Arial" panose="020B0604020202020204" pitchFamily="34" charset="0"/>
              </a:rPr>
              <a:t>tạo</a:t>
            </a:r>
            <a:r>
              <a:rPr lang="en-US" sz="3200" dirty="0">
                <a:latin typeface="Arial" panose="020B0604020202020204" pitchFamily="34" charset="0"/>
              </a:rPr>
              <a:t> </a:t>
            </a:r>
            <a:r>
              <a:rPr lang="en-US" sz="3200" dirty="0" err="1">
                <a:latin typeface="Arial" panose="020B0604020202020204" pitchFamily="34" charset="0"/>
              </a:rPr>
              <a:t>và</a:t>
            </a:r>
            <a:r>
              <a:rPr lang="en-US" sz="3200" dirty="0">
                <a:latin typeface="Arial" panose="020B0604020202020204" pitchFamily="34" charset="0"/>
              </a:rPr>
              <a:t> </a:t>
            </a:r>
            <a:r>
              <a:rPr lang="en-US" sz="3200" dirty="0" err="1">
                <a:latin typeface="Arial" panose="020B0604020202020204" pitchFamily="34" charset="0"/>
              </a:rPr>
              <a:t>duy</a:t>
            </a:r>
            <a:r>
              <a:rPr lang="en-US" sz="3200" dirty="0">
                <a:latin typeface="Arial" panose="020B0604020202020204" pitchFamily="34" charset="0"/>
              </a:rPr>
              <a:t> </a:t>
            </a:r>
            <a:r>
              <a:rPr lang="en-US" sz="3200" dirty="0" err="1">
                <a:latin typeface="Arial" panose="020B0604020202020204" pitchFamily="34" charset="0"/>
              </a:rPr>
              <a:t>trì</a:t>
            </a:r>
            <a:r>
              <a:rPr lang="en-US" sz="3200" dirty="0">
                <a:latin typeface="Arial" panose="020B0604020202020204" pitchFamily="34" charset="0"/>
              </a:rPr>
              <a:t> </a:t>
            </a:r>
            <a:r>
              <a:rPr lang="en-US" sz="3200" dirty="0" err="1">
                <a:latin typeface="Arial" panose="020B0604020202020204" pitchFamily="34" charset="0"/>
              </a:rPr>
              <a:t>sự</a:t>
            </a:r>
            <a:r>
              <a:rPr lang="en-US" sz="3200" dirty="0">
                <a:latin typeface="Arial" panose="020B0604020202020204" pitchFamily="34" charset="0"/>
              </a:rPr>
              <a:t> </a:t>
            </a:r>
            <a:r>
              <a:rPr lang="en-US" sz="3200" dirty="0" err="1">
                <a:latin typeface="Arial" panose="020B0604020202020204" pitchFamily="34" charset="0"/>
              </a:rPr>
              <a:t>đồng</a:t>
            </a:r>
            <a:r>
              <a:rPr lang="en-US" sz="3200" dirty="0">
                <a:latin typeface="Arial" panose="020B0604020202020204" pitchFamily="34" charset="0"/>
              </a:rPr>
              <a:t> </a:t>
            </a:r>
            <a:r>
              <a:rPr lang="en-US" sz="3200" dirty="0" err="1">
                <a:latin typeface="Arial" panose="020B0604020202020204" pitchFamily="34" charset="0"/>
              </a:rPr>
              <a:t>thuận</a:t>
            </a:r>
            <a:r>
              <a:rPr lang="en-US" sz="3200" dirty="0">
                <a:latin typeface="Arial" panose="020B0604020202020204" pitchFamily="34" charset="0"/>
              </a:rPr>
              <a:t> </a:t>
            </a:r>
            <a:r>
              <a:rPr lang="en-US" sz="3200" dirty="0" err="1">
                <a:latin typeface="Arial" panose="020B0604020202020204" pitchFamily="34" charset="0"/>
              </a:rPr>
              <a:t>về</a:t>
            </a:r>
            <a:r>
              <a:rPr lang="en-US" sz="3200" dirty="0">
                <a:latin typeface="Arial" panose="020B0604020202020204" pitchFamily="34" charset="0"/>
              </a:rPr>
              <a:t> </a:t>
            </a:r>
            <a:r>
              <a:rPr lang="en-US" sz="3200" dirty="0" err="1">
                <a:latin typeface="Arial" panose="020B0604020202020204" pitchFamily="34" charset="0"/>
              </a:rPr>
              <a:t>các</a:t>
            </a:r>
            <a:r>
              <a:rPr lang="en-US" sz="3200" dirty="0">
                <a:latin typeface="Arial" panose="020B0604020202020204" pitchFamily="34" charset="0"/>
              </a:rPr>
              <a:t> </a:t>
            </a:r>
            <a:r>
              <a:rPr lang="en-US" sz="3200" dirty="0" err="1">
                <a:latin typeface="Arial" panose="020B0604020202020204" pitchFamily="34" charset="0"/>
              </a:rPr>
              <a:t>yêu</a:t>
            </a:r>
            <a:r>
              <a:rPr lang="en-US" sz="3200" dirty="0">
                <a:latin typeface="Arial" panose="020B0604020202020204" pitchFamily="34" charset="0"/>
              </a:rPr>
              <a:t> </a:t>
            </a:r>
            <a:r>
              <a:rPr lang="en-US" sz="3200" dirty="0" err="1">
                <a:latin typeface="Arial" panose="020B0604020202020204" pitchFamily="34" charset="0"/>
              </a:rPr>
              <a:t>cầu</a:t>
            </a:r>
            <a:r>
              <a:rPr lang="en-US" sz="3200" dirty="0">
                <a:latin typeface="Arial" panose="020B0604020202020204" pitchFamily="34" charset="0"/>
              </a:rPr>
              <a:t> </a:t>
            </a:r>
            <a:r>
              <a:rPr lang="en-US" sz="3200" dirty="0" err="1">
                <a:latin typeface="Arial" panose="020B0604020202020204" pitchFamily="34" charset="0"/>
              </a:rPr>
              <a:t>giữa</a:t>
            </a:r>
            <a:r>
              <a:rPr lang="en-US" sz="3200" dirty="0">
                <a:latin typeface="Arial" panose="020B0604020202020204" pitchFamily="34" charset="0"/>
              </a:rPr>
              <a:t> </a:t>
            </a:r>
            <a:r>
              <a:rPr lang="en-US" sz="3200" dirty="0" err="1">
                <a:latin typeface="Arial" panose="020B0604020202020204" pitchFamily="34" charset="0"/>
              </a:rPr>
              <a:t>các</a:t>
            </a:r>
            <a:r>
              <a:rPr lang="en-US" sz="3200" dirty="0">
                <a:latin typeface="Arial" panose="020B0604020202020204" pitchFamily="34" charset="0"/>
              </a:rPr>
              <a:t> </a:t>
            </a:r>
            <a:r>
              <a:rPr lang="en-US" sz="3200" dirty="0" err="1">
                <a:latin typeface="Arial" panose="020B0604020202020204" pitchFamily="34" charset="0"/>
              </a:rPr>
              <a:t>bên</a:t>
            </a:r>
            <a:r>
              <a:rPr lang="en-US" sz="3200" dirty="0">
                <a:latin typeface="Arial" panose="020B0604020202020204" pitchFamily="34" charset="0"/>
              </a:rPr>
              <a:t> </a:t>
            </a:r>
            <a:r>
              <a:rPr lang="en-US" sz="3200" dirty="0" err="1">
                <a:latin typeface="Arial" panose="020B0604020202020204" pitchFamily="34" charset="0"/>
              </a:rPr>
              <a:t>liên</a:t>
            </a:r>
            <a:r>
              <a:rPr lang="en-US" sz="3200" dirty="0">
                <a:latin typeface="Arial" panose="020B0604020202020204" pitchFamily="34" charset="0"/>
              </a:rPr>
              <a:t> </a:t>
            </a:r>
            <a:r>
              <a:rPr lang="en-US" sz="3200" dirty="0" err="1">
                <a:latin typeface="Arial" panose="020B0604020202020204" pitchFamily="34" charset="0"/>
              </a:rPr>
              <a:t>quan</a:t>
            </a:r>
            <a:endParaRPr lang="en-US" sz="3200"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21</a:t>
            </a:fld>
            <a:endParaRPr lang="en-US" sz="2000" b="1">
              <a:solidFill>
                <a:srgbClr val="FF0000"/>
              </a:solidFill>
            </a:endParaRPr>
          </a:p>
        </p:txBody>
      </p:sp>
      <p:sp>
        <p:nvSpPr>
          <p:cNvPr id="13" name="TextBox 12"/>
          <p:cNvSpPr txBox="1"/>
          <p:nvPr/>
        </p:nvSpPr>
        <p:spPr>
          <a:xfrm>
            <a:off x="458787" y="1352491"/>
            <a:ext cx="8226425" cy="3046988"/>
          </a:xfrm>
          <a:prstGeom prst="rect">
            <a:avLst/>
          </a:prstGeom>
          <a:noFill/>
        </p:spPr>
        <p:txBody>
          <a:bodyPr wrap="square" rtlCol="0">
            <a:spAutoFit/>
          </a:bodyPr>
          <a:lstStyle/>
          <a:p>
            <a:r>
              <a:rPr lang="en-US" sz="3200" b="1" dirty="0" err="1">
                <a:solidFill>
                  <a:srgbClr val="FF0000"/>
                </a:solidFill>
                <a:latin typeface="Arial" panose="020B0604020202020204" pitchFamily="34" charset="0"/>
              </a:rPr>
              <a:t>Mục</a:t>
            </a:r>
            <a:r>
              <a:rPr lang="en-US" sz="3200" b="1" dirty="0">
                <a:solidFill>
                  <a:srgbClr val="FF0000"/>
                </a:solidFill>
                <a:latin typeface="Arial" panose="020B0604020202020204" pitchFamily="34" charset="0"/>
              </a:rPr>
              <a:t> </a:t>
            </a:r>
            <a:r>
              <a:rPr lang="en-US" sz="3200" b="1" dirty="0" err="1">
                <a:solidFill>
                  <a:srgbClr val="FF0000"/>
                </a:solidFill>
                <a:latin typeface="Arial" panose="020B0604020202020204" pitchFamily="34" charset="0"/>
              </a:rPr>
              <a:t>tiêu</a:t>
            </a:r>
            <a:endParaRPr lang="en-US" sz="3200" b="1" dirty="0">
              <a:solidFill>
                <a:srgbClr val="FF0000"/>
              </a:solidFill>
              <a:latin typeface="Arial" panose="020B0604020202020204" pitchFamily="34" charset="0"/>
            </a:endParaRPr>
          </a:p>
          <a:p>
            <a:endParaRPr lang="en-US" sz="3200" b="1" dirty="0">
              <a:solidFill>
                <a:srgbClr val="FF0000"/>
              </a:solidFill>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Đảm</a:t>
            </a:r>
            <a:r>
              <a:rPr lang="en-US" sz="3200" dirty="0">
                <a:latin typeface="Arial" panose="020B0604020202020204" pitchFamily="34" charset="0"/>
              </a:rPr>
              <a:t> </a:t>
            </a:r>
            <a:r>
              <a:rPr lang="en-US" sz="3200" dirty="0" err="1">
                <a:latin typeface="Arial" panose="020B0604020202020204" pitchFamily="34" charset="0"/>
              </a:rPr>
              <a:t>bảo</a:t>
            </a:r>
            <a:r>
              <a:rPr lang="en-US" sz="3200" dirty="0">
                <a:latin typeface="Arial" panose="020B0604020202020204" pitchFamily="34" charset="0"/>
              </a:rPr>
              <a:t> </a:t>
            </a:r>
            <a:r>
              <a:rPr lang="en-US" sz="3200" dirty="0" err="1">
                <a:latin typeface="Arial" panose="020B0604020202020204" pitchFamily="34" charset="0"/>
              </a:rPr>
              <a:t>có</a:t>
            </a:r>
            <a:r>
              <a:rPr lang="en-US" sz="3200" dirty="0">
                <a:latin typeface="Arial" panose="020B0604020202020204" pitchFamily="34" charset="0"/>
              </a:rPr>
              <a:t> </a:t>
            </a:r>
            <a:r>
              <a:rPr lang="en-US" sz="3200" dirty="0" err="1">
                <a:latin typeface="Arial" panose="020B0604020202020204" pitchFamily="34" charset="0"/>
              </a:rPr>
              <a:t>thể</a:t>
            </a:r>
            <a:r>
              <a:rPr lang="en-US" sz="3200" dirty="0">
                <a:latin typeface="Arial" panose="020B0604020202020204" pitchFamily="34" charset="0"/>
              </a:rPr>
              <a:t> </a:t>
            </a:r>
            <a:r>
              <a:rPr lang="en-US" sz="3200" dirty="0" err="1">
                <a:latin typeface="Arial" panose="020B0604020202020204" pitchFamily="34" charset="0"/>
              </a:rPr>
              <a:t>đạt</a:t>
            </a:r>
            <a:r>
              <a:rPr lang="en-US" sz="3200" dirty="0">
                <a:latin typeface="Arial" panose="020B0604020202020204" pitchFamily="34" charset="0"/>
              </a:rPr>
              <a:t> </a:t>
            </a:r>
            <a:r>
              <a:rPr lang="en-US" sz="3200" dirty="0" err="1">
                <a:latin typeface="Arial" panose="020B0604020202020204" pitchFamily="34" charset="0"/>
              </a:rPr>
              <a:t>được</a:t>
            </a:r>
            <a:r>
              <a:rPr lang="en-US" sz="3200" dirty="0">
                <a:latin typeface="Arial" panose="020B0604020202020204" pitchFamily="34" charset="0"/>
              </a:rPr>
              <a:t> </a:t>
            </a:r>
            <a:r>
              <a:rPr lang="en-US" sz="3200" dirty="0" err="1">
                <a:latin typeface="Arial" panose="020B0604020202020204" pitchFamily="34" charset="0"/>
              </a:rPr>
              <a:t>yêu</a:t>
            </a:r>
            <a:r>
              <a:rPr lang="en-US" sz="3200" dirty="0">
                <a:latin typeface="Arial" panose="020B0604020202020204" pitchFamily="34" charset="0"/>
              </a:rPr>
              <a:t> </a:t>
            </a:r>
            <a:r>
              <a:rPr lang="en-US" sz="3200" dirty="0" err="1">
                <a:latin typeface="Arial" panose="020B0604020202020204" pitchFamily="34" charset="0"/>
              </a:rPr>
              <a:t>cầu</a:t>
            </a:r>
            <a:endParaRPr lang="en-US" sz="3200" dirty="0">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Các</a:t>
            </a:r>
            <a:r>
              <a:rPr lang="en-US" sz="3200" dirty="0">
                <a:latin typeface="Arial" panose="020B0604020202020204" pitchFamily="34" charset="0"/>
              </a:rPr>
              <a:t> </a:t>
            </a:r>
            <a:r>
              <a:rPr lang="en-US" sz="3200" dirty="0" err="1">
                <a:latin typeface="Arial" panose="020B0604020202020204" pitchFamily="34" charset="0"/>
              </a:rPr>
              <a:t>yêu</a:t>
            </a:r>
            <a:r>
              <a:rPr lang="en-US" sz="3200" dirty="0">
                <a:latin typeface="Arial" panose="020B0604020202020204" pitchFamily="34" charset="0"/>
              </a:rPr>
              <a:t> </a:t>
            </a:r>
            <a:r>
              <a:rPr lang="en-US" sz="3200" dirty="0" err="1">
                <a:latin typeface="Arial" panose="020B0604020202020204" pitchFamily="34" charset="0"/>
              </a:rPr>
              <a:t>cầu</a:t>
            </a:r>
            <a:r>
              <a:rPr lang="en-US" sz="3200" dirty="0">
                <a:latin typeface="Arial" panose="020B0604020202020204" pitchFamily="34" charset="0"/>
              </a:rPr>
              <a:t> </a:t>
            </a:r>
            <a:r>
              <a:rPr lang="en-US" sz="3200" dirty="0" err="1">
                <a:latin typeface="Arial" panose="020B0604020202020204" pitchFamily="34" charset="0"/>
              </a:rPr>
              <a:t>được</a:t>
            </a:r>
            <a:r>
              <a:rPr lang="en-US" sz="3200" dirty="0">
                <a:latin typeface="Arial" panose="020B0604020202020204" pitchFamily="34" charset="0"/>
              </a:rPr>
              <a:t> </a:t>
            </a:r>
            <a:r>
              <a:rPr lang="en-US" sz="3200" dirty="0" err="1">
                <a:latin typeface="Arial" panose="020B0604020202020204" pitchFamily="34" charset="0"/>
              </a:rPr>
              <a:t>tài</a:t>
            </a:r>
            <a:r>
              <a:rPr lang="en-US" sz="3200" dirty="0">
                <a:latin typeface="Arial" panose="020B0604020202020204" pitchFamily="34" charset="0"/>
              </a:rPr>
              <a:t> </a:t>
            </a:r>
            <a:r>
              <a:rPr lang="en-US" sz="3200" dirty="0" err="1">
                <a:latin typeface="Arial" panose="020B0604020202020204" pitchFamily="34" charset="0"/>
              </a:rPr>
              <a:t>liệu</a:t>
            </a:r>
            <a:r>
              <a:rPr lang="en-US" sz="3200" dirty="0">
                <a:latin typeface="Arial" panose="020B0604020202020204" pitchFamily="34" charset="0"/>
              </a:rPr>
              <a:t> </a:t>
            </a:r>
            <a:r>
              <a:rPr lang="en-US" sz="3200" dirty="0" err="1">
                <a:latin typeface="Arial" panose="020B0604020202020204" pitchFamily="34" charset="0"/>
              </a:rPr>
              <a:t>hóa</a:t>
            </a:r>
            <a:r>
              <a:rPr lang="en-US" sz="3200" dirty="0">
                <a:latin typeface="Arial" panose="020B0604020202020204" pitchFamily="34" charset="0"/>
              </a:rPr>
              <a:t> </a:t>
            </a:r>
            <a:r>
              <a:rPr lang="en-US" sz="3200" dirty="0" err="1">
                <a:latin typeface="Arial" panose="020B0604020202020204" pitchFamily="34" charset="0"/>
              </a:rPr>
              <a:t>và</a:t>
            </a:r>
            <a:r>
              <a:rPr lang="en-US" sz="3200" dirty="0">
                <a:latin typeface="Arial" panose="020B0604020202020204" pitchFamily="34" charset="0"/>
              </a:rPr>
              <a:t> </a:t>
            </a:r>
            <a:r>
              <a:rPr lang="en-US" sz="3200" dirty="0" err="1">
                <a:latin typeface="Arial" panose="020B0604020202020204" pitchFamily="34" charset="0"/>
              </a:rPr>
              <a:t>quản</a:t>
            </a:r>
            <a:r>
              <a:rPr lang="en-US" sz="3200" dirty="0">
                <a:latin typeface="Arial" panose="020B0604020202020204" pitchFamily="34" charset="0"/>
              </a:rPr>
              <a:t> </a:t>
            </a:r>
            <a:r>
              <a:rPr lang="en-US" sz="3200" dirty="0" err="1">
                <a:latin typeface="Arial" panose="020B0604020202020204" pitchFamily="34" charset="0"/>
              </a:rPr>
              <a:t>lý</a:t>
            </a:r>
            <a:r>
              <a:rPr lang="en-US" sz="3200" dirty="0">
                <a:latin typeface="Arial" panose="020B0604020202020204" pitchFamily="34" charset="0"/>
              </a:rPr>
              <a:t> </a:t>
            </a:r>
            <a:r>
              <a:rPr lang="en-US" sz="3200" dirty="0" err="1">
                <a:latin typeface="Arial" panose="020B0604020202020204" pitchFamily="34" charset="0"/>
              </a:rPr>
              <a:t>xây</a:t>
            </a:r>
            <a:r>
              <a:rPr lang="en-US" sz="3200" dirty="0">
                <a:latin typeface="Arial" panose="020B0604020202020204" pitchFamily="34" charset="0"/>
              </a:rPr>
              <a:t> </a:t>
            </a:r>
            <a:r>
              <a:rPr lang="en-US" sz="3200" dirty="0" err="1">
                <a:latin typeface="Arial" panose="020B0604020202020204" pitchFamily="34" charset="0"/>
              </a:rPr>
              <a:t>dựng</a:t>
            </a:r>
            <a:r>
              <a:rPr lang="en-US" sz="3200" dirty="0">
                <a:latin typeface="Arial" panose="020B0604020202020204" pitchFamily="34" charset="0"/>
              </a:rPr>
              <a:t> </a:t>
            </a:r>
            <a:r>
              <a:rPr lang="en-US" sz="3200" dirty="0" err="1">
                <a:latin typeface="Arial" panose="020B0604020202020204" pitchFamily="34" charset="0"/>
              </a:rPr>
              <a:t>nên</a:t>
            </a:r>
            <a:r>
              <a:rPr lang="en-US" sz="3200" dirty="0">
                <a:latin typeface="Arial" panose="020B0604020202020204" pitchFamily="34" charset="0"/>
              </a:rPr>
              <a:t> </a:t>
            </a:r>
            <a:r>
              <a:rPr lang="en-US" sz="3200" dirty="0" err="1">
                <a:latin typeface="Arial" panose="020B0604020202020204" pitchFamily="34" charset="0"/>
              </a:rPr>
              <a:t>cơ</a:t>
            </a:r>
            <a:r>
              <a:rPr lang="en-US" sz="3200" dirty="0">
                <a:latin typeface="Arial" panose="020B0604020202020204" pitchFamily="34" charset="0"/>
              </a:rPr>
              <a:t> </a:t>
            </a:r>
            <a:r>
              <a:rPr lang="en-US" sz="3200" dirty="0" err="1">
                <a:latin typeface="Arial" panose="020B0604020202020204" pitchFamily="34" charset="0"/>
              </a:rPr>
              <a:t>sở</a:t>
            </a:r>
            <a:r>
              <a:rPr lang="en-US" sz="3200" dirty="0">
                <a:latin typeface="Arial" panose="020B0604020202020204" pitchFamily="34" charset="0"/>
              </a:rPr>
              <a:t> </a:t>
            </a:r>
            <a:r>
              <a:rPr lang="en-US" sz="3200" dirty="0" err="1">
                <a:latin typeface="Arial" panose="020B0604020202020204" pitchFamily="34" charset="0"/>
              </a:rPr>
              <a:t>cho</a:t>
            </a:r>
            <a:r>
              <a:rPr lang="en-US" sz="3200" dirty="0">
                <a:latin typeface="Arial" panose="020B0604020202020204" pitchFamily="34" charset="0"/>
              </a:rPr>
              <a:t> </a:t>
            </a:r>
            <a:r>
              <a:rPr lang="en-US" sz="3200" dirty="0" err="1">
                <a:latin typeface="Arial" panose="020B0604020202020204" pitchFamily="34" charset="0"/>
              </a:rPr>
              <a:t>nhóm</a:t>
            </a:r>
            <a:r>
              <a:rPr lang="en-US" sz="3200" dirty="0">
                <a:latin typeface="Arial" panose="020B0604020202020204" pitchFamily="34" charset="0"/>
              </a:rPr>
              <a:t> </a:t>
            </a:r>
            <a:r>
              <a:rPr lang="en-US" sz="3200" dirty="0" err="1">
                <a:latin typeface="Arial" panose="020B0604020202020204" pitchFamily="34" charset="0"/>
              </a:rPr>
              <a:t>phát</a:t>
            </a:r>
            <a:r>
              <a:rPr lang="en-US" sz="3200" dirty="0">
                <a:latin typeface="Arial" panose="020B0604020202020204" pitchFamily="34" charset="0"/>
              </a:rPr>
              <a:t> </a:t>
            </a:r>
            <a:r>
              <a:rPr lang="en-US" sz="3200" dirty="0" err="1">
                <a:latin typeface="Arial" panose="020B0604020202020204" pitchFamily="34" charset="0"/>
              </a:rPr>
              <a:t>triển</a:t>
            </a:r>
            <a:r>
              <a:rPr lang="en-US" sz="3200" dirty="0">
                <a:latin typeface="Arial" panose="020B0604020202020204" pitchFamily="34" charset="0"/>
              </a:rPr>
              <a:t> </a:t>
            </a:r>
            <a:r>
              <a:rPr lang="en-US" sz="3200" dirty="0" err="1">
                <a:latin typeface="Arial" panose="020B0604020202020204" pitchFamily="34" charset="0"/>
              </a:rPr>
              <a:t>cũng</a:t>
            </a:r>
            <a:r>
              <a:rPr lang="en-US" sz="3200" dirty="0">
                <a:latin typeface="Arial" panose="020B0604020202020204" pitchFamily="34" charset="0"/>
              </a:rPr>
              <a:t> </a:t>
            </a:r>
            <a:r>
              <a:rPr lang="en-US" sz="3200" dirty="0" err="1">
                <a:latin typeface="Arial" panose="020B0604020202020204" pitchFamily="34" charset="0"/>
              </a:rPr>
              <a:t>như</a:t>
            </a:r>
            <a:r>
              <a:rPr lang="en-US" sz="3200" dirty="0">
                <a:latin typeface="Arial" panose="020B0604020202020204" pitchFamily="34" charset="0"/>
              </a:rPr>
              <a:t> </a:t>
            </a:r>
            <a:r>
              <a:rPr lang="en-US" sz="3200" dirty="0" err="1">
                <a:latin typeface="Arial" panose="020B0604020202020204" pitchFamily="34" charset="0"/>
              </a:rPr>
              <a:t>quản</a:t>
            </a:r>
            <a:r>
              <a:rPr lang="en-US" sz="3200" dirty="0">
                <a:latin typeface="Arial" panose="020B0604020202020204" pitchFamily="34" charset="0"/>
              </a:rPr>
              <a:t> </a:t>
            </a:r>
            <a:r>
              <a:rPr lang="en-US" sz="3200" dirty="0" err="1">
                <a:latin typeface="Arial" panose="020B0604020202020204" pitchFamily="34" charset="0"/>
              </a:rPr>
              <a:t>lý</a:t>
            </a:r>
            <a:r>
              <a:rPr lang="en-US" sz="3200" dirty="0">
                <a:latin typeface="Arial" panose="020B0604020202020204" pitchFamily="34" charset="0"/>
              </a:rPr>
              <a:t> </a:t>
            </a:r>
            <a:r>
              <a:rPr lang="en-US" sz="3200" dirty="0" err="1">
                <a:latin typeface="Arial" panose="020B0604020202020204" pitchFamily="34" charset="0"/>
              </a:rPr>
              <a:t>phần</a:t>
            </a:r>
            <a:r>
              <a:rPr lang="en-US" sz="3200" dirty="0">
                <a:latin typeface="Arial" panose="020B0604020202020204" pitchFamily="34" charset="0"/>
              </a:rPr>
              <a:t> </a:t>
            </a:r>
            <a:r>
              <a:rPr lang="en-US" sz="3200" dirty="0" err="1">
                <a:latin typeface="Arial" panose="020B0604020202020204" pitchFamily="34" charset="0"/>
              </a:rPr>
              <a:t>mềm</a:t>
            </a:r>
            <a:r>
              <a:rPr lang="en-US" sz="3200" dirty="0">
                <a:latin typeface="Arial" panose="020B0604020202020204" pitchFamily="34" charset="0"/>
              </a:rPr>
              <a:t> </a:t>
            </a:r>
            <a:r>
              <a:rPr lang="en-US" sz="3200" dirty="0" err="1">
                <a:latin typeface="Arial" panose="020B0604020202020204" pitchFamily="34" charset="0"/>
              </a:rPr>
              <a:t>sử</a:t>
            </a:r>
            <a:r>
              <a:rPr lang="en-US" sz="3200" dirty="0">
                <a:latin typeface="Arial" panose="020B0604020202020204" pitchFamily="34" charset="0"/>
              </a:rPr>
              <a:t> </a:t>
            </a:r>
            <a:r>
              <a:rPr lang="en-US" sz="3200" dirty="0" err="1">
                <a:latin typeface="Arial" panose="020B0604020202020204" pitchFamily="34" charset="0"/>
              </a:rPr>
              <a:t>dụng</a:t>
            </a:r>
            <a:endParaRPr lang="en-US" sz="3200"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22</a:t>
            </a:fld>
            <a:endParaRPr lang="en-US" sz="2000" b="1">
              <a:solidFill>
                <a:srgbClr val="FF0000"/>
              </a:solidFill>
            </a:endParaRPr>
          </a:p>
        </p:txBody>
      </p:sp>
      <p:sp>
        <p:nvSpPr>
          <p:cNvPr id="13" name="TextBox 12"/>
          <p:cNvSpPr txBox="1"/>
          <p:nvPr/>
        </p:nvSpPr>
        <p:spPr>
          <a:xfrm>
            <a:off x="27709" y="1060103"/>
            <a:ext cx="8226425" cy="523220"/>
          </a:xfrm>
          <a:prstGeom prst="rect">
            <a:avLst/>
          </a:prstGeom>
          <a:noFill/>
        </p:spPr>
        <p:txBody>
          <a:bodyPr wrap="square" rtlCol="0">
            <a:spAutoFit/>
          </a:bodyPr>
          <a:lstStyle/>
          <a:p>
            <a:r>
              <a:rPr lang="en-US" sz="2800" b="1">
                <a:solidFill>
                  <a:srgbClr val="FF0000"/>
                </a:solidFill>
                <a:latin typeface="Arial" panose="020B0604020202020204" pitchFamily="34" charset="0"/>
              </a:rPr>
              <a:t>Workflow</a:t>
            </a:r>
          </a:p>
        </p:txBody>
      </p:sp>
      <p:sp>
        <p:nvSpPr>
          <p:cNvPr id="7" name="Rounded Rectangle 6"/>
          <p:cNvSpPr/>
          <p:nvPr/>
        </p:nvSpPr>
        <p:spPr>
          <a:xfrm>
            <a:off x="323377" y="1643050"/>
            <a:ext cx="8143932" cy="1285884"/>
          </a:xfrm>
          <a:prstGeom prst="roundRect">
            <a:avLst/>
          </a:prstGeom>
          <a:solidFill>
            <a:schemeClr val="tx2">
              <a:lumMod val="20000"/>
              <a:lumOff val="8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p:cNvSpPr/>
          <p:nvPr/>
        </p:nvSpPr>
        <p:spPr>
          <a:xfrm>
            <a:off x="394815" y="4143380"/>
            <a:ext cx="7929618" cy="1643074"/>
          </a:xfrm>
          <a:prstGeom prst="roundRect">
            <a:avLst/>
          </a:prstGeom>
          <a:solidFill>
            <a:schemeClr val="tx2">
              <a:lumMod val="20000"/>
              <a:lumOff val="8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dirty="0">
                <a:solidFill>
                  <a:srgbClr val="C00000"/>
                </a:solidFill>
              </a:rPr>
              <a:t>Requirement Management &amp; Traceability</a:t>
            </a:r>
          </a:p>
        </p:txBody>
      </p:sp>
      <p:sp>
        <p:nvSpPr>
          <p:cNvPr id="9" name="Rectangle 8"/>
          <p:cNvSpPr/>
          <p:nvPr/>
        </p:nvSpPr>
        <p:spPr>
          <a:xfrm>
            <a:off x="680567" y="1785926"/>
            <a:ext cx="2071702"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Elicit &amp; Analyze Requirements</a:t>
            </a:r>
          </a:p>
        </p:txBody>
      </p:sp>
      <p:sp>
        <p:nvSpPr>
          <p:cNvPr id="14" name="Rectangle 13"/>
          <p:cNvSpPr/>
          <p:nvPr/>
        </p:nvSpPr>
        <p:spPr>
          <a:xfrm>
            <a:off x="3323773" y="1785926"/>
            <a:ext cx="2143140"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Develop SRS</a:t>
            </a:r>
          </a:p>
        </p:txBody>
      </p:sp>
      <p:sp>
        <p:nvSpPr>
          <p:cNvPr id="15" name="Rectangle 14"/>
          <p:cNvSpPr/>
          <p:nvPr/>
        </p:nvSpPr>
        <p:spPr>
          <a:xfrm>
            <a:off x="6181293" y="1785926"/>
            <a:ext cx="1928826"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Validate Requirements</a:t>
            </a:r>
          </a:p>
        </p:txBody>
      </p:sp>
      <p:sp>
        <p:nvSpPr>
          <p:cNvPr id="16" name="Rectangle 15"/>
          <p:cNvSpPr/>
          <p:nvPr/>
        </p:nvSpPr>
        <p:spPr>
          <a:xfrm>
            <a:off x="6038417" y="4643446"/>
            <a:ext cx="2000264"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Manage Traceability</a:t>
            </a:r>
          </a:p>
        </p:txBody>
      </p:sp>
      <p:sp>
        <p:nvSpPr>
          <p:cNvPr id="17" name="Rectangle 16"/>
          <p:cNvSpPr/>
          <p:nvPr/>
        </p:nvSpPr>
        <p:spPr>
          <a:xfrm>
            <a:off x="3323773" y="4643446"/>
            <a:ext cx="2000264"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Manage Requirement Status</a:t>
            </a:r>
          </a:p>
        </p:txBody>
      </p:sp>
      <p:sp>
        <p:nvSpPr>
          <p:cNvPr id="18" name="Rectangle 17"/>
          <p:cNvSpPr/>
          <p:nvPr/>
        </p:nvSpPr>
        <p:spPr>
          <a:xfrm>
            <a:off x="752005" y="4643446"/>
            <a:ext cx="2000264"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Manage Requirement Changes</a:t>
            </a:r>
          </a:p>
        </p:txBody>
      </p:sp>
      <p:cxnSp>
        <p:nvCxnSpPr>
          <p:cNvPr id="19" name="Elbow Connector 18"/>
          <p:cNvCxnSpPr>
            <a:stCxn id="15" idx="3"/>
            <a:endCxn id="16" idx="3"/>
          </p:cNvCxnSpPr>
          <p:nvPr/>
        </p:nvCxnSpPr>
        <p:spPr>
          <a:xfrm flipH="1">
            <a:off x="8038681" y="2285992"/>
            <a:ext cx="71438" cy="2857520"/>
          </a:xfrm>
          <a:prstGeom prst="bentConnector3">
            <a:avLst>
              <a:gd name="adj1" fmla="val -731425"/>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sp>
        <p:nvSpPr>
          <p:cNvPr id="20" name="Flowchart: Document 19"/>
          <p:cNvSpPr/>
          <p:nvPr/>
        </p:nvSpPr>
        <p:spPr>
          <a:xfrm>
            <a:off x="1180633" y="3286124"/>
            <a:ext cx="1785950" cy="642942"/>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Analysis Records</a:t>
            </a:r>
          </a:p>
        </p:txBody>
      </p:sp>
      <p:sp>
        <p:nvSpPr>
          <p:cNvPr id="21" name="Flowchart: Document 20"/>
          <p:cNvSpPr/>
          <p:nvPr/>
        </p:nvSpPr>
        <p:spPr>
          <a:xfrm>
            <a:off x="3504221" y="3286124"/>
            <a:ext cx="1785950" cy="642942"/>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u="sng" dirty="0">
                <a:solidFill>
                  <a:srgbClr val="FF0000"/>
                </a:solidFill>
                <a:hlinkClick r:id="rId3" action="ppaction://hlinkfile"/>
              </a:rPr>
              <a:t>SRS</a:t>
            </a:r>
            <a:endParaRPr lang="en-US" sz="2800" b="1" i="1" u="sng" dirty="0">
              <a:solidFill>
                <a:srgbClr val="FF0000"/>
              </a:solidFill>
            </a:endParaRPr>
          </a:p>
        </p:txBody>
      </p:sp>
      <p:sp>
        <p:nvSpPr>
          <p:cNvPr id="22" name="Flowchart: Document 21"/>
          <p:cNvSpPr/>
          <p:nvPr/>
        </p:nvSpPr>
        <p:spPr>
          <a:xfrm>
            <a:off x="5824103" y="3286124"/>
            <a:ext cx="1785950" cy="642942"/>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Review Records</a:t>
            </a:r>
          </a:p>
        </p:txBody>
      </p:sp>
      <p:sp>
        <p:nvSpPr>
          <p:cNvPr id="23" name="Flowchart: Document 22"/>
          <p:cNvSpPr/>
          <p:nvPr/>
        </p:nvSpPr>
        <p:spPr>
          <a:xfrm>
            <a:off x="1180633" y="6215082"/>
            <a:ext cx="1785950" cy="533384"/>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hlinkClick r:id="rId4" action="ppaction://hlinkfile"/>
              </a:rPr>
              <a:t>RM Sheet</a:t>
            </a:r>
            <a:endParaRPr lang="en-US" dirty="0">
              <a:solidFill>
                <a:sysClr val="windowText" lastClr="000000"/>
              </a:solidFill>
            </a:endParaRPr>
          </a:p>
        </p:txBody>
      </p:sp>
      <p:sp>
        <p:nvSpPr>
          <p:cNvPr id="24" name="Flowchart: Document 23"/>
          <p:cNvSpPr/>
          <p:nvPr/>
        </p:nvSpPr>
        <p:spPr>
          <a:xfrm>
            <a:off x="3538087" y="6215082"/>
            <a:ext cx="1785950" cy="533384"/>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Change Records</a:t>
            </a:r>
          </a:p>
        </p:txBody>
      </p:sp>
      <p:sp>
        <p:nvSpPr>
          <p:cNvPr id="25" name="Flowchart: Document 24"/>
          <p:cNvSpPr/>
          <p:nvPr/>
        </p:nvSpPr>
        <p:spPr>
          <a:xfrm>
            <a:off x="5824103" y="6215082"/>
            <a:ext cx="1785950" cy="533384"/>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Updated SRS</a:t>
            </a:r>
          </a:p>
        </p:txBody>
      </p:sp>
      <p:cxnSp>
        <p:nvCxnSpPr>
          <p:cNvPr id="26" name="Elbow Connector 25"/>
          <p:cNvCxnSpPr>
            <a:stCxn id="7" idx="2"/>
            <a:endCxn id="20" idx="0"/>
          </p:cNvCxnSpPr>
          <p:nvPr/>
        </p:nvCxnSpPr>
        <p:spPr>
          <a:xfrm rot="5400000">
            <a:off x="3055881" y="1946662"/>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7" idx="2"/>
            <a:endCxn id="21" idx="0"/>
          </p:cNvCxnSpPr>
          <p:nvPr/>
        </p:nvCxnSpPr>
        <p:spPr>
          <a:xfrm rot="16200000" flipH="1">
            <a:off x="4217674" y="3106602"/>
            <a:ext cx="357190" cy="1853"/>
          </a:xfrm>
          <a:prstGeom prst="straightConnector1">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7" idx="2"/>
            <a:endCxn id="22" idx="0"/>
          </p:cNvCxnSpPr>
          <p:nvPr/>
        </p:nvCxnSpPr>
        <p:spPr>
          <a:xfrm rot="16200000" flipH="1">
            <a:off x="5377615" y="1946661"/>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9" name="Elbow Connector 28"/>
          <p:cNvCxnSpPr/>
          <p:nvPr/>
        </p:nvCxnSpPr>
        <p:spPr>
          <a:xfrm rot="5400000">
            <a:off x="2948724" y="4804181"/>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4108665" y="5964122"/>
            <a:ext cx="357190" cy="1853"/>
          </a:xfrm>
          <a:prstGeom prst="straightConnector1">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1" name="Elbow Connector 30"/>
          <p:cNvCxnSpPr/>
          <p:nvPr/>
        </p:nvCxnSpPr>
        <p:spPr>
          <a:xfrm rot="16200000" flipH="1">
            <a:off x="5270458" y="4804180"/>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9" idx="3"/>
            <a:endCxn id="14" idx="1"/>
          </p:cNvCxnSpPr>
          <p:nvPr/>
        </p:nvCxnSpPr>
        <p:spPr>
          <a:xfrm>
            <a:off x="2752269" y="2285992"/>
            <a:ext cx="571504"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4" idx="3"/>
            <a:endCxn id="15" idx="1"/>
          </p:cNvCxnSpPr>
          <p:nvPr/>
        </p:nvCxnSpPr>
        <p:spPr>
          <a:xfrm>
            <a:off x="5466913" y="2285992"/>
            <a:ext cx="714380"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1"/>
            <a:endCxn id="17" idx="3"/>
          </p:cNvCxnSpPr>
          <p:nvPr/>
        </p:nvCxnSpPr>
        <p:spPr>
          <a:xfrm rot="10800000">
            <a:off x="5324037" y="5143512"/>
            <a:ext cx="714380"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7" idx="1"/>
          </p:cNvCxnSpPr>
          <p:nvPr/>
        </p:nvCxnSpPr>
        <p:spPr>
          <a:xfrm rot="10800000">
            <a:off x="2752271" y="5143512"/>
            <a:ext cx="571503"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23</a:t>
            </a:fld>
            <a:endParaRPr lang="en-US" sz="2000" b="1">
              <a:solidFill>
                <a:srgbClr val="FF0000"/>
              </a:solidFill>
            </a:endParaRPr>
          </a:p>
        </p:txBody>
      </p:sp>
      <p:sp>
        <p:nvSpPr>
          <p:cNvPr id="13" name="TextBox 12"/>
          <p:cNvSpPr txBox="1"/>
          <p:nvPr/>
        </p:nvSpPr>
        <p:spPr>
          <a:xfrm>
            <a:off x="458787" y="1352491"/>
            <a:ext cx="8685213" cy="4031873"/>
          </a:xfrm>
          <a:prstGeom prst="rect">
            <a:avLst/>
          </a:prstGeom>
          <a:noFill/>
        </p:spPr>
        <p:txBody>
          <a:bodyPr wrap="square" rtlCol="0">
            <a:spAutoFit/>
          </a:bodyPr>
          <a:lstStyle/>
          <a:p>
            <a:r>
              <a:rPr lang="en-US" sz="3200" b="1">
                <a:solidFill>
                  <a:srgbClr val="FF0000"/>
                </a:solidFill>
                <a:latin typeface="Arial" panose="020B0604020202020204" pitchFamily="34" charset="0"/>
              </a:rPr>
              <a:t>Elicit Requirements</a:t>
            </a:r>
          </a:p>
          <a:p>
            <a:endParaRPr lang="en-US" sz="3200" b="1">
              <a:solidFill>
                <a:srgbClr val="FF0000"/>
              </a:solidFill>
              <a:latin typeface="Arial" panose="020B0604020202020204" pitchFamily="34" charset="0"/>
            </a:endParaRPr>
          </a:p>
          <a:p>
            <a:pPr marL="457200" indent="-457200">
              <a:buFont typeface="Arial" panose="020B0604020202020204" pitchFamily="34" charset="0"/>
              <a:buChar char="•"/>
            </a:pPr>
            <a:r>
              <a:rPr lang="en-US" sz="3200">
                <a:latin typeface="Arial" panose="020B0604020202020204" pitchFamily="34" charset="0"/>
              </a:rPr>
              <a:t>Đôi khi còn được gọi là khám phá yêu cầu (Requirement Discovery)</a:t>
            </a:r>
          </a:p>
          <a:p>
            <a:pPr marL="457200" indent="-457200">
              <a:buFont typeface="Arial" panose="020B0604020202020204" pitchFamily="34" charset="0"/>
              <a:buChar char="•"/>
            </a:pPr>
            <a:r>
              <a:rPr lang="en-US" sz="3200">
                <a:latin typeface="Arial" panose="020B0604020202020204" pitchFamily="34" charset="0"/>
              </a:rPr>
              <a:t>Yêu cầu đôi khi không tự đến, ta phải làm việc, trao đổi với customers / stakeholders để xác định được các chức năng cũng như các ràng buộc của hệ thống</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24</a:t>
            </a:fld>
            <a:endParaRPr lang="en-US" sz="2000" b="1">
              <a:solidFill>
                <a:srgbClr val="FF0000"/>
              </a:solidFill>
            </a:endParaRPr>
          </a:p>
        </p:txBody>
      </p:sp>
      <p:sp>
        <p:nvSpPr>
          <p:cNvPr id="13" name="TextBox 12"/>
          <p:cNvSpPr txBox="1"/>
          <p:nvPr/>
        </p:nvSpPr>
        <p:spPr>
          <a:xfrm>
            <a:off x="458787" y="1352491"/>
            <a:ext cx="8685213" cy="584775"/>
          </a:xfrm>
          <a:prstGeom prst="rect">
            <a:avLst/>
          </a:prstGeom>
          <a:noFill/>
        </p:spPr>
        <p:txBody>
          <a:bodyPr wrap="square" rtlCol="0">
            <a:spAutoFit/>
          </a:bodyPr>
          <a:lstStyle/>
          <a:p>
            <a:r>
              <a:rPr lang="en-US" sz="3200" b="1">
                <a:solidFill>
                  <a:srgbClr val="FF0000"/>
                </a:solidFill>
                <a:latin typeface="Arial" panose="020B0604020202020204" pitchFamily="34" charset="0"/>
              </a:rPr>
              <a:t>Elicit Requirements - Stakeholders </a:t>
            </a:r>
          </a:p>
        </p:txBody>
      </p:sp>
      <p:pic>
        <p:nvPicPr>
          <p:cNvPr id="3074" name="Picture 2" descr="C:\Users\Lenovo\AppData\Local\Microsoft\Windows\INetCache\IE\G5QTQY1A\5858-Hospital-Patient-In-A-Bed-A-Fish-In-His-IV-Container-Clipart-Illustration[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429000"/>
            <a:ext cx="2139950" cy="2667528"/>
          </a:xfrm>
          <a:prstGeom prst="rect">
            <a:avLst/>
          </a:prstGeom>
          <a:noFill/>
          <a:extLst>
            <a:ext uri="{909E8E84-426E-40DD-AFC4-6F175D3DCCD1}">
              <a14:hiddenFill xmlns:a14="http://schemas.microsoft.com/office/drawing/2010/main">
                <a:solidFill>
                  <a:srgbClr val="FFFFFF"/>
                </a:solidFill>
              </a14:hiddenFill>
            </a:ext>
          </a:extLst>
        </p:spPr>
      </p:pic>
      <p:sp>
        <p:nvSpPr>
          <p:cNvPr id="8" name="Flowchart: Alternate Process 7"/>
          <p:cNvSpPr/>
          <p:nvPr/>
        </p:nvSpPr>
        <p:spPr>
          <a:xfrm>
            <a:off x="3429001" y="2137321"/>
            <a:ext cx="1981200" cy="758279"/>
          </a:xfrm>
          <a:prstGeom prst="flowChartAlternateProcess">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b="1"/>
              <a:t>Patients</a:t>
            </a:r>
          </a:p>
        </p:txBody>
      </p:sp>
      <p:sp>
        <p:nvSpPr>
          <p:cNvPr id="9" name="Flowchart: Alternate Process 8"/>
          <p:cNvSpPr/>
          <p:nvPr/>
        </p:nvSpPr>
        <p:spPr>
          <a:xfrm>
            <a:off x="6019800" y="2137320"/>
            <a:ext cx="1981200" cy="758279"/>
          </a:xfrm>
          <a:prstGeom prst="flowChartAlternateProcess">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b="1"/>
              <a:t>Nurses</a:t>
            </a:r>
          </a:p>
        </p:txBody>
      </p:sp>
      <p:sp>
        <p:nvSpPr>
          <p:cNvPr id="14" name="Flowchart: Alternate Process 13"/>
          <p:cNvSpPr/>
          <p:nvPr/>
        </p:nvSpPr>
        <p:spPr>
          <a:xfrm>
            <a:off x="3429001" y="3200400"/>
            <a:ext cx="1981200" cy="758279"/>
          </a:xfrm>
          <a:prstGeom prst="flowChartAlternateProcess">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b="1"/>
              <a:t>Doctors</a:t>
            </a:r>
          </a:p>
        </p:txBody>
      </p:sp>
      <p:sp>
        <p:nvSpPr>
          <p:cNvPr id="15" name="Flowchart: Alternate Process 14"/>
          <p:cNvSpPr/>
          <p:nvPr/>
        </p:nvSpPr>
        <p:spPr>
          <a:xfrm>
            <a:off x="6033655" y="3200400"/>
            <a:ext cx="1981200" cy="758279"/>
          </a:xfrm>
          <a:prstGeom prst="flowChartAlternateProcess">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b="1"/>
              <a:t>IT Staffs</a:t>
            </a:r>
          </a:p>
        </p:txBody>
      </p:sp>
      <p:sp>
        <p:nvSpPr>
          <p:cNvPr id="16" name="Flowchart: Alternate Process 15"/>
          <p:cNvSpPr/>
          <p:nvPr/>
        </p:nvSpPr>
        <p:spPr>
          <a:xfrm>
            <a:off x="3429001" y="4383624"/>
            <a:ext cx="2576945" cy="758279"/>
          </a:xfrm>
          <a:prstGeom prst="flowChartAlternateProcess">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b="1"/>
              <a:t>Receptionists</a:t>
            </a:r>
          </a:p>
        </p:txBody>
      </p:sp>
      <p:sp>
        <p:nvSpPr>
          <p:cNvPr id="17" name="Flowchart: Alternate Process 16"/>
          <p:cNvSpPr/>
          <p:nvPr/>
        </p:nvSpPr>
        <p:spPr>
          <a:xfrm>
            <a:off x="3429001" y="5562600"/>
            <a:ext cx="1981200" cy="758279"/>
          </a:xfrm>
          <a:prstGeom prst="flowChartAlternateProcess">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b="1"/>
              <a:t>More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25</a:t>
            </a:fld>
            <a:endParaRPr lang="en-US" sz="2000" b="1">
              <a:solidFill>
                <a:srgbClr val="FF0000"/>
              </a:solidFill>
            </a:endParaRPr>
          </a:p>
        </p:txBody>
      </p:sp>
      <p:sp>
        <p:nvSpPr>
          <p:cNvPr id="13" name="TextBox 12"/>
          <p:cNvSpPr txBox="1"/>
          <p:nvPr/>
        </p:nvSpPr>
        <p:spPr>
          <a:xfrm>
            <a:off x="458787" y="1352491"/>
            <a:ext cx="8685213" cy="4524315"/>
          </a:xfrm>
          <a:prstGeom prst="rect">
            <a:avLst/>
          </a:prstGeom>
          <a:noFill/>
        </p:spPr>
        <p:txBody>
          <a:bodyPr wrap="square" rtlCol="0">
            <a:spAutoFit/>
          </a:bodyPr>
          <a:lstStyle/>
          <a:p>
            <a:r>
              <a:rPr lang="en-US" sz="3200" b="1" dirty="0" err="1" smtClean="0">
                <a:solidFill>
                  <a:srgbClr val="FF0000"/>
                </a:solidFill>
                <a:latin typeface="Arial" panose="020B0604020202020204" pitchFamily="34" charset="0"/>
              </a:rPr>
              <a:t>Analize</a:t>
            </a:r>
            <a:r>
              <a:rPr lang="en-US" sz="3200" b="1" dirty="0" smtClean="0">
                <a:solidFill>
                  <a:srgbClr val="FF0000"/>
                </a:solidFill>
                <a:latin typeface="Arial" panose="020B0604020202020204" pitchFamily="34" charset="0"/>
              </a:rPr>
              <a:t> </a:t>
            </a:r>
            <a:r>
              <a:rPr lang="en-US" sz="3200" b="1" dirty="0">
                <a:solidFill>
                  <a:srgbClr val="FF0000"/>
                </a:solidFill>
                <a:latin typeface="Arial" panose="020B0604020202020204" pitchFamily="34" charset="0"/>
              </a:rPr>
              <a:t>Requirements</a:t>
            </a:r>
          </a:p>
          <a:p>
            <a:endParaRPr lang="en-US" sz="3200" b="1" dirty="0">
              <a:solidFill>
                <a:srgbClr val="FF0000"/>
              </a:solidFill>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Phát</a:t>
            </a:r>
            <a:r>
              <a:rPr lang="en-US" sz="3200" dirty="0">
                <a:latin typeface="Arial" panose="020B0604020202020204" pitchFamily="34" charset="0"/>
              </a:rPr>
              <a:t> </a:t>
            </a:r>
            <a:r>
              <a:rPr lang="en-US" sz="3200" dirty="0" err="1">
                <a:latin typeface="Arial" panose="020B0604020202020204" pitchFamily="34" charset="0"/>
              </a:rPr>
              <a:t>hiện</a:t>
            </a:r>
            <a:r>
              <a:rPr lang="en-US" sz="3200" dirty="0">
                <a:latin typeface="Arial" panose="020B0604020202020204" pitchFamily="34" charset="0"/>
              </a:rPr>
              <a:t> </a:t>
            </a:r>
            <a:r>
              <a:rPr lang="en-US" sz="3200" dirty="0" err="1">
                <a:latin typeface="Arial" panose="020B0604020202020204" pitchFamily="34" charset="0"/>
              </a:rPr>
              <a:t>và</a:t>
            </a:r>
            <a:r>
              <a:rPr lang="en-US" sz="3200" dirty="0">
                <a:latin typeface="Arial" panose="020B0604020202020204" pitchFamily="34" charset="0"/>
              </a:rPr>
              <a:t> </a:t>
            </a:r>
            <a:r>
              <a:rPr lang="en-US" sz="3200" dirty="0" err="1">
                <a:latin typeface="Arial" panose="020B0604020202020204" pitchFamily="34" charset="0"/>
              </a:rPr>
              <a:t>giải</a:t>
            </a:r>
            <a:r>
              <a:rPr lang="en-US" sz="3200" dirty="0">
                <a:latin typeface="Arial" panose="020B0604020202020204" pitchFamily="34" charset="0"/>
              </a:rPr>
              <a:t> </a:t>
            </a:r>
            <a:r>
              <a:rPr lang="en-US" sz="3200" dirty="0" err="1">
                <a:latin typeface="Arial" panose="020B0604020202020204" pitchFamily="34" charset="0"/>
              </a:rPr>
              <a:t>quyết</a:t>
            </a:r>
            <a:r>
              <a:rPr lang="en-US" sz="3200" dirty="0">
                <a:latin typeface="Arial" panose="020B0604020202020204" pitchFamily="34" charset="0"/>
              </a:rPr>
              <a:t> </a:t>
            </a:r>
            <a:r>
              <a:rPr lang="en-US" sz="3200" dirty="0" err="1">
                <a:latin typeface="Arial" panose="020B0604020202020204" pitchFamily="34" charset="0"/>
              </a:rPr>
              <a:t>mâu</a:t>
            </a:r>
            <a:r>
              <a:rPr lang="en-US" sz="3200" dirty="0">
                <a:latin typeface="Arial" panose="020B0604020202020204" pitchFamily="34" charset="0"/>
              </a:rPr>
              <a:t> </a:t>
            </a:r>
            <a:r>
              <a:rPr lang="en-US" sz="3200" dirty="0" err="1">
                <a:latin typeface="Arial" panose="020B0604020202020204" pitchFamily="34" charset="0"/>
              </a:rPr>
              <a:t>thuẫn</a:t>
            </a:r>
            <a:r>
              <a:rPr lang="en-US" sz="3200" dirty="0">
                <a:latin typeface="Arial" panose="020B0604020202020204" pitchFamily="34" charset="0"/>
              </a:rPr>
              <a:t> </a:t>
            </a:r>
            <a:r>
              <a:rPr lang="en-US" sz="3200" dirty="0" err="1">
                <a:latin typeface="Arial" panose="020B0604020202020204" pitchFamily="34" charset="0"/>
              </a:rPr>
              <a:t>trong</a:t>
            </a:r>
            <a:r>
              <a:rPr lang="en-US" sz="3200" dirty="0">
                <a:latin typeface="Arial" panose="020B0604020202020204" pitchFamily="34" charset="0"/>
              </a:rPr>
              <a:t> </a:t>
            </a:r>
            <a:r>
              <a:rPr lang="en-US" sz="3200" dirty="0" err="1">
                <a:latin typeface="Arial" panose="020B0604020202020204" pitchFamily="34" charset="0"/>
              </a:rPr>
              <a:t>các</a:t>
            </a:r>
            <a:r>
              <a:rPr lang="en-US" sz="3200" dirty="0">
                <a:latin typeface="Arial" panose="020B0604020202020204" pitchFamily="34" charset="0"/>
              </a:rPr>
              <a:t> </a:t>
            </a:r>
            <a:r>
              <a:rPr lang="en-US" sz="3200" dirty="0" err="1">
                <a:latin typeface="Arial" panose="020B0604020202020204" pitchFamily="34" charset="0"/>
              </a:rPr>
              <a:t>yêu</a:t>
            </a:r>
            <a:r>
              <a:rPr lang="en-US" sz="3200" dirty="0">
                <a:latin typeface="Arial" panose="020B0604020202020204" pitchFamily="34" charset="0"/>
              </a:rPr>
              <a:t> </a:t>
            </a:r>
            <a:r>
              <a:rPr lang="en-US" sz="3200" dirty="0" err="1">
                <a:latin typeface="Arial" panose="020B0604020202020204" pitchFamily="34" charset="0"/>
              </a:rPr>
              <a:t>cầu</a:t>
            </a:r>
            <a:endParaRPr lang="en-US" sz="3200" dirty="0">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Xác</a:t>
            </a:r>
            <a:r>
              <a:rPr lang="en-US" sz="3200" dirty="0">
                <a:latin typeface="Arial" panose="020B0604020202020204" pitchFamily="34" charset="0"/>
              </a:rPr>
              <a:t> </a:t>
            </a:r>
            <a:r>
              <a:rPr lang="en-US" sz="3200" dirty="0" err="1">
                <a:latin typeface="Arial" panose="020B0604020202020204" pitchFamily="34" charset="0"/>
              </a:rPr>
              <a:t>định</a:t>
            </a:r>
            <a:r>
              <a:rPr lang="en-US" sz="3200" dirty="0">
                <a:latin typeface="Arial" panose="020B0604020202020204" pitchFamily="34" charset="0"/>
              </a:rPr>
              <a:t> </a:t>
            </a:r>
            <a:r>
              <a:rPr lang="en-US" sz="3200" dirty="0" err="1">
                <a:latin typeface="Arial" panose="020B0604020202020204" pitchFamily="34" charset="0"/>
              </a:rPr>
              <a:t>được</a:t>
            </a:r>
            <a:r>
              <a:rPr lang="en-US" sz="3200" dirty="0">
                <a:latin typeface="Arial" panose="020B0604020202020204" pitchFamily="34" charset="0"/>
              </a:rPr>
              <a:t> </a:t>
            </a:r>
            <a:r>
              <a:rPr lang="en-US" sz="3200" dirty="0" err="1">
                <a:latin typeface="Arial" panose="020B0604020202020204" pitchFamily="34" charset="0"/>
              </a:rPr>
              <a:t>các</a:t>
            </a:r>
            <a:r>
              <a:rPr lang="en-US" sz="3200" dirty="0">
                <a:latin typeface="Arial" panose="020B0604020202020204" pitchFamily="34" charset="0"/>
              </a:rPr>
              <a:t> </a:t>
            </a:r>
            <a:r>
              <a:rPr lang="en-US" sz="3200" dirty="0" err="1">
                <a:latin typeface="Arial" panose="020B0604020202020204" pitchFamily="34" charset="0"/>
              </a:rPr>
              <a:t>phạm</a:t>
            </a:r>
            <a:r>
              <a:rPr lang="en-US" sz="3200" dirty="0">
                <a:latin typeface="Arial" panose="020B0604020202020204" pitchFamily="34" charset="0"/>
              </a:rPr>
              <a:t> vi </a:t>
            </a:r>
            <a:r>
              <a:rPr lang="en-US" sz="3200" dirty="0" err="1">
                <a:latin typeface="Arial" panose="020B0604020202020204" pitchFamily="34" charset="0"/>
              </a:rPr>
              <a:t>của</a:t>
            </a:r>
            <a:r>
              <a:rPr lang="en-US" sz="3200" dirty="0">
                <a:latin typeface="Arial" panose="020B0604020202020204" pitchFamily="34" charset="0"/>
              </a:rPr>
              <a:t> </a:t>
            </a:r>
            <a:r>
              <a:rPr lang="en-US" sz="3200" dirty="0" err="1">
                <a:latin typeface="Arial" panose="020B0604020202020204" pitchFamily="34" charset="0"/>
              </a:rPr>
              <a:t>phần</a:t>
            </a:r>
            <a:r>
              <a:rPr lang="en-US" sz="3200" dirty="0">
                <a:latin typeface="Arial" panose="020B0604020202020204" pitchFamily="34" charset="0"/>
              </a:rPr>
              <a:t> </a:t>
            </a:r>
            <a:r>
              <a:rPr lang="en-US" sz="3200" dirty="0" err="1">
                <a:latin typeface="Arial" panose="020B0604020202020204" pitchFamily="34" charset="0"/>
              </a:rPr>
              <a:t>mềm</a:t>
            </a:r>
            <a:r>
              <a:rPr lang="en-US" sz="3200" dirty="0">
                <a:latin typeface="Arial" panose="020B0604020202020204" pitchFamily="34" charset="0"/>
              </a:rPr>
              <a:t> </a:t>
            </a:r>
            <a:r>
              <a:rPr lang="en-US" sz="3200" dirty="0" err="1">
                <a:latin typeface="Arial" panose="020B0604020202020204" pitchFamily="34" charset="0"/>
              </a:rPr>
              <a:t>và</a:t>
            </a:r>
            <a:r>
              <a:rPr lang="en-US" sz="3200" dirty="0">
                <a:latin typeface="Arial" panose="020B0604020202020204" pitchFamily="34" charset="0"/>
              </a:rPr>
              <a:t> </a:t>
            </a:r>
            <a:r>
              <a:rPr lang="en-US" sz="3200" dirty="0" err="1">
                <a:latin typeface="Arial" panose="020B0604020202020204" pitchFamily="34" charset="0"/>
              </a:rPr>
              <a:t>cách</a:t>
            </a:r>
            <a:r>
              <a:rPr lang="en-US" sz="3200" dirty="0">
                <a:latin typeface="Arial" panose="020B0604020202020204" pitchFamily="34" charset="0"/>
              </a:rPr>
              <a:t> </a:t>
            </a:r>
            <a:r>
              <a:rPr lang="en-US" sz="3200" dirty="0" err="1">
                <a:latin typeface="Arial" panose="020B0604020202020204" pitchFamily="34" charset="0"/>
              </a:rPr>
              <a:t>thức</a:t>
            </a:r>
            <a:r>
              <a:rPr lang="en-US" sz="3200" dirty="0">
                <a:latin typeface="Arial" panose="020B0604020202020204" pitchFamily="34" charset="0"/>
              </a:rPr>
              <a:t> </a:t>
            </a:r>
            <a:r>
              <a:rPr lang="en-US" sz="3200" dirty="0" err="1">
                <a:latin typeface="Arial" panose="020B0604020202020204" pitchFamily="34" charset="0"/>
              </a:rPr>
              <a:t>chúng</a:t>
            </a:r>
            <a:r>
              <a:rPr lang="en-US" sz="3200" dirty="0">
                <a:latin typeface="Arial" panose="020B0604020202020204" pitchFamily="34" charset="0"/>
              </a:rPr>
              <a:t> </a:t>
            </a:r>
            <a:r>
              <a:rPr lang="en-US" sz="3200" dirty="0" err="1">
                <a:latin typeface="Arial" panose="020B0604020202020204" pitchFamily="34" charset="0"/>
              </a:rPr>
              <a:t>tương</a:t>
            </a:r>
            <a:r>
              <a:rPr lang="en-US" sz="3200" dirty="0">
                <a:latin typeface="Arial" panose="020B0604020202020204" pitchFamily="34" charset="0"/>
              </a:rPr>
              <a:t> </a:t>
            </a:r>
            <a:r>
              <a:rPr lang="en-US" sz="3200" dirty="0" err="1">
                <a:latin typeface="Arial" panose="020B0604020202020204" pitchFamily="34" charset="0"/>
              </a:rPr>
              <a:t>tác</a:t>
            </a:r>
            <a:r>
              <a:rPr lang="en-US" sz="3200" dirty="0">
                <a:latin typeface="Arial" panose="020B0604020202020204" pitchFamily="34" charset="0"/>
              </a:rPr>
              <a:t> </a:t>
            </a:r>
            <a:r>
              <a:rPr lang="en-US" sz="3200" dirty="0" err="1">
                <a:latin typeface="Arial" panose="020B0604020202020204" pitchFamily="34" charset="0"/>
              </a:rPr>
              <a:t>với</a:t>
            </a:r>
            <a:r>
              <a:rPr lang="en-US" sz="3200" dirty="0">
                <a:latin typeface="Arial" panose="020B0604020202020204" pitchFamily="34" charset="0"/>
              </a:rPr>
              <a:t> </a:t>
            </a:r>
            <a:r>
              <a:rPr lang="en-US" sz="3200" dirty="0" err="1">
                <a:latin typeface="Arial" panose="020B0604020202020204" pitchFamily="34" charset="0"/>
              </a:rPr>
              <a:t>môi</a:t>
            </a:r>
            <a:r>
              <a:rPr lang="en-US" sz="3200" dirty="0">
                <a:latin typeface="Arial" panose="020B0604020202020204" pitchFamily="34" charset="0"/>
              </a:rPr>
              <a:t> </a:t>
            </a:r>
            <a:r>
              <a:rPr lang="en-US" sz="3200" dirty="0" err="1">
                <a:latin typeface="Arial" panose="020B0604020202020204" pitchFamily="34" charset="0"/>
              </a:rPr>
              <a:t>trường</a:t>
            </a:r>
            <a:r>
              <a:rPr lang="en-US" sz="3200" dirty="0">
                <a:latin typeface="Arial" panose="020B0604020202020204" pitchFamily="34" charset="0"/>
              </a:rPr>
              <a:t> </a:t>
            </a:r>
            <a:r>
              <a:rPr lang="en-US" sz="3200" dirty="0" err="1">
                <a:latin typeface="Arial" panose="020B0604020202020204" pitchFamily="34" charset="0"/>
              </a:rPr>
              <a:t>xung</a:t>
            </a:r>
            <a:r>
              <a:rPr lang="en-US" sz="3200" dirty="0">
                <a:latin typeface="Arial" panose="020B0604020202020204" pitchFamily="34" charset="0"/>
              </a:rPr>
              <a:t> </a:t>
            </a:r>
            <a:r>
              <a:rPr lang="en-US" sz="3200" dirty="0" err="1">
                <a:latin typeface="Arial" panose="020B0604020202020204" pitchFamily="34" charset="0"/>
              </a:rPr>
              <a:t>quanh</a:t>
            </a:r>
            <a:endParaRPr lang="en-US" sz="3200" dirty="0">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Nghiên</a:t>
            </a:r>
            <a:r>
              <a:rPr lang="en-US" sz="3200" dirty="0">
                <a:latin typeface="Arial" panose="020B0604020202020204" pitchFamily="34" charset="0"/>
              </a:rPr>
              <a:t> </a:t>
            </a:r>
            <a:r>
              <a:rPr lang="en-US" sz="3200" dirty="0" err="1">
                <a:latin typeface="Arial" panose="020B0604020202020204" pitchFamily="34" charset="0"/>
              </a:rPr>
              <a:t>cứu</a:t>
            </a:r>
            <a:r>
              <a:rPr lang="en-US" sz="3200" dirty="0">
                <a:latin typeface="Arial" panose="020B0604020202020204" pitchFamily="34" charset="0"/>
              </a:rPr>
              <a:t> </a:t>
            </a:r>
            <a:r>
              <a:rPr lang="en-US" sz="3200" dirty="0" err="1">
                <a:latin typeface="Arial" panose="020B0604020202020204" pitchFamily="34" charset="0"/>
              </a:rPr>
              <a:t>yêu</a:t>
            </a:r>
            <a:r>
              <a:rPr lang="en-US" sz="3200" dirty="0">
                <a:latin typeface="Arial" panose="020B0604020202020204" pitchFamily="34" charset="0"/>
              </a:rPr>
              <a:t> </a:t>
            </a:r>
            <a:r>
              <a:rPr lang="en-US" sz="3200" dirty="0" err="1">
                <a:latin typeface="Arial" panose="020B0604020202020204" pitchFamily="34" charset="0"/>
              </a:rPr>
              <a:t>cầu</a:t>
            </a:r>
            <a:r>
              <a:rPr lang="en-US" sz="3200" dirty="0">
                <a:latin typeface="Arial" panose="020B0604020202020204" pitchFamily="34" charset="0"/>
              </a:rPr>
              <a:t> </a:t>
            </a:r>
            <a:r>
              <a:rPr lang="en-US" sz="3200" dirty="0" err="1">
                <a:latin typeface="Arial" panose="020B0604020202020204" pitchFamily="34" charset="0"/>
              </a:rPr>
              <a:t>hệ</a:t>
            </a:r>
            <a:r>
              <a:rPr lang="en-US" sz="3200" dirty="0">
                <a:latin typeface="Arial" panose="020B0604020202020204" pitchFamily="34" charset="0"/>
              </a:rPr>
              <a:t> </a:t>
            </a:r>
            <a:r>
              <a:rPr lang="en-US" sz="3200" dirty="0" err="1">
                <a:latin typeface="Arial" panose="020B0604020202020204" pitchFamily="34" charset="0"/>
              </a:rPr>
              <a:t>thống</a:t>
            </a:r>
            <a:r>
              <a:rPr lang="en-US" sz="3200" dirty="0">
                <a:latin typeface="Arial" panose="020B0604020202020204" pitchFamily="34" charset="0"/>
              </a:rPr>
              <a:t> </a:t>
            </a:r>
            <a:r>
              <a:rPr lang="en-US" sz="3200" dirty="0" err="1">
                <a:latin typeface="Arial" panose="020B0604020202020204" pitchFamily="34" charset="0"/>
              </a:rPr>
              <a:t>để</a:t>
            </a:r>
            <a:r>
              <a:rPr lang="en-US" sz="3200" dirty="0">
                <a:latin typeface="Arial" panose="020B0604020202020204" pitchFamily="34" charset="0"/>
              </a:rPr>
              <a:t> </a:t>
            </a:r>
            <a:r>
              <a:rPr lang="en-US" sz="3200" dirty="0" err="1">
                <a:latin typeface="Arial" panose="020B0604020202020204" pitchFamily="34" charset="0"/>
              </a:rPr>
              <a:t>dẫn</a:t>
            </a:r>
            <a:r>
              <a:rPr lang="en-US" sz="3200" dirty="0">
                <a:latin typeface="Arial" panose="020B0604020202020204" pitchFamily="34" charset="0"/>
              </a:rPr>
              <a:t> </a:t>
            </a:r>
            <a:r>
              <a:rPr lang="en-US" sz="3200" dirty="0" err="1">
                <a:latin typeface="Arial" panose="020B0604020202020204" pitchFamily="34" charset="0"/>
              </a:rPr>
              <a:t>ra</a:t>
            </a:r>
            <a:r>
              <a:rPr lang="en-US" sz="3200" dirty="0">
                <a:latin typeface="Arial" panose="020B0604020202020204" pitchFamily="34" charset="0"/>
              </a:rPr>
              <a:t> </a:t>
            </a:r>
            <a:r>
              <a:rPr lang="en-US" sz="3200" dirty="0" err="1">
                <a:latin typeface="Arial" panose="020B0604020202020204" pitchFamily="34" charset="0"/>
              </a:rPr>
              <a:t>yêu</a:t>
            </a:r>
            <a:r>
              <a:rPr lang="en-US" sz="3200" dirty="0">
                <a:latin typeface="Arial" panose="020B0604020202020204" pitchFamily="34" charset="0"/>
              </a:rPr>
              <a:t> </a:t>
            </a:r>
            <a:r>
              <a:rPr lang="en-US" sz="3200" dirty="0" err="1">
                <a:latin typeface="Arial" panose="020B0604020202020204" pitchFamily="34" charset="0"/>
              </a:rPr>
              <a:t>cầu</a:t>
            </a:r>
            <a:r>
              <a:rPr lang="en-US" sz="3200" dirty="0">
                <a:latin typeface="Arial" panose="020B0604020202020204" pitchFamily="34" charset="0"/>
              </a:rPr>
              <a:t> </a:t>
            </a:r>
            <a:r>
              <a:rPr lang="en-US" sz="3200" dirty="0" err="1">
                <a:latin typeface="Arial" panose="020B0604020202020204" pitchFamily="34" charset="0"/>
              </a:rPr>
              <a:t>phần</a:t>
            </a:r>
            <a:r>
              <a:rPr lang="en-US" sz="3200" dirty="0">
                <a:latin typeface="Arial" panose="020B0604020202020204" pitchFamily="34" charset="0"/>
              </a:rPr>
              <a:t> </a:t>
            </a:r>
            <a:r>
              <a:rPr lang="en-US" sz="3200" dirty="0" err="1">
                <a:latin typeface="Arial" panose="020B0604020202020204" pitchFamily="34" charset="0"/>
              </a:rPr>
              <a:t>mềm</a:t>
            </a:r>
            <a:endParaRPr lang="en-US" sz="3200"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26</a:t>
            </a:fld>
            <a:endParaRPr lang="en-US" sz="2000" b="1">
              <a:solidFill>
                <a:srgbClr val="FF0000"/>
              </a:solidFill>
            </a:endParaRPr>
          </a:p>
        </p:txBody>
      </p:sp>
      <p:sp>
        <p:nvSpPr>
          <p:cNvPr id="13" name="TextBox 12"/>
          <p:cNvSpPr txBox="1"/>
          <p:nvPr/>
        </p:nvSpPr>
        <p:spPr>
          <a:xfrm>
            <a:off x="458787" y="1352491"/>
            <a:ext cx="8685213" cy="5016758"/>
          </a:xfrm>
          <a:prstGeom prst="rect">
            <a:avLst/>
          </a:prstGeom>
          <a:noFill/>
        </p:spPr>
        <p:txBody>
          <a:bodyPr wrap="square" rtlCol="0">
            <a:spAutoFit/>
          </a:bodyPr>
          <a:lstStyle/>
          <a:p>
            <a:r>
              <a:rPr lang="en-US" sz="3200" b="1">
                <a:solidFill>
                  <a:srgbClr val="FF0000"/>
                </a:solidFill>
                <a:latin typeface="Arial" panose="020B0604020202020204" pitchFamily="34" charset="0"/>
              </a:rPr>
              <a:t>Develop SRS (Software Requirement Specification)</a:t>
            </a:r>
          </a:p>
          <a:p>
            <a:pPr marL="457200" indent="-457200">
              <a:buFont typeface="Arial" panose="020B0604020202020204" pitchFamily="34" charset="0"/>
              <a:buChar char="•"/>
            </a:pPr>
            <a:r>
              <a:rPr lang="en-US" sz="3200">
                <a:latin typeface="Arial" panose="020B0604020202020204" pitchFamily="34" charset="0"/>
              </a:rPr>
              <a:t>Tài liệu yêu cầu là tài liệu chính thức liệt kê những gì cần thiết cho hệ thống</a:t>
            </a:r>
          </a:p>
          <a:p>
            <a:pPr marL="457200" indent="-457200">
              <a:buFont typeface="Arial" panose="020B0604020202020204" pitchFamily="34" charset="0"/>
              <a:buChar char="•"/>
            </a:pPr>
            <a:r>
              <a:rPr lang="en-US" sz="3200">
                <a:latin typeface="Arial" panose="020B0604020202020204" pitchFamily="34" charset="0"/>
              </a:rPr>
              <a:t>Thường chỉ bao gồm các yêu cầu hệ thống (system requirements) nhưng đôi khi chứa cả yêu cầu người dùng (user requirements)</a:t>
            </a:r>
          </a:p>
          <a:p>
            <a:pPr marL="457200" indent="-457200">
              <a:buFont typeface="Arial" panose="020B0604020202020204" pitchFamily="34" charset="0"/>
              <a:buChar char="•"/>
            </a:pPr>
            <a:r>
              <a:rPr lang="en-US" sz="3200">
                <a:latin typeface="Arial" panose="020B0604020202020204" pitchFamily="34" charset="0"/>
              </a:rPr>
              <a:t>Không phải là tài liệu thiết kế</a:t>
            </a:r>
          </a:p>
          <a:p>
            <a:pPr marL="457200" indent="-457200">
              <a:buFont typeface="Arial" panose="020B0604020202020204" pitchFamily="34" charset="0"/>
              <a:buChar char="•"/>
            </a:pPr>
            <a:r>
              <a:rPr lang="en-US" sz="3200">
                <a:latin typeface="Arial" panose="020B0604020202020204" pitchFamily="34" charset="0"/>
              </a:rPr>
              <a:t>“</a:t>
            </a:r>
            <a:r>
              <a:rPr lang="en-GB" sz="3200"/>
              <a:t>Describe </a:t>
            </a:r>
            <a:r>
              <a:rPr lang="en-GB" sz="3200" i="1">
                <a:solidFill>
                  <a:srgbClr val="FF0000"/>
                </a:solidFill>
              </a:rPr>
              <a:t>WHAT</a:t>
            </a:r>
            <a:r>
              <a:rPr lang="en-GB" sz="3200">
                <a:solidFill>
                  <a:srgbClr val="FF0000"/>
                </a:solidFill>
              </a:rPr>
              <a:t> </a:t>
            </a:r>
            <a:r>
              <a:rPr lang="en-GB" sz="3200"/>
              <a:t>the system should do rather than </a:t>
            </a:r>
            <a:r>
              <a:rPr lang="en-GB" sz="3200" i="1">
                <a:solidFill>
                  <a:srgbClr val="FF0000"/>
                </a:solidFill>
              </a:rPr>
              <a:t>HOW</a:t>
            </a:r>
            <a:r>
              <a:rPr lang="en-GB" sz="3200">
                <a:solidFill>
                  <a:srgbClr val="FF0000"/>
                </a:solidFill>
              </a:rPr>
              <a:t> </a:t>
            </a:r>
            <a:r>
              <a:rPr lang="en-GB" sz="3200"/>
              <a:t>it should do</a:t>
            </a:r>
            <a:r>
              <a:rPr lang="en-US" sz="3200">
                <a:latin typeface="Arial" panose="020B0604020202020204" pitchFamily="34" charset="0"/>
              </a:rPr>
              <a:t>”</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27</a:t>
            </a:fld>
            <a:endParaRPr lang="en-US" sz="2000" b="1">
              <a:solidFill>
                <a:srgbClr val="FF0000"/>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618" y="1219200"/>
            <a:ext cx="68580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43723" y="1524000"/>
            <a:ext cx="1683474" cy="954107"/>
          </a:xfrm>
          <a:prstGeom prst="rect">
            <a:avLst/>
          </a:prstGeom>
        </p:spPr>
        <p:txBody>
          <a:bodyPr wrap="none">
            <a:spAutoFit/>
          </a:bodyPr>
          <a:lstStyle/>
          <a:p>
            <a:r>
              <a:rPr lang="en-US" sz="2800" b="1">
                <a:solidFill>
                  <a:srgbClr val="FF0000"/>
                </a:solidFill>
                <a:latin typeface="Arial" panose="020B0604020202020204" pitchFamily="34" charset="0"/>
              </a:rPr>
              <a:t>Develop </a:t>
            </a:r>
          </a:p>
          <a:p>
            <a:pPr algn="ctr"/>
            <a:r>
              <a:rPr lang="en-US" sz="2800" b="1">
                <a:solidFill>
                  <a:srgbClr val="FF0000"/>
                </a:solidFill>
                <a:latin typeface="Arial" panose="020B0604020202020204" pitchFamily="34" charset="0"/>
              </a:rPr>
              <a:t>SRS </a:t>
            </a:r>
            <a:endParaRPr lang="en-US" sz="280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28</a:t>
            </a:fld>
            <a:endParaRPr lang="en-US" sz="2000" b="1">
              <a:solidFill>
                <a:srgbClr val="FF0000"/>
              </a:solidFill>
            </a:endParaRPr>
          </a:p>
        </p:txBody>
      </p:sp>
      <p:sp>
        <p:nvSpPr>
          <p:cNvPr id="13" name="TextBox 12"/>
          <p:cNvSpPr txBox="1"/>
          <p:nvPr/>
        </p:nvSpPr>
        <p:spPr>
          <a:xfrm>
            <a:off x="458787" y="1352491"/>
            <a:ext cx="8685213" cy="5509200"/>
          </a:xfrm>
          <a:prstGeom prst="rect">
            <a:avLst/>
          </a:prstGeom>
          <a:noFill/>
        </p:spPr>
        <p:txBody>
          <a:bodyPr wrap="square" rtlCol="0">
            <a:spAutoFit/>
          </a:bodyPr>
          <a:lstStyle/>
          <a:p>
            <a:r>
              <a:rPr lang="en-US" sz="3200" b="1">
                <a:solidFill>
                  <a:srgbClr val="FF0000"/>
                </a:solidFill>
                <a:latin typeface="Arial" panose="020B0604020202020204" pitchFamily="34" charset="0"/>
              </a:rPr>
              <a:t>Develop SRS – Khái niệm:</a:t>
            </a:r>
          </a:p>
          <a:p>
            <a:pPr marL="457200" indent="-457200">
              <a:buFont typeface="Arial" panose="020B0604020202020204" pitchFamily="34" charset="0"/>
              <a:buChar char="•"/>
            </a:pPr>
            <a:r>
              <a:rPr lang="en-US" sz="3200">
                <a:latin typeface="Arial" panose="020B0604020202020204" pitchFamily="34" charset="0"/>
              </a:rPr>
              <a:t>URD (User Requirement Definition): liệt kê những gì </a:t>
            </a:r>
            <a:r>
              <a:rPr lang="en-US" sz="3200" i="1">
                <a:solidFill>
                  <a:srgbClr val="FF0000"/>
                </a:solidFill>
                <a:latin typeface="Arial" panose="020B0604020202020204" pitchFamily="34" charset="0"/>
              </a:rPr>
              <a:t>user</a:t>
            </a:r>
            <a:r>
              <a:rPr lang="en-US" sz="3200">
                <a:solidFill>
                  <a:srgbClr val="FF0000"/>
                </a:solidFill>
                <a:latin typeface="Arial" panose="020B0604020202020204" pitchFamily="34" charset="0"/>
              </a:rPr>
              <a:t> </a:t>
            </a:r>
            <a:r>
              <a:rPr lang="en-US" sz="3200">
                <a:latin typeface="Arial" panose="020B0604020202020204" pitchFamily="34" charset="0"/>
              </a:rPr>
              <a:t>cần cho công việc của họ. Chứa các business requirements, business rules và constraints</a:t>
            </a:r>
          </a:p>
          <a:p>
            <a:pPr marL="457200" indent="-457200">
              <a:buFont typeface="Arial" panose="020B0604020202020204" pitchFamily="34" charset="0"/>
              <a:buChar char="•"/>
            </a:pPr>
            <a:r>
              <a:rPr lang="en-US" sz="3200">
                <a:latin typeface="Arial" panose="020B0604020202020204" pitchFamily="34" charset="0"/>
              </a:rPr>
              <a:t>SRS (Software Requirement Specification): các yêu cầu phần mềm dưới góc nhìn của </a:t>
            </a:r>
            <a:r>
              <a:rPr lang="en-US" sz="3200" i="1">
                <a:solidFill>
                  <a:srgbClr val="FF0000"/>
                </a:solidFill>
                <a:latin typeface="Arial" panose="020B0604020202020204" pitchFamily="34" charset="0"/>
              </a:rPr>
              <a:t>developer</a:t>
            </a:r>
            <a:r>
              <a:rPr lang="en-US" sz="3200">
                <a:latin typeface="Arial" panose="020B0604020202020204" pitchFamily="34" charset="0"/>
              </a:rPr>
              <a:t>, cần đảm bảo tính hoàn thiện, đồng bộ và chính xác. Đây là nguồn tham khảo chung cho customer, developer, tester và PM</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29</a:t>
            </a:fld>
            <a:endParaRPr lang="en-US" sz="2000" b="1">
              <a:solidFill>
                <a:srgbClr val="FF0000"/>
              </a:solidFill>
            </a:endParaRPr>
          </a:p>
        </p:txBody>
      </p:sp>
      <p:sp>
        <p:nvSpPr>
          <p:cNvPr id="13" name="TextBox 12"/>
          <p:cNvSpPr txBox="1"/>
          <p:nvPr/>
        </p:nvSpPr>
        <p:spPr>
          <a:xfrm>
            <a:off x="458787" y="1352491"/>
            <a:ext cx="8685213" cy="5016758"/>
          </a:xfrm>
          <a:prstGeom prst="rect">
            <a:avLst/>
          </a:prstGeom>
          <a:noFill/>
        </p:spPr>
        <p:txBody>
          <a:bodyPr wrap="square" rtlCol="0">
            <a:spAutoFit/>
          </a:bodyPr>
          <a:lstStyle/>
          <a:p>
            <a:r>
              <a:rPr lang="en-US" sz="3200" b="1" dirty="0">
                <a:solidFill>
                  <a:srgbClr val="FF0000"/>
                </a:solidFill>
                <a:latin typeface="Arial" panose="020B0604020202020204" pitchFamily="34" charset="0"/>
              </a:rPr>
              <a:t>Develop SRS – </a:t>
            </a:r>
            <a:r>
              <a:rPr lang="en-US" sz="3200" b="1" dirty="0" err="1">
                <a:solidFill>
                  <a:srgbClr val="FF0000"/>
                </a:solidFill>
                <a:latin typeface="Arial" panose="020B0604020202020204" pitchFamily="34" charset="0"/>
              </a:rPr>
              <a:t>Lợi</a:t>
            </a:r>
            <a:r>
              <a:rPr lang="en-US" sz="3200" b="1" dirty="0">
                <a:solidFill>
                  <a:srgbClr val="FF0000"/>
                </a:solidFill>
                <a:latin typeface="Arial" panose="020B0604020202020204" pitchFamily="34" charset="0"/>
              </a:rPr>
              <a:t> </a:t>
            </a:r>
            <a:r>
              <a:rPr lang="en-US" sz="3200" b="1" dirty="0" err="1">
                <a:solidFill>
                  <a:srgbClr val="FF0000"/>
                </a:solidFill>
                <a:latin typeface="Arial" panose="020B0604020202020204" pitchFamily="34" charset="0"/>
              </a:rPr>
              <a:t>ích</a:t>
            </a:r>
            <a:r>
              <a:rPr lang="en-US" sz="3200" b="1" dirty="0">
                <a:solidFill>
                  <a:srgbClr val="FF0000"/>
                </a:solidFill>
                <a:latin typeface="Arial" panose="020B0604020202020204" pitchFamily="34" charset="0"/>
              </a:rPr>
              <a:t>:</a:t>
            </a:r>
          </a:p>
          <a:p>
            <a:pPr marL="457200" indent="-457200">
              <a:buFont typeface="Arial" panose="020B0604020202020204" pitchFamily="34" charset="0"/>
              <a:buChar char="•"/>
            </a:pPr>
            <a:r>
              <a:rPr lang="en-US" sz="3200" dirty="0" err="1">
                <a:latin typeface="Arial" panose="020B0604020202020204" pitchFamily="34" charset="0"/>
              </a:rPr>
              <a:t>Là</a:t>
            </a:r>
            <a:r>
              <a:rPr lang="en-US" sz="3200" dirty="0">
                <a:latin typeface="Arial" panose="020B0604020202020204" pitchFamily="34" charset="0"/>
              </a:rPr>
              <a:t> </a:t>
            </a:r>
            <a:r>
              <a:rPr lang="en-US" sz="3200" dirty="0" err="1">
                <a:latin typeface="Arial" panose="020B0604020202020204" pitchFamily="34" charset="0"/>
              </a:rPr>
              <a:t>căn</a:t>
            </a:r>
            <a:r>
              <a:rPr lang="en-US" sz="3200" dirty="0">
                <a:latin typeface="Arial" panose="020B0604020202020204" pitchFamily="34" charset="0"/>
              </a:rPr>
              <a:t> </a:t>
            </a:r>
            <a:r>
              <a:rPr lang="en-US" sz="3200" dirty="0" err="1">
                <a:latin typeface="Arial" panose="020B0604020202020204" pitchFamily="34" charset="0"/>
              </a:rPr>
              <a:t>cứ</a:t>
            </a:r>
            <a:r>
              <a:rPr lang="en-US" sz="3200" dirty="0">
                <a:latin typeface="Arial" panose="020B0604020202020204" pitchFamily="34" charset="0"/>
              </a:rPr>
              <a:t> </a:t>
            </a:r>
            <a:r>
              <a:rPr lang="en-US" sz="3200" dirty="0" err="1">
                <a:latin typeface="Arial" panose="020B0604020202020204" pitchFamily="34" charset="0"/>
              </a:rPr>
              <a:t>cho</a:t>
            </a:r>
            <a:r>
              <a:rPr lang="en-US" sz="3200" dirty="0">
                <a:latin typeface="Arial" panose="020B0604020202020204" pitchFamily="34" charset="0"/>
              </a:rPr>
              <a:t> </a:t>
            </a:r>
            <a:r>
              <a:rPr lang="en-US" sz="3200" dirty="0" err="1">
                <a:latin typeface="Arial" panose="020B0604020202020204" pitchFamily="34" charset="0"/>
              </a:rPr>
              <a:t>sự</a:t>
            </a:r>
            <a:r>
              <a:rPr lang="en-US" sz="3200" dirty="0">
                <a:latin typeface="Arial" panose="020B0604020202020204" pitchFamily="34" charset="0"/>
              </a:rPr>
              <a:t> </a:t>
            </a:r>
            <a:r>
              <a:rPr lang="en-US" sz="3200" dirty="0" err="1">
                <a:latin typeface="Arial" panose="020B0604020202020204" pitchFamily="34" charset="0"/>
              </a:rPr>
              <a:t>đồng</a:t>
            </a:r>
            <a:r>
              <a:rPr lang="en-US" sz="3200" dirty="0">
                <a:latin typeface="Arial" panose="020B0604020202020204" pitchFamily="34" charset="0"/>
              </a:rPr>
              <a:t> </a:t>
            </a:r>
            <a:r>
              <a:rPr lang="en-US" sz="3200" dirty="0" err="1">
                <a:latin typeface="Arial" panose="020B0604020202020204" pitchFamily="34" charset="0"/>
              </a:rPr>
              <a:t>thuận</a:t>
            </a:r>
            <a:r>
              <a:rPr lang="en-US" sz="3200" dirty="0">
                <a:latin typeface="Arial" panose="020B0604020202020204" pitchFamily="34" charset="0"/>
              </a:rPr>
              <a:t> </a:t>
            </a:r>
            <a:r>
              <a:rPr lang="en-US" sz="3200" dirty="0" err="1">
                <a:latin typeface="Arial" panose="020B0604020202020204" pitchFamily="34" charset="0"/>
              </a:rPr>
              <a:t>giữa</a:t>
            </a:r>
            <a:r>
              <a:rPr lang="en-US" sz="3200" dirty="0">
                <a:latin typeface="Arial" panose="020B0604020202020204" pitchFamily="34" charset="0"/>
              </a:rPr>
              <a:t> customers </a:t>
            </a:r>
            <a:r>
              <a:rPr lang="en-US" sz="3200" dirty="0" err="1">
                <a:latin typeface="Arial" panose="020B0604020202020204" pitchFamily="34" charset="0"/>
              </a:rPr>
              <a:t>và</a:t>
            </a:r>
            <a:r>
              <a:rPr lang="en-US" sz="3200" dirty="0">
                <a:latin typeface="Arial" panose="020B0604020202020204" pitchFamily="34" charset="0"/>
              </a:rPr>
              <a:t> team </a:t>
            </a:r>
            <a:r>
              <a:rPr lang="en-US" sz="3200" dirty="0" err="1">
                <a:latin typeface="Arial" panose="020B0604020202020204" pitchFamily="34" charset="0"/>
              </a:rPr>
              <a:t>về</a:t>
            </a:r>
            <a:r>
              <a:rPr lang="en-US" sz="3200" dirty="0">
                <a:latin typeface="Arial" panose="020B0604020202020204" pitchFamily="34" charset="0"/>
              </a:rPr>
              <a:t> </a:t>
            </a:r>
            <a:r>
              <a:rPr lang="en-US" sz="3200" dirty="0" err="1">
                <a:latin typeface="Arial" panose="020B0604020202020204" pitchFamily="34" charset="0"/>
              </a:rPr>
              <a:t>những</a:t>
            </a:r>
            <a:r>
              <a:rPr lang="en-US" sz="3200" dirty="0">
                <a:latin typeface="Arial" panose="020B0604020202020204" pitchFamily="34" charset="0"/>
              </a:rPr>
              <a:t> </a:t>
            </a:r>
            <a:r>
              <a:rPr lang="en-US" sz="3200" dirty="0" err="1">
                <a:latin typeface="Arial" panose="020B0604020202020204" pitchFamily="34" charset="0"/>
              </a:rPr>
              <a:t>chức</a:t>
            </a:r>
            <a:r>
              <a:rPr lang="en-US" sz="3200" dirty="0">
                <a:latin typeface="Arial" panose="020B0604020202020204" pitchFamily="34" charset="0"/>
              </a:rPr>
              <a:t> </a:t>
            </a:r>
            <a:r>
              <a:rPr lang="en-US" sz="3200" dirty="0" err="1">
                <a:latin typeface="Arial" panose="020B0604020202020204" pitchFamily="34" charset="0"/>
              </a:rPr>
              <a:t>năng</a:t>
            </a:r>
            <a:r>
              <a:rPr lang="en-US" sz="3200" dirty="0">
                <a:latin typeface="Arial" panose="020B0604020202020204" pitchFamily="34" charset="0"/>
              </a:rPr>
              <a:t> </a:t>
            </a:r>
            <a:r>
              <a:rPr lang="en-US" sz="3200" dirty="0" err="1">
                <a:latin typeface="Arial" panose="020B0604020202020204" pitchFamily="34" charset="0"/>
              </a:rPr>
              <a:t>và</a:t>
            </a:r>
            <a:r>
              <a:rPr lang="en-US" sz="3200" dirty="0">
                <a:latin typeface="Arial" panose="020B0604020202020204" pitchFamily="34" charset="0"/>
              </a:rPr>
              <a:t> </a:t>
            </a:r>
            <a:r>
              <a:rPr lang="en-US" sz="3200" dirty="0" err="1">
                <a:latin typeface="Arial" panose="020B0604020202020204" pitchFamily="34" charset="0"/>
              </a:rPr>
              <a:t>ràng</a:t>
            </a:r>
            <a:r>
              <a:rPr lang="en-US" sz="3200" dirty="0">
                <a:latin typeface="Arial" panose="020B0604020202020204" pitchFamily="34" charset="0"/>
              </a:rPr>
              <a:t> </a:t>
            </a:r>
            <a:r>
              <a:rPr lang="en-US" sz="3200" dirty="0" err="1">
                <a:latin typeface="Arial" panose="020B0604020202020204" pitchFamily="34" charset="0"/>
              </a:rPr>
              <a:t>buộc</a:t>
            </a:r>
            <a:r>
              <a:rPr lang="en-US" sz="3200" dirty="0">
                <a:latin typeface="Arial" panose="020B0604020202020204" pitchFamily="34" charset="0"/>
              </a:rPr>
              <a:t> </a:t>
            </a:r>
            <a:r>
              <a:rPr lang="en-US" sz="3200" dirty="0" err="1">
                <a:latin typeface="Arial" panose="020B0604020202020204" pitchFamily="34" charset="0"/>
              </a:rPr>
              <a:t>của</a:t>
            </a:r>
            <a:r>
              <a:rPr lang="en-US" sz="3200" dirty="0">
                <a:latin typeface="Arial" panose="020B0604020202020204" pitchFamily="34" charset="0"/>
              </a:rPr>
              <a:t> </a:t>
            </a:r>
            <a:r>
              <a:rPr lang="en-US" sz="3200" dirty="0" err="1">
                <a:latin typeface="Arial" panose="020B0604020202020204" pitchFamily="34" charset="0"/>
              </a:rPr>
              <a:t>hệ</a:t>
            </a:r>
            <a:r>
              <a:rPr lang="en-US" sz="3200" dirty="0">
                <a:latin typeface="Arial" panose="020B0604020202020204" pitchFamily="34" charset="0"/>
              </a:rPr>
              <a:t> </a:t>
            </a:r>
            <a:r>
              <a:rPr lang="en-US" sz="3200" dirty="0" err="1">
                <a:latin typeface="Arial" panose="020B0604020202020204" pitchFamily="34" charset="0"/>
              </a:rPr>
              <a:t>thống</a:t>
            </a:r>
            <a:endParaRPr lang="en-US" sz="3200" dirty="0">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Giảm</a:t>
            </a:r>
            <a:r>
              <a:rPr lang="en-US" sz="3200" dirty="0">
                <a:latin typeface="Arial" panose="020B0604020202020204" pitchFamily="34" charset="0"/>
              </a:rPr>
              <a:t> </a:t>
            </a:r>
            <a:r>
              <a:rPr lang="en-US" sz="3200" dirty="0" err="1">
                <a:latin typeface="Arial" panose="020B0604020202020204" pitchFamily="34" charset="0"/>
              </a:rPr>
              <a:t>thiểu</a:t>
            </a:r>
            <a:r>
              <a:rPr lang="en-US" sz="3200" dirty="0">
                <a:latin typeface="Arial" panose="020B0604020202020204" pitchFamily="34" charset="0"/>
              </a:rPr>
              <a:t> </a:t>
            </a:r>
            <a:r>
              <a:rPr lang="en-US" sz="3200" dirty="0" err="1">
                <a:latin typeface="Arial" panose="020B0604020202020204" pitchFamily="34" charset="0"/>
              </a:rPr>
              <a:t>công</a:t>
            </a:r>
            <a:r>
              <a:rPr lang="en-US" sz="3200" dirty="0">
                <a:latin typeface="Arial" panose="020B0604020202020204" pitchFamily="34" charset="0"/>
              </a:rPr>
              <a:t> </a:t>
            </a:r>
            <a:r>
              <a:rPr lang="en-US" sz="3200" dirty="0" err="1">
                <a:latin typeface="Arial" panose="020B0604020202020204" pitchFamily="34" charset="0"/>
              </a:rPr>
              <a:t>sức</a:t>
            </a:r>
            <a:r>
              <a:rPr lang="en-US" sz="3200" dirty="0">
                <a:latin typeface="Arial" panose="020B0604020202020204" pitchFamily="34" charset="0"/>
              </a:rPr>
              <a:t> </a:t>
            </a:r>
            <a:r>
              <a:rPr lang="en-US" sz="3200" dirty="0" err="1">
                <a:latin typeface="Arial" panose="020B0604020202020204" pitchFamily="34" charset="0"/>
              </a:rPr>
              <a:t>phát</a:t>
            </a:r>
            <a:r>
              <a:rPr lang="en-US" sz="3200" dirty="0">
                <a:latin typeface="Arial" panose="020B0604020202020204" pitchFamily="34" charset="0"/>
              </a:rPr>
              <a:t> </a:t>
            </a:r>
            <a:r>
              <a:rPr lang="en-US" sz="3200" dirty="0" err="1">
                <a:latin typeface="Arial" panose="020B0604020202020204" pitchFamily="34" charset="0"/>
              </a:rPr>
              <a:t>triển</a:t>
            </a:r>
            <a:endParaRPr lang="en-US" sz="3200" dirty="0">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Căn</a:t>
            </a:r>
            <a:r>
              <a:rPr lang="en-US" sz="3200" dirty="0">
                <a:latin typeface="Arial" panose="020B0604020202020204" pitchFamily="34" charset="0"/>
              </a:rPr>
              <a:t> </a:t>
            </a:r>
            <a:r>
              <a:rPr lang="en-US" sz="3200" dirty="0" err="1">
                <a:latin typeface="Arial" panose="020B0604020202020204" pitchFamily="34" charset="0"/>
              </a:rPr>
              <a:t>cứ</a:t>
            </a:r>
            <a:r>
              <a:rPr lang="en-US" sz="3200" dirty="0">
                <a:latin typeface="Arial" panose="020B0604020202020204" pitchFamily="34" charset="0"/>
              </a:rPr>
              <a:t> </a:t>
            </a:r>
            <a:r>
              <a:rPr lang="en-US" sz="3200" dirty="0" err="1">
                <a:latin typeface="Arial" panose="020B0604020202020204" pitchFamily="34" charset="0"/>
              </a:rPr>
              <a:t>cho</a:t>
            </a:r>
            <a:r>
              <a:rPr lang="en-US" sz="3200" dirty="0">
                <a:latin typeface="Arial" panose="020B0604020202020204" pitchFamily="34" charset="0"/>
              </a:rPr>
              <a:t> </a:t>
            </a:r>
            <a:r>
              <a:rPr lang="en-US" sz="3200" dirty="0" err="1">
                <a:latin typeface="Arial" panose="020B0604020202020204" pitchFamily="34" charset="0"/>
              </a:rPr>
              <a:t>đánh</a:t>
            </a:r>
            <a:r>
              <a:rPr lang="en-US" sz="3200" dirty="0">
                <a:latin typeface="Arial" panose="020B0604020202020204" pitchFamily="34" charset="0"/>
              </a:rPr>
              <a:t> </a:t>
            </a:r>
            <a:r>
              <a:rPr lang="en-US" sz="3200" dirty="0" err="1">
                <a:latin typeface="Arial" panose="020B0604020202020204" pitchFamily="34" charset="0"/>
              </a:rPr>
              <a:t>giá</a:t>
            </a:r>
            <a:r>
              <a:rPr lang="en-US" sz="3200" dirty="0">
                <a:latin typeface="Arial" panose="020B0604020202020204" pitchFamily="34" charset="0"/>
              </a:rPr>
              <a:t> chi </a:t>
            </a:r>
            <a:r>
              <a:rPr lang="en-US" sz="3200" dirty="0" err="1">
                <a:latin typeface="Arial" panose="020B0604020202020204" pitchFamily="34" charset="0"/>
              </a:rPr>
              <a:t>phí</a:t>
            </a:r>
            <a:r>
              <a:rPr lang="en-US" sz="3200" dirty="0">
                <a:latin typeface="Arial" panose="020B0604020202020204" pitchFamily="34" charset="0"/>
              </a:rPr>
              <a:t>, </a:t>
            </a:r>
            <a:r>
              <a:rPr lang="en-US" sz="3200" dirty="0" err="1">
                <a:latin typeface="Arial" panose="020B0604020202020204" pitchFamily="34" charset="0"/>
              </a:rPr>
              <a:t>lịch</a:t>
            </a:r>
            <a:r>
              <a:rPr lang="en-US" sz="3200" dirty="0">
                <a:latin typeface="Arial" panose="020B0604020202020204" pitchFamily="34" charset="0"/>
              </a:rPr>
              <a:t> </a:t>
            </a:r>
            <a:r>
              <a:rPr lang="en-US" sz="3200" dirty="0" err="1">
                <a:latin typeface="Arial" panose="020B0604020202020204" pitchFamily="34" charset="0"/>
              </a:rPr>
              <a:t>trình</a:t>
            </a:r>
            <a:endParaRPr lang="en-US" sz="3200" dirty="0">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Là</a:t>
            </a:r>
            <a:r>
              <a:rPr lang="en-US" sz="3200" dirty="0">
                <a:latin typeface="Arial" panose="020B0604020202020204" pitchFamily="34" charset="0"/>
              </a:rPr>
              <a:t> </a:t>
            </a:r>
            <a:r>
              <a:rPr lang="en-US" sz="3200" dirty="0" err="1">
                <a:latin typeface="Arial" panose="020B0604020202020204" pitchFamily="34" charset="0"/>
              </a:rPr>
              <a:t>cơ</a:t>
            </a:r>
            <a:r>
              <a:rPr lang="en-US" sz="3200" dirty="0">
                <a:latin typeface="Arial" panose="020B0604020202020204" pitchFamily="34" charset="0"/>
              </a:rPr>
              <a:t> </a:t>
            </a:r>
            <a:r>
              <a:rPr lang="en-US" sz="3200" dirty="0" err="1">
                <a:latin typeface="Arial" panose="020B0604020202020204" pitchFamily="34" charset="0"/>
              </a:rPr>
              <a:t>sở</a:t>
            </a:r>
            <a:r>
              <a:rPr lang="en-US" sz="3200" dirty="0">
                <a:latin typeface="Arial" panose="020B0604020202020204" pitchFamily="34" charset="0"/>
              </a:rPr>
              <a:t> (baseline) </a:t>
            </a:r>
            <a:r>
              <a:rPr lang="en-US" sz="3200" dirty="0" err="1">
                <a:latin typeface="Arial" panose="020B0604020202020204" pitchFamily="34" charset="0"/>
              </a:rPr>
              <a:t>cho</a:t>
            </a:r>
            <a:r>
              <a:rPr lang="en-US" sz="3200" dirty="0">
                <a:latin typeface="Arial" panose="020B0604020202020204" pitchFamily="34" charset="0"/>
              </a:rPr>
              <a:t> validation </a:t>
            </a:r>
            <a:r>
              <a:rPr lang="en-US" sz="3200" dirty="0" err="1">
                <a:latin typeface="Arial" panose="020B0604020202020204" pitchFamily="34" charset="0"/>
              </a:rPr>
              <a:t>và</a:t>
            </a:r>
            <a:r>
              <a:rPr lang="en-US" sz="3200" dirty="0">
                <a:latin typeface="Arial" panose="020B0604020202020204" pitchFamily="34" charset="0"/>
              </a:rPr>
              <a:t> verification</a:t>
            </a:r>
          </a:p>
          <a:p>
            <a:pPr marL="457200" indent="-457200">
              <a:buFont typeface="Arial" panose="020B0604020202020204" pitchFamily="34" charset="0"/>
              <a:buChar char="•"/>
            </a:pPr>
            <a:r>
              <a:rPr lang="en-US" sz="3200" dirty="0" err="1">
                <a:latin typeface="Arial" panose="020B0604020202020204" pitchFamily="34" charset="0"/>
              </a:rPr>
              <a:t>Hỗ</a:t>
            </a:r>
            <a:r>
              <a:rPr lang="en-US" sz="3200" dirty="0">
                <a:latin typeface="Arial" panose="020B0604020202020204" pitchFamily="34" charset="0"/>
              </a:rPr>
              <a:t> </a:t>
            </a:r>
            <a:r>
              <a:rPr lang="en-US" sz="3200" dirty="0" err="1">
                <a:latin typeface="Arial" panose="020B0604020202020204" pitchFamily="34" charset="0"/>
              </a:rPr>
              <a:t>trợ</a:t>
            </a:r>
            <a:r>
              <a:rPr lang="en-US" sz="3200" dirty="0">
                <a:latin typeface="Arial" panose="020B0604020202020204" pitchFamily="34" charset="0"/>
              </a:rPr>
              <a:t> </a:t>
            </a:r>
            <a:r>
              <a:rPr lang="en-US" sz="3200" dirty="0" err="1">
                <a:latin typeface="Arial" panose="020B0604020202020204" pitchFamily="34" charset="0"/>
              </a:rPr>
              <a:t>trong</a:t>
            </a:r>
            <a:r>
              <a:rPr lang="en-US" sz="3200" dirty="0">
                <a:latin typeface="Arial" panose="020B0604020202020204" pitchFamily="34" charset="0"/>
              </a:rPr>
              <a:t> </a:t>
            </a:r>
            <a:r>
              <a:rPr lang="en-US" sz="3200" dirty="0" err="1">
                <a:latin typeface="Arial" panose="020B0604020202020204" pitchFamily="34" charset="0"/>
              </a:rPr>
              <a:t>chuyển</a:t>
            </a:r>
            <a:r>
              <a:rPr lang="en-US" sz="3200" dirty="0">
                <a:latin typeface="Arial" panose="020B0604020202020204" pitchFamily="34" charset="0"/>
              </a:rPr>
              <a:t> </a:t>
            </a:r>
            <a:r>
              <a:rPr lang="en-US" sz="3200" dirty="0" err="1">
                <a:latin typeface="Arial" panose="020B0604020202020204" pitchFamily="34" charset="0"/>
              </a:rPr>
              <a:t>giao</a:t>
            </a:r>
            <a:endParaRPr lang="en-US" sz="3200" dirty="0">
              <a:latin typeface="Arial" panose="020B0604020202020204" pitchFamily="34" charset="0"/>
            </a:endParaRPr>
          </a:p>
          <a:p>
            <a:pPr marL="457200" indent="-457200">
              <a:buFont typeface="Arial" panose="020B0604020202020204" pitchFamily="34" charset="0"/>
              <a:buChar char="•"/>
            </a:pPr>
            <a:r>
              <a:rPr lang="en-US" sz="3200" dirty="0" err="1">
                <a:latin typeface="Arial" panose="020B0604020202020204" pitchFamily="34" charset="0"/>
              </a:rPr>
              <a:t>Là</a:t>
            </a:r>
            <a:r>
              <a:rPr lang="en-US" sz="3200" dirty="0">
                <a:latin typeface="Arial" panose="020B0604020202020204" pitchFamily="34" charset="0"/>
              </a:rPr>
              <a:t> </a:t>
            </a:r>
            <a:r>
              <a:rPr lang="en-US" sz="3200" dirty="0" err="1">
                <a:latin typeface="Arial" panose="020B0604020202020204" pitchFamily="34" charset="0"/>
              </a:rPr>
              <a:t>cơ</a:t>
            </a:r>
            <a:r>
              <a:rPr lang="en-US" sz="3200" dirty="0">
                <a:latin typeface="Arial" panose="020B0604020202020204" pitchFamily="34" charset="0"/>
              </a:rPr>
              <a:t> </a:t>
            </a:r>
            <a:r>
              <a:rPr lang="en-US" sz="3200" dirty="0" err="1">
                <a:latin typeface="Arial" panose="020B0604020202020204" pitchFamily="34" charset="0"/>
              </a:rPr>
              <a:t>sở</a:t>
            </a:r>
            <a:r>
              <a:rPr lang="en-US" sz="3200" dirty="0">
                <a:latin typeface="Arial" panose="020B0604020202020204" pitchFamily="34" charset="0"/>
              </a:rPr>
              <a:t> </a:t>
            </a:r>
            <a:r>
              <a:rPr lang="en-US" sz="3200" dirty="0" err="1">
                <a:latin typeface="Arial" panose="020B0604020202020204" pitchFamily="34" charset="0"/>
              </a:rPr>
              <a:t>cho</a:t>
            </a:r>
            <a:r>
              <a:rPr lang="en-US" sz="3200" dirty="0">
                <a:latin typeface="Arial" panose="020B0604020202020204" pitchFamily="34" charset="0"/>
              </a:rPr>
              <a:t> </a:t>
            </a:r>
            <a:r>
              <a:rPr lang="en-US" sz="3200" dirty="0" err="1">
                <a:latin typeface="Arial" panose="020B0604020202020204" pitchFamily="34" charset="0"/>
              </a:rPr>
              <a:t>nâng</a:t>
            </a:r>
            <a:r>
              <a:rPr lang="en-US" sz="3200" dirty="0">
                <a:latin typeface="Arial" panose="020B0604020202020204" pitchFamily="34" charset="0"/>
              </a:rPr>
              <a:t> </a:t>
            </a:r>
            <a:r>
              <a:rPr lang="en-US" sz="3200" dirty="0" err="1">
                <a:latin typeface="Arial" panose="020B0604020202020204" pitchFamily="34" charset="0"/>
              </a:rPr>
              <a:t>cấp</a:t>
            </a:r>
            <a:r>
              <a:rPr lang="en-US" sz="3200" dirty="0">
                <a:latin typeface="Arial" panose="020B0604020202020204" pitchFamily="34" charset="0"/>
              </a:rPr>
              <a:t>, </a:t>
            </a:r>
            <a:r>
              <a:rPr lang="en-US" sz="3200" dirty="0" err="1">
                <a:latin typeface="Arial" panose="020B0604020202020204" pitchFamily="34" charset="0"/>
              </a:rPr>
              <a:t>cải</a:t>
            </a:r>
            <a:r>
              <a:rPr lang="en-US" sz="3200" dirty="0">
                <a:latin typeface="Arial" panose="020B0604020202020204" pitchFamily="34" charset="0"/>
              </a:rPr>
              <a:t> </a:t>
            </a:r>
            <a:r>
              <a:rPr lang="en-US" sz="3200" dirty="0" err="1">
                <a:latin typeface="Arial" panose="020B0604020202020204" pitchFamily="34" charset="0"/>
              </a:rPr>
              <a:t>tiến</a:t>
            </a:r>
            <a:r>
              <a:rPr lang="en-US" sz="3200" dirty="0">
                <a:latin typeface="Arial" panose="020B0604020202020204" pitchFamily="34" charset="0"/>
              </a:rPr>
              <a:t> </a:t>
            </a:r>
            <a:r>
              <a:rPr lang="en-US" sz="3200" dirty="0" err="1">
                <a:latin typeface="Arial" panose="020B0604020202020204" pitchFamily="34" charset="0"/>
              </a:rPr>
              <a:t>về</a:t>
            </a:r>
            <a:r>
              <a:rPr lang="en-US" sz="3200" dirty="0">
                <a:latin typeface="Arial" panose="020B0604020202020204" pitchFamily="34" charset="0"/>
              </a:rPr>
              <a:t> </a:t>
            </a:r>
            <a:r>
              <a:rPr lang="en-US" sz="3200" dirty="0" err="1">
                <a:latin typeface="Arial" panose="020B0604020202020204" pitchFamily="34" charset="0"/>
              </a:rPr>
              <a:t>sau</a:t>
            </a:r>
            <a:endParaRPr lang="en-US" sz="3200"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30</a:t>
            </a:fld>
            <a:endParaRPr lang="en-US" sz="2000" b="1">
              <a:solidFill>
                <a:srgbClr val="FF0000"/>
              </a:solidFill>
            </a:endParaRPr>
          </a:p>
        </p:txBody>
      </p:sp>
      <p:sp>
        <p:nvSpPr>
          <p:cNvPr id="13" name="TextBox 12"/>
          <p:cNvSpPr txBox="1"/>
          <p:nvPr/>
        </p:nvSpPr>
        <p:spPr>
          <a:xfrm>
            <a:off x="458786" y="1352491"/>
            <a:ext cx="8685213" cy="5324535"/>
          </a:xfrm>
          <a:prstGeom prst="rect">
            <a:avLst/>
          </a:prstGeom>
          <a:noFill/>
        </p:spPr>
        <p:txBody>
          <a:bodyPr wrap="square" rtlCol="0">
            <a:spAutoFit/>
          </a:bodyPr>
          <a:lstStyle/>
          <a:p>
            <a:r>
              <a:rPr lang="en-US" sz="3200" b="1">
                <a:solidFill>
                  <a:srgbClr val="FF0000"/>
                </a:solidFill>
                <a:latin typeface="Arial" panose="020B0604020202020204" pitchFamily="34" charset="0"/>
              </a:rPr>
              <a:t>Develop SRS – Các bước chính</a:t>
            </a:r>
          </a:p>
          <a:p>
            <a:pPr marL="457200" indent="-457200">
              <a:buFont typeface="Arial" panose="020B0604020202020204" pitchFamily="34" charset="0"/>
              <a:buChar char="•"/>
            </a:pPr>
            <a:r>
              <a:rPr lang="en-US" sz="2800">
                <a:latin typeface="Arial" panose="020B0604020202020204" pitchFamily="34" charset="0"/>
              </a:rPr>
              <a:t>Study URD:</a:t>
            </a:r>
          </a:p>
          <a:p>
            <a:pPr marL="914400" lvl="1" indent="-457200">
              <a:buFont typeface="Courier New" panose="02070309020205020404" pitchFamily="49" charset="0"/>
              <a:buChar char="o"/>
            </a:pPr>
            <a:r>
              <a:rPr lang="en-US" sz="2800">
                <a:latin typeface="Arial" panose="020B0604020202020204" pitchFamily="34" charset="0"/>
              </a:rPr>
              <a:t>Nghiên cứu URD (yêu cầu người dùng)</a:t>
            </a:r>
          </a:p>
          <a:p>
            <a:pPr marL="914400" lvl="1" indent="-457200">
              <a:buFont typeface="Courier New" panose="02070309020205020404" pitchFamily="49" charset="0"/>
              <a:buChar char="o"/>
            </a:pPr>
            <a:r>
              <a:rPr lang="en-US" sz="2800">
                <a:latin typeface="Arial" panose="020B0604020202020204" pitchFamily="34" charset="0"/>
              </a:rPr>
              <a:t>Chuẩn bị Q&amp;A list để làm rõ các chi tiết với customers</a:t>
            </a:r>
          </a:p>
          <a:p>
            <a:pPr marL="914400" lvl="1" indent="-457200">
              <a:buFont typeface="Courier New" panose="02070309020205020404" pitchFamily="49" charset="0"/>
              <a:buChar char="o"/>
            </a:pPr>
            <a:r>
              <a:rPr lang="en-US" sz="2800">
                <a:latin typeface="Arial" panose="020B0604020202020204" pitchFamily="34" charset="0"/>
              </a:rPr>
              <a:t>Gọi/Phỏng vấn khách hàng (nếu cần)</a:t>
            </a:r>
          </a:p>
          <a:p>
            <a:pPr marL="457200" indent="-457200">
              <a:buFont typeface="Arial" panose="020B0604020202020204" pitchFamily="34" charset="0"/>
              <a:buChar char="•"/>
            </a:pPr>
            <a:r>
              <a:rPr lang="en-US" sz="2800">
                <a:latin typeface="Arial" panose="020B0604020202020204" pitchFamily="34" charset="0"/>
              </a:rPr>
              <a:t>Tạo SRS</a:t>
            </a:r>
          </a:p>
          <a:p>
            <a:pPr marL="914400" lvl="1" indent="-457200">
              <a:buFont typeface="Courier New" panose="02070309020205020404" pitchFamily="49" charset="0"/>
              <a:buChar char="o"/>
            </a:pPr>
            <a:r>
              <a:rPr lang="en-US" sz="2800">
                <a:latin typeface="Arial" panose="020B0604020202020204" pitchFamily="34" charset="0"/>
              </a:rPr>
              <a:t>Tạo Usecase, system requirement</a:t>
            </a:r>
          </a:p>
          <a:p>
            <a:pPr marL="914400" lvl="1" indent="-457200">
              <a:buFont typeface="Courier New" panose="02070309020205020404" pitchFamily="49" charset="0"/>
              <a:buChar char="o"/>
            </a:pPr>
            <a:r>
              <a:rPr lang="en-US" sz="2800">
                <a:latin typeface="Arial" panose="020B0604020202020204" pitchFamily="34" charset="0"/>
              </a:rPr>
              <a:t>Xác định yêu cầu chức năng</a:t>
            </a:r>
          </a:p>
          <a:p>
            <a:pPr marL="457200" indent="-457200">
              <a:buFont typeface="Arial" panose="020B0604020202020204" pitchFamily="34" charset="0"/>
              <a:buChar char="•"/>
            </a:pPr>
            <a:r>
              <a:rPr lang="en-US" sz="2800">
                <a:latin typeface="Arial" panose="020B0604020202020204" pitchFamily="34" charset="0"/>
              </a:rPr>
              <a:t>Review và chấp nhận SRS</a:t>
            </a:r>
          </a:p>
          <a:p>
            <a:pPr marL="914400" lvl="1" indent="-457200">
              <a:buFont typeface="Courier New" panose="02070309020205020404" pitchFamily="49" charset="0"/>
              <a:buChar char="o"/>
            </a:pPr>
            <a:r>
              <a:rPr lang="en-US" sz="2800">
                <a:latin typeface="Arial" panose="020B0604020202020204" pitchFamily="34" charset="0"/>
              </a:rPr>
              <a:t>Meeting để review</a:t>
            </a:r>
          </a:p>
          <a:p>
            <a:pPr marL="914400" lvl="1" indent="-457200">
              <a:buFont typeface="Courier New" panose="02070309020205020404" pitchFamily="49" charset="0"/>
              <a:buChar char="o"/>
            </a:pPr>
            <a:r>
              <a:rPr lang="en-US" sz="2800">
                <a:latin typeface="Arial" panose="020B0604020202020204" pitchFamily="34" charset="0"/>
              </a:rPr>
              <a:t>Tạo và giữ minutes records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31</a:t>
            </a:fld>
            <a:endParaRPr lang="en-US" sz="2000" b="1">
              <a:solidFill>
                <a:srgbClr val="FF0000"/>
              </a:solidFill>
            </a:endParaRPr>
          </a:p>
        </p:txBody>
      </p:sp>
      <p:sp>
        <p:nvSpPr>
          <p:cNvPr id="13" name="TextBox 12"/>
          <p:cNvSpPr txBox="1"/>
          <p:nvPr/>
        </p:nvSpPr>
        <p:spPr>
          <a:xfrm>
            <a:off x="458786" y="1352491"/>
            <a:ext cx="8685213" cy="4647426"/>
          </a:xfrm>
          <a:prstGeom prst="rect">
            <a:avLst/>
          </a:prstGeom>
          <a:noFill/>
        </p:spPr>
        <p:txBody>
          <a:bodyPr wrap="square" rtlCol="0">
            <a:spAutoFit/>
          </a:bodyPr>
          <a:lstStyle/>
          <a:p>
            <a:r>
              <a:rPr lang="en-US" sz="3200" b="1">
                <a:solidFill>
                  <a:srgbClr val="FF0000"/>
                </a:solidFill>
                <a:latin typeface="Arial" panose="020B0604020202020204" pitchFamily="34" charset="0"/>
              </a:rPr>
              <a:t>Develop SRS – Techniques</a:t>
            </a:r>
          </a:p>
          <a:p>
            <a:pPr marL="457200" indent="-457200">
              <a:buFont typeface="Arial" panose="020B0604020202020204" pitchFamily="34" charset="0"/>
              <a:buChar char="•"/>
            </a:pPr>
            <a:r>
              <a:rPr lang="en-US" sz="2800">
                <a:latin typeface="Arial" panose="020B0604020202020204" pitchFamily="34" charset="0"/>
              </a:rPr>
              <a:t>Xác định yêu cầu bằng cách sử dụng ngôn ngữ tự nhiên có cấu trúc - structured natural language (forms, tables, ...)</a:t>
            </a:r>
          </a:p>
          <a:p>
            <a:pPr marL="457200" indent="-457200">
              <a:buFont typeface="Arial" panose="020B0604020202020204" pitchFamily="34" charset="0"/>
              <a:buChar char="•"/>
            </a:pPr>
            <a:r>
              <a:rPr lang="en-US" sz="2800" i="1">
                <a:solidFill>
                  <a:srgbClr val="FF0000"/>
                </a:solidFill>
                <a:latin typeface="Arial" panose="020B0604020202020204" pitchFamily="34" charset="0"/>
              </a:rPr>
              <a:t>Functional requirements</a:t>
            </a:r>
            <a:r>
              <a:rPr lang="en-US" sz="2800">
                <a:latin typeface="Arial" panose="020B0604020202020204" pitchFamily="34" charset="0"/>
              </a:rPr>
              <a:t> có thể được làm rõ thông qua mô hình hóa (sự kết hợp giữa kí hiệu đồ họa và ngôn ngữ tự nhiên có cấu trúc). VD:</a:t>
            </a:r>
          </a:p>
          <a:p>
            <a:pPr marL="914400" lvl="1" indent="-457200">
              <a:buFont typeface="Courier New" panose="02070309020205020404" pitchFamily="49" charset="0"/>
              <a:buChar char="o"/>
            </a:pPr>
            <a:r>
              <a:rPr lang="en-US" sz="2400">
                <a:latin typeface="Arial" panose="020B0604020202020204" pitchFamily="34" charset="0"/>
              </a:rPr>
              <a:t>Use cases, Use case diagrams, Use case specification</a:t>
            </a:r>
          </a:p>
          <a:p>
            <a:pPr marL="914400" lvl="1" indent="-457200">
              <a:buFont typeface="Courier New" panose="02070309020205020404" pitchFamily="49" charset="0"/>
              <a:buChar char="o"/>
            </a:pPr>
            <a:r>
              <a:rPr lang="en-US" sz="2400">
                <a:latin typeface="Arial" panose="020B0604020202020204" pitchFamily="34" charset="0"/>
              </a:rPr>
              <a:t>Activity Diagram, State Diagram</a:t>
            </a:r>
          </a:p>
          <a:p>
            <a:pPr marL="914400" lvl="1" indent="-457200">
              <a:buFont typeface="Courier New" panose="02070309020205020404" pitchFamily="49" charset="0"/>
              <a:buChar char="o"/>
            </a:pPr>
            <a:r>
              <a:rPr lang="en-US" sz="2400">
                <a:latin typeface="Arial" panose="020B0604020202020204" pitchFamily="34" charset="0"/>
              </a:rPr>
              <a:t>DFD, Concept ERD</a:t>
            </a:r>
          </a:p>
          <a:p>
            <a:pPr marL="914400" lvl="1" indent="-457200">
              <a:buFont typeface="Courier New" panose="02070309020205020404" pitchFamily="49" charset="0"/>
              <a:buChar char="o"/>
            </a:pPr>
            <a:r>
              <a:rPr lang="en-US" sz="2400">
                <a:latin typeface="Arial" panose="020B0604020202020204" pitchFamily="34" charset="0"/>
              </a:rPr>
              <a:t>Prototype: Screen Flow, Screen spec scpecification</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32</a:t>
            </a:fld>
            <a:endParaRPr lang="en-US" sz="2000" b="1">
              <a:solidFill>
                <a:srgbClr val="FF0000"/>
              </a:solidFill>
            </a:endParaRPr>
          </a:p>
        </p:txBody>
      </p:sp>
      <p:sp>
        <p:nvSpPr>
          <p:cNvPr id="13" name="TextBox 12"/>
          <p:cNvSpPr txBox="1"/>
          <p:nvPr/>
        </p:nvSpPr>
        <p:spPr>
          <a:xfrm>
            <a:off x="458786" y="1352491"/>
            <a:ext cx="8685213" cy="2369880"/>
          </a:xfrm>
          <a:prstGeom prst="rect">
            <a:avLst/>
          </a:prstGeom>
          <a:noFill/>
        </p:spPr>
        <p:txBody>
          <a:bodyPr wrap="square" rtlCol="0">
            <a:spAutoFit/>
          </a:bodyPr>
          <a:lstStyle/>
          <a:p>
            <a:r>
              <a:rPr lang="en-US" sz="3200" b="1">
                <a:solidFill>
                  <a:srgbClr val="FF0000"/>
                </a:solidFill>
                <a:latin typeface="Arial" panose="020B0604020202020204" pitchFamily="34" charset="0"/>
              </a:rPr>
              <a:t>Develop SRS – Techniques</a:t>
            </a:r>
          </a:p>
          <a:p>
            <a:endParaRPr lang="en-US" sz="3200" b="1">
              <a:solidFill>
                <a:srgbClr val="FF0000"/>
              </a:solidFill>
              <a:latin typeface="Arial" panose="020B0604020202020204" pitchFamily="34" charset="0"/>
            </a:endParaRPr>
          </a:p>
          <a:p>
            <a:pPr marL="457200" indent="-457200">
              <a:buFont typeface="Arial" panose="020B0604020202020204" pitchFamily="34" charset="0"/>
              <a:buChar char="•"/>
            </a:pPr>
            <a:r>
              <a:rPr lang="en-US" sz="2800" i="1">
                <a:solidFill>
                  <a:srgbClr val="FF0000"/>
                </a:solidFill>
                <a:latin typeface="Arial" panose="020B0604020202020204" pitchFamily="34" charset="0"/>
              </a:rPr>
              <a:t>Non - Functional requirements</a:t>
            </a:r>
            <a:r>
              <a:rPr lang="en-US" sz="2800">
                <a:latin typeface="Arial" panose="020B0604020202020204" pitchFamily="34" charset="0"/>
              </a:rPr>
              <a:t> không thể được mô hình hóa </a:t>
            </a:r>
            <a:r>
              <a:rPr lang="en-US" sz="2800">
                <a:latin typeface="Arial" panose="020B0604020202020204" pitchFamily="34" charset="0"/>
                <a:sym typeface="Wingdings" panose="05000000000000000000" pitchFamily="2" charset="2"/>
              </a:rPr>
              <a:t> chỉ có thể làm rõ thông qua ngôn ngữ tự nhiên có cấu trúc</a:t>
            </a:r>
            <a:endParaRPr lang="en-US" sz="2400">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33</a:t>
            </a:fld>
            <a:endParaRPr lang="en-US" sz="2000" b="1">
              <a:solidFill>
                <a:srgbClr val="FF0000"/>
              </a:solidFill>
            </a:endParaRPr>
          </a:p>
        </p:txBody>
      </p:sp>
      <p:sp>
        <p:nvSpPr>
          <p:cNvPr id="13" name="TextBox 12"/>
          <p:cNvSpPr txBox="1"/>
          <p:nvPr/>
        </p:nvSpPr>
        <p:spPr>
          <a:xfrm>
            <a:off x="458786" y="1352491"/>
            <a:ext cx="8685213" cy="5447645"/>
          </a:xfrm>
          <a:prstGeom prst="rect">
            <a:avLst/>
          </a:prstGeom>
          <a:noFill/>
        </p:spPr>
        <p:txBody>
          <a:bodyPr wrap="square" rtlCol="0">
            <a:spAutoFit/>
          </a:bodyPr>
          <a:lstStyle/>
          <a:p>
            <a:r>
              <a:rPr lang="en-US" sz="3200" b="1">
                <a:solidFill>
                  <a:srgbClr val="FF0000"/>
                </a:solidFill>
                <a:latin typeface="Arial" panose="020B0604020202020204" pitchFamily="34" charset="0"/>
              </a:rPr>
              <a:t>Develop SRS – Các tiêu chuẩn của một tài liệu SRS tốt (1/3)</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i="1">
                <a:solidFill>
                  <a:srgbClr val="FF0000"/>
                </a:solidFill>
                <a:latin typeface="Arial" panose="020B0604020202020204" pitchFamily="34" charset="0"/>
              </a:rPr>
              <a:t>Correct</a:t>
            </a:r>
            <a:r>
              <a:rPr lang="en-US" sz="2800">
                <a:solidFill>
                  <a:srgbClr val="FF0000"/>
                </a:solidFill>
                <a:latin typeface="Arial" panose="020B0604020202020204" pitchFamily="34" charset="0"/>
              </a:rPr>
              <a:t> </a:t>
            </a:r>
            <a:r>
              <a:rPr lang="en-US" sz="2800">
                <a:latin typeface="Arial" panose="020B0604020202020204" pitchFamily="34" charset="0"/>
              </a:rPr>
              <a:t>- Tính chính xác: đảm bảo requirements được xác định chính là những gì phần mềm cần đáp ứng</a:t>
            </a:r>
          </a:p>
          <a:p>
            <a:pPr marL="342900" indent="-342900">
              <a:buFont typeface="Arial" panose="020B0604020202020204" pitchFamily="34" charset="0"/>
              <a:buChar char="•"/>
            </a:pPr>
            <a:r>
              <a:rPr lang="en-US" sz="2800" i="1">
                <a:solidFill>
                  <a:srgbClr val="FF0000"/>
                </a:solidFill>
                <a:latin typeface="Arial" panose="020B0604020202020204" pitchFamily="34" charset="0"/>
              </a:rPr>
              <a:t>Unambiguous</a:t>
            </a:r>
            <a:r>
              <a:rPr lang="en-US" sz="2800">
                <a:solidFill>
                  <a:srgbClr val="FF0000"/>
                </a:solidFill>
                <a:latin typeface="Arial" panose="020B0604020202020204" pitchFamily="34" charset="0"/>
              </a:rPr>
              <a:t> </a:t>
            </a:r>
            <a:r>
              <a:rPr lang="en-US" sz="2800">
                <a:latin typeface="Arial" panose="020B0604020202020204" pitchFamily="34" charset="0"/>
              </a:rPr>
              <a:t>- Không mơ hồ</a:t>
            </a:r>
          </a:p>
          <a:p>
            <a:pPr marL="914400" lvl="1" indent="-457200">
              <a:buFont typeface="Courier New" panose="02070309020205020404" pitchFamily="49" charset="0"/>
              <a:buChar char="o"/>
            </a:pPr>
            <a:r>
              <a:rPr lang="en-US" sz="2800">
                <a:latin typeface="Arial" panose="020B0604020202020204" pitchFamily="34" charset="0"/>
              </a:rPr>
              <a:t>Chỉ có đúng một cách diễn đạt (cho cả creator &amp; user)</a:t>
            </a:r>
          </a:p>
          <a:p>
            <a:pPr marL="914400" lvl="1" indent="-457200">
              <a:buFont typeface="Courier New" panose="02070309020205020404" pitchFamily="49" charset="0"/>
              <a:buChar char="o"/>
            </a:pPr>
            <a:r>
              <a:rPr lang="en-US" sz="2800">
                <a:latin typeface="Arial" panose="020B0604020202020204" pitchFamily="34" charset="0"/>
              </a:rPr>
              <a:t>Dùng các ngôn ngữ tự nhiên và tránh sử dụng các từ như: có lẽ (may be), nhìn chung (generally)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34</a:t>
            </a:fld>
            <a:endParaRPr lang="en-US" sz="2000" b="1">
              <a:solidFill>
                <a:srgbClr val="FF0000"/>
              </a:solidFill>
            </a:endParaRPr>
          </a:p>
        </p:txBody>
      </p:sp>
      <p:sp>
        <p:nvSpPr>
          <p:cNvPr id="13" name="TextBox 12"/>
          <p:cNvSpPr txBox="1"/>
          <p:nvPr/>
        </p:nvSpPr>
        <p:spPr>
          <a:xfrm>
            <a:off x="458786" y="1352491"/>
            <a:ext cx="8685213" cy="5016758"/>
          </a:xfrm>
          <a:prstGeom prst="rect">
            <a:avLst/>
          </a:prstGeom>
          <a:noFill/>
        </p:spPr>
        <p:txBody>
          <a:bodyPr wrap="square" rtlCol="0">
            <a:spAutoFit/>
          </a:bodyPr>
          <a:lstStyle/>
          <a:p>
            <a:r>
              <a:rPr lang="en-US" sz="3200" b="1">
                <a:solidFill>
                  <a:srgbClr val="FF0000"/>
                </a:solidFill>
                <a:latin typeface="Arial" panose="020B0604020202020204" pitchFamily="34" charset="0"/>
              </a:rPr>
              <a:t>Develop SRS – Các tiêu chuẩn của một tài liệu SRS tốt (2/3)</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i="1">
                <a:solidFill>
                  <a:srgbClr val="FF0000"/>
                </a:solidFill>
                <a:latin typeface="Arial" panose="020B0604020202020204" pitchFamily="34" charset="0"/>
              </a:rPr>
              <a:t>Complete</a:t>
            </a:r>
            <a:r>
              <a:rPr lang="en-US" sz="2800">
                <a:solidFill>
                  <a:srgbClr val="FF0000"/>
                </a:solidFill>
                <a:latin typeface="Arial" panose="020B0604020202020204" pitchFamily="34" charset="0"/>
              </a:rPr>
              <a:t> </a:t>
            </a:r>
            <a:r>
              <a:rPr lang="en-US" sz="2800">
                <a:latin typeface="Arial" panose="020B0604020202020204" pitchFamily="34" charset="0"/>
              </a:rPr>
              <a:t>- Hoàn chỉnh</a:t>
            </a:r>
          </a:p>
          <a:p>
            <a:pPr marL="914400" lvl="1" indent="-457200">
              <a:buFont typeface="Courier New" panose="02070309020205020404" pitchFamily="49" charset="0"/>
              <a:buChar char="o"/>
            </a:pPr>
            <a:r>
              <a:rPr lang="en-US" sz="2800">
                <a:latin typeface="Arial" panose="020B0604020202020204" pitchFamily="34" charset="0"/>
              </a:rPr>
              <a:t>Bao gồm tất cả yêu cầu quan trọng nhất</a:t>
            </a:r>
          </a:p>
          <a:p>
            <a:pPr marL="914400" lvl="1" indent="-457200">
              <a:buFont typeface="Courier New" panose="02070309020205020404" pitchFamily="49" charset="0"/>
              <a:buChar char="o"/>
            </a:pPr>
            <a:r>
              <a:rPr lang="en-US" sz="2800">
                <a:latin typeface="Arial" panose="020B0604020202020204" pitchFamily="34" charset="0"/>
              </a:rPr>
              <a:t>Định nghĩa tất cả các đáp ứng của phần mềm cũng như đầy đủ các mục refs/labels</a:t>
            </a:r>
          </a:p>
          <a:p>
            <a:pPr marL="914400" lvl="1" indent="-457200">
              <a:buFont typeface="Courier New" panose="02070309020205020404" pitchFamily="49" charset="0"/>
              <a:buChar char="o"/>
            </a:pPr>
            <a:r>
              <a:rPr lang="en-US" sz="2800">
                <a:latin typeface="Arial" panose="020B0604020202020204" pitchFamily="34" charset="0"/>
              </a:rPr>
              <a:t>Nên hạn chế sử dụng TBD. Thay vào đó nên đề cập lý do, việc cần làm, ai làm và khi nào</a:t>
            </a:r>
          </a:p>
          <a:p>
            <a:pPr marL="342900" indent="-342900">
              <a:buFont typeface="Arial" panose="020B0604020202020204" pitchFamily="34" charset="0"/>
              <a:buChar char="•"/>
            </a:pPr>
            <a:r>
              <a:rPr lang="en-US" sz="2800" i="1">
                <a:solidFill>
                  <a:srgbClr val="FF0000"/>
                </a:solidFill>
                <a:latin typeface="Arial" panose="020B0604020202020204" pitchFamily="34" charset="0"/>
              </a:rPr>
              <a:t>Consistent</a:t>
            </a:r>
            <a:r>
              <a:rPr lang="en-US" sz="2800">
                <a:solidFill>
                  <a:srgbClr val="FF0000"/>
                </a:solidFill>
                <a:latin typeface="Arial" panose="020B0604020202020204" pitchFamily="34" charset="0"/>
              </a:rPr>
              <a:t> </a:t>
            </a:r>
            <a:r>
              <a:rPr lang="en-US" sz="2800">
                <a:latin typeface="Arial" panose="020B0604020202020204" pitchFamily="34" charset="0"/>
              </a:rPr>
              <a:t>– Nhất quán: không có mâu thuẫn giữa các yêu cầu</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35</a:t>
            </a:fld>
            <a:endParaRPr lang="en-US" sz="2000" b="1">
              <a:solidFill>
                <a:srgbClr val="FF0000"/>
              </a:solidFill>
            </a:endParaRPr>
          </a:p>
        </p:txBody>
      </p:sp>
      <p:sp>
        <p:nvSpPr>
          <p:cNvPr id="13" name="TextBox 12"/>
          <p:cNvSpPr txBox="1"/>
          <p:nvPr/>
        </p:nvSpPr>
        <p:spPr>
          <a:xfrm>
            <a:off x="458786" y="1352491"/>
            <a:ext cx="8685213" cy="4154984"/>
          </a:xfrm>
          <a:prstGeom prst="rect">
            <a:avLst/>
          </a:prstGeom>
          <a:noFill/>
        </p:spPr>
        <p:txBody>
          <a:bodyPr wrap="square" rtlCol="0">
            <a:spAutoFit/>
          </a:bodyPr>
          <a:lstStyle/>
          <a:p>
            <a:r>
              <a:rPr lang="en-US" sz="3200" b="1">
                <a:solidFill>
                  <a:srgbClr val="FF0000"/>
                </a:solidFill>
                <a:latin typeface="Arial" panose="020B0604020202020204" pitchFamily="34" charset="0"/>
              </a:rPr>
              <a:t>Develop SRS – Các tiêu chuẩn của một tài liệu SRS tốt (3/3)</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i="1">
                <a:solidFill>
                  <a:srgbClr val="FF0000"/>
                </a:solidFill>
                <a:latin typeface="Arial" panose="020B0604020202020204" pitchFamily="34" charset="0"/>
              </a:rPr>
              <a:t>Verifiable: </a:t>
            </a:r>
            <a:r>
              <a:rPr lang="en-US" sz="2800">
                <a:latin typeface="Arial" panose="020B0604020202020204" pitchFamily="34" charset="0"/>
              </a:rPr>
              <a:t>có thể review và kiểm thử được với qui trình có chi phí hợp lý</a:t>
            </a:r>
          </a:p>
          <a:p>
            <a:pPr marL="342900" indent="-342900">
              <a:buFont typeface="Arial" panose="020B0604020202020204" pitchFamily="34" charset="0"/>
              <a:buChar char="•"/>
            </a:pPr>
            <a:endParaRPr lang="en-US" sz="2800" i="1">
              <a:solidFill>
                <a:srgbClr val="FF0000"/>
              </a:solidFill>
              <a:latin typeface="Arial" panose="020B0604020202020204" pitchFamily="34" charset="0"/>
            </a:endParaRPr>
          </a:p>
          <a:p>
            <a:pPr marL="342900" indent="-342900">
              <a:buFont typeface="Arial" panose="020B0604020202020204" pitchFamily="34" charset="0"/>
              <a:buChar char="•"/>
            </a:pPr>
            <a:r>
              <a:rPr lang="en-US" sz="2800" i="1">
                <a:solidFill>
                  <a:srgbClr val="FF0000"/>
                </a:solidFill>
                <a:latin typeface="Arial" panose="020B0604020202020204" pitchFamily="34" charset="0"/>
              </a:rPr>
              <a:t>Traceable: </a:t>
            </a:r>
            <a:r>
              <a:rPr lang="en-US" sz="2800">
                <a:latin typeface="Arial" panose="020B0604020202020204" pitchFamily="34" charset="0"/>
              </a:rPr>
              <a:t>nguồn gốc rõ ràng và tham khảo được tổ chức tốt để có thể nâng cấp hay phát triển trong tương lai</a:t>
            </a:r>
            <a:endParaRPr lang="en-US" sz="2800" i="1">
              <a:solidFill>
                <a:srgbClr val="FF0000"/>
              </a:solidFill>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36</a:t>
            </a:fld>
            <a:endParaRPr lang="en-US" sz="2000" b="1">
              <a:solidFill>
                <a:srgbClr val="FF0000"/>
              </a:solidFill>
            </a:endParaRPr>
          </a:p>
        </p:txBody>
      </p:sp>
      <p:sp>
        <p:nvSpPr>
          <p:cNvPr id="13" name="TextBox 12"/>
          <p:cNvSpPr txBox="1"/>
          <p:nvPr/>
        </p:nvSpPr>
        <p:spPr>
          <a:xfrm>
            <a:off x="458786" y="1352491"/>
            <a:ext cx="8685213" cy="4955203"/>
          </a:xfrm>
          <a:prstGeom prst="rect">
            <a:avLst/>
          </a:prstGeom>
          <a:noFill/>
        </p:spPr>
        <p:txBody>
          <a:bodyPr wrap="square" rtlCol="0">
            <a:spAutoFit/>
          </a:bodyPr>
          <a:lstStyle/>
          <a:p>
            <a:r>
              <a:rPr lang="en-US" sz="3200" b="1">
                <a:solidFill>
                  <a:srgbClr val="FF0000"/>
                </a:solidFill>
                <a:latin typeface="Arial" panose="020B0604020202020204" pitchFamily="34" charset="0"/>
              </a:rPr>
              <a:t>Develop SRS – SRS Review Checklist</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rPr>
              <a:t>Dùng để tự review các yêu cầu</a:t>
            </a:r>
          </a:p>
          <a:p>
            <a:pPr marL="342900" indent="-342900">
              <a:buFont typeface="Arial" panose="020B0604020202020204" pitchFamily="34" charset="0"/>
              <a:buChar char="•"/>
            </a:pPr>
            <a:r>
              <a:rPr lang="en-US" sz="2800">
                <a:latin typeface="Arial" panose="020B0604020202020204" pitchFamily="34" charset="0"/>
              </a:rPr>
              <a:t>Đảm bảo rằng bạn đã hiểu tòa bộ các yêu cầu</a:t>
            </a:r>
          </a:p>
          <a:p>
            <a:pPr marL="914400" lvl="1" indent="-457200">
              <a:buFont typeface="Courier New" panose="02070309020205020404" pitchFamily="49" charset="0"/>
              <a:buChar char="o"/>
            </a:pPr>
            <a:r>
              <a:rPr lang="en-US" sz="2800">
                <a:latin typeface="Arial" panose="020B0604020202020204" pitchFamily="34" charset="0"/>
              </a:rPr>
              <a:t>Được tổ chức tốt và hoàn thiện: đầy đủ, không thiếu yêu cầu nào</a:t>
            </a:r>
          </a:p>
          <a:p>
            <a:pPr marL="914400" lvl="1" indent="-457200">
              <a:buFont typeface="Courier New" panose="02070309020205020404" pitchFamily="49" charset="0"/>
              <a:buChar char="o"/>
            </a:pPr>
            <a:r>
              <a:rPr lang="en-US" sz="2800">
                <a:latin typeface="Arial" panose="020B0604020202020204" pitchFamily="34" charset="0"/>
              </a:rPr>
              <a:t>Tính chính xác: không mâu thuẫn, có thể kiểm định được </a:t>
            </a:r>
          </a:p>
          <a:p>
            <a:pPr marL="914400" lvl="1" indent="-457200">
              <a:buFont typeface="Courier New" panose="02070309020205020404" pitchFamily="49" charset="0"/>
              <a:buChar char="o"/>
            </a:pPr>
            <a:r>
              <a:rPr lang="en-US" sz="2800">
                <a:latin typeface="Arial" panose="020B0604020202020204" pitchFamily="34" charset="0"/>
              </a:rPr>
              <a:t>Non-functional requirements, quality attributes, ...</a:t>
            </a:r>
          </a:p>
          <a:p>
            <a:pPr marL="342900" indent="-342900">
              <a:buFont typeface="Arial" panose="020B0604020202020204" pitchFamily="34" charset="0"/>
              <a:buChar char="•"/>
            </a:pPr>
            <a:r>
              <a:rPr lang="en-US" sz="2800">
                <a:latin typeface="Arial" panose="020B0604020202020204" pitchFamily="34" charset="0"/>
              </a:rPr>
              <a:t>Template: refer [Checklist_SRS Review.xls]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37</a:t>
            </a:fld>
            <a:endParaRPr lang="en-US" sz="2000" b="1">
              <a:solidFill>
                <a:srgbClr val="FF0000"/>
              </a:solidFill>
            </a:endParaRPr>
          </a:p>
        </p:txBody>
      </p:sp>
      <p:sp>
        <p:nvSpPr>
          <p:cNvPr id="13" name="TextBox 12"/>
          <p:cNvSpPr txBox="1"/>
          <p:nvPr/>
        </p:nvSpPr>
        <p:spPr>
          <a:xfrm>
            <a:off x="27709" y="1060103"/>
            <a:ext cx="8226425" cy="523220"/>
          </a:xfrm>
          <a:prstGeom prst="rect">
            <a:avLst/>
          </a:prstGeom>
          <a:noFill/>
        </p:spPr>
        <p:txBody>
          <a:bodyPr wrap="square" rtlCol="0">
            <a:spAutoFit/>
          </a:bodyPr>
          <a:lstStyle/>
          <a:p>
            <a:r>
              <a:rPr lang="en-US" sz="2800" b="1">
                <a:solidFill>
                  <a:srgbClr val="FF0000"/>
                </a:solidFill>
                <a:latin typeface="Arial" panose="020B0604020202020204" pitchFamily="34" charset="0"/>
              </a:rPr>
              <a:t>Workflow</a:t>
            </a:r>
          </a:p>
        </p:txBody>
      </p:sp>
      <p:sp>
        <p:nvSpPr>
          <p:cNvPr id="7" name="Rounded Rectangle 6"/>
          <p:cNvSpPr/>
          <p:nvPr/>
        </p:nvSpPr>
        <p:spPr>
          <a:xfrm>
            <a:off x="323377" y="1643050"/>
            <a:ext cx="8143932" cy="1285884"/>
          </a:xfrm>
          <a:prstGeom prst="roundRect">
            <a:avLst/>
          </a:prstGeom>
          <a:solidFill>
            <a:schemeClr val="tx2">
              <a:lumMod val="20000"/>
              <a:lumOff val="8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p:cNvSpPr/>
          <p:nvPr/>
        </p:nvSpPr>
        <p:spPr>
          <a:xfrm>
            <a:off x="394815" y="4143380"/>
            <a:ext cx="7929618" cy="1643074"/>
          </a:xfrm>
          <a:prstGeom prst="roundRect">
            <a:avLst/>
          </a:prstGeom>
          <a:solidFill>
            <a:schemeClr val="tx2">
              <a:lumMod val="20000"/>
              <a:lumOff val="8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dirty="0">
                <a:solidFill>
                  <a:srgbClr val="C00000"/>
                </a:solidFill>
              </a:rPr>
              <a:t>Requirement Management &amp; Traceability</a:t>
            </a:r>
          </a:p>
        </p:txBody>
      </p:sp>
      <p:sp>
        <p:nvSpPr>
          <p:cNvPr id="9" name="Rectangle 8"/>
          <p:cNvSpPr/>
          <p:nvPr/>
        </p:nvSpPr>
        <p:spPr>
          <a:xfrm>
            <a:off x="680567" y="1785926"/>
            <a:ext cx="2071702"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Elicit &amp; Analyze Requirements</a:t>
            </a:r>
          </a:p>
        </p:txBody>
      </p:sp>
      <p:sp>
        <p:nvSpPr>
          <p:cNvPr id="14" name="Rectangle 13"/>
          <p:cNvSpPr/>
          <p:nvPr/>
        </p:nvSpPr>
        <p:spPr>
          <a:xfrm>
            <a:off x="3323773" y="1785926"/>
            <a:ext cx="2143140"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Develop SRS</a:t>
            </a:r>
          </a:p>
        </p:txBody>
      </p:sp>
      <p:sp>
        <p:nvSpPr>
          <p:cNvPr id="15" name="Rectangle 14"/>
          <p:cNvSpPr/>
          <p:nvPr/>
        </p:nvSpPr>
        <p:spPr>
          <a:xfrm>
            <a:off x="6181293" y="1785926"/>
            <a:ext cx="1928826"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Validate Requirements</a:t>
            </a:r>
          </a:p>
        </p:txBody>
      </p:sp>
      <p:sp>
        <p:nvSpPr>
          <p:cNvPr id="16" name="Rectangle 15"/>
          <p:cNvSpPr/>
          <p:nvPr/>
        </p:nvSpPr>
        <p:spPr>
          <a:xfrm>
            <a:off x="6038417" y="4643446"/>
            <a:ext cx="2000264"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Manage Traceability</a:t>
            </a:r>
          </a:p>
        </p:txBody>
      </p:sp>
      <p:sp>
        <p:nvSpPr>
          <p:cNvPr id="17" name="Rectangle 16"/>
          <p:cNvSpPr/>
          <p:nvPr/>
        </p:nvSpPr>
        <p:spPr>
          <a:xfrm>
            <a:off x="3323773" y="4643446"/>
            <a:ext cx="2000264"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Manage Requirement Status</a:t>
            </a:r>
          </a:p>
        </p:txBody>
      </p:sp>
      <p:sp>
        <p:nvSpPr>
          <p:cNvPr id="18" name="Rectangle 17"/>
          <p:cNvSpPr/>
          <p:nvPr/>
        </p:nvSpPr>
        <p:spPr>
          <a:xfrm>
            <a:off x="752005" y="4643446"/>
            <a:ext cx="2000264"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Manage Requirement Changes</a:t>
            </a:r>
          </a:p>
        </p:txBody>
      </p:sp>
      <p:cxnSp>
        <p:nvCxnSpPr>
          <p:cNvPr id="19" name="Elbow Connector 18"/>
          <p:cNvCxnSpPr>
            <a:stCxn id="15" idx="3"/>
            <a:endCxn id="16" idx="3"/>
          </p:cNvCxnSpPr>
          <p:nvPr/>
        </p:nvCxnSpPr>
        <p:spPr>
          <a:xfrm flipH="1">
            <a:off x="8038681" y="2285992"/>
            <a:ext cx="71438" cy="2857520"/>
          </a:xfrm>
          <a:prstGeom prst="bentConnector3">
            <a:avLst>
              <a:gd name="adj1" fmla="val -731425"/>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sp>
        <p:nvSpPr>
          <p:cNvPr id="20" name="Flowchart: Document 19"/>
          <p:cNvSpPr/>
          <p:nvPr/>
        </p:nvSpPr>
        <p:spPr>
          <a:xfrm>
            <a:off x="1180633" y="3286124"/>
            <a:ext cx="1785950" cy="642942"/>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Analysis Records</a:t>
            </a:r>
          </a:p>
        </p:txBody>
      </p:sp>
      <p:sp>
        <p:nvSpPr>
          <p:cNvPr id="21" name="Flowchart: Document 20"/>
          <p:cNvSpPr/>
          <p:nvPr/>
        </p:nvSpPr>
        <p:spPr>
          <a:xfrm>
            <a:off x="3504221" y="3286124"/>
            <a:ext cx="1785950" cy="642942"/>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u="sng" dirty="0">
                <a:solidFill>
                  <a:srgbClr val="FF0000"/>
                </a:solidFill>
                <a:hlinkClick r:id="rId3" action="ppaction://hlinkfile"/>
              </a:rPr>
              <a:t>SRS</a:t>
            </a:r>
            <a:endParaRPr lang="en-US" sz="2800" b="1" i="1" u="sng" dirty="0">
              <a:solidFill>
                <a:srgbClr val="FF0000"/>
              </a:solidFill>
            </a:endParaRPr>
          </a:p>
        </p:txBody>
      </p:sp>
      <p:sp>
        <p:nvSpPr>
          <p:cNvPr id="22" name="Flowchart: Document 21"/>
          <p:cNvSpPr/>
          <p:nvPr/>
        </p:nvSpPr>
        <p:spPr>
          <a:xfrm>
            <a:off x="5824103" y="3286124"/>
            <a:ext cx="1785950" cy="642942"/>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Review Records</a:t>
            </a:r>
          </a:p>
        </p:txBody>
      </p:sp>
      <p:sp>
        <p:nvSpPr>
          <p:cNvPr id="23" name="Flowchart: Document 22"/>
          <p:cNvSpPr/>
          <p:nvPr/>
        </p:nvSpPr>
        <p:spPr>
          <a:xfrm>
            <a:off x="1180633" y="6215082"/>
            <a:ext cx="1785950" cy="533384"/>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hlinkClick r:id="rId4" action="ppaction://hlinkfile"/>
              </a:rPr>
              <a:t>RM Sheet</a:t>
            </a:r>
            <a:endParaRPr lang="en-US" dirty="0">
              <a:solidFill>
                <a:sysClr val="windowText" lastClr="000000"/>
              </a:solidFill>
            </a:endParaRPr>
          </a:p>
        </p:txBody>
      </p:sp>
      <p:sp>
        <p:nvSpPr>
          <p:cNvPr id="24" name="Flowchart: Document 23"/>
          <p:cNvSpPr/>
          <p:nvPr/>
        </p:nvSpPr>
        <p:spPr>
          <a:xfrm>
            <a:off x="3538087" y="6215082"/>
            <a:ext cx="1785950" cy="533384"/>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Change Records</a:t>
            </a:r>
          </a:p>
        </p:txBody>
      </p:sp>
      <p:sp>
        <p:nvSpPr>
          <p:cNvPr id="25" name="Flowchart: Document 24"/>
          <p:cNvSpPr/>
          <p:nvPr/>
        </p:nvSpPr>
        <p:spPr>
          <a:xfrm>
            <a:off x="5824103" y="6215082"/>
            <a:ext cx="1785950" cy="533384"/>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Updated SRS</a:t>
            </a:r>
          </a:p>
        </p:txBody>
      </p:sp>
      <p:cxnSp>
        <p:nvCxnSpPr>
          <p:cNvPr id="26" name="Elbow Connector 25"/>
          <p:cNvCxnSpPr>
            <a:stCxn id="7" idx="2"/>
            <a:endCxn id="20" idx="0"/>
          </p:cNvCxnSpPr>
          <p:nvPr/>
        </p:nvCxnSpPr>
        <p:spPr>
          <a:xfrm rot="5400000">
            <a:off x="3055881" y="1946662"/>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7" idx="2"/>
            <a:endCxn id="21" idx="0"/>
          </p:cNvCxnSpPr>
          <p:nvPr/>
        </p:nvCxnSpPr>
        <p:spPr>
          <a:xfrm rot="16200000" flipH="1">
            <a:off x="4217674" y="3106602"/>
            <a:ext cx="357190" cy="1853"/>
          </a:xfrm>
          <a:prstGeom prst="straightConnector1">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7" idx="2"/>
            <a:endCxn id="22" idx="0"/>
          </p:cNvCxnSpPr>
          <p:nvPr/>
        </p:nvCxnSpPr>
        <p:spPr>
          <a:xfrm rot="16200000" flipH="1">
            <a:off x="5377615" y="1946661"/>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9" name="Elbow Connector 28"/>
          <p:cNvCxnSpPr/>
          <p:nvPr/>
        </p:nvCxnSpPr>
        <p:spPr>
          <a:xfrm rot="5400000">
            <a:off x="2948724" y="4804181"/>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4108665" y="5964122"/>
            <a:ext cx="357190" cy="1853"/>
          </a:xfrm>
          <a:prstGeom prst="straightConnector1">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1" name="Elbow Connector 30"/>
          <p:cNvCxnSpPr/>
          <p:nvPr/>
        </p:nvCxnSpPr>
        <p:spPr>
          <a:xfrm rot="16200000" flipH="1">
            <a:off x="5270458" y="4804180"/>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9" idx="3"/>
            <a:endCxn id="14" idx="1"/>
          </p:cNvCxnSpPr>
          <p:nvPr/>
        </p:nvCxnSpPr>
        <p:spPr>
          <a:xfrm>
            <a:off x="2752269" y="2285992"/>
            <a:ext cx="571504"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4" idx="3"/>
            <a:endCxn id="15" idx="1"/>
          </p:cNvCxnSpPr>
          <p:nvPr/>
        </p:nvCxnSpPr>
        <p:spPr>
          <a:xfrm>
            <a:off x="5466913" y="2285992"/>
            <a:ext cx="714380"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1"/>
            <a:endCxn id="17" idx="3"/>
          </p:cNvCxnSpPr>
          <p:nvPr/>
        </p:nvCxnSpPr>
        <p:spPr>
          <a:xfrm rot="10800000">
            <a:off x="5324037" y="5143512"/>
            <a:ext cx="714380"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7" idx="1"/>
          </p:cNvCxnSpPr>
          <p:nvPr/>
        </p:nvCxnSpPr>
        <p:spPr>
          <a:xfrm rot="10800000">
            <a:off x="2752271" y="5143512"/>
            <a:ext cx="571503"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sp>
        <p:nvSpPr>
          <p:cNvPr id="2" name="Rectangle 1"/>
          <p:cNvSpPr/>
          <p:nvPr/>
        </p:nvSpPr>
        <p:spPr>
          <a:xfrm>
            <a:off x="6038417" y="1321713"/>
            <a:ext cx="2215717" cy="178581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38</a:t>
            </a:fld>
            <a:endParaRPr lang="en-US" sz="2000" b="1">
              <a:solidFill>
                <a:srgbClr val="FF0000"/>
              </a:solidFill>
            </a:endParaRPr>
          </a:p>
        </p:txBody>
      </p:sp>
      <p:sp>
        <p:nvSpPr>
          <p:cNvPr id="13" name="TextBox 12"/>
          <p:cNvSpPr txBox="1"/>
          <p:nvPr/>
        </p:nvSpPr>
        <p:spPr>
          <a:xfrm>
            <a:off x="458786" y="1352491"/>
            <a:ext cx="8685213" cy="4955203"/>
          </a:xfrm>
          <a:prstGeom prst="rect">
            <a:avLst/>
          </a:prstGeom>
          <a:noFill/>
        </p:spPr>
        <p:txBody>
          <a:bodyPr wrap="square" rtlCol="0">
            <a:spAutoFit/>
          </a:bodyPr>
          <a:lstStyle/>
          <a:p>
            <a:r>
              <a:rPr lang="en-US" sz="3200" b="1">
                <a:solidFill>
                  <a:srgbClr val="FF0000"/>
                </a:solidFill>
                <a:latin typeface="Arial" panose="020B0604020202020204" pitchFamily="34" charset="0"/>
              </a:rPr>
              <a:t>Validate Requirements – Mục đích:</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rPr>
              <a:t>Đảm bảo rằng yêu cầu đã định nghĩa hoàn chỉnh hệ thống mà khách hàng thật sự mong muốn</a:t>
            </a:r>
          </a:p>
          <a:p>
            <a:pPr marL="914400" lvl="1" indent="-457200">
              <a:buFont typeface="Courier New" panose="02070309020205020404" pitchFamily="49" charset="0"/>
              <a:buChar char="o"/>
            </a:pPr>
            <a:r>
              <a:rPr lang="en-US" sz="2800">
                <a:latin typeface="Arial" panose="020B0604020202020204" pitchFamily="34" charset="0"/>
              </a:rPr>
              <a:t>“Make sure that the requirements define the system that the customer </a:t>
            </a:r>
            <a:r>
              <a:rPr lang="en-US" sz="2800" i="1">
                <a:solidFill>
                  <a:srgbClr val="FF0000"/>
                </a:solidFill>
                <a:latin typeface="Arial" panose="020B0604020202020204" pitchFamily="34" charset="0"/>
              </a:rPr>
              <a:t>really wants</a:t>
            </a:r>
            <a:r>
              <a:rPr lang="en-US" sz="2800">
                <a:latin typeface="Arial" panose="020B0604020202020204" pitchFamily="34" charset="0"/>
              </a:rPr>
              <a:t>”</a:t>
            </a:r>
          </a:p>
          <a:p>
            <a:pPr marL="457200" indent="-457200">
              <a:buFont typeface="Arial" panose="020B0604020202020204" pitchFamily="34" charset="0"/>
              <a:buChar char="•"/>
            </a:pPr>
            <a:r>
              <a:rPr lang="en-US" sz="2800">
                <a:latin typeface="Arial" panose="020B0604020202020204" pitchFamily="34" charset="0"/>
              </a:rPr>
              <a:t>Lỗi phát sinh do quá trình xử lý yêu cầu có chi phí rất lớn, do đó </a:t>
            </a:r>
            <a:r>
              <a:rPr lang="en-US" sz="2800" i="1">
                <a:solidFill>
                  <a:srgbClr val="FF0000"/>
                </a:solidFill>
                <a:latin typeface="Arial" panose="020B0604020202020204" pitchFamily="34" charset="0"/>
              </a:rPr>
              <a:t>validation</a:t>
            </a:r>
            <a:r>
              <a:rPr lang="en-US" sz="2800">
                <a:solidFill>
                  <a:srgbClr val="FF0000"/>
                </a:solidFill>
                <a:latin typeface="Arial" panose="020B0604020202020204" pitchFamily="34" charset="0"/>
              </a:rPr>
              <a:t> </a:t>
            </a:r>
            <a:r>
              <a:rPr lang="en-US" sz="2800">
                <a:latin typeface="Arial" panose="020B0604020202020204" pitchFamily="34" charset="0"/>
              </a:rPr>
              <a:t>là rất quan trọng</a:t>
            </a:r>
          </a:p>
          <a:p>
            <a:pPr marL="914400" lvl="1" indent="-457200">
              <a:buFont typeface="Courier New" panose="02070309020205020404" pitchFamily="49" charset="0"/>
              <a:buChar char="o"/>
            </a:pPr>
            <a:r>
              <a:rPr lang="en-US" sz="2800">
                <a:latin typeface="Arial" panose="020B0604020202020204" pitchFamily="34" charset="0"/>
              </a:rPr>
              <a:t>Chi phí cho việc sửa chữa một lỗi yêu cầu sau khi bàn giao sẽ tốn </a:t>
            </a:r>
            <a:r>
              <a:rPr lang="en-US" sz="2800" i="1">
                <a:solidFill>
                  <a:srgbClr val="FF0000"/>
                </a:solidFill>
                <a:latin typeface="Arial" panose="020B0604020202020204" pitchFamily="34" charset="0"/>
              </a:rPr>
              <a:t>gấp 100 lần</a:t>
            </a:r>
            <a:r>
              <a:rPr lang="en-US" sz="2800">
                <a:latin typeface="Arial" panose="020B0604020202020204" pitchFamily="34" charset="0"/>
              </a:rPr>
              <a:t> chi phí sửa một lỗi khi hiện thực chương trình.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39</a:t>
            </a:fld>
            <a:endParaRPr lang="en-US" sz="2000" b="1">
              <a:solidFill>
                <a:srgbClr val="FF0000"/>
              </a:solidFill>
            </a:endParaRPr>
          </a:p>
        </p:txBody>
      </p:sp>
      <p:sp>
        <p:nvSpPr>
          <p:cNvPr id="13" name="TextBox 12"/>
          <p:cNvSpPr txBox="1"/>
          <p:nvPr/>
        </p:nvSpPr>
        <p:spPr>
          <a:xfrm>
            <a:off x="458786" y="1352491"/>
            <a:ext cx="8685213" cy="584775"/>
          </a:xfrm>
          <a:prstGeom prst="rect">
            <a:avLst/>
          </a:prstGeom>
          <a:noFill/>
        </p:spPr>
        <p:txBody>
          <a:bodyPr wrap="square" rtlCol="0">
            <a:spAutoFit/>
          </a:bodyPr>
          <a:lstStyle/>
          <a:p>
            <a:r>
              <a:rPr lang="en-US" sz="3200" b="1">
                <a:solidFill>
                  <a:srgbClr val="FF0000"/>
                </a:solidFill>
                <a:latin typeface="Arial" panose="020B0604020202020204" pitchFamily="34" charset="0"/>
              </a:rPr>
              <a:t>Validate Requirements – Process</a:t>
            </a:r>
          </a:p>
        </p:txBody>
      </p:sp>
      <p:sp>
        <p:nvSpPr>
          <p:cNvPr id="5" name="Rectangle 4"/>
          <p:cNvSpPr/>
          <p:nvPr/>
        </p:nvSpPr>
        <p:spPr>
          <a:xfrm>
            <a:off x="155575" y="5636342"/>
            <a:ext cx="1446214" cy="990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Validity </a:t>
            </a:r>
          </a:p>
          <a:p>
            <a:pPr algn="ctr"/>
            <a:r>
              <a:rPr lang="en-US" sz="2400" b="1">
                <a:solidFill>
                  <a:schemeClr val="tx1"/>
                </a:solidFill>
              </a:rPr>
              <a:t>Check</a:t>
            </a:r>
          </a:p>
        </p:txBody>
      </p:sp>
      <p:sp>
        <p:nvSpPr>
          <p:cNvPr id="14" name="Rectangle 13"/>
          <p:cNvSpPr/>
          <p:nvPr/>
        </p:nvSpPr>
        <p:spPr>
          <a:xfrm>
            <a:off x="1447800" y="4572000"/>
            <a:ext cx="1828800" cy="990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Consistency</a:t>
            </a:r>
          </a:p>
          <a:p>
            <a:pPr algn="ctr"/>
            <a:r>
              <a:rPr lang="en-US" sz="2400" b="1">
                <a:solidFill>
                  <a:schemeClr val="tx1"/>
                </a:solidFill>
              </a:rPr>
              <a:t>Check</a:t>
            </a:r>
          </a:p>
        </p:txBody>
      </p:sp>
      <p:sp>
        <p:nvSpPr>
          <p:cNvPr id="15" name="Rectangle 14"/>
          <p:cNvSpPr/>
          <p:nvPr/>
        </p:nvSpPr>
        <p:spPr>
          <a:xfrm>
            <a:off x="2979528" y="3546987"/>
            <a:ext cx="2072147" cy="990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Completeness</a:t>
            </a:r>
          </a:p>
          <a:p>
            <a:pPr algn="ctr"/>
            <a:r>
              <a:rPr lang="en-US" sz="2400" b="1">
                <a:solidFill>
                  <a:schemeClr val="tx1"/>
                </a:solidFill>
              </a:rPr>
              <a:t>Check</a:t>
            </a:r>
          </a:p>
        </p:txBody>
      </p:sp>
      <p:sp>
        <p:nvSpPr>
          <p:cNvPr id="16" name="Rectangle 15"/>
          <p:cNvSpPr/>
          <p:nvPr/>
        </p:nvSpPr>
        <p:spPr>
          <a:xfrm>
            <a:off x="4784186" y="2460523"/>
            <a:ext cx="1811594" cy="990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Realism</a:t>
            </a:r>
          </a:p>
          <a:p>
            <a:pPr algn="ctr"/>
            <a:r>
              <a:rPr lang="en-US" sz="2400" b="1">
                <a:solidFill>
                  <a:schemeClr val="tx1"/>
                </a:solidFill>
              </a:rPr>
              <a:t>Check</a:t>
            </a:r>
          </a:p>
        </p:txBody>
      </p:sp>
      <p:sp>
        <p:nvSpPr>
          <p:cNvPr id="17" name="Rectangle 16"/>
          <p:cNvSpPr/>
          <p:nvPr/>
        </p:nvSpPr>
        <p:spPr>
          <a:xfrm>
            <a:off x="6781800" y="1876125"/>
            <a:ext cx="1811594" cy="990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Verifiability </a:t>
            </a:r>
          </a:p>
          <a:p>
            <a:pPr algn="ctr"/>
            <a:r>
              <a:rPr lang="en-US" sz="2400" b="1">
                <a:solidFill>
                  <a:schemeClr val="tx1"/>
                </a:solidFill>
              </a:rPr>
              <a:t>Check</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40</a:t>
            </a:fld>
            <a:endParaRPr lang="en-US" sz="2000" b="1">
              <a:solidFill>
                <a:srgbClr val="FF0000"/>
              </a:solidFill>
            </a:endParaRPr>
          </a:p>
        </p:txBody>
      </p:sp>
      <p:sp>
        <p:nvSpPr>
          <p:cNvPr id="13" name="TextBox 12"/>
          <p:cNvSpPr txBox="1"/>
          <p:nvPr/>
        </p:nvSpPr>
        <p:spPr>
          <a:xfrm>
            <a:off x="458786" y="1352491"/>
            <a:ext cx="8685213" cy="4093428"/>
          </a:xfrm>
          <a:prstGeom prst="rect">
            <a:avLst/>
          </a:prstGeom>
          <a:noFill/>
        </p:spPr>
        <p:txBody>
          <a:bodyPr wrap="square" rtlCol="0">
            <a:spAutoFit/>
          </a:bodyPr>
          <a:lstStyle/>
          <a:p>
            <a:r>
              <a:rPr lang="en-US" sz="3200" b="1">
                <a:solidFill>
                  <a:srgbClr val="FF0000"/>
                </a:solidFill>
                <a:latin typeface="Arial" panose="020B0604020202020204" pitchFamily="34" charset="0"/>
              </a:rPr>
              <a:t>Validate Requirements – Techniques (1/2):</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rPr>
              <a:t>Requirements Review</a:t>
            </a:r>
          </a:p>
          <a:p>
            <a:pPr marL="800100" lvl="1" indent="-342900">
              <a:buFont typeface="Arial" panose="020B0604020202020204" pitchFamily="34" charset="0"/>
              <a:buChar char="•"/>
            </a:pPr>
            <a:r>
              <a:rPr lang="en-US" sz="2800" i="1">
                <a:solidFill>
                  <a:srgbClr val="FF0000"/>
                </a:solidFill>
                <a:latin typeface="Arial" panose="020B0604020202020204" pitchFamily="34" charset="0"/>
              </a:rPr>
              <a:t>Systematic manual analysis</a:t>
            </a:r>
            <a:r>
              <a:rPr lang="en-US" sz="2800">
                <a:latin typeface="Arial" panose="020B0604020202020204" pitchFamily="34" charset="0"/>
              </a:rPr>
              <a:t> of the requirements</a:t>
            </a:r>
          </a:p>
          <a:p>
            <a:pPr marL="800100" lvl="1" indent="-342900">
              <a:buFont typeface="Arial" panose="020B0604020202020204" pitchFamily="34" charset="0"/>
              <a:buChar char="•"/>
            </a:pPr>
            <a:r>
              <a:rPr lang="en-US" sz="2800">
                <a:latin typeface="Arial" panose="020B0604020202020204" pitchFamily="34" charset="0"/>
              </a:rPr>
              <a:t>Bao gồm các thành viên lập trình, khách hàng, các bên liên quan</a:t>
            </a:r>
          </a:p>
          <a:p>
            <a:pPr marL="342900" indent="-342900">
              <a:buFont typeface="Arial" panose="020B0604020202020204" pitchFamily="34" charset="0"/>
              <a:buChar char="•"/>
            </a:pPr>
            <a:r>
              <a:rPr lang="en-US" sz="2800">
                <a:latin typeface="Arial" panose="020B0604020202020204" pitchFamily="34" charset="0"/>
              </a:rPr>
              <a:t>Prototyping</a:t>
            </a:r>
          </a:p>
          <a:p>
            <a:pPr marL="800100" lvl="1" indent="-342900">
              <a:buFont typeface="Arial" panose="020B0604020202020204" pitchFamily="34" charset="0"/>
              <a:buChar char="•"/>
            </a:pPr>
            <a:r>
              <a:rPr lang="en-US" sz="2800">
                <a:latin typeface="Arial" panose="020B0604020202020204" pitchFamily="34" charset="0"/>
              </a:rPr>
              <a:t>Dùng một mô hình thực thi được của hệ thống để kiểm tra yêu cầu</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41</a:t>
            </a:fld>
            <a:endParaRPr lang="en-US" sz="2000" b="1">
              <a:solidFill>
                <a:srgbClr val="FF0000"/>
              </a:solidFill>
            </a:endParaRPr>
          </a:p>
        </p:txBody>
      </p:sp>
      <p:sp>
        <p:nvSpPr>
          <p:cNvPr id="13" name="TextBox 12"/>
          <p:cNvSpPr txBox="1"/>
          <p:nvPr/>
        </p:nvSpPr>
        <p:spPr>
          <a:xfrm>
            <a:off x="458786" y="1352491"/>
            <a:ext cx="8685213" cy="3662541"/>
          </a:xfrm>
          <a:prstGeom prst="rect">
            <a:avLst/>
          </a:prstGeom>
          <a:noFill/>
        </p:spPr>
        <p:txBody>
          <a:bodyPr wrap="square" rtlCol="0">
            <a:spAutoFit/>
          </a:bodyPr>
          <a:lstStyle/>
          <a:p>
            <a:r>
              <a:rPr lang="en-US" sz="3200" b="1">
                <a:solidFill>
                  <a:srgbClr val="FF0000"/>
                </a:solidFill>
                <a:latin typeface="Arial" panose="020B0604020202020204" pitchFamily="34" charset="0"/>
              </a:rPr>
              <a:t>Validate Requirements – Techniques (2/2):</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rPr>
              <a:t>Model Validation</a:t>
            </a:r>
          </a:p>
          <a:p>
            <a:pPr marL="914400" lvl="1" indent="-457200">
              <a:buFont typeface="Courier New" panose="02070309020205020404" pitchFamily="49" charset="0"/>
              <a:buChar char="o"/>
            </a:pPr>
            <a:r>
              <a:rPr lang="en-US" sz="2800">
                <a:latin typeface="Arial" panose="020B0604020202020204" pitchFamily="34" charset="0"/>
              </a:rPr>
              <a:t>Kiểm định chất lượng của các mô hình được xây dựng trong quá trình phân tích</a:t>
            </a:r>
          </a:p>
          <a:p>
            <a:pPr marL="342900" indent="-342900">
              <a:buFont typeface="Arial" panose="020B0604020202020204" pitchFamily="34" charset="0"/>
              <a:buChar char="•"/>
            </a:pPr>
            <a:r>
              <a:rPr lang="en-US" sz="2800">
                <a:latin typeface="Arial" panose="020B0604020202020204" pitchFamily="34" charset="0"/>
              </a:rPr>
              <a:t>Test-case generation</a:t>
            </a:r>
          </a:p>
          <a:p>
            <a:pPr marL="914400" lvl="1" indent="-457200">
              <a:buFont typeface="Courier New" panose="02070309020205020404" pitchFamily="49" charset="0"/>
              <a:buChar char="o"/>
            </a:pPr>
            <a:r>
              <a:rPr lang="en-US" sz="2800">
                <a:latin typeface="Arial" panose="020B0604020202020204" pitchFamily="34" charset="0"/>
              </a:rPr>
              <a:t>Xây dựng các bài kiểm tra cho các yêu cầu nhằm đảm bảo chúng có thể kiểm tra được</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42</a:t>
            </a:fld>
            <a:endParaRPr lang="en-US" sz="2000" b="1">
              <a:solidFill>
                <a:srgbClr val="FF0000"/>
              </a:solidFill>
            </a:endParaRPr>
          </a:p>
        </p:txBody>
      </p:sp>
      <p:sp>
        <p:nvSpPr>
          <p:cNvPr id="13" name="TextBox 12"/>
          <p:cNvSpPr txBox="1"/>
          <p:nvPr/>
        </p:nvSpPr>
        <p:spPr>
          <a:xfrm>
            <a:off x="27709" y="1060103"/>
            <a:ext cx="8226425" cy="523220"/>
          </a:xfrm>
          <a:prstGeom prst="rect">
            <a:avLst/>
          </a:prstGeom>
          <a:noFill/>
        </p:spPr>
        <p:txBody>
          <a:bodyPr wrap="square" rtlCol="0">
            <a:spAutoFit/>
          </a:bodyPr>
          <a:lstStyle/>
          <a:p>
            <a:r>
              <a:rPr lang="en-US" sz="2800" b="1">
                <a:solidFill>
                  <a:srgbClr val="FF0000"/>
                </a:solidFill>
                <a:latin typeface="Arial" panose="020B0604020202020204" pitchFamily="34" charset="0"/>
              </a:rPr>
              <a:t>Workflow</a:t>
            </a:r>
          </a:p>
        </p:txBody>
      </p:sp>
      <p:sp>
        <p:nvSpPr>
          <p:cNvPr id="7" name="Rounded Rectangle 6"/>
          <p:cNvSpPr/>
          <p:nvPr/>
        </p:nvSpPr>
        <p:spPr>
          <a:xfrm>
            <a:off x="323377" y="1643050"/>
            <a:ext cx="8143932" cy="1285884"/>
          </a:xfrm>
          <a:prstGeom prst="roundRect">
            <a:avLst/>
          </a:prstGeom>
          <a:solidFill>
            <a:schemeClr val="tx2">
              <a:lumMod val="20000"/>
              <a:lumOff val="8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p:cNvSpPr/>
          <p:nvPr/>
        </p:nvSpPr>
        <p:spPr>
          <a:xfrm>
            <a:off x="394815" y="4143380"/>
            <a:ext cx="7929618" cy="1643074"/>
          </a:xfrm>
          <a:prstGeom prst="roundRect">
            <a:avLst/>
          </a:prstGeom>
          <a:solidFill>
            <a:schemeClr val="tx2">
              <a:lumMod val="20000"/>
              <a:lumOff val="8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dirty="0">
                <a:solidFill>
                  <a:srgbClr val="C00000"/>
                </a:solidFill>
              </a:rPr>
              <a:t>Requirement Management &amp; Traceability</a:t>
            </a:r>
          </a:p>
        </p:txBody>
      </p:sp>
      <p:sp>
        <p:nvSpPr>
          <p:cNvPr id="9" name="Rectangle 8"/>
          <p:cNvSpPr/>
          <p:nvPr/>
        </p:nvSpPr>
        <p:spPr>
          <a:xfrm>
            <a:off x="680567" y="1785926"/>
            <a:ext cx="2071702"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Elicit &amp; Analyze Requirements</a:t>
            </a:r>
          </a:p>
        </p:txBody>
      </p:sp>
      <p:sp>
        <p:nvSpPr>
          <p:cNvPr id="14" name="Rectangle 13"/>
          <p:cNvSpPr/>
          <p:nvPr/>
        </p:nvSpPr>
        <p:spPr>
          <a:xfrm>
            <a:off x="3323773" y="1785926"/>
            <a:ext cx="2143140"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Develop SRS</a:t>
            </a:r>
          </a:p>
        </p:txBody>
      </p:sp>
      <p:sp>
        <p:nvSpPr>
          <p:cNvPr id="15" name="Rectangle 14"/>
          <p:cNvSpPr/>
          <p:nvPr/>
        </p:nvSpPr>
        <p:spPr>
          <a:xfrm>
            <a:off x="6181293" y="1785926"/>
            <a:ext cx="1928826"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Validate Requirements</a:t>
            </a:r>
          </a:p>
        </p:txBody>
      </p:sp>
      <p:sp>
        <p:nvSpPr>
          <p:cNvPr id="16" name="Rectangle 15"/>
          <p:cNvSpPr/>
          <p:nvPr/>
        </p:nvSpPr>
        <p:spPr>
          <a:xfrm>
            <a:off x="6038417" y="4643446"/>
            <a:ext cx="2000264"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Manage Traceability</a:t>
            </a:r>
          </a:p>
        </p:txBody>
      </p:sp>
      <p:sp>
        <p:nvSpPr>
          <p:cNvPr id="17" name="Rectangle 16"/>
          <p:cNvSpPr/>
          <p:nvPr/>
        </p:nvSpPr>
        <p:spPr>
          <a:xfrm>
            <a:off x="3323773" y="4643446"/>
            <a:ext cx="2000264"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Manage Requirement Status</a:t>
            </a:r>
          </a:p>
        </p:txBody>
      </p:sp>
      <p:sp>
        <p:nvSpPr>
          <p:cNvPr id="18" name="Rectangle 17"/>
          <p:cNvSpPr/>
          <p:nvPr/>
        </p:nvSpPr>
        <p:spPr>
          <a:xfrm>
            <a:off x="752005" y="4643446"/>
            <a:ext cx="2000264"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Manage Requirement Changes</a:t>
            </a:r>
          </a:p>
        </p:txBody>
      </p:sp>
      <p:cxnSp>
        <p:nvCxnSpPr>
          <p:cNvPr id="19" name="Elbow Connector 18"/>
          <p:cNvCxnSpPr>
            <a:stCxn id="15" idx="3"/>
            <a:endCxn id="16" idx="3"/>
          </p:cNvCxnSpPr>
          <p:nvPr/>
        </p:nvCxnSpPr>
        <p:spPr>
          <a:xfrm flipH="1">
            <a:off x="8038681" y="2285992"/>
            <a:ext cx="71438" cy="2857520"/>
          </a:xfrm>
          <a:prstGeom prst="bentConnector3">
            <a:avLst>
              <a:gd name="adj1" fmla="val -731425"/>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sp>
        <p:nvSpPr>
          <p:cNvPr id="20" name="Flowchart: Document 19"/>
          <p:cNvSpPr/>
          <p:nvPr/>
        </p:nvSpPr>
        <p:spPr>
          <a:xfrm>
            <a:off x="1180633" y="3286124"/>
            <a:ext cx="1785950" cy="642942"/>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Analysis Records</a:t>
            </a:r>
          </a:p>
        </p:txBody>
      </p:sp>
      <p:sp>
        <p:nvSpPr>
          <p:cNvPr id="21" name="Flowchart: Document 20"/>
          <p:cNvSpPr/>
          <p:nvPr/>
        </p:nvSpPr>
        <p:spPr>
          <a:xfrm>
            <a:off x="3504221" y="3286124"/>
            <a:ext cx="1785950" cy="642942"/>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u="sng" dirty="0">
                <a:solidFill>
                  <a:srgbClr val="FF0000"/>
                </a:solidFill>
                <a:hlinkClick r:id="rId3" action="ppaction://hlinkfile"/>
              </a:rPr>
              <a:t>SRS</a:t>
            </a:r>
            <a:endParaRPr lang="en-US" sz="2800" b="1" i="1" u="sng" dirty="0">
              <a:solidFill>
                <a:srgbClr val="FF0000"/>
              </a:solidFill>
            </a:endParaRPr>
          </a:p>
        </p:txBody>
      </p:sp>
      <p:sp>
        <p:nvSpPr>
          <p:cNvPr id="22" name="Flowchart: Document 21"/>
          <p:cNvSpPr/>
          <p:nvPr/>
        </p:nvSpPr>
        <p:spPr>
          <a:xfrm>
            <a:off x="5824103" y="3286124"/>
            <a:ext cx="1785950" cy="642942"/>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Review Records</a:t>
            </a:r>
          </a:p>
        </p:txBody>
      </p:sp>
      <p:sp>
        <p:nvSpPr>
          <p:cNvPr id="23" name="Flowchart: Document 22"/>
          <p:cNvSpPr/>
          <p:nvPr/>
        </p:nvSpPr>
        <p:spPr>
          <a:xfrm>
            <a:off x="1180633" y="6215082"/>
            <a:ext cx="1785950" cy="533384"/>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hlinkClick r:id="rId4" action="ppaction://hlinkfile"/>
              </a:rPr>
              <a:t>RM Sheet</a:t>
            </a:r>
            <a:endParaRPr lang="en-US" dirty="0">
              <a:solidFill>
                <a:sysClr val="windowText" lastClr="000000"/>
              </a:solidFill>
            </a:endParaRPr>
          </a:p>
        </p:txBody>
      </p:sp>
      <p:sp>
        <p:nvSpPr>
          <p:cNvPr id="24" name="Flowchart: Document 23"/>
          <p:cNvSpPr/>
          <p:nvPr/>
        </p:nvSpPr>
        <p:spPr>
          <a:xfrm>
            <a:off x="3538087" y="6215082"/>
            <a:ext cx="1785950" cy="533384"/>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Change Records</a:t>
            </a:r>
          </a:p>
        </p:txBody>
      </p:sp>
      <p:sp>
        <p:nvSpPr>
          <p:cNvPr id="25" name="Flowchart: Document 24"/>
          <p:cNvSpPr/>
          <p:nvPr/>
        </p:nvSpPr>
        <p:spPr>
          <a:xfrm>
            <a:off x="5824103" y="6215082"/>
            <a:ext cx="1785950" cy="533384"/>
          </a:xfrm>
          <a:prstGeom prst="flowChartDocumen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Updated SRS</a:t>
            </a:r>
          </a:p>
        </p:txBody>
      </p:sp>
      <p:cxnSp>
        <p:nvCxnSpPr>
          <p:cNvPr id="26" name="Elbow Connector 25"/>
          <p:cNvCxnSpPr>
            <a:stCxn id="7" idx="2"/>
            <a:endCxn id="20" idx="0"/>
          </p:cNvCxnSpPr>
          <p:nvPr/>
        </p:nvCxnSpPr>
        <p:spPr>
          <a:xfrm rot="5400000">
            <a:off x="3055881" y="1946662"/>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7" idx="2"/>
            <a:endCxn id="21" idx="0"/>
          </p:cNvCxnSpPr>
          <p:nvPr/>
        </p:nvCxnSpPr>
        <p:spPr>
          <a:xfrm rot="16200000" flipH="1">
            <a:off x="4217674" y="3106602"/>
            <a:ext cx="357190" cy="1853"/>
          </a:xfrm>
          <a:prstGeom prst="straightConnector1">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7" idx="2"/>
            <a:endCxn id="22" idx="0"/>
          </p:cNvCxnSpPr>
          <p:nvPr/>
        </p:nvCxnSpPr>
        <p:spPr>
          <a:xfrm rot="16200000" flipH="1">
            <a:off x="5377615" y="1946661"/>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9" name="Elbow Connector 28"/>
          <p:cNvCxnSpPr/>
          <p:nvPr/>
        </p:nvCxnSpPr>
        <p:spPr>
          <a:xfrm rot="5400000">
            <a:off x="2948724" y="4804181"/>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4108665" y="5964122"/>
            <a:ext cx="357190" cy="1853"/>
          </a:xfrm>
          <a:prstGeom prst="straightConnector1">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1" name="Elbow Connector 30"/>
          <p:cNvCxnSpPr/>
          <p:nvPr/>
        </p:nvCxnSpPr>
        <p:spPr>
          <a:xfrm rot="16200000" flipH="1">
            <a:off x="5270458" y="4804180"/>
            <a:ext cx="357190" cy="2321735"/>
          </a:xfrm>
          <a:prstGeom prst="bentConnector3">
            <a:avLst>
              <a:gd name="adj1" fmla="val 50000"/>
            </a:avLst>
          </a:prstGeom>
          <a:ln>
            <a:solidFill>
              <a:srgbClr val="0000CC"/>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9" idx="3"/>
            <a:endCxn id="14" idx="1"/>
          </p:cNvCxnSpPr>
          <p:nvPr/>
        </p:nvCxnSpPr>
        <p:spPr>
          <a:xfrm>
            <a:off x="2752269" y="2285992"/>
            <a:ext cx="571504"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4" idx="3"/>
            <a:endCxn id="15" idx="1"/>
          </p:cNvCxnSpPr>
          <p:nvPr/>
        </p:nvCxnSpPr>
        <p:spPr>
          <a:xfrm>
            <a:off x="5466913" y="2285992"/>
            <a:ext cx="714380"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1"/>
            <a:endCxn id="17" idx="3"/>
          </p:cNvCxnSpPr>
          <p:nvPr/>
        </p:nvCxnSpPr>
        <p:spPr>
          <a:xfrm rot="10800000">
            <a:off x="5324037" y="5143512"/>
            <a:ext cx="714380"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7" idx="1"/>
          </p:cNvCxnSpPr>
          <p:nvPr/>
        </p:nvCxnSpPr>
        <p:spPr>
          <a:xfrm rot="10800000">
            <a:off x="2752271" y="5143512"/>
            <a:ext cx="571503" cy="1588"/>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sp>
        <p:nvSpPr>
          <p:cNvPr id="2" name="Rectangle 1"/>
          <p:cNvSpPr/>
          <p:nvPr/>
        </p:nvSpPr>
        <p:spPr>
          <a:xfrm>
            <a:off x="81740" y="4072009"/>
            <a:ext cx="8385569" cy="178581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43</a:t>
            </a:fld>
            <a:endParaRPr lang="en-US" sz="2000" b="1">
              <a:solidFill>
                <a:srgbClr val="FF0000"/>
              </a:solidFill>
            </a:endParaRPr>
          </a:p>
        </p:txBody>
      </p:sp>
      <p:sp>
        <p:nvSpPr>
          <p:cNvPr id="13" name="TextBox 12"/>
          <p:cNvSpPr txBox="1"/>
          <p:nvPr/>
        </p:nvSpPr>
        <p:spPr>
          <a:xfrm>
            <a:off x="458786" y="1352491"/>
            <a:ext cx="8685213" cy="5386090"/>
          </a:xfrm>
          <a:prstGeom prst="rect">
            <a:avLst/>
          </a:prstGeom>
          <a:noFill/>
        </p:spPr>
        <p:txBody>
          <a:bodyPr wrap="square" rtlCol="0">
            <a:spAutoFit/>
          </a:bodyPr>
          <a:lstStyle/>
          <a:p>
            <a:r>
              <a:rPr lang="en-US" sz="3200" b="1">
                <a:solidFill>
                  <a:srgbClr val="FF0000"/>
                </a:solidFill>
                <a:latin typeface="Arial" panose="020B0604020202020204" pitchFamily="34" charset="0"/>
              </a:rPr>
              <a:t>Manage requirements – Quản lý yêu cầu</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rPr>
              <a:t>Requirement Management Sheet, Excel sheet dùng để kiểm tra trạng thái, mối liên hệ, sự thay đổi của các yêu cầu trong suốt dự án</a:t>
            </a:r>
          </a:p>
          <a:p>
            <a:pPr marL="342900" indent="-342900">
              <a:buFont typeface="Arial" panose="020B0604020202020204" pitchFamily="34" charset="0"/>
              <a:buChar char="•"/>
            </a:pPr>
            <a:r>
              <a:rPr lang="en-US" sz="2800">
                <a:latin typeface="Arial" panose="020B0604020202020204" pitchFamily="34" charset="0"/>
              </a:rPr>
              <a:t>Một tài liệu bắt buộc (dynamic version of SRS)</a:t>
            </a:r>
          </a:p>
          <a:p>
            <a:pPr marL="800100" lvl="1" indent="-342900">
              <a:buFont typeface="Arial" panose="020B0604020202020204" pitchFamily="34" charset="0"/>
              <a:buChar char="•"/>
            </a:pPr>
            <a:r>
              <a:rPr lang="en-US" sz="2800">
                <a:latin typeface="Arial" panose="020B0604020202020204" pitchFamily="34" charset="0"/>
              </a:rPr>
              <a:t>Phân loại yêu cầu (functional/non-functional)</a:t>
            </a:r>
          </a:p>
          <a:p>
            <a:pPr marL="800100" lvl="1" indent="-342900">
              <a:buFont typeface="Arial" panose="020B0604020202020204" pitchFamily="34" charset="0"/>
              <a:buChar char="•"/>
            </a:pPr>
            <a:r>
              <a:rPr lang="en-US" sz="2800">
                <a:latin typeface="Arial" panose="020B0604020202020204" pitchFamily="34" charset="0"/>
              </a:rPr>
              <a:t>Duy trì nơi tham khảo chung cho tất cả các bên</a:t>
            </a:r>
          </a:p>
          <a:p>
            <a:pPr marL="800100" lvl="1" indent="-342900">
              <a:buFont typeface="Arial" panose="020B0604020202020204" pitchFamily="34" charset="0"/>
              <a:buChar char="•"/>
            </a:pPr>
            <a:r>
              <a:rPr lang="en-US" sz="2800">
                <a:latin typeface="Arial" panose="020B0604020202020204" pitchFamily="34" charset="0"/>
              </a:rPr>
              <a:t>Theo dấu tiến độ dự án (thông qua status)</a:t>
            </a:r>
          </a:p>
          <a:p>
            <a:pPr marL="800100" lvl="1" indent="-342900">
              <a:buFont typeface="Arial" panose="020B0604020202020204" pitchFamily="34" charset="0"/>
              <a:buChar char="•"/>
            </a:pPr>
            <a:r>
              <a:rPr lang="en-US" sz="2800">
                <a:latin typeface="Arial" panose="020B0604020202020204" pitchFamily="34" charset="0"/>
              </a:rPr>
              <a:t>Theo dấu thay đổi yêu cầu (gồm các CR)</a:t>
            </a:r>
          </a:p>
          <a:p>
            <a:pPr marL="800100" lvl="1" indent="-342900">
              <a:buFont typeface="Arial" panose="020B0604020202020204" pitchFamily="34" charset="0"/>
              <a:buChar char="•"/>
            </a:pPr>
            <a:r>
              <a:rPr lang="en-US" sz="2800">
                <a:latin typeface="Arial" panose="020B0604020202020204" pitchFamily="34" charset="0"/>
              </a:rPr>
              <a:t>Thu thập các thang đo dựa trên yêu cầu và dùng để report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44</a:t>
            </a:fld>
            <a:endParaRPr lang="en-US" sz="2000" b="1">
              <a:solidFill>
                <a:srgbClr val="FF0000"/>
              </a:solidFill>
            </a:endParaRPr>
          </a:p>
        </p:txBody>
      </p:sp>
      <p:sp>
        <p:nvSpPr>
          <p:cNvPr id="13" name="TextBox 12"/>
          <p:cNvSpPr txBox="1"/>
          <p:nvPr/>
        </p:nvSpPr>
        <p:spPr>
          <a:xfrm>
            <a:off x="458786" y="1352491"/>
            <a:ext cx="8685213" cy="4093428"/>
          </a:xfrm>
          <a:prstGeom prst="rect">
            <a:avLst/>
          </a:prstGeom>
          <a:noFill/>
        </p:spPr>
        <p:txBody>
          <a:bodyPr wrap="square" rtlCol="0">
            <a:spAutoFit/>
          </a:bodyPr>
          <a:lstStyle/>
          <a:p>
            <a:r>
              <a:rPr lang="en-US" sz="3200" b="1">
                <a:solidFill>
                  <a:srgbClr val="FF0000"/>
                </a:solidFill>
                <a:latin typeface="Arial" panose="020B0604020202020204" pitchFamily="34" charset="0"/>
              </a:rPr>
              <a:t>Manage Traceability &amp; Requirement Status</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rPr>
              <a:t>Lý do:</a:t>
            </a:r>
          </a:p>
          <a:p>
            <a:pPr marL="800100" lvl="1" indent="-342900">
              <a:buFont typeface="Arial" panose="020B0604020202020204" pitchFamily="34" charset="0"/>
              <a:buChar char="•"/>
            </a:pPr>
            <a:r>
              <a:rPr lang="en-US" sz="2800">
                <a:latin typeface="Arial" panose="020B0604020202020204" pitchFamily="34" charset="0"/>
              </a:rPr>
              <a:t>Yêu cầu có thể thay đổi trong suốt vòng đời dự án</a:t>
            </a:r>
          </a:p>
          <a:p>
            <a:pPr marL="800100" lvl="1" indent="-342900">
              <a:buFont typeface="Arial" panose="020B0604020202020204" pitchFamily="34" charset="0"/>
              <a:buChar char="•"/>
            </a:pPr>
            <a:r>
              <a:rPr lang="en-US" sz="2800">
                <a:latin typeface="Arial" panose="020B0604020202020204" pitchFamily="34" charset="0"/>
              </a:rPr>
              <a:t>Nếu yêu cầu có thể được truy vết (traceable) thì khi thay đổi diễn ra, chúng ta dễ dàng tìm được các thành phần bị ảnh hưởng của sản phẩm ứng với thay đổi đó</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45</a:t>
            </a:fld>
            <a:endParaRPr lang="en-US" sz="2000" b="1">
              <a:solidFill>
                <a:srgbClr val="FF0000"/>
              </a:solidFill>
            </a:endParaRPr>
          </a:p>
        </p:txBody>
      </p:sp>
      <p:sp>
        <p:nvSpPr>
          <p:cNvPr id="13" name="TextBox 12"/>
          <p:cNvSpPr txBox="1"/>
          <p:nvPr/>
        </p:nvSpPr>
        <p:spPr>
          <a:xfrm>
            <a:off x="458786" y="1352491"/>
            <a:ext cx="8685213" cy="584775"/>
          </a:xfrm>
          <a:prstGeom prst="rect">
            <a:avLst/>
          </a:prstGeom>
          <a:noFill/>
        </p:spPr>
        <p:txBody>
          <a:bodyPr wrap="square" rtlCol="0">
            <a:spAutoFit/>
          </a:bodyPr>
          <a:lstStyle/>
          <a:p>
            <a:r>
              <a:rPr lang="en-US" sz="3200" b="1">
                <a:solidFill>
                  <a:srgbClr val="FF0000"/>
                </a:solidFill>
                <a:latin typeface="Arial" panose="020B0604020202020204" pitchFamily="34" charset="0"/>
              </a:rPr>
              <a:t>Manage Traceability &amp; Requirement Status</a:t>
            </a:r>
          </a:p>
        </p:txBody>
      </p:sp>
      <p:grpSp>
        <p:nvGrpSpPr>
          <p:cNvPr id="7" name="Group 6"/>
          <p:cNvGrpSpPr/>
          <p:nvPr/>
        </p:nvGrpSpPr>
        <p:grpSpPr>
          <a:xfrm>
            <a:off x="615386" y="2384425"/>
            <a:ext cx="7919014" cy="1981200"/>
            <a:chOff x="990600" y="2590800"/>
            <a:chExt cx="7010400" cy="1981200"/>
          </a:xfrm>
        </p:grpSpPr>
        <p:sp>
          <p:nvSpPr>
            <p:cNvPr id="8" name="Rectangle 2054"/>
            <p:cNvSpPr>
              <a:spLocks noChangeArrowheads="1"/>
            </p:cNvSpPr>
            <p:nvPr/>
          </p:nvSpPr>
          <p:spPr bwMode="auto">
            <a:xfrm>
              <a:off x="990600" y="2590800"/>
              <a:ext cx="1447800" cy="685800"/>
            </a:xfrm>
            <a:prstGeom prst="rect">
              <a:avLst/>
            </a:prstGeom>
            <a:solidFill>
              <a:schemeClr val="accent1"/>
            </a:solidFill>
            <a:ln w="9525">
              <a:solidFill>
                <a:schemeClr val="tx1"/>
              </a:solidFill>
              <a:miter lim="800000"/>
            </a:ln>
            <a:effectLst/>
          </p:spPr>
          <p:txBody>
            <a:bodyPr wrap="none" anchor="ctr"/>
            <a:lstStyle/>
            <a:p>
              <a:pPr algn="ctr"/>
              <a:r>
                <a:rPr lang="en-US" sz="1600">
                  <a:solidFill>
                    <a:schemeClr val="tx1"/>
                  </a:solidFill>
                  <a:latin typeface="Arial" panose="020B0604020202020204" pitchFamily="34" charset="0"/>
                </a:rPr>
                <a:t>User Needs</a:t>
              </a:r>
            </a:p>
          </p:txBody>
        </p:sp>
        <p:sp>
          <p:nvSpPr>
            <p:cNvPr id="9" name="Rectangle 2055"/>
            <p:cNvSpPr>
              <a:spLocks noChangeArrowheads="1"/>
            </p:cNvSpPr>
            <p:nvPr/>
          </p:nvSpPr>
          <p:spPr bwMode="auto">
            <a:xfrm>
              <a:off x="3810000" y="2590800"/>
              <a:ext cx="1447800" cy="685800"/>
            </a:xfrm>
            <a:prstGeom prst="rect">
              <a:avLst/>
            </a:prstGeom>
            <a:solidFill>
              <a:schemeClr val="accent1"/>
            </a:solidFill>
            <a:ln w="9525">
              <a:solidFill>
                <a:schemeClr val="tx1"/>
              </a:solidFill>
              <a:miter lim="800000"/>
            </a:ln>
            <a:effectLst/>
          </p:spPr>
          <p:txBody>
            <a:bodyPr wrap="none" anchor="ctr"/>
            <a:lstStyle/>
            <a:p>
              <a:pPr algn="ctr"/>
              <a:r>
                <a:rPr lang="en-US" sz="1600" dirty="0">
                  <a:solidFill>
                    <a:schemeClr val="tx1"/>
                  </a:solidFill>
                  <a:latin typeface="Arial" panose="020B0604020202020204" pitchFamily="34" charset="0"/>
                </a:rPr>
                <a:t>Software</a:t>
              </a:r>
            </a:p>
            <a:p>
              <a:pPr algn="ctr"/>
              <a:r>
                <a:rPr lang="en-US" sz="1600" dirty="0">
                  <a:solidFill>
                    <a:schemeClr val="tx1"/>
                  </a:solidFill>
                  <a:latin typeface="Arial" panose="020B0604020202020204" pitchFamily="34" charset="0"/>
                </a:rPr>
                <a:t>Requirements</a:t>
              </a:r>
            </a:p>
          </p:txBody>
        </p:sp>
        <p:sp>
          <p:nvSpPr>
            <p:cNvPr id="14" name="Rectangle 2056"/>
            <p:cNvSpPr>
              <a:spLocks noChangeArrowheads="1"/>
            </p:cNvSpPr>
            <p:nvPr/>
          </p:nvSpPr>
          <p:spPr bwMode="auto">
            <a:xfrm>
              <a:off x="6553200" y="2590800"/>
              <a:ext cx="1447800" cy="685800"/>
            </a:xfrm>
            <a:prstGeom prst="rect">
              <a:avLst/>
            </a:prstGeom>
            <a:solidFill>
              <a:schemeClr val="accent1"/>
            </a:solidFill>
            <a:ln w="9525">
              <a:solidFill>
                <a:schemeClr val="tx1"/>
              </a:solidFill>
              <a:miter lim="800000"/>
            </a:ln>
            <a:effectLst/>
          </p:spPr>
          <p:txBody>
            <a:bodyPr wrap="none" anchor="ctr"/>
            <a:lstStyle/>
            <a:p>
              <a:pPr algn="ctr"/>
              <a:r>
                <a:rPr lang="en-US" sz="1600">
                  <a:solidFill>
                    <a:schemeClr val="tx1"/>
                  </a:solidFill>
                  <a:latin typeface="Arial" panose="020B0604020202020204" pitchFamily="34" charset="0"/>
                </a:rPr>
                <a:t>Work</a:t>
              </a:r>
            </a:p>
            <a:p>
              <a:pPr algn="ctr"/>
              <a:r>
                <a:rPr lang="en-US" sz="1600">
                  <a:solidFill>
                    <a:schemeClr val="tx1"/>
                  </a:solidFill>
                  <a:latin typeface="Arial" panose="020B0604020202020204" pitchFamily="34" charset="0"/>
                </a:rPr>
                <a:t>Products</a:t>
              </a:r>
            </a:p>
          </p:txBody>
        </p:sp>
        <p:sp>
          <p:nvSpPr>
            <p:cNvPr id="15" name="Line 2057"/>
            <p:cNvSpPr>
              <a:spLocks noChangeShapeType="1"/>
            </p:cNvSpPr>
            <p:nvPr/>
          </p:nvSpPr>
          <p:spPr bwMode="auto">
            <a:xfrm>
              <a:off x="2438400" y="2743200"/>
              <a:ext cx="1371600" cy="0"/>
            </a:xfrm>
            <a:prstGeom prst="line">
              <a:avLst/>
            </a:prstGeom>
            <a:noFill/>
            <a:ln w="9525">
              <a:solidFill>
                <a:schemeClr val="tx1"/>
              </a:solidFill>
              <a:round/>
              <a:tailEnd type="triangle" w="med" len="med"/>
            </a:ln>
            <a:effectLst/>
          </p:spPr>
          <p:txBody>
            <a:bodyPr wrap="none" anchor="ctr"/>
            <a:lstStyle/>
            <a:p>
              <a:endParaRPr lang="en-US"/>
            </a:p>
          </p:txBody>
        </p:sp>
        <p:sp>
          <p:nvSpPr>
            <p:cNvPr id="16" name="Line 2058"/>
            <p:cNvSpPr>
              <a:spLocks noChangeShapeType="1"/>
            </p:cNvSpPr>
            <p:nvPr/>
          </p:nvSpPr>
          <p:spPr bwMode="auto">
            <a:xfrm>
              <a:off x="5257800" y="2667000"/>
              <a:ext cx="1371600" cy="0"/>
            </a:xfrm>
            <a:prstGeom prst="line">
              <a:avLst/>
            </a:prstGeom>
            <a:noFill/>
            <a:ln w="9525">
              <a:solidFill>
                <a:schemeClr val="tx1"/>
              </a:solidFill>
              <a:round/>
              <a:tailEnd type="triangle" w="med" len="med"/>
            </a:ln>
            <a:effectLst/>
          </p:spPr>
          <p:txBody>
            <a:bodyPr wrap="none" anchor="ctr"/>
            <a:lstStyle/>
            <a:p>
              <a:endParaRPr lang="en-US"/>
            </a:p>
          </p:txBody>
        </p:sp>
        <p:sp>
          <p:nvSpPr>
            <p:cNvPr id="17" name="Line 2059"/>
            <p:cNvSpPr>
              <a:spLocks noChangeShapeType="1"/>
            </p:cNvSpPr>
            <p:nvPr/>
          </p:nvSpPr>
          <p:spPr bwMode="auto">
            <a:xfrm flipH="1">
              <a:off x="5257800" y="3124200"/>
              <a:ext cx="1295400" cy="0"/>
            </a:xfrm>
            <a:prstGeom prst="line">
              <a:avLst/>
            </a:prstGeom>
            <a:noFill/>
            <a:ln w="9525">
              <a:solidFill>
                <a:schemeClr val="tx1"/>
              </a:solidFill>
              <a:round/>
              <a:tailEnd type="triangle" w="med" len="med"/>
            </a:ln>
            <a:effectLst/>
          </p:spPr>
          <p:txBody>
            <a:bodyPr wrap="none" anchor="ctr"/>
            <a:lstStyle/>
            <a:p>
              <a:endParaRPr lang="en-US"/>
            </a:p>
          </p:txBody>
        </p:sp>
        <p:sp>
          <p:nvSpPr>
            <p:cNvPr id="18" name="Line 2060"/>
            <p:cNvSpPr>
              <a:spLocks noChangeShapeType="1"/>
            </p:cNvSpPr>
            <p:nvPr/>
          </p:nvSpPr>
          <p:spPr bwMode="auto">
            <a:xfrm flipH="1">
              <a:off x="2438400" y="3124200"/>
              <a:ext cx="1371600" cy="0"/>
            </a:xfrm>
            <a:prstGeom prst="line">
              <a:avLst/>
            </a:prstGeom>
            <a:noFill/>
            <a:ln w="9525">
              <a:solidFill>
                <a:schemeClr val="tx1"/>
              </a:solidFill>
              <a:round/>
              <a:tailEnd type="triangle" w="med" len="med"/>
            </a:ln>
            <a:effectLst/>
          </p:spPr>
          <p:txBody>
            <a:bodyPr wrap="none" anchor="ctr"/>
            <a:lstStyle/>
            <a:p>
              <a:endParaRPr lang="en-US"/>
            </a:p>
          </p:txBody>
        </p:sp>
        <p:cxnSp>
          <p:nvCxnSpPr>
            <p:cNvPr id="19" name="AutoShape 2061"/>
            <p:cNvCxnSpPr>
              <a:cxnSpLocks noChangeShapeType="1"/>
              <a:stCxn id="8" idx="2"/>
              <a:endCxn id="8" idx="1"/>
            </p:cNvCxnSpPr>
            <p:nvPr/>
          </p:nvCxnSpPr>
          <p:spPr bwMode="auto">
            <a:xfrm rot="16200000" flipV="1">
              <a:off x="1181100" y="2743200"/>
              <a:ext cx="342900" cy="723900"/>
            </a:xfrm>
            <a:prstGeom prst="curvedConnector4">
              <a:avLst>
                <a:gd name="adj1" fmla="val -88426"/>
                <a:gd name="adj2" fmla="val 131579"/>
              </a:avLst>
            </a:prstGeom>
            <a:noFill/>
            <a:ln w="9525">
              <a:solidFill>
                <a:schemeClr val="tx1"/>
              </a:solidFill>
              <a:round/>
              <a:tailEnd type="triangle" w="med" len="med"/>
            </a:ln>
            <a:effectLst/>
          </p:spPr>
        </p:cxnSp>
        <p:cxnSp>
          <p:nvCxnSpPr>
            <p:cNvPr id="20" name="AutoShape 2062"/>
            <p:cNvCxnSpPr>
              <a:cxnSpLocks noChangeShapeType="1"/>
              <a:stCxn id="9" idx="2"/>
              <a:endCxn id="9" idx="3"/>
            </p:cNvCxnSpPr>
            <p:nvPr/>
          </p:nvCxnSpPr>
          <p:spPr bwMode="auto">
            <a:xfrm rot="5400000" flipH="1" flipV="1">
              <a:off x="4724400" y="2743200"/>
              <a:ext cx="342900" cy="723900"/>
            </a:xfrm>
            <a:prstGeom prst="curvedConnector4">
              <a:avLst>
                <a:gd name="adj1" fmla="val -116204"/>
                <a:gd name="adj2" fmla="val 131579"/>
              </a:avLst>
            </a:prstGeom>
            <a:noFill/>
            <a:ln w="9525">
              <a:solidFill>
                <a:schemeClr val="tx1"/>
              </a:solidFill>
              <a:round/>
              <a:tailEnd type="triangle" w="med" len="med"/>
            </a:ln>
            <a:effectLst/>
          </p:spPr>
        </p:cxnSp>
        <p:cxnSp>
          <p:nvCxnSpPr>
            <p:cNvPr id="21" name="AutoShape 2063"/>
            <p:cNvCxnSpPr>
              <a:cxnSpLocks noChangeShapeType="1"/>
              <a:stCxn id="14" idx="2"/>
              <a:endCxn id="14" idx="3"/>
            </p:cNvCxnSpPr>
            <p:nvPr/>
          </p:nvCxnSpPr>
          <p:spPr bwMode="auto">
            <a:xfrm rot="5400000" flipH="1" flipV="1">
              <a:off x="7467600" y="2743200"/>
              <a:ext cx="342900" cy="723900"/>
            </a:xfrm>
            <a:prstGeom prst="curvedConnector4">
              <a:avLst>
                <a:gd name="adj1" fmla="val -132870"/>
                <a:gd name="adj2" fmla="val 131579"/>
              </a:avLst>
            </a:prstGeom>
            <a:noFill/>
            <a:ln w="9525">
              <a:solidFill>
                <a:schemeClr val="tx1"/>
              </a:solidFill>
              <a:round/>
              <a:tailEnd type="triangle" w="med" len="med"/>
            </a:ln>
            <a:effectLst/>
          </p:spPr>
        </p:cxnSp>
        <p:sp>
          <p:nvSpPr>
            <p:cNvPr id="22" name="Text Box 2066"/>
            <p:cNvSpPr txBox="1">
              <a:spLocks noChangeArrowheads="1"/>
            </p:cNvSpPr>
            <p:nvPr/>
          </p:nvSpPr>
          <p:spPr bwMode="auto">
            <a:xfrm>
              <a:off x="2178050" y="3673475"/>
              <a:ext cx="1260475" cy="527050"/>
            </a:xfrm>
            <a:prstGeom prst="rect">
              <a:avLst/>
            </a:prstGeom>
            <a:noFill/>
            <a:ln w="9525">
              <a:solidFill>
                <a:schemeClr val="tx1"/>
              </a:solidFill>
              <a:miter lim="800000"/>
            </a:ln>
            <a:effectLst/>
          </p:spPr>
          <p:txBody>
            <a:bodyPr wrap="none" anchor="ctr">
              <a:spAutoFit/>
            </a:bodyPr>
            <a:lstStyle/>
            <a:p>
              <a:pPr algn="ctr"/>
              <a:r>
                <a:rPr lang="en-US" sz="1400" b="1" dirty="0">
                  <a:solidFill>
                    <a:schemeClr val="tx1"/>
                  </a:solidFill>
                  <a:latin typeface="Times New Roman" panose="02020603050405020304" pitchFamily="18" charset="0"/>
                </a:rPr>
                <a:t>Software </a:t>
              </a:r>
            </a:p>
            <a:p>
              <a:pPr algn="ctr"/>
              <a:r>
                <a:rPr lang="en-US" sz="1400" b="1" dirty="0">
                  <a:solidFill>
                    <a:schemeClr val="tx1"/>
                  </a:solidFill>
                  <a:latin typeface="Times New Roman" panose="02020603050405020304" pitchFamily="18" charset="0"/>
                </a:rPr>
                <a:t>Requirements</a:t>
              </a:r>
            </a:p>
          </p:txBody>
        </p:sp>
        <p:sp>
          <p:nvSpPr>
            <p:cNvPr id="23" name="Text Box 2067"/>
            <p:cNvSpPr txBox="1">
              <a:spLocks noChangeArrowheads="1"/>
            </p:cNvSpPr>
            <p:nvPr/>
          </p:nvSpPr>
          <p:spPr bwMode="auto">
            <a:xfrm>
              <a:off x="5562600" y="3568700"/>
              <a:ext cx="1662112" cy="527050"/>
            </a:xfrm>
            <a:prstGeom prst="rect">
              <a:avLst/>
            </a:prstGeom>
            <a:noFill/>
            <a:ln w="9525">
              <a:solidFill>
                <a:schemeClr val="tx1"/>
              </a:solidFill>
              <a:miter lim="800000"/>
            </a:ln>
            <a:effectLst/>
          </p:spPr>
          <p:txBody>
            <a:bodyPr wrap="none" anchor="ctr">
              <a:spAutoFit/>
            </a:bodyPr>
            <a:lstStyle/>
            <a:p>
              <a:pPr algn="ctr"/>
              <a:r>
                <a:rPr lang="en-US" sz="1400" b="1">
                  <a:solidFill>
                    <a:schemeClr val="tx1"/>
                  </a:solidFill>
                  <a:latin typeface="Times New Roman" panose="02020603050405020304" pitchFamily="18" charset="0"/>
                </a:rPr>
                <a:t>Use cases/</a:t>
              </a:r>
            </a:p>
            <a:p>
              <a:pPr algn="ctr"/>
              <a:r>
                <a:rPr lang="en-US" sz="1400" b="1">
                  <a:solidFill>
                    <a:schemeClr val="tx1"/>
                  </a:solidFill>
                  <a:latin typeface="Times New Roman" panose="02020603050405020304" pitchFamily="18" charset="0"/>
                </a:rPr>
                <a:t>User Requirements</a:t>
              </a:r>
            </a:p>
          </p:txBody>
        </p:sp>
        <p:sp>
          <p:nvSpPr>
            <p:cNvPr id="24" name="Text Box 2068"/>
            <p:cNvSpPr txBox="1">
              <a:spLocks noChangeArrowheads="1"/>
            </p:cNvSpPr>
            <p:nvPr/>
          </p:nvSpPr>
          <p:spPr bwMode="auto">
            <a:xfrm>
              <a:off x="4191000" y="4225925"/>
              <a:ext cx="1655762" cy="346075"/>
            </a:xfrm>
            <a:prstGeom prst="rect">
              <a:avLst/>
            </a:prstGeom>
            <a:noFill/>
            <a:ln w="9525">
              <a:solidFill>
                <a:schemeClr val="tx1"/>
              </a:solidFill>
              <a:miter lim="800000"/>
            </a:ln>
            <a:effectLst/>
          </p:spPr>
          <p:txBody>
            <a:bodyPr anchor="ctr">
              <a:spAutoFit/>
            </a:bodyPr>
            <a:lstStyle/>
            <a:p>
              <a:pPr algn="ctr"/>
              <a:r>
                <a:rPr lang="en-US" sz="1600" b="1" dirty="0">
                  <a:solidFill>
                    <a:schemeClr val="tx1"/>
                  </a:solidFill>
                  <a:latin typeface="Times New Roman" panose="02020603050405020304" pitchFamily="18" charset="0"/>
                </a:rPr>
                <a:t>Test cases</a:t>
              </a:r>
            </a:p>
          </p:txBody>
        </p:sp>
        <p:sp>
          <p:nvSpPr>
            <p:cNvPr id="25" name="Line 2069"/>
            <p:cNvSpPr>
              <a:spLocks noChangeShapeType="1"/>
            </p:cNvSpPr>
            <p:nvPr/>
          </p:nvSpPr>
          <p:spPr bwMode="auto">
            <a:xfrm flipV="1">
              <a:off x="3408362" y="3843338"/>
              <a:ext cx="2111375" cy="50800"/>
            </a:xfrm>
            <a:prstGeom prst="line">
              <a:avLst/>
            </a:prstGeom>
            <a:noFill/>
            <a:ln w="9525">
              <a:solidFill>
                <a:schemeClr val="tx1"/>
              </a:solidFill>
              <a:round/>
              <a:tailEnd type="triangle" w="med" len="med"/>
            </a:ln>
            <a:effectLst/>
          </p:spPr>
          <p:txBody>
            <a:bodyPr wrap="none" anchor="ctr"/>
            <a:lstStyle/>
            <a:p>
              <a:endParaRPr lang="en-US"/>
            </a:p>
          </p:txBody>
        </p:sp>
        <p:sp>
          <p:nvSpPr>
            <p:cNvPr id="26" name="Line 2070"/>
            <p:cNvSpPr>
              <a:spLocks noChangeShapeType="1"/>
            </p:cNvSpPr>
            <p:nvPr/>
          </p:nvSpPr>
          <p:spPr bwMode="auto">
            <a:xfrm>
              <a:off x="3408362" y="3894138"/>
              <a:ext cx="782638" cy="449261"/>
            </a:xfrm>
            <a:prstGeom prst="line">
              <a:avLst/>
            </a:prstGeom>
            <a:noFill/>
            <a:ln w="9525">
              <a:solidFill>
                <a:schemeClr val="tx1"/>
              </a:solidFill>
              <a:round/>
              <a:tailEnd type="triangle" w="med" len="med"/>
            </a:ln>
            <a:effectLst/>
          </p:spPr>
          <p:txBody>
            <a:bodyPr wrap="none" anchor="ctr"/>
            <a:lstStyle/>
            <a:p>
              <a:endParaRPr lang="en-US"/>
            </a:p>
          </p:txBody>
        </p:sp>
        <p:cxnSp>
          <p:nvCxnSpPr>
            <p:cNvPr id="27" name="AutoShape 2071"/>
            <p:cNvCxnSpPr>
              <a:cxnSpLocks noChangeShapeType="1"/>
              <a:stCxn id="22" idx="2"/>
              <a:endCxn id="22" idx="1"/>
            </p:cNvCxnSpPr>
            <p:nvPr/>
          </p:nvCxnSpPr>
          <p:spPr bwMode="auto">
            <a:xfrm rot="16200000" flipV="1">
              <a:off x="2361406" y="3753644"/>
              <a:ext cx="263525" cy="630237"/>
            </a:xfrm>
            <a:prstGeom prst="curvedConnector4">
              <a:avLst>
                <a:gd name="adj1" fmla="val -86745"/>
                <a:gd name="adj2" fmla="val 136273"/>
              </a:avLst>
            </a:prstGeom>
            <a:noFill/>
            <a:ln w="9525">
              <a:solidFill>
                <a:schemeClr val="tx1"/>
              </a:solidFill>
              <a:round/>
              <a:tailEnd type="triangle" w="med" len="med"/>
            </a:ln>
            <a:effectLst/>
          </p:spPr>
        </p:cxnSp>
      </p:grpSp>
      <p:pic>
        <p:nvPicPr>
          <p:cNvPr id="28" name="Picture 3"/>
          <p:cNvPicPr>
            <a:picLocks noChangeAspect="1" noChangeArrowheads="1"/>
          </p:cNvPicPr>
          <p:nvPr/>
        </p:nvPicPr>
        <p:blipFill rotWithShape="1">
          <a:blip r:embed="rId3" cstate="print"/>
          <a:srcRect b="44421"/>
          <a:stretch>
            <a:fillRect/>
          </a:stretch>
        </p:blipFill>
        <p:spPr bwMode="auto">
          <a:xfrm>
            <a:off x="198448" y="4600940"/>
            <a:ext cx="8716951" cy="1723659"/>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46</a:t>
            </a:fld>
            <a:endParaRPr lang="en-US" sz="2000" b="1">
              <a:solidFill>
                <a:srgbClr val="FF0000"/>
              </a:solidFill>
            </a:endParaRPr>
          </a:p>
        </p:txBody>
      </p:sp>
      <p:sp>
        <p:nvSpPr>
          <p:cNvPr id="13" name="TextBox 12"/>
          <p:cNvSpPr txBox="1"/>
          <p:nvPr/>
        </p:nvSpPr>
        <p:spPr>
          <a:xfrm>
            <a:off x="458786" y="1352491"/>
            <a:ext cx="8685213" cy="4955203"/>
          </a:xfrm>
          <a:prstGeom prst="rect">
            <a:avLst/>
          </a:prstGeom>
          <a:noFill/>
        </p:spPr>
        <p:txBody>
          <a:bodyPr wrap="square" rtlCol="0">
            <a:spAutoFit/>
          </a:bodyPr>
          <a:lstStyle/>
          <a:p>
            <a:r>
              <a:rPr lang="en-US" sz="3200" b="1">
                <a:solidFill>
                  <a:srgbClr val="FF0000"/>
                </a:solidFill>
                <a:latin typeface="Arial" panose="020B0604020202020204" pitchFamily="34" charset="0"/>
              </a:rPr>
              <a:t>Manage Requirements Changes &amp; Status</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rPr>
              <a:t>Requirements change (</a:t>
            </a:r>
            <a:r>
              <a:rPr lang="en-US" sz="2800" i="1">
                <a:solidFill>
                  <a:srgbClr val="FF0000"/>
                </a:solidFill>
                <a:latin typeface="Arial" panose="020B0604020202020204" pitchFamily="34" charset="0"/>
              </a:rPr>
              <a:t>CR – Change request</a:t>
            </a:r>
            <a:r>
              <a:rPr lang="en-US" sz="2800">
                <a:latin typeface="Arial" panose="020B0604020202020204" pitchFamily="34" charset="0"/>
              </a:rPr>
              <a:t>)</a:t>
            </a:r>
          </a:p>
          <a:p>
            <a:pPr marL="800100" lvl="1" indent="-342900">
              <a:buFont typeface="Arial" panose="020B0604020202020204" pitchFamily="34" charset="0"/>
              <a:buChar char="•"/>
            </a:pPr>
            <a:r>
              <a:rPr lang="en-US" sz="2800">
                <a:latin typeface="Arial" panose="020B0604020202020204" pitchFamily="34" charset="0"/>
              </a:rPr>
              <a:t>The priority of requirements from different viewpoints changes during the development process</a:t>
            </a:r>
          </a:p>
          <a:p>
            <a:pPr marL="800100" lvl="1" indent="-342900">
              <a:buFont typeface="Arial" panose="020B0604020202020204" pitchFamily="34" charset="0"/>
              <a:buChar char="•"/>
            </a:pPr>
            <a:r>
              <a:rPr lang="en-US" sz="2800">
                <a:latin typeface="Arial" panose="020B0604020202020204" pitchFamily="34" charset="0"/>
              </a:rPr>
              <a:t>Customers may specify requirements from a business perspective that conflict with end-user requirements</a:t>
            </a:r>
          </a:p>
          <a:p>
            <a:pPr marL="800100" lvl="1" indent="-342900">
              <a:buFont typeface="Arial" panose="020B0604020202020204" pitchFamily="34" charset="0"/>
              <a:buChar char="•"/>
            </a:pPr>
            <a:r>
              <a:rPr lang="en-US" sz="2800">
                <a:latin typeface="Arial" panose="020B0604020202020204" pitchFamily="34" charset="0"/>
              </a:rPr>
              <a:t>The business and technical environment of the system changes during its development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Requirement Process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47</a:t>
            </a:fld>
            <a:endParaRPr lang="en-US" sz="2000" b="1">
              <a:solidFill>
                <a:srgbClr val="FF0000"/>
              </a:solidFill>
            </a:endParaRPr>
          </a:p>
        </p:txBody>
      </p:sp>
      <p:sp>
        <p:nvSpPr>
          <p:cNvPr id="13" name="TextBox 12"/>
          <p:cNvSpPr txBox="1"/>
          <p:nvPr/>
        </p:nvSpPr>
        <p:spPr>
          <a:xfrm>
            <a:off x="458786" y="1352491"/>
            <a:ext cx="8685213" cy="1508105"/>
          </a:xfrm>
          <a:prstGeom prst="rect">
            <a:avLst/>
          </a:prstGeom>
          <a:noFill/>
        </p:spPr>
        <p:txBody>
          <a:bodyPr wrap="square" rtlCol="0">
            <a:spAutoFit/>
          </a:bodyPr>
          <a:lstStyle/>
          <a:p>
            <a:r>
              <a:rPr lang="en-US" sz="3200" b="1">
                <a:solidFill>
                  <a:srgbClr val="FF0000"/>
                </a:solidFill>
                <a:latin typeface="Arial" panose="020B0604020202020204" pitchFamily="34" charset="0"/>
              </a:rPr>
              <a:t>Manage Requirements Changes &amp; Status</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rPr>
              <a:t>Requirement Change Process</a:t>
            </a:r>
          </a:p>
        </p:txBody>
      </p:sp>
      <p:pic>
        <p:nvPicPr>
          <p:cNvPr id="7" name="Picture 5"/>
          <p:cNvPicPr>
            <a:picLocks noChangeAspect="1" noChangeArrowheads="1"/>
          </p:cNvPicPr>
          <p:nvPr/>
        </p:nvPicPr>
        <p:blipFill>
          <a:blip r:embed="rId3" cstate="print"/>
          <a:srcRect/>
          <a:stretch>
            <a:fillRect/>
          </a:stretch>
        </p:blipFill>
        <p:spPr bwMode="auto">
          <a:xfrm>
            <a:off x="315349" y="3275012"/>
            <a:ext cx="8226425" cy="917575"/>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Làm rõ yêu cầu</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48</a:t>
            </a:fld>
            <a:endParaRPr lang="en-US" sz="2000" b="1">
              <a:solidFill>
                <a:srgbClr val="FF0000"/>
              </a:solidFill>
            </a:endParaRPr>
          </a:p>
        </p:txBody>
      </p:sp>
      <p:sp>
        <p:nvSpPr>
          <p:cNvPr id="13" name="TextBox 12"/>
          <p:cNvSpPr txBox="1"/>
          <p:nvPr/>
        </p:nvSpPr>
        <p:spPr>
          <a:xfrm>
            <a:off x="458786" y="1352491"/>
            <a:ext cx="8685213" cy="5386090"/>
          </a:xfrm>
          <a:prstGeom prst="rect">
            <a:avLst/>
          </a:prstGeom>
          <a:noFill/>
        </p:spPr>
        <p:txBody>
          <a:bodyPr wrap="square" rtlCol="0">
            <a:spAutoFit/>
          </a:bodyPr>
          <a:lstStyle/>
          <a:p>
            <a:r>
              <a:rPr lang="en-US" sz="3200" b="1">
                <a:solidFill>
                  <a:srgbClr val="FF0000"/>
                </a:solidFill>
                <a:latin typeface="Arial" panose="020B0604020202020204" pitchFamily="34" charset="0"/>
              </a:rPr>
              <a:t>Làm rõ yêu cầu</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rPr>
              <a:t>PM/TL/BA trình bày SRS tới các team members</a:t>
            </a:r>
          </a:p>
          <a:p>
            <a:pPr marL="342900" indent="-342900">
              <a:buFont typeface="Arial" panose="020B0604020202020204" pitchFamily="34" charset="0"/>
              <a:buChar char="•"/>
            </a:pPr>
            <a:r>
              <a:rPr lang="en-US" sz="2800">
                <a:latin typeface="Arial" panose="020B0604020202020204" pitchFamily="34" charset="0"/>
              </a:rPr>
              <a:t>Tự nghiên cứu các tài liệu liên quan: top-down approach</a:t>
            </a:r>
          </a:p>
          <a:p>
            <a:pPr marL="342900" indent="-342900">
              <a:buFont typeface="Arial" panose="020B0604020202020204" pitchFamily="34" charset="0"/>
              <a:buChar char="•"/>
            </a:pPr>
            <a:r>
              <a:rPr lang="en-US" sz="2800">
                <a:latin typeface="Arial" panose="020B0604020202020204" pitchFamily="34" charset="0"/>
              </a:rPr>
              <a:t>Sử dụng SRS review checklist</a:t>
            </a:r>
          </a:p>
          <a:p>
            <a:pPr marL="342900" indent="-342900">
              <a:buFont typeface="Arial" panose="020B0604020202020204" pitchFamily="34" charset="0"/>
              <a:buChar char="•"/>
            </a:pPr>
            <a:r>
              <a:rPr lang="en-US" sz="2800">
                <a:latin typeface="Arial" panose="020B0604020202020204" pitchFamily="34" charset="0"/>
              </a:rPr>
              <a:t>Làm rõ các mục không rõ bằng cách sử dụng Q&amp;A</a:t>
            </a:r>
          </a:p>
          <a:p>
            <a:pPr marL="342900" indent="-342900">
              <a:buFont typeface="Arial" panose="020B0604020202020204" pitchFamily="34" charset="0"/>
              <a:buChar char="•"/>
            </a:pPr>
            <a:r>
              <a:rPr lang="en-US" sz="2800">
                <a:latin typeface="Arial" panose="020B0604020202020204" pitchFamily="34" charset="0"/>
              </a:rPr>
              <a:t>Thảo luận với các thành viên trong nhóm để xác nhận các vấn đề</a:t>
            </a:r>
          </a:p>
          <a:p>
            <a:pPr marL="342900" indent="-342900">
              <a:buFont typeface="Arial" panose="020B0604020202020204" pitchFamily="34" charset="0"/>
              <a:buChar char="•"/>
            </a:pPr>
            <a:r>
              <a:rPr lang="en-US" sz="2800">
                <a:latin typeface="Arial" panose="020B0604020202020204" pitchFamily="34" charset="0"/>
              </a:rPr>
              <a:t>Thông báo cho PM/TL/BA về các yêu cầu mâu thuẫn hay các thay đổi khi so sánh với version cuối cùng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Làm rõ yêu cầu – Q&amp;A</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49</a:t>
            </a:fld>
            <a:endParaRPr lang="en-US" sz="2000" b="1">
              <a:solidFill>
                <a:srgbClr val="FF0000"/>
              </a:solidFill>
            </a:endParaRPr>
          </a:p>
        </p:txBody>
      </p:sp>
      <p:sp>
        <p:nvSpPr>
          <p:cNvPr id="13" name="TextBox 12"/>
          <p:cNvSpPr txBox="1"/>
          <p:nvPr/>
        </p:nvSpPr>
        <p:spPr>
          <a:xfrm>
            <a:off x="458786" y="1352491"/>
            <a:ext cx="8685213" cy="2800767"/>
          </a:xfrm>
          <a:prstGeom prst="rect">
            <a:avLst/>
          </a:prstGeom>
          <a:noFill/>
        </p:spPr>
        <p:txBody>
          <a:bodyPr wrap="square" rtlCol="0">
            <a:spAutoFit/>
          </a:bodyPr>
          <a:lstStyle/>
          <a:p>
            <a:r>
              <a:rPr lang="en-US" sz="3200" b="1">
                <a:solidFill>
                  <a:srgbClr val="FF0000"/>
                </a:solidFill>
                <a:latin typeface="Arial" panose="020B0604020202020204" pitchFamily="34" charset="0"/>
              </a:rPr>
              <a:t>Làm rõ yêu cầu - sử dụng Q&amp;A</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rPr>
              <a:t>Lý do: các vấn đề đọc-hiểu, muốn hiểu rõ </a:t>
            </a:r>
            <a:r>
              <a:rPr lang="en-US" sz="2800">
                <a:latin typeface="Arial" panose="020B0604020202020204" pitchFamily="34" charset="0"/>
                <a:sym typeface="Wingdings" panose="05000000000000000000" pitchFamily="2" charset="2"/>
              </a:rPr>
              <a:t> phải hỏi (tham khảo </a:t>
            </a:r>
            <a:r>
              <a:rPr lang="en-US" sz="2800">
                <a:hlinkClick r:id="rId3" action="ppaction://hlinkfile"/>
              </a:rPr>
              <a:t>Q&amp;A Making Guideline</a:t>
            </a:r>
            <a:r>
              <a:rPr lang="en-US" sz="2800"/>
              <a:t>)</a:t>
            </a:r>
          </a:p>
          <a:p>
            <a:pPr marL="342900" indent="-342900">
              <a:buFont typeface="Arial" panose="020B0604020202020204" pitchFamily="34" charset="0"/>
              <a:buChar char="•"/>
            </a:pPr>
            <a:endParaRPr lang="en-US" sz="2800">
              <a:latin typeface="Arial" panose="020B0604020202020204" pitchFamily="34" charset="0"/>
            </a:endParaRPr>
          </a:p>
          <a:p>
            <a:pPr marL="342900" indent="-342900">
              <a:buFont typeface="Arial" panose="020B0604020202020204" pitchFamily="34" charset="0"/>
              <a:buChar char="•"/>
            </a:pPr>
            <a:endParaRPr lang="en-US" sz="2800">
              <a:latin typeface="Arial" panose="020B0604020202020204" pitchFamily="34" charset="0"/>
            </a:endParaRPr>
          </a:p>
        </p:txBody>
      </p:sp>
      <p:pic>
        <p:nvPicPr>
          <p:cNvPr id="8" name="Picture 2" descr="SaxeElephant"/>
          <p:cNvPicPr>
            <a:picLocks noChangeAspect="1" noChangeArrowheads="1"/>
          </p:cNvPicPr>
          <p:nvPr/>
        </p:nvPicPr>
        <p:blipFill>
          <a:blip r:embed="rId4" cstate="print"/>
          <a:srcRect/>
          <a:stretch>
            <a:fillRect/>
          </a:stretch>
        </p:blipFill>
        <p:spPr bwMode="auto">
          <a:xfrm>
            <a:off x="155575" y="3523246"/>
            <a:ext cx="3962400" cy="2725153"/>
          </a:xfrm>
          <a:prstGeom prst="rect">
            <a:avLst/>
          </a:prstGeom>
          <a:noFill/>
        </p:spPr>
      </p:pic>
      <p:pic>
        <p:nvPicPr>
          <p:cNvPr id="9" name="Picture 1" descr="AfricanElephant"/>
          <p:cNvPicPr>
            <a:picLocks noChangeAspect="1" noChangeArrowheads="1"/>
          </p:cNvPicPr>
          <p:nvPr/>
        </p:nvPicPr>
        <p:blipFill>
          <a:blip r:embed="rId5" cstate="print"/>
          <a:srcRect/>
          <a:stretch>
            <a:fillRect/>
          </a:stretch>
        </p:blipFill>
        <p:spPr bwMode="auto">
          <a:xfrm>
            <a:off x="5410200" y="3606965"/>
            <a:ext cx="3505200" cy="2661100"/>
          </a:xfrm>
          <a:prstGeom prst="rect">
            <a:avLst/>
          </a:prstGeom>
          <a:noFill/>
        </p:spPr>
      </p:pic>
      <p:sp>
        <p:nvSpPr>
          <p:cNvPr id="14" name="AutoShape 3"/>
          <p:cNvSpPr>
            <a:spLocks noChangeArrowheads="1"/>
          </p:cNvSpPr>
          <p:nvPr/>
        </p:nvSpPr>
        <p:spPr bwMode="auto">
          <a:xfrm>
            <a:off x="4422775" y="4590047"/>
            <a:ext cx="609600" cy="342900"/>
          </a:xfrm>
          <a:prstGeom prst="rightArrow">
            <a:avLst>
              <a:gd name="adj1" fmla="val 50000"/>
              <a:gd name="adj2" fmla="val 44444"/>
            </a:avLst>
          </a:prstGeom>
          <a:solidFill>
            <a:srgbClr val="99CC00"/>
          </a:solidFill>
          <a:ln w="9525">
            <a:solidFill>
              <a:srgbClr val="000000"/>
            </a:solidFill>
            <a:miter lim="800000"/>
          </a:ln>
        </p:spPr>
        <p:txBody>
          <a:bodyPr vert="horz" wrap="square" lIns="91440" tIns="45720" rIns="91440" bIns="45720" numCol="1" anchor="t" anchorCtr="0" compatLnSpc="1"/>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Làm rõ yêu cầu – Q&amp;A</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50</a:t>
            </a:fld>
            <a:endParaRPr lang="en-US" sz="2000" b="1">
              <a:solidFill>
                <a:srgbClr val="FF0000"/>
              </a:solidFill>
            </a:endParaRPr>
          </a:p>
        </p:txBody>
      </p:sp>
      <p:sp>
        <p:nvSpPr>
          <p:cNvPr id="13" name="TextBox 12"/>
          <p:cNvSpPr txBox="1"/>
          <p:nvPr/>
        </p:nvSpPr>
        <p:spPr>
          <a:xfrm>
            <a:off x="155575" y="1143000"/>
            <a:ext cx="8685213" cy="4524315"/>
          </a:xfrm>
          <a:prstGeom prst="rect">
            <a:avLst/>
          </a:prstGeom>
          <a:noFill/>
        </p:spPr>
        <p:txBody>
          <a:bodyPr wrap="square" rtlCol="0">
            <a:spAutoFit/>
          </a:bodyPr>
          <a:lstStyle/>
          <a:p>
            <a:r>
              <a:rPr lang="en-US" sz="3200" b="1">
                <a:solidFill>
                  <a:srgbClr val="FF0000"/>
                </a:solidFill>
                <a:latin typeface="Arial" panose="020B0604020202020204" pitchFamily="34" charset="0"/>
              </a:rPr>
              <a:t>Cách xây dựng Q&amp;A hiệu quả:</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Xác định các vấn đề tồn tại, không rõ ràng ...</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Kiểm tra tất cả tài liệu mà customer đã cung cấp để đảm bảo rằng câu hỏi chưa được giải quyết</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Với những câu hỏi kĩ thuật, kiểm tra trong nội bộ team/group/company hoặc tra cứu trên mạng để tìm cách giải quyết trước khi đặt câu hỏi cho khách hàng</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Tài liệu tham khảo chéo rõ ràng, hoàn chỉnh</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Làm rõ yêu cầu – Q&amp;A</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51</a:t>
            </a:fld>
            <a:endParaRPr lang="en-US" sz="2000" b="1">
              <a:solidFill>
                <a:srgbClr val="FF0000"/>
              </a:solidFill>
            </a:endParaRPr>
          </a:p>
        </p:txBody>
      </p:sp>
      <p:sp>
        <p:nvSpPr>
          <p:cNvPr id="13" name="TextBox 12"/>
          <p:cNvSpPr txBox="1"/>
          <p:nvPr/>
        </p:nvSpPr>
        <p:spPr>
          <a:xfrm>
            <a:off x="155575" y="1143000"/>
            <a:ext cx="8685213" cy="3231654"/>
          </a:xfrm>
          <a:prstGeom prst="rect">
            <a:avLst/>
          </a:prstGeom>
          <a:noFill/>
        </p:spPr>
        <p:txBody>
          <a:bodyPr wrap="square" rtlCol="0">
            <a:spAutoFit/>
          </a:bodyPr>
          <a:lstStyle/>
          <a:p>
            <a:r>
              <a:rPr lang="en-US" sz="3200" b="1">
                <a:solidFill>
                  <a:srgbClr val="FF0000"/>
                </a:solidFill>
                <a:latin typeface="Arial" panose="020B0604020202020204" pitchFamily="34" charset="0"/>
              </a:rPr>
              <a:t>Cách xây dựng Q&amp;A hiệu quả:</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Đính kèm các hình chụp màn hình mẫu, demo, đề xuất ý tưởng của mình (nếu có). Nên đặt câu hỏi dạng Y/N</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Nêu rõ deadline mình cần &amp; ảnh hưởng nếu không có câu trả lời đúng hạn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Làm rõ yêu cầu – Q&amp;A</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52</a:t>
            </a:fld>
            <a:endParaRPr lang="en-US" sz="2000" b="1">
              <a:solidFill>
                <a:srgbClr val="FF0000"/>
              </a:solidFill>
            </a:endParaRPr>
          </a:p>
        </p:txBody>
      </p:sp>
      <p:sp>
        <p:nvSpPr>
          <p:cNvPr id="13" name="TextBox 12"/>
          <p:cNvSpPr txBox="1"/>
          <p:nvPr/>
        </p:nvSpPr>
        <p:spPr>
          <a:xfrm>
            <a:off x="155575" y="1143000"/>
            <a:ext cx="8685213" cy="4524315"/>
          </a:xfrm>
          <a:prstGeom prst="rect">
            <a:avLst/>
          </a:prstGeom>
          <a:noFill/>
        </p:spPr>
        <p:txBody>
          <a:bodyPr wrap="square" rtlCol="0">
            <a:spAutoFit/>
          </a:bodyPr>
          <a:lstStyle/>
          <a:p>
            <a:r>
              <a:rPr lang="en-US" sz="3200" b="1">
                <a:solidFill>
                  <a:srgbClr val="FF0000"/>
                </a:solidFill>
                <a:latin typeface="Arial" panose="020B0604020202020204" pitchFamily="34" charset="0"/>
              </a:rPr>
              <a:t>Cần tập trung vào:</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Những ý đi kèm với các từ: có lẽ (may be), một cách tổng quan (generally)</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Làm rõ tất cả các </a:t>
            </a:r>
            <a:r>
              <a:rPr lang="en-US" sz="2800" i="1">
                <a:solidFill>
                  <a:srgbClr val="FF0000"/>
                </a:solidFill>
                <a:latin typeface="Arial" panose="020B0604020202020204" pitchFamily="34" charset="0"/>
                <a:cs typeface="Arial" panose="020B0604020202020204" pitchFamily="34" charset="0"/>
              </a:rPr>
              <a:t>TBDs</a:t>
            </a:r>
            <a:r>
              <a:rPr lang="en-US" sz="2800">
                <a:solidFill>
                  <a:srgbClr val="FF0000"/>
                </a:solidFill>
                <a:latin typeface="Arial" panose="020B0604020202020204" pitchFamily="34" charset="0"/>
                <a:cs typeface="Arial" panose="020B0604020202020204" pitchFamily="34" charset="0"/>
              </a:rPr>
              <a:t> </a:t>
            </a:r>
            <a:r>
              <a:rPr lang="en-US" sz="2800">
                <a:latin typeface="Arial" panose="020B0604020202020204" pitchFamily="34" charset="0"/>
                <a:cs typeface="Arial" panose="020B0604020202020204" pitchFamily="34" charset="0"/>
              </a:rPr>
              <a:t>trước khi giao cho developer thực hiện thiết kế hoặc coding</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Các mâu thuẫn (conflict) giữa các yêu cầu</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Đọc </a:t>
            </a:r>
            <a:r>
              <a:rPr lang="en-US" sz="2800" i="1">
                <a:solidFill>
                  <a:srgbClr val="FF0000"/>
                </a:solidFill>
                <a:latin typeface="Arial" panose="020B0604020202020204" pitchFamily="34" charset="0"/>
                <a:cs typeface="Arial" panose="020B0604020202020204" pitchFamily="34" charset="0"/>
              </a:rPr>
              <a:t>requirement matrix</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Không được tự giả định, hãy hỏi PM, PL hoặc BA để có câu trả lời rõ ràng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Làm rõ yêu cầu – Q&amp;A</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53</a:t>
            </a:fld>
            <a:endParaRPr lang="en-US" sz="2000" b="1">
              <a:solidFill>
                <a:srgbClr val="FF0000"/>
              </a:solidFill>
            </a:endParaRPr>
          </a:p>
        </p:txBody>
      </p:sp>
      <p:sp>
        <p:nvSpPr>
          <p:cNvPr id="13" name="TextBox 12"/>
          <p:cNvSpPr txBox="1"/>
          <p:nvPr/>
        </p:nvSpPr>
        <p:spPr>
          <a:xfrm>
            <a:off x="155575" y="1143000"/>
            <a:ext cx="8685213" cy="5386090"/>
          </a:xfrm>
          <a:prstGeom prst="rect">
            <a:avLst/>
          </a:prstGeom>
          <a:noFill/>
        </p:spPr>
        <p:txBody>
          <a:bodyPr wrap="square" rtlCol="0">
            <a:spAutoFit/>
          </a:bodyPr>
          <a:lstStyle/>
          <a:p>
            <a:r>
              <a:rPr lang="en-US" sz="3200" b="1">
                <a:solidFill>
                  <a:srgbClr val="FF0000"/>
                </a:solidFill>
                <a:latin typeface="Arial" panose="020B0604020202020204" pitchFamily="34" charset="0"/>
              </a:rPr>
              <a:t>Theo sát Q&amp;A:</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Kiểm tra lịch sử thảo luận nhóm để dễ theo dõi</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Nếu câu hỏi không được trả lời hoặc có ảnh hưởng tới task hiện tại </a:t>
            </a:r>
            <a:r>
              <a:rPr lang="en-US" sz="2800">
                <a:latin typeface="Arial" panose="020B0604020202020204" pitchFamily="34" charset="0"/>
                <a:cs typeface="Arial" panose="020B0604020202020204" pitchFamily="34" charset="0"/>
                <a:sym typeface="Wingdings" panose="05000000000000000000" pitchFamily="2" charset="2"/>
              </a:rPr>
              <a:t> cần báo cáo ngay cho PM, BA hoặc TL ngay lập tức</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sym typeface="Wingdings" panose="05000000000000000000" pitchFamily="2" charset="2"/>
              </a:rPr>
              <a:t>Quan trọng: lưu ý rằng manager/customer thường rất bận rộn. Do đó cần nhắc họ về các pending issues (các vấn đề chưa được giải quyết) hằng ngày hoặc hàng tuần</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Template: refer [Template_QA Management Sheet.xls]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Làm rõ yêu cầu – Q&amp;A</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54</a:t>
            </a:fld>
            <a:endParaRPr lang="en-US" sz="2000" b="1">
              <a:solidFill>
                <a:srgbClr val="FF0000"/>
              </a:solidFill>
            </a:endParaRPr>
          </a:p>
        </p:txBody>
      </p:sp>
      <p:sp>
        <p:nvSpPr>
          <p:cNvPr id="13" name="TextBox 12"/>
          <p:cNvSpPr txBox="1"/>
          <p:nvPr/>
        </p:nvSpPr>
        <p:spPr>
          <a:xfrm>
            <a:off x="155575" y="1143000"/>
            <a:ext cx="8685213" cy="5386090"/>
          </a:xfrm>
          <a:prstGeom prst="rect">
            <a:avLst/>
          </a:prstGeom>
          <a:noFill/>
        </p:spPr>
        <p:txBody>
          <a:bodyPr wrap="square" rtlCol="0">
            <a:spAutoFit/>
          </a:bodyPr>
          <a:lstStyle/>
          <a:p>
            <a:r>
              <a:rPr lang="en-US" sz="3200" b="1">
                <a:solidFill>
                  <a:srgbClr val="FF0000"/>
                </a:solidFill>
                <a:latin typeface="Arial" panose="020B0604020202020204" pitchFamily="34" charset="0"/>
              </a:rPr>
              <a:t>Theo sát Q&amp;A:</a:t>
            </a:r>
          </a:p>
          <a:p>
            <a:endParaRPr lang="en-US" sz="3200" b="1">
              <a:solidFill>
                <a:srgbClr val="FF0000"/>
              </a:solidFill>
              <a:latin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Kiểm tra lịch sử thảo luận nhóm để dễ theo dõi</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Nếu câu hỏi không được trả lời hoặc có ảnh hưởng tới task hiện tại </a:t>
            </a:r>
            <a:r>
              <a:rPr lang="en-US" sz="2800">
                <a:latin typeface="Arial" panose="020B0604020202020204" pitchFamily="34" charset="0"/>
                <a:cs typeface="Arial" panose="020B0604020202020204" pitchFamily="34" charset="0"/>
                <a:sym typeface="Wingdings" panose="05000000000000000000" pitchFamily="2" charset="2"/>
              </a:rPr>
              <a:t> cần báo cáo ngay cho PM, BA hoặc TL ngay lập tức</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sym typeface="Wingdings" panose="05000000000000000000" pitchFamily="2" charset="2"/>
              </a:rPr>
              <a:t>Quan trọng: lưu ý rằng manager/customer thường rất bận rộn. Do đó cần nhắc họ về các pending issues (các vấn đề chưa được giải quyết) hằng ngày hoặc hàng tuần</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Template: refer [Template_QA Management Sheet.xls]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Tài liệu tham khảo</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55</a:t>
            </a:fld>
            <a:endParaRPr lang="en-US" sz="2000" b="1">
              <a:solidFill>
                <a:srgbClr val="FF0000"/>
              </a:solidFill>
            </a:endParaRPr>
          </a:p>
        </p:txBody>
      </p:sp>
      <p:sp>
        <p:nvSpPr>
          <p:cNvPr id="13" name="TextBox 12"/>
          <p:cNvSpPr txBox="1"/>
          <p:nvPr/>
        </p:nvSpPr>
        <p:spPr>
          <a:xfrm>
            <a:off x="155575" y="1143000"/>
            <a:ext cx="8685213" cy="3724096"/>
          </a:xfrm>
          <a:prstGeom prst="rect">
            <a:avLst/>
          </a:prstGeom>
          <a:noFill/>
        </p:spPr>
        <p:txBody>
          <a:bodyPr wrap="square" rtlCol="0">
            <a:spAutoFit/>
          </a:bodyPr>
          <a:lstStyle/>
          <a:p>
            <a:endParaRPr lang="en-US" sz="3200" b="1">
              <a:solidFill>
                <a:srgbClr val="FF0000"/>
              </a:solidFill>
              <a:latin typeface="Arial" panose="020B0604020202020204" pitchFamily="34" charset="0"/>
            </a:endParaRPr>
          </a:p>
          <a:p>
            <a:r>
              <a:rPr lang="en-US" sz="3600" b="1">
                <a:solidFill>
                  <a:srgbClr val="FF0000"/>
                </a:solidFill>
                <a:latin typeface="Arial" panose="020B0604020202020204" pitchFamily="34" charset="0"/>
                <a:cs typeface="Arial" panose="020B0604020202020204" pitchFamily="34" charset="0"/>
              </a:rPr>
              <a:t>Resources &amp; References:</a:t>
            </a:r>
          </a:p>
          <a:p>
            <a:pPr marL="914400" lvl="1" indent="-457200">
              <a:buFont typeface="Courier New" panose="02070309020205020404" pitchFamily="49" charset="0"/>
              <a:buChar char="o"/>
            </a:pPr>
            <a:r>
              <a:rPr lang="en-US" sz="2800">
                <a:latin typeface="Arial" panose="020B0604020202020204" pitchFamily="34" charset="0"/>
                <a:cs typeface="Arial" panose="020B0604020202020204" pitchFamily="34" charset="0"/>
              </a:rPr>
              <a:t>Requirement development &amp; management process</a:t>
            </a:r>
          </a:p>
          <a:p>
            <a:pPr marL="914400" lvl="1" indent="-457200">
              <a:buFont typeface="Courier New" panose="02070309020205020404" pitchFamily="49" charset="0"/>
              <a:buChar char="o"/>
            </a:pPr>
            <a:r>
              <a:rPr lang="en-US" sz="2800">
                <a:latin typeface="Arial" panose="020B0604020202020204" pitchFamily="34" charset="0"/>
                <a:cs typeface="Arial" panose="020B0604020202020204" pitchFamily="34" charset="0"/>
              </a:rPr>
              <a:t>Q&amp;A management sheet template</a:t>
            </a:r>
          </a:p>
          <a:p>
            <a:pPr marL="914400" lvl="1" indent="-457200">
              <a:buFont typeface="Courier New" panose="02070309020205020404" pitchFamily="49" charset="0"/>
              <a:buChar char="o"/>
            </a:pPr>
            <a:r>
              <a:rPr lang="en-US" sz="2800">
                <a:latin typeface="Arial" panose="020B0604020202020204" pitchFamily="34" charset="0"/>
                <a:cs typeface="Arial" panose="020B0604020202020204" pitchFamily="34" charset="0"/>
              </a:rPr>
              <a:t>SRS review checklist</a:t>
            </a:r>
          </a:p>
          <a:p>
            <a:pPr marL="914400" lvl="1" indent="-457200">
              <a:buFont typeface="Courier New" panose="02070309020205020404" pitchFamily="49" charset="0"/>
              <a:buChar char="o"/>
            </a:pPr>
            <a:r>
              <a:rPr lang="en-US" sz="2800">
                <a:latin typeface="Arial" panose="020B0604020202020204" pitchFamily="34" charset="0"/>
                <a:cs typeface="Arial" panose="020B0604020202020204" pitchFamily="34" charset="0"/>
              </a:rPr>
              <a:t>RMS template</a:t>
            </a:r>
          </a:p>
          <a:p>
            <a:pPr marL="914400" lvl="1" indent="-457200">
              <a:buFont typeface="Courier New" panose="02070309020205020404" pitchFamily="49" charset="0"/>
              <a:buChar char="o"/>
            </a:pPr>
            <a:r>
              <a:rPr lang="en-US" sz="2800">
                <a:latin typeface="Arial" panose="020B0604020202020204" pitchFamily="34" charset="0"/>
                <a:cs typeface="Arial" panose="020B0604020202020204" pitchFamily="34" charset="0"/>
              </a:rPr>
              <a:t>SRS template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clipartkid.com/images/459/question-and-answer-images-clipart-panda-free-clipart-images-EodNcb-clipar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295400"/>
            <a:ext cx="7799119" cy="5410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Câu hỏi ?</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56</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3" name="AutoShape 2" descr="http://www.skipprichard.com/wp-content/uploads/2015/09/bigstock-D-Knob-Maximize-Efficiency-82341836-583x443.jpg"/>
          <p:cNvSpPr>
            <a:spLocks noChangeAspect="1" noChangeArrowheads="1"/>
          </p:cNvSpPr>
          <p:nvPr/>
        </p:nvSpPr>
        <p:spPr bwMode="auto">
          <a:xfrm>
            <a:off x="460375" y="16827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790</TotalTime>
  <Words>3715</Words>
  <Application>Microsoft Office PowerPoint</Application>
  <PresentationFormat>On-screen Show (4:3)</PresentationFormat>
  <Paragraphs>629</Paragraphs>
  <Slides>56</Slides>
  <Notes>55</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admin</cp:lastModifiedBy>
  <cp:revision>46</cp:revision>
  <dcterms:created xsi:type="dcterms:W3CDTF">2016-08-01T09:56:00Z</dcterms:created>
  <dcterms:modified xsi:type="dcterms:W3CDTF">2021-05-24T04:20:24Z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1033-10.2.0.5811</vt:lpwstr>
  </property>
</Properties>
</file>