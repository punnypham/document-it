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2" r:id="rId3"/>
    <p:sldMasterId id="2147483664" r:id="rId4"/>
  </p:sldMasterIdLst>
  <p:notesMasterIdLst>
    <p:notesMasterId r:id="rId31"/>
  </p:notesMasterIdLst>
  <p:handoutMasterIdLst>
    <p:handoutMasterId r:id="rId32"/>
  </p:handoutMasterIdLst>
  <p:sldIdLst>
    <p:sldId id="257" r:id="rId5"/>
    <p:sldId id="259" r:id="rId6"/>
    <p:sldId id="262" r:id="rId7"/>
    <p:sldId id="263" r:id="rId8"/>
    <p:sldId id="273" r:id="rId9"/>
    <p:sldId id="274" r:id="rId10"/>
    <p:sldId id="275" r:id="rId11"/>
    <p:sldId id="285" r:id="rId12"/>
    <p:sldId id="286" r:id="rId13"/>
    <p:sldId id="287" r:id="rId14"/>
    <p:sldId id="288" r:id="rId15"/>
    <p:sldId id="289" r:id="rId16"/>
    <p:sldId id="290" r:id="rId17"/>
    <p:sldId id="291" r:id="rId18"/>
    <p:sldId id="292" r:id="rId19"/>
    <p:sldId id="293" r:id="rId20"/>
    <p:sldId id="294" r:id="rId21"/>
    <p:sldId id="295" r:id="rId22"/>
    <p:sldId id="311" r:id="rId23"/>
    <p:sldId id="276" r:id="rId24"/>
    <p:sldId id="281" r:id="rId25"/>
    <p:sldId id="312" r:id="rId26"/>
    <p:sldId id="313" r:id="rId27"/>
    <p:sldId id="314" r:id="rId28"/>
    <p:sldId id="315" r:id="rId29"/>
    <p:sldId id="310" r:id="rId30"/>
  </p:sldIdLst>
  <p:sldSz cx="9144000" cy="6858000" type="screen4x3"/>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68" autoAdjust="0"/>
  </p:normalViewPr>
  <p:slideViewPr>
    <p:cSldViewPr>
      <p:cViewPr varScale="1">
        <p:scale>
          <a:sx n="60" d="100"/>
          <a:sy n="60" d="100"/>
        </p:scale>
        <p:origin x="1454" y="4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937" cy="36527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438180" y="0"/>
            <a:ext cx="4160937" cy="365276"/>
          </a:xfrm>
          <a:prstGeom prst="rect">
            <a:avLst/>
          </a:prstGeom>
        </p:spPr>
        <p:txBody>
          <a:bodyPr vert="horz" lIns="91440" tIns="45720" rIns="91440" bIns="45720" rtlCol="0"/>
          <a:lstStyle>
            <a:lvl1pPr algn="r">
              <a:defRPr sz="1200"/>
            </a:lvl1pPr>
          </a:lstStyle>
          <a:p>
            <a:fld id="{1A0C4A1A-69BB-4CE0-B4F9-DBA9B51B16E7}" type="datetimeFigureOut">
              <a:rPr lang="en-US" smtClean="0"/>
              <a:t>2/18/2021</a:t>
            </a:fld>
            <a:endParaRPr lang="en-US"/>
          </a:p>
        </p:txBody>
      </p:sp>
      <p:sp>
        <p:nvSpPr>
          <p:cNvPr id="4" name="Footer Placeholder 3"/>
          <p:cNvSpPr>
            <a:spLocks noGrp="1"/>
          </p:cNvSpPr>
          <p:nvPr>
            <p:ph type="ftr" sz="quarter" idx="2"/>
          </p:nvPr>
        </p:nvSpPr>
        <p:spPr>
          <a:xfrm>
            <a:off x="0" y="6948715"/>
            <a:ext cx="4160937" cy="36527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438180" y="6948715"/>
            <a:ext cx="4160937" cy="365276"/>
          </a:xfrm>
          <a:prstGeom prst="rect">
            <a:avLst/>
          </a:prstGeom>
        </p:spPr>
        <p:txBody>
          <a:bodyPr vert="horz" lIns="91440" tIns="45720" rIns="91440" bIns="45720" rtlCol="0" anchor="b"/>
          <a:lstStyle>
            <a:lvl1pPr algn="r">
              <a:defRPr sz="1200"/>
            </a:lvl1pPr>
          </a:lstStyle>
          <a:p>
            <a:fld id="{56817D3E-EE63-43BF-8579-A34C778E3689}" type="slidenum">
              <a:rPr lang="en-US" smtClean="0"/>
              <a:t>‹#›</a:t>
            </a:fld>
            <a:endParaRPr lang="en-US"/>
          </a:p>
        </p:txBody>
      </p:sp>
    </p:spTree>
    <p:extLst>
      <p:ext uri="{BB962C8B-B14F-4D97-AF65-F5344CB8AC3E}">
        <p14:creationId xmlns:p14="http://schemas.microsoft.com/office/powerpoint/2010/main" val="1798621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5438458" y="0"/>
            <a:ext cx="4160520" cy="365760"/>
          </a:xfrm>
          <a:prstGeom prst="rect">
            <a:avLst/>
          </a:prstGeom>
        </p:spPr>
        <p:txBody>
          <a:bodyPr vert="horz" lIns="96661" tIns="48331" rIns="96661" bIns="48331" rtlCol="0"/>
          <a:lstStyle>
            <a:lvl1pPr algn="r">
              <a:defRPr sz="1300"/>
            </a:lvl1pPr>
          </a:lstStyle>
          <a:p>
            <a:fld id="{F76C5060-921E-4620-B971-1C9B49191B05}" type="datetimeFigureOut">
              <a:rPr lang="en-US" smtClean="0"/>
              <a:t>2/18/2021</a:t>
            </a:fld>
            <a:endParaRPr lang="en-US"/>
          </a:p>
        </p:txBody>
      </p:sp>
      <p:sp>
        <p:nvSpPr>
          <p:cNvPr id="4" name="Slide Image Placeholder 3"/>
          <p:cNvSpPr>
            <a:spLocks noGrp="1" noRot="1" noChangeAspect="1"/>
          </p:cNvSpPr>
          <p:nvPr>
            <p:ph type="sldImg" idx="2"/>
          </p:nvPr>
        </p:nvSpPr>
        <p:spPr>
          <a:xfrm>
            <a:off x="2971800" y="549275"/>
            <a:ext cx="3657600" cy="274320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5438458" y="6948171"/>
            <a:ext cx="4160520" cy="365760"/>
          </a:xfrm>
          <a:prstGeom prst="rect">
            <a:avLst/>
          </a:prstGeom>
        </p:spPr>
        <p:txBody>
          <a:bodyPr vert="horz" lIns="96661" tIns="48331" rIns="96661" bIns="48331" rtlCol="0" anchor="b"/>
          <a:lstStyle>
            <a:lvl1pPr algn="r">
              <a:defRPr sz="1300"/>
            </a:lvl1pPr>
          </a:lstStyle>
          <a:p>
            <a:fld id="{F304BACC-CBAB-43D0-AEB0-A6C288158D50}" type="slidenum">
              <a:rPr lang="en-US" smtClean="0"/>
              <a:t>‹#›</a:t>
            </a:fld>
            <a:endParaRPr lang="en-US"/>
          </a:p>
        </p:txBody>
      </p:sp>
    </p:spTree>
    <p:extLst>
      <p:ext uri="{BB962C8B-B14F-4D97-AF65-F5344CB8AC3E}">
        <p14:creationId xmlns:p14="http://schemas.microsoft.com/office/powerpoint/2010/main" val="29736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a:t>“You can think of a data model as the infrastructure of the data organizations, in other words, the way data is presented to the user.”  </a:t>
            </a:r>
          </a:p>
          <a:p>
            <a:endParaRPr lang="en-US"/>
          </a:p>
        </p:txBody>
      </p:sp>
      <p:sp>
        <p:nvSpPr>
          <p:cNvPr id="4" name="Slide Number Placeholder 3"/>
          <p:cNvSpPr>
            <a:spLocks noGrp="1"/>
          </p:cNvSpPr>
          <p:nvPr>
            <p:ph type="sldNum" sz="quarter" idx="10"/>
          </p:nvPr>
        </p:nvSpPr>
        <p:spPr/>
        <p:txBody>
          <a:bodyPr/>
          <a:lstStyle/>
          <a:p>
            <a:fld id="{65A7EB6B-7205-4362-8009-EFBAB386826E}" type="slidenum">
              <a:rPr lang="en-US" smtClean="0"/>
              <a:t>2</a:t>
            </a:fld>
            <a:endParaRPr lang="en-US"/>
          </a:p>
        </p:txBody>
      </p:sp>
    </p:spTree>
    <p:extLst>
      <p:ext uri="{BB962C8B-B14F-4D97-AF65-F5344CB8AC3E}">
        <p14:creationId xmlns:p14="http://schemas.microsoft.com/office/powerpoint/2010/main" val="382992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A7EB6B-7205-4362-8009-EFBAB386826E}" type="slidenum">
              <a:rPr lang="en-US" smtClean="0"/>
              <a:t>3</a:t>
            </a:fld>
            <a:endParaRPr lang="en-US"/>
          </a:p>
        </p:txBody>
      </p:sp>
    </p:spTree>
    <p:extLst>
      <p:ext uri="{BB962C8B-B14F-4D97-AF65-F5344CB8AC3E}">
        <p14:creationId xmlns:p14="http://schemas.microsoft.com/office/powerpoint/2010/main" val="2701158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A7EB6B-7205-4362-8009-EFBAB386826E}" type="slidenum">
              <a:rPr lang="en-US" smtClean="0"/>
              <a:t>4</a:t>
            </a:fld>
            <a:endParaRPr lang="en-US"/>
          </a:p>
        </p:txBody>
      </p:sp>
    </p:spTree>
    <p:extLst>
      <p:ext uri="{BB962C8B-B14F-4D97-AF65-F5344CB8AC3E}">
        <p14:creationId xmlns:p14="http://schemas.microsoft.com/office/powerpoint/2010/main" val="2470712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A7EB6B-7205-4362-8009-EFBAB386826E}" type="slidenum">
              <a:rPr lang="en-US" smtClean="0"/>
              <a:t>5</a:t>
            </a:fld>
            <a:endParaRPr lang="en-US"/>
          </a:p>
        </p:txBody>
      </p:sp>
    </p:spTree>
    <p:extLst>
      <p:ext uri="{BB962C8B-B14F-4D97-AF65-F5344CB8AC3E}">
        <p14:creationId xmlns:p14="http://schemas.microsoft.com/office/powerpoint/2010/main" val="586283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A7EB6B-7205-4362-8009-EFBAB386826E}" type="slidenum">
              <a:rPr lang="en-US" smtClean="0"/>
              <a:t>6</a:t>
            </a:fld>
            <a:endParaRPr lang="en-US"/>
          </a:p>
        </p:txBody>
      </p:sp>
    </p:spTree>
    <p:extLst>
      <p:ext uri="{BB962C8B-B14F-4D97-AF65-F5344CB8AC3E}">
        <p14:creationId xmlns:p14="http://schemas.microsoft.com/office/powerpoint/2010/main" val="1762919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A7EB6B-7205-4362-8009-EFBAB386826E}" type="slidenum">
              <a:rPr lang="en-US" smtClean="0"/>
              <a:t>7</a:t>
            </a:fld>
            <a:endParaRPr lang="en-US"/>
          </a:p>
        </p:txBody>
      </p:sp>
    </p:spTree>
    <p:extLst>
      <p:ext uri="{BB962C8B-B14F-4D97-AF65-F5344CB8AC3E}">
        <p14:creationId xmlns:p14="http://schemas.microsoft.com/office/powerpoint/2010/main" val="1739063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A7EB6B-7205-4362-8009-EFBAB386826E}" type="slidenum">
              <a:rPr lang="en-US" smtClean="0"/>
              <a:t>8</a:t>
            </a:fld>
            <a:endParaRPr lang="en-US"/>
          </a:p>
        </p:txBody>
      </p:sp>
    </p:spTree>
    <p:extLst>
      <p:ext uri="{BB962C8B-B14F-4D97-AF65-F5344CB8AC3E}">
        <p14:creationId xmlns:p14="http://schemas.microsoft.com/office/powerpoint/2010/main" val="474704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Entity Type Rule:</a:t>
            </a:r>
            <a:r>
              <a:rPr lang="en-US"/>
              <a:t> Each entity type (except subtypes) becomes a table. The PK of ET (if not weak) becomes the PK of the table. The attributes of the ET become columns in the table. This rule </a:t>
            </a:r>
            <a:r>
              <a:rPr lang="en-US" b="1"/>
              <a:t>should be used first before the relationship rules</a:t>
            </a:r>
            <a:r>
              <a:rPr lang="en-US"/>
              <a:t>.</a:t>
            </a:r>
          </a:p>
          <a:p>
            <a:r>
              <a:rPr lang="en-US" b="1"/>
              <a:t>1-M Relationship Rule:</a:t>
            </a:r>
            <a:r>
              <a:rPr lang="en-US"/>
              <a:t> Each 1-M relationship becomes a FK in the table corresponding to the child type (the entity type near Crow’s Foot symbol). If the minimum cardinality on the parent side of the relationship is one, the FK cannot accept null values (NOT NULL must be used).</a:t>
            </a:r>
          </a:p>
          <a:p>
            <a:r>
              <a:rPr lang="en-US" b="1"/>
              <a:t>M-N Relationship Rule:</a:t>
            </a:r>
            <a:r>
              <a:rPr lang="en-US"/>
              <a:t> Each M-N relationship becomes a separate table. The </a:t>
            </a:r>
            <a:r>
              <a:rPr lang="en-US" b="1"/>
              <a:t>PK of the table is a combined key</a:t>
            </a:r>
            <a:r>
              <a:rPr lang="en-US"/>
              <a:t> consisting of the primary keys of the entity types participating in the M-N relationship.</a:t>
            </a:r>
          </a:p>
          <a:p>
            <a:r>
              <a:rPr lang="en-US" b="1"/>
              <a:t>Identification Dependency Rule:</a:t>
            </a:r>
            <a:r>
              <a:rPr lang="en-US"/>
              <a:t> Each identifying relationship (denoted by a solid relationship line) adds a component to a PK. The PK of the table corresponding to the weak entity consists of:</a:t>
            </a:r>
          </a:p>
          <a:p>
            <a:r>
              <a:rPr lang="en-US"/>
              <a:t>The underlined local key (if any) in the weak entity and</a:t>
            </a:r>
          </a:p>
          <a:p>
            <a:r>
              <a:rPr lang="en-US"/>
              <a:t>The PK(s) of the entity type(s) connected by identifying relationship(s).</a:t>
            </a:r>
          </a:p>
          <a:p>
            <a:endParaRPr lang="en-US"/>
          </a:p>
        </p:txBody>
      </p:sp>
      <p:sp>
        <p:nvSpPr>
          <p:cNvPr id="4" name="Slide Number Placeholder 3"/>
          <p:cNvSpPr>
            <a:spLocks noGrp="1"/>
          </p:cNvSpPr>
          <p:nvPr>
            <p:ph type="sldNum" sz="quarter" idx="10"/>
          </p:nvPr>
        </p:nvSpPr>
        <p:spPr/>
        <p:txBody>
          <a:bodyPr/>
          <a:lstStyle/>
          <a:p>
            <a:fld id="{65A7EB6B-7205-4362-8009-EFBAB386826E}" type="slidenum">
              <a:rPr lang="en-US" smtClean="0"/>
              <a:t>9</a:t>
            </a:fld>
            <a:endParaRPr lang="en-US"/>
          </a:p>
        </p:txBody>
      </p:sp>
    </p:spTree>
    <p:extLst>
      <p:ext uri="{BB962C8B-B14F-4D97-AF65-F5344CB8AC3E}">
        <p14:creationId xmlns:p14="http://schemas.microsoft.com/office/powerpoint/2010/main" val="1905058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A7EB6B-7205-4362-8009-EFBAB386826E}" type="slidenum">
              <a:rPr lang="en-US" smtClean="0"/>
              <a:t>19</a:t>
            </a:fld>
            <a:endParaRPr lang="en-US"/>
          </a:p>
        </p:txBody>
      </p:sp>
    </p:spTree>
    <p:extLst>
      <p:ext uri="{BB962C8B-B14F-4D97-AF65-F5344CB8AC3E}">
        <p14:creationId xmlns:p14="http://schemas.microsoft.com/office/powerpoint/2010/main" val="2331313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latin typeface="Arial" pitchFamily="34" charset="0"/>
            </a:endParaRPr>
          </a:p>
        </p:txBody>
      </p:sp>
      <p:sp>
        <p:nvSpPr>
          <p:cNvPr id="4" name="Slide Number Placeholder 3"/>
          <p:cNvSpPr>
            <a:spLocks noGrp="1"/>
          </p:cNvSpPr>
          <p:nvPr>
            <p:ph type="sldNum" sz="quarter" idx="10"/>
          </p:nvPr>
        </p:nvSpPr>
        <p:spPr/>
        <p:txBody>
          <a:bodyPr/>
          <a:lstStyle/>
          <a:p>
            <a:fld id="{65A7EB6B-7205-4362-8009-EFBAB386826E}" type="slidenum">
              <a:rPr lang="en-US" smtClean="0"/>
              <a:t>20</a:t>
            </a:fld>
            <a:endParaRPr lang="en-US"/>
          </a:p>
        </p:txBody>
      </p:sp>
    </p:spTree>
    <p:extLst>
      <p:ext uri="{BB962C8B-B14F-4D97-AF65-F5344CB8AC3E}">
        <p14:creationId xmlns:p14="http://schemas.microsoft.com/office/powerpoint/2010/main" val="384382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latin typeface="Arial" pitchFamily="34" charset="0"/>
            </a:endParaRPr>
          </a:p>
        </p:txBody>
      </p:sp>
      <p:sp>
        <p:nvSpPr>
          <p:cNvPr id="4" name="Slide Number Placeholder 3"/>
          <p:cNvSpPr>
            <a:spLocks noGrp="1"/>
          </p:cNvSpPr>
          <p:nvPr>
            <p:ph type="sldNum" sz="quarter" idx="10"/>
          </p:nvPr>
        </p:nvSpPr>
        <p:spPr/>
        <p:txBody>
          <a:bodyPr/>
          <a:lstStyle/>
          <a:p>
            <a:fld id="{65A7EB6B-7205-4362-8009-EFBAB386826E}" type="slidenum">
              <a:rPr lang="en-US" smtClean="0"/>
              <a:t>21</a:t>
            </a:fld>
            <a:endParaRPr lang="en-US"/>
          </a:p>
        </p:txBody>
      </p:sp>
    </p:spTree>
    <p:extLst>
      <p:ext uri="{BB962C8B-B14F-4D97-AF65-F5344CB8AC3E}">
        <p14:creationId xmlns:p14="http://schemas.microsoft.com/office/powerpoint/2010/main" val="1977606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endParaRPr lang="en-US" sz="1300">
              <a:latin typeface="Arial" pitchFamily="34" charset="0"/>
            </a:endParaRPr>
          </a:p>
        </p:txBody>
      </p:sp>
      <p:sp>
        <p:nvSpPr>
          <p:cNvPr id="4" name="Slide Number Placeholder 3"/>
          <p:cNvSpPr>
            <a:spLocks noGrp="1"/>
          </p:cNvSpPr>
          <p:nvPr>
            <p:ph type="sldNum" sz="quarter" idx="10"/>
          </p:nvPr>
        </p:nvSpPr>
        <p:spPr/>
        <p:txBody>
          <a:bodyPr/>
          <a:lstStyle/>
          <a:p>
            <a:fld id="{65A7EB6B-7205-4362-8009-EFBAB386826E}" type="slidenum">
              <a:rPr lang="en-US" smtClean="0"/>
              <a:t>22</a:t>
            </a:fld>
            <a:endParaRPr lang="en-US"/>
          </a:p>
        </p:txBody>
      </p:sp>
    </p:spTree>
    <p:extLst>
      <p:ext uri="{BB962C8B-B14F-4D97-AF65-F5344CB8AC3E}">
        <p14:creationId xmlns:p14="http://schemas.microsoft.com/office/powerpoint/2010/main" val="1239890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71800" y="549275"/>
            <a:ext cx="3657600" cy="2743200"/>
          </a:xfrm>
        </p:spPr>
      </p:sp>
      <p:sp>
        <p:nvSpPr>
          <p:cNvPr id="3" name="Notes Placeholder 2"/>
          <p:cNvSpPr>
            <a:spLocks noGrp="1"/>
          </p:cNvSpPr>
          <p:nvPr>
            <p:ph type="body" idx="1"/>
          </p:nvPr>
        </p:nvSpPr>
        <p:spPr/>
        <p:txBody>
          <a:bodyPr/>
          <a:lstStyle/>
          <a:p>
            <a:r>
              <a:rPr lang="en-US"/>
              <a:t>Nguồn:</a:t>
            </a:r>
            <a:r>
              <a:rPr lang="en-US" baseline="0"/>
              <a:t> www.clipartkid.com</a:t>
            </a:r>
            <a:endParaRPr lang="en-US"/>
          </a:p>
        </p:txBody>
      </p:sp>
      <p:sp>
        <p:nvSpPr>
          <p:cNvPr id="4" name="Slide Number Placeholder 3"/>
          <p:cNvSpPr>
            <a:spLocks noGrp="1"/>
          </p:cNvSpPr>
          <p:nvPr>
            <p:ph type="sldNum" sz="quarter" idx="10"/>
          </p:nvPr>
        </p:nvSpPr>
        <p:spPr/>
        <p:txBody>
          <a:bodyPr/>
          <a:lstStyle/>
          <a:p>
            <a:fld id="{F0B37002-8C6A-41BC-A89D-EA5197A045A0}" type="slidenum">
              <a:rPr lang="en-US" smtClean="0"/>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EC40751-D9BD-4C22-B2AE-6ED8EEC96B41}" type="datetimeFigureOut">
              <a:rPr lang="en-US" smtClean="0"/>
              <a:t>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C40751-D9BD-4C22-B2AE-6ED8EEC96B41}" type="datetimeFigureOut">
              <a:rPr lang="en-US" smtClean="0"/>
              <a:t>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C40751-D9BD-4C22-B2AE-6ED8EEC96B41}" type="datetimeFigureOut">
              <a:rPr lang="en-US" smtClean="0"/>
              <a:t>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EC40751-D9BD-4C22-B2AE-6ED8EEC96B41}" type="datetimeFigureOut">
              <a:rPr lang="en-US" smtClean="0"/>
              <a:t>2/18/2021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C40751-D9BD-4C22-B2AE-6ED8EEC96B41}" type="datetimeFigureOut">
              <a:rPr lang="en-US" smtClean="0"/>
              <a:t>2/18/2021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EC40751-D9BD-4C22-B2AE-6ED8EEC96B41}" type="datetimeFigureOut">
              <a:rPr lang="en-US" smtClean="0"/>
              <a:t>2/18/2021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C40751-D9BD-4C22-B2AE-6ED8EEC96B41}" type="datetimeFigureOut">
              <a:rPr lang="en-US" smtClean="0"/>
              <a:t>2/18/2021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C40751-D9BD-4C22-B2AE-6ED8EEC96B41}" type="datetimeFigureOut">
              <a:rPr lang="en-US" smtClean="0"/>
              <a:t>2/18/2021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C40751-D9BD-4C22-B2AE-6ED8EEC96B41}" type="datetimeFigureOut">
              <a:rPr lang="en-US" smtClean="0"/>
              <a:t>2/18/2021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C40751-D9BD-4C22-B2AE-6ED8EEC96B41}" type="datetimeFigureOut">
              <a:rPr lang="en-US" smtClean="0"/>
              <a:t>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C40751-D9BD-4C22-B2AE-6ED8EEC96B41}" type="datetimeFigureOut">
              <a:rPr lang="en-US" smtClean="0"/>
              <a:t>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18FBB-6A95-4EB9-B788-BB7494B5DC3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theme" Target="../theme/theme2.xml"/><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C40751-D9BD-4C22-B2AE-6ED8EEC96B41}" type="datetimeFigureOut">
              <a:rPr lang="en-US" smtClean="0"/>
              <a:t>2/18/2021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318FBB-6A95-4EB9-B788-BB7494B5DC3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04800" y="152400"/>
            <a:ext cx="85344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de-DE" altLang="de-DE"/>
              <a:t>Mastertitelformat bearbeiten</a:t>
            </a:r>
          </a:p>
        </p:txBody>
      </p:sp>
      <p:sp>
        <p:nvSpPr>
          <p:cNvPr id="3075" name="Rectangle 3"/>
          <p:cNvSpPr>
            <a:spLocks noGrp="1" noChangeArrowheads="1"/>
          </p:cNvSpPr>
          <p:nvPr>
            <p:ph type="body" idx="1"/>
          </p:nvPr>
        </p:nvSpPr>
        <p:spPr bwMode="auto">
          <a:xfrm>
            <a:off x="304800" y="1143000"/>
            <a:ext cx="8534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pic>
        <p:nvPicPr>
          <p:cNvPr id="3076" name="Picture 15" descr=" linie.jpg                                                      001DD8D5 mauseloch                      BCFBA33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0" y="866775"/>
            <a:ext cx="9155113"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17" descr=" linie.jpg                                                      001DD8D5 mauseloch                      BCFBA33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5819775"/>
            <a:ext cx="912018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19" descr="figur_einzeln.jpg                                              001DD8D5 mauseloch                      BCFBA33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4400" y="6042025"/>
            <a:ext cx="573088"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Grp="1" noChangeArrowheads="1"/>
          </p:cNvSpPr>
          <p:nvPr>
            <p:ph type="sldNum" sz="quarter" idx="4"/>
          </p:nvPr>
        </p:nvSpPr>
        <p:spPr bwMode="auto">
          <a:xfrm>
            <a:off x="7572375" y="6215063"/>
            <a:ext cx="1066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itchFamily="34" charset="0"/>
              </a:defRPr>
            </a:lvl1pPr>
          </a:lstStyle>
          <a:p>
            <a:fld id="{D518DE9D-3AFD-4F03-88BC-1C4C2EC2EF4D}" type="slidenum">
              <a:rPr lang="de-DE" altLang="de-DE"/>
              <a:pPr/>
              <a:t>‹#›</a:t>
            </a:fld>
            <a:endParaRPr lang="de-DE" altLang="de-DE"/>
          </a:p>
        </p:txBody>
      </p:sp>
      <p:sp>
        <p:nvSpPr>
          <p:cNvPr id="11" name="Rectangle 12"/>
          <p:cNvSpPr>
            <a:spLocks noGrp="1" noChangeArrowheads="1"/>
          </p:cNvSpPr>
          <p:nvPr>
            <p:ph type="ftr" sz="quarter" idx="3"/>
          </p:nvPr>
        </p:nvSpPr>
        <p:spPr bwMode="auto">
          <a:xfrm>
            <a:off x="2425700" y="6096000"/>
            <a:ext cx="47371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100">
                <a:latin typeface="+mn-lt"/>
                <a:ea typeface="+mn-ea"/>
                <a:cs typeface="+mn-cs"/>
              </a:defRPr>
            </a:lvl1pPr>
          </a:lstStyle>
          <a:p>
            <a:pPr>
              <a:defRPr/>
            </a:pPr>
            <a:endParaRPr lang="de-DE"/>
          </a:p>
        </p:txBody>
      </p:sp>
    </p:spTree>
    <p:extLst>
      <p:ext uri="{BB962C8B-B14F-4D97-AF65-F5344CB8AC3E}">
        <p14:creationId xmlns:p14="http://schemas.microsoft.com/office/powerpoint/2010/main" val="2767579832"/>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22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2pPr>
      <a:lvl3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3pPr>
      <a:lvl4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4pPr>
      <a:lvl5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5pPr>
      <a:lvl6pPr marL="457200" algn="l" rtl="0" eaLnBrk="1" fontAlgn="base" hangingPunct="1">
        <a:spcBef>
          <a:spcPct val="0"/>
        </a:spcBef>
        <a:spcAft>
          <a:spcPct val="0"/>
        </a:spcAft>
        <a:defRPr sz="2200" b="1">
          <a:solidFill>
            <a:schemeClr val="tx2"/>
          </a:solidFill>
          <a:latin typeface="Arial" charset="0"/>
        </a:defRPr>
      </a:lvl6pPr>
      <a:lvl7pPr marL="914400" algn="l" rtl="0" eaLnBrk="1" fontAlgn="base" hangingPunct="1">
        <a:spcBef>
          <a:spcPct val="0"/>
        </a:spcBef>
        <a:spcAft>
          <a:spcPct val="0"/>
        </a:spcAft>
        <a:defRPr sz="2200" b="1">
          <a:solidFill>
            <a:schemeClr val="tx2"/>
          </a:solidFill>
          <a:latin typeface="Arial" charset="0"/>
        </a:defRPr>
      </a:lvl7pPr>
      <a:lvl8pPr marL="1371600" algn="l" rtl="0" eaLnBrk="1" fontAlgn="base" hangingPunct="1">
        <a:spcBef>
          <a:spcPct val="0"/>
        </a:spcBef>
        <a:spcAft>
          <a:spcPct val="0"/>
        </a:spcAft>
        <a:defRPr sz="2200" b="1">
          <a:solidFill>
            <a:schemeClr val="tx2"/>
          </a:solidFill>
          <a:latin typeface="Arial" charset="0"/>
        </a:defRPr>
      </a:lvl8pPr>
      <a:lvl9pPr marL="1828800" algn="l" rtl="0" eaLnBrk="1" fontAlgn="base" hangingPunct="1">
        <a:spcBef>
          <a:spcPct val="0"/>
        </a:spcBef>
        <a:spcAft>
          <a:spcPct val="0"/>
        </a:spcAft>
        <a:defRPr sz="2200" b="1">
          <a:solidFill>
            <a:schemeClr val="tx2"/>
          </a:solidFill>
          <a:latin typeface="Arial" charset="0"/>
        </a:defRPr>
      </a:lvl9pPr>
    </p:titleStyle>
    <p:bodyStyle>
      <a:lvl1pPr marL="287338" indent="-287338" algn="l" rtl="0" eaLnBrk="0" fontAlgn="base" hangingPunct="0">
        <a:spcBef>
          <a:spcPct val="15000"/>
        </a:spcBef>
        <a:spcAft>
          <a:spcPct val="0"/>
        </a:spcAft>
        <a:buClr>
          <a:srgbClr val="FE8400"/>
        </a:buClr>
        <a:buFont typeface="Times" charset="0"/>
        <a:buAutoNum type="arabicPeriod"/>
        <a:defRPr sz="2000">
          <a:solidFill>
            <a:schemeClr val="tx2"/>
          </a:solidFill>
          <a:latin typeface="+mn-lt"/>
          <a:ea typeface="MS PGothic" pitchFamily="34" charset="-128"/>
          <a:cs typeface="ＭＳ Ｐゴシック" charset="0"/>
        </a:defRPr>
      </a:lvl1pPr>
      <a:lvl2pPr marL="809625" indent="-266700" algn="l" rtl="0" eaLnBrk="0" fontAlgn="base" hangingPunct="0">
        <a:spcBef>
          <a:spcPct val="15000"/>
        </a:spcBef>
        <a:spcAft>
          <a:spcPct val="0"/>
        </a:spcAft>
        <a:buClr>
          <a:schemeClr val="tx2"/>
        </a:buClr>
        <a:buSzPct val="125000"/>
        <a:buFont typeface="Wingdings" pitchFamily="2" charset="2"/>
        <a:buChar char="§"/>
        <a:defRPr>
          <a:solidFill>
            <a:schemeClr val="tx1"/>
          </a:solidFill>
          <a:latin typeface="+mn-lt"/>
          <a:ea typeface="MS PGothic" pitchFamily="34" charset="-128"/>
        </a:defRPr>
      </a:lvl2pPr>
      <a:lvl3pPr marL="1074738" indent="-188913" algn="l" rtl="0" eaLnBrk="0" fontAlgn="base" hangingPunct="0">
        <a:spcBef>
          <a:spcPct val="15000"/>
        </a:spcBef>
        <a:spcAft>
          <a:spcPct val="0"/>
        </a:spcAft>
        <a:buClr>
          <a:schemeClr val="bg2"/>
        </a:buClr>
        <a:buSzPct val="145000"/>
        <a:buChar char="•"/>
        <a:defRPr sz="1600">
          <a:solidFill>
            <a:schemeClr val="tx1"/>
          </a:solidFill>
          <a:latin typeface="+mn-lt"/>
          <a:ea typeface="MS PGothic" pitchFamily="34" charset="-128"/>
        </a:defRPr>
      </a:lvl3pPr>
      <a:lvl4pPr marL="1430338" indent="-165100" algn="l" rtl="0" eaLnBrk="0" fontAlgn="base" hangingPunct="0">
        <a:spcBef>
          <a:spcPct val="15000"/>
        </a:spcBef>
        <a:spcAft>
          <a:spcPct val="0"/>
        </a:spcAft>
        <a:buClr>
          <a:schemeClr val="folHlink"/>
        </a:buClr>
        <a:buFont typeface="Wingdings" pitchFamily="2" charset="2"/>
        <a:buChar char="§"/>
        <a:defRPr sz="1400">
          <a:solidFill>
            <a:schemeClr val="tx1"/>
          </a:solidFill>
          <a:latin typeface="+mn-lt"/>
          <a:ea typeface="MS PGothic" pitchFamily="34" charset="-128"/>
        </a:defRPr>
      </a:lvl4pPr>
      <a:lvl5pPr marL="1819275" indent="-163513" algn="l" rtl="0" eaLnBrk="0" fontAlgn="base" hangingPunct="0">
        <a:spcBef>
          <a:spcPct val="15000"/>
        </a:spcBef>
        <a:spcAft>
          <a:spcPct val="0"/>
        </a:spcAft>
        <a:buClr>
          <a:schemeClr val="folHlink"/>
        </a:buClr>
        <a:buFont typeface="Times" charset="0"/>
        <a:buChar char="•"/>
        <a:defRPr sz="1300">
          <a:solidFill>
            <a:schemeClr val="tx1"/>
          </a:solidFill>
          <a:latin typeface="+mn-lt"/>
          <a:ea typeface="MS PGothic" pitchFamily="34" charset="-128"/>
        </a:defRPr>
      </a:lvl5pPr>
      <a:lvl6pPr marL="22764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6pPr>
      <a:lvl7pPr marL="27336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7pPr>
      <a:lvl8pPr marL="31908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8pPr>
      <a:lvl9pPr marL="36480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304800" y="152400"/>
            <a:ext cx="85344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de-DE" altLang="de-DE"/>
              <a:t>Mastertitelformat bearbeiten</a:t>
            </a:r>
          </a:p>
        </p:txBody>
      </p:sp>
      <p:sp>
        <p:nvSpPr>
          <p:cNvPr id="17411" name="Rectangle 3"/>
          <p:cNvSpPr>
            <a:spLocks noGrp="1" noChangeArrowheads="1"/>
          </p:cNvSpPr>
          <p:nvPr>
            <p:ph type="body" idx="1"/>
          </p:nvPr>
        </p:nvSpPr>
        <p:spPr bwMode="auto">
          <a:xfrm>
            <a:off x="304800" y="1143000"/>
            <a:ext cx="8534400" cy="464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pic>
        <p:nvPicPr>
          <p:cNvPr id="17412" name="Picture 15" descr=" linie.jpg                                                      001DD8D5 mauseloch                      BCFBA33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0" y="866775"/>
            <a:ext cx="9155113"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Grp="1" noChangeArrowheads="1"/>
          </p:cNvSpPr>
          <p:nvPr>
            <p:ph type="sldNum" sz="quarter" idx="4"/>
          </p:nvPr>
        </p:nvSpPr>
        <p:spPr bwMode="auto">
          <a:xfrm>
            <a:off x="7572375" y="6215063"/>
            <a:ext cx="1066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itchFamily="34" charset="0"/>
              </a:defRPr>
            </a:lvl1pPr>
          </a:lstStyle>
          <a:p>
            <a:fld id="{D8A19DB4-E212-456F-BF51-68B30C2C9CD6}" type="slidenum">
              <a:rPr lang="de-DE" altLang="de-DE"/>
              <a:pPr/>
              <a:t>‹#›</a:t>
            </a:fld>
            <a:endParaRPr lang="de-DE" altLang="de-DE"/>
          </a:p>
        </p:txBody>
      </p:sp>
      <p:sp>
        <p:nvSpPr>
          <p:cNvPr id="6" name="Fußzeilenplatzhalter 2"/>
          <p:cNvSpPr>
            <a:spLocks noGrp="1"/>
          </p:cNvSpPr>
          <p:nvPr>
            <p:ph type="ftr" sz="quarter" idx="3"/>
          </p:nvPr>
        </p:nvSpPr>
        <p:spPr>
          <a:xfrm>
            <a:off x="323850" y="6096000"/>
            <a:ext cx="687705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100">
                <a:latin typeface="Arial" pitchFamily="34" charset="0"/>
              </a:defRPr>
            </a:lvl1pPr>
          </a:lstStyle>
          <a:p>
            <a:endParaRPr lang="de-AT" altLang="de-DE"/>
          </a:p>
        </p:txBody>
      </p:sp>
      <p:pic>
        <p:nvPicPr>
          <p:cNvPr id="17415" name="Picture 19" descr="figur_einzeln.jpg                                              001DD8D5 mauseloch                      BCFBA33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6042025"/>
            <a:ext cx="573088"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836120"/>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22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2pPr>
      <a:lvl3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3pPr>
      <a:lvl4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4pPr>
      <a:lvl5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5pPr>
      <a:lvl6pPr marL="457200" algn="l" rtl="0" eaLnBrk="1" fontAlgn="base" hangingPunct="1">
        <a:spcBef>
          <a:spcPct val="0"/>
        </a:spcBef>
        <a:spcAft>
          <a:spcPct val="0"/>
        </a:spcAft>
        <a:defRPr sz="2200" b="1">
          <a:solidFill>
            <a:schemeClr val="tx2"/>
          </a:solidFill>
          <a:latin typeface="Arial" charset="0"/>
        </a:defRPr>
      </a:lvl6pPr>
      <a:lvl7pPr marL="914400" algn="l" rtl="0" eaLnBrk="1" fontAlgn="base" hangingPunct="1">
        <a:spcBef>
          <a:spcPct val="0"/>
        </a:spcBef>
        <a:spcAft>
          <a:spcPct val="0"/>
        </a:spcAft>
        <a:defRPr sz="2200" b="1">
          <a:solidFill>
            <a:schemeClr val="tx2"/>
          </a:solidFill>
          <a:latin typeface="Arial" charset="0"/>
        </a:defRPr>
      </a:lvl7pPr>
      <a:lvl8pPr marL="1371600" algn="l" rtl="0" eaLnBrk="1" fontAlgn="base" hangingPunct="1">
        <a:spcBef>
          <a:spcPct val="0"/>
        </a:spcBef>
        <a:spcAft>
          <a:spcPct val="0"/>
        </a:spcAft>
        <a:defRPr sz="2200" b="1">
          <a:solidFill>
            <a:schemeClr val="tx2"/>
          </a:solidFill>
          <a:latin typeface="Arial" charset="0"/>
        </a:defRPr>
      </a:lvl8pPr>
      <a:lvl9pPr marL="1828800" algn="l" rtl="0" eaLnBrk="1" fontAlgn="base" hangingPunct="1">
        <a:spcBef>
          <a:spcPct val="0"/>
        </a:spcBef>
        <a:spcAft>
          <a:spcPct val="0"/>
        </a:spcAft>
        <a:defRPr sz="2200" b="1">
          <a:solidFill>
            <a:schemeClr val="tx2"/>
          </a:solidFill>
          <a:latin typeface="Arial" charset="0"/>
        </a:defRPr>
      </a:lvl9pPr>
    </p:titleStyle>
    <p:bodyStyle>
      <a:lvl1pPr marL="287338" indent="-287338" algn="l" rtl="0" eaLnBrk="0" fontAlgn="base" hangingPunct="0">
        <a:spcBef>
          <a:spcPct val="15000"/>
        </a:spcBef>
        <a:spcAft>
          <a:spcPct val="0"/>
        </a:spcAft>
        <a:buClr>
          <a:srgbClr val="FE8400"/>
        </a:buClr>
        <a:buFont typeface="Times" charset="0"/>
        <a:buAutoNum type="arabicPeriod"/>
        <a:defRPr sz="2000">
          <a:solidFill>
            <a:schemeClr val="tx2"/>
          </a:solidFill>
          <a:latin typeface="+mn-lt"/>
          <a:ea typeface="MS PGothic" pitchFamily="34" charset="-128"/>
          <a:cs typeface="ＭＳ Ｐゴシック" charset="0"/>
        </a:defRPr>
      </a:lvl1pPr>
      <a:lvl2pPr marL="809625" indent="-266700" algn="l" defTabSz="809625" rtl="0" eaLnBrk="0" fontAlgn="base" hangingPunct="0">
        <a:spcBef>
          <a:spcPct val="15000"/>
        </a:spcBef>
        <a:spcAft>
          <a:spcPct val="0"/>
        </a:spcAft>
        <a:buClr>
          <a:schemeClr val="tx2"/>
        </a:buClr>
        <a:buSzPct val="125000"/>
        <a:buFont typeface="Wingdings" pitchFamily="2" charset="2"/>
        <a:buChar char="§"/>
        <a:defRPr>
          <a:solidFill>
            <a:schemeClr val="tx1"/>
          </a:solidFill>
          <a:latin typeface="+mn-lt"/>
          <a:ea typeface="MS PGothic" pitchFamily="34" charset="-128"/>
        </a:defRPr>
      </a:lvl2pPr>
      <a:lvl3pPr marL="1074738" indent="-188913" algn="l" rtl="0" eaLnBrk="0" fontAlgn="base" hangingPunct="0">
        <a:spcBef>
          <a:spcPct val="15000"/>
        </a:spcBef>
        <a:spcAft>
          <a:spcPct val="0"/>
        </a:spcAft>
        <a:buClr>
          <a:schemeClr val="bg2"/>
        </a:buClr>
        <a:buSzPct val="145000"/>
        <a:buChar char="•"/>
        <a:defRPr sz="1600">
          <a:solidFill>
            <a:schemeClr val="tx1"/>
          </a:solidFill>
          <a:latin typeface="+mn-lt"/>
          <a:ea typeface="MS PGothic" pitchFamily="34" charset="-128"/>
        </a:defRPr>
      </a:lvl3pPr>
      <a:lvl4pPr marL="1430338" indent="-165100" algn="l" rtl="0" eaLnBrk="0" fontAlgn="base" hangingPunct="0">
        <a:spcBef>
          <a:spcPct val="15000"/>
        </a:spcBef>
        <a:spcAft>
          <a:spcPct val="0"/>
        </a:spcAft>
        <a:buClr>
          <a:schemeClr val="folHlink"/>
        </a:buClr>
        <a:buFont typeface="Wingdings" pitchFamily="2" charset="2"/>
        <a:buChar char="§"/>
        <a:defRPr sz="1400">
          <a:solidFill>
            <a:schemeClr val="tx1"/>
          </a:solidFill>
          <a:latin typeface="+mn-lt"/>
          <a:ea typeface="MS PGothic" pitchFamily="34" charset="-128"/>
        </a:defRPr>
      </a:lvl4pPr>
      <a:lvl5pPr marL="1819275" indent="-163513" algn="l" rtl="0" eaLnBrk="0" fontAlgn="base" hangingPunct="0">
        <a:spcBef>
          <a:spcPct val="15000"/>
        </a:spcBef>
        <a:spcAft>
          <a:spcPct val="0"/>
        </a:spcAft>
        <a:buClr>
          <a:schemeClr val="folHlink"/>
        </a:buClr>
        <a:buFont typeface="Times" charset="0"/>
        <a:buChar char="•"/>
        <a:defRPr sz="1300">
          <a:solidFill>
            <a:schemeClr val="tx1"/>
          </a:solidFill>
          <a:latin typeface="+mn-lt"/>
          <a:ea typeface="MS PGothic" pitchFamily="34" charset="-128"/>
        </a:defRPr>
      </a:lvl5pPr>
      <a:lvl6pPr marL="22764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6pPr>
      <a:lvl7pPr marL="27336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7pPr>
      <a:lvl8pPr marL="31908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8pPr>
      <a:lvl9pPr marL="36480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304800" y="152400"/>
            <a:ext cx="85344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de-DE" altLang="de-DE"/>
              <a:t>Mastertitelformat bearbeiten</a:t>
            </a:r>
          </a:p>
        </p:txBody>
      </p:sp>
      <p:sp>
        <p:nvSpPr>
          <p:cNvPr id="10243" name="Rectangle 3"/>
          <p:cNvSpPr>
            <a:spLocks noGrp="1" noChangeArrowheads="1"/>
          </p:cNvSpPr>
          <p:nvPr>
            <p:ph type="body" idx="1"/>
          </p:nvPr>
        </p:nvSpPr>
        <p:spPr bwMode="auto">
          <a:xfrm>
            <a:off x="304800" y="1143000"/>
            <a:ext cx="8534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pic>
        <p:nvPicPr>
          <p:cNvPr id="10244" name="Picture 15" descr=" linie.jpg                                                      001DD8D5 mauseloch                      BCFBA33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0" y="866775"/>
            <a:ext cx="9155113"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19" descr="figur_einzeln.jpg                                              001DD8D5 mauseloch                      BCFBA33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6042025"/>
            <a:ext cx="573088"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Grp="1" noChangeArrowheads="1"/>
          </p:cNvSpPr>
          <p:nvPr>
            <p:ph type="sldNum" sz="quarter" idx="4"/>
          </p:nvPr>
        </p:nvSpPr>
        <p:spPr bwMode="auto">
          <a:xfrm>
            <a:off x="7572375" y="6215063"/>
            <a:ext cx="1066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itchFamily="34" charset="0"/>
              </a:defRPr>
            </a:lvl1pPr>
          </a:lstStyle>
          <a:p>
            <a:fld id="{9B50ACC3-A7D1-43CA-A4F6-5DC38AFE58BC}" type="slidenum">
              <a:rPr lang="de-DE" altLang="de-DE"/>
              <a:pPr/>
              <a:t>‹#›</a:t>
            </a:fld>
            <a:endParaRPr lang="de-DE" altLang="de-DE"/>
          </a:p>
        </p:txBody>
      </p:sp>
      <p:sp>
        <p:nvSpPr>
          <p:cNvPr id="10" name="Rectangle 12"/>
          <p:cNvSpPr>
            <a:spLocks noGrp="1" noChangeArrowheads="1"/>
          </p:cNvSpPr>
          <p:nvPr>
            <p:ph type="ftr" sz="quarter" idx="3"/>
          </p:nvPr>
        </p:nvSpPr>
        <p:spPr bwMode="auto">
          <a:xfrm>
            <a:off x="2425700" y="6096000"/>
            <a:ext cx="47371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100">
                <a:latin typeface="+mn-lt"/>
                <a:ea typeface="+mn-ea"/>
                <a:cs typeface="+mn-cs"/>
              </a:defRPr>
            </a:lvl1pPr>
          </a:lstStyle>
          <a:p>
            <a:pPr>
              <a:defRPr/>
            </a:pPr>
            <a:endParaRPr lang="de-DE"/>
          </a:p>
        </p:txBody>
      </p:sp>
    </p:spTree>
    <p:extLst>
      <p:ext uri="{BB962C8B-B14F-4D97-AF65-F5344CB8AC3E}">
        <p14:creationId xmlns:p14="http://schemas.microsoft.com/office/powerpoint/2010/main" val="1411335721"/>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22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2pPr>
      <a:lvl3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3pPr>
      <a:lvl4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4pPr>
      <a:lvl5pPr algn="l" rtl="0" eaLnBrk="0" fontAlgn="base" hangingPunct="0">
        <a:spcBef>
          <a:spcPct val="0"/>
        </a:spcBef>
        <a:spcAft>
          <a:spcPct val="0"/>
        </a:spcAft>
        <a:defRPr sz="2200" b="1">
          <a:solidFill>
            <a:schemeClr val="tx2"/>
          </a:solidFill>
          <a:latin typeface="Arial" charset="0"/>
          <a:ea typeface="MS PGothic" pitchFamily="34" charset="-128"/>
          <a:cs typeface="ＭＳ Ｐゴシック" charset="0"/>
        </a:defRPr>
      </a:lvl5pPr>
      <a:lvl6pPr marL="457200" algn="l" rtl="0" eaLnBrk="1" fontAlgn="base" hangingPunct="1">
        <a:spcBef>
          <a:spcPct val="0"/>
        </a:spcBef>
        <a:spcAft>
          <a:spcPct val="0"/>
        </a:spcAft>
        <a:defRPr sz="2200" b="1">
          <a:solidFill>
            <a:schemeClr val="tx2"/>
          </a:solidFill>
          <a:latin typeface="Arial" charset="0"/>
        </a:defRPr>
      </a:lvl6pPr>
      <a:lvl7pPr marL="914400" algn="l" rtl="0" eaLnBrk="1" fontAlgn="base" hangingPunct="1">
        <a:spcBef>
          <a:spcPct val="0"/>
        </a:spcBef>
        <a:spcAft>
          <a:spcPct val="0"/>
        </a:spcAft>
        <a:defRPr sz="2200" b="1">
          <a:solidFill>
            <a:schemeClr val="tx2"/>
          </a:solidFill>
          <a:latin typeface="Arial" charset="0"/>
        </a:defRPr>
      </a:lvl7pPr>
      <a:lvl8pPr marL="1371600" algn="l" rtl="0" eaLnBrk="1" fontAlgn="base" hangingPunct="1">
        <a:spcBef>
          <a:spcPct val="0"/>
        </a:spcBef>
        <a:spcAft>
          <a:spcPct val="0"/>
        </a:spcAft>
        <a:defRPr sz="2200" b="1">
          <a:solidFill>
            <a:schemeClr val="tx2"/>
          </a:solidFill>
          <a:latin typeface="Arial" charset="0"/>
        </a:defRPr>
      </a:lvl8pPr>
      <a:lvl9pPr marL="1828800" algn="l" rtl="0" eaLnBrk="1" fontAlgn="base" hangingPunct="1">
        <a:spcBef>
          <a:spcPct val="0"/>
        </a:spcBef>
        <a:spcAft>
          <a:spcPct val="0"/>
        </a:spcAft>
        <a:defRPr sz="2200" b="1">
          <a:solidFill>
            <a:schemeClr val="tx2"/>
          </a:solidFill>
          <a:latin typeface="Arial" charset="0"/>
        </a:defRPr>
      </a:lvl9pPr>
    </p:titleStyle>
    <p:bodyStyle>
      <a:lvl1pPr marL="287338" indent="-287338" algn="l" rtl="0" eaLnBrk="0" fontAlgn="base" hangingPunct="0">
        <a:spcBef>
          <a:spcPct val="15000"/>
        </a:spcBef>
        <a:spcAft>
          <a:spcPct val="0"/>
        </a:spcAft>
        <a:buClr>
          <a:srgbClr val="FE8400"/>
        </a:buClr>
        <a:buFont typeface="Times" charset="0"/>
        <a:buAutoNum type="arabicPeriod"/>
        <a:defRPr sz="2000">
          <a:solidFill>
            <a:schemeClr val="tx2"/>
          </a:solidFill>
          <a:latin typeface="+mn-lt"/>
          <a:ea typeface="MS PGothic" pitchFamily="34" charset="-128"/>
          <a:cs typeface="ＭＳ Ｐゴシック" charset="0"/>
        </a:defRPr>
      </a:lvl1pPr>
      <a:lvl2pPr marL="809625" indent="-266700" algn="l" rtl="0" eaLnBrk="0" fontAlgn="base" hangingPunct="0">
        <a:spcBef>
          <a:spcPct val="15000"/>
        </a:spcBef>
        <a:spcAft>
          <a:spcPct val="0"/>
        </a:spcAft>
        <a:buClr>
          <a:schemeClr val="tx2"/>
        </a:buClr>
        <a:buSzPct val="125000"/>
        <a:buFont typeface="Wingdings" pitchFamily="2" charset="2"/>
        <a:buChar char="§"/>
        <a:defRPr>
          <a:solidFill>
            <a:schemeClr val="tx1"/>
          </a:solidFill>
          <a:latin typeface="+mn-lt"/>
          <a:ea typeface="MS PGothic" pitchFamily="34" charset="-128"/>
        </a:defRPr>
      </a:lvl2pPr>
      <a:lvl3pPr marL="1074738" indent="-188913" algn="l" rtl="0" eaLnBrk="0" fontAlgn="base" hangingPunct="0">
        <a:spcBef>
          <a:spcPct val="15000"/>
        </a:spcBef>
        <a:spcAft>
          <a:spcPct val="0"/>
        </a:spcAft>
        <a:buClr>
          <a:schemeClr val="bg2"/>
        </a:buClr>
        <a:buSzPct val="145000"/>
        <a:buChar char="•"/>
        <a:defRPr sz="1600">
          <a:solidFill>
            <a:schemeClr val="tx1"/>
          </a:solidFill>
          <a:latin typeface="+mn-lt"/>
          <a:ea typeface="MS PGothic" pitchFamily="34" charset="-128"/>
        </a:defRPr>
      </a:lvl3pPr>
      <a:lvl4pPr marL="1430338" indent="-165100" algn="l" rtl="0" eaLnBrk="0" fontAlgn="base" hangingPunct="0">
        <a:spcBef>
          <a:spcPct val="15000"/>
        </a:spcBef>
        <a:spcAft>
          <a:spcPct val="0"/>
        </a:spcAft>
        <a:buClr>
          <a:schemeClr val="folHlink"/>
        </a:buClr>
        <a:buFont typeface="Wingdings" pitchFamily="2" charset="2"/>
        <a:buChar char="§"/>
        <a:defRPr sz="1400">
          <a:solidFill>
            <a:schemeClr val="tx1"/>
          </a:solidFill>
          <a:latin typeface="+mn-lt"/>
          <a:ea typeface="MS PGothic" pitchFamily="34" charset="-128"/>
        </a:defRPr>
      </a:lvl4pPr>
      <a:lvl5pPr marL="1819275" indent="-163513" algn="l" rtl="0" eaLnBrk="0" fontAlgn="base" hangingPunct="0">
        <a:spcBef>
          <a:spcPct val="15000"/>
        </a:spcBef>
        <a:spcAft>
          <a:spcPct val="0"/>
        </a:spcAft>
        <a:buClr>
          <a:schemeClr val="folHlink"/>
        </a:buClr>
        <a:buFont typeface="Times" charset="0"/>
        <a:buChar char="•"/>
        <a:defRPr sz="1300">
          <a:solidFill>
            <a:schemeClr val="tx1"/>
          </a:solidFill>
          <a:latin typeface="+mn-lt"/>
          <a:ea typeface="MS PGothic" pitchFamily="34" charset="-128"/>
        </a:defRPr>
      </a:lvl5pPr>
      <a:lvl6pPr marL="22764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6pPr>
      <a:lvl7pPr marL="27336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7pPr>
      <a:lvl8pPr marL="31908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8pPr>
      <a:lvl9pPr marL="3648075" indent="-163513" algn="l" rtl="0" eaLnBrk="1" fontAlgn="base" hangingPunct="1">
        <a:lnSpc>
          <a:spcPct val="120000"/>
        </a:lnSpc>
        <a:spcBef>
          <a:spcPct val="15000"/>
        </a:spcBef>
        <a:spcAft>
          <a:spcPct val="0"/>
        </a:spcAft>
        <a:buClr>
          <a:schemeClr val="folHlink"/>
        </a:buClr>
        <a:buFont typeface="Times" charset="0"/>
        <a:buChar char="•"/>
        <a:defRPr sz="13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pic>
        <p:nvPicPr>
          <p:cNvPr id="1028" name="Picture 4" descr="http://www.mytimemanagement.com/images/time_management_software_full_1417754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700"/>
            <a:ext cx="1498600" cy="130775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49300" y="1219200"/>
            <a:ext cx="7861300" cy="2123658"/>
          </a:xfrm>
          <a:prstGeom prst="rect">
            <a:avLst/>
          </a:prstGeom>
          <a:noFill/>
        </p:spPr>
        <p:txBody>
          <a:bodyPr wrap="square" rtlCol="0">
            <a:spAutoFit/>
          </a:bodyPr>
          <a:lstStyle/>
          <a:p>
            <a:pPr algn="ct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Chương</a:t>
            </a:r>
            <a:r>
              <a:rPr lang="en-US" sz="6600" b="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3</a:t>
            </a: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endParaRPr>
          </a:p>
          <a:p>
            <a:pPr algn="ct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Cơ</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sở</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dữ</a:t>
            </a: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 </a:t>
            </a:r>
            <a:r>
              <a:rPr lang="en-US" sz="6600" b="1"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rPr>
              <a:t>liệu</a:t>
            </a: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Arial" panose="020B0604020202020204" pitchFamily="34" charset="0"/>
            </a:endParaRP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34" name="Picture 10" descr="http://www.ecommercetimes.com/article_images/story_graphics_xlarge/xl-2016-software-development-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4281054"/>
            <a:ext cx="8229600" cy="2111479"/>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a:t>
            </a:fld>
            <a:endParaRPr lang="en-US" sz="2000"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Database Concepts</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314902" y="1524000"/>
            <a:ext cx="8600498" cy="5016758"/>
          </a:xfrm>
          <a:prstGeom prst="rect">
            <a:avLst/>
          </a:prstGeom>
          <a:noFill/>
        </p:spPr>
        <p:txBody>
          <a:bodyPr wrap="square" rtlCol="0">
            <a:spAutoFit/>
          </a:bodyPr>
          <a:lstStyle/>
          <a:p>
            <a:r>
              <a:rPr lang="en-US" sz="3200" b="1">
                <a:solidFill>
                  <a:srgbClr val="FF0000"/>
                </a:solidFill>
                <a:latin typeface="Arial" pitchFamily="34" charset="0"/>
              </a:rPr>
              <a:t>Data Model – Mô hình dữ liệu</a:t>
            </a:r>
          </a:p>
          <a:p>
            <a:pPr marL="457200" indent="-457200">
              <a:buFont typeface="Arial" pitchFamily="34" charset="0"/>
              <a:buChar char="•"/>
            </a:pPr>
            <a:r>
              <a:rPr lang="en-US" sz="3200">
                <a:latin typeface="Arial" pitchFamily="34" charset="0"/>
              </a:rPr>
              <a:t>Là một tập hợp gồm những khái niệm được dùng để mô tả kiến trúc của database</a:t>
            </a:r>
          </a:p>
          <a:p>
            <a:pPr marL="457200" indent="-457200">
              <a:buFont typeface="Arial" pitchFamily="34" charset="0"/>
              <a:buChar char="•"/>
            </a:pPr>
            <a:r>
              <a:rPr lang="en-US" sz="3200">
                <a:latin typeface="Arial" pitchFamily="34" charset="0"/>
              </a:rPr>
              <a:t>Kiến trúc ở đây có thể hiểu là các kiểu dữ liệu (data types), mối liên hệ (relationships) và các ràng buộc (constraints) mà dữ liệu phải tuân thủ</a:t>
            </a:r>
          </a:p>
          <a:p>
            <a:pPr marL="457200" indent="-457200">
              <a:buFont typeface="Arial" pitchFamily="34" charset="0"/>
              <a:buChar char="•"/>
            </a:pPr>
            <a:r>
              <a:rPr lang="en-US" sz="3200">
                <a:latin typeface="Arial" pitchFamily="34" charset="0"/>
              </a:rPr>
              <a:t>Phần lớn data models cũng hỗ trợ một tập các thao tác cơ bản đễ hỗ trợ cho </a:t>
            </a:r>
            <a:r>
              <a:rPr lang="en-US" sz="3200" i="1">
                <a:solidFill>
                  <a:srgbClr val="FF0000"/>
                </a:solidFill>
                <a:latin typeface="Arial" pitchFamily="34" charset="0"/>
              </a:rPr>
              <a:t>truy xuất </a:t>
            </a:r>
            <a:r>
              <a:rPr lang="en-US" sz="3200">
                <a:latin typeface="Arial" pitchFamily="34" charset="0"/>
              </a:rPr>
              <a:t>và </a:t>
            </a:r>
            <a:r>
              <a:rPr lang="en-US" sz="3200" i="1">
                <a:solidFill>
                  <a:srgbClr val="FF0000"/>
                </a:solidFill>
                <a:latin typeface="Arial" pitchFamily="34" charset="0"/>
              </a:rPr>
              <a:t>cập nhật </a:t>
            </a:r>
            <a:r>
              <a:rPr lang="en-US" sz="3200">
                <a:latin typeface="Arial" pitchFamily="34" charset="0"/>
              </a:rPr>
              <a:t>dữ liệu</a:t>
            </a:r>
          </a:p>
        </p:txBody>
      </p:sp>
    </p:spTree>
    <p:extLst>
      <p:ext uri="{BB962C8B-B14F-4D97-AF65-F5344CB8AC3E}">
        <p14:creationId xmlns:p14="http://schemas.microsoft.com/office/powerpoint/2010/main" val="1738299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Relational Database</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3</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314902" y="1524000"/>
            <a:ext cx="8600498" cy="4031873"/>
          </a:xfrm>
          <a:prstGeom prst="rect">
            <a:avLst/>
          </a:prstGeom>
          <a:noFill/>
        </p:spPr>
        <p:txBody>
          <a:bodyPr wrap="square" rtlCol="0">
            <a:spAutoFit/>
          </a:bodyPr>
          <a:lstStyle/>
          <a:p>
            <a:r>
              <a:rPr lang="en-US" sz="3200" b="1">
                <a:solidFill>
                  <a:srgbClr val="FF0000"/>
                </a:solidFill>
                <a:latin typeface="Arial" pitchFamily="34" charset="0"/>
              </a:rPr>
              <a:t>Cơ sở dữ liệu quan hệ:</a:t>
            </a:r>
          </a:p>
          <a:p>
            <a:endParaRPr lang="en-US" sz="3200" b="1">
              <a:solidFill>
                <a:srgbClr val="FF0000"/>
              </a:solidFill>
              <a:latin typeface="Arial" pitchFamily="34" charset="0"/>
            </a:endParaRPr>
          </a:p>
          <a:p>
            <a:pPr marL="457200" indent="-457200">
              <a:buFont typeface="Arial" pitchFamily="34" charset="0"/>
              <a:buChar char="•"/>
            </a:pPr>
            <a:r>
              <a:rPr lang="en-US" sz="3200">
                <a:latin typeface="Arial" pitchFamily="34" charset="0"/>
              </a:rPr>
              <a:t>“A DBMS that manages data as collection of </a:t>
            </a:r>
            <a:r>
              <a:rPr lang="en-US" sz="3200" i="1">
                <a:solidFill>
                  <a:srgbClr val="FF0000"/>
                </a:solidFill>
                <a:latin typeface="Arial" pitchFamily="34" charset="0"/>
              </a:rPr>
              <a:t>tables</a:t>
            </a:r>
            <a:r>
              <a:rPr lang="en-US" sz="3200">
                <a:solidFill>
                  <a:srgbClr val="FF0000"/>
                </a:solidFill>
                <a:latin typeface="Arial" pitchFamily="34" charset="0"/>
              </a:rPr>
              <a:t> </a:t>
            </a:r>
            <a:r>
              <a:rPr lang="en-US" sz="3200">
                <a:latin typeface="Arial" pitchFamily="34" charset="0"/>
              </a:rPr>
              <a:t>in which all data relationships are represented by </a:t>
            </a:r>
            <a:r>
              <a:rPr lang="en-US" sz="3200" i="1">
                <a:solidFill>
                  <a:srgbClr val="FF0000"/>
                </a:solidFill>
                <a:latin typeface="Arial" pitchFamily="34" charset="0"/>
              </a:rPr>
              <a:t>common values</a:t>
            </a:r>
            <a:r>
              <a:rPr lang="en-US" sz="3200">
                <a:latin typeface="Arial" pitchFamily="34" charset="0"/>
              </a:rPr>
              <a:t> in related tables.”</a:t>
            </a:r>
          </a:p>
          <a:p>
            <a:pPr marL="457200" indent="-457200">
              <a:buFont typeface="Arial" pitchFamily="34" charset="0"/>
              <a:buChar char="•"/>
            </a:pPr>
            <a:r>
              <a:rPr lang="en-US" sz="3200">
                <a:latin typeface="Arial" pitchFamily="34" charset="0"/>
              </a:rPr>
              <a:t>“A DBMS that follows all the twelve rules of CODD is called RDBMS”</a:t>
            </a:r>
          </a:p>
        </p:txBody>
      </p:sp>
    </p:spTree>
    <p:extLst>
      <p:ext uri="{BB962C8B-B14F-4D97-AF65-F5344CB8AC3E}">
        <p14:creationId xmlns:p14="http://schemas.microsoft.com/office/powerpoint/2010/main" val="1063073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Table Structure (1/3)</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4</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1023937"/>
            <a:ext cx="8913813" cy="588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7201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Entity Relationship Modeling </a:t>
            </a:r>
          </a:p>
        </p:txBody>
      </p:sp>
      <p:sp>
        <p:nvSpPr>
          <p:cNvPr id="29" name="TextBox 28"/>
          <p:cNvSpPr txBox="1"/>
          <p:nvPr/>
        </p:nvSpPr>
        <p:spPr>
          <a:xfrm>
            <a:off x="314902" y="1524000"/>
            <a:ext cx="8600498" cy="5016758"/>
          </a:xfrm>
          <a:prstGeom prst="rect">
            <a:avLst/>
          </a:prstGeom>
          <a:noFill/>
        </p:spPr>
        <p:txBody>
          <a:bodyPr wrap="square" rtlCol="0">
            <a:spAutoFit/>
          </a:bodyPr>
          <a:lstStyle/>
          <a:p>
            <a:r>
              <a:rPr lang="en-US" sz="3200" b="1">
                <a:solidFill>
                  <a:srgbClr val="FF0000"/>
                </a:solidFill>
                <a:latin typeface="Arial" pitchFamily="34" charset="0"/>
              </a:rPr>
              <a:t>Khái niệm:</a:t>
            </a:r>
          </a:p>
          <a:p>
            <a:pPr marL="457200" indent="-457200">
              <a:buFont typeface="Arial" pitchFamily="34" charset="0"/>
              <a:buChar char="•"/>
            </a:pPr>
            <a:r>
              <a:rPr lang="en-US" sz="3200">
                <a:latin typeface="Arial" pitchFamily="34" charset="0"/>
              </a:rPr>
              <a:t>ER Model: “High-level data model that is useful in developing a conceptual design for a database”</a:t>
            </a:r>
          </a:p>
          <a:p>
            <a:pPr marL="457200" indent="-457200">
              <a:buFont typeface="Arial" pitchFamily="34" charset="0"/>
              <a:buChar char="•"/>
            </a:pPr>
            <a:r>
              <a:rPr lang="en-US" sz="3200">
                <a:latin typeface="Arial" pitchFamily="34" charset="0"/>
              </a:rPr>
              <a:t>ER Diagram (ERD): Một trong những bước đầu tiên cần thực hiện khi thiết kế CSDL</a:t>
            </a:r>
          </a:p>
          <a:p>
            <a:pPr marL="457200" indent="-457200">
              <a:buFont typeface="Arial" pitchFamily="34" charset="0"/>
              <a:buChar char="•"/>
            </a:pPr>
            <a:r>
              <a:rPr lang="en-US" sz="3200">
                <a:latin typeface="Arial" pitchFamily="34" charset="0"/>
              </a:rPr>
              <a:t>ERD Elements: </a:t>
            </a:r>
          </a:p>
          <a:p>
            <a:pPr marL="914400" lvl="1" indent="-457200">
              <a:buFont typeface="Courier New" pitchFamily="49" charset="0"/>
              <a:buChar char="o"/>
            </a:pPr>
            <a:r>
              <a:rPr lang="en-US" sz="3200">
                <a:latin typeface="Arial" pitchFamily="34" charset="0"/>
              </a:rPr>
              <a:t>Entities</a:t>
            </a:r>
          </a:p>
          <a:p>
            <a:pPr marL="914400" lvl="1" indent="-457200">
              <a:buFont typeface="Courier New" pitchFamily="49" charset="0"/>
              <a:buChar char="o"/>
            </a:pPr>
            <a:r>
              <a:rPr lang="en-US" sz="3200">
                <a:latin typeface="Arial" pitchFamily="34" charset="0"/>
              </a:rPr>
              <a:t>Relationships</a:t>
            </a:r>
          </a:p>
          <a:p>
            <a:pPr marL="914400" lvl="1" indent="-457200">
              <a:buFont typeface="Courier New" pitchFamily="49" charset="0"/>
              <a:buChar char="o"/>
            </a:pPr>
            <a:r>
              <a:rPr lang="en-US" sz="3200">
                <a:latin typeface="Arial" pitchFamily="34" charset="0"/>
              </a:rPr>
              <a:t>Attributes</a:t>
            </a:r>
          </a:p>
        </p:txBody>
      </p:sp>
      <p:sp>
        <p:nvSpPr>
          <p:cNvPr id="30"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5</a:t>
            </a:fld>
            <a:endParaRPr lang="en-US" sz="2000" b="1">
              <a:solidFill>
                <a:srgbClr val="FF0000"/>
              </a:solidFill>
            </a:endParaRPr>
          </a:p>
        </p:txBody>
      </p:sp>
    </p:spTree>
    <p:extLst>
      <p:ext uri="{BB962C8B-B14F-4D97-AF65-F5344CB8AC3E}">
        <p14:creationId xmlns:p14="http://schemas.microsoft.com/office/powerpoint/2010/main" val="281922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ERM – Ví dụ</a:t>
            </a:r>
          </a:p>
        </p:txBody>
      </p:sp>
      <p:pic>
        <p:nvPicPr>
          <p:cNvPr id="4" name="Picture 102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371600"/>
            <a:ext cx="8839200" cy="536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6</a:t>
            </a:fld>
            <a:endParaRPr lang="en-US" sz="2000" b="1">
              <a:solidFill>
                <a:srgbClr val="FF0000"/>
              </a:solidFill>
            </a:endParaRPr>
          </a:p>
        </p:txBody>
      </p:sp>
    </p:spTree>
    <p:extLst>
      <p:ext uri="{BB962C8B-B14F-4D97-AF65-F5344CB8AC3E}">
        <p14:creationId xmlns:p14="http://schemas.microsoft.com/office/powerpoint/2010/main" val="920495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ERM – Basic notations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56" y="1600200"/>
            <a:ext cx="8980487"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7</a:t>
            </a:fld>
            <a:endParaRPr lang="en-US" sz="2000" b="1">
              <a:solidFill>
                <a:srgbClr val="FF0000"/>
              </a:solidFill>
            </a:endParaRPr>
          </a:p>
        </p:txBody>
      </p:sp>
    </p:spTree>
    <p:extLst>
      <p:ext uri="{BB962C8B-B14F-4D97-AF65-F5344CB8AC3E}">
        <p14:creationId xmlns:p14="http://schemas.microsoft.com/office/powerpoint/2010/main" val="737871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cf_3"/>
          <p:cNvPicPr>
            <a:picLocks noChangeAspect="1" noChangeArrowheads="1"/>
          </p:cNvPicPr>
          <p:nvPr/>
        </p:nvPicPr>
        <p:blipFill>
          <a:blip r:embed="rId3" cstate="print">
            <a:extLst>
              <a:ext uri="{28A0092B-C50C-407E-A947-70E740481C1C}">
                <a14:useLocalDpi xmlns:a14="http://schemas.microsoft.com/office/drawing/2010/main" val="0"/>
              </a:ext>
            </a:extLst>
          </a:blip>
          <a:srcRect l="7826" r="8696"/>
          <a:stretch>
            <a:fillRect/>
          </a:stretch>
        </p:blipFill>
        <p:spPr bwMode="auto">
          <a:xfrm>
            <a:off x="138544" y="1143000"/>
            <a:ext cx="8866909" cy="554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Rectangle 27"/>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Binary Relationships</a:t>
            </a:r>
          </a:p>
        </p:txBody>
      </p:sp>
      <p:sp>
        <p:nvSpPr>
          <p:cNvPr id="6"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8</a:t>
            </a:fld>
            <a:endParaRPr lang="en-US" sz="2000" b="1">
              <a:solidFill>
                <a:srgbClr val="FF0000"/>
              </a:solidFill>
            </a:endParaRPr>
          </a:p>
        </p:txBody>
      </p:sp>
    </p:spTree>
    <p:extLst>
      <p:ext uri="{BB962C8B-B14F-4D97-AF65-F5344CB8AC3E}">
        <p14:creationId xmlns:p14="http://schemas.microsoft.com/office/powerpoint/2010/main" val="512990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3600" b="1" spc="150">
                <a:ln w="11430"/>
                <a:solidFill>
                  <a:srgbClr val="F8F8F8"/>
                </a:solidFill>
                <a:effectLst>
                  <a:outerShdw blurRad="25400" algn="tl" rotWithShape="0">
                    <a:srgbClr val="000000">
                      <a:alpha val="43000"/>
                    </a:srgbClr>
                  </a:outerShdw>
                </a:effectLst>
                <a:latin typeface="Arial" pitchFamily="34" charset="0"/>
                <a:cs typeface="Arial" pitchFamily="34" charset="0"/>
              </a:rPr>
              <a:t>Chuyển từ ERM sang Relational Schema</a:t>
            </a:r>
          </a:p>
        </p:txBody>
      </p:sp>
      <p:sp>
        <p:nvSpPr>
          <p:cNvPr id="6"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9</a:t>
            </a:fld>
            <a:endParaRPr lang="en-US" sz="2000" b="1">
              <a:solidFill>
                <a:srgbClr val="FF0000"/>
              </a:solidFill>
            </a:endParaRPr>
          </a:p>
        </p:txBody>
      </p:sp>
      <p:sp>
        <p:nvSpPr>
          <p:cNvPr id="7" name="TextBox 6"/>
          <p:cNvSpPr txBox="1"/>
          <p:nvPr/>
        </p:nvSpPr>
        <p:spPr>
          <a:xfrm>
            <a:off x="314902" y="1752600"/>
            <a:ext cx="8600498" cy="3539430"/>
          </a:xfrm>
          <a:prstGeom prst="rect">
            <a:avLst/>
          </a:prstGeom>
          <a:noFill/>
        </p:spPr>
        <p:txBody>
          <a:bodyPr wrap="square" rtlCol="0">
            <a:spAutoFit/>
          </a:bodyPr>
          <a:lstStyle/>
          <a:p>
            <a:r>
              <a:rPr lang="en-US" sz="3200" b="1">
                <a:solidFill>
                  <a:srgbClr val="FF0000"/>
                </a:solidFill>
                <a:latin typeface="Arial" pitchFamily="34" charset="0"/>
              </a:rPr>
              <a:t>Rules for converting ER Model to relational schema</a:t>
            </a:r>
          </a:p>
          <a:p>
            <a:pPr marL="457200" indent="-457200">
              <a:buFont typeface="Arial" pitchFamily="34" charset="0"/>
              <a:buChar char="•"/>
            </a:pPr>
            <a:r>
              <a:rPr lang="en-US" sz="3200">
                <a:latin typeface="Arial" pitchFamily="34" charset="0"/>
              </a:rPr>
              <a:t>Basic Conversion Rules</a:t>
            </a:r>
          </a:p>
          <a:p>
            <a:pPr marL="457200" indent="-457200">
              <a:buFont typeface="Arial" pitchFamily="34" charset="0"/>
              <a:buChar char="•"/>
            </a:pPr>
            <a:r>
              <a:rPr lang="en-US" sz="3200">
                <a:latin typeface="Arial" pitchFamily="34" charset="0"/>
              </a:rPr>
              <a:t>Entity Type Rule</a:t>
            </a:r>
          </a:p>
          <a:p>
            <a:pPr marL="457200" indent="-457200">
              <a:buFont typeface="Arial" pitchFamily="34" charset="0"/>
              <a:buChar char="•"/>
            </a:pPr>
            <a:r>
              <a:rPr lang="en-US" sz="3200">
                <a:latin typeface="Arial" pitchFamily="34" charset="0"/>
              </a:rPr>
              <a:t>1-M Relationship Rule</a:t>
            </a:r>
          </a:p>
          <a:p>
            <a:pPr marL="457200" indent="-457200">
              <a:buFont typeface="Arial" pitchFamily="34" charset="0"/>
              <a:buChar char="•"/>
            </a:pPr>
            <a:r>
              <a:rPr lang="en-US" sz="3200">
                <a:latin typeface="Arial" pitchFamily="34" charset="0"/>
              </a:rPr>
              <a:t>M-N Relationship Rule</a:t>
            </a:r>
          </a:p>
          <a:p>
            <a:pPr marL="457200" indent="-457200">
              <a:buFont typeface="Arial" pitchFamily="34" charset="0"/>
              <a:buChar char="•"/>
            </a:pPr>
            <a:r>
              <a:rPr lang="en-US" sz="3200">
                <a:latin typeface="Arial" pitchFamily="34" charset="0"/>
              </a:rPr>
              <a:t>Identification Dependency Rule</a:t>
            </a:r>
          </a:p>
        </p:txBody>
      </p:sp>
    </p:spTree>
    <p:extLst>
      <p:ext uri="{BB962C8B-B14F-4D97-AF65-F5344CB8AC3E}">
        <p14:creationId xmlns:p14="http://schemas.microsoft.com/office/powerpoint/2010/main" val="160062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a:grpSpLocks noGrp="1"/>
          </p:cNvGrpSpPr>
          <p:nvPr/>
        </p:nvGrpSpPr>
        <p:grpSpPr bwMode="auto">
          <a:xfrm>
            <a:off x="443484" y="1219200"/>
            <a:ext cx="8243316" cy="4906963"/>
            <a:chOff x="760" y="689"/>
            <a:chExt cx="4808" cy="2575"/>
          </a:xfrm>
        </p:grpSpPr>
        <p:pic>
          <p:nvPicPr>
            <p:cNvPr id="73733" name="Picture 7" descr="FIG5-8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8" y="689"/>
              <a:ext cx="4800" cy="1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4" name="Picture 8" descr="FIG5-8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 y="2352"/>
              <a:ext cx="4800"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5" name="Text Box 9"/>
            <p:cNvSpPr txBox="1">
              <a:spLocks noChangeArrowheads="1"/>
            </p:cNvSpPr>
            <p:nvPr/>
          </p:nvSpPr>
          <p:spPr bwMode="auto">
            <a:xfrm>
              <a:off x="760" y="2253"/>
              <a:ext cx="177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spcBef>
                  <a:spcPct val="0"/>
                </a:spcBef>
                <a:buFontTx/>
                <a:buNone/>
              </a:pPr>
              <a:r>
                <a:rPr kumimoji="0" lang="en-US" sz="2400">
                  <a:solidFill>
                    <a:srgbClr val="FF0000"/>
                  </a:solidFill>
                </a:rPr>
                <a:t>CUSTOMER relation</a:t>
              </a:r>
            </a:p>
          </p:txBody>
        </p:sp>
        <p:sp>
          <p:nvSpPr>
            <p:cNvPr id="73736" name="Text Box 10"/>
            <p:cNvSpPr txBox="1">
              <a:spLocks noChangeArrowheads="1"/>
            </p:cNvSpPr>
            <p:nvPr/>
          </p:nvSpPr>
          <p:spPr bwMode="auto">
            <a:xfrm>
              <a:off x="864" y="809"/>
              <a:ext cx="1632"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spcBef>
                  <a:spcPct val="0"/>
                </a:spcBef>
                <a:buFontTx/>
                <a:buNone/>
              </a:pPr>
              <a:r>
                <a:rPr kumimoji="0" lang="en-US" sz="2400">
                  <a:solidFill>
                    <a:srgbClr val="FF0000"/>
                  </a:solidFill>
                </a:rPr>
                <a:t>CUSTOMER entity type with simple attributes</a:t>
              </a:r>
            </a:p>
          </p:txBody>
        </p:sp>
      </p:grpSp>
      <p:sp>
        <p:nvSpPr>
          <p:cNvPr id="8" name="Text Box 5"/>
          <p:cNvSpPr txBox="1">
            <a:spLocks noChangeArrowheads="1"/>
          </p:cNvSpPr>
          <p:nvPr/>
        </p:nvSpPr>
        <p:spPr bwMode="auto">
          <a:xfrm>
            <a:off x="1571625" y="6240968"/>
            <a:ext cx="66484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Biến đổi kiểu thực thể thông thường</a:t>
            </a:r>
          </a:p>
        </p:txBody>
      </p:sp>
      <p:sp>
        <p:nvSpPr>
          <p:cNvPr id="10" name="Rectangle 9"/>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1</a:t>
            </a:r>
          </a:p>
        </p:txBody>
      </p:sp>
      <p:sp>
        <p:nvSpPr>
          <p:cNvPr id="11"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10</a:t>
            </a:fld>
            <a:endParaRPr lang="en-US" sz="2000" b="1">
              <a:solidFill>
                <a:srgbClr val="FF0000"/>
              </a:solidFill>
            </a:endParaRPr>
          </a:p>
        </p:txBody>
      </p:sp>
    </p:spTree>
    <p:extLst>
      <p:ext uri="{BB962C8B-B14F-4D97-AF65-F5344CB8AC3E}">
        <p14:creationId xmlns:p14="http://schemas.microsoft.com/office/powerpoint/2010/main" val="1713079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nodeType="afterGroup">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noGrp="1"/>
          </p:cNvGrpSpPr>
          <p:nvPr/>
        </p:nvGrpSpPr>
        <p:grpSpPr bwMode="auto">
          <a:xfrm>
            <a:off x="457200" y="1219200"/>
            <a:ext cx="8229600" cy="4906963"/>
            <a:chOff x="1080" y="912"/>
            <a:chExt cx="4128" cy="2736"/>
          </a:xfrm>
        </p:grpSpPr>
        <p:grpSp>
          <p:nvGrpSpPr>
            <p:cNvPr id="74757" name="Group 5"/>
            <p:cNvGrpSpPr>
              <a:grpSpLocks/>
            </p:cNvGrpSpPr>
            <p:nvPr/>
          </p:nvGrpSpPr>
          <p:grpSpPr bwMode="auto">
            <a:xfrm>
              <a:off x="1080" y="912"/>
              <a:ext cx="4128" cy="2736"/>
              <a:chOff x="1056" y="768"/>
              <a:chExt cx="4128" cy="2736"/>
            </a:xfrm>
          </p:grpSpPr>
          <p:pic>
            <p:nvPicPr>
              <p:cNvPr id="74760" name="Picture 6" descr="FIG5-10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6" y="768"/>
                <a:ext cx="412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1" name="Picture 7" descr="FIG5-10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6" y="2265"/>
                <a:ext cx="4128" cy="1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4758" name="Text Box 8"/>
            <p:cNvSpPr txBox="1">
              <a:spLocks noChangeArrowheads="1"/>
            </p:cNvSpPr>
            <p:nvPr/>
          </p:nvSpPr>
          <p:spPr bwMode="auto">
            <a:xfrm>
              <a:off x="1128" y="1824"/>
              <a:ext cx="1584"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0"/>
                </a:spcBef>
                <a:buFontTx/>
                <a:buNone/>
              </a:pPr>
              <a:r>
                <a:rPr kumimoji="0" lang="en-US" sz="2000">
                  <a:solidFill>
                    <a:srgbClr val="FF0000"/>
                  </a:solidFill>
                </a:rPr>
                <a:t>Multivalued attribute becomes a separate relation with foreign key</a:t>
              </a:r>
            </a:p>
          </p:txBody>
        </p:sp>
        <p:sp>
          <p:nvSpPr>
            <p:cNvPr id="74759" name="Text Box 9"/>
            <p:cNvSpPr txBox="1">
              <a:spLocks noChangeArrowheads="1"/>
            </p:cNvSpPr>
            <p:nvPr/>
          </p:nvSpPr>
          <p:spPr bwMode="auto">
            <a:xfrm>
              <a:off x="3250" y="3061"/>
              <a:ext cx="1896"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0"/>
                </a:spcBef>
                <a:buFontTx/>
                <a:buNone/>
              </a:pPr>
              <a:r>
                <a:rPr kumimoji="0" lang="en-US" sz="2000">
                  <a:solidFill>
                    <a:srgbClr val="FF0000"/>
                  </a:solidFill>
                </a:rPr>
                <a:t>1–to–many relationship between original entity and new relation</a:t>
              </a:r>
            </a:p>
          </p:txBody>
        </p:sp>
      </p:grpSp>
      <p:sp>
        <p:nvSpPr>
          <p:cNvPr id="10" name="Text Box 3"/>
          <p:cNvSpPr txBox="1">
            <a:spLocks noChangeArrowheads="1"/>
          </p:cNvSpPr>
          <p:nvPr/>
        </p:nvSpPr>
        <p:spPr bwMode="auto">
          <a:xfrm>
            <a:off x="1573397" y="6135833"/>
            <a:ext cx="64198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đổi Multivalue attribute</a:t>
            </a:r>
          </a:p>
        </p:txBody>
      </p:sp>
      <p:sp>
        <p:nvSpPr>
          <p:cNvPr id="11" name="Rectangle 10"/>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2</a:t>
            </a:r>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11</a:t>
            </a:fld>
            <a:endParaRPr lang="en-US" sz="2000" b="1">
              <a:solidFill>
                <a:srgbClr val="FF0000"/>
              </a:solidFill>
            </a:endParaRPr>
          </a:p>
        </p:txBody>
      </p:sp>
    </p:spTree>
    <p:extLst>
      <p:ext uri="{BB962C8B-B14F-4D97-AF65-F5344CB8AC3E}">
        <p14:creationId xmlns:p14="http://schemas.microsoft.com/office/powerpoint/2010/main" val="3958700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nodeType="afterGroup">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28"/>
          <p:cNvGrpSpPr>
            <a:grpSpLocks noGrp="1"/>
          </p:cNvGrpSpPr>
          <p:nvPr/>
        </p:nvGrpSpPr>
        <p:grpSpPr bwMode="auto">
          <a:xfrm>
            <a:off x="186743" y="1219200"/>
            <a:ext cx="8500057" cy="4908696"/>
            <a:chOff x="1316" y="864"/>
            <a:chExt cx="3520" cy="2833"/>
          </a:xfrm>
        </p:grpSpPr>
        <p:grpSp>
          <p:nvGrpSpPr>
            <p:cNvPr id="75781" name="Group 1029"/>
            <p:cNvGrpSpPr>
              <a:grpSpLocks/>
            </p:cNvGrpSpPr>
            <p:nvPr/>
          </p:nvGrpSpPr>
          <p:grpSpPr bwMode="auto">
            <a:xfrm>
              <a:off x="1428" y="864"/>
              <a:ext cx="3408" cy="2833"/>
              <a:chOff x="1584" y="768"/>
              <a:chExt cx="3264" cy="2688"/>
            </a:xfrm>
          </p:grpSpPr>
          <p:grpSp>
            <p:nvGrpSpPr>
              <p:cNvPr id="75784" name="Group 1030"/>
              <p:cNvGrpSpPr>
                <a:grpSpLocks/>
              </p:cNvGrpSpPr>
              <p:nvPr/>
            </p:nvGrpSpPr>
            <p:grpSpPr bwMode="auto">
              <a:xfrm>
                <a:off x="1584" y="768"/>
                <a:ext cx="3264" cy="2064"/>
                <a:chOff x="1008" y="995"/>
                <a:chExt cx="3504" cy="2365"/>
              </a:xfrm>
            </p:grpSpPr>
            <p:pic>
              <p:nvPicPr>
                <p:cNvPr id="75786" name="Picture 1031" descr="FIG5-17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8" y="995"/>
                  <a:ext cx="3504" cy="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7" name="Picture 1032" descr="FIG5-17A"/>
                <p:cNvPicPr>
                  <a:picLocks noChangeAspect="1" noChangeArrowheads="1"/>
                </p:cNvPicPr>
                <p:nvPr/>
              </p:nvPicPr>
              <p:blipFill>
                <a:blip r:embed="rId2" cstate="print">
                  <a:extLst>
                    <a:ext uri="{28A0092B-C50C-407E-A947-70E740481C1C}">
                      <a14:useLocalDpi xmlns:a14="http://schemas.microsoft.com/office/drawing/2010/main" val="0"/>
                    </a:ext>
                  </a:extLst>
                </a:blip>
                <a:srcRect t="61441" r="60959"/>
                <a:stretch>
                  <a:fillRect/>
                </a:stretch>
              </p:blipFill>
              <p:spPr bwMode="auto">
                <a:xfrm>
                  <a:off x="3096" y="2076"/>
                  <a:ext cx="1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1033" descr="FIG5-17A"/>
                <p:cNvPicPr>
                  <a:picLocks noChangeAspect="1" noChangeArrowheads="1"/>
                </p:cNvPicPr>
                <p:nvPr/>
              </p:nvPicPr>
              <p:blipFill>
                <a:blip r:embed="rId2" cstate="print">
                  <a:extLst>
                    <a:ext uri="{28A0092B-C50C-407E-A947-70E740481C1C}">
                      <a14:useLocalDpi xmlns:a14="http://schemas.microsoft.com/office/drawing/2010/main" val="0"/>
                    </a:ext>
                  </a:extLst>
                </a:blip>
                <a:srcRect t="61441" r="60959"/>
                <a:stretch>
                  <a:fillRect/>
                </a:stretch>
              </p:blipFill>
              <p:spPr bwMode="auto">
                <a:xfrm>
                  <a:off x="3096" y="2184"/>
                  <a:ext cx="1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9" name="Picture 1034" descr="FIG5-13A"/>
                <p:cNvPicPr>
                  <a:picLocks noChangeAspect="1" noChangeArrowheads="1"/>
                </p:cNvPicPr>
                <p:nvPr/>
              </p:nvPicPr>
              <p:blipFill>
                <a:blip r:embed="rId3" cstate="print">
                  <a:extLst>
                    <a:ext uri="{28A0092B-C50C-407E-A947-70E740481C1C}">
                      <a14:useLocalDpi xmlns:a14="http://schemas.microsoft.com/office/drawing/2010/main" val="0"/>
                    </a:ext>
                  </a:extLst>
                </a:blip>
                <a:srcRect l="64473" t="75621" r="31580" b="11948"/>
                <a:stretch>
                  <a:fillRect/>
                </a:stretch>
              </p:blipFill>
              <p:spPr bwMode="auto">
                <a:xfrm>
                  <a:off x="3096" y="2100"/>
                  <a:ext cx="13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5785" name="Picture 1035" descr="FIG5-17B"/>
              <p:cNvPicPr>
                <a:picLocks noChangeAspect="1" noChangeArrowheads="1"/>
              </p:cNvPicPr>
              <p:nvPr/>
            </p:nvPicPr>
            <p:blipFill>
              <a:blip r:embed="rId4" cstate="print">
                <a:extLst>
                  <a:ext uri="{28A0092B-C50C-407E-A947-70E740481C1C}">
                    <a14:useLocalDpi xmlns:a14="http://schemas.microsoft.com/office/drawing/2010/main" val="0"/>
                  </a:ext>
                </a:extLst>
              </a:blip>
              <a:srcRect l="8888" r="9445"/>
              <a:stretch>
                <a:fillRect/>
              </a:stretch>
            </p:blipFill>
            <p:spPr bwMode="auto">
              <a:xfrm>
                <a:off x="1596" y="2784"/>
                <a:ext cx="325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5782" name="Text Box 1036"/>
            <p:cNvSpPr txBox="1">
              <a:spLocks noChangeArrowheads="1"/>
            </p:cNvSpPr>
            <p:nvPr/>
          </p:nvSpPr>
          <p:spPr bwMode="auto">
            <a:xfrm>
              <a:off x="1316" y="2578"/>
              <a:ext cx="1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eaLnBrk="1" hangingPunct="1">
                <a:spcBef>
                  <a:spcPct val="0"/>
                </a:spcBef>
                <a:buFontTx/>
                <a:buNone/>
              </a:pPr>
              <a:r>
                <a:rPr kumimoji="0" lang="en-US" sz="2400">
                  <a:solidFill>
                    <a:srgbClr val="FF0000"/>
                  </a:solidFill>
                </a:rPr>
                <a:t>EMPLOYEE relation with recursive foreign key</a:t>
              </a:r>
            </a:p>
          </p:txBody>
        </p:sp>
        <p:sp>
          <p:nvSpPr>
            <p:cNvPr id="75783" name="Text Box 1037"/>
            <p:cNvSpPr txBox="1">
              <a:spLocks noChangeArrowheads="1"/>
            </p:cNvSpPr>
            <p:nvPr/>
          </p:nvSpPr>
          <p:spPr bwMode="auto">
            <a:xfrm>
              <a:off x="1428" y="1723"/>
              <a:ext cx="139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eaLnBrk="1" hangingPunct="1">
                <a:spcBef>
                  <a:spcPct val="0"/>
                </a:spcBef>
                <a:buFontTx/>
                <a:buNone/>
              </a:pPr>
              <a:r>
                <a:rPr kumimoji="0" lang="en-US" sz="2400">
                  <a:solidFill>
                    <a:srgbClr val="FF0000"/>
                  </a:solidFill>
                </a:rPr>
                <a:t>EMPLOYEE entity with Manages relationship</a:t>
              </a:r>
            </a:p>
          </p:txBody>
        </p:sp>
      </p:grpSp>
      <p:sp>
        <p:nvSpPr>
          <p:cNvPr id="14" name="Text Box 1027"/>
          <p:cNvSpPr txBox="1">
            <a:spLocks noChangeArrowheads="1"/>
          </p:cNvSpPr>
          <p:nvPr/>
        </p:nvSpPr>
        <p:spPr bwMode="auto">
          <a:xfrm>
            <a:off x="1734874" y="6149112"/>
            <a:ext cx="6096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quan hệ một ngôi – đệ qui</a:t>
            </a:r>
          </a:p>
        </p:txBody>
      </p:sp>
      <p:sp>
        <p:nvSpPr>
          <p:cNvPr id="15" name="Rectangle 14"/>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3</a:t>
            </a:r>
          </a:p>
        </p:txBody>
      </p:sp>
      <p:sp>
        <p:nvSpPr>
          <p:cNvPr id="16"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12</a:t>
            </a:fld>
            <a:endParaRPr lang="en-US" sz="2000" b="1">
              <a:solidFill>
                <a:srgbClr val="FF0000"/>
              </a:solidFill>
            </a:endParaRPr>
          </a:p>
        </p:txBody>
      </p:sp>
    </p:spTree>
    <p:extLst>
      <p:ext uri="{BB962C8B-B14F-4D97-AF65-F5344CB8AC3E}">
        <p14:creationId xmlns:p14="http://schemas.microsoft.com/office/powerpoint/2010/main" val="39824065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nodeType="afterGroup">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linds(horizontal)">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noGrp="1"/>
          </p:cNvGrpSpPr>
          <p:nvPr/>
        </p:nvGrpSpPr>
        <p:grpSpPr bwMode="auto">
          <a:xfrm>
            <a:off x="457200" y="1219200"/>
            <a:ext cx="8229600" cy="4906963"/>
            <a:chOff x="1344" y="749"/>
            <a:chExt cx="3552" cy="2947"/>
          </a:xfrm>
        </p:grpSpPr>
        <p:pic>
          <p:nvPicPr>
            <p:cNvPr id="76805" name="Picture 5" descr="FIG5-14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4" y="749"/>
              <a:ext cx="3552" cy="1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6" name="Picture 6" descr="06_14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4" y="2736"/>
              <a:ext cx="3552"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Text Box 3"/>
          <p:cNvSpPr txBox="1">
            <a:spLocks noChangeArrowheads="1"/>
          </p:cNvSpPr>
          <p:nvPr/>
        </p:nvSpPr>
        <p:spPr bwMode="auto">
          <a:xfrm>
            <a:off x="1600200" y="6131042"/>
            <a:ext cx="6096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quan hệ 1-1</a:t>
            </a:r>
          </a:p>
        </p:txBody>
      </p:sp>
      <p:sp>
        <p:nvSpPr>
          <p:cNvPr id="8"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13</a:t>
            </a:fld>
            <a:endParaRPr lang="en-US" sz="2000" b="1">
              <a:solidFill>
                <a:srgbClr val="FF0000"/>
              </a:solidFill>
            </a:endParaRPr>
          </a:p>
        </p:txBody>
      </p:sp>
      <p:sp>
        <p:nvSpPr>
          <p:cNvPr id="9" name="Rectangle 8"/>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4</a:t>
            </a:r>
          </a:p>
        </p:txBody>
      </p:sp>
    </p:spTree>
    <p:extLst>
      <p:ext uri="{BB962C8B-B14F-4D97-AF65-F5344CB8AC3E}">
        <p14:creationId xmlns:p14="http://schemas.microsoft.com/office/powerpoint/2010/main" val="127867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nodeType="afterGroup">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861540" y="1143000"/>
            <a:ext cx="7576030" cy="5264295"/>
            <a:chOff x="1393" y="804"/>
            <a:chExt cx="3419" cy="2832"/>
          </a:xfrm>
        </p:grpSpPr>
        <p:pic>
          <p:nvPicPr>
            <p:cNvPr id="77829" name="Picture 5" descr="FIG5-17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4" y="804"/>
              <a:ext cx="3408" cy="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6" descr="FIG5-17B"/>
            <p:cNvPicPr>
              <a:picLocks noChangeAspect="1" noChangeArrowheads="1"/>
            </p:cNvPicPr>
            <p:nvPr/>
          </p:nvPicPr>
          <p:blipFill>
            <a:blip r:embed="rId3" cstate="print">
              <a:extLst>
                <a:ext uri="{28A0092B-C50C-407E-A947-70E740481C1C}">
                  <a14:useLocalDpi xmlns:a14="http://schemas.microsoft.com/office/drawing/2010/main" val="0"/>
                </a:ext>
              </a:extLst>
            </a:blip>
            <a:srcRect l="8888" r="9445"/>
            <a:stretch>
              <a:fillRect/>
            </a:stretch>
          </p:blipFill>
          <p:spPr bwMode="auto">
            <a:xfrm>
              <a:off x="1417" y="2928"/>
              <a:ext cx="3395" cy="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1" name="Text Box 7"/>
            <p:cNvSpPr txBox="1">
              <a:spLocks noChangeArrowheads="1"/>
            </p:cNvSpPr>
            <p:nvPr/>
          </p:nvSpPr>
          <p:spPr bwMode="auto">
            <a:xfrm>
              <a:off x="1393" y="2547"/>
              <a:ext cx="1528"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eaLnBrk="1" hangingPunct="1">
                <a:spcBef>
                  <a:spcPct val="0"/>
                </a:spcBef>
                <a:buFontTx/>
                <a:buNone/>
              </a:pPr>
              <a:r>
                <a:rPr kumimoji="0" lang="en-US" sz="2400">
                  <a:solidFill>
                    <a:srgbClr val="FF0000"/>
                  </a:solidFill>
                </a:rPr>
                <a:t>EMPLOYEE relation with recursive foreign key</a:t>
              </a:r>
            </a:p>
          </p:txBody>
        </p:sp>
        <p:sp>
          <p:nvSpPr>
            <p:cNvPr id="77832" name="Text Box 8"/>
            <p:cNvSpPr txBox="1">
              <a:spLocks noChangeArrowheads="1"/>
            </p:cNvSpPr>
            <p:nvPr/>
          </p:nvSpPr>
          <p:spPr bwMode="auto">
            <a:xfrm>
              <a:off x="1428" y="1716"/>
              <a:ext cx="1392"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eaLnBrk="1" hangingPunct="1">
                <a:spcBef>
                  <a:spcPct val="0"/>
                </a:spcBef>
                <a:buFontTx/>
                <a:buNone/>
              </a:pPr>
              <a:r>
                <a:rPr kumimoji="0" lang="en-US" sz="2400">
                  <a:solidFill>
                    <a:srgbClr val="FF0000"/>
                  </a:solidFill>
                </a:rPr>
                <a:t>EMPLOYEE entity with Manages relationship</a:t>
              </a:r>
            </a:p>
          </p:txBody>
        </p:sp>
      </p:grpSp>
      <p:sp>
        <p:nvSpPr>
          <p:cNvPr id="10"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14</a:t>
            </a:fld>
            <a:endParaRPr lang="en-US" sz="2000" b="1">
              <a:solidFill>
                <a:srgbClr val="FF0000"/>
              </a:solidFill>
            </a:endParaRPr>
          </a:p>
        </p:txBody>
      </p:sp>
      <p:sp>
        <p:nvSpPr>
          <p:cNvPr id="11" name="Rectangle 10"/>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5</a:t>
            </a:r>
          </a:p>
        </p:txBody>
      </p:sp>
      <p:sp>
        <p:nvSpPr>
          <p:cNvPr id="12" name="Text Box 3"/>
          <p:cNvSpPr txBox="1">
            <a:spLocks noChangeArrowheads="1"/>
          </p:cNvSpPr>
          <p:nvPr/>
        </p:nvSpPr>
        <p:spPr bwMode="auto">
          <a:xfrm>
            <a:off x="1371600" y="6291159"/>
            <a:ext cx="6663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quan hệ một ngôi lượng số 1-n</a:t>
            </a:r>
          </a:p>
        </p:txBody>
      </p:sp>
    </p:spTree>
    <p:extLst>
      <p:ext uri="{BB962C8B-B14F-4D97-AF65-F5344CB8AC3E}">
        <p14:creationId xmlns:p14="http://schemas.microsoft.com/office/powerpoint/2010/main" val="1037433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6796" y="1219199"/>
            <a:ext cx="8756204" cy="5201948"/>
            <a:chOff x="757" y="816"/>
            <a:chExt cx="3947" cy="2880"/>
          </a:xfrm>
        </p:grpSpPr>
        <p:pic>
          <p:nvPicPr>
            <p:cNvPr id="78853" name="Picture 5" descr="06_12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4" y="816"/>
              <a:ext cx="3648" cy="1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4" name="Picture 6" descr="06_12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 y="2718"/>
              <a:ext cx="3648"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5" name="Text Box 7"/>
            <p:cNvSpPr txBox="1">
              <a:spLocks noChangeArrowheads="1"/>
            </p:cNvSpPr>
            <p:nvPr/>
          </p:nvSpPr>
          <p:spPr bwMode="auto">
            <a:xfrm>
              <a:off x="3240" y="1479"/>
              <a:ext cx="146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a:spcBef>
                  <a:spcPct val="0"/>
                </a:spcBef>
                <a:buFontTx/>
                <a:buNone/>
              </a:pPr>
              <a:r>
                <a:rPr kumimoji="0" lang="en-US" sz="2400">
                  <a:solidFill>
                    <a:srgbClr val="FF0000"/>
                  </a:solidFill>
                </a:rPr>
                <a:t>Lưu ý điều kiện bắt buộc một</a:t>
              </a:r>
            </a:p>
          </p:txBody>
        </p:sp>
        <p:sp>
          <p:nvSpPr>
            <p:cNvPr id="78857" name="Text Box 9"/>
            <p:cNvSpPr txBox="1">
              <a:spLocks noChangeArrowheads="1"/>
            </p:cNvSpPr>
            <p:nvPr/>
          </p:nvSpPr>
          <p:spPr bwMode="auto">
            <a:xfrm>
              <a:off x="757" y="1437"/>
              <a:ext cx="1536"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a:spcBef>
                  <a:spcPct val="0"/>
                </a:spcBef>
                <a:buFontTx/>
                <a:buNone/>
              </a:pPr>
              <a:r>
                <a:rPr kumimoji="0" lang="en-US" sz="2400">
                  <a:solidFill>
                    <a:srgbClr val="FF0000"/>
                  </a:solidFill>
                </a:rPr>
                <a:t>Không cho phép khóa ngoại có giá trị null (vì ràng buộc bắt buộc phải có 1)</a:t>
              </a:r>
            </a:p>
          </p:txBody>
        </p:sp>
      </p:grpSp>
      <p:sp>
        <p:nvSpPr>
          <p:cNvPr id="11"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15</a:t>
            </a:fld>
            <a:endParaRPr lang="en-US" sz="2000" b="1">
              <a:solidFill>
                <a:srgbClr val="FF0000"/>
              </a:solidFill>
            </a:endParaRPr>
          </a:p>
        </p:txBody>
      </p:sp>
      <p:sp>
        <p:nvSpPr>
          <p:cNvPr id="12" name="Rectangle 11"/>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6</a:t>
            </a:r>
          </a:p>
        </p:txBody>
      </p:sp>
      <p:sp>
        <p:nvSpPr>
          <p:cNvPr id="13" name="Text Box 3"/>
          <p:cNvSpPr txBox="1">
            <a:spLocks noChangeArrowheads="1"/>
          </p:cNvSpPr>
          <p:nvPr/>
        </p:nvSpPr>
        <p:spPr bwMode="auto">
          <a:xfrm>
            <a:off x="1240002" y="6349830"/>
            <a:ext cx="6663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quan hệ 2 ngôi lượng số 1-n</a:t>
            </a:r>
          </a:p>
        </p:txBody>
      </p:sp>
    </p:spTree>
    <p:extLst>
      <p:ext uri="{BB962C8B-B14F-4D97-AF65-F5344CB8AC3E}">
        <p14:creationId xmlns:p14="http://schemas.microsoft.com/office/powerpoint/2010/main" val="16595926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linds(horizontal)">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33400" y="1172531"/>
            <a:ext cx="8077200" cy="5143324"/>
            <a:chOff x="1824" y="768"/>
            <a:chExt cx="2640" cy="2831"/>
          </a:xfrm>
        </p:grpSpPr>
        <p:grpSp>
          <p:nvGrpSpPr>
            <p:cNvPr id="79877" name="Group 5"/>
            <p:cNvGrpSpPr>
              <a:grpSpLocks/>
            </p:cNvGrpSpPr>
            <p:nvPr/>
          </p:nvGrpSpPr>
          <p:grpSpPr bwMode="auto">
            <a:xfrm>
              <a:off x="1824" y="768"/>
              <a:ext cx="2640" cy="2831"/>
              <a:chOff x="1824" y="768"/>
              <a:chExt cx="2640" cy="3074"/>
            </a:xfrm>
          </p:grpSpPr>
          <p:pic>
            <p:nvPicPr>
              <p:cNvPr id="79880" name="Picture 6" descr="FIG5-18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4" y="768"/>
                <a:ext cx="2640"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81" name="Picture 7" descr="FIG5-18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4" y="2592"/>
                <a:ext cx="2640" cy="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9878" name="Text Box 8"/>
            <p:cNvSpPr txBox="1">
              <a:spLocks noChangeArrowheads="1"/>
            </p:cNvSpPr>
            <p:nvPr/>
          </p:nvSpPr>
          <p:spPr bwMode="auto">
            <a:xfrm>
              <a:off x="1824" y="1320"/>
              <a:ext cx="96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0"/>
                </a:spcBef>
                <a:buFontTx/>
                <a:buNone/>
              </a:pPr>
              <a:r>
                <a:rPr kumimoji="0" lang="en-US" sz="2800">
                  <a:solidFill>
                    <a:srgbClr val="FF0000"/>
                  </a:solidFill>
                </a:rPr>
                <a:t>Quan hệ nhiều nhiều</a:t>
              </a:r>
            </a:p>
          </p:txBody>
        </p:sp>
      </p:grpSp>
      <p:sp>
        <p:nvSpPr>
          <p:cNvPr id="11"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16</a:t>
            </a:fld>
            <a:endParaRPr lang="en-US" sz="2000" b="1">
              <a:solidFill>
                <a:srgbClr val="FF0000"/>
              </a:solidFill>
            </a:endParaRPr>
          </a:p>
        </p:txBody>
      </p:sp>
      <p:sp>
        <p:nvSpPr>
          <p:cNvPr id="12" name="Rectangle 11"/>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7</a:t>
            </a:r>
          </a:p>
        </p:txBody>
      </p:sp>
      <p:sp>
        <p:nvSpPr>
          <p:cNvPr id="13" name="Text Box 3"/>
          <p:cNvSpPr txBox="1">
            <a:spLocks noChangeArrowheads="1"/>
          </p:cNvSpPr>
          <p:nvPr/>
        </p:nvSpPr>
        <p:spPr bwMode="auto">
          <a:xfrm>
            <a:off x="1240002" y="6349830"/>
            <a:ext cx="6663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quan hệ 1 ngôi lượng số m-n</a:t>
            </a:r>
          </a:p>
        </p:txBody>
      </p:sp>
    </p:spTree>
    <p:extLst>
      <p:ext uri="{BB962C8B-B14F-4D97-AF65-F5344CB8AC3E}">
        <p14:creationId xmlns:p14="http://schemas.microsoft.com/office/powerpoint/2010/main" val="1395130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linds(horizontal)">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61975" y="1219200"/>
            <a:ext cx="8450419" cy="5130630"/>
            <a:chOff x="792" y="684"/>
            <a:chExt cx="5007" cy="3024"/>
          </a:xfrm>
        </p:grpSpPr>
        <p:grpSp>
          <p:nvGrpSpPr>
            <p:cNvPr id="80901" name="Group 5"/>
            <p:cNvGrpSpPr>
              <a:grpSpLocks/>
            </p:cNvGrpSpPr>
            <p:nvPr/>
          </p:nvGrpSpPr>
          <p:grpSpPr bwMode="auto">
            <a:xfrm>
              <a:off x="792" y="684"/>
              <a:ext cx="4080" cy="3024"/>
              <a:chOff x="1008" y="720"/>
              <a:chExt cx="4080" cy="3024"/>
            </a:xfrm>
          </p:grpSpPr>
          <p:pic>
            <p:nvPicPr>
              <p:cNvPr id="80910" name="Picture 6" descr="FIG5-13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8" y="720"/>
                <a:ext cx="4080" cy="1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11" name="Picture 7" descr="FIG5-13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8" y="2064"/>
                <a:ext cx="4080"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0902" name="Freeform 8"/>
            <p:cNvSpPr>
              <a:spLocks/>
            </p:cNvSpPr>
            <p:nvPr/>
          </p:nvSpPr>
          <p:spPr bwMode="auto">
            <a:xfrm>
              <a:off x="2952" y="1956"/>
              <a:ext cx="1661" cy="144"/>
            </a:xfrm>
            <a:custGeom>
              <a:avLst/>
              <a:gdLst>
                <a:gd name="T0" fmla="*/ 0 w 1248"/>
                <a:gd name="T1" fmla="*/ 0 h 144"/>
                <a:gd name="T2" fmla="*/ 288 w 1248"/>
                <a:gd name="T3" fmla="*/ 144 h 144"/>
                <a:gd name="T4" fmla="*/ 1248 w 1248"/>
                <a:gd name="T5" fmla="*/ 144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0"/>
                  </a:moveTo>
                  <a:lnTo>
                    <a:pt x="288" y="144"/>
                  </a:lnTo>
                  <a:lnTo>
                    <a:pt x="1248" y="144"/>
                  </a:lnTo>
                </a:path>
              </a:pathLst>
            </a:custGeom>
            <a:noFill/>
            <a:ln w="25400">
              <a:solidFill>
                <a:srgbClr val="FF0000"/>
              </a:solidFill>
              <a:miter lim="800000"/>
              <a:headEnd type="triangle" w="med" len="med"/>
              <a:tailEn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80903" name="Text Box 9"/>
            <p:cNvSpPr txBox="1">
              <a:spLocks noChangeArrowheads="1"/>
            </p:cNvSpPr>
            <p:nvPr/>
          </p:nvSpPr>
          <p:spPr bwMode="auto">
            <a:xfrm>
              <a:off x="3837" y="2724"/>
              <a:ext cx="103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eaLnBrk="1" hangingPunct="1">
                <a:spcBef>
                  <a:spcPct val="0"/>
                </a:spcBef>
                <a:buFontTx/>
                <a:buNone/>
              </a:pPr>
              <a:r>
                <a:rPr kumimoji="0" lang="en-US" sz="1400">
                  <a:solidFill>
                    <a:srgbClr val="FF0000"/>
                  </a:solidFill>
                </a:rPr>
                <a:t>New </a:t>
              </a:r>
              <a:r>
                <a:rPr kumimoji="0" lang="en-US" sz="1400" i="1">
                  <a:solidFill>
                    <a:srgbClr val="FF0000"/>
                  </a:solidFill>
                </a:rPr>
                <a:t>intersection relation</a:t>
              </a:r>
            </a:p>
          </p:txBody>
        </p:sp>
        <p:sp>
          <p:nvSpPr>
            <p:cNvPr id="80904" name="Text Box 10"/>
            <p:cNvSpPr txBox="1">
              <a:spLocks noChangeArrowheads="1"/>
            </p:cNvSpPr>
            <p:nvPr/>
          </p:nvSpPr>
          <p:spPr bwMode="auto">
            <a:xfrm>
              <a:off x="1152" y="2880"/>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0"/>
                </a:spcBef>
                <a:buFontTx/>
                <a:buNone/>
              </a:pPr>
              <a:r>
                <a:rPr kumimoji="0" lang="en-US" sz="1400">
                  <a:solidFill>
                    <a:srgbClr val="FF0000"/>
                  </a:solidFill>
                </a:rPr>
                <a:t>Foreign key</a:t>
              </a:r>
            </a:p>
          </p:txBody>
        </p:sp>
        <p:sp>
          <p:nvSpPr>
            <p:cNvPr id="80905" name="Text Box 11"/>
            <p:cNvSpPr txBox="1">
              <a:spLocks noChangeArrowheads="1"/>
            </p:cNvSpPr>
            <p:nvPr/>
          </p:nvSpPr>
          <p:spPr bwMode="auto">
            <a:xfrm>
              <a:off x="2388" y="3012"/>
              <a:ext cx="9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0"/>
                </a:spcBef>
                <a:buFontTx/>
                <a:buNone/>
              </a:pPr>
              <a:r>
                <a:rPr kumimoji="0" lang="en-US" sz="1400">
                  <a:solidFill>
                    <a:srgbClr val="FF0000"/>
                  </a:solidFill>
                </a:rPr>
                <a:t>Foreign key</a:t>
              </a:r>
            </a:p>
          </p:txBody>
        </p:sp>
        <p:sp>
          <p:nvSpPr>
            <p:cNvPr id="80906" name="Text Box 12"/>
            <p:cNvSpPr txBox="1">
              <a:spLocks noChangeArrowheads="1"/>
            </p:cNvSpPr>
            <p:nvPr/>
          </p:nvSpPr>
          <p:spPr bwMode="auto">
            <a:xfrm>
              <a:off x="1908" y="2448"/>
              <a:ext cx="1392"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0"/>
                </a:spcBef>
                <a:buFontTx/>
                <a:buNone/>
              </a:pPr>
              <a:r>
                <a:rPr kumimoji="0" lang="en-US" sz="1600">
                  <a:solidFill>
                    <a:srgbClr val="FF0000"/>
                  </a:solidFill>
                </a:rPr>
                <a:t>Composite primary key</a:t>
              </a:r>
            </a:p>
          </p:txBody>
        </p:sp>
        <p:sp>
          <p:nvSpPr>
            <p:cNvPr id="80907" name="AutoShape 13"/>
            <p:cNvSpPr>
              <a:spLocks/>
            </p:cNvSpPr>
            <p:nvPr/>
          </p:nvSpPr>
          <p:spPr bwMode="auto">
            <a:xfrm rot="-5400000">
              <a:off x="2496" y="2052"/>
              <a:ext cx="144" cy="1296"/>
            </a:xfrm>
            <a:prstGeom prst="rightBrace">
              <a:avLst>
                <a:gd name="adj1" fmla="val 75000"/>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eaLnBrk="1" hangingPunct="1">
                <a:spcBef>
                  <a:spcPct val="0"/>
                </a:spcBef>
                <a:buFontTx/>
                <a:buNone/>
              </a:pPr>
              <a:endParaRPr kumimoji="0" lang="en-US" sz="1800"/>
            </a:p>
          </p:txBody>
        </p:sp>
        <p:pic>
          <p:nvPicPr>
            <p:cNvPr id="80908" name="Picture 14" descr="FIG5-13B"/>
            <p:cNvPicPr>
              <a:picLocks noChangeAspect="1" noChangeArrowheads="1"/>
            </p:cNvPicPr>
            <p:nvPr/>
          </p:nvPicPr>
          <p:blipFill>
            <a:blip r:embed="rId3" cstate="print">
              <a:extLst>
                <a:ext uri="{28A0092B-C50C-407E-A947-70E740481C1C}">
                  <a14:useLocalDpi xmlns:a14="http://schemas.microsoft.com/office/drawing/2010/main" val="0"/>
                </a:ext>
              </a:extLst>
            </a:blip>
            <a:srcRect r="83784"/>
            <a:stretch>
              <a:fillRect/>
            </a:stretch>
          </p:blipFill>
          <p:spPr bwMode="auto">
            <a:xfrm>
              <a:off x="4824" y="684"/>
              <a:ext cx="720" cy="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9" name="Text Box 15"/>
            <p:cNvSpPr txBox="1">
              <a:spLocks noChangeArrowheads="1"/>
            </p:cNvSpPr>
            <p:nvPr/>
          </p:nvSpPr>
          <p:spPr bwMode="auto">
            <a:xfrm>
              <a:off x="4485" y="1785"/>
              <a:ext cx="1314"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0"/>
                </a:spcBef>
                <a:buFontTx/>
                <a:buNone/>
              </a:pPr>
              <a:r>
                <a:rPr kumimoji="0" lang="en-US" sz="2000">
                  <a:solidFill>
                    <a:srgbClr val="FF0000"/>
                  </a:solidFill>
                </a:rPr>
                <a:t>The </a:t>
              </a:r>
              <a:r>
                <a:rPr kumimoji="0" lang="en-US" sz="2000" i="1">
                  <a:solidFill>
                    <a:srgbClr val="FF0000"/>
                  </a:solidFill>
                </a:rPr>
                <a:t>Supplies</a:t>
              </a:r>
              <a:r>
                <a:rPr kumimoji="0" lang="en-US" sz="2000">
                  <a:solidFill>
                    <a:srgbClr val="FF0000"/>
                  </a:solidFill>
                </a:rPr>
                <a:t> relationship will need to become a separate relation</a:t>
              </a:r>
            </a:p>
          </p:txBody>
        </p:sp>
      </p:grpSp>
      <p:sp>
        <p:nvSpPr>
          <p:cNvPr id="17"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17</a:t>
            </a:fld>
            <a:endParaRPr lang="en-US" sz="2000" b="1">
              <a:solidFill>
                <a:srgbClr val="FF0000"/>
              </a:solidFill>
            </a:endParaRPr>
          </a:p>
        </p:txBody>
      </p:sp>
      <p:sp>
        <p:nvSpPr>
          <p:cNvPr id="18" name="Rectangle 17"/>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8</a:t>
            </a:r>
          </a:p>
        </p:txBody>
      </p:sp>
      <p:sp>
        <p:nvSpPr>
          <p:cNvPr id="19" name="Text Box 3"/>
          <p:cNvSpPr txBox="1">
            <a:spLocks noChangeArrowheads="1"/>
          </p:cNvSpPr>
          <p:nvPr/>
        </p:nvSpPr>
        <p:spPr bwMode="auto">
          <a:xfrm>
            <a:off x="1240002" y="6349830"/>
            <a:ext cx="6663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quan hệ 2 ngôi lượng số m-n</a:t>
            </a:r>
          </a:p>
        </p:txBody>
      </p:sp>
    </p:spTree>
    <p:extLst>
      <p:ext uri="{BB962C8B-B14F-4D97-AF65-F5344CB8AC3E}">
        <p14:creationId xmlns:p14="http://schemas.microsoft.com/office/powerpoint/2010/main" val="403897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linds(horizontal)">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FIG5-19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143000"/>
            <a:ext cx="784648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18</a:t>
            </a:fld>
            <a:endParaRPr lang="en-US" sz="2000" b="1">
              <a:solidFill>
                <a:srgbClr val="FF0000"/>
              </a:solidFill>
            </a:endParaRPr>
          </a:p>
        </p:txBody>
      </p:sp>
      <p:sp>
        <p:nvSpPr>
          <p:cNvPr id="7" name="Rectangle 6"/>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Rule 9 </a:t>
            </a:r>
          </a:p>
        </p:txBody>
      </p:sp>
      <p:sp>
        <p:nvSpPr>
          <p:cNvPr id="8" name="Text Box 3"/>
          <p:cNvSpPr txBox="1">
            <a:spLocks noChangeArrowheads="1"/>
          </p:cNvSpPr>
          <p:nvPr/>
        </p:nvSpPr>
        <p:spPr bwMode="auto">
          <a:xfrm>
            <a:off x="1240002" y="6349830"/>
            <a:ext cx="6663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2500">
                <a:solidFill>
                  <a:schemeClr val="tx1"/>
                </a:solidFill>
                <a:latin typeface="Arial" panose="020B0604020202020204" pitchFamily="34" charset="0"/>
              </a:defRPr>
            </a:lvl1pPr>
            <a:lvl2pPr marL="742950" indent="-285750">
              <a:spcBef>
                <a:spcPct val="20000"/>
              </a:spcBef>
              <a:buChar char="–"/>
              <a:defRPr kumimoji="1" sz="2000">
                <a:solidFill>
                  <a:schemeClr val="tx1"/>
                </a:solidFill>
                <a:latin typeface="Arial" panose="020B0604020202020204" pitchFamily="34" charset="0"/>
              </a:defRPr>
            </a:lvl2pPr>
            <a:lvl3pPr marL="1143000" indent="-228600">
              <a:spcBef>
                <a:spcPct val="20000"/>
              </a:spcBef>
              <a:buChar char="•"/>
              <a:defRPr kumimoji="1" sz="20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1500">
                <a:solidFill>
                  <a:schemeClr val="tx1"/>
                </a:solidFill>
                <a:latin typeface="Arial" panose="020B0604020202020204" pitchFamily="34" charset="0"/>
              </a:defRPr>
            </a:lvl9pPr>
          </a:lstStyle>
          <a:p>
            <a:pPr algn="ctr" eaLnBrk="1" hangingPunct="1">
              <a:spcBef>
                <a:spcPct val="50000"/>
              </a:spcBef>
              <a:buFontTx/>
              <a:buNone/>
            </a:pPr>
            <a:r>
              <a:rPr kumimoji="0" lang="en-US" sz="2800">
                <a:solidFill>
                  <a:srgbClr val="0000FF"/>
                </a:solidFill>
              </a:rPr>
              <a:t>Chuyển quan hệ 3 ngôi</a:t>
            </a:r>
          </a:p>
        </p:txBody>
      </p:sp>
    </p:spTree>
    <p:extLst>
      <p:ext uri="{BB962C8B-B14F-4D97-AF65-F5344CB8AC3E}">
        <p14:creationId xmlns:p14="http://schemas.microsoft.com/office/powerpoint/2010/main" val="4270090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1000"/>
                                        <p:tgtEl>
                                          <p:spTgt spid="4"/>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Normalization</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19</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TextBox 2"/>
          <p:cNvSpPr txBox="1"/>
          <p:nvPr/>
        </p:nvSpPr>
        <p:spPr>
          <a:xfrm>
            <a:off x="314902" y="1524000"/>
            <a:ext cx="8600498" cy="4524315"/>
          </a:xfrm>
          <a:prstGeom prst="rect">
            <a:avLst/>
          </a:prstGeom>
          <a:noFill/>
        </p:spPr>
        <p:txBody>
          <a:bodyPr wrap="square" rtlCol="0">
            <a:spAutoFit/>
          </a:bodyPr>
          <a:lstStyle/>
          <a:p>
            <a:r>
              <a:rPr lang="en-US" sz="3200" b="1" dirty="0" err="1">
                <a:solidFill>
                  <a:srgbClr val="FF0000"/>
                </a:solidFill>
                <a:latin typeface="Arial" pitchFamily="34" charset="0"/>
              </a:rPr>
              <a:t>Sự</a:t>
            </a:r>
            <a:r>
              <a:rPr lang="en-US" sz="3200" b="1" dirty="0">
                <a:solidFill>
                  <a:srgbClr val="FF0000"/>
                </a:solidFill>
                <a:latin typeface="Arial" pitchFamily="34" charset="0"/>
              </a:rPr>
              <a:t> </a:t>
            </a:r>
            <a:r>
              <a:rPr lang="en-US" sz="3200" b="1" dirty="0" err="1">
                <a:solidFill>
                  <a:srgbClr val="FF0000"/>
                </a:solidFill>
                <a:latin typeface="Arial" pitchFamily="34" charset="0"/>
              </a:rPr>
              <a:t>cần</a:t>
            </a:r>
            <a:r>
              <a:rPr lang="en-US" sz="3200" b="1" dirty="0">
                <a:solidFill>
                  <a:srgbClr val="FF0000"/>
                </a:solidFill>
                <a:latin typeface="Arial" pitchFamily="34" charset="0"/>
              </a:rPr>
              <a:t> </a:t>
            </a:r>
            <a:r>
              <a:rPr lang="en-US" sz="3200" b="1" dirty="0" err="1">
                <a:solidFill>
                  <a:srgbClr val="FF0000"/>
                </a:solidFill>
                <a:latin typeface="Arial" pitchFamily="34" charset="0"/>
              </a:rPr>
              <a:t>thiết</a:t>
            </a:r>
            <a:r>
              <a:rPr lang="en-US" sz="3200" b="1" dirty="0">
                <a:solidFill>
                  <a:srgbClr val="FF0000"/>
                </a:solidFill>
                <a:latin typeface="Arial" pitchFamily="34" charset="0"/>
              </a:rPr>
              <a:t> </a:t>
            </a:r>
            <a:r>
              <a:rPr lang="en-US" sz="3200" b="1" dirty="0" err="1">
                <a:solidFill>
                  <a:srgbClr val="FF0000"/>
                </a:solidFill>
                <a:latin typeface="Arial" pitchFamily="34" charset="0"/>
              </a:rPr>
              <a:t>của</a:t>
            </a:r>
            <a:r>
              <a:rPr lang="en-US" sz="3200" b="1" dirty="0">
                <a:solidFill>
                  <a:srgbClr val="FF0000"/>
                </a:solidFill>
                <a:latin typeface="Arial" pitchFamily="34" charset="0"/>
              </a:rPr>
              <a:t> </a:t>
            </a:r>
            <a:r>
              <a:rPr lang="en-US" sz="3200" b="1" dirty="0" err="1">
                <a:solidFill>
                  <a:srgbClr val="FF0000"/>
                </a:solidFill>
                <a:latin typeface="Arial" pitchFamily="34" charset="0"/>
              </a:rPr>
              <a:t>Chuẩn</a:t>
            </a:r>
            <a:r>
              <a:rPr lang="en-US" sz="3200" b="1" dirty="0">
                <a:solidFill>
                  <a:srgbClr val="FF0000"/>
                </a:solidFill>
                <a:latin typeface="Arial" pitchFamily="34" charset="0"/>
              </a:rPr>
              <a:t> </a:t>
            </a:r>
            <a:r>
              <a:rPr lang="en-US" sz="3200" b="1" dirty="0" err="1">
                <a:solidFill>
                  <a:srgbClr val="FF0000"/>
                </a:solidFill>
                <a:latin typeface="Arial" pitchFamily="34" charset="0"/>
              </a:rPr>
              <a:t>hóa</a:t>
            </a:r>
            <a:r>
              <a:rPr lang="en-US" sz="3200" b="1" dirty="0">
                <a:solidFill>
                  <a:srgbClr val="FF0000"/>
                </a:solidFill>
                <a:latin typeface="Arial" pitchFamily="34" charset="0"/>
              </a:rPr>
              <a:t>:</a:t>
            </a:r>
          </a:p>
          <a:p>
            <a:endParaRPr lang="en-US" sz="3200" b="1" dirty="0">
              <a:solidFill>
                <a:srgbClr val="FF0000"/>
              </a:solidFill>
              <a:latin typeface="Arial" pitchFamily="34" charset="0"/>
            </a:endParaRPr>
          </a:p>
          <a:p>
            <a:pPr marL="457200" indent="-457200">
              <a:buFont typeface="Arial" pitchFamily="34" charset="0"/>
              <a:buChar char="•"/>
            </a:pPr>
            <a:r>
              <a:rPr lang="en-US" sz="3200" dirty="0" err="1">
                <a:latin typeface="Arial" pitchFamily="34" charset="0"/>
              </a:rPr>
              <a:t>Thiết</a:t>
            </a:r>
            <a:r>
              <a:rPr lang="en-US" sz="3200" dirty="0">
                <a:latin typeface="Arial" pitchFamily="34" charset="0"/>
              </a:rPr>
              <a:t> </a:t>
            </a:r>
            <a:r>
              <a:rPr lang="en-US" sz="3200" dirty="0" err="1">
                <a:latin typeface="Arial" pitchFamily="34" charset="0"/>
              </a:rPr>
              <a:t>kế</a:t>
            </a:r>
            <a:r>
              <a:rPr lang="en-US" sz="3200" dirty="0">
                <a:latin typeface="Arial" pitchFamily="34" charset="0"/>
              </a:rPr>
              <a:t> CSDL </a:t>
            </a:r>
            <a:r>
              <a:rPr lang="en-US" sz="3200" dirty="0" err="1">
                <a:latin typeface="Arial" pitchFamily="34" charset="0"/>
              </a:rPr>
              <a:t>không</a:t>
            </a:r>
            <a:r>
              <a:rPr lang="en-US" sz="3200" dirty="0">
                <a:latin typeface="Arial" pitchFamily="34" charset="0"/>
              </a:rPr>
              <a:t> </a:t>
            </a:r>
            <a:r>
              <a:rPr lang="en-US" sz="3200" dirty="0" err="1">
                <a:latin typeface="Arial" pitchFamily="34" charset="0"/>
              </a:rPr>
              <a:t>tốt</a:t>
            </a:r>
            <a:r>
              <a:rPr lang="en-US" sz="3200" dirty="0">
                <a:latin typeface="Arial" pitchFamily="34" charset="0"/>
              </a:rPr>
              <a:t> </a:t>
            </a:r>
            <a:r>
              <a:rPr lang="en-US" sz="3200" dirty="0" err="1">
                <a:latin typeface="Arial" pitchFamily="34" charset="0"/>
              </a:rPr>
              <a:t>sẽ</a:t>
            </a:r>
            <a:r>
              <a:rPr lang="en-US" sz="3200" dirty="0">
                <a:latin typeface="Arial" pitchFamily="34" charset="0"/>
              </a:rPr>
              <a:t> </a:t>
            </a:r>
            <a:r>
              <a:rPr lang="en-US" sz="3200" dirty="0" err="1">
                <a:latin typeface="Arial" pitchFamily="34" charset="0"/>
              </a:rPr>
              <a:t>dẫn</a:t>
            </a:r>
            <a:r>
              <a:rPr lang="en-US" sz="3200" dirty="0">
                <a:latin typeface="Arial" pitchFamily="34" charset="0"/>
              </a:rPr>
              <a:t> </a:t>
            </a:r>
            <a:r>
              <a:rPr lang="en-US" sz="3200" dirty="0" err="1">
                <a:latin typeface="Arial" pitchFamily="34" charset="0"/>
              </a:rPr>
              <a:t>đến</a:t>
            </a:r>
            <a:endParaRPr lang="en-US" sz="3200" dirty="0">
              <a:latin typeface="Arial" pitchFamily="34" charset="0"/>
            </a:endParaRPr>
          </a:p>
          <a:p>
            <a:pPr marL="914400" lvl="1" indent="-457200">
              <a:buFont typeface="Courier New" pitchFamily="49" charset="0"/>
              <a:buChar char="o"/>
            </a:pPr>
            <a:r>
              <a:rPr lang="en-US" sz="3200" dirty="0">
                <a:latin typeface="Arial" pitchFamily="34" charset="0"/>
              </a:rPr>
              <a:t>Redundancy (</a:t>
            </a:r>
            <a:r>
              <a:rPr lang="en-US" sz="3200" dirty="0" err="1">
                <a:latin typeface="Arial" pitchFamily="34" charset="0"/>
              </a:rPr>
              <a:t>dư</a:t>
            </a:r>
            <a:r>
              <a:rPr lang="en-US" sz="3200" dirty="0">
                <a:latin typeface="Arial" pitchFamily="34" charset="0"/>
              </a:rPr>
              <a:t> </a:t>
            </a:r>
            <a:r>
              <a:rPr lang="en-US" sz="3200" dirty="0" err="1">
                <a:latin typeface="Arial" pitchFamily="34" charset="0"/>
              </a:rPr>
              <a:t>thừa</a:t>
            </a:r>
            <a:r>
              <a:rPr lang="en-US" sz="3200" dirty="0">
                <a:latin typeface="Arial" pitchFamily="34" charset="0"/>
              </a:rPr>
              <a:t>): </a:t>
            </a:r>
            <a:r>
              <a:rPr lang="en-US" sz="3200" dirty="0" err="1">
                <a:latin typeface="Arial" pitchFamily="34" charset="0"/>
              </a:rPr>
              <a:t>không</a:t>
            </a:r>
            <a:r>
              <a:rPr lang="en-US" sz="3200" dirty="0">
                <a:latin typeface="Arial" pitchFamily="34" charset="0"/>
              </a:rPr>
              <a:t> </a:t>
            </a:r>
            <a:r>
              <a:rPr lang="en-US" sz="3200" dirty="0" err="1">
                <a:latin typeface="Arial" pitchFamily="34" charset="0"/>
              </a:rPr>
              <a:t>hiệu</a:t>
            </a:r>
            <a:r>
              <a:rPr lang="en-US" sz="3200" dirty="0">
                <a:latin typeface="Arial" pitchFamily="34" charset="0"/>
              </a:rPr>
              <a:t> </a:t>
            </a:r>
            <a:r>
              <a:rPr lang="en-US" sz="3200" dirty="0" err="1">
                <a:latin typeface="Arial" pitchFamily="34" charset="0"/>
              </a:rPr>
              <a:t>quả</a:t>
            </a:r>
            <a:r>
              <a:rPr lang="en-US" sz="3200" dirty="0">
                <a:latin typeface="Arial" pitchFamily="34" charset="0"/>
              </a:rPr>
              <a:t> </a:t>
            </a:r>
            <a:r>
              <a:rPr lang="en-US" sz="3200" dirty="0" err="1">
                <a:latin typeface="Arial" pitchFamily="34" charset="0"/>
              </a:rPr>
              <a:t>khi</a:t>
            </a:r>
            <a:r>
              <a:rPr lang="en-US" sz="3200" dirty="0">
                <a:latin typeface="Arial" pitchFamily="34" charset="0"/>
              </a:rPr>
              <a:t> </a:t>
            </a:r>
            <a:r>
              <a:rPr lang="en-US" sz="3200" dirty="0" err="1">
                <a:latin typeface="Arial" pitchFamily="34" charset="0"/>
              </a:rPr>
              <a:t>lưu</a:t>
            </a:r>
            <a:r>
              <a:rPr lang="en-US" sz="3200" dirty="0">
                <a:latin typeface="Arial" pitchFamily="34" charset="0"/>
              </a:rPr>
              <a:t> </a:t>
            </a:r>
            <a:r>
              <a:rPr lang="en-US" sz="3200" dirty="0" err="1">
                <a:latin typeface="Arial" pitchFamily="34" charset="0"/>
              </a:rPr>
              <a:t>trữ</a:t>
            </a:r>
            <a:endParaRPr lang="en-US" sz="3200" dirty="0">
              <a:latin typeface="Arial" pitchFamily="34" charset="0"/>
            </a:endParaRPr>
          </a:p>
          <a:p>
            <a:pPr marL="914400" lvl="1" indent="-457200">
              <a:buFont typeface="Courier New" pitchFamily="49" charset="0"/>
              <a:buChar char="o"/>
            </a:pPr>
            <a:r>
              <a:rPr lang="en-US" sz="3200" dirty="0">
                <a:latin typeface="Arial" pitchFamily="34" charset="0"/>
              </a:rPr>
              <a:t>Anomalies (</a:t>
            </a:r>
            <a:r>
              <a:rPr lang="en-US" sz="3200" dirty="0" err="1">
                <a:latin typeface="Arial" pitchFamily="34" charset="0"/>
              </a:rPr>
              <a:t>bất</a:t>
            </a:r>
            <a:r>
              <a:rPr lang="en-US" sz="3200" dirty="0">
                <a:latin typeface="Arial" pitchFamily="34" charset="0"/>
              </a:rPr>
              <a:t> </a:t>
            </a:r>
            <a:r>
              <a:rPr lang="en-US" sz="3200" dirty="0" err="1">
                <a:latin typeface="Arial" pitchFamily="34" charset="0"/>
              </a:rPr>
              <a:t>thường</a:t>
            </a:r>
            <a:r>
              <a:rPr lang="en-US" sz="3200" dirty="0">
                <a:latin typeface="Arial" pitchFamily="34" charset="0"/>
              </a:rPr>
              <a:t>): </a:t>
            </a:r>
            <a:r>
              <a:rPr lang="en-US" sz="3200" dirty="0" err="1">
                <a:latin typeface="Arial" pitchFamily="34" charset="0"/>
              </a:rPr>
              <a:t>dữ</a:t>
            </a:r>
            <a:r>
              <a:rPr lang="en-US" sz="3200" dirty="0">
                <a:latin typeface="Arial" pitchFamily="34" charset="0"/>
              </a:rPr>
              <a:t> </a:t>
            </a:r>
            <a:r>
              <a:rPr lang="en-US" sz="3200" dirty="0" err="1">
                <a:latin typeface="Arial" pitchFamily="34" charset="0"/>
              </a:rPr>
              <a:t>liệu</a:t>
            </a:r>
            <a:r>
              <a:rPr lang="en-US" sz="3200" dirty="0">
                <a:latin typeface="Arial" pitchFamily="34" charset="0"/>
              </a:rPr>
              <a:t> </a:t>
            </a:r>
            <a:r>
              <a:rPr lang="en-US" sz="3200" dirty="0" err="1">
                <a:latin typeface="Arial" pitchFamily="34" charset="0"/>
              </a:rPr>
              <a:t>không</a:t>
            </a:r>
            <a:r>
              <a:rPr lang="en-US" sz="3200" dirty="0">
                <a:latin typeface="Arial" pitchFamily="34" charset="0"/>
              </a:rPr>
              <a:t> </a:t>
            </a:r>
            <a:r>
              <a:rPr lang="en-US" sz="3200" dirty="0" err="1">
                <a:latin typeface="Arial" pitchFamily="34" charset="0"/>
              </a:rPr>
              <a:t>nhất</a:t>
            </a:r>
            <a:r>
              <a:rPr lang="en-US" sz="3200" dirty="0">
                <a:latin typeface="Arial" pitchFamily="34" charset="0"/>
              </a:rPr>
              <a:t> </a:t>
            </a:r>
            <a:r>
              <a:rPr lang="en-US" sz="3200" dirty="0" err="1">
                <a:latin typeface="Arial" pitchFamily="34" charset="0"/>
              </a:rPr>
              <a:t>quán</a:t>
            </a:r>
            <a:r>
              <a:rPr lang="en-US" sz="3200" dirty="0">
                <a:latin typeface="Arial" pitchFamily="34" charset="0"/>
              </a:rPr>
              <a:t>, </a:t>
            </a:r>
            <a:r>
              <a:rPr lang="en-US" sz="3200" dirty="0" err="1">
                <a:latin typeface="Arial" pitchFamily="34" charset="0"/>
              </a:rPr>
              <a:t>gây</a:t>
            </a:r>
            <a:r>
              <a:rPr lang="en-US" sz="3200" dirty="0">
                <a:latin typeface="Arial" pitchFamily="34" charset="0"/>
              </a:rPr>
              <a:t> </a:t>
            </a:r>
            <a:r>
              <a:rPr lang="en-US" sz="3200" dirty="0" err="1">
                <a:latin typeface="Arial" pitchFamily="34" charset="0"/>
              </a:rPr>
              <a:t>khó</a:t>
            </a:r>
            <a:r>
              <a:rPr lang="en-US" sz="3200" dirty="0">
                <a:latin typeface="Arial" pitchFamily="34" charset="0"/>
              </a:rPr>
              <a:t> </a:t>
            </a:r>
            <a:r>
              <a:rPr lang="en-US" sz="3200" dirty="0" err="1">
                <a:latin typeface="Arial" pitchFamily="34" charset="0"/>
              </a:rPr>
              <a:t>khăn</a:t>
            </a:r>
            <a:r>
              <a:rPr lang="en-US" sz="3200" dirty="0">
                <a:latin typeface="Arial" pitchFamily="34" charset="0"/>
              </a:rPr>
              <a:t> </a:t>
            </a:r>
            <a:r>
              <a:rPr lang="en-US" sz="3200" dirty="0" err="1">
                <a:latin typeface="Arial" pitchFamily="34" charset="0"/>
              </a:rPr>
              <a:t>khi</a:t>
            </a:r>
            <a:r>
              <a:rPr lang="en-US" sz="3200" dirty="0">
                <a:latin typeface="Arial" pitchFamily="34" charset="0"/>
              </a:rPr>
              <a:t> maintain</a:t>
            </a:r>
          </a:p>
          <a:p>
            <a:pPr marL="457200" indent="-457200">
              <a:buFont typeface="Courier New" pitchFamily="49" charset="0"/>
              <a:buChar char="o"/>
            </a:pPr>
            <a:endParaRPr lang="en-US" sz="3200" dirty="0">
              <a:latin typeface="Arial" pitchFamily="34" charset="0"/>
            </a:endParaRPr>
          </a:p>
          <a:p>
            <a:pPr marL="457200" indent="-457200">
              <a:buFont typeface="Courier New" pitchFamily="49" charset="0"/>
              <a:buChar char="o"/>
            </a:pPr>
            <a:r>
              <a:rPr lang="en-US" sz="3200" dirty="0" err="1">
                <a:latin typeface="Arial" pitchFamily="34" charset="0"/>
              </a:rPr>
              <a:t>Thiết</a:t>
            </a:r>
            <a:r>
              <a:rPr lang="en-US" sz="3200" dirty="0">
                <a:latin typeface="Arial" pitchFamily="34" charset="0"/>
              </a:rPr>
              <a:t> </a:t>
            </a:r>
            <a:r>
              <a:rPr lang="en-US" sz="3200" dirty="0" err="1">
                <a:latin typeface="Arial" pitchFamily="34" charset="0"/>
              </a:rPr>
              <a:t>kế</a:t>
            </a:r>
            <a:r>
              <a:rPr lang="en-US" sz="3200" dirty="0">
                <a:latin typeface="Arial" pitchFamily="34" charset="0"/>
              </a:rPr>
              <a:t> </a:t>
            </a:r>
            <a:r>
              <a:rPr lang="en-US" sz="3200" dirty="0" err="1">
                <a:latin typeface="Arial" pitchFamily="34" charset="0"/>
              </a:rPr>
              <a:t>cần</a:t>
            </a:r>
            <a:r>
              <a:rPr lang="en-US" sz="3200" dirty="0">
                <a:latin typeface="Arial" pitchFamily="34" charset="0"/>
              </a:rPr>
              <a:t> </a:t>
            </a:r>
            <a:r>
              <a:rPr lang="en-US" sz="3200" dirty="0" err="1">
                <a:latin typeface="Arial" pitchFamily="34" charset="0"/>
              </a:rPr>
              <a:t>đạt</a:t>
            </a:r>
            <a:r>
              <a:rPr lang="en-US" sz="3200" dirty="0">
                <a:latin typeface="Arial" pitchFamily="34" charset="0"/>
              </a:rPr>
              <a:t> </a:t>
            </a:r>
            <a:r>
              <a:rPr lang="en-US" sz="3200" dirty="0" err="1">
                <a:latin typeface="Arial" pitchFamily="34" charset="0"/>
              </a:rPr>
              <a:t>đến</a:t>
            </a:r>
            <a:r>
              <a:rPr lang="en-US" sz="3200" dirty="0">
                <a:latin typeface="Arial" pitchFamily="34" charset="0"/>
              </a:rPr>
              <a:t> </a:t>
            </a:r>
            <a:r>
              <a:rPr lang="en-US" sz="3200" b="1" u="sng" dirty="0" err="1">
                <a:solidFill>
                  <a:srgbClr val="FF0000"/>
                </a:solidFill>
                <a:latin typeface="Arial" pitchFamily="34" charset="0"/>
              </a:rPr>
              <a:t>mức</a:t>
            </a:r>
            <a:r>
              <a:rPr lang="en-US" sz="3200" b="1" u="sng" dirty="0">
                <a:solidFill>
                  <a:srgbClr val="FF0000"/>
                </a:solidFill>
                <a:latin typeface="Arial" pitchFamily="34" charset="0"/>
              </a:rPr>
              <a:t> 3</a:t>
            </a:r>
            <a:r>
              <a:rPr lang="en-US" sz="3200" dirty="0">
                <a:latin typeface="Arial" pitchFamily="34" charset="0"/>
              </a:rPr>
              <a:t> </a:t>
            </a:r>
          </a:p>
        </p:txBody>
      </p:sp>
    </p:spTree>
    <p:extLst>
      <p:ext uri="{BB962C8B-B14F-4D97-AF65-F5344CB8AC3E}">
        <p14:creationId xmlns:p14="http://schemas.microsoft.com/office/powerpoint/2010/main" val="3446519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First Normal Form – 1NF</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20</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8" name="TextBox 7"/>
          <p:cNvSpPr txBox="1"/>
          <p:nvPr/>
        </p:nvSpPr>
        <p:spPr>
          <a:xfrm>
            <a:off x="314902" y="1524000"/>
            <a:ext cx="8600498" cy="3539430"/>
          </a:xfrm>
          <a:prstGeom prst="rect">
            <a:avLst/>
          </a:prstGeom>
          <a:noFill/>
        </p:spPr>
        <p:txBody>
          <a:bodyPr wrap="square" rtlCol="0">
            <a:spAutoFit/>
          </a:bodyPr>
          <a:lstStyle/>
          <a:p>
            <a:r>
              <a:rPr lang="en-US" sz="3200" b="1">
                <a:solidFill>
                  <a:srgbClr val="FF0000"/>
                </a:solidFill>
                <a:latin typeface="Arial" pitchFamily="34" charset="0"/>
              </a:rPr>
              <a:t>Định nghĩa</a:t>
            </a:r>
          </a:p>
          <a:p>
            <a:pPr marL="457200" indent="-457200">
              <a:buFont typeface="Arial" pitchFamily="34" charset="0"/>
              <a:buChar char="•"/>
            </a:pPr>
            <a:r>
              <a:rPr lang="en-US" sz="3200" i="1"/>
              <a:t>“</a:t>
            </a:r>
            <a:r>
              <a:rPr lang="vi-VN" sz="3200" i="1"/>
              <a:t>Lược đồ quan hệ R ở dạng chuẩn 1(1NF-First Normal Form) nếu mọi thuộc tính của R đều chứa các giá trị nguyên tố (atomic value), giá trị này không là một danh sách các giá trị hoặc giá trị phức hợp (composite value)</a:t>
            </a:r>
            <a:r>
              <a:rPr lang="en-US" sz="3200" i="1"/>
              <a:t>”</a:t>
            </a:r>
            <a:endParaRPr lang="en-US" sz="3200">
              <a:latin typeface="Arial" pitchFamily="34" charset="0"/>
            </a:endParaRPr>
          </a:p>
        </p:txBody>
      </p:sp>
    </p:spTree>
    <p:extLst>
      <p:ext uri="{BB962C8B-B14F-4D97-AF65-F5344CB8AC3E}">
        <p14:creationId xmlns:p14="http://schemas.microsoft.com/office/powerpoint/2010/main" val="3004334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Second Normal Form (2NF)</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21</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8" name="TextBox 7"/>
          <p:cNvSpPr txBox="1"/>
          <p:nvPr/>
        </p:nvSpPr>
        <p:spPr>
          <a:xfrm>
            <a:off x="314902" y="1524000"/>
            <a:ext cx="8600498" cy="1938992"/>
          </a:xfrm>
          <a:prstGeom prst="rect">
            <a:avLst/>
          </a:prstGeom>
          <a:noFill/>
        </p:spPr>
        <p:txBody>
          <a:bodyPr wrap="square" rtlCol="0">
            <a:spAutoFit/>
          </a:bodyPr>
          <a:lstStyle/>
          <a:p>
            <a:r>
              <a:rPr lang="en-US" sz="3200" b="1">
                <a:solidFill>
                  <a:srgbClr val="FF0000"/>
                </a:solidFill>
                <a:latin typeface="Arial" pitchFamily="34" charset="0"/>
              </a:rPr>
              <a:t>Định nghĩa</a:t>
            </a:r>
          </a:p>
          <a:p>
            <a:pPr algn="ctr"/>
            <a:r>
              <a:rPr lang="en-US" sz="3200" b="1">
                <a:solidFill>
                  <a:srgbClr val="FF0000"/>
                </a:solidFill>
                <a:latin typeface="Arial" pitchFamily="34" charset="0"/>
              </a:rPr>
              <a:t>	</a:t>
            </a:r>
            <a:r>
              <a:rPr lang="en-US" sz="2800">
                <a:latin typeface="Arial" pitchFamily="34" charset="0"/>
              </a:rPr>
              <a:t>2NF: it is in 1NF and every non-prime attribute of the table is either dependent on the whole of a candidate key, or on another non prime attribute.</a:t>
            </a:r>
          </a:p>
        </p:txBody>
      </p:sp>
    </p:spTree>
    <p:extLst>
      <p:ext uri="{BB962C8B-B14F-4D97-AF65-F5344CB8AC3E}">
        <p14:creationId xmlns:p14="http://schemas.microsoft.com/office/powerpoint/2010/main" val="499797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itchFamily="34" charset="0"/>
                <a:cs typeface="Arial" pitchFamily="34" charset="0"/>
              </a:rPr>
              <a:t>Third Normal Form (3NF)</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22</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8" name="TextBox 7"/>
          <p:cNvSpPr txBox="1"/>
          <p:nvPr/>
        </p:nvSpPr>
        <p:spPr>
          <a:xfrm>
            <a:off x="314902" y="1524000"/>
            <a:ext cx="8600498" cy="2800767"/>
          </a:xfrm>
          <a:prstGeom prst="rect">
            <a:avLst/>
          </a:prstGeom>
          <a:noFill/>
        </p:spPr>
        <p:txBody>
          <a:bodyPr wrap="square" rtlCol="0">
            <a:spAutoFit/>
          </a:bodyPr>
          <a:lstStyle/>
          <a:p>
            <a:r>
              <a:rPr lang="en-US" sz="3200" b="1" dirty="0" err="1">
                <a:solidFill>
                  <a:srgbClr val="FF0000"/>
                </a:solidFill>
                <a:latin typeface="Arial" pitchFamily="34" charset="0"/>
              </a:rPr>
              <a:t>Định</a:t>
            </a:r>
            <a:r>
              <a:rPr lang="en-US" sz="3200" b="1" dirty="0">
                <a:solidFill>
                  <a:srgbClr val="FF0000"/>
                </a:solidFill>
                <a:latin typeface="Arial" pitchFamily="34" charset="0"/>
              </a:rPr>
              <a:t> </a:t>
            </a:r>
            <a:r>
              <a:rPr lang="en-US" sz="3200" b="1" dirty="0" err="1">
                <a:solidFill>
                  <a:srgbClr val="FF0000"/>
                </a:solidFill>
                <a:latin typeface="Arial" pitchFamily="34" charset="0"/>
              </a:rPr>
              <a:t>nghĩa</a:t>
            </a:r>
            <a:endParaRPr lang="en-US" sz="3200" b="1" dirty="0">
              <a:solidFill>
                <a:srgbClr val="FF0000"/>
              </a:solidFill>
              <a:latin typeface="Arial" pitchFamily="34" charset="0"/>
            </a:endParaRPr>
          </a:p>
          <a:p>
            <a:r>
              <a:rPr lang="en-US" sz="3200" b="1" dirty="0">
                <a:solidFill>
                  <a:srgbClr val="FF0000"/>
                </a:solidFill>
                <a:latin typeface="Arial" pitchFamily="34" charset="0"/>
              </a:rPr>
              <a:t>	</a:t>
            </a:r>
            <a:r>
              <a:rPr lang="en-US" sz="2800" dirty="0">
                <a:latin typeface="Arial" pitchFamily="34" charset="0"/>
              </a:rPr>
              <a:t>3NF: is in second normal form and all nonprimary fields are dependent on the primary key.</a:t>
            </a:r>
          </a:p>
          <a:p>
            <a:endParaRPr lang="en-US" sz="2800" dirty="0">
              <a:latin typeface="Arial" pitchFamily="34" charset="0"/>
            </a:endParaRPr>
          </a:p>
          <a:p>
            <a:r>
              <a:rPr lang="en-US" sz="2800" dirty="0" err="1">
                <a:latin typeface="Arial" pitchFamily="34" charset="0"/>
              </a:rPr>
              <a:t>Mục</a:t>
            </a:r>
            <a:r>
              <a:rPr lang="en-US" sz="2800" dirty="0">
                <a:latin typeface="Arial" pitchFamily="34" charset="0"/>
              </a:rPr>
              <a:t> </a:t>
            </a:r>
            <a:r>
              <a:rPr lang="en-US" sz="2800" dirty="0" err="1">
                <a:latin typeface="Arial" pitchFamily="34" charset="0"/>
              </a:rPr>
              <a:t>đích</a:t>
            </a:r>
            <a:r>
              <a:rPr lang="en-US" sz="2800" dirty="0">
                <a:latin typeface="Arial" pitchFamily="34" charset="0"/>
              </a:rPr>
              <a:t>: </a:t>
            </a:r>
            <a:r>
              <a:rPr lang="en-US" sz="2800" dirty="0" err="1">
                <a:latin typeface="Arial" pitchFamily="34" charset="0"/>
              </a:rPr>
              <a:t>giảm</a:t>
            </a:r>
            <a:r>
              <a:rPr lang="en-US" sz="2800" dirty="0">
                <a:latin typeface="Arial" pitchFamily="34" charset="0"/>
              </a:rPr>
              <a:t> </a:t>
            </a:r>
            <a:r>
              <a:rPr lang="en-US" sz="2800" dirty="0" err="1">
                <a:latin typeface="Arial" pitchFamily="34" charset="0"/>
              </a:rPr>
              <a:t>không</a:t>
            </a:r>
            <a:r>
              <a:rPr lang="en-US" sz="2800" dirty="0">
                <a:latin typeface="Arial" pitchFamily="34" charset="0"/>
              </a:rPr>
              <a:t> </a:t>
            </a:r>
            <a:r>
              <a:rPr lang="en-US" sz="2800" dirty="0" err="1">
                <a:latin typeface="Arial" pitchFamily="34" charset="0"/>
              </a:rPr>
              <a:t>gian</a:t>
            </a:r>
            <a:r>
              <a:rPr lang="en-US" sz="2800" dirty="0">
                <a:latin typeface="Arial" pitchFamily="34" charset="0"/>
              </a:rPr>
              <a:t> </a:t>
            </a:r>
            <a:r>
              <a:rPr lang="en-US" sz="2800" dirty="0" err="1">
                <a:latin typeface="Arial" pitchFamily="34" charset="0"/>
              </a:rPr>
              <a:t>lưu</a:t>
            </a:r>
            <a:r>
              <a:rPr lang="en-US" sz="2800" dirty="0">
                <a:latin typeface="Arial" pitchFamily="34" charset="0"/>
              </a:rPr>
              <a:t> </a:t>
            </a:r>
            <a:r>
              <a:rPr lang="en-US" sz="2800" dirty="0" err="1">
                <a:latin typeface="Arial" pitchFamily="34" charset="0"/>
              </a:rPr>
              <a:t>trữ</a:t>
            </a:r>
            <a:r>
              <a:rPr lang="en-US" sz="2800" dirty="0">
                <a:latin typeface="Arial" pitchFamily="34" charset="0"/>
              </a:rPr>
              <a:t> </a:t>
            </a:r>
            <a:r>
              <a:rPr lang="en-US" sz="2800" dirty="0" err="1">
                <a:latin typeface="Arial" pitchFamily="34" charset="0"/>
              </a:rPr>
              <a:t>và</a:t>
            </a:r>
            <a:r>
              <a:rPr lang="en-US" sz="2800" dirty="0">
                <a:latin typeface="Arial" pitchFamily="34" charset="0"/>
              </a:rPr>
              <a:t> </a:t>
            </a:r>
            <a:r>
              <a:rPr lang="en-US" sz="2800" dirty="0" err="1">
                <a:latin typeface="Arial" pitchFamily="34" charset="0"/>
              </a:rPr>
              <a:t>giảm</a:t>
            </a:r>
            <a:r>
              <a:rPr lang="en-US" sz="2800" dirty="0">
                <a:latin typeface="Arial" pitchFamily="34" charset="0"/>
              </a:rPr>
              <a:t> </a:t>
            </a:r>
            <a:r>
              <a:rPr lang="en-US" sz="2800" dirty="0" err="1">
                <a:latin typeface="Arial" pitchFamily="34" charset="0"/>
              </a:rPr>
              <a:t>dư</a:t>
            </a:r>
            <a:r>
              <a:rPr lang="en-US" sz="2800" dirty="0">
                <a:latin typeface="Arial" pitchFamily="34" charset="0"/>
              </a:rPr>
              <a:t> </a:t>
            </a:r>
            <a:r>
              <a:rPr lang="en-US" sz="2800" dirty="0" err="1">
                <a:latin typeface="Arial" pitchFamily="34" charset="0"/>
              </a:rPr>
              <a:t>thừa</a:t>
            </a:r>
            <a:r>
              <a:rPr lang="en-US" sz="2800" dirty="0">
                <a:latin typeface="Arial" pitchFamily="34" charset="0"/>
              </a:rPr>
              <a:t> </a:t>
            </a:r>
            <a:r>
              <a:rPr lang="en-US" sz="2800" dirty="0" err="1">
                <a:latin typeface="Arial" pitchFamily="34" charset="0"/>
              </a:rPr>
              <a:t>dữ</a:t>
            </a:r>
            <a:r>
              <a:rPr lang="en-US" sz="2800" dirty="0">
                <a:latin typeface="Arial" pitchFamily="34" charset="0"/>
              </a:rPr>
              <a:t> </a:t>
            </a:r>
            <a:r>
              <a:rPr lang="en-US" sz="2800" dirty="0" err="1">
                <a:latin typeface="Arial" pitchFamily="34" charset="0"/>
              </a:rPr>
              <a:t>liệu</a:t>
            </a:r>
            <a:endParaRPr lang="en-US" sz="2800" dirty="0">
              <a:latin typeface="Arial" pitchFamily="34" charset="0"/>
            </a:endParaRPr>
          </a:p>
        </p:txBody>
      </p:sp>
    </p:spTree>
    <p:extLst>
      <p:ext uri="{BB962C8B-B14F-4D97-AF65-F5344CB8AC3E}">
        <p14:creationId xmlns:p14="http://schemas.microsoft.com/office/powerpoint/2010/main" val="3411037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9E414-9E4F-4D3E-97DB-95F09C3216CA}"/>
              </a:ext>
            </a:extLst>
          </p:cNvPr>
          <p:cNvSpPr>
            <a:spLocks noGrp="1"/>
          </p:cNvSpPr>
          <p:nvPr>
            <p:ph type="title"/>
          </p:nvPr>
        </p:nvSpPr>
        <p:spPr/>
        <p:txBody>
          <a:bodyPr/>
          <a:lstStyle/>
          <a:p>
            <a:r>
              <a:rPr lang="en-US" dirty="0"/>
              <a:t>Class Diagram vs. Database</a:t>
            </a:r>
          </a:p>
        </p:txBody>
      </p:sp>
      <p:sp>
        <p:nvSpPr>
          <p:cNvPr id="3" name="Content Placeholder 2">
            <a:extLst>
              <a:ext uri="{FF2B5EF4-FFF2-40B4-BE49-F238E27FC236}">
                <a16:creationId xmlns:a16="http://schemas.microsoft.com/office/drawing/2014/main" id="{BDDF1071-7AC5-4B41-AD67-D36984F36B5F}"/>
              </a:ext>
            </a:extLst>
          </p:cNvPr>
          <p:cNvSpPr>
            <a:spLocks noGrp="1"/>
          </p:cNvSpPr>
          <p:nvPr>
            <p:ph idx="1"/>
          </p:nvPr>
        </p:nvSpPr>
        <p:spPr>
          <a:xfrm>
            <a:off x="228600" y="1371600"/>
            <a:ext cx="8686800" cy="5105400"/>
          </a:xfrm>
        </p:spPr>
        <p:txBody>
          <a:bodyPr>
            <a:normAutofit fontScale="85000" lnSpcReduction="20000"/>
          </a:bodyPr>
          <a:lstStyle/>
          <a:p>
            <a:r>
              <a:rPr lang="en-US" dirty="0">
                <a:latin typeface="Arial" panose="020B0604020202020204" pitchFamily="34" charset="0"/>
                <a:cs typeface="Arial" panose="020B0604020202020204" pitchFamily="34" charset="0"/>
              </a:rPr>
              <a:t>Class diagram:</a:t>
            </a:r>
          </a:p>
          <a:p>
            <a:pPr lvl="1"/>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vững</a:t>
            </a:r>
            <a:r>
              <a:rPr lang="en-US" dirty="0">
                <a:latin typeface="Arial" panose="020B0604020202020204" pitchFamily="34" charset="0"/>
                <a:cs typeface="Arial" panose="020B0604020202020204" pitchFamily="34" charset="0"/>
              </a:rPr>
              <a:t> (non-volatile)</a:t>
            </a:r>
          </a:p>
          <a:p>
            <a:pPr lvl="1"/>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endParaRPr lang="en-US" dirty="0">
              <a:latin typeface="Arial" panose="020B0604020202020204" pitchFamily="34" charset="0"/>
              <a:cs typeface="Arial" panose="020B0604020202020204" pitchFamily="34" charset="0"/>
            </a:endParaRPr>
          </a:p>
          <a:p>
            <a:pPr lvl="1"/>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u </a:t>
            </a:r>
            <a:r>
              <a:rPr lang="en-US" dirty="0" err="1">
                <a:latin typeface="Arial" panose="020B0604020202020204" pitchFamily="34" charset="0"/>
                <a:cs typeface="Arial" panose="020B0604020202020204" pitchFamily="34" charset="0"/>
              </a:rPr>
              <a:t>trữ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nhớ</a:t>
            </a:r>
            <a:r>
              <a:rPr lang="en-US" dirty="0">
                <a:latin typeface="Arial" panose="020B0604020202020204" pitchFamily="34" charset="0"/>
                <a:cs typeface="Arial" panose="020B0604020202020204" pitchFamily="34" charset="0"/>
              </a:rPr>
              <a:t>: </a:t>
            </a:r>
          </a:p>
          <a:p>
            <a:pPr lvl="2"/>
            <a:r>
              <a:rPr lang="en-US" dirty="0" err="1">
                <a:latin typeface="Arial" panose="020B0604020202020204" pitchFamily="34" charset="0"/>
                <a:cs typeface="Arial" panose="020B0604020202020204" pitchFamily="34" charset="0"/>
              </a:rPr>
              <a:t>Ưu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a:t>
            </a:r>
          </a:p>
          <a:p>
            <a:pPr lvl="2"/>
            <a:r>
              <a:rPr lang="en-US" dirty="0" err="1">
                <a:latin typeface="Arial" panose="020B0604020202020204" pitchFamily="34" charset="0"/>
                <a:cs typeface="Arial" panose="020B0604020202020204" pitchFamily="34" charset="0"/>
              </a:rPr>
              <a:t>Khuyết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ớc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ợng</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Database:</a:t>
            </a:r>
          </a:p>
          <a:p>
            <a:pPr lvl="1"/>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vững</a:t>
            </a:r>
            <a:r>
              <a:rPr lang="en-US" dirty="0">
                <a:latin typeface="Arial" panose="020B0604020202020204" pitchFamily="34" charset="0"/>
                <a:cs typeface="Arial" panose="020B0604020202020204" pitchFamily="34" charset="0"/>
              </a:rPr>
              <a:t> (volatile)</a:t>
            </a:r>
          </a:p>
          <a:p>
            <a:pPr lvl="1"/>
            <a:r>
              <a:rPr lang="en-US" dirty="0" err="1">
                <a:latin typeface="Arial" panose="020B0604020202020204" pitchFamily="34" charset="0"/>
                <a:cs typeface="Arial" panose="020B0604020202020204" pitchFamily="34" charset="0"/>
              </a:rPr>
              <a:t>Chứa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chuẩn</a:t>
            </a:r>
            <a:r>
              <a:rPr lang="en-US" dirty="0">
                <a:latin typeface="Arial" panose="020B0604020202020204" pitchFamily="34" charset="0"/>
                <a:cs typeface="Arial" panose="020B0604020202020204" pitchFamily="34" charset="0"/>
              </a:rPr>
              <a:t> 3</a:t>
            </a:r>
          </a:p>
          <a:p>
            <a:pPr lvl="1"/>
            <a:r>
              <a:rPr lang="en-US" dirty="0">
                <a:latin typeface="Arial" panose="020B0604020202020204" pitchFamily="34" charset="0"/>
                <a:cs typeface="Arial" panose="020B0604020202020204" pitchFamily="34" charset="0"/>
              </a:rPr>
              <a:t>1 Table ~ 1 class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trúc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phẳng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method</a:t>
            </a:r>
          </a:p>
          <a:p>
            <a:pPr lvl="1"/>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u ở </a:t>
            </a:r>
            <a:r>
              <a:rPr lang="en-US" dirty="0" err="1">
                <a:latin typeface="Arial" panose="020B0604020202020204" pitchFamily="34" charset="0"/>
                <a:cs typeface="Arial" panose="020B0604020202020204" pitchFamily="34" charset="0"/>
              </a:rPr>
              <a:t>đĩa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bởi</a:t>
            </a:r>
            <a:r>
              <a:rPr lang="en-US" dirty="0">
                <a:latin typeface="Arial" panose="020B0604020202020204" pitchFamily="34" charset="0"/>
                <a:cs typeface="Arial" panose="020B0604020202020204" pitchFamily="34" charset="0"/>
              </a:rPr>
              <a:t> DBMS: </a:t>
            </a:r>
          </a:p>
          <a:p>
            <a:pPr lvl="2"/>
            <a:r>
              <a:rPr lang="en-US" dirty="0" err="1">
                <a:latin typeface="Arial" panose="020B0604020202020204" pitchFamily="34" charset="0"/>
                <a:cs typeface="Arial" panose="020B0604020202020204" pitchFamily="34" charset="0"/>
              </a:rPr>
              <a:t>Khuyết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(qua SQL), </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chậm</a:t>
            </a:r>
            <a:r>
              <a:rPr lang="en-US" dirty="0">
                <a:latin typeface="Arial" panose="020B0604020202020204" pitchFamily="34" charset="0"/>
                <a:cs typeface="Arial" panose="020B0604020202020204" pitchFamily="34" charset="0"/>
              </a:rPr>
              <a:t>, </a:t>
            </a:r>
          </a:p>
          <a:p>
            <a:pPr lvl="2"/>
            <a:r>
              <a:rPr lang="en-US" dirty="0" err="1">
                <a:latin typeface="Arial" panose="020B0604020202020204" pitchFamily="34" charset="0"/>
                <a:cs typeface="Arial" panose="020B0604020202020204" pitchFamily="34" charset="0"/>
              </a:rPr>
              <a:t>Ưu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ớc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lớn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12055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9B2E5-24CE-4721-8BCB-F731C845491E}"/>
              </a:ext>
            </a:extLst>
          </p:cNvPr>
          <p:cNvSpPr>
            <a:spLocks noGrp="1"/>
          </p:cNvSpPr>
          <p:nvPr>
            <p:ph type="title"/>
          </p:nvPr>
        </p:nvSpPr>
        <p:spPr/>
        <p:txBody>
          <a:bodyPr/>
          <a:lstStyle/>
          <a:p>
            <a:r>
              <a:rPr lang="en-US" dirty="0" err="1"/>
              <a:t>Thiết</a:t>
            </a:r>
            <a:r>
              <a:rPr lang="en-US" dirty="0"/>
              <a:t> </a:t>
            </a:r>
            <a:r>
              <a:rPr lang="en-US" dirty="0" err="1"/>
              <a:t>kế</a:t>
            </a:r>
            <a:r>
              <a:rPr lang="en-US" dirty="0"/>
              <a:t> Database </a:t>
            </a:r>
            <a:r>
              <a:rPr lang="en-US" dirty="0" err="1"/>
              <a:t>trong</a:t>
            </a:r>
            <a:r>
              <a:rPr lang="en-US" dirty="0"/>
              <a:t> UML</a:t>
            </a:r>
          </a:p>
        </p:txBody>
      </p:sp>
      <p:sp>
        <p:nvSpPr>
          <p:cNvPr id="3" name="Content Placeholder 2">
            <a:extLst>
              <a:ext uri="{FF2B5EF4-FFF2-40B4-BE49-F238E27FC236}">
                <a16:creationId xmlns:a16="http://schemas.microsoft.com/office/drawing/2014/main" id="{2CD07057-2CA7-40B6-89B1-CF261D2B08DB}"/>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Use-case Diagram:</a:t>
            </a:r>
          </a:p>
          <a:p>
            <a:pPr lvl="1"/>
            <a:r>
              <a:rPr lang="en-US" dirty="0">
                <a:latin typeface="Arial" panose="020B0604020202020204" pitchFamily="34" charset="0"/>
                <a:cs typeface="Arial" panose="020B0604020202020204" pitchFamily="34" charset="0"/>
              </a:rPr>
              <a:t>1 Actor: 1 Table</a:t>
            </a:r>
          </a:p>
          <a:p>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Sequence Diagram:</a:t>
            </a:r>
          </a:p>
          <a:p>
            <a:pPr lvl="1"/>
            <a:r>
              <a:rPr lang="en-US" dirty="0">
                <a:latin typeface="Arial" panose="020B0604020202020204" pitchFamily="34" charset="0"/>
                <a:cs typeface="Arial" panose="020B0604020202020204" pitchFamily="34" charset="0"/>
              </a:rPr>
              <a:t>1 message: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1 table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u </a:t>
            </a:r>
            <a:r>
              <a:rPr lang="en-US" dirty="0" err="1">
                <a:latin typeface="Arial" panose="020B0604020202020204" pitchFamily="34" charset="0"/>
                <a:cs typeface="Arial" panose="020B0604020202020204" pitchFamily="34" charset="0"/>
              </a:rPr>
              <a:t>vết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tách</a:t>
            </a:r>
            <a:r>
              <a:rPr lang="en-US" dirty="0">
                <a:latin typeface="Arial" panose="020B0604020202020204" pitchFamily="34" charset="0"/>
                <a:cs typeface="Arial" panose="020B0604020202020204" pitchFamily="34" charset="0"/>
              </a:rPr>
              <a:t> 1 message ra </a:t>
            </a:r>
            <a:r>
              <a:rPr lang="en-US" dirty="0" err="1">
                <a:latin typeface="Arial" panose="020B0604020202020204" pitchFamily="34" charset="0"/>
                <a:cs typeface="Arial" panose="020B0604020202020204" pitchFamily="34" charset="0"/>
              </a:rPr>
              <a:t>nhiều</a:t>
            </a:r>
            <a:r>
              <a:rPr lang="en-US" dirty="0">
                <a:latin typeface="Arial" panose="020B0604020202020204" pitchFamily="34" charset="0"/>
                <a:cs typeface="Arial" panose="020B0604020202020204" pitchFamily="34" charset="0"/>
              </a:rPr>
              <a:t> table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chuẩn</a:t>
            </a:r>
            <a:r>
              <a:rPr lang="en-US" dirty="0">
                <a:latin typeface="Arial" panose="020B0604020202020204" pitchFamily="34" charset="0"/>
                <a:cs typeface="Arial" panose="020B0604020202020204" pitchFamily="34" charset="0"/>
              </a:rPr>
              <a:t> 3</a:t>
            </a:r>
          </a:p>
          <a:p>
            <a:pPr lvl="1"/>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5734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C9EAA-FE92-47FF-9325-330DDBF4F791}"/>
              </a:ext>
            </a:extLst>
          </p:cNvPr>
          <p:cNvSpPr>
            <a:spLocks noGrp="1"/>
          </p:cNvSpPr>
          <p:nvPr>
            <p:ph type="title"/>
          </p:nvPr>
        </p:nvSpPr>
        <p:spPr/>
        <p:txBody>
          <a:bodyPr/>
          <a:lstStyle/>
          <a:p>
            <a:r>
              <a:rPr lang="en-US" dirty="0" err="1"/>
              <a:t>Thiết</a:t>
            </a:r>
            <a:r>
              <a:rPr lang="en-US" dirty="0"/>
              <a:t> </a:t>
            </a:r>
            <a:r>
              <a:rPr lang="en-US" dirty="0" err="1"/>
              <a:t>kế</a:t>
            </a:r>
            <a:r>
              <a:rPr lang="en-US" dirty="0"/>
              <a:t> Database </a:t>
            </a:r>
            <a:r>
              <a:rPr lang="en-US" dirty="0" err="1"/>
              <a:t>trong</a:t>
            </a:r>
            <a:r>
              <a:rPr lang="en-US" dirty="0"/>
              <a:t> UML</a:t>
            </a:r>
          </a:p>
        </p:txBody>
      </p:sp>
      <p:sp>
        <p:nvSpPr>
          <p:cNvPr id="3" name="Content Placeholder 2">
            <a:extLst>
              <a:ext uri="{FF2B5EF4-FFF2-40B4-BE49-F238E27FC236}">
                <a16:creationId xmlns:a16="http://schemas.microsoft.com/office/drawing/2014/main" id="{FB668803-9CE8-4666-8602-25C8E2F703D6}"/>
              </a:ext>
            </a:extLst>
          </p:cNvPr>
          <p:cNvSpPr>
            <a:spLocks noGrp="1"/>
          </p:cNvSpPr>
          <p:nvPr>
            <p:ph idx="1"/>
          </p:nvPr>
        </p:nvSpPr>
        <p:spPr/>
        <p:txBody>
          <a:bodyPr>
            <a:normAutofit lnSpcReduction="10000"/>
          </a:bodyPr>
          <a:lstStyle/>
          <a:p>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State Machine Diagram:</a:t>
            </a:r>
          </a:p>
          <a:p>
            <a:pPr lvl="1"/>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1 table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u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nếu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chỉ</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trúc</a:t>
            </a:r>
            <a:endParaRPr lang="en-US" dirty="0">
              <a:latin typeface="Arial" panose="020B0604020202020204" pitchFamily="34" charset="0"/>
              <a:cs typeface="Arial" panose="020B0604020202020204" pitchFamily="34" charset="0"/>
            </a:endParaRPr>
          </a:p>
          <a:p>
            <a:pPr lvl="1"/>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1 table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u 1 </a:t>
            </a:r>
            <a:r>
              <a:rPr lang="en-US" dirty="0" err="1">
                <a:latin typeface="Arial" panose="020B0604020202020204" pitchFamily="34" charset="0"/>
                <a:cs typeface="Arial" panose="020B0604020202020204" pitchFamily="34" charset="0"/>
              </a:rPr>
              <a:t>trạng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nếu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trúc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hay </a:t>
            </a:r>
            <a:r>
              <a:rPr lang="en-US" dirty="0" err="1">
                <a:latin typeface="Arial" panose="020B0604020202020204" pitchFamily="34" charset="0"/>
                <a:cs typeface="Arial" panose="020B0604020202020204" pitchFamily="34" charset="0"/>
              </a:rPr>
              <a:t>cần</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u </a:t>
            </a:r>
            <a:r>
              <a:rPr lang="en-US" dirty="0" err="1">
                <a:latin typeface="Arial" panose="020B0604020202020204" pitchFamily="34" charset="0"/>
                <a:cs typeface="Arial" panose="020B0604020202020204" pitchFamily="34" charset="0"/>
              </a:rPr>
              <a:t>vết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endParaRPr lang="en-US" dirty="0">
              <a:latin typeface="Arial" panose="020B0604020202020204" pitchFamily="34" charset="0"/>
              <a:cs typeface="Arial" panose="020B0604020202020204" pitchFamily="34" charset="0"/>
            </a:endParaRPr>
          </a:p>
          <a:p>
            <a:pPr lvl="1"/>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table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l</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u </a:t>
            </a:r>
            <a:r>
              <a:rPr lang="en-US" dirty="0" err="1">
                <a:latin typeface="Arial" panose="020B0604020202020204" pitchFamily="34" charset="0"/>
                <a:cs typeface="Arial" panose="020B0604020202020204" pitchFamily="34" charset="0"/>
              </a:rPr>
              <a:t>trữ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ra </a:t>
            </a:r>
            <a:r>
              <a:rPr lang="en-US" dirty="0" err="1">
                <a:latin typeface="Arial" panose="020B0604020202020204" pitchFamily="34" charset="0"/>
                <a:cs typeface="Arial" panose="020B0604020202020204" pitchFamily="34" charset="0"/>
              </a:rPr>
              <a:t>khi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thái</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Activity Diagram:</a:t>
            </a:r>
          </a:p>
          <a:p>
            <a:pPr lvl="1"/>
            <a:r>
              <a:rPr lang="en-US" dirty="0">
                <a:latin typeface="Arial" panose="020B0604020202020204" pitchFamily="34" charset="0"/>
                <a:cs typeface="Arial" panose="020B0604020202020204" pitchFamily="34" charset="0"/>
              </a:rPr>
              <a:t>T</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State </a:t>
            </a:r>
            <a:r>
              <a:rPr lang="en-US">
                <a:latin typeface="Arial" panose="020B0604020202020204" pitchFamily="34" charset="0"/>
                <a:cs typeface="Arial" panose="020B0604020202020204" pitchFamily="34" charset="0"/>
              </a:rPr>
              <a:t>Machine Diagram</a:t>
            </a:r>
            <a:endParaRPr lang="en-US" dirty="0"/>
          </a:p>
        </p:txBody>
      </p:sp>
    </p:spTree>
    <p:extLst>
      <p:ext uri="{BB962C8B-B14F-4D97-AF65-F5344CB8AC3E}">
        <p14:creationId xmlns:p14="http://schemas.microsoft.com/office/powerpoint/2010/main" val="4109495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clipartkid.com/images/459/question-and-answer-images-clipart-panda-free-clipart-images-EodNcb-clipar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95400"/>
            <a:ext cx="7799119" cy="5410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0"/>
            <a:ext cx="9144000" cy="9906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en-US" sz="4800" b="1" spc="150">
                <a:ln w="11430"/>
                <a:solidFill>
                  <a:srgbClr val="F8F8F8"/>
                </a:solidFill>
                <a:effectLst>
                  <a:outerShdw blurRad="25400" algn="tl" rotWithShape="0">
                    <a:srgbClr val="000000">
                      <a:alpha val="43000"/>
                    </a:srgbClr>
                  </a:outerShdw>
                </a:effectLst>
                <a:latin typeface="Arial" panose="020B0604020202020204" pitchFamily="34" charset="0"/>
                <a:cs typeface="Arial" panose="020B0604020202020204" pitchFamily="34" charset="0"/>
              </a:rPr>
              <a:t>Câu hỏi ?</a:t>
            </a:r>
          </a:p>
        </p:txBody>
      </p:sp>
      <p:sp>
        <p:nvSpPr>
          <p:cNvPr id="10" name="AutoShape 6"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155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1" name="AutoShape 8" descr="data:image/jpeg;base64,/9j/4AAQSkZJRgABAQAAAQABAAD/2wCEAAkGBxMTEhUREhMVFhUVFx4ZFxcXGBobFxgeIRgYHRoYGxgYHiogGhomIBoaITEhJSktLi4uGR8zODMsNygtLy0BCgoKDg0OGxAQGy0mHyYtLS8vLS8tLS0tLS0tLS0tLS0tLS0tLS0tLy0tLS0tLS0tLS0tLS0vLS0tLS0tLS0tLf/AABEIAJ8BPgMBEQACEQEDEQH/xAAbAAEAAgMBAQAAAAAAAAAAAAAABQYDBAcCAf/EADwQAAIBAgQDBQUGBgICAwAAAAECEQADBBIhMQUGQRMiUWFxBzJCgZEUI1KhwdEzYnKCsfAV4ZKyQ2PC/8QAGgEBAAMBAQEAAAAAAAAAAAAAAAIDBAEFBv/EADURAAICAQMCAgkEAgICAwAAAAABAgMRBCExEkEFURMiMmFxkaHB8IGx0eEU8SNCUnIGFTT/2gAMAwEAAhEDEQA/AO40AoBQCgFAKAUAoBQCgFAKAUAoBQCgFAKAUAoBQCgFAKAUAoBQCgFAKAUAoBQCgFAKAUAoBQCgFAKAUAoBQCgFAKAUAoBQCgFAKAUAoBQCgFAKAjeL8dw+GE37qp4LMufRB3j8hUJ2Rh7TNGn0l17xXFv9vnwUnintLZpXCWP773+cimY8yR6Vhs16/wCiPdo8BS3vn+i/l/wX7heMF6zbvLs6ho8JGo9QdPlW6E1OKku58/dU6rJVvs8G1UyoUAoBQCgFAKAUAoBQCgFAKAUAoBQCgFAKAUAoBQCgFAKAUAoBQCgFAKAUAoBQCgFAKA5Fzbwq1Z4i5uIXF8G4ihoLNBlc2/vAgAfiWvLupXpt90z6rRaqdmjSi8dLw3zt54/OGeHvLZDW7l020Zu+vZhBlykFMinM7S5+8UPrbXWpdCimm9vh+fMnFStanCOWuHnO+ec8Jbey8bMsHsk4ublq7h2Mm0wZT/K86f8AkCf7qv0j9Xp8jF4/p1G2Nsf+yw/iv6OgVrPnxQHntBOWRO8Tr9Kj1xz053B6qQFAKAUAoBQCgFAKAUAoBQCgFAKAUAoBQCgFAKAUAoBQCgFAKAUAoCs828Zv2GQWcgBEsWWeukaiIj8xWmiqM08nleI62zTtKGP1I61zC5VS+LRGIkgWZjcb69Qam6N9o/Uzx8TTinKxJ/Ak+U+MPda5auurspzKwAXMp6wPkf7hVd9Sik0afD9a7pShJ5a4+H5+5YL10KJNYb7o0wc5M9WMXJ4RGXsVcPxgeQGo+s14dms1VjSjNLOeFusfHPw/MGqMILsQnOHLN3HWbRRlS9auSjsSO6YzaqJBkKwj8Ir06YW2VL0nPZ+40aPWR01ktsxa3RDPyXgsDb+0Y+699ifdEgO3gFBzMfHM0eMVqp0fXLHLJ6rx61R9T1V9fz4I9Pxt3tKtkDB2GkILaqG3IALDZmg922JEe9rXq1aeFbxjOPl+fH5HzWo1llvrSk1n5/j93zJ7lPi7FThXbNdRM1svM3F6TOsjSesEHXeqdZU0nZWv9ndJc3/xy57e9HjC4y7iCQ2JCQJKqCsfPSfqd6+Ureo1bxK3p80lj6/2butdjXvX7WGvW3tsXX4nJkHWGgjQwPWorT16a+M6235t9+zKp3JF2Br6MtFAKAUAoBQCgFAKAUAoBQCgFAKAUAoBQCgFAKAUAoBQCgFAKA8G4o3I+tQdkVy0dwz4L6bZl+oqPp6846l80d6ZeRAc9YUNhmuHTs5JPgOv5gH5Vt08+mR5XitHpaG/I5fc4orqioh7oIJUMSxJ3M7eg862q1Jt5PmJaeycYpQxj47lg5WxN5sbZKYd0WMrdxwmUKZJZp16jzAFUWzi4NZyeloablqYzUelYw+eMe8tvHcViBeCrZdlGqFQSvmSQNDPQ18p4hXqLL00tluts/q/efY1OCjubHCMLdfW9bKR4kd7wEA6DyqzR6Oec2L+/lwvccssWMRJ6vZM5DczcNt4mybLMqvvbJIkN0+R2I8DVlc3CWUQsq644OUniPYlrGIDW8pYSsZh4qT8MHXMsnbcaH14x611wPDb6JdE/wBGWHgfAsRiL2HvoDYtWTm7RlyvcJMtltklsreLH4juNKosvhCEovdv5L9f4NdemlKcZrZL5v8APeZOP8LxNvEXjbVFssdLjuApzalFQS5aZEKs6V8xLRSc5dPD+5pnTZKT6eDe4Lyil1c92+7eKouTpsS2pHyFWx0EY+0x/hY9tl6tJlAUbAQK2pY2NSWNj1XTooBQCgFAKAUAoBQCgFAKAUAoBQCgFAKAUAoBQCgPjGgII8XvdFSfCD+9WdKL/RRNW1zUqXzaxFy0gCkzMd6RA3O4JqcaJyWYpsz220w2ctzcu83YJZzYm2I330/Kn+Ldz0sp/wAmrOOpEFgsTZuloggMxzDqATsfPT6edfHPT1TslCSw05NvG+E3n7du3vPUVkkk0yQRUBRhsYInfeDUKqa43Vyhnplus87fTnyOucnFplmdwNyB6mK+seyyzCRuI45bUwsN5yAPqd68q/xauDxCLl8OPmXx07a3aRsY7itmzZ+0XbipaABzk6a7AeJPQDU16lb60mu5Q9uTlHHPafi77P8A8ci27NuC1y6oLtroQpMKp2jVoPw9NCrS5IOXkdKt8wK+HtX0XN2q5lE6A/EGPkdNPCquncsiuohLy3LrFrrZtDA2Rf6VHXzmfM1NJF8YxN/hXBtmAyj8XU+n7/5o5YJzsUdkSlzgWHa/9qa0rXQAAx1iNiFOgbpmiYAE1z0klHpzsYfRx6urG5n4liCtt+zym4FLKp6x5bmoE8rOCvWAboF0kuzDfcgHppoBPhpVqwjUsJbEnw++FvFBAB0HqOvz1+tRa2ITi3DJM1AoFAKAUAoBQCgFAKAUAoBQCgFAKAUAoBQCgFAKAUAoBQFUHaqpAtNm1hsrSJ36a/pVmxrfS+5WV7uJYFCLoCkBg05SYZgF1EDSfOvQr3pXllnhaz/9UseS/NiI5kvA4TM6w2UopIuA+4QBNzUjSfrV9axNpfb7GOTfSm/v9yycp8p3RZtX1vrFxFuKMpkBgGAOuu8V8nqNBP07nCWHl9j6Ku1dCTRZf+CuHVro6fD/AN1QvDrXarLJ5x7ifpY9OEjkvtNwKPxK410AtlTpsMukT9a9jQyscH6TnL+Xb6Ga7Cl6vGDT47wHCKUNq2otMpCXA6uLmWAWICgo+oLKdia2RnLzKWkdKv8ACxjeFthRHaKue1/UCSvpOqnyavOr1OdVbW/+rXyaX3LlD/iizkHDccEIVggRoFwXFYrod8q94MPLXU1vkilM6b7Kbk4e+t9Iwtu6WsXbhAUgyHUGYIEA5hoS7a6VVNbrHJbB4RO4/nPh9mezHbMOllA30doQ/JqshpLpdsfEqnrK49/kSWN5rw9vBpjWJyXFBtrpnYkSEAmM289BB8Kz2J1txlyiUroxh1vg5ri+b2uh3uX3ztMWkLhFEQq6EAj+cmdzGwqnq8zzJ6xSi23+m5M+zbl9zdGMMqqkwetwkEESdSonc9R6xyCy8lPhtNllnp3st8e8s+H4fdS69tAwUNKNssHWJ8tq0prG59NCcencmcFwxU7zd5vyHoP1rjlkjO1y2Rv1EqFAKAUAoBQCgFAKAUAoBQCgFAKAUAoBQCgFAKAUAoBQFT5m5hxVrECxhrFu592HJdo3cpA1AmcoGsktAFRbedjBqNXOFno4Ry8Z59+DmvM3GcRdurinti2/ZCMh0Ky0EqwO8nQ7gDSr69bOutw6U0edZqeuxTaw8fQt3EeRLd4Lmv3isAgL2SDUDYLagnzNXx1kktkvqem9LCWMtltwV77PYS0qErZthRLSxCLAnugTA8qyyzJ5ZqTUVglsNezorxGZQ0HcSJqJNHN/aJyPexOK+1W7ttUKKhDZpBGbXQHTaqtRrVpq+pxbWewVLslsyNxPIXEcSFzXcOFQQIBRSTGZ8q2/eaASY1gVLS61WrqUJJe/H85Izpa7o6RwXh64ayouFc4WGbofIT/po6q/SytS3lz+fodi2oKLfBWE9nGCv4p8Wzs6NcL9gIVMx1YN8RBaWjTeNRV/pHjBDoWckDzHwwrj7gvTcVVz2EiVCwAiLbEDKplYG+XWZNb6bP8AiXTt5s8+6L9K1LfukeR2b/dlbYYHKrd3NsWUxaXQFQxhvwjqZqxOUfWX58ymXreq/wC/dx9zb5IsWMdYu8Pvg5bVwX7QBggNOYA+AYtPlcqjxGndT8/t/Rbo3G+t1y7FuwnIvD7W2HVj/wDYWefk5I/KvN6EbY6SlcRIbmj2iWMIxwmEti5eTuEAZbNmNIJ0zEfhXTSCVq2MG0W5jFYRW8HzTxHCYh7+Kd79pjlcBCtoeHZSBljodm6k6ET6YtbHHJo6rwfitrE2lvWHDo3XqD1UjcMPA1U008Mmnk3a4dFAKAUAoBQCgFAKAUAoBQCgFAfJoDx2y6iRpv8ASf1rmUd6WeTiV8a51I70SPJxY6A1zrR30bMNzHx4D1qDtwWKkxW+LCQGiDpPhXFcs4ZJ6d4yiTq8zCgFAKA557Qbl+3i7V2zbdgbQUlbRuARczDSIzA5WHmBVcm0zyddGxWxsgu2Htnvkq/HcT2thkGGurczQn3WoUZgvf8AeJyZEy7d2ai3sZbH1xx0POdtvv8ADY6Vg7xVLWYEHskkEQwPZiZB2I/Sr1we0nssnvE3hlMGe6QZHr+/5V062VfhfNmNMoLVvKhKqcjklQYBJDRMCvF1es1NU2oRyvg/sWxxg+8w85Y2zazpbtlpAjI3+M3Xb51HReIXXXejsikv1yWVOt2whL/s8c4xs39joNpyVDQQSAYO402PmK9orexFY3DmczEsPPp8q6VsjzdNs50aG8IMEeB/36V0ZIrnPAXcZatYjDWyb9l8pWR3lYCYJIBAMegLVp0tkYtxnwzNqapWJShyjBwzlTGMJYWsMxXKSrZ48xbQASNYl2idtoslqK0+7/PP+jkKJtdkRWLu4fg1xksK97FlAM93u2rYMHQLBaYGk9PeGoqu7UzvWHwer4V4JGT687fUreOu3sTcV72ILYhgGtIQYWYZFUju22IggAR7uYgzEI1pbvg+ppprpi8Q9VbN/R7d0v8ASJDmHlprlgcUwYLpeBuYi0JLI8ntXTqVzZiV6bjT3Skk+lnyWt0zoulDyf07ERypwXFY1XtYdFFlyO0ulQF0ZWA7SMzQVnIJ31HUSk1HdmRJvg7Tyhy3bwFjsUYsWbO7kAZmgDQdBAECTWec+p5Lox6UTlRJCgFAKAUAoBQCgFAKAUAoBQCgNP7ZXcA0Dcl39R/6is0vaZrj7KPRB6GuHcruamIxDKNYNVuTRZGMWQONZm1zGOlZ3vyalhcHnCYsspRjr0P70T7HGu5bOX8dmUWn0ZRp5jy8f98K20WZXS+Tz9RVh9S4JitBmFAcZxGAa5dvFb98uL7oQuYxDxJY3F0E/Ia7Ax47jZJtqT5f5yfaRthXCCcI46U8vHl/6v8Avjk+cvcVGF4hZ7XFubBVwxuO4QzbVkJRiYMkADea0aVy62m8mHxaEHQpqCi89sdnjlcls594/ZuYJvs9+WzL7jEEidRpGnlXqVRUpYZ5/gtcbNUoyWdn+xRkxN1CthcTiFutEa/dZmAITUz1AzbT0jWrvRrnse3bo6rE7fRxcVn44Xfy9+PLuTPKPE8TdwmMYubjo1vKW1KK0hiAOuhPlv0is98XBPD7fY8jX6Kiq5RxhdLf6pZRvcv8ZXD240clyYzEEaDWcpBBM+eleLTq3VF53yz5mOpikfOIcZAvreKm6q3g2W2MxYAEKFDRJ2jbao6duWrcs8lU7szi1vv2+DNjjXPV8gC1Yu2AfiupDH0B7o/OvUv02rm8Uyil8d/22LJeIVw9uMl+hbOVuJfacMrsQXHdfbcdSBpqCD86aecpQxLlbP4o1QkrIqS4e5kucIDOSTlXwG5/Yf7pV+R0lW5m4ljLWKGGwTW7dtbSsQ4WMzOV95tZJKj1NVycs7GK66xW+jrxxnf44IleeOIoFLpYIaYlCCYOU+6+moI26HwqHVJGR+JWxx1Jb/bbzPnONtsZgrWPKKryUbLMQGbKdekyPV60aezufU//AB3xBzxKW2SE4IHu3LLYOyzYm33bpP8ACK9mqAuZ7ogNppOu5irJS8+D6DUNVwnG6XqPjzznO38ltwGO/wCMtHBI/wBqxlxs/ZrJS0WA94+9Gkxu28AEmuRg5vPCPlfFvE42WdUY78Jd2WDlLH3jmsYgW1dQHUWwFXKd4AJGh6jx3O9StrSSlHg8zSamc5yrsxlbrHkyyVQbxQCgFAKAUAoBQCgFAKAUAoBQCgK41+pHSJxXEMt1vRT+UfpWG/aZuoWYGK9x5h7oqlzkuC5Vx7mqceXGuh61FyyWdK7GnhMeQ7Kehgj6H9aiGfMV3buYHuuNPIjcf4P18KI6b2FxzAiNwZXyPh6GuptPJxxUk0y+8Nxq3rYdfmPA9RXpQmpLKPJsrcJYZgxvF1ttkKsSPCP1NeXq/GKtNb6KUW2vLH8ltemlOPUjmXFuFMb7ZbzImJxBKq9lGQPcJgHvt6ZstU6bXU6mbjBtN74a/EfQ169QhFTqy4xSypY2XyNbmj2f4kI2Jv3rb5CpbKDmaSqjTKAI0Py+derVTKMupsw67xKm+hVVxax+e8xJwFWUdnlDBY8iQwE6ToQfqDWmLw8mHw/Ux016slws8e9ErwTBY2+wu2hZJsWzYGYkGCGIOxBIz6bbDSp9SPXev0MoSh6yUpdT2XO3v9xZPZ5y5fwhxDXgg7XJlCtJ7ueSYECcwjXx2rknkw+K6yrUSi687f0UXjHtF4z22J+z4C1dsWb72gexuue45XdXEnTWBAmq8I8jCMGBxt/EZsXdRbNyMz24yhW9wBbdwk67xrvW6quvpjtu/cfN6qyyF9ji8KPw7ryJK7irrWA1wAoXhDlRZIVs3ugTEjfxq+MIKWEYbdRdOpSnxnbhfHgn/Z0l612t24MmGZQc7nLLA6FQdxBOvXSJrw64SjbN9m2fS6By9DHPGETWJ50trcCpbLJIDOTlgTqwWJIG+sVpwbOrcp/O/FWtcTaGUDJbBzLmAEhg2XqVIDCPCqZPDPG1lsq9TleS7Z/MGDF8Sw9yw7DKHEqgIPa6Pb7MgxGXILhbX3mPiK5kzai2mypvbPbz5WP0xnPvL1yZg0fh1q3cUMrZpB2P3jEfpU6/ZR6/heYaaDXv/ckeDXcIubD4VrINs963bKyD1JA1nzqeT0LLJ2S6pvLOZHDHCYy7aAOcXDkMSWFzZjM5mhtZ3Nb6WpQwz5nXKdVylHlvHzJTla7dOKRlzPcFxhdB2CEAFmc+c6eK+dSvcejHbsZvD/S/5Clu5ZfV8Pe/idOrzj6wUAoBQCgFAKAUAoBQCgFAKAUAoCoE10kV7jj/AHnyA/z+9YtR7Zs0/smrilMAjYRP+/7tVDRqieA8a/7vFRZ0wYt5K3ZgAhbhAJMT3WgHWNj6jwqOWdZvXLqsvZpm1El2ABnpGvu/Q/owyMc53MNvEaBjpG/lU8Eiz8h8Ql7iH4+8Plvp6H8q0aeW7Rk1cPVUvI3OMYtUxaq5AVlXNJjTUb+GleRrYx/zl1+y0s/Df+i/TVOembit03grnNmJRblnsiGVcXh2Ugz/APIoOvzNV6WiqvW4qeY9t8+RclNUOU1h4Za+JXrty0UuWbb233HaMvUEAlQSDtX1GDwOruRXB+GYe5dewbLW2VA+l0upBJG7KDOnhUnBqPURjapTcO+Mlo4Xwq3YDC2D3zLEmZMQPIaVAtN6gOT2LiYZ8bbv4fEKz4rEtavpZBKJdI1RyQQZGbTTRaAqnC8Gq3cHh0xD35uXe3zW2Q5SqdkgzEkwQ50PxRtFTVk0sJmS3Q6e2XVOOX+p1bC8g4Zc2dneTI1yhR0XTf1P5UrutjHEpZfnhIzf/T6XyfzZr8WwGR1Q5mtqsW0kwsaAD5RruZ1JrnJujFQSiuEQmNRZyFcjH3fA+VdJPyLdyhj0xWFAcBmtHs3DAHUARv4qV+c1yccM5CUZoh+JcU4OL/YNatO8wzW7YyqZiGdYE+OunWKyztqi8Pk2V+Byvg7FUsfov9kHxnjV+4fsio2DsgEKigZ216sDGU6+6dT1NaEsbGaMVFYitjQ4fw1QBkEEah9VK+Yg7/MihIsnE+AG9aGLxF82ewRs9xklmtrDBtCCCvf1OpkVZXZ0GTVaRXrGcEbwD2q8FsWxbttetjcl7TFmPixSZNRlJyeWW0UQpj0wX9nR+E8UtYi2t6y2ZWAIkFTBEiVYAjTXUVEuNygFAQ/FCRdBuJcezk07MFoaTJdF1bTLGhiG8a6gecHjURXNpzdDOFS2ZzIxGqEv3lHxQRoJjoKA2WxtwEo1tQ5UskOShiMwLZAQRIMQZ+scBF8Hu3gcKMqw9hnabjEufuJdpT39dp+I6+PQb5413LLZNbhh1zfw9Qrk6d7K7Kp23npTAMz49izqlvNkcJJaBJUMxJgwoBGuskxpXAa78ayi4Cqs1trQi20g9o4QbjRgZ7p8tddO4BlfiL5uzyW84UM03SFAJOUBskljBJEaeO1cBt4DFC6mcCNSCN4Kkqwkb6g69aA2KAUAoCj4DObaZ/fyjNHjGtCbNbFcKd7u05yACNh0E+G1Zp1ylLJqrtjGJKX+VCVAW6oMa939fD5V10e8itTvuinX8LesXnsXu9BkMNmBnXbb9ZHSs9kcPDNcJRmso2LOBdswVSwgggddPPSq+hvgl1pclf4jzCtuUFthcGhziI/t3ny0qfQcUtyM/wCeDWuydVzSGDjRpHQnqpkiNtj0rvS0X9MJrbkmeXOKEXFcNGU+OvpUXlPJVjKwzp3DuLpdHeUMPMA/5rRGxS9pGSyhw9l4JD/jsM3eFm1mGoORZB6HbfzqyFNXV1KKz8DPO67pcXJ4+LIizxNFy5iAe7mBkEhiQykHciJnzre6m+Dy1qYrGfcYuCXgeIuAZAw8SP5bx/eu2RapWfP7EKZqWqeP/H9mW6sp6IoBQHwqN4oD7QELzTgy9ksgJZdQAJJjcADcxPzAqUOSq3PTlFfwHKb3jmvZrVoMGW3P3u2st8AJ1jf+mpuSjxuVRrlPd7L6lW41xPE3XbAYe39msqzL2aGHuQTma5c00MEnXxktXjX6uyc+iB9poPC9Np6lfY87Z92/7v7mvhOBqqOgt3GuAhR3Sqg5Wb3CMxGirmMAdoDGk1RHT5Tzlv8APzJvnrH1ReUo8+bxlLlbJ8vCzx+he+Xey4hg0cxnXuPpPeA97yJENp+KvVon1wWeT5bxTSf42plDtyvg/wCOCW4Py+lqGeHceXdX0Hj5n8quPPKx7TeP2lezgbj5Vb769oTKqfu7ZygxmcZj0i0QfeoDny4QYq+1omzdtOykZVDvbs24kvdZc/a3CUXc6Z/AUB3PguC7K0AR3jq3r4fIaUBv0AoDRvYe4Lhu22UhlCsjkgaEwysJynvEHQzA2igNd+FuzNdLKLpKFYBKrkzQDMFpzuCdNCIiKAzrhbjOLlzKMqsqqpJEtEsWIE7QBGknedAMWH4e6fZyCpNq12TSSJB7OWUxuOz2O87igPI4PLX5YZLikIBumfW4Z8S0N8q7kGN+EubVtWyXGW4blxWkW7hbPI2OgLAiQfdHqAPLcJuFmb7tQxsnKswvZXs8DQZpE6wNelMg2sTgD2puqttsyhWV/ImGDAHxgiNYG3XgNrA2CiBWIJkkkAKNSTAA2AmB1gazQGxQCgFAQeFsKuwk+JruDrZtF66cPiYnodK4dwUiziHx+Le6pP2e13EA2bxbzk6+kVkm+uR6NcFXDflklxRntITbA01gaE+lQllcFlajJ7nLudOI9qVPZkt+PYjyk7ikE29xZhbIqDXmBgg1d05KVZgmcDfgB8yrHvAsAT6DxqvofBa7Y85LzgecMN2aqcRZtuvVnTaNoVpnb86ejlngi7oZ5JDC8/YO3PaY5G/pt3W/9VqarkiqdsGuCSX2rcPiO1uXPSw//wCgKvWxjkk+xrt7V8Is9nh8UZ3y2UH+XrrZBQS4Rib2rT7mFv8A9+RR84nSmSWDofA+IfaMPav5SnaIGykzEjaeo8+tDjN6gFAKAUAoDm/tJwjWbi4m2B3iCf6ljQ+REaeTV5Wqr6LlNd/3X8o+p8DtjdXKib4/Z/w/sVnh9t8bdFjDkWraIBLvmZUgKYG8HLqEABPvE6VZGErPZ2Rsv1FOjWbmpTbzhLG/OX9m+OyOn8E4Th+HYdsrEg953YyXMQIA08gB+davUog2+D5fV6u3WWdUv0XkVnjXGMS57QXGtBtLdsEgx+Ix9ST5R0nyr7b3H0spdK7R7st0tEZz6Es+b7G5wbgS423ONTtlH8N2Zhcn4gGUg5PKYkVq8OsunFynx28/9DxGumuSjD2u/wCeZ94Nwrhdm/Fi8VZSJU3CUYjYZnBzEHwb9a9I8zKLwKHRQCgFAKAUAoBQCgFAKAUAoBQCgIRLi/CQakD67mgK5zvxfscKyqYe73AfCR3j9JHqRVdssIvoh1T3K1yzxbsraroBWLqwz03FSRaL+KW9bZe0KllIkASJESAeo3qSlkpcMbHCcdwhrTFLzLmBOpchT5gkx8prTGalwY51yjsz3wvlq7iZ7C0rAaZmcqpP8pkk+u1cc0tjsKZyWcE1wX2e3buftWtYco2WGTtSdu9owAGump+VcdqLY6WbWSO4nwM2MR9kUpcukiCtvKpU7MWO3prtXetdOSt0S6+gnm5DxKW+17ayYElFzTHWCYEx41H0qLHpmRmAwFy43uPlO+uv0ijuiji0kmdYw3srwsAtcdvy/Wr0YtyWwXs9wNv/AOPN/VB/SR8jQFpRAAFAAAEADYDoKA9UAoBQCgFAYMZg7d1cl1FdT8LAEfQ+tRlCMliSyTrtnXLqg2n7iM4zyxh8QqAr2bWv4Vy13HteGRl2HSNompLbgjKTk8vkrnF+HX7dofa8UmW3I7RkCod++0HKHjQ6AbwNa+f8UWqdy6YOUe2Prlef2NWnlXFesYeXeXM7y5m3ocwOlwbjIfw+Y/ztHSaSd7TsTUV2ez+H9nqW66umpei9p/Q98ycXuEdiUNm17oXbMNoLKYI/lBA8Sa+jjHbCPnZ2ZeZFds4UuwVFDSYjKDP9BVtf+utaq6Mrqlsjz79Zh9EFl/nkdJ5U4Y+Hsdm56yFmcug0n89NNaqulGUvVNOkrshD/ke7+hM1SahQCgFAKAUAoBQCgFAKAUAoBQHKsLzFhWjLfUE7CSp+jVImiVwnFwTpdU+TGPpO9cGCA53s373ZPbtm6iZswtwxE5IOWZOx2qqyLZfRNRzkhrmCdFVsjqp/ErL8oYVlcWuTWrE+D6uJaNzUcE+rJW+K8Na9diYHU/t5/tVkZYKpx6i98FwiW7cDQKoCqNAPCarzndlqs6Ekjb4Enag3XWM0GASQNAN+u1dSWTsr5pbGviOBdpjHvMIGVVU9AANp9ST86N52K4zx63cuvC+XAUliwkaTv/1V0Kdtyi3WNvCN/ActWLWyz61ZGmKKZ6mySxkmatM4oBQCgFAKAUAoBQCgPLoCCCAQdwdjQFUxXLd3DE3eHMACSzYVyRZcnUlGGtlz4jQyZBruc8gw2eLris1tVCX0/i4a8oDkaa6aMvg6yNdYO0JdS3iSiq3tMw8v4wWLhQ2jm+KYzgdPVfMaGo2auycvW48iynw3T1QzW8vzZb7GPRtvzorEzkqZI2QasKgzRqaDk0MVxm0gkuNOs6fWqZXRRdGicjXscVL6gQDtpqR4war9O2Xf48USGHxQbT4vD9RV0LFIzzrcfgbFWFYoBQCgFAKAUAoBQHO8N7MES8ri7mtiZBWHGnQjQ/QVLqO5LMvKWGHwsfU/sK5k71M2bXLuGXa2Pqf3rhzqZuJw+0AQLawRB0BkeBncUayMsqfGeQ0YlsOcp/A3u/I7j0NUSp8jRDUNe0VR+XnRm7VcrToOsDr5666VQ4tcmtWRa2JK1hRADeFRwRciS5e4KSFQSoG56R41ZXBsqsswW/A8NS3tJPienpWmMFEyym5G7UyAoBQCgFAKAUAoBQCgFAKAUAoDnnPvLxz/AGi2DM5gQSrI3VluDW2x11GhnUGKpk5QeVwzVX0WR6Zc+ZD4PmUXF7DHhjGgxKDLetHabiJtrHfSV7wzKIJqa6bFsRlCyh57fQseFuvYtqc/2iyVBGIBU/Nsvwn8QkeMVRKDjwXwtjZzySdnjotoLj6Ididj6Hauxm4nJ0qfBTOP87PiG7GyrFpJCqM227EeA6k6Cq5SlMsrqjXuz1ZvlO9cYM43bovks7f1b+m1VblredkbWGD3hnclVnuiYkfi9P8ANcOcEsMeqBQAwI+KDU1LBFxyXC3eBVW8QD9RXoLdHmNYZkVwaHD1QCgFAKAUAoBQCgFAKAUAoDzcthhDAEeBE0GTXXhtkHMLSA+OUVHoj5EuuXGTaqREUAoBQCgFAKAUAoBQCgFAKAUAoBQHxlBEHUUByTmXC22vxquS44BAhlHeUQem/wC9YW8S2PSrliO+5FcPx2JwbM1hlZM3fTXsXO5JUfwnM/xE0k94ECtELs7S+ZVbp0/Wr+X8EpfTD8SUiy72r6rm+yuwCsPG22oKGR3k02kLXZ090V1alx2lwUm5j8bhme1bw92yfdcC0xLeTOAc4101I103qpQaNyurfZMl+XbtzKXxSXEYGLYuIyKYElxmAzEaeQ38IhODRFTi+CwriHds7kqu4Q+8x118k2InvHXpBNOOx1bIz2+Zwn3ZUkHrpH08KllnHFHQMBila1bI2KKR81FejH2UeZP2mbQqRELfrgMD4piWVNI2aJA2kR1qSiDGmOuW47WGU7Og0HqKdPkCTRwRIMg9agD1QCgFAKAUAoBQCgFAKAUAoBQCgFAKAUAoBQCgFAKAUAoBQCgFAVvmjgBu/eWVXPBzDbNtB8J/eqLa294miq1LaRzbiPD3VWQBg7SDMgzrJis62e5qW5ScBgrtoAAHKplRJUoZ962w71tvNfmDWlXYKZURZ0Tl7np0hcYDdtqdLwH3tuOt22vvCfjTykTVqcZ8cmecJQ+BfsS1rF2N0u23GZLgCuFPwuOkg6yPyrskpLDIxk4vKKJxDB4lbgtDDu9xj7w/hR+I3DpHrr030rH6GWcYN6ui1nJB3cG9zS0GZixDAwMpBgg+AHiaejecHZWLGS2cd4zfwHDrN23aF1reS05M5EhSA7RrlkKOnvCYratlg8+W7LFhuZbf2G3jcVGHDIrOCT3STAjrqYjyIoRNzhHFLOJtres3M1ttmgwYMH0IOkGugq91M95rhxFy4hacqXWVUk7DsyIjx3qR0krWNfD3CGJey+oncTv5SD08xtUsZOFgwLIRnssMp3X4fp8JqDQJFLgPkfCoYB7oBQCgFAKAUAoBQCgFAKAUAoBQCgFAKAUAoBQCgFAKAUAoBQCgMOIwqPo6Kw/mAP8AmuNJ8nU2uDRucvYVt7Fv/wAaj0R8iXpJeZWOdOULS4c3cJbCXbZnQ7iQD7x6b/lXHBcosrsbeJEDh+DYnDMb2DdUJMtaP8G5r+Ee4/8AMvlOgq7OeSlryMNz2klL7W8VhuyUASVfOVMak5RBX01HgZ0lFJ7EctHvF882HYCzlJBIYEOJ+eXfzqOCWSa4FzDbc5QpVm0ytqp9CP1ArnAN3jvD7OMtPh70w8baEEEFSD4ggb0AwHDreAwRs2S2S2rGTqxZjqxiBMnYQK6jhp8Esl1zljl+BdNANAYiJ6/Opg3G6pow6gj/AB4HzmgPWFUIZRntt8mB8iOvzoCwYTF5oDaN5bH08K4DeW5UXEGUVEH/2Q=="/>
          <p:cNvSpPr>
            <a:spLocks noChangeAspect="1" noChangeArrowheads="1"/>
          </p:cNvSpPr>
          <p:nvPr/>
        </p:nvSpPr>
        <p:spPr bwMode="auto">
          <a:xfrm>
            <a:off x="307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2" name="Slide Number Placeholder 11"/>
          <p:cNvSpPr>
            <a:spLocks noGrp="1"/>
          </p:cNvSpPr>
          <p:nvPr>
            <p:ph type="sldNum" sz="quarter" idx="12"/>
          </p:nvPr>
        </p:nvSpPr>
        <p:spPr>
          <a:xfrm>
            <a:off x="6858000" y="6392532"/>
            <a:ext cx="2133600" cy="365125"/>
          </a:xfrm>
        </p:spPr>
        <p:txBody>
          <a:bodyPr/>
          <a:lstStyle/>
          <a:p>
            <a:fld id="{4B9A7932-7D00-4812-AC9E-4BA57C2528B4}" type="slidenum">
              <a:rPr lang="en-US" sz="2000" b="1" smtClean="0">
                <a:solidFill>
                  <a:srgbClr val="FF0000"/>
                </a:solidFill>
              </a:rPr>
              <a:t>26</a:t>
            </a:fld>
            <a:endParaRPr lang="en-US" sz="2000" b="1">
              <a:solidFill>
                <a:srgbClr val="FF0000"/>
              </a:solidFill>
            </a:endParaRPr>
          </a:p>
        </p:txBody>
      </p:sp>
      <p:sp>
        <p:nvSpPr>
          <p:cNvPr id="2" name="TextBox 1"/>
          <p:cNvSpPr txBox="1"/>
          <p:nvPr/>
        </p:nvSpPr>
        <p:spPr>
          <a:xfrm>
            <a:off x="612777" y="1752600"/>
            <a:ext cx="7845425" cy="369332"/>
          </a:xfrm>
          <a:prstGeom prst="rect">
            <a:avLst/>
          </a:prstGeom>
          <a:noFill/>
        </p:spPr>
        <p:txBody>
          <a:bodyPr wrap="square" rtlCol="0">
            <a:spAutoFit/>
          </a:bodyPr>
          <a:lstStyle/>
          <a:p>
            <a:endParaRPr lang="en-US"/>
          </a:p>
        </p:txBody>
      </p:sp>
      <p:sp>
        <p:nvSpPr>
          <p:cNvPr id="3" name="AutoShape 2" descr="http://www.skipprichard.com/wp-content/uploads/2015/09/bigstock-D-Knob-Maximize-Efficiency-82341836-583x443.jpg"/>
          <p:cNvSpPr>
            <a:spLocks noChangeAspect="1" noChangeArrowheads="1"/>
          </p:cNvSpPr>
          <p:nvPr/>
        </p:nvSpPr>
        <p:spPr bwMode="auto">
          <a:xfrm>
            <a:off x="460375" y="16827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IG Master mit Strichen oben und unten">
  <a:themeElements>
    <a:clrScheme name="Larissa-Design 1">
      <a:dk1>
        <a:srgbClr val="343434"/>
      </a:dk1>
      <a:lt1>
        <a:srgbClr val="FFFFFF"/>
      </a:lt1>
      <a:dk2>
        <a:srgbClr val="07559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fontScheme name="Larissa-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imes" charset="0"/>
          </a:defRPr>
        </a:defPPr>
      </a:lstStyle>
    </a:lnDef>
  </a:objectDefaults>
  <a:extraClrSchemeLst>
    <a:extraClrScheme>
      <a:clrScheme name="Larissa-Design 1">
        <a:dk1>
          <a:srgbClr val="343434"/>
        </a:dk1>
        <a:lt1>
          <a:srgbClr val="FFFFFF"/>
        </a:lt1>
        <a:dk2>
          <a:srgbClr val="07559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clrMap bg1="lt1" tx1="dk1" bg2="lt2" tx2="dk2" accent1="accent1" accent2="accent2" accent3="accent3" accent4="accent4" accent5="accent5" accent6="accent6" hlink="hlink" folHlink="folHlink"/>
    </a:extraClrScheme>
    <a:extraClrScheme>
      <a:clrScheme name="Larissa-Design 2">
        <a:dk1>
          <a:srgbClr val="343434"/>
        </a:dk1>
        <a:lt1>
          <a:srgbClr val="FFFFFF"/>
        </a:lt1>
        <a:dk2>
          <a:srgbClr val="FF7E0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BIG Master ohne Logo, ohne Strich unten">
  <a:themeElements>
    <a:clrScheme name="Larissa-Design 1">
      <a:dk1>
        <a:srgbClr val="343434"/>
      </a:dk1>
      <a:lt1>
        <a:srgbClr val="FFFFFF"/>
      </a:lt1>
      <a:dk2>
        <a:srgbClr val="07559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fontScheme name="Larissa-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imes" charset="0"/>
          </a:defRPr>
        </a:defPPr>
      </a:lstStyle>
    </a:lnDef>
  </a:objectDefaults>
  <a:extraClrSchemeLst>
    <a:extraClrScheme>
      <a:clrScheme name="Larissa-Design 1">
        <a:dk1>
          <a:srgbClr val="343434"/>
        </a:dk1>
        <a:lt1>
          <a:srgbClr val="FFFFFF"/>
        </a:lt1>
        <a:dk2>
          <a:srgbClr val="07559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clrMap bg1="lt1" tx1="dk1" bg2="lt2" tx2="dk2" accent1="accent1" accent2="accent2" accent3="accent3" accent4="accent4" accent5="accent5" accent6="accent6" hlink="hlink" folHlink="folHlink"/>
    </a:extraClrScheme>
    <a:extraClrScheme>
      <a:clrScheme name="Larissa-Design 2">
        <a:dk1>
          <a:srgbClr val="343434"/>
        </a:dk1>
        <a:lt1>
          <a:srgbClr val="FFFFFF"/>
        </a:lt1>
        <a:dk2>
          <a:srgbClr val="FF7E0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BIG Master ohne Strich unten">
  <a:themeElements>
    <a:clrScheme name="Larissa-Design 1">
      <a:dk1>
        <a:srgbClr val="343434"/>
      </a:dk1>
      <a:lt1>
        <a:srgbClr val="FFFFFF"/>
      </a:lt1>
      <a:dk2>
        <a:srgbClr val="07559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fontScheme name="Larissa-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imes" charset="0"/>
          </a:defRPr>
        </a:defPPr>
      </a:lstStyle>
    </a:lnDef>
  </a:objectDefaults>
  <a:extraClrSchemeLst>
    <a:extraClrScheme>
      <a:clrScheme name="Larissa-Design 1">
        <a:dk1>
          <a:srgbClr val="343434"/>
        </a:dk1>
        <a:lt1>
          <a:srgbClr val="FFFFFF"/>
        </a:lt1>
        <a:dk2>
          <a:srgbClr val="07559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clrMap bg1="lt1" tx1="dk1" bg2="lt2" tx2="dk2" accent1="accent1" accent2="accent2" accent3="accent3" accent4="accent4" accent5="accent5" accent6="accent6" hlink="hlink" folHlink="folHlink"/>
    </a:extraClrScheme>
    <a:extraClrScheme>
      <a:clrScheme name="Larissa-Design 2">
        <a:dk1>
          <a:srgbClr val="343434"/>
        </a:dk1>
        <a:lt1>
          <a:srgbClr val="FFFFFF"/>
        </a:lt1>
        <a:dk2>
          <a:srgbClr val="FF7E00"/>
        </a:dk2>
        <a:lt2>
          <a:srgbClr val="7B7B7B"/>
        </a:lt2>
        <a:accent1>
          <a:srgbClr val="FF7E00"/>
        </a:accent1>
        <a:accent2>
          <a:srgbClr val="FFE23B"/>
        </a:accent2>
        <a:accent3>
          <a:srgbClr val="FFFFFF"/>
        </a:accent3>
        <a:accent4>
          <a:srgbClr val="2B2B2B"/>
        </a:accent4>
        <a:accent5>
          <a:srgbClr val="FFC0AA"/>
        </a:accent5>
        <a:accent6>
          <a:srgbClr val="E7CD35"/>
        </a:accent6>
        <a:hlink>
          <a:srgbClr val="579DA2"/>
        </a:hlink>
        <a:folHlink>
          <a:srgbClr val="77795A"/>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1160</Words>
  <Application>Microsoft Office PowerPoint</Application>
  <PresentationFormat>On-screen Show (4:3)</PresentationFormat>
  <Paragraphs>156</Paragraphs>
  <Slides>26</Slides>
  <Notes>13</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26</vt:i4>
      </vt:variant>
    </vt:vector>
  </HeadingPairs>
  <TitlesOfParts>
    <vt:vector size="35" baseType="lpstr">
      <vt:lpstr>Arial</vt:lpstr>
      <vt:lpstr>Calibri</vt:lpstr>
      <vt:lpstr>Courier New</vt:lpstr>
      <vt:lpstr>Times</vt:lpstr>
      <vt:lpstr>Wingdings</vt:lpstr>
      <vt:lpstr>Office Theme</vt:lpstr>
      <vt:lpstr>BIG Master mit Strichen oben und unten</vt:lpstr>
      <vt:lpstr>1_BIG Master ohne Logo, ohne Strich unten</vt:lpstr>
      <vt:lpstr>BIG Master ohne Strich unten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Diagram vs. Database</vt:lpstr>
      <vt:lpstr>Thiết kế Database trong UML</vt:lpstr>
      <vt:lpstr>Thiết kế Database trong UML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thao.ttt@huflit.edu.vn</cp:lastModifiedBy>
  <cp:revision>51</cp:revision>
  <cp:lastPrinted>2019-02-28T01:53:50Z</cp:lastPrinted>
  <dcterms:created xsi:type="dcterms:W3CDTF">2016-08-01T09:56:00Z</dcterms:created>
  <dcterms:modified xsi:type="dcterms:W3CDTF">2021-02-18T07:55:02Z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1033-10.2.0.5811</vt:lpwstr>
  </property>
</Properties>
</file>