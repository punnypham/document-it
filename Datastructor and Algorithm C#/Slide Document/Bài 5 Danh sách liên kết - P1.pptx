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4"/>
  </p:sldMasterIdLst>
  <p:notesMasterIdLst>
    <p:notesMasterId r:id="rId69"/>
  </p:notesMasterIdLst>
  <p:handoutMasterIdLst>
    <p:handoutMasterId r:id="rId70"/>
  </p:handoutMasterIdLst>
  <p:sldIdLst>
    <p:sldId id="257" r:id="rId5"/>
    <p:sldId id="298" r:id="rId6"/>
    <p:sldId id="412" r:id="rId7"/>
    <p:sldId id="258" r:id="rId8"/>
    <p:sldId id="299" r:id="rId9"/>
    <p:sldId id="413" r:id="rId10"/>
    <p:sldId id="325" r:id="rId11"/>
    <p:sldId id="300" r:id="rId12"/>
    <p:sldId id="301" r:id="rId13"/>
    <p:sldId id="414" r:id="rId14"/>
    <p:sldId id="326" r:id="rId15"/>
    <p:sldId id="302" r:id="rId16"/>
    <p:sldId id="303" r:id="rId17"/>
    <p:sldId id="307" r:id="rId18"/>
    <p:sldId id="310" r:id="rId19"/>
    <p:sldId id="315" r:id="rId20"/>
    <p:sldId id="316" r:id="rId21"/>
    <p:sldId id="318" r:id="rId22"/>
    <p:sldId id="317" r:id="rId23"/>
    <p:sldId id="319" r:id="rId24"/>
    <p:sldId id="266" r:id="rId25"/>
    <p:sldId id="374" r:id="rId26"/>
    <p:sldId id="308" r:id="rId27"/>
    <p:sldId id="311" r:id="rId28"/>
    <p:sldId id="312" r:id="rId29"/>
    <p:sldId id="276" r:id="rId30"/>
    <p:sldId id="320" r:id="rId31"/>
    <p:sldId id="395" r:id="rId32"/>
    <p:sldId id="396" r:id="rId33"/>
    <p:sldId id="399" r:id="rId34"/>
    <p:sldId id="324" r:id="rId35"/>
    <p:sldId id="390" r:id="rId36"/>
    <p:sldId id="277" r:id="rId37"/>
    <p:sldId id="398" r:id="rId38"/>
    <p:sldId id="350" r:id="rId39"/>
    <p:sldId id="351" r:id="rId40"/>
    <p:sldId id="352" r:id="rId41"/>
    <p:sldId id="354" r:id="rId42"/>
    <p:sldId id="355" r:id="rId43"/>
    <p:sldId id="376" r:id="rId44"/>
    <p:sldId id="356" r:id="rId45"/>
    <p:sldId id="353" r:id="rId46"/>
    <p:sldId id="357" r:id="rId47"/>
    <p:sldId id="358" r:id="rId48"/>
    <p:sldId id="359" r:id="rId49"/>
    <p:sldId id="360" r:id="rId50"/>
    <p:sldId id="361" r:id="rId51"/>
    <p:sldId id="362" r:id="rId52"/>
    <p:sldId id="415" r:id="rId53"/>
    <p:sldId id="416" r:id="rId54"/>
    <p:sldId id="417" r:id="rId55"/>
    <p:sldId id="418" r:id="rId56"/>
    <p:sldId id="419" r:id="rId57"/>
    <p:sldId id="420" r:id="rId58"/>
    <p:sldId id="400" r:id="rId59"/>
    <p:sldId id="401" r:id="rId60"/>
    <p:sldId id="402" r:id="rId61"/>
    <p:sldId id="403" r:id="rId62"/>
    <p:sldId id="404" r:id="rId63"/>
    <p:sldId id="405" r:id="rId64"/>
    <p:sldId id="406" r:id="rId65"/>
    <p:sldId id="384" r:id="rId66"/>
    <p:sldId id="409" r:id="rId67"/>
    <p:sldId id="407" r:id="rId6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FFCC"/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D85CBB-32BD-FF4C-9EFD-666F6866A008}" v="1" dt="2025-10-21T02:43:36.8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03" autoAdjust="0"/>
    <p:restoredTop sz="84388"/>
  </p:normalViewPr>
  <p:slideViewPr>
    <p:cSldViewPr>
      <p:cViewPr varScale="1">
        <p:scale>
          <a:sx n="101" d="100"/>
          <a:sy n="101" d="100"/>
        </p:scale>
        <p:origin x="1336" y="19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4452"/>
    </p:cViewPr>
  </p:sorterViewPr>
  <p:notesViewPr>
    <p:cSldViewPr>
      <p:cViewPr varScale="1">
        <p:scale>
          <a:sx n="54" d="100"/>
          <a:sy n="54" d="100"/>
        </p:scale>
        <p:origin x="-253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handoutMaster" Target="handoutMasters/handoutMaster1.xml"/><Relationship Id="rId75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5/10/relationships/revisionInfo" Target="revisionInfo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c Huynh" userId="80c0383e323bd6ea" providerId="LiveId" clId="{423ADD57-852A-5550-B216-77C467B6E03C}"/>
    <pc:docChg chg="undo custSel modSld">
      <pc:chgData name="Loc Huynh" userId="80c0383e323bd6ea" providerId="LiveId" clId="{423ADD57-852A-5550-B216-77C467B6E03C}" dt="2025-10-21T04:24:58.921" v="17" actId="207"/>
      <pc:docMkLst>
        <pc:docMk/>
      </pc:docMkLst>
      <pc:sldChg chg="modNotes">
        <pc:chgData name="Loc Huynh" userId="80c0383e323bd6ea" providerId="LiveId" clId="{423ADD57-852A-5550-B216-77C467B6E03C}" dt="2025-10-21T02:43:36.819" v="15"/>
        <pc:sldMkLst>
          <pc:docMk/>
          <pc:sldMk cId="2326327795" sldId="257"/>
        </pc:sldMkLst>
      </pc:sldChg>
      <pc:sldChg chg="modSp mod">
        <pc:chgData name="Loc Huynh" userId="80c0383e323bd6ea" providerId="LiveId" clId="{423ADD57-852A-5550-B216-77C467B6E03C}" dt="2025-10-21T00:37:54.033" v="0" actId="207"/>
        <pc:sldMkLst>
          <pc:docMk/>
          <pc:sldMk cId="2270979053" sldId="324"/>
        </pc:sldMkLst>
        <pc:spChg chg="mod">
          <ac:chgData name="Loc Huynh" userId="80c0383e323bd6ea" providerId="LiveId" clId="{423ADD57-852A-5550-B216-77C467B6E03C}" dt="2025-10-21T00:37:54.033" v="0" actId="207"/>
          <ac:spMkLst>
            <pc:docMk/>
            <pc:sldMk cId="2270979053" sldId="324"/>
            <ac:spMk id="6" creationId="{00000000-0000-0000-0000-000000000000}"/>
          </ac:spMkLst>
        </pc:spChg>
      </pc:sldChg>
      <pc:sldChg chg="modSp mod">
        <pc:chgData name="Loc Huynh" userId="80c0383e323bd6ea" providerId="LiveId" clId="{423ADD57-852A-5550-B216-77C467B6E03C}" dt="2025-10-21T01:58:36.409" v="3" actId="207"/>
        <pc:sldMkLst>
          <pc:docMk/>
          <pc:sldMk cId="4283028010" sldId="361"/>
        </pc:sldMkLst>
        <pc:spChg chg="mod">
          <ac:chgData name="Loc Huynh" userId="80c0383e323bd6ea" providerId="LiveId" clId="{423ADD57-852A-5550-B216-77C467B6E03C}" dt="2025-10-21T01:58:36.409" v="3" actId="207"/>
          <ac:spMkLst>
            <pc:docMk/>
            <pc:sldMk cId="4283028010" sldId="361"/>
            <ac:spMk id="8" creationId="{00000000-0000-0000-0000-000000000000}"/>
          </ac:spMkLst>
        </pc:spChg>
      </pc:sldChg>
      <pc:sldChg chg="modSp mod">
        <pc:chgData name="Loc Huynh" userId="80c0383e323bd6ea" providerId="LiveId" clId="{423ADD57-852A-5550-B216-77C467B6E03C}" dt="2025-10-21T01:58:39.206" v="4" actId="207"/>
        <pc:sldMkLst>
          <pc:docMk/>
          <pc:sldMk cId="3957517463" sldId="362"/>
        </pc:sldMkLst>
        <pc:spChg chg="mod">
          <ac:chgData name="Loc Huynh" userId="80c0383e323bd6ea" providerId="LiveId" clId="{423ADD57-852A-5550-B216-77C467B6E03C}" dt="2025-10-21T01:58:39.206" v="4" actId="207"/>
          <ac:spMkLst>
            <pc:docMk/>
            <pc:sldMk cId="3957517463" sldId="362"/>
            <ac:spMk id="8" creationId="{00000000-0000-0000-0000-000000000000}"/>
          </ac:spMkLst>
        </pc:spChg>
      </pc:sldChg>
      <pc:sldChg chg="modSp mod">
        <pc:chgData name="Loc Huynh" userId="80c0383e323bd6ea" providerId="LiveId" clId="{423ADD57-852A-5550-B216-77C467B6E03C}" dt="2025-10-21T00:38:03.159" v="1" actId="207"/>
        <pc:sldMkLst>
          <pc:docMk/>
          <pc:sldMk cId="2787962014" sldId="390"/>
        </pc:sldMkLst>
        <pc:spChg chg="mod">
          <ac:chgData name="Loc Huynh" userId="80c0383e323bd6ea" providerId="LiveId" clId="{423ADD57-852A-5550-B216-77C467B6E03C}" dt="2025-10-21T00:38:03.159" v="1" actId="207"/>
          <ac:spMkLst>
            <pc:docMk/>
            <pc:sldMk cId="2787962014" sldId="390"/>
            <ac:spMk id="5" creationId="{00000000-0000-0000-0000-000000000000}"/>
          </ac:spMkLst>
        </pc:spChg>
      </pc:sldChg>
      <pc:sldChg chg="modSp mod">
        <pc:chgData name="Loc Huynh" userId="80c0383e323bd6ea" providerId="LiveId" clId="{423ADD57-852A-5550-B216-77C467B6E03C}" dt="2025-10-21T04:24:55.696" v="16" actId="207"/>
        <pc:sldMkLst>
          <pc:docMk/>
          <pc:sldMk cId="3614308934" sldId="395"/>
        </pc:sldMkLst>
        <pc:spChg chg="mod">
          <ac:chgData name="Loc Huynh" userId="80c0383e323bd6ea" providerId="LiveId" clId="{423ADD57-852A-5550-B216-77C467B6E03C}" dt="2025-10-21T04:24:55.696" v="16" actId="207"/>
          <ac:spMkLst>
            <pc:docMk/>
            <pc:sldMk cId="3614308934" sldId="395"/>
            <ac:spMk id="5" creationId="{00000000-0000-0000-0000-000000000000}"/>
          </ac:spMkLst>
        </pc:spChg>
      </pc:sldChg>
      <pc:sldChg chg="modSp mod">
        <pc:chgData name="Loc Huynh" userId="80c0383e323bd6ea" providerId="LiveId" clId="{423ADD57-852A-5550-B216-77C467B6E03C}" dt="2025-10-21T04:24:58.921" v="17" actId="207"/>
        <pc:sldMkLst>
          <pc:docMk/>
          <pc:sldMk cId="3550934841" sldId="396"/>
        </pc:sldMkLst>
        <pc:spChg chg="mod">
          <ac:chgData name="Loc Huynh" userId="80c0383e323bd6ea" providerId="LiveId" clId="{423ADD57-852A-5550-B216-77C467B6E03C}" dt="2025-10-21T04:24:58.921" v="17" actId="207"/>
          <ac:spMkLst>
            <pc:docMk/>
            <pc:sldMk cId="3550934841" sldId="396"/>
            <ac:spMk id="5" creationId="{00000000-0000-0000-0000-000000000000}"/>
          </ac:spMkLst>
        </pc:spChg>
      </pc:sldChg>
      <pc:sldChg chg="modSp mod">
        <pc:chgData name="Loc Huynh" userId="80c0383e323bd6ea" providerId="LiveId" clId="{423ADD57-852A-5550-B216-77C467B6E03C}" dt="2025-10-21T00:40:04.987" v="2" actId="207"/>
        <pc:sldMkLst>
          <pc:docMk/>
          <pc:sldMk cId="2994008017" sldId="398"/>
        </pc:sldMkLst>
        <pc:spChg chg="mod">
          <ac:chgData name="Loc Huynh" userId="80c0383e323bd6ea" providerId="LiveId" clId="{423ADD57-852A-5550-B216-77C467B6E03C}" dt="2025-10-21T00:40:04.987" v="2" actId="207"/>
          <ac:spMkLst>
            <pc:docMk/>
            <pc:sldMk cId="2994008017" sldId="398"/>
            <ac:spMk id="4" creationId="{00000000-0000-0000-0000-000000000000}"/>
          </ac:spMkLst>
        </pc:spChg>
      </pc:sldChg>
      <pc:sldChg chg="modSp mod">
        <pc:chgData name="Loc Huynh" userId="80c0383e323bd6ea" providerId="LiveId" clId="{423ADD57-852A-5550-B216-77C467B6E03C}" dt="2025-10-21T01:58:47.696" v="7" actId="207"/>
        <pc:sldMkLst>
          <pc:docMk/>
          <pc:sldMk cId="924388091" sldId="400"/>
        </pc:sldMkLst>
        <pc:spChg chg="mod">
          <ac:chgData name="Loc Huynh" userId="80c0383e323bd6ea" providerId="LiveId" clId="{423ADD57-852A-5550-B216-77C467B6E03C}" dt="2025-10-21T01:58:47.696" v="7" actId="207"/>
          <ac:spMkLst>
            <pc:docMk/>
            <pc:sldMk cId="924388091" sldId="400"/>
            <ac:spMk id="5" creationId="{00000000-0000-0000-0000-000000000000}"/>
          </ac:spMkLst>
        </pc:spChg>
      </pc:sldChg>
      <pc:sldChg chg="modSp mod">
        <pc:chgData name="Loc Huynh" userId="80c0383e323bd6ea" providerId="LiveId" clId="{423ADD57-852A-5550-B216-77C467B6E03C}" dt="2025-10-21T01:58:50.687" v="8" actId="207"/>
        <pc:sldMkLst>
          <pc:docMk/>
          <pc:sldMk cId="2301839426" sldId="402"/>
        </pc:sldMkLst>
        <pc:spChg chg="mod">
          <ac:chgData name="Loc Huynh" userId="80c0383e323bd6ea" providerId="LiveId" clId="{423ADD57-852A-5550-B216-77C467B6E03C}" dt="2025-10-21T01:58:50.687" v="8" actId="207"/>
          <ac:spMkLst>
            <pc:docMk/>
            <pc:sldMk cId="2301839426" sldId="402"/>
            <ac:spMk id="6" creationId="{00000000-0000-0000-0000-000000000000}"/>
          </ac:spMkLst>
        </pc:spChg>
      </pc:sldChg>
      <pc:sldChg chg="modSp mod">
        <pc:chgData name="Loc Huynh" userId="80c0383e323bd6ea" providerId="LiveId" clId="{423ADD57-852A-5550-B216-77C467B6E03C}" dt="2025-10-21T01:58:52.863" v="9" actId="207"/>
        <pc:sldMkLst>
          <pc:docMk/>
          <pc:sldMk cId="13639493" sldId="403"/>
        </pc:sldMkLst>
        <pc:spChg chg="mod">
          <ac:chgData name="Loc Huynh" userId="80c0383e323bd6ea" providerId="LiveId" clId="{423ADD57-852A-5550-B216-77C467B6E03C}" dt="2025-10-21T01:58:52.863" v="9" actId="207"/>
          <ac:spMkLst>
            <pc:docMk/>
            <pc:sldMk cId="13639493" sldId="403"/>
            <ac:spMk id="5" creationId="{00000000-0000-0000-0000-000000000000}"/>
          </ac:spMkLst>
        </pc:spChg>
      </pc:sldChg>
      <pc:sldChg chg="modSp mod">
        <pc:chgData name="Loc Huynh" userId="80c0383e323bd6ea" providerId="LiveId" clId="{423ADD57-852A-5550-B216-77C467B6E03C}" dt="2025-10-21T01:58:57.129" v="10" actId="207"/>
        <pc:sldMkLst>
          <pc:docMk/>
          <pc:sldMk cId="34442242" sldId="404"/>
        </pc:sldMkLst>
        <pc:spChg chg="mod">
          <ac:chgData name="Loc Huynh" userId="80c0383e323bd6ea" providerId="LiveId" clId="{423ADD57-852A-5550-B216-77C467B6E03C}" dt="2025-10-21T01:58:57.129" v="10" actId="207"/>
          <ac:spMkLst>
            <pc:docMk/>
            <pc:sldMk cId="34442242" sldId="404"/>
            <ac:spMk id="5" creationId="{00000000-0000-0000-0000-000000000000}"/>
          </ac:spMkLst>
        </pc:spChg>
      </pc:sldChg>
      <pc:sldChg chg="modSp mod">
        <pc:chgData name="Loc Huynh" userId="80c0383e323bd6ea" providerId="LiveId" clId="{423ADD57-852A-5550-B216-77C467B6E03C}" dt="2025-10-21T01:59:02.757" v="11" actId="207"/>
        <pc:sldMkLst>
          <pc:docMk/>
          <pc:sldMk cId="1319722795" sldId="405"/>
        </pc:sldMkLst>
        <pc:spChg chg="mod">
          <ac:chgData name="Loc Huynh" userId="80c0383e323bd6ea" providerId="LiveId" clId="{423ADD57-852A-5550-B216-77C467B6E03C}" dt="2025-10-21T01:59:02.757" v="11" actId="207"/>
          <ac:spMkLst>
            <pc:docMk/>
            <pc:sldMk cId="1319722795" sldId="405"/>
            <ac:spMk id="5" creationId="{00000000-0000-0000-0000-000000000000}"/>
          </ac:spMkLst>
        </pc:spChg>
      </pc:sldChg>
      <pc:sldChg chg="modSp mod">
        <pc:chgData name="Loc Huynh" userId="80c0383e323bd6ea" providerId="LiveId" clId="{423ADD57-852A-5550-B216-77C467B6E03C}" dt="2025-10-21T01:59:11.240" v="14" actId="207"/>
        <pc:sldMkLst>
          <pc:docMk/>
          <pc:sldMk cId="237434500" sldId="406"/>
        </pc:sldMkLst>
        <pc:spChg chg="mod">
          <ac:chgData name="Loc Huynh" userId="80c0383e323bd6ea" providerId="LiveId" clId="{423ADD57-852A-5550-B216-77C467B6E03C}" dt="2025-10-21T01:59:11.240" v="14" actId="207"/>
          <ac:spMkLst>
            <pc:docMk/>
            <pc:sldMk cId="237434500" sldId="406"/>
            <ac:spMk id="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1124A-6690-40F4-95A9-D3DE2B5BA632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0B898B-6C31-4525-A9F8-BD3BDD8E8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368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4FACA-03E7-4744-8E28-DAFE4082ECF2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7E988-56AA-4BFF-8ACD-5B616E142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37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EE1FE4-75D3-45CB-9DBA-91C4EA45CB3E}" type="slidenum">
              <a:rPr lang="en-US"/>
              <a:pPr/>
              <a:t>1</a:t>
            </a:fld>
            <a:endParaRPr lang="en-US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44773F04-42BE-6C89-A077-30929899E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03060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7E988-56AA-4BFF-8ACD-5B616E1421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46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F86989-0485-4E75-8984-B9DA21422F2D}" type="slidenum">
              <a:rPr lang="en-US"/>
              <a:pPr/>
              <a:t>4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  <p:extLst>
      <p:ext uri="{BB962C8B-B14F-4D97-AF65-F5344CB8AC3E}">
        <p14:creationId xmlns:p14="http://schemas.microsoft.com/office/powerpoint/2010/main" val="3927508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F86989-0485-4E75-8984-B9DA21422F2D}" type="slidenum">
              <a:rPr lang="en-US"/>
              <a:pPr/>
              <a:t>5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  <p:extLst>
      <p:ext uri="{BB962C8B-B14F-4D97-AF65-F5344CB8AC3E}">
        <p14:creationId xmlns:p14="http://schemas.microsoft.com/office/powerpoint/2010/main" val="1411009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F86989-0485-4E75-8984-B9DA21422F2D}" type="slidenum">
              <a:rPr lang="en-US"/>
              <a:pPr/>
              <a:t>8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  <p:extLst>
      <p:ext uri="{BB962C8B-B14F-4D97-AF65-F5344CB8AC3E}">
        <p14:creationId xmlns:p14="http://schemas.microsoft.com/office/powerpoint/2010/main" val="4163689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F86989-0485-4E75-8984-B9DA21422F2D}" type="slidenum">
              <a:rPr lang="en-US"/>
              <a:pPr/>
              <a:t>9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  <p:extLst>
      <p:ext uri="{BB962C8B-B14F-4D97-AF65-F5344CB8AC3E}">
        <p14:creationId xmlns:p14="http://schemas.microsoft.com/office/powerpoint/2010/main" val="3596687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F86989-0485-4E75-8984-B9DA21422F2D}" type="slidenum">
              <a:rPr lang="en-US"/>
              <a:pPr/>
              <a:t>12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  <p:extLst>
      <p:ext uri="{BB962C8B-B14F-4D97-AF65-F5344CB8AC3E}">
        <p14:creationId xmlns:p14="http://schemas.microsoft.com/office/powerpoint/2010/main" val="1456777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F86989-0485-4E75-8984-B9DA21422F2D}" type="slidenum">
              <a:rPr lang="en-US"/>
              <a:pPr/>
              <a:t>13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  <p:extLst>
      <p:ext uri="{BB962C8B-B14F-4D97-AF65-F5344CB8AC3E}">
        <p14:creationId xmlns:p14="http://schemas.microsoft.com/office/powerpoint/2010/main" val="14420346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07E988-56AA-4BFF-8ACD-5B616E14213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00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4F7FDC-2C98-42EF-94B6-5CFCEBFB5A36}" type="slidenum">
              <a:rPr lang="en-US"/>
              <a:pPr/>
              <a:t>30</a:t>
            </a:fld>
            <a:endParaRPr lang="en-US"/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  <p:extLst>
      <p:ext uri="{BB962C8B-B14F-4D97-AF65-F5344CB8AC3E}">
        <p14:creationId xmlns:p14="http://schemas.microsoft.com/office/powerpoint/2010/main" val="3575240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6E87B6-172A-4104-8195-140F90548F98}" type="slidenum">
              <a:rPr lang="en-US"/>
              <a:pPr/>
              <a:t>35</a:t>
            </a:fld>
            <a:endParaRPr lang="en-US"/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  <p:extLst>
      <p:ext uri="{BB962C8B-B14F-4D97-AF65-F5344CB8AC3E}">
        <p14:creationId xmlns:p14="http://schemas.microsoft.com/office/powerpoint/2010/main" val="2211134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7E988-56AA-4BFF-8ACD-5B616E14213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0243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07E988-56AA-4BFF-8ACD-5B616E14213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3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33BB77FC-C343-4F37-B288-CCD65B348E50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0621DBF6-3D38-457A-8E06-12EA01691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06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2EB2F2A2-DF36-4023-9F2C-1D9EEEB4271E}" type="datetime1">
              <a:rPr lang="en-US" smtClean="0"/>
              <a:t>10/21/25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0621DBF6-3D38-457A-8E06-12EA016910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6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C43DC-12F1-4075-B189-1205312790D9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20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5F9E-073A-4CF8-A861-DC3BC151F855}" type="datetime1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017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E2DA8-4A04-4542-BD9C-F8294853A90B}" type="datetime1">
              <a:rPr lang="en-US" smtClean="0"/>
              <a:t>10/21/25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57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D6C7-0F4D-4575-9C7A-C78DB6C9F666}" type="datetime1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84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A243-A01F-4FE9-AD47-26727D4F6CB2}" type="datetime1">
              <a:rPr lang="en-US" smtClean="0"/>
              <a:t>10/21/25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369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AD4D6-9102-429C-A235-A0F9AE756FE1}" type="datetime1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8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DB2D9-51CF-48CA-83AB-74E01F0F52DC}" type="datetime1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03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E48F-23D4-4718-B185-AD4545E49694}" type="datetime1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4939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E48F-23D4-4718-B185-AD4545E49694}" type="datetime1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264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E48F-23D4-4718-B185-AD4545E49694}" type="datetime1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058525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E48F-23D4-4718-B185-AD4545E49694}" type="datetime1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8589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E48F-23D4-4718-B185-AD4545E49694}" type="datetime1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5671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E48F-23D4-4718-B185-AD4545E49694}" type="datetime1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00694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3143-156B-4918-BF3C-55DB59E5DD49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6660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7FB68-921B-487B-8022-9BC9A9ACDC64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131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447800"/>
            <a:ext cx="8686800" cy="4800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8600" y="639921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B65B127-3D5F-4B5F-ABAA-4152007F18E5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9921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39921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6B36CAD-60C1-453A-BFE9-725E3BFA5FF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66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</p:grpSp>
      </p:grpSp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AE48F-23D4-4718-B185-AD4545E49694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1DBF6-3D38-457A-8E06-12EA01691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554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14300" dist="38100" dir="2700000" algn="tl">
              <a:srgbClr val="000000">
                <a:alpha val="2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inhthai@huflit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CodeAddHead.pptx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CodeAddTail.pptx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CodeTimMax.pptx" TargetMode="External"/><Relationship Id="rId2" Type="http://schemas.openxmlformats.org/officeDocument/2006/relationships/hyperlink" Target="CodeDemSL.ppt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CodeTBLe.pptx" TargetMode="External"/><Relationship Id="rId5" Type="http://schemas.openxmlformats.org/officeDocument/2006/relationships/hyperlink" Target="CodeInChan.pptx" TargetMode="External"/><Relationship Id="rId4" Type="http://schemas.openxmlformats.org/officeDocument/2006/relationships/hyperlink" Target="CodeTimX.pptx" TargetMode="Externa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17581" y="1219200"/>
            <a:ext cx="7945419" cy="2362200"/>
          </a:xfrm>
        </p:spPr>
        <p:txBody>
          <a:bodyPr>
            <a:noAutofit/>
          </a:bodyPr>
          <a:lstStyle/>
          <a:p>
            <a:pPr marL="182880" indent="0" algn="ctr">
              <a:buNone/>
            </a:pP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5: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sách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b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Linked list (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1)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4191000"/>
            <a:ext cx="7848600" cy="1743665"/>
          </a:xfrm>
        </p:spPr>
        <p:txBody>
          <a:bodyPr>
            <a:noAutofit/>
          </a:bodyPr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TS. Trần Minh Thái – </a:t>
            </a:r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minhthai@huflit.edu.vn</a:t>
            </a:r>
            <a:endParaRPr lang="en-US" sz="24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05 Aug, 2021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327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7620000" cy="1143000"/>
          </a:xfrm>
        </p:spPr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71599"/>
            <a:ext cx="7620000" cy="5181601"/>
          </a:xfrm>
        </p:spPr>
        <p:txBody>
          <a:bodyPr>
            <a:normAutofit/>
          </a:bodyPr>
          <a:lstStyle/>
          <a:p>
            <a:pPr marL="347663" indent="-301625" algn="just">
              <a:lnSpc>
                <a:spcPct val="150000"/>
              </a:lnSpc>
            </a:pPr>
            <a:r>
              <a:rPr lang="en-US" dirty="0" err="1"/>
              <a:t>Nắm</a:t>
            </a:r>
            <a:r>
              <a:rPr lang="en-US" dirty="0"/>
              <a:t> </a:t>
            </a:r>
            <a:r>
              <a:rPr lang="en-US" dirty="0" err="1"/>
              <a:t>vững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tĩnh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  <a:p>
            <a:pPr marL="347663" indent="-301625" algn="just">
              <a:lnSpc>
                <a:spcPct val="150000"/>
              </a:lnSpc>
            </a:pPr>
            <a:r>
              <a:rPr lang="en-US" dirty="0" err="1"/>
              <a:t>Nắm</a:t>
            </a:r>
            <a:r>
              <a:rPr lang="en-US" dirty="0"/>
              <a:t> </a:t>
            </a:r>
            <a:r>
              <a:rPr lang="en-US" dirty="0" err="1"/>
              <a:t>vững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đơn</a:t>
            </a:r>
            <a:endParaRPr lang="en-US" dirty="0"/>
          </a:p>
          <a:p>
            <a:pPr marL="347663" indent="-301625" algn="just">
              <a:lnSpc>
                <a:spcPct val="150000"/>
              </a:lnSpc>
            </a:pP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C#</a:t>
            </a:r>
          </a:p>
          <a:p>
            <a:pPr marL="347663" indent="-301625"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64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38BC5-8F68-4668-821B-D04EAF7E5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618518"/>
            <a:ext cx="8059340" cy="1478570"/>
          </a:xfrm>
        </p:spPr>
        <p:txBody>
          <a:bodyPr/>
          <a:lstStyle/>
          <a:p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1 </a:t>
            </a:r>
            <a:r>
              <a:rPr lang="en-US" dirty="0" err="1"/>
              <a:t>chiều</a:t>
            </a: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6C9AF15-6958-4433-B323-BE053F7145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55663" y="2249488"/>
          <a:ext cx="74295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750">
                  <a:extLst>
                    <a:ext uri="{9D8B030D-6E8A-4147-A177-3AD203B41FA5}">
                      <a16:colId xmlns:a16="http://schemas.microsoft.com/office/drawing/2014/main" val="2789339688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1444225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Ưu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điểm</a:t>
                      </a:r>
                      <a:endParaRPr lang="en-US" sz="2800" dirty="0"/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Hạn </a:t>
                      </a:r>
                      <a:r>
                        <a:rPr lang="en-US" sz="2800" dirty="0" err="1"/>
                        <a:t>chế</a:t>
                      </a:r>
                      <a:endParaRPr lang="en-US" sz="2800" dirty="0"/>
                    </a:p>
                  </a:txBody>
                  <a:tcPr marL="86139" marR="86139"/>
                </a:tc>
                <a:extLst>
                  <a:ext uri="{0D108BD9-81ED-4DB2-BD59-A6C34878D82A}">
                    <a16:rowId xmlns:a16="http://schemas.microsoft.com/office/drawing/2014/main" val="64183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86139" marR="86139"/>
                </a:tc>
                <a:extLst>
                  <a:ext uri="{0D108BD9-81ED-4DB2-BD59-A6C34878D82A}">
                    <a16:rowId xmlns:a16="http://schemas.microsoft.com/office/drawing/2014/main" val="665643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86139" marR="86139"/>
                </a:tc>
                <a:extLst>
                  <a:ext uri="{0D108BD9-81ED-4DB2-BD59-A6C34878D82A}">
                    <a16:rowId xmlns:a16="http://schemas.microsoft.com/office/drawing/2014/main" val="162097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86139" marR="86139"/>
                </a:tc>
                <a:extLst>
                  <a:ext uri="{0D108BD9-81ED-4DB2-BD59-A6C34878D82A}">
                    <a16:rowId xmlns:a16="http://schemas.microsoft.com/office/drawing/2014/main" val="539838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86139" marR="86139"/>
                </a:tc>
                <a:extLst>
                  <a:ext uri="{0D108BD9-81ED-4DB2-BD59-A6C34878D82A}">
                    <a16:rowId xmlns:a16="http://schemas.microsoft.com/office/drawing/2014/main" val="84767811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8FFCA-E253-4B7D-AD80-FD4BCE5F3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225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tĩnh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306960"/>
              </p:ext>
            </p:extLst>
          </p:nvPr>
        </p:nvGraphicFramePr>
        <p:xfrm>
          <a:off x="838200" y="44164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38200" y="25876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2599" y="34670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6999" y="31623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81399" y="36480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5799" y="28162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10199" y="37687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599" y="19780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38999" y="39973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457200" y="5337174"/>
            <a:ext cx="8534400" cy="606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96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89888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64208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6596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8600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87752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8" indent="0">
              <a:buNone/>
            </a:pPr>
            <a:r>
              <a:rPr lang="en-US" dirty="0">
                <a:solidFill>
                  <a:schemeClr val="tx1"/>
                </a:solidFill>
              </a:rPr>
              <a:t>? </a:t>
            </a:r>
            <a:r>
              <a:rPr lang="en-US" dirty="0" err="1">
                <a:solidFill>
                  <a:schemeClr val="tx1"/>
                </a:solidFill>
              </a:rPr>
              <a:t>Làm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sao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chèn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thêm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6 </a:t>
            </a:r>
            <a:r>
              <a:rPr lang="en-US" dirty="0" err="1">
                <a:solidFill>
                  <a:schemeClr val="tx1"/>
                </a:solidFill>
              </a:rPr>
              <a:t>vào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trí</a:t>
            </a:r>
            <a:r>
              <a:rPr lang="en-US" dirty="0">
                <a:solidFill>
                  <a:schemeClr val="tx1"/>
                </a:solidFill>
              </a:rPr>
              <a:t> 4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mảng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505200" y="1295400"/>
            <a:ext cx="838200" cy="1008062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0668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path" presetSubtype="0" repeatCount="indefinite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5434E-6 L 0.1125 0.29734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25" y="148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/>
      <p:bldP spid="18" grpId="0" animBg="1"/>
      <p:bldP spid="1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Vấn đề kiểu dữ liệu tĩnh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430211"/>
              </p:ext>
            </p:extLst>
          </p:nvPr>
        </p:nvGraphicFramePr>
        <p:xfrm>
          <a:off x="838201" y="5026025"/>
          <a:ext cx="8153397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59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59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59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59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59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59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38200" y="31972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2599" y="40766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6999" y="37719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81399" y="42576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5799" y="34258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10199" y="43783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599" y="25876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38999" y="46069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5200" y="1905000"/>
            <a:ext cx="838200" cy="1008062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6</a:t>
            </a:r>
          </a:p>
        </p:txBody>
      </p:sp>
      <p:sp>
        <p:nvSpPr>
          <p:cNvPr id="4" name="Line Callout 1 3"/>
          <p:cNvSpPr/>
          <p:nvPr/>
        </p:nvSpPr>
        <p:spPr>
          <a:xfrm>
            <a:off x="5105400" y="6019800"/>
            <a:ext cx="2362200" cy="762000"/>
          </a:xfrm>
          <a:prstGeom prst="borderCallout1">
            <a:avLst>
              <a:gd name="adj1" fmla="val 24464"/>
              <a:gd name="adj2" fmla="val 103495"/>
              <a:gd name="adj3" fmla="val -57024"/>
              <a:gd name="adj4" fmla="val 146614"/>
            </a:avLst>
          </a:prstGeom>
          <a:solidFill>
            <a:srgbClr val="99FF33"/>
          </a:solidFill>
          <a:ln w="38100"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FF0000"/>
                </a:solidFill>
              </a:rPr>
              <a:t>Bổ sung thêm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104901" y="2854325"/>
            <a:ext cx="6896099" cy="1143000"/>
            <a:chOff x="1257300" y="762000"/>
            <a:chExt cx="5981699" cy="1143000"/>
          </a:xfrm>
        </p:grpSpPr>
        <p:sp>
          <p:nvSpPr>
            <p:cNvPr id="5" name="Rounded Rectangle 4"/>
            <p:cNvSpPr/>
            <p:nvPr/>
          </p:nvSpPr>
          <p:spPr>
            <a:xfrm>
              <a:off x="1676400" y="914400"/>
              <a:ext cx="5562599" cy="83820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rgbClr val="00B050"/>
                  </a:solidFill>
                </a:rPr>
                <a:t>     Giả sử cần thêm tiếp 1 phần tử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1257300" y="762000"/>
              <a:ext cx="1257300" cy="1143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b="1"/>
                <a:t>?</a:t>
              </a:r>
              <a:endParaRPr lang="en-US" b="1"/>
            </a:p>
          </p:txBody>
        </p:sp>
      </p:grpSp>
    </p:spTree>
    <p:extLst>
      <p:ext uri="{BB962C8B-B14F-4D97-AF65-F5344CB8AC3E}">
        <p14:creationId xmlns:p14="http://schemas.microsoft.com/office/powerpoint/2010/main" val="212068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994 L 0.04809 -0.24994 C 0.06962 -0.24994 0.09635 -0.18104 0.09635 -0.12485 L 0.09635 -7.51445E-7 " pathEditMode="relative" rAng="0" ptsTypes="FfFF">
                                      <p:cBhvr>
                                        <p:cTn id="1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09" y="12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995 L 0.04948 -0.24995 C 0.0717 -0.24995 0.09913 -0.18105 0.09913 -0.12486 L 0.09913 4.62428E-6 " pathEditMode="relative" rAng="0" ptsTypes="FfFF">
                                      <p:cBhvr>
                                        <p:cTn id="2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48" y="12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994 L 0.04948 -0.24994 C 0.0717 -0.24994 0.09913 -0.18104 0.09913 -0.12486 L 0.09913 2.22045E-16 " pathEditMode="relative" rAng="0" ptsTypes="FfFF">
                                      <p:cBhvr>
                                        <p:cTn id="3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48" y="12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3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994 L 0.04948 -0.24994 C 0.0717 -0.24994 0.09913 -0.18104 0.09913 -0.12485 L 0.09913 -6.93642E-7 " pathEditMode="relative" rAng="0" ptsTypes="FfFF">
                                      <p:cBhvr>
                                        <p:cTn id="3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48" y="12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4.50867E-6 L 0.05364 -4.50867E-6 C 0.07795 -4.50867E-6 0.10798 0.08232 0.10798 0.1496 L 0.10798 0.2992 " pathEditMode="relative" rAng="0" ptsTypes="FfFF">
                                      <p:cBhvr>
                                        <p:cTn id="4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99" y="149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8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8C11D-810F-497A-85BD-7138BDCD2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C#</a:t>
            </a:r>
            <a:br>
              <a:rPr lang="en-US" dirty="0"/>
            </a:br>
            <a:r>
              <a:rPr lang="en-US" sz="3200" i="1" dirty="0" err="1"/>
              <a:t>Chèn</a:t>
            </a:r>
            <a:r>
              <a:rPr lang="en-US" sz="3200" i="1" dirty="0"/>
              <a:t> x=6 </a:t>
            </a:r>
            <a:r>
              <a:rPr lang="en-US" sz="3200" i="1" dirty="0" err="1"/>
              <a:t>vào</a:t>
            </a:r>
            <a:r>
              <a:rPr lang="en-US" sz="3200" i="1" dirty="0"/>
              <a:t> </a:t>
            </a:r>
            <a:r>
              <a:rPr lang="en-US" sz="3200" i="1" dirty="0" err="1"/>
              <a:t>vị</a:t>
            </a:r>
            <a:r>
              <a:rPr lang="en-US" sz="3200" i="1" dirty="0"/>
              <a:t> </a:t>
            </a:r>
            <a:r>
              <a:rPr lang="en-US" sz="3200" i="1" dirty="0" err="1"/>
              <a:t>trí</a:t>
            </a:r>
            <a:r>
              <a:rPr lang="en-US" sz="3200" i="1" dirty="0"/>
              <a:t> 4</a:t>
            </a:r>
            <a:endParaRPr lang="en-US" i="1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B088990-ADBE-4EA0-AF00-F2B09EF44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4748206"/>
              </p:ext>
            </p:extLst>
          </p:nvPr>
        </p:nvGraphicFramePr>
        <p:xfrm>
          <a:off x="76200" y="1981200"/>
          <a:ext cx="788670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10730500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51758983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73481204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40886157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82674632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1608590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24212373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20446677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595120889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a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75966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2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10960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4980B-DE59-4B54-91AB-0D59E0C97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37C82D-02B9-47BB-A12E-0442059941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1869873"/>
              </p:ext>
            </p:extLst>
          </p:nvPr>
        </p:nvGraphicFramePr>
        <p:xfrm>
          <a:off x="76200" y="3718739"/>
          <a:ext cx="876300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10730500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51758983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73481204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40886157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82674632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1608590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24212373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20446677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59512088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60658845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b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75966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2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1096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2D0B2E7-C3F6-4A88-94A1-5327A68158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8428257"/>
              </p:ext>
            </p:extLst>
          </p:nvPr>
        </p:nvGraphicFramePr>
        <p:xfrm>
          <a:off x="76200" y="5456279"/>
          <a:ext cx="876300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10730500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51758983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73481204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40886157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82674632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1608590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24212373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20446677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59512088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60658845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a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75966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2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109601"/>
                  </a:ext>
                </a:extLst>
              </a:tr>
            </a:tbl>
          </a:graphicData>
        </a:graphic>
      </p:graphicFrame>
      <p:sp>
        <p:nvSpPr>
          <p:cNvPr id="9" name="Arrow: Down 8">
            <a:extLst>
              <a:ext uri="{FF2B5EF4-FFF2-40B4-BE49-F238E27FC236}">
                <a16:creationId xmlns:a16="http://schemas.microsoft.com/office/drawing/2014/main" id="{FE5E037C-3B55-461C-AB1E-EF627C8904DB}"/>
              </a:ext>
            </a:extLst>
          </p:cNvPr>
          <p:cNvSpPr/>
          <p:nvPr/>
        </p:nvSpPr>
        <p:spPr>
          <a:xfrm>
            <a:off x="4343400" y="3085804"/>
            <a:ext cx="304800" cy="495596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AC50D4A-3B44-4788-90D9-1687C6B77F6B}"/>
              </a:ext>
            </a:extLst>
          </p:cNvPr>
          <p:cNvSpPr/>
          <p:nvPr/>
        </p:nvSpPr>
        <p:spPr>
          <a:xfrm>
            <a:off x="4343400" y="4827391"/>
            <a:ext cx="304800" cy="495596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0E00B1-41D1-44E9-A706-13772E991DE2}"/>
              </a:ext>
            </a:extLst>
          </p:cNvPr>
          <p:cNvCxnSpPr/>
          <p:nvPr/>
        </p:nvCxnSpPr>
        <p:spPr>
          <a:xfrm>
            <a:off x="4876800" y="2956560"/>
            <a:ext cx="914400" cy="762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D33D1F-ADE7-455A-A0CB-FE18CBFFE6B6}"/>
              </a:ext>
            </a:extLst>
          </p:cNvPr>
          <p:cNvCxnSpPr>
            <a:cxnSpLocks/>
          </p:cNvCxnSpPr>
          <p:nvPr/>
        </p:nvCxnSpPr>
        <p:spPr>
          <a:xfrm>
            <a:off x="5749724" y="2956560"/>
            <a:ext cx="914400" cy="762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67E8A8-94BB-4F8B-95CF-2B5E17890373}"/>
              </a:ext>
            </a:extLst>
          </p:cNvPr>
          <p:cNvCxnSpPr>
            <a:cxnSpLocks/>
          </p:cNvCxnSpPr>
          <p:nvPr/>
        </p:nvCxnSpPr>
        <p:spPr>
          <a:xfrm>
            <a:off x="6604321" y="2952512"/>
            <a:ext cx="914400" cy="762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E5C6D8-884A-4575-88F9-0BADD2B2D2DD}"/>
              </a:ext>
            </a:extLst>
          </p:cNvPr>
          <p:cNvCxnSpPr>
            <a:cxnSpLocks/>
          </p:cNvCxnSpPr>
          <p:nvPr/>
        </p:nvCxnSpPr>
        <p:spPr>
          <a:xfrm>
            <a:off x="7600950" y="2960608"/>
            <a:ext cx="914400" cy="762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06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x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vt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arr</a:t>
            </a:r>
            <a:r>
              <a:rPr lang="en-US" dirty="0"/>
              <a:t>,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marL="45720" indent="0" algn="just">
              <a:buNone/>
            </a:pPr>
            <a:r>
              <a:rPr lang="en-US" dirty="0"/>
              <a:t>class </a:t>
            </a:r>
            <a:r>
              <a:rPr lang="en-US" dirty="0" err="1"/>
              <a:t>MyIntArray</a:t>
            </a:r>
            <a:r>
              <a:rPr lang="en-US" dirty="0"/>
              <a:t>{</a:t>
            </a:r>
          </a:p>
          <a:p>
            <a:pPr marL="45720" indent="0" algn="just">
              <a:buNone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[]</a:t>
            </a:r>
            <a:r>
              <a:rPr lang="en-US" dirty="0" err="1"/>
              <a:t>arr</a:t>
            </a:r>
            <a:r>
              <a:rPr lang="en-US" dirty="0"/>
              <a:t>;	</a:t>
            </a:r>
          </a:p>
          <a:p>
            <a:pPr marL="45720" indent="0" algn="just">
              <a:buNone/>
            </a:pPr>
            <a:r>
              <a:rPr lang="en-US" dirty="0">
                <a:solidFill>
                  <a:srgbClr val="0070C0"/>
                </a:solidFill>
              </a:rPr>
              <a:t>	</a:t>
            </a:r>
            <a:r>
              <a:rPr lang="en-US" b="1" dirty="0">
                <a:solidFill>
                  <a:srgbClr val="FFFF00"/>
                </a:solidFill>
              </a:rPr>
              <a:t>public bool Insert (int x, int </a:t>
            </a:r>
            <a:r>
              <a:rPr lang="en-US" b="1" dirty="0" err="1">
                <a:solidFill>
                  <a:srgbClr val="FFFF00"/>
                </a:solidFill>
              </a:rPr>
              <a:t>vt</a:t>
            </a:r>
            <a:r>
              <a:rPr lang="en-US" b="1" dirty="0">
                <a:solidFill>
                  <a:srgbClr val="FFFF00"/>
                </a:solidFill>
              </a:rPr>
              <a:t>){}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	//</a:t>
            </a:r>
            <a:r>
              <a:rPr lang="en-US" b="1" dirty="0" err="1">
                <a:solidFill>
                  <a:srgbClr val="FFFF00"/>
                </a:solidFill>
              </a:rPr>
              <a:t>Trả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về</a:t>
            </a:r>
            <a:r>
              <a:rPr lang="en-US" b="1" dirty="0">
                <a:solidFill>
                  <a:srgbClr val="FFFF00"/>
                </a:solidFill>
              </a:rPr>
              <a:t> true </a:t>
            </a:r>
            <a:r>
              <a:rPr lang="en-US" b="1" dirty="0" err="1">
                <a:solidFill>
                  <a:srgbClr val="FFFF00"/>
                </a:solidFill>
              </a:rPr>
              <a:t>nếu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chèn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thành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công</a:t>
            </a:r>
            <a:endParaRPr lang="en-US" b="1" dirty="0">
              <a:solidFill>
                <a:srgbClr val="FFFF00"/>
              </a:solidFill>
            </a:endParaRP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	//Ng</a:t>
            </a:r>
            <a:r>
              <a:rPr lang="vi-VN" b="1" dirty="0">
                <a:solidFill>
                  <a:srgbClr val="FFFF00"/>
                </a:solidFill>
              </a:rPr>
              <a:t>ư</a:t>
            </a:r>
            <a:r>
              <a:rPr lang="en-US" b="1" dirty="0" err="1">
                <a:solidFill>
                  <a:srgbClr val="FFFF00"/>
                </a:solidFill>
              </a:rPr>
              <a:t>ợc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lại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trả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về</a:t>
            </a:r>
            <a:r>
              <a:rPr lang="en-US" b="1" dirty="0">
                <a:solidFill>
                  <a:srgbClr val="FFFF00"/>
                </a:solidFill>
              </a:rPr>
              <a:t> false</a:t>
            </a:r>
          </a:p>
          <a:p>
            <a:pPr marL="45720" indent="0" algn="just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604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Vấn đề kiểu dữ liệu tĩnh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800099" y="5818184"/>
            <a:ext cx="7715251" cy="606426"/>
          </a:xfrm>
        </p:spPr>
        <p:txBody>
          <a:bodyPr>
            <a:normAutofit/>
          </a:bodyPr>
          <a:lstStyle/>
          <a:p>
            <a:pPr marL="46038" indent="0">
              <a:buNone/>
            </a:pPr>
            <a:r>
              <a:rPr lang="en-US" dirty="0"/>
              <a:t>?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9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662803"/>
              </p:ext>
            </p:extLst>
          </p:nvPr>
        </p:nvGraphicFramePr>
        <p:xfrm>
          <a:off x="838200" y="44164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38200" y="25876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2599" y="34670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6999" y="31623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81399" y="36480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5799" y="28162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10199" y="37687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599" y="19780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38999" y="39973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495799" y="2816225"/>
            <a:ext cx="838200" cy="1530349"/>
            <a:chOff x="4495799" y="2816225"/>
            <a:chExt cx="838200" cy="1530349"/>
          </a:xfrm>
        </p:grpSpPr>
        <p:cxnSp>
          <p:nvCxnSpPr>
            <p:cNvPr id="3" name="Straight Connector 2"/>
            <p:cNvCxnSpPr/>
            <p:nvPr/>
          </p:nvCxnSpPr>
          <p:spPr>
            <a:xfrm>
              <a:off x="4495799" y="2816225"/>
              <a:ext cx="838200" cy="1530349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495799" y="2816225"/>
              <a:ext cx="838200" cy="1530349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466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Vấn đề kiểu dữ liệu tĩnh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102957"/>
              </p:ext>
            </p:extLst>
          </p:nvPr>
        </p:nvGraphicFramePr>
        <p:xfrm>
          <a:off x="838200" y="5102225"/>
          <a:ext cx="7239000" cy="68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38200" y="3273425"/>
            <a:ext cx="838200" cy="1758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2599" y="4152899"/>
            <a:ext cx="838200" cy="879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6999" y="3848100"/>
            <a:ext cx="838200" cy="1184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81399" y="4333875"/>
            <a:ext cx="838200" cy="7127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5799" y="3502025"/>
            <a:ext cx="838200" cy="15446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10199" y="4454525"/>
            <a:ext cx="838200" cy="5778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599" y="2663826"/>
            <a:ext cx="838200" cy="23685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38999" y="4683125"/>
            <a:ext cx="838200" cy="363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3815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994 L -0.05 -0.24994 C -0.07257 -0.24994 -0.1 -0.18104 -0.1 -0.12486 L -0.1 1.7341E-6 " pathEditMode="relative" rAng="0" ptsTypes="FfFF">
                                      <p:cBhvr>
                                        <p:cTn id="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" y="12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994 L -0.05 -0.24994 C -0.07257 -0.24994 -0.1 -0.18104 -0.1 -0.12485 L -0.1 -3.64162E-6 " pathEditMode="relative" rAng="0" ptsTypes="FfFF">
                                      <p:cBhvr>
                                        <p:cTn id="2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" y="12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4994 L -0.05 -0.24994 C -0.07257 -0.24994 -0.1 -0.18104 -0.1 -0.12485 L -0.1 -5.20231E-7 " pathEditMode="relative" rAng="0" ptsTypes="FfFF">
                                      <p:cBhvr>
                                        <p:cTn id="3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" y="12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8C11D-810F-497A-85BD-7138BDCD2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C#</a:t>
            </a:r>
            <a:br>
              <a:rPr lang="en-US" dirty="0"/>
            </a:br>
            <a:r>
              <a:rPr lang="en-US" sz="3200" i="1" dirty="0" err="1"/>
              <a:t>Xóa</a:t>
            </a:r>
            <a:r>
              <a:rPr lang="en-US" sz="3200" i="1" dirty="0"/>
              <a:t> </a:t>
            </a:r>
            <a:r>
              <a:rPr lang="en-US" sz="3200" i="1" dirty="0" err="1"/>
              <a:t>phần</a:t>
            </a:r>
            <a:r>
              <a:rPr lang="en-US" sz="3200" i="1" dirty="0"/>
              <a:t> </a:t>
            </a:r>
            <a:r>
              <a:rPr lang="en-US" sz="3200" i="1" dirty="0" err="1"/>
              <a:t>tử</a:t>
            </a:r>
            <a:r>
              <a:rPr lang="en-US" sz="3200" i="1" dirty="0"/>
              <a:t> 9</a:t>
            </a:r>
            <a:endParaRPr lang="en-US" i="1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B088990-ADBE-4EA0-AF00-F2B09EF448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200" y="1981200"/>
          <a:ext cx="788670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10730500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51758983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73481204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40886157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82674632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1608590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24212373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20446677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595120889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a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75966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2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10960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4980B-DE59-4B54-91AB-0D59E0C97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37C82D-02B9-47BB-A12E-0442059941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8118829"/>
              </p:ext>
            </p:extLst>
          </p:nvPr>
        </p:nvGraphicFramePr>
        <p:xfrm>
          <a:off x="76200" y="3718739"/>
          <a:ext cx="701040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10730500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51758983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73481204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40886157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82674632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1608590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24212373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204466775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b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75966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2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109601"/>
                  </a:ext>
                </a:extLst>
              </a:tr>
            </a:tbl>
          </a:graphicData>
        </a:graphic>
      </p:graphicFrame>
      <p:sp>
        <p:nvSpPr>
          <p:cNvPr id="9" name="Arrow: Down 8">
            <a:extLst>
              <a:ext uri="{FF2B5EF4-FFF2-40B4-BE49-F238E27FC236}">
                <a16:creationId xmlns:a16="http://schemas.microsoft.com/office/drawing/2014/main" id="{FE5E037C-3B55-461C-AB1E-EF627C8904DB}"/>
              </a:ext>
            </a:extLst>
          </p:cNvPr>
          <p:cNvSpPr/>
          <p:nvPr/>
        </p:nvSpPr>
        <p:spPr>
          <a:xfrm>
            <a:off x="4343400" y="3085804"/>
            <a:ext cx="304800" cy="495596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AC50D4A-3B44-4788-90D9-1687C6B77F6B}"/>
              </a:ext>
            </a:extLst>
          </p:cNvPr>
          <p:cNvSpPr/>
          <p:nvPr/>
        </p:nvSpPr>
        <p:spPr>
          <a:xfrm>
            <a:off x="4343400" y="4827391"/>
            <a:ext cx="304800" cy="495596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502C3D-AF34-45E8-A9AD-6FBB29F95F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3718435"/>
              </p:ext>
            </p:extLst>
          </p:nvPr>
        </p:nvGraphicFramePr>
        <p:xfrm>
          <a:off x="76200" y="5518262"/>
          <a:ext cx="701040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10730500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51758983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73481204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40886157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82674632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1608590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24212373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204466775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a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75966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2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i="1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109601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4858A0-0328-4325-A035-6B15F3351B6E}"/>
              </a:ext>
            </a:extLst>
          </p:cNvPr>
          <p:cNvCxnSpPr/>
          <p:nvPr/>
        </p:nvCxnSpPr>
        <p:spPr>
          <a:xfrm flipH="1">
            <a:off x="4953000" y="2956560"/>
            <a:ext cx="914400" cy="762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A3690-AB1C-46B8-BF2A-27F5529498B0}"/>
              </a:ext>
            </a:extLst>
          </p:cNvPr>
          <p:cNvCxnSpPr>
            <a:cxnSpLocks/>
          </p:cNvCxnSpPr>
          <p:nvPr/>
        </p:nvCxnSpPr>
        <p:spPr>
          <a:xfrm flipH="1">
            <a:off x="5715000" y="2925568"/>
            <a:ext cx="914400" cy="762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0552FE-C619-4A5A-A2D8-5F8C94245810}"/>
              </a:ext>
            </a:extLst>
          </p:cNvPr>
          <p:cNvCxnSpPr>
            <a:cxnSpLocks/>
          </p:cNvCxnSpPr>
          <p:nvPr/>
        </p:nvCxnSpPr>
        <p:spPr>
          <a:xfrm flipH="1">
            <a:off x="6450957" y="2925567"/>
            <a:ext cx="914400" cy="762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377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vt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arr</a:t>
            </a:r>
            <a:r>
              <a:rPr lang="en-US" dirty="0"/>
              <a:t>,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marL="45720" indent="0" algn="just">
              <a:buNone/>
            </a:pPr>
            <a:r>
              <a:rPr lang="en-US" dirty="0"/>
              <a:t>class </a:t>
            </a:r>
            <a:r>
              <a:rPr lang="en-US" dirty="0" err="1"/>
              <a:t>MyIntArray</a:t>
            </a:r>
            <a:r>
              <a:rPr lang="en-US" dirty="0"/>
              <a:t>{</a:t>
            </a:r>
          </a:p>
          <a:p>
            <a:pPr marL="45720" indent="0" algn="just">
              <a:buNone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[]</a:t>
            </a:r>
            <a:r>
              <a:rPr lang="en-US" dirty="0" err="1"/>
              <a:t>arr</a:t>
            </a:r>
            <a:r>
              <a:rPr lang="en-US" dirty="0"/>
              <a:t>;	</a:t>
            </a:r>
          </a:p>
          <a:p>
            <a:pPr marL="45720" indent="0" algn="just">
              <a:buNone/>
            </a:pPr>
            <a:r>
              <a:rPr lang="en-US" dirty="0">
                <a:solidFill>
                  <a:srgbClr val="FFFF66"/>
                </a:solidFill>
              </a:rPr>
              <a:t>	</a:t>
            </a:r>
            <a:r>
              <a:rPr lang="en-US" b="1" dirty="0">
                <a:solidFill>
                  <a:srgbClr val="FFFF66"/>
                </a:solidFill>
              </a:rPr>
              <a:t>public bool Remove (int </a:t>
            </a:r>
            <a:r>
              <a:rPr lang="en-US" b="1" dirty="0" err="1">
                <a:solidFill>
                  <a:srgbClr val="FFFF66"/>
                </a:solidFill>
              </a:rPr>
              <a:t>vt</a:t>
            </a:r>
            <a:r>
              <a:rPr lang="en-US" b="1" dirty="0">
                <a:solidFill>
                  <a:srgbClr val="FFFF66"/>
                </a:solidFill>
              </a:rPr>
              <a:t>){}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66"/>
                </a:solidFill>
              </a:rPr>
              <a:t>	//</a:t>
            </a:r>
            <a:r>
              <a:rPr lang="en-US" b="1" dirty="0" err="1">
                <a:solidFill>
                  <a:srgbClr val="FFFF66"/>
                </a:solidFill>
              </a:rPr>
              <a:t>Trả</a:t>
            </a:r>
            <a:r>
              <a:rPr lang="en-US" b="1" dirty="0">
                <a:solidFill>
                  <a:srgbClr val="FFFF66"/>
                </a:solidFill>
              </a:rPr>
              <a:t> </a:t>
            </a:r>
            <a:r>
              <a:rPr lang="en-US" b="1" dirty="0" err="1">
                <a:solidFill>
                  <a:srgbClr val="FFFF66"/>
                </a:solidFill>
              </a:rPr>
              <a:t>về</a:t>
            </a:r>
            <a:r>
              <a:rPr lang="en-US" b="1" dirty="0">
                <a:solidFill>
                  <a:srgbClr val="FFFF66"/>
                </a:solidFill>
              </a:rPr>
              <a:t> true </a:t>
            </a:r>
            <a:r>
              <a:rPr lang="en-US" b="1" dirty="0" err="1">
                <a:solidFill>
                  <a:srgbClr val="FFFF66"/>
                </a:solidFill>
              </a:rPr>
              <a:t>nếu</a:t>
            </a:r>
            <a:r>
              <a:rPr lang="en-US" b="1" dirty="0">
                <a:solidFill>
                  <a:srgbClr val="FFFF66"/>
                </a:solidFill>
              </a:rPr>
              <a:t> </a:t>
            </a:r>
            <a:r>
              <a:rPr lang="en-US" b="1" dirty="0" err="1">
                <a:solidFill>
                  <a:srgbClr val="FFFF66"/>
                </a:solidFill>
              </a:rPr>
              <a:t>xóa</a:t>
            </a:r>
            <a:r>
              <a:rPr lang="en-US" b="1" dirty="0">
                <a:solidFill>
                  <a:srgbClr val="FFFF66"/>
                </a:solidFill>
              </a:rPr>
              <a:t> </a:t>
            </a:r>
            <a:r>
              <a:rPr lang="en-US" b="1" dirty="0" err="1">
                <a:solidFill>
                  <a:srgbClr val="FFFF66"/>
                </a:solidFill>
              </a:rPr>
              <a:t>thành</a:t>
            </a:r>
            <a:r>
              <a:rPr lang="en-US" b="1" dirty="0">
                <a:solidFill>
                  <a:srgbClr val="FFFF66"/>
                </a:solidFill>
              </a:rPr>
              <a:t> </a:t>
            </a:r>
            <a:r>
              <a:rPr lang="en-US" b="1" dirty="0" err="1">
                <a:solidFill>
                  <a:srgbClr val="FFFF66"/>
                </a:solidFill>
              </a:rPr>
              <a:t>công</a:t>
            </a:r>
            <a:endParaRPr lang="en-US" b="1" dirty="0">
              <a:solidFill>
                <a:srgbClr val="FFFF66"/>
              </a:solidFill>
            </a:endParaRPr>
          </a:p>
          <a:p>
            <a:pPr marL="45720" indent="0" algn="just">
              <a:buNone/>
            </a:pPr>
            <a:r>
              <a:rPr lang="en-US" b="1" dirty="0">
                <a:solidFill>
                  <a:srgbClr val="FFFF66"/>
                </a:solidFill>
              </a:rPr>
              <a:t>	//Ng</a:t>
            </a:r>
            <a:r>
              <a:rPr lang="vi-VN" b="1" dirty="0">
                <a:solidFill>
                  <a:srgbClr val="FFFF66"/>
                </a:solidFill>
              </a:rPr>
              <a:t>ư</a:t>
            </a:r>
            <a:r>
              <a:rPr lang="en-US" b="1" dirty="0" err="1">
                <a:solidFill>
                  <a:srgbClr val="FFFF66"/>
                </a:solidFill>
              </a:rPr>
              <a:t>ợc</a:t>
            </a:r>
            <a:r>
              <a:rPr lang="en-US" b="1" dirty="0">
                <a:solidFill>
                  <a:srgbClr val="FFFF66"/>
                </a:solidFill>
              </a:rPr>
              <a:t> </a:t>
            </a:r>
            <a:r>
              <a:rPr lang="en-US" b="1" dirty="0" err="1">
                <a:solidFill>
                  <a:srgbClr val="FFFF66"/>
                </a:solidFill>
              </a:rPr>
              <a:t>lại</a:t>
            </a:r>
            <a:r>
              <a:rPr lang="en-US" b="1" dirty="0">
                <a:solidFill>
                  <a:srgbClr val="FFFF66"/>
                </a:solidFill>
              </a:rPr>
              <a:t> </a:t>
            </a:r>
            <a:r>
              <a:rPr lang="en-US" b="1" dirty="0" err="1">
                <a:solidFill>
                  <a:srgbClr val="FFFF66"/>
                </a:solidFill>
              </a:rPr>
              <a:t>trả</a:t>
            </a:r>
            <a:r>
              <a:rPr lang="en-US" b="1" dirty="0">
                <a:solidFill>
                  <a:srgbClr val="FFFF66"/>
                </a:solidFill>
              </a:rPr>
              <a:t> </a:t>
            </a:r>
            <a:r>
              <a:rPr lang="en-US" b="1" dirty="0" err="1">
                <a:solidFill>
                  <a:srgbClr val="FFFF66"/>
                </a:solidFill>
              </a:rPr>
              <a:t>về</a:t>
            </a:r>
            <a:r>
              <a:rPr lang="en-US" b="1" dirty="0">
                <a:solidFill>
                  <a:srgbClr val="FFFF66"/>
                </a:solidFill>
              </a:rPr>
              <a:t> false</a:t>
            </a:r>
          </a:p>
          <a:p>
            <a:pPr marL="45720" indent="0" algn="just">
              <a:buNone/>
            </a:pPr>
            <a:r>
              <a:rPr lang="en-US" dirty="0"/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646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Vấn đề kiểu dữ liệu tĩnh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12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838200" y="1828800"/>
            <a:ext cx="7162800" cy="2362200"/>
            <a:chOff x="381000" y="1676400"/>
            <a:chExt cx="7162800" cy="2362200"/>
          </a:xfrm>
        </p:grpSpPr>
        <p:sp>
          <p:nvSpPr>
            <p:cNvPr id="4" name="Folded Corner 3"/>
            <p:cNvSpPr/>
            <p:nvPr/>
          </p:nvSpPr>
          <p:spPr>
            <a:xfrm>
              <a:off x="838200" y="2209800"/>
              <a:ext cx="6705600" cy="1828800"/>
            </a:xfrm>
            <a:prstGeom prst="folded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3600"/>
                <a:t>Độ phức tạp của chèn/ xóa </a:t>
              </a:r>
            </a:p>
            <a:p>
              <a:pPr algn="r"/>
              <a:r>
                <a:rPr lang="en-US" sz="3600"/>
                <a:t>trên mảng 1 chiều là O(n)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381000" y="1676400"/>
              <a:ext cx="1752600" cy="1752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  <a:reflection blurRad="6350" stA="50000" endA="300" endPos="90000" dir="5400000" sy="-100000" algn="bl" rotWithShape="0"/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800" b="1" u="dbl">
                  <a:latin typeface=".VnAristote" pitchFamily="34" charset="0"/>
                </a:rPr>
                <a:t>i</a:t>
              </a:r>
              <a:endParaRPr lang="en-US" b="1" u="dbl">
                <a:latin typeface=".VnAristote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4593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46151"/>
            <a:ext cx="8229600" cy="3321049"/>
          </a:xfrm>
          <a:solidFill>
            <a:schemeClr val="accent4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txBody>
          <a:bodyPr>
            <a:normAutofit/>
          </a:bodyPr>
          <a:lstStyle/>
          <a:p>
            <a:pPr marL="347663" indent="-301625"/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quyết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vấn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đề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phức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tạp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khi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chèn</a:t>
            </a:r>
            <a:r>
              <a:rPr lang="en-US" dirty="0">
                <a:solidFill>
                  <a:srgbClr val="0070C0"/>
                </a:solidFill>
              </a:rPr>
              <a:t>/ </a:t>
            </a:r>
            <a:r>
              <a:rPr lang="en-US" dirty="0" err="1">
                <a:solidFill>
                  <a:srgbClr val="0070C0"/>
                </a:solidFill>
              </a:rPr>
              <a:t>xóa</a:t>
            </a:r>
            <a:r>
              <a:rPr lang="en-US" dirty="0">
                <a:solidFill>
                  <a:srgbClr val="0070C0"/>
                </a:solidFill>
              </a:rPr>
              <a:t>?</a:t>
            </a:r>
          </a:p>
          <a:p>
            <a:pPr marL="347663" indent="-301625"/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quyết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vấn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đề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giới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hạn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kích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thước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vùng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nhớ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tối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đa</a:t>
            </a:r>
            <a:r>
              <a:rPr lang="en-US" dirty="0">
                <a:solidFill>
                  <a:srgbClr val="0070C0"/>
                </a:solidFill>
              </a:rPr>
              <a:t>?</a:t>
            </a:r>
          </a:p>
          <a:p>
            <a:pPr marL="347663" indent="-301625"/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quyết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vấn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đề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vùng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nhớ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không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liên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tục</a:t>
            </a:r>
            <a:r>
              <a:rPr lang="en-US" dirty="0">
                <a:solidFill>
                  <a:srgbClr val="0070C0"/>
                </a:solidFill>
              </a:rPr>
              <a:t>?</a:t>
            </a:r>
          </a:p>
          <a:p>
            <a:pPr marL="347663" indent="-301625"/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quyết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vấn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đề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phóng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vùng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nhớ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khi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không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cần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dùng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đến</a:t>
            </a:r>
            <a:r>
              <a:rPr lang="en-US" dirty="0">
                <a:solidFill>
                  <a:srgbClr val="0070C0"/>
                </a:solidFill>
              </a:rPr>
              <a:t>?</a:t>
            </a:r>
            <a:endParaRPr lang="en-US" dirty="0"/>
          </a:p>
          <a:p>
            <a:pPr marL="347663" indent="-301625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13</a:t>
            </a:fld>
            <a:endParaRPr lang="en-US"/>
          </a:p>
        </p:txBody>
      </p:sp>
      <p:sp>
        <p:nvSpPr>
          <p:cNvPr id="2" name="Down Arrow 1"/>
          <p:cNvSpPr/>
          <p:nvPr/>
        </p:nvSpPr>
        <p:spPr>
          <a:xfrm>
            <a:off x="3810000" y="4267200"/>
            <a:ext cx="1219200" cy="76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457200" y="5060951"/>
            <a:ext cx="8229600" cy="95884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96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89888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64208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6596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8600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87752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8" indent="0" algn="ctr">
              <a:buNone/>
            </a:pPr>
            <a:endParaRPr lang="en-US" sz="1050" b="1" dirty="0">
              <a:solidFill>
                <a:srgbClr val="0070C0"/>
              </a:solidFill>
            </a:endParaRPr>
          </a:p>
          <a:p>
            <a:pPr marL="46038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DÙNG CẤU TRÚC DỮ LIỆU ĐỘNG</a:t>
            </a:r>
          </a:p>
        </p:txBody>
      </p:sp>
    </p:spTree>
    <p:extLst>
      <p:ext uri="{BB962C8B-B14F-4D97-AF65-F5344CB8AC3E}">
        <p14:creationId xmlns:p14="http://schemas.microsoft.com/office/powerpoint/2010/main" val="99459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 animBg="1"/>
      <p:bldP spid="2" grpId="0" animBg="1"/>
      <p:bldP spid="16" grpId="0" build="p" animBg="1"/>
      <p:bldP spid="1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856060" y="76200"/>
            <a:ext cx="7429499" cy="1478570"/>
          </a:xfrm>
        </p:spPr>
        <p:txBody>
          <a:bodyPr/>
          <a:lstStyle/>
          <a:p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(DSLK)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14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501900" y="1447800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2501900" y="1905000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/>
          </a:p>
        </p:txBody>
      </p:sp>
      <p:sp>
        <p:nvSpPr>
          <p:cNvPr id="6" name="Rectangle 5"/>
          <p:cNvSpPr/>
          <p:nvPr/>
        </p:nvSpPr>
        <p:spPr>
          <a:xfrm>
            <a:off x="2501900" y="2347686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2501900" y="2804886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2501900" y="3247572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2501900" y="3704772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/>
          </a:p>
        </p:txBody>
      </p:sp>
      <p:sp>
        <p:nvSpPr>
          <p:cNvPr id="10" name="Rectangle 9"/>
          <p:cNvSpPr/>
          <p:nvPr/>
        </p:nvSpPr>
        <p:spPr>
          <a:xfrm>
            <a:off x="2501900" y="4147458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01900" y="4604658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01900" y="5058228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01900" y="5515428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01900" y="5958114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01900" y="6415314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4</a:t>
            </a:r>
          </a:p>
        </p:txBody>
      </p:sp>
      <p:cxnSp>
        <p:nvCxnSpPr>
          <p:cNvPr id="16" name="Curved Connector 15"/>
          <p:cNvCxnSpPr>
            <a:stCxn id="2" idx="3"/>
            <a:endCxn id="7" idx="3"/>
          </p:cNvCxnSpPr>
          <p:nvPr/>
        </p:nvCxnSpPr>
        <p:spPr>
          <a:xfrm>
            <a:off x="5245100" y="1638300"/>
            <a:ext cx="12700" cy="1357086"/>
          </a:xfrm>
          <a:prstGeom prst="curvedConnector3">
            <a:avLst>
              <a:gd name="adj1" fmla="val 1800000"/>
            </a:avLst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/>
          <p:cNvCxnSpPr/>
          <p:nvPr/>
        </p:nvCxnSpPr>
        <p:spPr>
          <a:xfrm>
            <a:off x="5238750" y="2995386"/>
            <a:ext cx="12700" cy="1357086"/>
          </a:xfrm>
          <a:prstGeom prst="curvedConnector3">
            <a:avLst>
              <a:gd name="adj1" fmla="val 1800000"/>
            </a:avLst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/>
          <p:cNvCxnSpPr>
            <a:stCxn id="10" idx="3"/>
            <a:endCxn id="15" idx="3"/>
          </p:cNvCxnSpPr>
          <p:nvPr/>
        </p:nvCxnSpPr>
        <p:spPr>
          <a:xfrm>
            <a:off x="5245100" y="4337958"/>
            <a:ext cx="12700" cy="2267856"/>
          </a:xfrm>
          <a:prstGeom prst="curvedConnector3">
            <a:avLst>
              <a:gd name="adj1" fmla="val 14600000"/>
            </a:avLst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/>
          <p:cNvCxnSpPr>
            <a:stCxn id="8" idx="1"/>
            <a:endCxn id="13" idx="1"/>
          </p:cNvCxnSpPr>
          <p:nvPr/>
        </p:nvCxnSpPr>
        <p:spPr>
          <a:xfrm rot="10800000" flipV="1">
            <a:off x="2501900" y="3438072"/>
            <a:ext cx="12700" cy="2267856"/>
          </a:xfrm>
          <a:prstGeom prst="curvedConnector3">
            <a:avLst>
              <a:gd name="adj1" fmla="val 11171425"/>
            </a:avLst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/>
          <p:cNvCxnSpPr>
            <a:stCxn id="6" idx="1"/>
            <a:endCxn id="8" idx="1"/>
          </p:cNvCxnSpPr>
          <p:nvPr/>
        </p:nvCxnSpPr>
        <p:spPr>
          <a:xfrm rot="10800000" flipV="1">
            <a:off x="2501900" y="2538186"/>
            <a:ext cx="12700" cy="899886"/>
          </a:xfrm>
          <a:prstGeom prst="curvedConnector3">
            <a:avLst>
              <a:gd name="adj1" fmla="val 1800000"/>
            </a:avLst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6" idx="3"/>
            <a:endCxn id="12" idx="3"/>
          </p:cNvCxnSpPr>
          <p:nvPr/>
        </p:nvCxnSpPr>
        <p:spPr>
          <a:xfrm>
            <a:off x="5245100" y="2538186"/>
            <a:ext cx="12700" cy="2710542"/>
          </a:xfrm>
          <a:prstGeom prst="curvedConnector3">
            <a:avLst>
              <a:gd name="adj1" fmla="val 12771425"/>
            </a:avLst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/>
          <p:cNvCxnSpPr>
            <a:stCxn id="12" idx="3"/>
            <a:endCxn id="14" idx="3"/>
          </p:cNvCxnSpPr>
          <p:nvPr/>
        </p:nvCxnSpPr>
        <p:spPr>
          <a:xfrm>
            <a:off x="5245100" y="5248728"/>
            <a:ext cx="12700" cy="899886"/>
          </a:xfrm>
          <a:prstGeom prst="curvedConnector3">
            <a:avLst>
              <a:gd name="adj1" fmla="val 5114283"/>
            </a:avLst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/>
          <p:cNvCxnSpPr>
            <a:stCxn id="11" idx="1"/>
            <a:endCxn id="14" idx="1"/>
          </p:cNvCxnSpPr>
          <p:nvPr/>
        </p:nvCxnSpPr>
        <p:spPr>
          <a:xfrm rot="10800000" flipV="1">
            <a:off x="2501900" y="4795158"/>
            <a:ext cx="12700" cy="1353456"/>
          </a:xfrm>
          <a:prstGeom prst="curvedConnector3">
            <a:avLst>
              <a:gd name="adj1" fmla="val 5114283"/>
            </a:avLst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13" idx="1"/>
            <a:endCxn id="15" idx="1"/>
          </p:cNvCxnSpPr>
          <p:nvPr/>
        </p:nvCxnSpPr>
        <p:spPr>
          <a:xfrm rot="10800000" flipV="1">
            <a:off x="2501900" y="5705928"/>
            <a:ext cx="12700" cy="899886"/>
          </a:xfrm>
          <a:prstGeom prst="curvedConnector3">
            <a:avLst>
              <a:gd name="adj1" fmla="val 1800000"/>
            </a:avLst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lded Corner 2"/>
          <p:cNvSpPr/>
          <p:nvPr/>
        </p:nvSpPr>
        <p:spPr>
          <a:xfrm>
            <a:off x="6063343" y="1295400"/>
            <a:ext cx="2971800" cy="1509486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 </a:t>
            </a:r>
            <a:r>
              <a:rPr lang="en-US" sz="2800" dirty="0" err="1"/>
              <a:t>kết</a:t>
            </a:r>
            <a:r>
              <a:rPr lang="en-US" sz="2800" dirty="0"/>
              <a:t> </a:t>
            </a:r>
            <a:r>
              <a:rPr lang="en-US" sz="2800" dirty="0" err="1"/>
              <a:t>dính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nhau</a:t>
            </a:r>
            <a:r>
              <a:rPr lang="en-US" sz="2800" dirty="0"/>
              <a:t> </a:t>
            </a:r>
            <a:r>
              <a:rPr lang="en-US" sz="2800" dirty="0" err="1"/>
              <a:t>bằng</a:t>
            </a:r>
            <a:r>
              <a:rPr lang="en-US" sz="2800" dirty="0"/>
              <a:t> “</a:t>
            </a:r>
            <a:r>
              <a:rPr lang="en-US" sz="2800" dirty="0" err="1"/>
              <a:t>sợi</a:t>
            </a:r>
            <a:r>
              <a:rPr lang="en-US" sz="2800" dirty="0"/>
              <a:t> </a:t>
            </a:r>
            <a:r>
              <a:rPr lang="en-US" sz="2800" dirty="0" err="1"/>
              <a:t>dây</a:t>
            </a:r>
            <a:r>
              <a:rPr lang="en-US" sz="2800" dirty="0"/>
              <a:t> </a:t>
            </a:r>
            <a:r>
              <a:rPr lang="en-US" sz="2800" dirty="0" err="1"/>
              <a:t>liên</a:t>
            </a:r>
            <a:r>
              <a:rPr lang="en-US" sz="2800" dirty="0"/>
              <a:t> </a:t>
            </a:r>
            <a:r>
              <a:rPr lang="en-US" sz="2800" dirty="0" err="1"/>
              <a:t>kết</a:t>
            </a:r>
            <a:r>
              <a:rPr lang="en-US" sz="2800" dirty="0"/>
              <a:t>”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843314" y="1400628"/>
            <a:ext cx="685800" cy="457200"/>
            <a:chOff x="1600200" y="1415142"/>
            <a:chExt cx="685800" cy="457200"/>
          </a:xfrm>
          <a:solidFill>
            <a:srgbClr val="002060"/>
          </a:solidFill>
        </p:grpSpPr>
        <p:cxnSp>
          <p:nvCxnSpPr>
            <p:cNvPr id="18" name="Straight Arrow Connector 17"/>
            <p:cNvCxnSpPr/>
            <p:nvPr/>
          </p:nvCxnSpPr>
          <p:spPr>
            <a:xfrm>
              <a:off x="2021104" y="1676400"/>
              <a:ext cx="264896" cy="0"/>
            </a:xfrm>
            <a:prstGeom prst="straightConnector1">
              <a:avLst/>
            </a:prstGeom>
            <a:grpFill/>
            <a:ln w="381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/>
            <p:cNvSpPr/>
            <p:nvPr/>
          </p:nvSpPr>
          <p:spPr>
            <a:xfrm>
              <a:off x="1600200" y="1415142"/>
              <a:ext cx="457200" cy="457200"/>
            </a:xfrm>
            <a:prstGeom prst="ellipse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181600" y="4573814"/>
            <a:ext cx="774700" cy="457200"/>
            <a:chOff x="5245100" y="4573814"/>
            <a:chExt cx="774700" cy="457200"/>
          </a:xfrm>
        </p:grpSpPr>
        <p:sp>
          <p:nvSpPr>
            <p:cNvPr id="28" name="Flowchart: Summing Junction 27"/>
            <p:cNvSpPr/>
            <p:nvPr/>
          </p:nvSpPr>
          <p:spPr>
            <a:xfrm>
              <a:off x="5562600" y="4573814"/>
              <a:ext cx="457200" cy="457200"/>
            </a:xfrm>
            <a:prstGeom prst="flowChartSummingJunction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/>
            <p:cNvCxnSpPr>
              <a:stCxn id="11" idx="3"/>
              <a:endCxn id="28" idx="2"/>
            </p:cNvCxnSpPr>
            <p:nvPr/>
          </p:nvCxnSpPr>
          <p:spPr>
            <a:xfrm>
              <a:off x="5245100" y="4795158"/>
              <a:ext cx="317500" cy="725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395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1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1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1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0"/>
                            </p:stCondLst>
                            <p:childTnLst>
                              <p:par>
                                <p:cTn id="69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1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500"/>
                            </p:stCondLst>
                            <p:childTnLst>
                              <p:par>
                                <p:cTn id="79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1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0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500"/>
                            </p:stCondLst>
                            <p:childTnLst>
                              <p:par>
                                <p:cTn id="89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1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9000"/>
                            </p:stCondLst>
                            <p:childTnLst>
                              <p:par>
                                <p:cTn id="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9500"/>
                            </p:stCondLst>
                            <p:childTnLst>
                              <p:par>
                                <p:cTn id="99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1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15</a:t>
            </a:fld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027615" y="622119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2579914" y="6232074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4089400" y="6232074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/>
          <p:cNvSpPr/>
          <p:nvPr/>
        </p:nvSpPr>
        <p:spPr>
          <a:xfrm>
            <a:off x="5613400" y="6237516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7137400" y="6210306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878" name="Straight Connector 79877"/>
          <p:cNvCxnSpPr>
            <a:stCxn id="24" idx="3"/>
            <a:endCxn id="133" idx="1"/>
          </p:cNvCxnSpPr>
          <p:nvPr/>
        </p:nvCxnSpPr>
        <p:spPr>
          <a:xfrm>
            <a:off x="1851301" y="6449790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/>
          <p:nvPr/>
        </p:nvCxnSpPr>
        <p:spPr>
          <a:xfrm>
            <a:off x="3403600" y="6442537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4927600" y="646067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>
            <a:off x="6451600" y="646067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1649186" y="47172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1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649186" y="504372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/>
          </a:p>
        </p:txBody>
      </p:sp>
      <p:sp>
        <p:nvSpPr>
          <p:cNvPr id="157" name="Rectangle 156"/>
          <p:cNvSpPr/>
          <p:nvPr/>
        </p:nvSpPr>
        <p:spPr>
          <a:xfrm>
            <a:off x="1649186" y="947058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7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649186" y="1404258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649186" y="1846944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6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649186" y="2304144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/>
          </a:p>
        </p:txBody>
      </p:sp>
      <p:sp>
        <p:nvSpPr>
          <p:cNvPr id="161" name="Rectangle 160"/>
          <p:cNvSpPr/>
          <p:nvPr/>
        </p:nvSpPr>
        <p:spPr>
          <a:xfrm>
            <a:off x="1649186" y="2746830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3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649186" y="3204030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10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649186" y="3657600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8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649186" y="4114800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5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649186" y="4557486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9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649186" y="5014686"/>
            <a:ext cx="2743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4</a:t>
            </a:r>
          </a:p>
        </p:txBody>
      </p:sp>
      <p:cxnSp>
        <p:nvCxnSpPr>
          <p:cNvPr id="167" name="Curved Connector 166"/>
          <p:cNvCxnSpPr>
            <a:stCxn id="155" idx="3"/>
            <a:endCxn id="158" idx="3"/>
          </p:cNvCxnSpPr>
          <p:nvPr/>
        </p:nvCxnSpPr>
        <p:spPr>
          <a:xfrm>
            <a:off x="4392386" y="237672"/>
            <a:ext cx="12700" cy="1357086"/>
          </a:xfrm>
          <a:prstGeom prst="curvedConnector3">
            <a:avLst>
              <a:gd name="adj1" fmla="val 1800000"/>
            </a:avLst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urved Connector 167"/>
          <p:cNvCxnSpPr/>
          <p:nvPr/>
        </p:nvCxnSpPr>
        <p:spPr>
          <a:xfrm>
            <a:off x="4386036" y="1594758"/>
            <a:ext cx="12700" cy="1357086"/>
          </a:xfrm>
          <a:prstGeom prst="curvedConnector3">
            <a:avLst>
              <a:gd name="adj1" fmla="val 1800000"/>
            </a:avLst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urved Connector 168"/>
          <p:cNvCxnSpPr>
            <a:stCxn id="161" idx="3"/>
            <a:endCxn id="166" idx="3"/>
          </p:cNvCxnSpPr>
          <p:nvPr/>
        </p:nvCxnSpPr>
        <p:spPr>
          <a:xfrm>
            <a:off x="4392386" y="2937330"/>
            <a:ext cx="12700" cy="2267856"/>
          </a:xfrm>
          <a:prstGeom prst="curvedConnector3">
            <a:avLst>
              <a:gd name="adj1" fmla="val 14600000"/>
            </a:avLst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urved Connector 169"/>
          <p:cNvCxnSpPr>
            <a:stCxn id="159" idx="1"/>
            <a:endCxn id="164" idx="1"/>
          </p:cNvCxnSpPr>
          <p:nvPr/>
        </p:nvCxnSpPr>
        <p:spPr>
          <a:xfrm rot="10800000" flipV="1">
            <a:off x="1649186" y="2037444"/>
            <a:ext cx="12700" cy="2267856"/>
          </a:xfrm>
          <a:prstGeom prst="curvedConnector3">
            <a:avLst>
              <a:gd name="adj1" fmla="val 11171425"/>
            </a:avLst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urved Connector 170"/>
          <p:cNvCxnSpPr>
            <a:stCxn id="157" idx="1"/>
            <a:endCxn id="159" idx="1"/>
          </p:cNvCxnSpPr>
          <p:nvPr/>
        </p:nvCxnSpPr>
        <p:spPr>
          <a:xfrm rot="10800000" flipV="1">
            <a:off x="1649186" y="1137558"/>
            <a:ext cx="12700" cy="899886"/>
          </a:xfrm>
          <a:prstGeom prst="curvedConnector3">
            <a:avLst>
              <a:gd name="adj1" fmla="val 1800000"/>
            </a:avLst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urved Connector 171"/>
          <p:cNvCxnSpPr>
            <a:stCxn id="157" idx="3"/>
            <a:endCxn id="163" idx="3"/>
          </p:cNvCxnSpPr>
          <p:nvPr/>
        </p:nvCxnSpPr>
        <p:spPr>
          <a:xfrm>
            <a:off x="4392386" y="1137558"/>
            <a:ext cx="12700" cy="2710542"/>
          </a:xfrm>
          <a:prstGeom prst="curvedConnector3">
            <a:avLst>
              <a:gd name="adj1" fmla="val 12771425"/>
            </a:avLst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urved Connector 172"/>
          <p:cNvCxnSpPr>
            <a:stCxn id="163" idx="3"/>
            <a:endCxn id="165" idx="3"/>
          </p:cNvCxnSpPr>
          <p:nvPr/>
        </p:nvCxnSpPr>
        <p:spPr>
          <a:xfrm>
            <a:off x="4392386" y="3848100"/>
            <a:ext cx="12700" cy="899886"/>
          </a:xfrm>
          <a:prstGeom prst="curvedConnector3">
            <a:avLst>
              <a:gd name="adj1" fmla="val 5114283"/>
            </a:avLst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urved Connector 173"/>
          <p:cNvCxnSpPr>
            <a:stCxn id="162" idx="1"/>
            <a:endCxn id="165" idx="1"/>
          </p:cNvCxnSpPr>
          <p:nvPr/>
        </p:nvCxnSpPr>
        <p:spPr>
          <a:xfrm rot="10800000" flipV="1">
            <a:off x="1649186" y="3394530"/>
            <a:ext cx="12700" cy="1353456"/>
          </a:xfrm>
          <a:prstGeom prst="curvedConnector3">
            <a:avLst>
              <a:gd name="adj1" fmla="val 5114283"/>
            </a:avLst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urved Connector 174"/>
          <p:cNvCxnSpPr>
            <a:stCxn id="164" idx="1"/>
            <a:endCxn id="166" idx="1"/>
          </p:cNvCxnSpPr>
          <p:nvPr/>
        </p:nvCxnSpPr>
        <p:spPr>
          <a:xfrm rot="10800000" flipV="1">
            <a:off x="1649186" y="4305300"/>
            <a:ext cx="12700" cy="899886"/>
          </a:xfrm>
          <a:prstGeom prst="curvedConnector3">
            <a:avLst>
              <a:gd name="adj1" fmla="val 1800000"/>
            </a:avLst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" name="Group 175"/>
          <p:cNvGrpSpPr/>
          <p:nvPr/>
        </p:nvGrpSpPr>
        <p:grpSpPr>
          <a:xfrm>
            <a:off x="990600" y="0"/>
            <a:ext cx="685800" cy="457200"/>
            <a:chOff x="1600200" y="1415142"/>
            <a:chExt cx="685800" cy="457200"/>
          </a:xfrm>
          <a:solidFill>
            <a:srgbClr val="002060"/>
          </a:solidFill>
        </p:grpSpPr>
        <p:cxnSp>
          <p:nvCxnSpPr>
            <p:cNvPr id="177" name="Straight Arrow Connector 176"/>
            <p:cNvCxnSpPr/>
            <p:nvPr/>
          </p:nvCxnSpPr>
          <p:spPr>
            <a:xfrm>
              <a:off x="2021104" y="1676400"/>
              <a:ext cx="264896" cy="0"/>
            </a:xfrm>
            <a:prstGeom prst="straightConnector1">
              <a:avLst/>
            </a:prstGeom>
            <a:grpFill/>
            <a:ln w="381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Oval 177"/>
            <p:cNvSpPr/>
            <p:nvPr/>
          </p:nvSpPr>
          <p:spPr>
            <a:xfrm>
              <a:off x="1600200" y="1415142"/>
              <a:ext cx="457200" cy="457200"/>
            </a:xfrm>
            <a:prstGeom prst="ellipse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4316186" y="3173186"/>
            <a:ext cx="787400" cy="457200"/>
            <a:chOff x="5232400" y="4573814"/>
            <a:chExt cx="787400" cy="457200"/>
          </a:xfrm>
        </p:grpSpPr>
        <p:sp>
          <p:nvSpPr>
            <p:cNvPr id="180" name="Flowchart: Summing Junction 179"/>
            <p:cNvSpPr/>
            <p:nvPr/>
          </p:nvSpPr>
          <p:spPr>
            <a:xfrm>
              <a:off x="5562600" y="4573814"/>
              <a:ext cx="457200" cy="457200"/>
            </a:xfrm>
            <a:prstGeom prst="flowChartSummingJunction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1" name="Straight Arrow Connector 180"/>
            <p:cNvCxnSpPr>
              <a:stCxn id="162" idx="3"/>
              <a:endCxn id="180" idx="2"/>
            </p:cNvCxnSpPr>
            <p:nvPr/>
          </p:nvCxnSpPr>
          <p:spPr>
            <a:xfrm>
              <a:off x="5232400" y="4795158"/>
              <a:ext cx="330200" cy="725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881" name="Down Arrow Callout 79880"/>
          <p:cNvSpPr/>
          <p:nvPr/>
        </p:nvSpPr>
        <p:spPr>
          <a:xfrm>
            <a:off x="6324600" y="3657600"/>
            <a:ext cx="2743200" cy="2286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Để đơn giản hơn trong việc minh họa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924800" y="6206835"/>
            <a:ext cx="411843" cy="457200"/>
            <a:chOff x="7924800" y="6206835"/>
            <a:chExt cx="411843" cy="457200"/>
          </a:xfrm>
        </p:grpSpPr>
        <p:sp>
          <p:nvSpPr>
            <p:cNvPr id="61" name="Rectangle 60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3" name="Straight Connector 2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1899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33" grpId="0" animBg="1"/>
      <p:bldP spid="137" grpId="0" animBg="1"/>
      <p:bldP spid="141" grpId="0" animBg="1"/>
      <p:bldP spid="145" grpId="0" animBg="1"/>
      <p:bldP spid="7988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val 44"/>
          <p:cNvSpPr/>
          <p:nvPr/>
        </p:nvSpPr>
        <p:spPr>
          <a:xfrm>
            <a:off x="4038600" y="2667000"/>
            <a:ext cx="1600200" cy="16002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n-US" sz="2400" b="1">
                <a:solidFill>
                  <a:schemeClr val="accent1">
                    <a:lumMod val="50000"/>
                  </a:schemeClr>
                </a:solidFill>
              </a:rPr>
              <a:t>Node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32415" y="3135084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884714" y="31459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394200" y="31459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918200" y="31514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442200" y="312420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>
            <a:stCxn id="12" idx="3"/>
            <a:endCxn id="16" idx="1"/>
          </p:cNvCxnSpPr>
          <p:nvPr/>
        </p:nvCxnSpPr>
        <p:spPr>
          <a:xfrm>
            <a:off x="2156101" y="336368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708400" y="3356431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232400" y="33745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756400" y="33745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DSLK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16</a:t>
            </a:fld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471055" y="4857690"/>
            <a:ext cx="2757055" cy="1085910"/>
            <a:chOff x="214745" y="4724400"/>
            <a:chExt cx="2757055" cy="1085910"/>
          </a:xfrm>
        </p:grpSpPr>
        <p:sp>
          <p:nvSpPr>
            <p:cNvPr id="2" name="Rectangle 1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14745" y="5087080"/>
              <a:ext cx="6976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cxnSp>
        <p:nvCxnSpPr>
          <p:cNvPr id="38" name="Elbow Connector 37"/>
          <p:cNvCxnSpPr>
            <a:stCxn id="3" idx="0"/>
            <a:endCxn id="12" idx="2"/>
          </p:cNvCxnSpPr>
          <p:nvPr/>
        </p:nvCxnSpPr>
        <p:spPr>
          <a:xfrm rot="5400000" flipH="1" flipV="1">
            <a:off x="1032881" y="4298714"/>
            <a:ext cx="1417806" cy="494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43" idx="3"/>
            <a:endCxn id="28" idx="2"/>
          </p:cNvCxnSpPr>
          <p:nvPr/>
        </p:nvCxnSpPr>
        <p:spPr>
          <a:xfrm flipV="1">
            <a:off x="3076384" y="3581400"/>
            <a:ext cx="4777659" cy="1695390"/>
          </a:xfrm>
          <a:prstGeom prst="bentConnector2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/>
          <p:cNvGrpSpPr/>
          <p:nvPr/>
        </p:nvGrpSpPr>
        <p:grpSpPr>
          <a:xfrm>
            <a:off x="8265886" y="3133273"/>
            <a:ext cx="411843" cy="457200"/>
            <a:chOff x="7924800" y="6206835"/>
            <a:chExt cx="411843" cy="457200"/>
          </a:xfrm>
        </p:grpSpPr>
        <p:sp>
          <p:nvSpPr>
            <p:cNvPr id="49" name="Rectangle 48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6512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DSLK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3455672"/>
            <a:ext cx="7829550" cy="326580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 err="1"/>
              <a:t>Quản</a:t>
            </a:r>
            <a:r>
              <a:rPr lang="en-US" sz="2600" dirty="0"/>
              <a:t> </a:t>
            </a:r>
            <a:r>
              <a:rPr lang="en-US" sz="2600" dirty="0" err="1"/>
              <a:t>lý</a:t>
            </a:r>
            <a:r>
              <a:rPr lang="en-US" sz="2600" dirty="0"/>
              <a:t> </a:t>
            </a:r>
            <a:r>
              <a:rPr lang="en-US" sz="2600" dirty="0" err="1"/>
              <a:t>toàn</a:t>
            </a:r>
            <a:r>
              <a:rPr lang="en-US" sz="2600" dirty="0"/>
              <a:t> </a:t>
            </a:r>
            <a:r>
              <a:rPr lang="en-US" sz="2600" dirty="0" err="1"/>
              <a:t>bộ</a:t>
            </a:r>
            <a:r>
              <a:rPr lang="en-US" sz="2600" dirty="0"/>
              <a:t> </a:t>
            </a:r>
            <a:r>
              <a:rPr lang="en-US" sz="2600" dirty="0" err="1"/>
              <a:t>danh</a:t>
            </a:r>
            <a:r>
              <a:rPr lang="en-US" sz="2600" dirty="0"/>
              <a:t> </a:t>
            </a:r>
            <a:r>
              <a:rPr lang="en-US" sz="2600" dirty="0" err="1"/>
              <a:t>sách</a:t>
            </a:r>
            <a:r>
              <a:rPr lang="en-US" sz="2600" dirty="0"/>
              <a:t> </a:t>
            </a:r>
            <a:r>
              <a:rPr lang="en-US" sz="2600" dirty="0" err="1"/>
              <a:t>liên</a:t>
            </a:r>
            <a:r>
              <a:rPr lang="en-US" sz="2600" dirty="0"/>
              <a:t> </a:t>
            </a:r>
            <a:r>
              <a:rPr lang="en-US" sz="2600" dirty="0" err="1"/>
              <a:t>kết</a:t>
            </a:r>
            <a:r>
              <a:rPr lang="en-US" sz="2600" dirty="0"/>
              <a:t> </a:t>
            </a:r>
            <a:r>
              <a:rPr lang="en-US" sz="2600" dirty="0" err="1"/>
              <a:t>thông</a:t>
            </a:r>
            <a:r>
              <a:rPr lang="en-US" sz="2600" dirty="0"/>
              <a:t> qua </a:t>
            </a:r>
            <a:r>
              <a:rPr lang="en-US" sz="2600" dirty="0">
                <a:solidFill>
                  <a:srgbClr val="FF3300"/>
                </a:solidFill>
              </a:rPr>
              <a:t>first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600" dirty="0"/>
              <a:t>!!! </a:t>
            </a:r>
            <a:r>
              <a:rPr lang="en-US" sz="2600" dirty="0">
                <a:solidFill>
                  <a:srgbClr val="FF0000"/>
                </a:solidFill>
              </a:rPr>
              <a:t>first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node </a:t>
            </a:r>
            <a:r>
              <a:rPr lang="en-US" sz="2600" dirty="0" err="1"/>
              <a:t>đầu</a:t>
            </a:r>
            <a:r>
              <a:rPr lang="en-US" sz="2600" dirty="0"/>
              <a:t> </a:t>
            </a:r>
            <a:r>
              <a:rPr lang="en-US" sz="2600" dirty="0" err="1"/>
              <a:t>tiên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DSLK</a:t>
            </a:r>
          </a:p>
          <a:p>
            <a:pPr algn="just">
              <a:lnSpc>
                <a:spcPct val="150000"/>
              </a:lnSpc>
            </a:pP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thể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FF3300"/>
                </a:solidFill>
              </a:rPr>
              <a:t>sử</a:t>
            </a:r>
            <a:r>
              <a:rPr lang="en-US" sz="2600" dirty="0">
                <a:solidFill>
                  <a:srgbClr val="FF3300"/>
                </a:solidFill>
              </a:rPr>
              <a:t> </a:t>
            </a:r>
            <a:r>
              <a:rPr lang="en-US" sz="2600" dirty="0" err="1">
                <a:solidFill>
                  <a:srgbClr val="FF3300"/>
                </a:solidFill>
              </a:rPr>
              <a:t>dụng</a:t>
            </a:r>
            <a:r>
              <a:rPr lang="en-US" sz="2600" dirty="0">
                <a:solidFill>
                  <a:srgbClr val="FF3300"/>
                </a:solidFill>
              </a:rPr>
              <a:t> </a:t>
            </a:r>
            <a:r>
              <a:rPr lang="en-US" sz="2600" dirty="0" err="1">
                <a:solidFill>
                  <a:srgbClr val="FF3300"/>
                </a:solidFill>
              </a:rPr>
              <a:t>thêm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FF0000"/>
                </a:solidFill>
              </a:rPr>
              <a:t>last</a:t>
            </a:r>
            <a:r>
              <a:rPr lang="en-US" sz="2600" dirty="0"/>
              <a:t> (node cuối </a:t>
            </a:r>
            <a:r>
              <a:rPr lang="en-US" sz="2600" dirty="0" err="1"/>
              <a:t>cùng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DSLK) </a:t>
            </a:r>
            <a:r>
              <a:rPr lang="en-US" sz="2600" dirty="0" err="1"/>
              <a:t>cho</a:t>
            </a:r>
            <a:r>
              <a:rPr lang="en-US" sz="2600" dirty="0"/>
              <a:t> </a:t>
            </a:r>
            <a:r>
              <a:rPr lang="en-US" sz="2600" dirty="0" err="1"/>
              <a:t>trường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xử</a:t>
            </a:r>
            <a:r>
              <a:rPr lang="en-US" sz="2600" dirty="0"/>
              <a:t> </a:t>
            </a:r>
            <a:r>
              <a:rPr lang="en-US" sz="2600" dirty="0" err="1"/>
              <a:t>lý</a:t>
            </a:r>
            <a:r>
              <a:rPr lang="en-US" sz="2600" dirty="0"/>
              <a:t> </a:t>
            </a:r>
            <a:r>
              <a:rPr lang="en-US" sz="2600" dirty="0" err="1"/>
              <a:t>liên</a:t>
            </a:r>
            <a:r>
              <a:rPr lang="en-US" sz="2600" dirty="0"/>
              <a:t> </a:t>
            </a:r>
            <a:r>
              <a:rPr lang="en-US" sz="2600" dirty="0" err="1"/>
              <a:t>quan</a:t>
            </a:r>
            <a:r>
              <a:rPr lang="en-US" sz="2600" dirty="0"/>
              <a:t> </a:t>
            </a:r>
            <a:r>
              <a:rPr lang="en-US" sz="2600" dirty="0" err="1"/>
              <a:t>đến</a:t>
            </a:r>
            <a:r>
              <a:rPr lang="en-US" sz="2600" dirty="0"/>
              <a:t> node cuối </a:t>
            </a:r>
            <a:r>
              <a:rPr lang="en-US" sz="2600" dirty="0" err="1"/>
              <a:t>của</a:t>
            </a:r>
            <a:r>
              <a:rPr lang="en-US" sz="2600" dirty="0"/>
              <a:t> DSLK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17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B0A61A-5E9D-4DCD-820E-88F43C5E6078}"/>
              </a:ext>
            </a:extLst>
          </p:cNvPr>
          <p:cNvGrpSpPr/>
          <p:nvPr/>
        </p:nvGrpSpPr>
        <p:grpSpPr>
          <a:xfrm>
            <a:off x="2667000" y="1131425"/>
            <a:ext cx="6086928" cy="2296866"/>
            <a:chOff x="471055" y="511176"/>
            <a:chExt cx="8206674" cy="348327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CCE653D-C5CA-47D4-8F60-384F0A3F0BEB}"/>
                </a:ext>
              </a:extLst>
            </p:cNvPr>
            <p:cNvSpPr/>
            <p:nvPr/>
          </p:nvSpPr>
          <p:spPr>
            <a:xfrm>
              <a:off x="4038600" y="511176"/>
              <a:ext cx="1600200" cy="1600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00" b="1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 algn="ctr"/>
              <a:endParaRPr lang="en-US" sz="2200" b="1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 algn="ctr"/>
              <a:r>
                <a:rPr lang="en-US" sz="2200" b="1" dirty="0">
                  <a:solidFill>
                    <a:schemeClr val="accent1">
                      <a:lumMod val="50000"/>
                    </a:schemeClr>
                  </a:solidFill>
                </a:rPr>
                <a:t>Node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871FEB-A47B-4A90-926D-E56F6BDD0D8C}"/>
                </a:ext>
              </a:extLst>
            </p:cNvPr>
            <p:cNvSpPr/>
            <p:nvPr/>
          </p:nvSpPr>
          <p:spPr>
            <a:xfrm>
              <a:off x="1332415" y="979260"/>
              <a:ext cx="823686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D7FB7A9-6DC5-4B36-B635-4D3C8D552673}"/>
                </a:ext>
              </a:extLst>
            </p:cNvPr>
            <p:cNvSpPr/>
            <p:nvPr/>
          </p:nvSpPr>
          <p:spPr>
            <a:xfrm>
              <a:off x="2884714" y="990144"/>
              <a:ext cx="823686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8D3C713-B1D4-4063-BB82-F449AE1B1F17}"/>
                </a:ext>
              </a:extLst>
            </p:cNvPr>
            <p:cNvSpPr/>
            <p:nvPr/>
          </p:nvSpPr>
          <p:spPr>
            <a:xfrm>
              <a:off x="4394200" y="990144"/>
              <a:ext cx="823686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DF51BCC-B296-4465-B263-A8B3F2D7B1A3}"/>
                </a:ext>
              </a:extLst>
            </p:cNvPr>
            <p:cNvSpPr/>
            <p:nvPr/>
          </p:nvSpPr>
          <p:spPr>
            <a:xfrm>
              <a:off x="5918200" y="995586"/>
              <a:ext cx="823686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A301F60-8A3A-4E24-8EE6-85A9ACB9008E}"/>
                </a:ext>
              </a:extLst>
            </p:cNvPr>
            <p:cNvSpPr/>
            <p:nvPr/>
          </p:nvSpPr>
          <p:spPr>
            <a:xfrm>
              <a:off x="7442200" y="968376"/>
              <a:ext cx="823686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8E552C-F678-4E22-92C5-FCB9F7AB1A51}"/>
                </a:ext>
              </a:extLst>
            </p:cNvPr>
            <p:cNvCxnSpPr>
              <a:stCxn id="6" idx="3"/>
              <a:endCxn id="7" idx="1"/>
            </p:cNvCxnSpPr>
            <p:nvPr/>
          </p:nvCxnSpPr>
          <p:spPr>
            <a:xfrm>
              <a:off x="2156101" y="1207860"/>
              <a:ext cx="728613" cy="10884"/>
            </a:xfrm>
            <a:prstGeom prst="line">
              <a:avLst/>
            </a:prstGeom>
            <a:ln w="38100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3FACE25-C491-4931-A71B-72B1E26290CB}"/>
                </a:ext>
              </a:extLst>
            </p:cNvPr>
            <p:cNvCxnSpPr/>
            <p:nvPr/>
          </p:nvCxnSpPr>
          <p:spPr>
            <a:xfrm>
              <a:off x="3708400" y="1200607"/>
              <a:ext cx="728613" cy="10884"/>
            </a:xfrm>
            <a:prstGeom prst="line">
              <a:avLst/>
            </a:prstGeom>
            <a:ln w="38100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8571AAE-BC83-4810-B98C-1F4D2BB60AE1}"/>
                </a:ext>
              </a:extLst>
            </p:cNvPr>
            <p:cNvCxnSpPr/>
            <p:nvPr/>
          </p:nvCxnSpPr>
          <p:spPr>
            <a:xfrm>
              <a:off x="5232400" y="1218744"/>
              <a:ext cx="728613" cy="10884"/>
            </a:xfrm>
            <a:prstGeom prst="line">
              <a:avLst/>
            </a:prstGeom>
            <a:ln w="38100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89C5043-DA63-42FF-942E-6B29D78CDC52}"/>
                </a:ext>
              </a:extLst>
            </p:cNvPr>
            <p:cNvCxnSpPr/>
            <p:nvPr/>
          </p:nvCxnSpPr>
          <p:spPr>
            <a:xfrm>
              <a:off x="6756400" y="1218744"/>
              <a:ext cx="728613" cy="10884"/>
            </a:xfrm>
            <a:prstGeom prst="line">
              <a:avLst/>
            </a:prstGeom>
            <a:ln w="38100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CE6A96F-7338-47B3-91BB-21A6F1316D7B}"/>
                </a:ext>
              </a:extLst>
            </p:cNvPr>
            <p:cNvGrpSpPr/>
            <p:nvPr/>
          </p:nvGrpSpPr>
          <p:grpSpPr>
            <a:xfrm>
              <a:off x="471055" y="2701866"/>
              <a:ext cx="2757055" cy="1292580"/>
              <a:chOff x="214745" y="4724400"/>
              <a:chExt cx="2757055" cy="129258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96AE247-7D65-4575-AC3E-5776F81D2419}"/>
                  </a:ext>
                </a:extLst>
              </p:cNvPr>
              <p:cNvSpPr/>
              <p:nvPr/>
            </p:nvSpPr>
            <p:spPr>
              <a:xfrm>
                <a:off x="987701" y="4724400"/>
                <a:ext cx="1984099" cy="12440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201EA71-754E-4F28-BC5C-CB95EFB65E10}"/>
                  </a:ext>
                </a:extLst>
              </p:cNvPr>
              <p:cNvSpPr/>
              <p:nvPr/>
            </p:nvSpPr>
            <p:spPr>
              <a:xfrm>
                <a:off x="1140101" y="4876800"/>
                <a:ext cx="685800" cy="5334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BFD37A7-EF7B-4253-ADA0-0B2745AFB59D}"/>
                  </a:ext>
                </a:extLst>
              </p:cNvPr>
              <p:cNvSpPr txBox="1"/>
              <p:nvPr/>
            </p:nvSpPr>
            <p:spPr>
              <a:xfrm>
                <a:off x="1053620" y="5410200"/>
                <a:ext cx="815739" cy="6067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bg1"/>
                    </a:solidFill>
                  </a:rPr>
                  <a:t>first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3A42015-94FC-4020-AEEC-F4CB4182A16C}"/>
                  </a:ext>
                </a:extLst>
              </p:cNvPr>
              <p:cNvSpPr/>
              <p:nvPr/>
            </p:nvSpPr>
            <p:spPr>
              <a:xfrm>
                <a:off x="2134274" y="4876800"/>
                <a:ext cx="685800" cy="5334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AF21A73-D802-46BC-A1E3-85A0EB78D45D}"/>
                  </a:ext>
                </a:extLst>
              </p:cNvPr>
              <p:cNvSpPr txBox="1"/>
              <p:nvPr/>
            </p:nvSpPr>
            <p:spPr>
              <a:xfrm>
                <a:off x="2114028" y="5410200"/>
                <a:ext cx="757299" cy="6067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last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5D23AF0-210B-44B2-BC6D-D7D17BDFCEC3}"/>
                  </a:ext>
                </a:extLst>
              </p:cNvPr>
              <p:cNvSpPr txBox="1"/>
              <p:nvPr/>
            </p:nvSpPr>
            <p:spPr>
              <a:xfrm>
                <a:off x="214745" y="5087080"/>
                <a:ext cx="6976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/>
                  <a:t>List</a:t>
                </a:r>
              </a:p>
            </p:txBody>
          </p:sp>
        </p:grpSp>
        <p:cxnSp>
          <p:nvCxnSpPr>
            <p:cNvPr id="22" name="Elbow Connector 37">
              <a:extLst>
                <a:ext uri="{FF2B5EF4-FFF2-40B4-BE49-F238E27FC236}">
                  <a16:creationId xmlns:a16="http://schemas.microsoft.com/office/drawing/2014/main" id="{3FB91A75-DB88-4BF8-BE7A-44AE66AF7A90}"/>
                </a:ext>
              </a:extLst>
            </p:cNvPr>
            <p:cNvCxnSpPr>
              <a:stCxn id="17" idx="0"/>
              <a:endCxn id="6" idx="2"/>
            </p:cNvCxnSpPr>
            <p:nvPr/>
          </p:nvCxnSpPr>
          <p:spPr>
            <a:xfrm rot="5400000" flipH="1" flipV="1">
              <a:off x="1032881" y="2142890"/>
              <a:ext cx="1417806" cy="4947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lbow Connector 46">
              <a:extLst>
                <a:ext uri="{FF2B5EF4-FFF2-40B4-BE49-F238E27FC236}">
                  <a16:creationId xmlns:a16="http://schemas.microsoft.com/office/drawing/2014/main" id="{BDF49EB6-DBBA-4640-A149-AFEF22D567BB}"/>
                </a:ext>
              </a:extLst>
            </p:cNvPr>
            <p:cNvCxnSpPr>
              <a:stCxn id="19" idx="3"/>
              <a:endCxn id="10" idx="2"/>
            </p:cNvCxnSpPr>
            <p:nvPr/>
          </p:nvCxnSpPr>
          <p:spPr>
            <a:xfrm flipV="1">
              <a:off x="3076384" y="1425576"/>
              <a:ext cx="4777659" cy="1695390"/>
            </a:xfrm>
            <a:prstGeom prst="bentConnector2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316DED8-1DCA-4AF1-BEAB-065EE3F9F25A}"/>
                </a:ext>
              </a:extLst>
            </p:cNvPr>
            <p:cNvGrpSpPr/>
            <p:nvPr/>
          </p:nvGrpSpPr>
          <p:grpSpPr>
            <a:xfrm>
              <a:off x="8265886" y="977449"/>
              <a:ext cx="411843" cy="457200"/>
              <a:chOff x="7924800" y="6206835"/>
              <a:chExt cx="411843" cy="45720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D4D2367-8D78-48C9-9CBA-A39D35186710}"/>
                  </a:ext>
                </a:extLst>
              </p:cNvPr>
              <p:cNvSpPr/>
              <p:nvPr/>
            </p:nvSpPr>
            <p:spPr>
              <a:xfrm>
                <a:off x="7924800" y="6206835"/>
                <a:ext cx="411843" cy="4572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1A1BC096-0EC1-4DA3-A6C1-76EA9C3DD66C}"/>
                  </a:ext>
                </a:extLst>
              </p:cNvPr>
              <p:cNvGrpSpPr/>
              <p:nvPr/>
            </p:nvGrpSpPr>
            <p:grpSpPr>
              <a:xfrm>
                <a:off x="7924800" y="6206835"/>
                <a:ext cx="411843" cy="457200"/>
                <a:chOff x="7924800" y="6206835"/>
                <a:chExt cx="411843" cy="457200"/>
              </a:xfrm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0B488D33-00AC-4BB1-8D4E-E0E191CFD30B}"/>
                    </a:ext>
                  </a:extLst>
                </p:cNvPr>
                <p:cNvCxnSpPr/>
                <p:nvPr/>
              </p:nvCxnSpPr>
              <p:spPr>
                <a:xfrm flipH="1">
                  <a:off x="7961086" y="6206835"/>
                  <a:ext cx="375557" cy="457200"/>
                </a:xfrm>
                <a:prstGeom prst="line">
                  <a:avLst/>
                </a:prstGeom>
                <a:ln w="38100">
                  <a:solidFill>
                    <a:srgbClr val="FFFF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9D3CF16B-59C1-41FC-9CF7-E64240D7E8CA}"/>
                    </a:ext>
                  </a:extLst>
                </p:cNvPr>
                <p:cNvCxnSpPr/>
                <p:nvPr/>
              </p:nvCxnSpPr>
              <p:spPr>
                <a:xfrm>
                  <a:off x="7924800" y="6221190"/>
                  <a:ext cx="411843" cy="442845"/>
                </a:xfrm>
                <a:prstGeom prst="line">
                  <a:avLst/>
                </a:prstGeom>
                <a:ln w="38100">
                  <a:solidFill>
                    <a:srgbClr val="FFFF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045009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Node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604536" y="2593104"/>
            <a:ext cx="7886700" cy="40965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 err="1"/>
              <a:t>Tạo</a:t>
            </a:r>
            <a:r>
              <a:rPr lang="en-US" sz="2600" dirty="0"/>
              <a:t> </a:t>
            </a:r>
            <a:r>
              <a:rPr lang="en-US" sz="2600" dirty="0" err="1"/>
              <a:t>lập</a:t>
            </a:r>
            <a:r>
              <a:rPr lang="en-US" sz="2600" dirty="0"/>
              <a:t> </a:t>
            </a:r>
            <a:r>
              <a:rPr lang="en-US" sz="2600" dirty="0" err="1"/>
              <a:t>thông</a:t>
            </a:r>
            <a:r>
              <a:rPr lang="en-US" sz="2600" dirty="0"/>
              <a:t> qua </a:t>
            </a:r>
            <a:r>
              <a:rPr lang="en-US" sz="2600" dirty="0" err="1">
                <a:solidFill>
                  <a:srgbClr val="FF0000"/>
                </a:solidFill>
              </a:rPr>
              <a:t>cấp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phát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bộ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nhớ</a:t>
            </a:r>
            <a:r>
              <a:rPr lang="en-US" sz="2600" dirty="0">
                <a:solidFill>
                  <a:srgbClr val="FF0000"/>
                </a:solidFill>
              </a:rPr>
              <a:t> động</a:t>
            </a:r>
          </a:p>
          <a:p>
            <a:pPr>
              <a:lnSpc>
                <a:spcPct val="150000"/>
              </a:lnSpc>
            </a:pPr>
            <a:r>
              <a:rPr lang="en-US" sz="2600" dirty="0" err="1"/>
              <a:t>Mỗi</a:t>
            </a:r>
            <a:r>
              <a:rPr lang="en-US" sz="2600" dirty="0"/>
              <a:t> node </a:t>
            </a:r>
            <a:r>
              <a:rPr lang="en-US" sz="2600" dirty="0" err="1"/>
              <a:t>có</a:t>
            </a:r>
            <a:r>
              <a:rPr lang="en-US" sz="2600" dirty="0"/>
              <a:t> 2 </a:t>
            </a:r>
            <a:r>
              <a:rPr lang="en-US" sz="2600" dirty="0" err="1"/>
              <a:t>thành</a:t>
            </a:r>
            <a:r>
              <a:rPr lang="en-US" sz="2600" dirty="0"/>
              <a:t> </a:t>
            </a:r>
            <a:r>
              <a:rPr lang="en-US" sz="2600" dirty="0" err="1"/>
              <a:t>phần</a:t>
            </a:r>
            <a:r>
              <a:rPr lang="en-US" sz="2600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US" sz="2600" i="1" dirty="0" err="1"/>
              <a:t>Chứa</a:t>
            </a:r>
            <a:r>
              <a:rPr lang="en-US" sz="2600" i="1" dirty="0"/>
              <a:t> </a:t>
            </a:r>
            <a:r>
              <a:rPr lang="en-US" sz="2600" i="1" dirty="0" err="1"/>
              <a:t>dữ</a:t>
            </a:r>
            <a:r>
              <a:rPr lang="en-US" sz="2600" i="1" dirty="0"/>
              <a:t> </a:t>
            </a:r>
            <a:r>
              <a:rPr lang="en-US" sz="2600" i="1" dirty="0" err="1"/>
              <a:t>liệu</a:t>
            </a:r>
            <a:r>
              <a:rPr lang="en-US" sz="2600" i="1" dirty="0"/>
              <a:t> (</a:t>
            </a:r>
            <a:r>
              <a:rPr lang="en-US" sz="2600" i="1" dirty="0">
                <a:solidFill>
                  <a:srgbClr val="FF0000"/>
                </a:solidFill>
              </a:rPr>
              <a:t>data</a:t>
            </a:r>
            <a:r>
              <a:rPr lang="en-US" sz="2600" i="1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sz="2600" i="1" dirty="0" err="1"/>
              <a:t>Liên</a:t>
            </a:r>
            <a:r>
              <a:rPr lang="en-US" sz="2600" i="1" dirty="0"/>
              <a:t> </a:t>
            </a:r>
            <a:r>
              <a:rPr lang="en-US" sz="2600" i="1" dirty="0" err="1"/>
              <a:t>kết</a:t>
            </a:r>
            <a:r>
              <a:rPr lang="en-US" sz="2600" i="1" dirty="0"/>
              <a:t> </a:t>
            </a:r>
            <a:r>
              <a:rPr lang="en-US" sz="2600" i="1" dirty="0" err="1"/>
              <a:t>các</a:t>
            </a:r>
            <a:r>
              <a:rPr lang="en-US" sz="2600" i="1" dirty="0"/>
              <a:t> </a:t>
            </a:r>
            <a:r>
              <a:rPr lang="en-US" sz="2600" i="1" dirty="0" err="1"/>
              <a:t>phần</a:t>
            </a:r>
            <a:r>
              <a:rPr lang="en-US" sz="2600" i="1" dirty="0"/>
              <a:t> </a:t>
            </a:r>
            <a:r>
              <a:rPr lang="en-US" sz="2600" i="1" dirty="0" err="1"/>
              <a:t>tử</a:t>
            </a:r>
            <a:r>
              <a:rPr lang="en-US" sz="2600" i="1" dirty="0"/>
              <a:t> </a:t>
            </a:r>
            <a:r>
              <a:rPr lang="en-US" sz="2600" i="1" dirty="0" err="1"/>
              <a:t>với</a:t>
            </a:r>
            <a:r>
              <a:rPr lang="en-US" sz="2600" i="1" dirty="0"/>
              <a:t> </a:t>
            </a:r>
            <a:r>
              <a:rPr lang="en-US" sz="2600" i="1" dirty="0" err="1"/>
              <a:t>nhau</a:t>
            </a:r>
            <a:r>
              <a:rPr lang="en-US" sz="2600" i="1" dirty="0"/>
              <a:t> (</a:t>
            </a:r>
            <a:r>
              <a:rPr lang="en-US" sz="2600" i="1" dirty="0">
                <a:solidFill>
                  <a:srgbClr val="FF0000"/>
                </a:solidFill>
              </a:rPr>
              <a:t>link</a:t>
            </a:r>
            <a:r>
              <a:rPr lang="en-US" sz="2600" i="1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2600" dirty="0" err="1"/>
              <a:t>Nếu</a:t>
            </a:r>
            <a:r>
              <a:rPr lang="en-US" sz="2600" dirty="0"/>
              <a:t> node </a:t>
            </a:r>
            <a:r>
              <a:rPr lang="en-US" sz="2600" dirty="0" err="1"/>
              <a:t>không</a:t>
            </a:r>
            <a:r>
              <a:rPr lang="en-US" sz="2600" dirty="0"/>
              <a:t> </a:t>
            </a:r>
            <a:r>
              <a:rPr lang="en-US" sz="2600" dirty="0" err="1"/>
              <a:t>liên</a:t>
            </a:r>
            <a:r>
              <a:rPr lang="en-US" sz="2600" dirty="0"/>
              <a:t> </a:t>
            </a:r>
            <a:r>
              <a:rPr lang="en-US" sz="2600" dirty="0" err="1"/>
              <a:t>kết</a:t>
            </a:r>
            <a:r>
              <a:rPr lang="en-US" sz="2600" dirty="0"/>
              <a:t> node </a:t>
            </a:r>
            <a:r>
              <a:rPr lang="en-US" sz="2600" dirty="0" err="1"/>
              <a:t>khác</a:t>
            </a:r>
            <a:r>
              <a:rPr lang="en-US" sz="2600" dirty="0"/>
              <a:t> </a:t>
            </a:r>
            <a:r>
              <a:rPr lang="en-US" sz="2600" dirty="0" err="1"/>
              <a:t>thì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FF0000"/>
                </a:solidFill>
              </a:rPr>
              <a:t>liên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kết</a:t>
            </a:r>
            <a:r>
              <a:rPr lang="en-US" sz="2600" dirty="0">
                <a:solidFill>
                  <a:srgbClr val="FF0000"/>
                </a:solidFill>
              </a:rPr>
              <a:t> = null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18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A11E69E-7788-4A26-BC56-5C9C7917235D}"/>
              </a:ext>
            </a:extLst>
          </p:cNvPr>
          <p:cNvGrpSpPr/>
          <p:nvPr/>
        </p:nvGrpSpPr>
        <p:grpSpPr>
          <a:xfrm>
            <a:off x="2895600" y="152400"/>
            <a:ext cx="6086928" cy="2296866"/>
            <a:chOff x="471055" y="511176"/>
            <a:chExt cx="8206674" cy="348327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4989BB7-29D6-45DB-9D19-ADE0C01B649A}"/>
                </a:ext>
              </a:extLst>
            </p:cNvPr>
            <p:cNvSpPr/>
            <p:nvPr/>
          </p:nvSpPr>
          <p:spPr>
            <a:xfrm>
              <a:off x="4038600" y="511176"/>
              <a:ext cx="1600200" cy="1600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00" b="1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 algn="ctr"/>
              <a:endParaRPr lang="en-US" sz="2200" b="1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 algn="ctr"/>
              <a:r>
                <a:rPr lang="en-US" sz="2200" b="1" dirty="0">
                  <a:solidFill>
                    <a:schemeClr val="accent1">
                      <a:lumMod val="50000"/>
                    </a:schemeClr>
                  </a:solidFill>
                </a:rPr>
                <a:t>Node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4F48C6-269F-450F-A3CB-3E80234B830A}"/>
                </a:ext>
              </a:extLst>
            </p:cNvPr>
            <p:cNvSpPr/>
            <p:nvPr/>
          </p:nvSpPr>
          <p:spPr>
            <a:xfrm>
              <a:off x="1332415" y="979260"/>
              <a:ext cx="823686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CC7829E-E727-46D4-9E33-1FE7DEFDDF2A}"/>
                </a:ext>
              </a:extLst>
            </p:cNvPr>
            <p:cNvSpPr/>
            <p:nvPr/>
          </p:nvSpPr>
          <p:spPr>
            <a:xfrm>
              <a:off x="2884714" y="990144"/>
              <a:ext cx="823686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E0DFC0-975E-42F5-BED7-829F8CFEDCAB}"/>
                </a:ext>
              </a:extLst>
            </p:cNvPr>
            <p:cNvSpPr/>
            <p:nvPr/>
          </p:nvSpPr>
          <p:spPr>
            <a:xfrm>
              <a:off x="4394200" y="990144"/>
              <a:ext cx="823686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FF00"/>
                  </a:solidFill>
                </a:rPr>
                <a:t>data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8DC2C4B-0CCB-45DE-8CB8-0B722C69DD18}"/>
                </a:ext>
              </a:extLst>
            </p:cNvPr>
            <p:cNvSpPr/>
            <p:nvPr/>
          </p:nvSpPr>
          <p:spPr>
            <a:xfrm>
              <a:off x="5918200" y="995586"/>
              <a:ext cx="823686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D3C136-1775-45F9-8FCE-15AF51CEB065}"/>
                </a:ext>
              </a:extLst>
            </p:cNvPr>
            <p:cNvSpPr/>
            <p:nvPr/>
          </p:nvSpPr>
          <p:spPr>
            <a:xfrm>
              <a:off x="7442200" y="968376"/>
              <a:ext cx="823686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48A1864-6665-4B32-B1C6-6A1A96A1A42D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2156101" y="1207860"/>
              <a:ext cx="728613" cy="10884"/>
            </a:xfrm>
            <a:prstGeom prst="line">
              <a:avLst/>
            </a:prstGeom>
            <a:ln w="38100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0F5FF41-2203-4257-90ED-3F74AB0F5E94}"/>
                </a:ext>
              </a:extLst>
            </p:cNvPr>
            <p:cNvCxnSpPr/>
            <p:nvPr/>
          </p:nvCxnSpPr>
          <p:spPr>
            <a:xfrm>
              <a:off x="3708400" y="1200607"/>
              <a:ext cx="728613" cy="10884"/>
            </a:xfrm>
            <a:prstGeom prst="line">
              <a:avLst/>
            </a:prstGeom>
            <a:ln w="38100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CC17996-E3C6-4590-8737-7BFE79056512}"/>
                </a:ext>
              </a:extLst>
            </p:cNvPr>
            <p:cNvCxnSpPr/>
            <p:nvPr/>
          </p:nvCxnSpPr>
          <p:spPr>
            <a:xfrm>
              <a:off x="5232400" y="1218744"/>
              <a:ext cx="728613" cy="10884"/>
            </a:xfrm>
            <a:prstGeom prst="line">
              <a:avLst/>
            </a:prstGeom>
            <a:ln w="38100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D76D67-835C-4D47-AB2A-8B4A9EBD6A2A}"/>
                </a:ext>
              </a:extLst>
            </p:cNvPr>
            <p:cNvCxnSpPr/>
            <p:nvPr/>
          </p:nvCxnSpPr>
          <p:spPr>
            <a:xfrm>
              <a:off x="6756400" y="1218744"/>
              <a:ext cx="728613" cy="10884"/>
            </a:xfrm>
            <a:prstGeom prst="line">
              <a:avLst/>
            </a:prstGeom>
            <a:ln w="38100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939506A-6691-4E51-A5D8-3FF4AB34F751}"/>
                </a:ext>
              </a:extLst>
            </p:cNvPr>
            <p:cNvGrpSpPr/>
            <p:nvPr/>
          </p:nvGrpSpPr>
          <p:grpSpPr>
            <a:xfrm>
              <a:off x="471055" y="2701866"/>
              <a:ext cx="2757055" cy="1292580"/>
              <a:chOff x="214745" y="4724400"/>
              <a:chExt cx="2757055" cy="129258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958022E-D1BA-46FC-B5CC-AC97D8FADC35}"/>
                  </a:ext>
                </a:extLst>
              </p:cNvPr>
              <p:cNvSpPr/>
              <p:nvPr/>
            </p:nvSpPr>
            <p:spPr>
              <a:xfrm>
                <a:off x="987701" y="4724400"/>
                <a:ext cx="1984099" cy="12440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F765C0D-E75D-4A3D-BA29-BBE50B6582C6}"/>
                  </a:ext>
                </a:extLst>
              </p:cNvPr>
              <p:cNvSpPr/>
              <p:nvPr/>
            </p:nvSpPr>
            <p:spPr>
              <a:xfrm>
                <a:off x="1140101" y="4876800"/>
                <a:ext cx="685800" cy="5334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8DBF70E-A795-4BA4-9688-A75A32E0FEED}"/>
                  </a:ext>
                </a:extLst>
              </p:cNvPr>
              <p:cNvSpPr txBox="1"/>
              <p:nvPr/>
            </p:nvSpPr>
            <p:spPr>
              <a:xfrm>
                <a:off x="1053620" y="5410200"/>
                <a:ext cx="815739" cy="6067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bg1"/>
                    </a:solidFill>
                  </a:rPr>
                  <a:t>first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D1FB21C-CF4A-45E3-906B-5D5065BF0C27}"/>
                  </a:ext>
                </a:extLst>
              </p:cNvPr>
              <p:cNvSpPr/>
              <p:nvPr/>
            </p:nvSpPr>
            <p:spPr>
              <a:xfrm>
                <a:off x="2134274" y="4876800"/>
                <a:ext cx="685800" cy="5334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B82D6C-FCCC-4D67-AAA4-71301E879B60}"/>
                  </a:ext>
                </a:extLst>
              </p:cNvPr>
              <p:cNvSpPr txBox="1"/>
              <p:nvPr/>
            </p:nvSpPr>
            <p:spPr>
              <a:xfrm>
                <a:off x="2114028" y="5410200"/>
                <a:ext cx="757299" cy="6067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last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E66ED62-BE1F-40BE-8280-83A786259C52}"/>
                  </a:ext>
                </a:extLst>
              </p:cNvPr>
              <p:cNvSpPr txBox="1"/>
              <p:nvPr/>
            </p:nvSpPr>
            <p:spPr>
              <a:xfrm>
                <a:off x="214745" y="5087080"/>
                <a:ext cx="6976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/>
                  <a:t>List</a:t>
                </a:r>
              </a:p>
            </p:txBody>
          </p:sp>
        </p:grpSp>
        <p:cxnSp>
          <p:nvCxnSpPr>
            <p:cNvPr id="17" name="Elbow Connector 37">
              <a:extLst>
                <a:ext uri="{FF2B5EF4-FFF2-40B4-BE49-F238E27FC236}">
                  <a16:creationId xmlns:a16="http://schemas.microsoft.com/office/drawing/2014/main" id="{9A933082-1141-4639-8F8B-4925B726EEF6}"/>
                </a:ext>
              </a:extLst>
            </p:cNvPr>
            <p:cNvCxnSpPr>
              <a:stCxn id="25" idx="0"/>
              <a:endCxn id="7" idx="2"/>
            </p:cNvCxnSpPr>
            <p:nvPr/>
          </p:nvCxnSpPr>
          <p:spPr>
            <a:xfrm rot="5400000" flipH="1" flipV="1">
              <a:off x="1032881" y="2142890"/>
              <a:ext cx="1417806" cy="4947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lbow Connector 46">
              <a:extLst>
                <a:ext uri="{FF2B5EF4-FFF2-40B4-BE49-F238E27FC236}">
                  <a16:creationId xmlns:a16="http://schemas.microsoft.com/office/drawing/2014/main" id="{DC42462C-3AFE-494B-A8AF-1595A63CC2EB}"/>
                </a:ext>
              </a:extLst>
            </p:cNvPr>
            <p:cNvCxnSpPr>
              <a:stCxn id="27" idx="3"/>
              <a:endCxn id="11" idx="2"/>
            </p:cNvCxnSpPr>
            <p:nvPr/>
          </p:nvCxnSpPr>
          <p:spPr>
            <a:xfrm flipV="1">
              <a:off x="3076384" y="1425576"/>
              <a:ext cx="4777659" cy="1695390"/>
            </a:xfrm>
            <a:prstGeom prst="bentConnector2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12ADAF5-6DE2-4E4C-992D-FE0D0C2431FC}"/>
                </a:ext>
              </a:extLst>
            </p:cNvPr>
            <p:cNvGrpSpPr/>
            <p:nvPr/>
          </p:nvGrpSpPr>
          <p:grpSpPr>
            <a:xfrm>
              <a:off x="8265886" y="977449"/>
              <a:ext cx="411843" cy="457200"/>
              <a:chOff x="7924800" y="6206835"/>
              <a:chExt cx="411843" cy="4572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018196F-A507-485D-9CDB-C412F0514EE7}"/>
                  </a:ext>
                </a:extLst>
              </p:cNvPr>
              <p:cNvSpPr/>
              <p:nvPr/>
            </p:nvSpPr>
            <p:spPr>
              <a:xfrm>
                <a:off x="7924800" y="6206835"/>
                <a:ext cx="411843" cy="4572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81F69DD2-2A93-4809-8320-3766BE2637DE}"/>
                  </a:ext>
                </a:extLst>
              </p:cNvPr>
              <p:cNvGrpSpPr/>
              <p:nvPr/>
            </p:nvGrpSpPr>
            <p:grpSpPr>
              <a:xfrm>
                <a:off x="7924800" y="6206835"/>
                <a:ext cx="411843" cy="457200"/>
                <a:chOff x="7924800" y="6206835"/>
                <a:chExt cx="411843" cy="457200"/>
              </a:xfrm>
            </p:grpSpPr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50B99C3F-6609-4A5A-90FF-D89DA850C69E}"/>
                    </a:ext>
                  </a:extLst>
                </p:cNvPr>
                <p:cNvCxnSpPr/>
                <p:nvPr/>
              </p:nvCxnSpPr>
              <p:spPr>
                <a:xfrm flipH="1">
                  <a:off x="7961086" y="6206835"/>
                  <a:ext cx="375557" cy="457200"/>
                </a:xfrm>
                <a:prstGeom prst="line">
                  <a:avLst/>
                </a:prstGeom>
                <a:ln w="38100">
                  <a:solidFill>
                    <a:srgbClr val="FFFF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3BD590D0-DAF7-4DCE-9153-A1947A07A3E8}"/>
                    </a:ext>
                  </a:extLst>
                </p:cNvPr>
                <p:cNvCxnSpPr/>
                <p:nvPr/>
              </p:nvCxnSpPr>
              <p:spPr>
                <a:xfrm>
                  <a:off x="7924800" y="6221190"/>
                  <a:ext cx="411843" cy="442845"/>
                </a:xfrm>
                <a:prstGeom prst="line">
                  <a:avLst/>
                </a:prstGeom>
                <a:ln w="38100">
                  <a:solidFill>
                    <a:srgbClr val="FFFF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" name="Callout: Line 2">
            <a:extLst>
              <a:ext uri="{FF2B5EF4-FFF2-40B4-BE49-F238E27FC236}">
                <a16:creationId xmlns:a16="http://schemas.microsoft.com/office/drawing/2014/main" id="{C57A79BB-BE7E-4987-B4D0-F87C5538B523}"/>
              </a:ext>
            </a:extLst>
          </p:cNvPr>
          <p:cNvSpPr/>
          <p:nvPr/>
        </p:nvSpPr>
        <p:spPr>
          <a:xfrm>
            <a:off x="7286625" y="45927"/>
            <a:ext cx="932584" cy="301477"/>
          </a:xfrm>
          <a:prstGeom prst="borderCallout1">
            <a:avLst>
              <a:gd name="adj1" fmla="val 18750"/>
              <a:gd name="adj2" fmla="val -8333"/>
              <a:gd name="adj3" fmla="val 166250"/>
              <a:gd name="adj4" fmla="val -544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86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332415" y="2906484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884714" y="29173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394200" y="29173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918200" y="29228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442200" y="289560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>
            <a:stCxn id="12" idx="3"/>
            <a:endCxn id="16" idx="1"/>
          </p:cNvCxnSpPr>
          <p:nvPr/>
        </p:nvCxnSpPr>
        <p:spPr>
          <a:xfrm>
            <a:off x="2156101" y="313508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708400" y="3127831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232400" y="31459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756400" y="31459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696200" cy="8382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node </a:t>
            </a:r>
            <a:r>
              <a:rPr lang="en-US" dirty="0" err="1"/>
              <a:t>vào</a:t>
            </a:r>
            <a:r>
              <a:rPr lang="en-US" dirty="0"/>
              <a:t> DSLK</a:t>
            </a:r>
          </a:p>
        </p:txBody>
      </p:sp>
      <p:sp>
        <p:nvSpPr>
          <p:cNvPr id="94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600200"/>
            <a:ext cx="7924800" cy="762000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”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sợi</a:t>
            </a:r>
            <a:r>
              <a:rPr lang="en-US" dirty="0"/>
              <a:t> </a:t>
            </a:r>
            <a:r>
              <a:rPr lang="en-US" dirty="0" err="1"/>
              <a:t>dây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theo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trình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tự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19</a:t>
            </a:fld>
            <a:endParaRPr lang="en-US"/>
          </a:p>
        </p:txBody>
      </p:sp>
      <p:cxnSp>
        <p:nvCxnSpPr>
          <p:cNvPr id="48" name="Curved Connector 47"/>
          <p:cNvCxnSpPr>
            <a:stCxn id="38" idx="3"/>
            <a:endCxn id="24" idx="1"/>
          </p:cNvCxnSpPr>
          <p:nvPr/>
        </p:nvCxnSpPr>
        <p:spPr>
          <a:xfrm flipH="1" flipV="1">
            <a:off x="5918200" y="3151410"/>
            <a:ext cx="25400" cy="1183910"/>
          </a:xfrm>
          <a:prstGeom prst="curvedConnector5">
            <a:avLst>
              <a:gd name="adj1" fmla="val -900000"/>
              <a:gd name="adj2" fmla="val 50000"/>
              <a:gd name="adj3" fmla="val 1000000"/>
            </a:avLst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urved Connector 49"/>
          <p:cNvCxnSpPr>
            <a:stCxn id="38" idx="1"/>
            <a:endCxn id="20" idx="3"/>
          </p:cNvCxnSpPr>
          <p:nvPr/>
        </p:nvCxnSpPr>
        <p:spPr>
          <a:xfrm rot="10800000" flipH="1">
            <a:off x="5119914" y="3145968"/>
            <a:ext cx="97972" cy="1189352"/>
          </a:xfrm>
          <a:prstGeom prst="curvedConnector5">
            <a:avLst>
              <a:gd name="adj1" fmla="val -233332"/>
              <a:gd name="adj2" fmla="val 50000"/>
              <a:gd name="adj3" fmla="val 333332"/>
            </a:avLst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119914" y="4106720"/>
            <a:ext cx="823686" cy="4572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" name="Group 91"/>
          <p:cNvGrpSpPr/>
          <p:nvPr/>
        </p:nvGrpSpPr>
        <p:grpSpPr>
          <a:xfrm>
            <a:off x="471055" y="4629090"/>
            <a:ext cx="2757055" cy="1085910"/>
            <a:chOff x="214745" y="4724400"/>
            <a:chExt cx="2757055" cy="1085910"/>
          </a:xfrm>
        </p:grpSpPr>
        <p:sp>
          <p:nvSpPr>
            <p:cNvPr id="95" name="Rectangle 94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214745" y="5087080"/>
              <a:ext cx="5627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list</a:t>
              </a:r>
            </a:p>
          </p:txBody>
        </p:sp>
      </p:grpSp>
      <p:cxnSp>
        <p:nvCxnSpPr>
          <p:cNvPr id="101" name="Elbow Connector 100"/>
          <p:cNvCxnSpPr>
            <a:stCxn id="96" idx="0"/>
          </p:cNvCxnSpPr>
          <p:nvPr/>
        </p:nvCxnSpPr>
        <p:spPr>
          <a:xfrm rot="5400000" flipH="1" flipV="1">
            <a:off x="1032881" y="4070114"/>
            <a:ext cx="1417806" cy="494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/>
          <p:cNvCxnSpPr>
            <a:stCxn id="98" idx="3"/>
          </p:cNvCxnSpPr>
          <p:nvPr/>
        </p:nvCxnSpPr>
        <p:spPr>
          <a:xfrm flipV="1">
            <a:off x="3076384" y="3352800"/>
            <a:ext cx="4777659" cy="1695390"/>
          </a:xfrm>
          <a:prstGeom prst="bentConnector2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/>
          <p:cNvGrpSpPr/>
          <p:nvPr/>
        </p:nvGrpSpPr>
        <p:grpSpPr>
          <a:xfrm>
            <a:off x="8274957" y="2895600"/>
            <a:ext cx="411843" cy="457200"/>
            <a:chOff x="7924800" y="6206835"/>
            <a:chExt cx="411843" cy="457200"/>
          </a:xfrm>
        </p:grpSpPr>
        <p:sp>
          <p:nvSpPr>
            <p:cNvPr id="104" name="Rectangle 103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5" name="Group 104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106" name="Straight Connector 105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187906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3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332415" y="328468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884714" y="3295564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4394200" y="3295564"/>
            <a:ext cx="823686" cy="468084"/>
            <a:chOff x="976815" y="2623458"/>
            <a:chExt cx="823686" cy="468084"/>
          </a:xfrm>
        </p:grpSpPr>
        <p:sp>
          <p:nvSpPr>
            <p:cNvPr id="20" name="Rectangle 19"/>
            <p:cNvSpPr/>
            <p:nvPr/>
          </p:nvSpPr>
          <p:spPr>
            <a:xfrm>
              <a:off x="976815" y="2623458"/>
              <a:ext cx="823686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1632858" y="2634342"/>
              <a:ext cx="0" cy="45720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/>
          <p:cNvSpPr/>
          <p:nvPr/>
        </p:nvSpPr>
        <p:spPr>
          <a:xfrm>
            <a:off x="5918200" y="3301006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442200" y="3273796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>
            <a:stCxn id="12" idx="3"/>
            <a:endCxn id="16" idx="1"/>
          </p:cNvCxnSpPr>
          <p:nvPr/>
        </p:nvCxnSpPr>
        <p:spPr>
          <a:xfrm>
            <a:off x="2156101" y="3513280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708400" y="3506027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232400" y="352416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756400" y="352416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696200" cy="838200"/>
          </a:xfrm>
        </p:spPr>
        <p:txBody>
          <a:bodyPr>
            <a:normAutofit/>
          </a:bodyPr>
          <a:lstStyle/>
          <a:p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node </a:t>
            </a:r>
            <a:r>
              <a:rPr lang="en-US" dirty="0" err="1"/>
              <a:t>khỏi</a:t>
            </a:r>
            <a:r>
              <a:rPr lang="en-US" dirty="0"/>
              <a:t> DSLK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20</a:t>
            </a:fld>
            <a:endParaRPr lang="en-US"/>
          </a:p>
        </p:txBody>
      </p:sp>
      <p:grpSp>
        <p:nvGrpSpPr>
          <p:cNvPr id="94" name="Group 93"/>
          <p:cNvGrpSpPr/>
          <p:nvPr/>
        </p:nvGrpSpPr>
        <p:grpSpPr>
          <a:xfrm>
            <a:off x="4100945" y="1600200"/>
            <a:ext cx="1405706" cy="1619164"/>
            <a:chOff x="3796145" y="2209800"/>
            <a:chExt cx="1405706" cy="1619164"/>
          </a:xfrm>
          <a:solidFill>
            <a:schemeClr val="accent2">
              <a:lumMod val="75000"/>
            </a:schemeClr>
          </a:solidFill>
        </p:grpSpPr>
        <p:cxnSp>
          <p:nvCxnSpPr>
            <p:cNvPr id="47" name="Straight Arrow Connector 46"/>
            <p:cNvCxnSpPr>
              <a:stCxn id="49" idx="2"/>
              <a:endCxn id="20" idx="0"/>
            </p:cNvCxnSpPr>
            <p:nvPr/>
          </p:nvCxnSpPr>
          <p:spPr>
            <a:xfrm>
              <a:off x="4498998" y="2667000"/>
              <a:ext cx="2245" cy="1161964"/>
            </a:xfrm>
            <a:prstGeom prst="straightConnector1">
              <a:avLst/>
            </a:prstGeom>
            <a:grpFill/>
            <a:ln>
              <a:prstDash val="dash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3796145" y="2209800"/>
              <a:ext cx="1405706" cy="45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/>
                <a:t>Cần xóa</a:t>
              </a: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3690987" y="3505200"/>
            <a:ext cx="2252613" cy="673597"/>
            <a:chOff x="3708399" y="3529605"/>
            <a:chExt cx="2252613" cy="673597"/>
          </a:xfrm>
        </p:grpSpPr>
        <p:cxnSp>
          <p:nvCxnSpPr>
            <p:cNvPr id="112" name="Curved Connector 111"/>
            <p:cNvCxnSpPr>
              <a:stCxn id="16" idx="3"/>
            </p:cNvCxnSpPr>
            <p:nvPr/>
          </p:nvCxnSpPr>
          <p:spPr>
            <a:xfrm>
              <a:off x="3708399" y="3534819"/>
              <a:ext cx="1118909" cy="668383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urved Connector 113"/>
            <p:cNvCxnSpPr>
              <a:endCxn id="24" idx="1"/>
            </p:cNvCxnSpPr>
            <p:nvPr/>
          </p:nvCxnSpPr>
          <p:spPr>
            <a:xfrm flipV="1">
              <a:off x="4827308" y="3529605"/>
              <a:ext cx="1133704" cy="673597"/>
            </a:xfrm>
            <a:prstGeom prst="curvedConnector3">
              <a:avLst>
                <a:gd name="adj1" fmla="val 70775"/>
              </a:avLst>
            </a:prstGeom>
            <a:ln w="3810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Group 125"/>
          <p:cNvGrpSpPr/>
          <p:nvPr/>
        </p:nvGrpSpPr>
        <p:grpSpPr>
          <a:xfrm>
            <a:off x="5288349" y="3339106"/>
            <a:ext cx="274251" cy="391890"/>
            <a:chOff x="4498998" y="5334000"/>
            <a:chExt cx="414088" cy="381000"/>
          </a:xfrm>
        </p:grpSpPr>
        <p:cxnSp>
          <p:nvCxnSpPr>
            <p:cNvPr id="122" name="Straight Connector 121"/>
            <p:cNvCxnSpPr/>
            <p:nvPr/>
          </p:nvCxnSpPr>
          <p:spPr>
            <a:xfrm flipV="1">
              <a:off x="4498998" y="5334000"/>
              <a:ext cx="414088" cy="381000"/>
            </a:xfrm>
            <a:prstGeom prst="line">
              <a:avLst/>
            </a:prstGeom>
            <a:ln w="381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H="1" flipV="1">
              <a:off x="4501244" y="5334000"/>
              <a:ext cx="411842" cy="381000"/>
            </a:xfrm>
            <a:prstGeom prst="line">
              <a:avLst/>
            </a:prstGeom>
            <a:ln w="381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471055" y="5010090"/>
            <a:ext cx="2757055" cy="1085910"/>
            <a:chOff x="214745" y="4724400"/>
            <a:chExt cx="2757055" cy="1085910"/>
          </a:xfrm>
        </p:grpSpPr>
        <p:sp>
          <p:nvSpPr>
            <p:cNvPr id="46" name="Rectangle 45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14745" y="5087080"/>
              <a:ext cx="6976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cxnSp>
        <p:nvCxnSpPr>
          <p:cNvPr id="54" name="Elbow Connector 53"/>
          <p:cNvCxnSpPr>
            <a:stCxn id="48" idx="0"/>
          </p:cNvCxnSpPr>
          <p:nvPr/>
        </p:nvCxnSpPr>
        <p:spPr>
          <a:xfrm rot="5400000" flipH="1" flipV="1">
            <a:off x="1032881" y="4451114"/>
            <a:ext cx="1417806" cy="494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/>
          <p:cNvCxnSpPr>
            <a:stCxn id="51" idx="3"/>
          </p:cNvCxnSpPr>
          <p:nvPr/>
        </p:nvCxnSpPr>
        <p:spPr>
          <a:xfrm flipV="1">
            <a:off x="3076384" y="3733800"/>
            <a:ext cx="4777659" cy="1695390"/>
          </a:xfrm>
          <a:prstGeom prst="bentConnector2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8265886" y="3273796"/>
            <a:ext cx="411843" cy="457200"/>
            <a:chOff x="7924800" y="6206835"/>
            <a:chExt cx="411843" cy="457200"/>
          </a:xfrm>
        </p:grpSpPr>
        <p:sp>
          <p:nvSpPr>
            <p:cNvPr id="57" name="Rectangle 56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59" name="Straight Connector 58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1308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6" presetClass="entr" presetSubtype="32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2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DSLK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90688"/>
            <a:ext cx="7886700" cy="493871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 err="1"/>
              <a:t>Một</a:t>
            </a:r>
            <a:r>
              <a:rPr lang="en-US" sz="2600" dirty="0"/>
              <a:t> </a:t>
            </a:r>
            <a:r>
              <a:rPr lang="en-US" sz="2600" dirty="0" err="1"/>
              <a:t>dãy</a:t>
            </a:r>
            <a:r>
              <a:rPr lang="en-US" sz="2600" dirty="0"/>
              <a:t> </a:t>
            </a:r>
            <a:r>
              <a:rPr lang="en-US" sz="2600" dirty="0" err="1"/>
              <a:t>tuần</a:t>
            </a:r>
            <a:r>
              <a:rPr lang="en-US" sz="2600" dirty="0"/>
              <a:t> </a:t>
            </a:r>
            <a:r>
              <a:rPr lang="en-US" sz="2600" dirty="0" err="1"/>
              <a:t>tự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nút</a:t>
            </a:r>
            <a:r>
              <a:rPr lang="en-US" sz="2600" dirty="0"/>
              <a:t> (Node)</a:t>
            </a:r>
          </a:p>
          <a:p>
            <a:pPr algn="just">
              <a:lnSpc>
                <a:spcPct val="150000"/>
              </a:lnSpc>
            </a:pPr>
            <a:r>
              <a:rPr lang="en-US" sz="2600" dirty="0" err="1"/>
              <a:t>Giữa</a:t>
            </a:r>
            <a:r>
              <a:rPr lang="en-US" sz="2600" dirty="0"/>
              <a:t> </a:t>
            </a:r>
            <a:r>
              <a:rPr lang="en-US" sz="2600" dirty="0" err="1"/>
              <a:t>hai</a:t>
            </a:r>
            <a:r>
              <a:rPr lang="en-US" sz="2600" dirty="0"/>
              <a:t> </a:t>
            </a:r>
            <a:r>
              <a:rPr lang="en-US" sz="2600" dirty="0" err="1"/>
              <a:t>nút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mối</a:t>
            </a:r>
            <a:r>
              <a:rPr lang="en-US" sz="2600" dirty="0"/>
              <a:t> </a:t>
            </a:r>
            <a:r>
              <a:rPr lang="en-US" sz="2600" dirty="0" err="1"/>
              <a:t>liên</a:t>
            </a:r>
            <a:r>
              <a:rPr lang="en-US" sz="2600" dirty="0"/>
              <a:t> </a:t>
            </a:r>
            <a:r>
              <a:rPr lang="en-US" sz="2600" dirty="0" err="1"/>
              <a:t>kết</a:t>
            </a:r>
            <a:endParaRPr lang="en-US" sz="2600" dirty="0"/>
          </a:p>
          <a:p>
            <a:pPr algn="just">
              <a:lnSpc>
                <a:spcPct val="150000"/>
              </a:lnSpc>
            </a:pP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nút</a:t>
            </a:r>
            <a:r>
              <a:rPr lang="en-US" sz="2600" dirty="0"/>
              <a:t> </a:t>
            </a:r>
            <a:r>
              <a:rPr lang="en-US" sz="2600" dirty="0" err="1"/>
              <a:t>không</a:t>
            </a:r>
            <a:r>
              <a:rPr lang="en-US" sz="2600" dirty="0"/>
              <a:t> </a:t>
            </a:r>
            <a:r>
              <a:rPr lang="en-US" sz="2600" dirty="0" err="1"/>
              <a:t>cần</a:t>
            </a:r>
            <a:r>
              <a:rPr lang="en-US" sz="2600" dirty="0"/>
              <a:t> </a:t>
            </a:r>
            <a:r>
              <a:rPr lang="en-US" sz="2600" dirty="0" err="1"/>
              <a:t>phải</a:t>
            </a:r>
            <a:r>
              <a:rPr lang="en-US" sz="2600" dirty="0"/>
              <a:t> </a:t>
            </a:r>
            <a:r>
              <a:rPr lang="en-US" sz="2600" dirty="0" err="1"/>
              <a:t>lưu</a:t>
            </a:r>
            <a:r>
              <a:rPr lang="en-US" sz="2600" dirty="0"/>
              <a:t> </a:t>
            </a:r>
            <a:r>
              <a:rPr lang="en-US" sz="2600" dirty="0" err="1"/>
              <a:t>trữ</a:t>
            </a:r>
            <a:r>
              <a:rPr lang="en-US" sz="2600" dirty="0"/>
              <a:t> </a:t>
            </a:r>
            <a:r>
              <a:rPr lang="en-US" sz="2600" dirty="0" err="1"/>
              <a:t>liên</a:t>
            </a:r>
            <a:r>
              <a:rPr lang="en-US" sz="2600" dirty="0"/>
              <a:t> </a:t>
            </a:r>
            <a:r>
              <a:rPr lang="en-US" sz="2600" dirty="0" err="1"/>
              <a:t>tiếp</a:t>
            </a:r>
            <a:r>
              <a:rPr lang="en-US" sz="2600" dirty="0"/>
              <a:t> </a:t>
            </a:r>
            <a:r>
              <a:rPr lang="en-US" sz="2600" dirty="0" err="1"/>
              <a:t>nhau</a:t>
            </a:r>
            <a:endParaRPr lang="en-US" sz="2600" dirty="0"/>
          </a:p>
          <a:p>
            <a:pPr algn="just">
              <a:lnSpc>
                <a:spcPct val="150000"/>
              </a:lnSpc>
            </a:pPr>
            <a:r>
              <a:rPr lang="en-US" sz="2600" dirty="0"/>
              <a:t>Có </a:t>
            </a:r>
            <a:r>
              <a:rPr lang="en-US" sz="2600" dirty="0" err="1"/>
              <a:t>thể</a:t>
            </a:r>
            <a:r>
              <a:rPr lang="en-US" sz="2600" dirty="0"/>
              <a:t> </a:t>
            </a:r>
            <a:r>
              <a:rPr lang="en-US" sz="2600" dirty="0" err="1"/>
              <a:t>mở</a:t>
            </a:r>
            <a:r>
              <a:rPr lang="en-US" sz="2600" dirty="0"/>
              <a:t> </a:t>
            </a:r>
            <a:r>
              <a:rPr lang="en-US" sz="2600" dirty="0" err="1"/>
              <a:t>rộng</a:t>
            </a:r>
            <a:r>
              <a:rPr lang="en-US" sz="2600" dirty="0"/>
              <a:t> </a:t>
            </a:r>
            <a:r>
              <a:rPr lang="en-US" sz="2600" dirty="0" err="1"/>
              <a:t>tuỳ</a:t>
            </a:r>
            <a:r>
              <a:rPr lang="en-US" sz="2600" dirty="0"/>
              <a:t> ý (</a:t>
            </a:r>
            <a:r>
              <a:rPr lang="en-US" sz="2600" dirty="0" err="1"/>
              <a:t>tùy</a:t>
            </a:r>
            <a:r>
              <a:rPr lang="en-US" sz="2600" dirty="0"/>
              <a:t> </a:t>
            </a:r>
            <a:r>
              <a:rPr lang="en-US" sz="2600" dirty="0" err="1"/>
              <a:t>theo</a:t>
            </a:r>
            <a:r>
              <a:rPr lang="en-US" sz="2600" dirty="0"/>
              <a:t> dung </a:t>
            </a:r>
            <a:r>
              <a:rPr lang="en-US" sz="2600" dirty="0" err="1"/>
              <a:t>lượng</a:t>
            </a:r>
            <a:r>
              <a:rPr lang="en-US" sz="2600" dirty="0"/>
              <a:t> </a:t>
            </a:r>
            <a:r>
              <a:rPr lang="en-US" sz="2600" dirty="0" err="1"/>
              <a:t>bộ</a:t>
            </a:r>
            <a:r>
              <a:rPr lang="en-US" sz="2600" dirty="0"/>
              <a:t> </a:t>
            </a:r>
            <a:r>
              <a:rPr lang="en-US" sz="2600" dirty="0" err="1"/>
              <a:t>nhớ</a:t>
            </a:r>
            <a:r>
              <a:rPr lang="en-US" sz="2600" dirty="0"/>
              <a:t>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69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DSLK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90688"/>
            <a:ext cx="7886700" cy="493871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 err="1"/>
              <a:t>Thao</a:t>
            </a:r>
            <a:r>
              <a:rPr lang="en-US" sz="2600" dirty="0"/>
              <a:t> </a:t>
            </a:r>
            <a:r>
              <a:rPr lang="en-US" sz="2600" dirty="0" err="1"/>
              <a:t>tác</a:t>
            </a:r>
            <a:r>
              <a:rPr lang="en-US" sz="2600" dirty="0"/>
              <a:t> </a:t>
            </a:r>
            <a:r>
              <a:rPr lang="en-US" sz="2600" dirty="0" err="1"/>
              <a:t>Chèn</a:t>
            </a:r>
            <a:r>
              <a:rPr lang="en-US" sz="2600" dirty="0"/>
              <a:t>/</a:t>
            </a:r>
            <a:r>
              <a:rPr lang="en-US" sz="2600" dirty="0" err="1"/>
              <a:t>Xóa</a:t>
            </a:r>
            <a:r>
              <a:rPr lang="en-US" sz="2600" dirty="0"/>
              <a:t> </a:t>
            </a:r>
            <a:r>
              <a:rPr lang="en-US" sz="2600" dirty="0" err="1"/>
              <a:t>không</a:t>
            </a:r>
            <a:r>
              <a:rPr lang="en-US" sz="2600" dirty="0"/>
              <a:t> </a:t>
            </a:r>
            <a:r>
              <a:rPr lang="en-US" sz="2600" dirty="0" err="1"/>
              <a:t>cần</a:t>
            </a:r>
            <a:r>
              <a:rPr lang="en-US" sz="2600" dirty="0"/>
              <a:t> </a:t>
            </a:r>
            <a:r>
              <a:rPr lang="en-US" sz="2600" dirty="0" err="1"/>
              <a:t>phải</a:t>
            </a:r>
            <a:r>
              <a:rPr lang="en-US" sz="2600" dirty="0"/>
              <a:t> </a:t>
            </a:r>
            <a:r>
              <a:rPr lang="en-US" sz="2600" dirty="0" err="1"/>
              <a:t>dịch</a:t>
            </a:r>
            <a:r>
              <a:rPr lang="en-US" sz="2600" dirty="0"/>
              <a:t> </a:t>
            </a:r>
            <a:r>
              <a:rPr lang="en-US" sz="2600" dirty="0" err="1"/>
              <a:t>chuyển</a:t>
            </a:r>
            <a:r>
              <a:rPr lang="en-US" sz="2600" dirty="0"/>
              <a:t> </a:t>
            </a:r>
            <a:r>
              <a:rPr lang="en-US" sz="2600" dirty="0" err="1"/>
              <a:t>phần</a:t>
            </a:r>
            <a:r>
              <a:rPr lang="en-US" sz="2600" dirty="0"/>
              <a:t> </a:t>
            </a:r>
            <a:r>
              <a:rPr lang="en-US" sz="2600" dirty="0" err="1"/>
              <a:t>tử</a:t>
            </a:r>
            <a:r>
              <a:rPr lang="en-US" sz="2600" dirty="0"/>
              <a:t> </a:t>
            </a:r>
            <a:r>
              <a:rPr lang="en-US" sz="2600" dirty="0" err="1"/>
              <a:t>mà</a:t>
            </a:r>
            <a:r>
              <a:rPr lang="en-US" sz="2600" dirty="0"/>
              <a:t> </a:t>
            </a:r>
            <a:r>
              <a:rPr lang="en-US" sz="2600" dirty="0" err="1"/>
              <a:t>chỉ</a:t>
            </a:r>
            <a:r>
              <a:rPr lang="en-US" sz="2600" dirty="0"/>
              <a:t> </a:t>
            </a:r>
            <a:r>
              <a:rPr lang="en-US" sz="2600" dirty="0" err="1"/>
              <a:t>cần</a:t>
            </a:r>
            <a:r>
              <a:rPr lang="en-US" sz="2600" dirty="0"/>
              <a:t> </a:t>
            </a:r>
            <a:r>
              <a:rPr lang="en-US" sz="2600" dirty="0" err="1"/>
              <a:t>thay</a:t>
            </a:r>
            <a:r>
              <a:rPr lang="en-US" sz="2600" dirty="0"/>
              <a:t> </a:t>
            </a:r>
            <a:r>
              <a:rPr lang="en-US" sz="2600" dirty="0" err="1"/>
              <a:t>đổi</a:t>
            </a:r>
            <a:r>
              <a:rPr lang="en-US" sz="2600" dirty="0"/>
              <a:t> </a:t>
            </a:r>
            <a:r>
              <a:rPr lang="en-US" sz="2600" dirty="0" err="1"/>
              <a:t>mối</a:t>
            </a:r>
            <a:r>
              <a:rPr lang="en-US" sz="2600" dirty="0"/>
              <a:t> </a:t>
            </a:r>
            <a:r>
              <a:rPr lang="en-US" sz="2600" dirty="0" err="1"/>
              <a:t>liên</a:t>
            </a:r>
            <a:r>
              <a:rPr lang="en-US" sz="2600" dirty="0"/>
              <a:t> </a:t>
            </a:r>
            <a:r>
              <a:rPr lang="en-US" sz="2600" dirty="0" err="1"/>
              <a:t>kết</a:t>
            </a:r>
            <a:endParaRPr lang="en-US" sz="2600" dirty="0"/>
          </a:p>
          <a:p>
            <a:pPr algn="just">
              <a:lnSpc>
                <a:spcPct val="150000"/>
              </a:lnSpc>
            </a:pPr>
            <a:r>
              <a:rPr lang="en-US" sz="2600" dirty="0" err="1"/>
              <a:t>Quản</a:t>
            </a:r>
            <a:r>
              <a:rPr lang="en-US" sz="2600" dirty="0"/>
              <a:t> </a:t>
            </a:r>
            <a:r>
              <a:rPr lang="en-US" sz="2600" dirty="0" err="1"/>
              <a:t>lý</a:t>
            </a:r>
            <a:r>
              <a:rPr lang="en-US" sz="2600" dirty="0"/>
              <a:t> </a:t>
            </a:r>
            <a:r>
              <a:rPr lang="en-US" sz="2600" dirty="0" err="1"/>
              <a:t>phần</a:t>
            </a:r>
            <a:r>
              <a:rPr lang="en-US" sz="2600" dirty="0"/>
              <a:t> </a:t>
            </a:r>
            <a:r>
              <a:rPr lang="en-US" sz="2600" dirty="0" err="1"/>
              <a:t>tử</a:t>
            </a:r>
            <a:r>
              <a:rPr lang="en-US" sz="2600" dirty="0"/>
              <a:t> </a:t>
            </a:r>
            <a:r>
              <a:rPr lang="en-US" sz="2600" dirty="0" err="1"/>
              <a:t>đầu</a:t>
            </a:r>
            <a:r>
              <a:rPr lang="en-US" sz="2600" dirty="0"/>
              <a:t> </a:t>
            </a:r>
            <a:r>
              <a:rPr lang="en-US" sz="2600" dirty="0" err="1"/>
              <a:t>tiên</a:t>
            </a:r>
            <a:r>
              <a:rPr lang="en-US" sz="2600" dirty="0"/>
              <a:t> </a:t>
            </a:r>
            <a:r>
              <a:rPr lang="en-US" sz="2600" dirty="0" err="1"/>
              <a:t>bằng</a:t>
            </a:r>
            <a:r>
              <a:rPr lang="en-US" sz="2600" dirty="0"/>
              <a:t> con </a:t>
            </a:r>
            <a:r>
              <a:rPr lang="en-US" sz="2600" dirty="0" err="1"/>
              <a:t>trỏ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FF0000"/>
                </a:solidFill>
              </a:rPr>
              <a:t>first</a:t>
            </a:r>
          </a:p>
          <a:p>
            <a:pPr algn="just">
              <a:lnSpc>
                <a:spcPct val="150000"/>
              </a:lnSpc>
            </a:pPr>
            <a:r>
              <a:rPr lang="en-US" sz="2600" dirty="0" err="1"/>
              <a:t>Duyệt</a:t>
            </a:r>
            <a:r>
              <a:rPr lang="en-US" sz="2600" dirty="0"/>
              <a:t> </a:t>
            </a:r>
            <a:r>
              <a:rPr lang="en-US" sz="2600" dirty="0" err="1"/>
              <a:t>tuần</a:t>
            </a:r>
            <a:r>
              <a:rPr lang="en-US" sz="2600" dirty="0"/>
              <a:t> </a:t>
            </a:r>
            <a:r>
              <a:rPr lang="en-US" sz="2600" dirty="0" err="1"/>
              <a:t>tự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node </a:t>
            </a:r>
            <a:r>
              <a:rPr lang="en-US" sz="2600" dirty="0" err="1"/>
              <a:t>thông</a:t>
            </a:r>
            <a:r>
              <a:rPr lang="en-US" sz="2600" dirty="0"/>
              <a:t> qua </a:t>
            </a:r>
            <a:r>
              <a:rPr lang="en-US" sz="2600" dirty="0" err="1"/>
              <a:t>mối</a:t>
            </a:r>
            <a:r>
              <a:rPr lang="en-US" sz="2600" dirty="0"/>
              <a:t> </a:t>
            </a:r>
            <a:r>
              <a:rPr lang="en-US" sz="2600" dirty="0" err="1"/>
              <a:t>liên</a:t>
            </a:r>
            <a:r>
              <a:rPr lang="en-US" sz="2600" dirty="0"/>
              <a:t> </a:t>
            </a:r>
            <a:r>
              <a:rPr lang="en-US" sz="2600" dirty="0" err="1"/>
              <a:t>kết</a:t>
            </a:r>
            <a:endParaRPr lang="en-US" sz="2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DSLK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981200"/>
            <a:ext cx="7886700" cy="1219200"/>
          </a:xfrm>
        </p:spPr>
        <p:txBody>
          <a:bodyPr>
            <a:normAutofit lnSpcReduction="10000"/>
          </a:bodyPr>
          <a:lstStyle/>
          <a:p>
            <a:pPr marL="46038" lvl="1" indent="0" algn="just">
              <a:buNone/>
            </a:pPr>
            <a:r>
              <a:rPr lang="en-US" sz="3200" dirty="0"/>
              <a:t>DSLK </a:t>
            </a:r>
            <a:r>
              <a:rPr lang="en-US" sz="3200" dirty="0" err="1"/>
              <a:t>đơn</a:t>
            </a:r>
            <a:r>
              <a:rPr lang="en-US" sz="3200" dirty="0"/>
              <a:t>: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r>
              <a:rPr lang="en-US" sz="3200" dirty="0"/>
              <a:t> </a:t>
            </a:r>
            <a:r>
              <a:rPr lang="en-US" sz="3200" dirty="0" err="1"/>
              <a:t>kết</a:t>
            </a:r>
            <a:r>
              <a:rPr lang="en-US" sz="3200" dirty="0"/>
              <a:t> </a:t>
            </a:r>
            <a:r>
              <a:rPr lang="en-US" sz="3200" dirty="0" err="1"/>
              <a:t>nối</a:t>
            </a:r>
            <a:r>
              <a:rPr lang="en-US" sz="3200" dirty="0"/>
              <a:t> </a:t>
            </a:r>
            <a:r>
              <a:rPr lang="en-US" sz="3200" dirty="0" err="1"/>
              <a:t>với</a:t>
            </a:r>
            <a:r>
              <a:rPr lang="en-US" sz="3200" dirty="0"/>
              <a:t> </a:t>
            </a:r>
            <a:r>
              <a:rPr lang="en-US" sz="3200" dirty="0" err="1"/>
              <a:t>nhau</a:t>
            </a:r>
            <a:r>
              <a:rPr lang="en-US" sz="3200" dirty="0"/>
              <a:t> </a:t>
            </a:r>
            <a:r>
              <a:rPr lang="en-US" sz="3200" dirty="0" err="1"/>
              <a:t>theo</a:t>
            </a:r>
            <a:r>
              <a:rPr lang="en-US" sz="3200" dirty="0"/>
              <a:t> </a:t>
            </a:r>
            <a:r>
              <a:rPr lang="en-US" sz="3200" dirty="0" err="1"/>
              <a:t>hướng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“</a:t>
            </a:r>
            <a:r>
              <a:rPr lang="en-US" sz="3200" dirty="0" err="1">
                <a:solidFill>
                  <a:srgbClr val="FF0000"/>
                </a:solidFill>
              </a:rPr>
              <a:t>chiều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đi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tới</a:t>
            </a:r>
            <a:r>
              <a:rPr lang="en-US" sz="3200" dirty="0">
                <a:solidFill>
                  <a:srgbClr val="FF0000"/>
                </a:solidFill>
              </a:rPr>
              <a:t>”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23</a:t>
            </a:fld>
            <a:endParaRPr lang="en-US"/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3403600" y="4967514"/>
            <a:ext cx="3214185" cy="0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/>
          <p:cNvGrpSpPr/>
          <p:nvPr/>
        </p:nvGrpSpPr>
        <p:grpSpPr>
          <a:xfrm>
            <a:off x="4913086" y="4572000"/>
            <a:ext cx="700314" cy="762000"/>
            <a:chOff x="4913086" y="3657600"/>
            <a:chExt cx="700314" cy="762000"/>
          </a:xfrm>
        </p:grpSpPr>
        <p:cxnSp>
          <p:nvCxnSpPr>
            <p:cNvPr id="36" name="Straight Connector 35"/>
            <p:cNvCxnSpPr/>
            <p:nvPr/>
          </p:nvCxnSpPr>
          <p:spPr>
            <a:xfrm flipH="1">
              <a:off x="5010692" y="3657600"/>
              <a:ext cx="602708" cy="76200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4913086" y="3657600"/>
              <a:ext cx="700314" cy="76200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1027615" y="3771906"/>
            <a:ext cx="7345314" cy="484410"/>
            <a:chOff x="1027615" y="3009906"/>
            <a:chExt cx="7345314" cy="484410"/>
          </a:xfrm>
        </p:grpSpPr>
        <p:sp>
          <p:nvSpPr>
            <p:cNvPr id="11" name="Rectangle 10"/>
            <p:cNvSpPr/>
            <p:nvPr/>
          </p:nvSpPr>
          <p:spPr>
            <a:xfrm>
              <a:off x="1027615" y="3020790"/>
              <a:ext cx="823686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579914" y="3031674"/>
              <a:ext cx="823686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089400" y="3031674"/>
              <a:ext cx="823686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613400" y="3037116"/>
              <a:ext cx="823686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137400" y="3009906"/>
              <a:ext cx="823686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/>
            <p:cNvCxnSpPr>
              <a:stCxn id="11" idx="3"/>
              <a:endCxn id="15" idx="1"/>
            </p:cNvCxnSpPr>
            <p:nvPr/>
          </p:nvCxnSpPr>
          <p:spPr>
            <a:xfrm>
              <a:off x="1851301" y="3249390"/>
              <a:ext cx="728613" cy="10884"/>
            </a:xfrm>
            <a:prstGeom prst="line">
              <a:avLst/>
            </a:prstGeom>
            <a:ln w="38100">
              <a:solidFill>
                <a:srgbClr val="C0000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3403600" y="3242137"/>
              <a:ext cx="728613" cy="10884"/>
            </a:xfrm>
            <a:prstGeom prst="line">
              <a:avLst/>
            </a:prstGeom>
            <a:ln w="38100">
              <a:solidFill>
                <a:srgbClr val="C0000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927600" y="3260274"/>
              <a:ext cx="728613" cy="10884"/>
            </a:xfrm>
            <a:prstGeom prst="line">
              <a:avLst/>
            </a:prstGeom>
            <a:ln w="38100">
              <a:solidFill>
                <a:srgbClr val="C0000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451600" y="3260274"/>
              <a:ext cx="728613" cy="10884"/>
            </a:xfrm>
            <a:prstGeom prst="line">
              <a:avLst/>
            </a:prstGeom>
            <a:ln w="38100">
              <a:solidFill>
                <a:srgbClr val="C0000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/>
            <p:cNvGrpSpPr/>
            <p:nvPr/>
          </p:nvGrpSpPr>
          <p:grpSpPr>
            <a:xfrm>
              <a:off x="7961086" y="3009906"/>
              <a:ext cx="411843" cy="457200"/>
              <a:chOff x="7924800" y="6206835"/>
              <a:chExt cx="411843" cy="457200"/>
            </a:xfrm>
          </p:grpSpPr>
          <p:sp>
            <p:nvSpPr>
              <p:cNvPr id="40" name="Rectangle 39"/>
              <p:cNvSpPr/>
              <p:nvPr/>
            </p:nvSpPr>
            <p:spPr>
              <a:xfrm>
                <a:off x="7924800" y="6206835"/>
                <a:ext cx="411843" cy="4572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1" name="Group 40"/>
              <p:cNvGrpSpPr/>
              <p:nvPr/>
            </p:nvGrpSpPr>
            <p:grpSpPr>
              <a:xfrm>
                <a:off x="7924800" y="6206835"/>
                <a:ext cx="411843" cy="457200"/>
                <a:chOff x="7924800" y="6206835"/>
                <a:chExt cx="411843" cy="457200"/>
              </a:xfrm>
            </p:grpSpPr>
            <p:cxnSp>
              <p:nvCxnSpPr>
                <p:cNvPr id="42" name="Straight Connector 41"/>
                <p:cNvCxnSpPr/>
                <p:nvPr/>
              </p:nvCxnSpPr>
              <p:spPr>
                <a:xfrm flipH="1">
                  <a:off x="7961086" y="6206835"/>
                  <a:ext cx="375557" cy="457200"/>
                </a:xfrm>
                <a:prstGeom prst="line">
                  <a:avLst/>
                </a:prstGeom>
                <a:ln w="38100">
                  <a:solidFill>
                    <a:srgbClr val="FFFF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>
                  <a:off x="7924800" y="6221190"/>
                  <a:ext cx="411843" cy="442845"/>
                </a:xfrm>
                <a:prstGeom prst="line">
                  <a:avLst/>
                </a:prstGeom>
                <a:ln w="38100">
                  <a:solidFill>
                    <a:srgbClr val="FFFF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61434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DSLK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919288"/>
            <a:ext cx="7886700" cy="1281111"/>
          </a:xfrm>
        </p:spPr>
        <p:txBody>
          <a:bodyPr>
            <a:normAutofit/>
          </a:bodyPr>
          <a:lstStyle/>
          <a:p>
            <a:pPr marL="0" lvl="1" indent="0" algn="just">
              <a:buNone/>
            </a:pPr>
            <a:r>
              <a:rPr lang="en-US" sz="3200" dirty="0"/>
              <a:t>DSLK </a:t>
            </a:r>
            <a:r>
              <a:rPr lang="en-US" sz="3200" dirty="0" err="1"/>
              <a:t>kép</a:t>
            </a:r>
            <a:r>
              <a:rPr lang="en-US" sz="3200" dirty="0"/>
              <a:t>: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r>
              <a:rPr lang="en-US" sz="3200" dirty="0"/>
              <a:t> </a:t>
            </a:r>
            <a:r>
              <a:rPr lang="en-US" sz="3200" dirty="0" err="1"/>
              <a:t>kết</a:t>
            </a:r>
            <a:r>
              <a:rPr lang="en-US" sz="3200" dirty="0"/>
              <a:t> </a:t>
            </a:r>
            <a:r>
              <a:rPr lang="en-US" sz="3200" dirty="0" err="1"/>
              <a:t>nối</a:t>
            </a:r>
            <a:r>
              <a:rPr lang="en-US" sz="3200" dirty="0"/>
              <a:t> </a:t>
            </a:r>
            <a:r>
              <a:rPr lang="en-US" sz="3200" dirty="0" err="1"/>
              <a:t>với</a:t>
            </a:r>
            <a:r>
              <a:rPr lang="en-US" sz="3200" dirty="0"/>
              <a:t> </a:t>
            </a:r>
            <a:r>
              <a:rPr lang="en-US" sz="3200" dirty="0" err="1"/>
              <a:t>nhau</a:t>
            </a:r>
            <a:r>
              <a:rPr lang="en-US" sz="3200" dirty="0"/>
              <a:t> </a:t>
            </a:r>
            <a:r>
              <a:rPr lang="en-US" sz="3200" dirty="0" err="1"/>
              <a:t>theo</a:t>
            </a:r>
            <a:r>
              <a:rPr lang="en-US" sz="3200" dirty="0"/>
              <a:t> </a:t>
            </a:r>
            <a:r>
              <a:rPr lang="en-US" sz="3200" dirty="0" err="1"/>
              <a:t>hướng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“</a:t>
            </a:r>
            <a:r>
              <a:rPr lang="en-US" sz="3200" dirty="0" err="1">
                <a:solidFill>
                  <a:srgbClr val="FF0000"/>
                </a:solidFill>
              </a:rPr>
              <a:t>chiều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đi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tới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và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và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đi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lui</a:t>
            </a:r>
            <a:r>
              <a:rPr lang="en-US" sz="3200" dirty="0">
                <a:solidFill>
                  <a:srgbClr val="FF0000"/>
                </a:solidFill>
              </a:rPr>
              <a:t>”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24</a:t>
            </a:fld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027615" y="3869874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579914" y="388075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089400" y="388075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613400" y="388620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137400" y="385899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1851301" y="420188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403600" y="420188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927600" y="420188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451600" y="420188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1862187" y="397328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3386187" y="3962400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4876800" y="397328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434187" y="3962400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/>
          <p:cNvGrpSpPr/>
          <p:nvPr/>
        </p:nvGrpSpPr>
        <p:grpSpPr>
          <a:xfrm>
            <a:off x="7961086" y="3858990"/>
            <a:ext cx="411843" cy="457200"/>
            <a:chOff x="7924800" y="6206835"/>
            <a:chExt cx="411843" cy="457200"/>
          </a:xfrm>
        </p:grpSpPr>
        <p:sp>
          <p:nvSpPr>
            <p:cNvPr id="43" name="Rectangle 42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45" name="Straight Connector 44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6187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5" grpId="0" animBg="1"/>
      <p:bldP spid="22" grpId="0" animBg="1"/>
      <p:bldP spid="19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DSLK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038" lvl="1" indent="0" algn="just">
              <a:buNone/>
            </a:pPr>
            <a:r>
              <a:rPr lang="en-US" sz="3200" dirty="0" err="1"/>
              <a:t>Danh</a:t>
            </a:r>
            <a:r>
              <a:rPr lang="en-US" sz="3200" dirty="0"/>
              <a:t> </a:t>
            </a:r>
            <a:r>
              <a:rPr lang="en-US" sz="3200" dirty="0" err="1"/>
              <a:t>sách</a:t>
            </a:r>
            <a:r>
              <a:rPr lang="en-US" sz="3200" dirty="0"/>
              <a:t> </a:t>
            </a:r>
            <a:r>
              <a:rPr lang="en-US" sz="3200" dirty="0" err="1"/>
              <a:t>liên</a:t>
            </a:r>
            <a:r>
              <a:rPr lang="en-US" sz="3200" dirty="0"/>
              <a:t> </a:t>
            </a:r>
            <a:r>
              <a:rPr lang="en-US" sz="3200" dirty="0" err="1"/>
              <a:t>kết</a:t>
            </a:r>
            <a:r>
              <a:rPr lang="en-US" sz="3200" dirty="0"/>
              <a:t> </a:t>
            </a:r>
            <a:r>
              <a:rPr lang="en-US" sz="3200" dirty="0" err="1"/>
              <a:t>vòng</a:t>
            </a:r>
            <a:r>
              <a:rPr lang="en-US" sz="3200" dirty="0"/>
              <a:t>: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r>
              <a:rPr lang="en-US" sz="3200" dirty="0"/>
              <a:t> </a:t>
            </a:r>
            <a:r>
              <a:rPr lang="en-US" sz="3200" dirty="0" err="1"/>
              <a:t>kết</a:t>
            </a:r>
            <a:r>
              <a:rPr lang="en-US" sz="3200" dirty="0"/>
              <a:t> </a:t>
            </a:r>
            <a:r>
              <a:rPr lang="en-US" sz="3200" dirty="0" err="1"/>
              <a:t>nối</a:t>
            </a:r>
            <a:r>
              <a:rPr lang="en-US" sz="3200" dirty="0"/>
              <a:t> </a:t>
            </a:r>
            <a:r>
              <a:rPr lang="en-US" sz="3200" dirty="0" err="1"/>
              <a:t>với</a:t>
            </a:r>
            <a:r>
              <a:rPr lang="en-US" sz="3200" dirty="0"/>
              <a:t> </a:t>
            </a:r>
            <a:r>
              <a:rPr lang="en-US" sz="3200" dirty="0" err="1"/>
              <a:t>nhau</a:t>
            </a:r>
            <a:r>
              <a:rPr lang="en-US" sz="3200" dirty="0"/>
              <a:t> </a:t>
            </a:r>
            <a:r>
              <a:rPr lang="en-US" sz="3200" dirty="0" err="1"/>
              <a:t>theo</a:t>
            </a:r>
            <a:r>
              <a:rPr lang="en-US" sz="3200" dirty="0"/>
              <a:t> </a:t>
            </a:r>
            <a:r>
              <a:rPr lang="en-US" sz="3200" dirty="0" err="1"/>
              <a:t>hướng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“</a:t>
            </a:r>
            <a:r>
              <a:rPr lang="en-US" sz="3200" dirty="0" err="1">
                <a:solidFill>
                  <a:srgbClr val="FF0000"/>
                </a:solidFill>
              </a:rPr>
              <a:t>chiều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đi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tới</a:t>
            </a:r>
            <a:r>
              <a:rPr lang="en-US" sz="3200" dirty="0">
                <a:solidFill>
                  <a:srgbClr val="FF0000"/>
                </a:solidFill>
              </a:rPr>
              <a:t>”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r>
              <a:rPr lang="en-US" sz="3200" dirty="0"/>
              <a:t> </a:t>
            </a:r>
            <a:r>
              <a:rPr lang="en-US" sz="3200" dirty="0" err="1"/>
              <a:t>cuối</a:t>
            </a:r>
            <a:r>
              <a:rPr lang="en-US" sz="3200" dirty="0"/>
              <a:t> </a:t>
            </a:r>
            <a:r>
              <a:rPr lang="en-US" sz="3200" dirty="0" err="1"/>
              <a:t>cùng</a:t>
            </a:r>
            <a:r>
              <a:rPr lang="en-US" sz="3200" dirty="0"/>
              <a:t> </a:t>
            </a:r>
            <a:r>
              <a:rPr lang="en-US" sz="3200" dirty="0" err="1"/>
              <a:t>có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“</a:t>
            </a:r>
            <a:r>
              <a:rPr lang="en-US" sz="3200" dirty="0" err="1">
                <a:solidFill>
                  <a:srgbClr val="FF0000"/>
                </a:solidFill>
              </a:rPr>
              <a:t>đường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đi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vòng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trở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lại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tới</a:t>
            </a:r>
            <a:r>
              <a:rPr lang="en-US" sz="3200" dirty="0">
                <a:solidFill>
                  <a:srgbClr val="FF0000"/>
                </a:solidFill>
              </a:rPr>
              <a:t>”</a:t>
            </a:r>
            <a:r>
              <a:rPr lang="en-US" sz="3200" dirty="0"/>
              <a:t>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tử</a:t>
            </a:r>
            <a:r>
              <a:rPr lang="en-US" sz="3200" dirty="0"/>
              <a:t> </a:t>
            </a:r>
            <a:r>
              <a:rPr lang="en-US" sz="3200" dirty="0" err="1"/>
              <a:t>đầu</a:t>
            </a:r>
            <a:r>
              <a:rPr lang="en-US" sz="3200" dirty="0"/>
              <a:t> </a:t>
            </a:r>
            <a:r>
              <a:rPr lang="en-US" sz="3200" dirty="0" err="1"/>
              <a:t>danh</a:t>
            </a:r>
            <a:r>
              <a:rPr lang="en-US" sz="3200" dirty="0"/>
              <a:t> </a:t>
            </a:r>
            <a:r>
              <a:rPr lang="en-US" sz="3200" dirty="0" err="1"/>
              <a:t>sách</a:t>
            </a:r>
            <a:endParaRPr lang="en-US" sz="3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25</a:t>
            </a:fld>
            <a:endParaRPr lang="en-US"/>
          </a:p>
        </p:txBody>
      </p:sp>
      <p:cxnSp>
        <p:nvCxnSpPr>
          <p:cNvPr id="3" name="Curved Connector 2"/>
          <p:cNvCxnSpPr/>
          <p:nvPr/>
        </p:nvCxnSpPr>
        <p:spPr>
          <a:xfrm flipH="1">
            <a:off x="990600" y="5121726"/>
            <a:ext cx="6933471" cy="10884"/>
          </a:xfrm>
          <a:prstGeom prst="curvedConnector5">
            <a:avLst>
              <a:gd name="adj1" fmla="val -3716"/>
              <a:gd name="adj2" fmla="val 13265720"/>
              <a:gd name="adj3" fmla="val 106095"/>
            </a:avLst>
          </a:prstGeom>
          <a:ln w="3810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27615" y="4887684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579914" y="48985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089400" y="48985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5613400" y="49040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7137400" y="487680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>
            <a:stCxn id="34" idx="3"/>
            <a:endCxn id="35" idx="1"/>
          </p:cNvCxnSpPr>
          <p:nvPr/>
        </p:nvCxnSpPr>
        <p:spPr>
          <a:xfrm>
            <a:off x="1851301" y="511628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403600" y="5109031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4927600" y="51271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6451600" y="51271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5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8077200" cy="1143000"/>
          </a:xfrm>
        </p:spPr>
        <p:txBody>
          <a:bodyPr/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DSLK</a:t>
            </a:r>
          </a:p>
        </p:txBody>
      </p:sp>
      <p:graphicFrame>
        <p:nvGraphicFramePr>
          <p:cNvPr id="34855" name="Group 39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983094276"/>
              </p:ext>
            </p:extLst>
          </p:nvPr>
        </p:nvGraphicFramePr>
        <p:xfrm>
          <a:off x="304800" y="1524000"/>
          <a:ext cx="8610600" cy="449580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1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Mảng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Danh</a:t>
                      </a:r>
                      <a:r>
                        <a:rPr kumimoji="0" lang="en-US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sách</a:t>
                      </a:r>
                      <a:r>
                        <a:rPr kumimoji="0" lang="en-US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liên</a:t>
                      </a:r>
                      <a:r>
                        <a:rPr kumimoji="0" lang="en-US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kết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66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Kích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thước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cố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định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Số phần tử thay đổi tùy ý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385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Các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phần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tử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lưu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trữ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tuần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tự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địa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chỉ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tăng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dần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)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trong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bộ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nhớ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Các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phần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tử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liên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kết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với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nhau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thông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qua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các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“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dây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liên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kết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”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696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Phải dịch chuyển các phần tử khi Thêm/Xóa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Chỉ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cần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thay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đổi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“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dây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liên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kết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”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khi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Thêm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Xóa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66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Truy xuất ngẫu nhiên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Truy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xuất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tuần</a:t>
                      </a:r>
                      <a:r>
                        <a:rPr kumimoji="0" lang="en-US" sz="2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n-US" sz="2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tự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36CAD-60C1-453A-BFE9-725E3BFA5FF0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9866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332415" y="2144484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884714" y="21553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394200" y="21553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918200" y="21608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442200" y="213360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>
            <a:stCxn id="12" idx="3"/>
            <a:endCxn id="16" idx="1"/>
          </p:cNvCxnSpPr>
          <p:nvPr/>
        </p:nvCxnSpPr>
        <p:spPr>
          <a:xfrm>
            <a:off x="2156101" y="237308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708400" y="2365831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232400" y="23839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756400" y="23839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9248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DSLK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36CAD-60C1-453A-BFE9-725E3BFA5FF0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54" name="Group 53"/>
          <p:cNvGrpSpPr/>
          <p:nvPr/>
        </p:nvGrpSpPr>
        <p:grpSpPr>
          <a:xfrm>
            <a:off x="3048000" y="1330035"/>
            <a:ext cx="3657600" cy="2743200"/>
            <a:chOff x="76200" y="4038600"/>
            <a:chExt cx="3657600" cy="2743200"/>
          </a:xfrm>
        </p:grpSpPr>
        <p:sp>
          <p:nvSpPr>
            <p:cNvPr id="53" name="Oval 52"/>
            <p:cNvSpPr/>
            <p:nvPr/>
          </p:nvSpPr>
          <p:spPr>
            <a:xfrm>
              <a:off x="76200" y="4038600"/>
              <a:ext cx="3657600" cy="274320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  <a:p>
              <a:pPr algn="ctr"/>
              <a:endParaRPr lang="en-US"/>
            </a:p>
            <a:p>
              <a:pPr algn="ctr"/>
              <a:endParaRPr lang="en-US"/>
            </a:p>
            <a:p>
              <a:pPr algn="ctr"/>
              <a:endParaRPr lang="en-US"/>
            </a:p>
            <a:p>
              <a:pPr algn="ctr"/>
              <a:endParaRPr lang="en-US"/>
            </a:p>
            <a:p>
              <a:pPr algn="ctr"/>
              <a:r>
                <a:rPr lang="en-US" sz="2400" b="1">
                  <a:solidFill>
                    <a:srgbClr val="0070C0"/>
                  </a:solidFill>
                </a:rPr>
                <a:t>Cấu trúc 1 node</a:t>
              </a:r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945717" y="4648200"/>
              <a:ext cx="2298104" cy="818710"/>
              <a:chOff x="457200" y="5257800"/>
              <a:chExt cx="2298104" cy="818710"/>
            </a:xfrm>
          </p:grpSpPr>
          <p:sp>
            <p:nvSpPr>
              <p:cNvPr id="47" name="Rectangle 46"/>
              <p:cNvSpPr/>
              <p:nvPr/>
            </p:nvSpPr>
            <p:spPr>
              <a:xfrm>
                <a:off x="457200" y="5257800"/>
                <a:ext cx="1585686" cy="8187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data</a:t>
                </a:r>
              </a:p>
            </p:txBody>
          </p:sp>
          <p:cxnSp>
            <p:nvCxnSpPr>
              <p:cNvPr id="50" name="Straight Connector 49"/>
              <p:cNvCxnSpPr/>
              <p:nvPr/>
            </p:nvCxnSpPr>
            <p:spPr>
              <a:xfrm>
                <a:off x="1895764" y="5688130"/>
                <a:ext cx="728613" cy="10884"/>
              </a:xfrm>
              <a:prstGeom prst="line">
                <a:avLst/>
              </a:prstGeom>
              <a:ln w="38100">
                <a:solidFill>
                  <a:srgbClr val="C00000"/>
                </a:solidFill>
                <a:prstDash val="soli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/>
              <p:cNvSpPr txBox="1"/>
              <p:nvPr/>
            </p:nvSpPr>
            <p:spPr>
              <a:xfrm>
                <a:off x="2100188" y="5257800"/>
                <a:ext cx="6551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next</a:t>
                </a:r>
              </a:p>
            </p:txBody>
          </p:sp>
        </p:grpSp>
      </p:grpSp>
      <p:sp>
        <p:nvSpPr>
          <p:cNvPr id="56" name="Rectangle 55"/>
          <p:cNvSpPr/>
          <p:nvPr/>
        </p:nvSpPr>
        <p:spPr>
          <a:xfrm>
            <a:off x="3988640" y="4629091"/>
            <a:ext cx="4824319" cy="154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2060"/>
                </a:solidFill>
              </a:rPr>
              <a:t>data</a:t>
            </a:r>
            <a:r>
              <a:rPr lang="en-US" sz="2400" b="1" dirty="0"/>
              <a:t>: </a:t>
            </a:r>
            <a:r>
              <a:rPr lang="en-US" sz="2400" b="1" dirty="0" err="1"/>
              <a:t>Dữ</a:t>
            </a:r>
            <a:r>
              <a:rPr lang="en-US" sz="2400" b="1" dirty="0"/>
              <a:t> </a:t>
            </a:r>
            <a:r>
              <a:rPr lang="en-US" sz="2400" b="1" dirty="0" err="1"/>
              <a:t>liệu</a:t>
            </a:r>
            <a:r>
              <a:rPr lang="en-US" sz="2400" b="1" dirty="0"/>
              <a:t> </a:t>
            </a:r>
            <a:r>
              <a:rPr lang="en-US" sz="2400" b="1" dirty="0" err="1"/>
              <a:t>của</a:t>
            </a:r>
            <a:r>
              <a:rPr lang="en-US" sz="2400" b="1" dirty="0"/>
              <a:t> node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next</a:t>
            </a:r>
            <a:r>
              <a:rPr lang="en-US" sz="2400" b="1" dirty="0"/>
              <a:t>: </a:t>
            </a:r>
            <a:r>
              <a:rPr lang="en-US" sz="2400" b="1" dirty="0" err="1"/>
              <a:t>Nối</a:t>
            </a:r>
            <a:r>
              <a:rPr lang="en-US" sz="2400" b="1" dirty="0"/>
              <a:t> </a:t>
            </a:r>
            <a:r>
              <a:rPr lang="en-US" sz="2400" b="1" dirty="0" err="1"/>
              <a:t>đến</a:t>
            </a:r>
            <a:r>
              <a:rPr lang="en-US" sz="2400" b="1" dirty="0"/>
              <a:t> node </a:t>
            </a:r>
            <a:r>
              <a:rPr lang="en-US" sz="2400" b="1" dirty="0" err="1"/>
              <a:t>kế</a:t>
            </a:r>
            <a:r>
              <a:rPr lang="en-US" sz="2400" b="1" dirty="0"/>
              <a:t> </a:t>
            </a:r>
            <a:r>
              <a:rPr lang="en-US" sz="2400" b="1" dirty="0" err="1"/>
              <a:t>tiếp</a:t>
            </a:r>
            <a:endParaRPr lang="en-US" sz="2400" b="1" dirty="0"/>
          </a:p>
          <a:p>
            <a:r>
              <a:rPr lang="en-US" sz="2400" b="1" dirty="0">
                <a:solidFill>
                  <a:srgbClr val="002060"/>
                </a:solidFill>
              </a:rPr>
              <a:t>first</a:t>
            </a:r>
            <a:r>
              <a:rPr lang="en-US" sz="2400" b="1" dirty="0"/>
              <a:t>: Node </a:t>
            </a:r>
            <a:r>
              <a:rPr lang="en-US" sz="2400" b="1" dirty="0" err="1"/>
              <a:t>đầu</a:t>
            </a:r>
            <a:r>
              <a:rPr lang="en-US" sz="2400" b="1" dirty="0"/>
              <a:t> </a:t>
            </a:r>
            <a:r>
              <a:rPr lang="en-US" sz="2400" b="1" dirty="0" err="1"/>
              <a:t>tiên</a:t>
            </a:r>
            <a:endParaRPr lang="en-US" sz="2400" b="1" dirty="0"/>
          </a:p>
          <a:p>
            <a:r>
              <a:rPr lang="en-US" sz="2400" b="1" dirty="0">
                <a:solidFill>
                  <a:srgbClr val="002060"/>
                </a:solidFill>
              </a:rPr>
              <a:t>last</a:t>
            </a:r>
            <a:r>
              <a:rPr lang="en-US" sz="2400" b="1" dirty="0"/>
              <a:t>: Node cuối </a:t>
            </a:r>
            <a:r>
              <a:rPr lang="en-US" sz="2400" b="1" dirty="0" err="1"/>
              <a:t>cùng</a:t>
            </a:r>
            <a:endParaRPr lang="en-US" sz="2400" b="1" dirty="0"/>
          </a:p>
        </p:txBody>
      </p:sp>
      <p:grpSp>
        <p:nvGrpSpPr>
          <p:cNvPr id="55" name="Group 54"/>
          <p:cNvGrpSpPr/>
          <p:nvPr/>
        </p:nvGrpSpPr>
        <p:grpSpPr>
          <a:xfrm>
            <a:off x="471055" y="3867090"/>
            <a:ext cx="2757055" cy="1085910"/>
            <a:chOff x="214745" y="4724400"/>
            <a:chExt cx="2757055" cy="1085910"/>
          </a:xfrm>
        </p:grpSpPr>
        <p:sp>
          <p:nvSpPr>
            <p:cNvPr id="57" name="Rectangle 56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14745" y="5087080"/>
              <a:ext cx="6976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cxnSp>
        <p:nvCxnSpPr>
          <p:cNvPr id="63" name="Elbow Connector 62"/>
          <p:cNvCxnSpPr>
            <a:stCxn id="58" idx="0"/>
          </p:cNvCxnSpPr>
          <p:nvPr/>
        </p:nvCxnSpPr>
        <p:spPr>
          <a:xfrm rot="5400000" flipH="1" flipV="1">
            <a:off x="1032881" y="3308114"/>
            <a:ext cx="1417806" cy="494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/>
          <p:cNvCxnSpPr>
            <a:stCxn id="60" idx="3"/>
          </p:cNvCxnSpPr>
          <p:nvPr/>
        </p:nvCxnSpPr>
        <p:spPr>
          <a:xfrm flipV="1">
            <a:off x="3076384" y="2590800"/>
            <a:ext cx="4777659" cy="1695390"/>
          </a:xfrm>
          <a:prstGeom prst="bentConnector2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>
            <a:off x="8265886" y="2137231"/>
            <a:ext cx="411843" cy="457200"/>
            <a:chOff x="7924800" y="6206835"/>
            <a:chExt cx="411843" cy="457200"/>
          </a:xfrm>
        </p:grpSpPr>
        <p:sp>
          <p:nvSpPr>
            <p:cNvPr id="66" name="Rectangle 65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7" name="Group 66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68" name="Straight Connector 67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3881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901512"/>
          </a:xfrm>
        </p:spPr>
        <p:txBody>
          <a:bodyPr/>
          <a:lstStyle/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node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36CAD-60C1-453A-BFE9-725E3BFA5FF0}" type="slidenum">
              <a:rPr lang="en-US" smtClean="0"/>
              <a:pPr/>
              <a:t>28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867400" y="152400"/>
            <a:ext cx="2621316" cy="990597"/>
            <a:chOff x="457200" y="5257797"/>
            <a:chExt cx="2190413" cy="818713"/>
          </a:xfrm>
        </p:grpSpPr>
        <p:sp>
          <p:nvSpPr>
            <p:cNvPr id="11" name="Rectangle 10"/>
            <p:cNvSpPr/>
            <p:nvPr/>
          </p:nvSpPr>
          <p:spPr>
            <a:xfrm>
              <a:off x="457200" y="5257800"/>
              <a:ext cx="1585686" cy="8187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data</a:t>
              </a: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1895764" y="5688130"/>
              <a:ext cx="728613" cy="5442"/>
            </a:xfrm>
            <a:prstGeom prst="line">
              <a:avLst/>
            </a:prstGeom>
            <a:ln w="38100">
              <a:solidFill>
                <a:srgbClr val="C0000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100188" y="5257797"/>
              <a:ext cx="547425" cy="3306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next</a:t>
              </a:r>
            </a:p>
          </p:txBody>
        </p:sp>
      </p:grpSp>
      <p:sp>
        <p:nvSpPr>
          <p:cNvPr id="5" name="Rectangle 4"/>
          <p:cNvSpPr/>
          <p:nvPr/>
        </p:nvSpPr>
        <p:spPr>
          <a:xfrm>
            <a:off x="685800" y="1600200"/>
            <a:ext cx="7772400" cy="5170646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</a:rPr>
              <a:t>Node&lt;T&gt;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private </a:t>
            </a:r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data;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private </a:t>
            </a:r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</a:rPr>
              <a:t>Node&lt;T&gt;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next = null;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Data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data; }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{ data 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value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</a:rPr>
              <a:t>Node&lt;T&gt;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Next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next; }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{ next 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value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143089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001000" cy="1143000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node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36CAD-60C1-453A-BFE9-725E3BFA5FF0}" type="slidenum">
              <a:rPr lang="en-US" smtClean="0"/>
              <a:pPr/>
              <a:t>29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636923" y="266613"/>
            <a:ext cx="2409700" cy="700541"/>
            <a:chOff x="457200" y="5257800"/>
            <a:chExt cx="2256437" cy="818710"/>
          </a:xfrm>
        </p:grpSpPr>
        <p:sp>
          <p:nvSpPr>
            <p:cNvPr id="11" name="Rectangle 10"/>
            <p:cNvSpPr/>
            <p:nvPr/>
          </p:nvSpPr>
          <p:spPr>
            <a:xfrm>
              <a:off x="457200" y="5257800"/>
              <a:ext cx="1585686" cy="8187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/>
                <a:t>20</a:t>
              </a: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1895764" y="5688130"/>
              <a:ext cx="728613" cy="10884"/>
            </a:xfrm>
            <a:prstGeom prst="line">
              <a:avLst/>
            </a:prstGeom>
            <a:ln w="38100">
              <a:solidFill>
                <a:srgbClr val="C0000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100188" y="5257800"/>
              <a:ext cx="613449" cy="467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next</a:t>
              </a:r>
            </a:p>
          </p:txBody>
        </p:sp>
      </p:grpSp>
      <p:sp>
        <p:nvSpPr>
          <p:cNvPr id="5" name="Rectangle 4"/>
          <p:cNvSpPr/>
          <p:nvPr/>
        </p:nvSpPr>
        <p:spPr>
          <a:xfrm>
            <a:off x="1600200" y="1196400"/>
            <a:ext cx="6019800" cy="5509200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private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data;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private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next = null;</a:t>
            </a:r>
          </a:p>
          <a:p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Data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	get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data; }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	set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{ data 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value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Next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	{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	get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next; }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	set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{ next 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value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	}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50934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92740" y="266291"/>
            <a:ext cx="7886700" cy="876709"/>
          </a:xfrm>
        </p:spPr>
        <p:txBody>
          <a:bodyPr/>
          <a:lstStyle/>
          <a:p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rỗng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30</a:t>
            </a:fld>
            <a:endParaRPr lang="en-US"/>
          </a:p>
        </p:txBody>
      </p:sp>
      <p:sp>
        <p:nvSpPr>
          <p:cNvPr id="37903" name="AutoShape 15"/>
          <p:cNvSpPr>
            <a:spLocks noChangeArrowheads="1"/>
          </p:cNvSpPr>
          <p:nvPr/>
        </p:nvSpPr>
        <p:spPr bwMode="auto">
          <a:xfrm>
            <a:off x="2971800" y="3523101"/>
            <a:ext cx="914400" cy="6858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6"/>
          </a:solid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6172200" y="4368225"/>
            <a:ext cx="289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FF66"/>
                </a:solidFill>
              </a:rPr>
              <a:t>Sau </a:t>
            </a:r>
            <a:r>
              <a:rPr lang="en-US" sz="3200" dirty="0" err="1">
                <a:solidFill>
                  <a:srgbClr val="FFFF66"/>
                </a:solidFill>
              </a:rPr>
              <a:t>khi</a:t>
            </a:r>
            <a:r>
              <a:rPr lang="en-US" sz="3200" dirty="0">
                <a:solidFill>
                  <a:srgbClr val="FFFF66"/>
                </a:solidFill>
              </a:rPr>
              <a:t> </a:t>
            </a:r>
            <a:r>
              <a:rPr lang="en-US" sz="3200" dirty="0" err="1">
                <a:solidFill>
                  <a:srgbClr val="FFFF66"/>
                </a:solidFill>
              </a:rPr>
              <a:t>tạo</a:t>
            </a:r>
            <a:r>
              <a:rPr lang="en-US" sz="3200" dirty="0">
                <a:solidFill>
                  <a:srgbClr val="FFFF66"/>
                </a:solidFill>
              </a:rPr>
              <a:t> </a:t>
            </a:r>
            <a:r>
              <a:rPr lang="en-US" sz="3200" dirty="0" err="1">
                <a:solidFill>
                  <a:srgbClr val="FFFF66"/>
                </a:solidFill>
              </a:rPr>
              <a:t>lập</a:t>
            </a:r>
            <a:endParaRPr lang="en-US" sz="3200" dirty="0">
              <a:solidFill>
                <a:srgbClr val="FFFF66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90839" y="3323046"/>
            <a:ext cx="1984099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943239" y="3475446"/>
            <a:ext cx="6858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002060"/>
                </a:solidFill>
              </a:rPr>
              <a:t>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6757" y="4008846"/>
            <a:ext cx="605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first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37412" y="3475446"/>
            <a:ext cx="6858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002060"/>
                </a:solidFill>
              </a:rPr>
              <a:t>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14969" y="4008846"/>
            <a:ext cx="5616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last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883" y="3685726"/>
            <a:ext cx="697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List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200" y="4368225"/>
            <a:ext cx="320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FF66"/>
                </a:solidFill>
              </a:rPr>
              <a:t>Trước</a:t>
            </a:r>
            <a:r>
              <a:rPr lang="en-US" sz="3200" dirty="0">
                <a:solidFill>
                  <a:srgbClr val="FFFF66"/>
                </a:solidFill>
              </a:rPr>
              <a:t> </a:t>
            </a:r>
            <a:r>
              <a:rPr lang="en-US" sz="3200" dirty="0" err="1">
                <a:solidFill>
                  <a:srgbClr val="FFFF66"/>
                </a:solidFill>
              </a:rPr>
              <a:t>khi</a:t>
            </a:r>
            <a:r>
              <a:rPr lang="en-US" sz="3200" dirty="0">
                <a:solidFill>
                  <a:srgbClr val="FFFF66"/>
                </a:solidFill>
              </a:rPr>
              <a:t> </a:t>
            </a:r>
            <a:r>
              <a:rPr lang="en-US" sz="3200" dirty="0" err="1">
                <a:solidFill>
                  <a:srgbClr val="FFFF66"/>
                </a:solidFill>
              </a:rPr>
              <a:t>tạo</a:t>
            </a:r>
            <a:r>
              <a:rPr lang="en-US" sz="3200" dirty="0">
                <a:solidFill>
                  <a:srgbClr val="FFFF66"/>
                </a:solidFill>
              </a:rPr>
              <a:t> </a:t>
            </a:r>
            <a:r>
              <a:rPr lang="en-US" sz="3200" dirty="0" err="1">
                <a:solidFill>
                  <a:srgbClr val="FFFF66"/>
                </a:solidFill>
              </a:rPr>
              <a:t>lập</a:t>
            </a:r>
            <a:endParaRPr lang="en-US" sz="3200" dirty="0">
              <a:solidFill>
                <a:srgbClr val="FFFF66"/>
              </a:solidFill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6172200" y="3326250"/>
            <a:ext cx="2757055" cy="1085910"/>
            <a:chOff x="214745" y="4724400"/>
            <a:chExt cx="2757055" cy="1085910"/>
          </a:xfrm>
        </p:grpSpPr>
        <p:sp>
          <p:nvSpPr>
            <p:cNvPr id="62" name="Rectangle 61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14745" y="5087080"/>
              <a:ext cx="6976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097556" y="3475446"/>
            <a:ext cx="685800" cy="533400"/>
            <a:chOff x="7097556" y="1901796"/>
            <a:chExt cx="685800" cy="53340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7097556" y="1901796"/>
              <a:ext cx="685800" cy="5334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7097556" y="1905000"/>
              <a:ext cx="685800" cy="53019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/>
          <p:cNvGrpSpPr/>
          <p:nvPr/>
        </p:nvGrpSpPr>
        <p:grpSpPr>
          <a:xfrm>
            <a:off x="8077200" y="3478650"/>
            <a:ext cx="685800" cy="533400"/>
            <a:chOff x="7097556" y="1901796"/>
            <a:chExt cx="685800" cy="533400"/>
          </a:xfrm>
        </p:grpSpPr>
        <p:cxnSp>
          <p:nvCxnSpPr>
            <p:cNvPr id="77" name="Straight Connector 76"/>
            <p:cNvCxnSpPr/>
            <p:nvPr/>
          </p:nvCxnSpPr>
          <p:spPr>
            <a:xfrm>
              <a:off x="7097556" y="1901796"/>
              <a:ext cx="685800" cy="5334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flipV="1">
              <a:off x="7097556" y="1905000"/>
              <a:ext cx="685800" cy="53019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Folded Corner 15"/>
          <p:cNvSpPr/>
          <p:nvPr/>
        </p:nvSpPr>
        <p:spPr>
          <a:xfrm>
            <a:off x="152400" y="2234625"/>
            <a:ext cx="3062304" cy="9144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first </a:t>
            </a:r>
            <a:r>
              <a:rPr lang="en-US" sz="2800" b="1" dirty="0" err="1"/>
              <a:t>và</a:t>
            </a:r>
            <a:r>
              <a:rPr lang="en-US" sz="2800" b="1" dirty="0"/>
              <a:t> last </a:t>
            </a:r>
            <a:r>
              <a:rPr lang="en-US" sz="2800" b="1" dirty="0" err="1"/>
              <a:t>chưa</a:t>
            </a:r>
            <a:r>
              <a:rPr lang="en-US" sz="2800" b="1" dirty="0"/>
              <a:t> </a:t>
            </a:r>
            <a:r>
              <a:rPr lang="en-US" sz="2800" b="1" dirty="0" err="1"/>
              <a:t>xác</a:t>
            </a:r>
            <a:r>
              <a:rPr lang="en-US" sz="2800" b="1" dirty="0"/>
              <a:t> </a:t>
            </a:r>
            <a:r>
              <a:rPr lang="en-US" sz="2800" b="1" dirty="0" err="1"/>
              <a:t>định</a:t>
            </a:r>
            <a:endParaRPr lang="en-US" sz="2800" b="1" dirty="0"/>
          </a:p>
        </p:txBody>
      </p:sp>
      <p:sp>
        <p:nvSpPr>
          <p:cNvPr id="80" name="Folded Corner 79"/>
          <p:cNvSpPr/>
          <p:nvPr/>
        </p:nvSpPr>
        <p:spPr>
          <a:xfrm>
            <a:off x="5935335" y="2234625"/>
            <a:ext cx="3062304" cy="9144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first </a:t>
            </a:r>
            <a:r>
              <a:rPr lang="en-US" sz="2800" b="1" dirty="0" err="1"/>
              <a:t>và</a:t>
            </a:r>
            <a:r>
              <a:rPr lang="en-US" sz="2800" b="1" dirty="0"/>
              <a:t> last </a:t>
            </a:r>
            <a:r>
              <a:rPr lang="en-US" sz="2800" b="1" dirty="0" err="1"/>
              <a:t>trỏ</a:t>
            </a:r>
            <a:r>
              <a:rPr lang="en-US" sz="2800" b="1" dirty="0"/>
              <a:t> </a:t>
            </a:r>
            <a:r>
              <a:rPr lang="en-US" sz="2800" b="1" dirty="0" err="1"/>
              <a:t>vào</a:t>
            </a:r>
            <a:r>
              <a:rPr lang="en-US" sz="2800" b="1" dirty="0"/>
              <a:t> null (</a:t>
            </a:r>
            <a:r>
              <a:rPr lang="en-US" sz="2800" b="1" dirty="0" err="1"/>
              <a:t>rỗng</a:t>
            </a:r>
            <a:r>
              <a:rPr lang="en-US" sz="2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7032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path" presetSubtype="0" repeatCount="indefinite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21" dur="2000" fill="hold"/>
                                        <p:tgtEl>
                                          <p:spTgt spid="37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03" grpId="0" animBg="1"/>
      <p:bldP spid="16" grpId="0" animBg="1"/>
      <p:bldP spid="8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558" y="0"/>
            <a:ext cx="8123642" cy="1143000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DSLK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36CAD-60C1-453A-BFE9-725E3BFA5FF0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32415" y="1306284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884714" y="13171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394200" y="13171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918200" y="13226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442200" y="129540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>
            <a:stCxn id="12" idx="3"/>
            <a:endCxn id="16" idx="1"/>
          </p:cNvCxnSpPr>
          <p:nvPr/>
        </p:nvCxnSpPr>
        <p:spPr>
          <a:xfrm>
            <a:off x="2156101" y="153488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708400" y="1527631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232400" y="15457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756400" y="15457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/>
          <p:cNvGrpSpPr/>
          <p:nvPr/>
        </p:nvGrpSpPr>
        <p:grpSpPr>
          <a:xfrm>
            <a:off x="471055" y="3028890"/>
            <a:ext cx="2757055" cy="1085910"/>
            <a:chOff x="214745" y="4724400"/>
            <a:chExt cx="2757055" cy="1085910"/>
          </a:xfrm>
        </p:grpSpPr>
        <p:sp>
          <p:nvSpPr>
            <p:cNvPr id="39" name="Rectangle 38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14745" y="5087080"/>
              <a:ext cx="6976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cxnSp>
        <p:nvCxnSpPr>
          <p:cNvPr id="45" name="Elbow Connector 44"/>
          <p:cNvCxnSpPr>
            <a:stCxn id="40" idx="0"/>
          </p:cNvCxnSpPr>
          <p:nvPr/>
        </p:nvCxnSpPr>
        <p:spPr>
          <a:xfrm rot="5400000" flipH="1" flipV="1">
            <a:off x="1032881" y="2469914"/>
            <a:ext cx="1417806" cy="494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>
            <a:stCxn id="42" idx="3"/>
          </p:cNvCxnSpPr>
          <p:nvPr/>
        </p:nvCxnSpPr>
        <p:spPr>
          <a:xfrm flipV="1">
            <a:off x="3076384" y="1752600"/>
            <a:ext cx="4777659" cy="1695390"/>
          </a:xfrm>
          <a:prstGeom prst="bentConnector2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/>
          <p:cNvGrpSpPr/>
          <p:nvPr/>
        </p:nvGrpSpPr>
        <p:grpSpPr>
          <a:xfrm>
            <a:off x="8274957" y="1299031"/>
            <a:ext cx="411843" cy="457200"/>
            <a:chOff x="7924800" y="6206835"/>
            <a:chExt cx="411843" cy="457200"/>
          </a:xfrm>
        </p:grpSpPr>
        <p:sp>
          <p:nvSpPr>
            <p:cNvPr id="48" name="Rectangle 47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50" name="Straight Connector 49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Rectangle 5"/>
          <p:cNvSpPr/>
          <p:nvPr/>
        </p:nvSpPr>
        <p:spPr>
          <a:xfrm>
            <a:off x="1168682" y="4267200"/>
            <a:ext cx="7097204" cy="2492990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2B91AF"/>
                </a:solidFill>
                <a:latin typeface="Consolas" panose="020B0609020204030204" pitchFamily="49" charset="0"/>
              </a:rPr>
              <a:t>MyLinkedList</a:t>
            </a:r>
            <a:r>
              <a:rPr lang="en-US" sz="2600" dirty="0">
                <a:solidFill>
                  <a:srgbClr val="2B91AF"/>
                </a:solidFill>
                <a:latin typeface="Consolas" panose="020B0609020204030204" pitchFamily="49" charset="0"/>
              </a:rPr>
              <a:t>&lt;T&gt;</a:t>
            </a:r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private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2B91AF"/>
                </a:solidFill>
                <a:latin typeface="Consolas" panose="020B0609020204030204" pitchFamily="49" charset="0"/>
              </a:rPr>
              <a:t>Node&lt;T&gt;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first = null;</a:t>
            </a:r>
          </a:p>
          <a:p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private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2B91AF"/>
                </a:solidFill>
                <a:latin typeface="Consolas" panose="020B0609020204030204" pitchFamily="49" charset="0"/>
              </a:rPr>
              <a:t>Node&lt;T&gt;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last = null;</a:t>
            </a: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//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Các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phương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thức</a:t>
            </a:r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2709790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558" y="0"/>
            <a:ext cx="8428442" cy="1143000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DSLK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36CAD-60C1-453A-BFE9-725E3BFA5FF0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32415" y="1306284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4714" y="13171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94200" y="13171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18200" y="13226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42200" y="129540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cxnSp>
        <p:nvCxnSpPr>
          <p:cNvPr id="31" name="Straight Connector 30"/>
          <p:cNvCxnSpPr>
            <a:stCxn id="12" idx="3"/>
            <a:endCxn id="16" idx="1"/>
          </p:cNvCxnSpPr>
          <p:nvPr/>
        </p:nvCxnSpPr>
        <p:spPr>
          <a:xfrm>
            <a:off x="2156101" y="153488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708400" y="1527631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232400" y="15457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756400" y="15457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/>
          <p:cNvGrpSpPr/>
          <p:nvPr/>
        </p:nvGrpSpPr>
        <p:grpSpPr>
          <a:xfrm>
            <a:off x="471055" y="3028890"/>
            <a:ext cx="2757055" cy="1085910"/>
            <a:chOff x="214745" y="4724400"/>
            <a:chExt cx="2757055" cy="1085910"/>
          </a:xfrm>
        </p:grpSpPr>
        <p:sp>
          <p:nvSpPr>
            <p:cNvPr id="39" name="Rectangle 38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14745" y="5087080"/>
              <a:ext cx="6976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cxnSp>
        <p:nvCxnSpPr>
          <p:cNvPr id="45" name="Elbow Connector 44"/>
          <p:cNvCxnSpPr>
            <a:stCxn id="40" idx="0"/>
          </p:cNvCxnSpPr>
          <p:nvPr/>
        </p:nvCxnSpPr>
        <p:spPr>
          <a:xfrm rot="5400000" flipH="1" flipV="1">
            <a:off x="1032881" y="2469914"/>
            <a:ext cx="1417806" cy="494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>
            <a:stCxn id="42" idx="3"/>
          </p:cNvCxnSpPr>
          <p:nvPr/>
        </p:nvCxnSpPr>
        <p:spPr>
          <a:xfrm flipV="1">
            <a:off x="3076384" y="1752600"/>
            <a:ext cx="4777659" cy="1695390"/>
          </a:xfrm>
          <a:prstGeom prst="bentConnector2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/>
          <p:cNvGrpSpPr/>
          <p:nvPr/>
        </p:nvGrpSpPr>
        <p:grpSpPr>
          <a:xfrm>
            <a:off x="8274957" y="1299031"/>
            <a:ext cx="411843" cy="457200"/>
            <a:chOff x="7924800" y="6206835"/>
            <a:chExt cx="411843" cy="457200"/>
          </a:xfrm>
        </p:grpSpPr>
        <p:sp>
          <p:nvSpPr>
            <p:cNvPr id="48" name="Rectangle 47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50" name="Straight Connector 49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Rectangle 4"/>
          <p:cNvSpPr/>
          <p:nvPr/>
        </p:nvSpPr>
        <p:spPr>
          <a:xfrm>
            <a:off x="1168682" y="4419600"/>
            <a:ext cx="6146518" cy="2123658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IntLinkedList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private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IntNode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first = null;</a:t>
            </a:r>
          </a:p>
          <a:p>
            <a:r>
              <a:rPr lang="en-US" sz="2200" dirty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IntNode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last = null;</a:t>
            </a:r>
          </a:p>
          <a:p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	</a:t>
            </a:r>
            <a:r>
              <a:rPr lang="vi-VN" sz="2200" dirty="0">
                <a:solidFill>
                  <a:srgbClr val="008000"/>
                </a:solidFill>
                <a:latin typeface="Consolas" panose="020B0609020204030204" pitchFamily="49" charset="0"/>
              </a:rPr>
              <a:t>//Các phương thức</a:t>
            </a:r>
            <a:endParaRPr lang="vi-VN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879620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152400"/>
            <a:ext cx="8058150" cy="1143000"/>
          </a:xfrm>
        </p:spPr>
        <p:txBody>
          <a:bodyPr>
            <a:noAutofit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DSLK </a:t>
            </a:r>
            <a:r>
              <a:rPr lang="en-US" dirty="0" err="1"/>
              <a:t>đơn</a:t>
            </a:r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805815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rỗng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Thêm</a:t>
            </a:r>
            <a:r>
              <a:rPr lang="en-US" dirty="0"/>
              <a:t> 1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Xóa</a:t>
            </a:r>
            <a:r>
              <a:rPr lang="en-US" dirty="0"/>
              <a:t> 1 </a:t>
            </a:r>
            <a:r>
              <a:rPr lang="en-US" dirty="0" err="1"/>
              <a:t>nút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Tìm</a:t>
            </a:r>
            <a:r>
              <a:rPr lang="en-US" dirty="0"/>
              <a:t> 1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7521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Kiểm tra danh sách rỗng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34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3124200" y="3048000"/>
            <a:ext cx="320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0070C0"/>
                </a:solidFill>
              </a:rPr>
              <a:t>Danh sách rỗng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276600" y="1809690"/>
            <a:ext cx="2757055" cy="1085910"/>
            <a:chOff x="214745" y="4724400"/>
            <a:chExt cx="2757055" cy="1085910"/>
          </a:xfrm>
        </p:grpSpPr>
        <p:sp>
          <p:nvSpPr>
            <p:cNvPr id="37" name="Rectangle 36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14745" y="5087080"/>
              <a:ext cx="6976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4201956" y="1958886"/>
            <a:ext cx="685800" cy="533400"/>
            <a:chOff x="7097556" y="1901796"/>
            <a:chExt cx="685800" cy="533400"/>
          </a:xfrm>
        </p:grpSpPr>
        <p:cxnSp>
          <p:nvCxnSpPr>
            <p:cNvPr id="44" name="Straight Connector 43"/>
            <p:cNvCxnSpPr/>
            <p:nvPr/>
          </p:nvCxnSpPr>
          <p:spPr>
            <a:xfrm>
              <a:off x="7097556" y="1901796"/>
              <a:ext cx="685800" cy="5334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V="1">
              <a:off x="7097556" y="1905000"/>
              <a:ext cx="685800" cy="53019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5181600" y="1962090"/>
            <a:ext cx="685800" cy="533400"/>
            <a:chOff x="7097556" y="1901796"/>
            <a:chExt cx="685800" cy="533400"/>
          </a:xfrm>
        </p:grpSpPr>
        <p:cxnSp>
          <p:nvCxnSpPr>
            <p:cNvPr id="47" name="Straight Connector 46"/>
            <p:cNvCxnSpPr/>
            <p:nvPr/>
          </p:nvCxnSpPr>
          <p:spPr>
            <a:xfrm>
              <a:off x="7097556" y="1901796"/>
              <a:ext cx="685800" cy="5334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V="1">
              <a:off x="7097556" y="1905000"/>
              <a:ext cx="685800" cy="53019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/>
          <p:cNvSpPr/>
          <p:nvPr/>
        </p:nvSpPr>
        <p:spPr>
          <a:xfrm>
            <a:off x="838200" y="4418847"/>
            <a:ext cx="7162800" cy="1692771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first == 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99400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76200"/>
            <a:ext cx="7886700" cy="1325563"/>
          </a:xfrm>
        </p:spPr>
        <p:txBody>
          <a:bodyPr/>
          <a:lstStyle/>
          <a:p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endParaRPr lang="en-US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19200"/>
            <a:ext cx="7693025" cy="6858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TH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rỗng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35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694871" y="2952690"/>
            <a:ext cx="2757055" cy="1085910"/>
            <a:chOff x="214745" y="4724400"/>
            <a:chExt cx="2757055" cy="1085910"/>
          </a:xfrm>
        </p:grpSpPr>
        <p:sp>
          <p:nvSpPr>
            <p:cNvPr id="42" name="Rectangle 41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14745" y="5087080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620227" y="3101886"/>
            <a:ext cx="685800" cy="533400"/>
            <a:chOff x="7097556" y="1901796"/>
            <a:chExt cx="685800" cy="533400"/>
          </a:xfrm>
        </p:grpSpPr>
        <p:cxnSp>
          <p:nvCxnSpPr>
            <p:cNvPr id="49" name="Straight Connector 48"/>
            <p:cNvCxnSpPr/>
            <p:nvPr/>
          </p:nvCxnSpPr>
          <p:spPr>
            <a:xfrm>
              <a:off x="7097556" y="1901796"/>
              <a:ext cx="685800" cy="5334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V="1">
              <a:off x="7097556" y="1905000"/>
              <a:ext cx="685800" cy="53019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2599871" y="3105090"/>
            <a:ext cx="685800" cy="533400"/>
            <a:chOff x="7097556" y="1901796"/>
            <a:chExt cx="685800" cy="533400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7097556" y="1901796"/>
              <a:ext cx="685800" cy="5334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V="1">
              <a:off x="7097556" y="1905000"/>
              <a:ext cx="685800" cy="53019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ectangle 53"/>
          <p:cNvSpPr/>
          <p:nvPr/>
        </p:nvSpPr>
        <p:spPr>
          <a:xfrm>
            <a:off x="5800271" y="320040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30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6633028" y="3204031"/>
            <a:ext cx="411843" cy="457200"/>
            <a:chOff x="7924800" y="6206835"/>
            <a:chExt cx="411843" cy="457200"/>
          </a:xfrm>
        </p:grpSpPr>
        <p:sp>
          <p:nvSpPr>
            <p:cNvPr id="56" name="Rectangle 55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" name="Elbow Connector 4"/>
          <p:cNvCxnSpPr/>
          <p:nvPr/>
        </p:nvCxnSpPr>
        <p:spPr>
          <a:xfrm rot="10800000">
            <a:off x="6372010" y="3657600"/>
            <a:ext cx="1064986" cy="533400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43923" y="3924300"/>
            <a:ext cx="1420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newNode</a:t>
            </a:r>
            <a:endParaRPr lang="en-US" sz="2400" b="1" dirty="0"/>
          </a:p>
        </p:txBody>
      </p:sp>
      <p:cxnSp>
        <p:nvCxnSpPr>
          <p:cNvPr id="10" name="Elbow Connector 9"/>
          <p:cNvCxnSpPr>
            <a:stCxn id="43" idx="0"/>
            <a:endCxn id="54" idx="0"/>
          </p:cNvCxnSpPr>
          <p:nvPr/>
        </p:nvCxnSpPr>
        <p:spPr>
          <a:xfrm rot="16200000" flipH="1">
            <a:off x="4039965" y="1028252"/>
            <a:ext cx="95310" cy="4248987"/>
          </a:xfrm>
          <a:prstGeom prst="bentConnector3">
            <a:avLst>
              <a:gd name="adj1" fmla="val -835837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/>
          <p:cNvCxnSpPr>
            <a:stCxn id="46" idx="0"/>
            <a:endCxn id="54" idx="2"/>
          </p:cNvCxnSpPr>
          <p:nvPr/>
        </p:nvCxnSpPr>
        <p:spPr>
          <a:xfrm rot="16200000" flipH="1">
            <a:off x="4582903" y="2028390"/>
            <a:ext cx="19110" cy="3239311"/>
          </a:xfrm>
          <a:prstGeom prst="bentConnector5">
            <a:avLst>
              <a:gd name="adj1" fmla="val 4133815"/>
              <a:gd name="adj2" fmla="val 47978"/>
              <a:gd name="adj3" fmla="val 4142962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2311889" y="5638800"/>
            <a:ext cx="4387740" cy="49244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600" i="1" dirty="0">
                <a:solidFill>
                  <a:srgbClr val="FF0000"/>
                </a:solidFill>
                <a:latin typeface="Consolas" panose="020B0609020204030204" pitchFamily="49" charset="0"/>
              </a:rPr>
              <a:t>first = last = </a:t>
            </a:r>
            <a:r>
              <a:rPr lang="en-US" sz="2600" i="1" dirty="0" err="1">
                <a:solidFill>
                  <a:srgbClr val="FF0000"/>
                </a:solidFill>
                <a:latin typeface="Consolas" panose="020B0609020204030204" pitchFamily="49" charset="0"/>
              </a:rPr>
              <a:t>newNode</a:t>
            </a:r>
            <a:r>
              <a:rPr lang="en-US" sz="2600" i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endParaRPr lang="en-US" sz="26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36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6200"/>
            <a:ext cx="7886700" cy="1325563"/>
          </a:xfrm>
        </p:spPr>
        <p:txBody>
          <a:bodyPr/>
          <a:lstStyle/>
          <a:p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95400"/>
            <a:ext cx="8058150" cy="685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36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466271" y="2681525"/>
            <a:ext cx="2757055" cy="1085910"/>
            <a:chOff x="214745" y="4724400"/>
            <a:chExt cx="2757055" cy="1085910"/>
          </a:xfrm>
        </p:grpSpPr>
        <p:sp>
          <p:nvSpPr>
            <p:cNvPr id="5" name="Rectangle 4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4745" y="5087080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3886200" y="2929235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30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4693557" y="2932866"/>
            <a:ext cx="411843" cy="457200"/>
            <a:chOff x="7924800" y="6206835"/>
            <a:chExt cx="411843" cy="457200"/>
          </a:xfrm>
        </p:grpSpPr>
        <p:sp>
          <p:nvSpPr>
            <p:cNvPr id="19" name="Rectangle 18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4" name="Elbow Connector 23"/>
          <p:cNvCxnSpPr>
            <a:stCxn id="6" idx="0"/>
            <a:endCxn id="17" idx="0"/>
          </p:cNvCxnSpPr>
          <p:nvPr/>
        </p:nvCxnSpPr>
        <p:spPr>
          <a:xfrm rot="16200000" flipH="1">
            <a:off x="2968630" y="1599822"/>
            <a:ext cx="95310" cy="2563516"/>
          </a:xfrm>
          <a:prstGeom prst="bentConnector3">
            <a:avLst>
              <a:gd name="adj1" fmla="val -617792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9" idx="0"/>
            <a:endCxn id="17" idx="2"/>
          </p:cNvCxnSpPr>
          <p:nvPr/>
        </p:nvCxnSpPr>
        <p:spPr>
          <a:xfrm rot="16200000" flipH="1">
            <a:off x="3511568" y="2599960"/>
            <a:ext cx="19110" cy="1553840"/>
          </a:xfrm>
          <a:prstGeom prst="bentConnector5">
            <a:avLst>
              <a:gd name="adj1" fmla="val 3238582"/>
              <a:gd name="adj2" fmla="val 45785"/>
              <a:gd name="adj3" fmla="val 3280225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028871" y="2929235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25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6861628" y="2932866"/>
            <a:ext cx="411843" cy="457200"/>
            <a:chOff x="7924800" y="6206835"/>
            <a:chExt cx="411843" cy="457200"/>
          </a:xfrm>
        </p:grpSpPr>
        <p:sp>
          <p:nvSpPr>
            <p:cNvPr id="53" name="Rectangle 52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7" name="Elbow Connector 56"/>
          <p:cNvCxnSpPr/>
          <p:nvPr/>
        </p:nvCxnSpPr>
        <p:spPr>
          <a:xfrm rot="10800000">
            <a:off x="6600610" y="3386435"/>
            <a:ext cx="1064986" cy="533400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672523" y="3653135"/>
            <a:ext cx="1420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newNode</a:t>
            </a:r>
            <a:endParaRPr lang="en-US" sz="2400" b="1" dirty="0"/>
          </a:p>
        </p:txBody>
      </p:sp>
      <p:sp>
        <p:nvSpPr>
          <p:cNvPr id="59" name="Folded Corner 58"/>
          <p:cNvSpPr/>
          <p:nvPr/>
        </p:nvSpPr>
        <p:spPr>
          <a:xfrm>
            <a:off x="891274" y="4495800"/>
            <a:ext cx="7021688" cy="17526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 err="1"/>
              <a:t>Có</a:t>
            </a:r>
            <a:r>
              <a:rPr lang="en-US" sz="3200" dirty="0"/>
              <a:t> 2 </a:t>
            </a:r>
            <a:r>
              <a:rPr lang="en-US" sz="3200" dirty="0" err="1"/>
              <a:t>trường</a:t>
            </a:r>
            <a:r>
              <a:rPr lang="en-US" sz="3200" dirty="0"/>
              <a:t> </a:t>
            </a:r>
            <a:r>
              <a:rPr lang="en-US" sz="3200" dirty="0" err="1"/>
              <a:t>hợp</a:t>
            </a:r>
            <a:r>
              <a:rPr lang="en-US" sz="3200" dirty="0"/>
              <a:t> </a:t>
            </a:r>
            <a:r>
              <a:rPr lang="en-US" sz="3200" dirty="0" err="1"/>
              <a:t>để</a:t>
            </a:r>
            <a:r>
              <a:rPr lang="en-US" sz="3200" dirty="0"/>
              <a:t> </a:t>
            </a:r>
            <a:r>
              <a:rPr lang="en-US" sz="3200" dirty="0" err="1"/>
              <a:t>thêm</a:t>
            </a:r>
            <a:r>
              <a:rPr lang="en-US" sz="3200" dirty="0"/>
              <a:t> </a:t>
            </a:r>
            <a:r>
              <a:rPr lang="en-US" sz="3200" dirty="0" err="1"/>
              <a:t>newNode</a:t>
            </a:r>
            <a:endParaRPr lang="en-US" sz="3200" dirty="0"/>
          </a:p>
          <a:p>
            <a:pPr marL="342900" indent="-342900">
              <a:buAutoNum type="arabicPeriod"/>
            </a:pPr>
            <a:r>
              <a:rPr lang="en-US" sz="3200" dirty="0" err="1"/>
              <a:t>Thêm</a:t>
            </a:r>
            <a:r>
              <a:rPr lang="en-US" sz="3200" dirty="0"/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newNode</a:t>
            </a:r>
            <a:r>
              <a:rPr lang="en-US" sz="3200" dirty="0"/>
              <a:t> </a:t>
            </a:r>
            <a:r>
              <a:rPr lang="en-US" sz="3200" dirty="0" err="1"/>
              <a:t>vào</a:t>
            </a:r>
            <a:r>
              <a:rPr lang="en-US" sz="3200" dirty="0"/>
              <a:t> </a:t>
            </a:r>
            <a:r>
              <a:rPr lang="en-US" sz="3200" dirty="0" err="1"/>
              <a:t>đầu</a:t>
            </a:r>
            <a:r>
              <a:rPr lang="en-US" sz="3200" dirty="0"/>
              <a:t> (</a:t>
            </a:r>
            <a:r>
              <a:rPr lang="en-US" sz="3200" dirty="0" err="1"/>
              <a:t>InsertFirst</a:t>
            </a:r>
            <a:r>
              <a:rPr lang="en-US" sz="3200" dirty="0"/>
              <a:t>)</a:t>
            </a:r>
          </a:p>
          <a:p>
            <a:pPr marL="342900" indent="-342900">
              <a:buAutoNum type="arabicPeriod"/>
            </a:pPr>
            <a:r>
              <a:rPr lang="en-US" sz="3200" dirty="0" err="1"/>
              <a:t>Thêm</a:t>
            </a:r>
            <a:r>
              <a:rPr lang="en-US" sz="3200" dirty="0"/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newNode</a:t>
            </a:r>
            <a:r>
              <a:rPr lang="en-US" sz="3200" dirty="0"/>
              <a:t> </a:t>
            </a:r>
            <a:r>
              <a:rPr lang="en-US" sz="3200" dirty="0" err="1"/>
              <a:t>vào</a:t>
            </a:r>
            <a:r>
              <a:rPr lang="en-US" sz="3200" dirty="0"/>
              <a:t> </a:t>
            </a:r>
            <a:r>
              <a:rPr lang="en-US" sz="3200" dirty="0" err="1"/>
              <a:t>cuối</a:t>
            </a:r>
            <a:r>
              <a:rPr lang="en-US" sz="3200" dirty="0"/>
              <a:t> (</a:t>
            </a:r>
            <a:r>
              <a:rPr lang="en-US" sz="3200" dirty="0" err="1"/>
              <a:t>InsertLast</a:t>
            </a:r>
            <a:r>
              <a:rPr lang="en-US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600648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 Thêm một nút vào đầu danh sách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37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466271" y="3405091"/>
            <a:ext cx="2757055" cy="1085910"/>
            <a:chOff x="214745" y="4724400"/>
            <a:chExt cx="2757055" cy="1085910"/>
          </a:xfrm>
        </p:grpSpPr>
        <p:sp>
          <p:nvSpPr>
            <p:cNvPr id="5" name="Rectangle 4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4745" y="5087080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3886200" y="3652801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30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4693557" y="3656432"/>
            <a:ext cx="411843" cy="457200"/>
            <a:chOff x="7924800" y="6206835"/>
            <a:chExt cx="411843" cy="457200"/>
          </a:xfrm>
        </p:grpSpPr>
        <p:sp>
          <p:nvSpPr>
            <p:cNvPr id="19" name="Rectangle 18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4" name="Elbow Connector 23"/>
          <p:cNvCxnSpPr>
            <a:stCxn id="6" idx="0"/>
            <a:endCxn id="17" idx="0"/>
          </p:cNvCxnSpPr>
          <p:nvPr/>
        </p:nvCxnSpPr>
        <p:spPr>
          <a:xfrm rot="16200000" flipH="1">
            <a:off x="2968630" y="2323388"/>
            <a:ext cx="95310" cy="2563516"/>
          </a:xfrm>
          <a:prstGeom prst="bentConnector3">
            <a:avLst>
              <a:gd name="adj1" fmla="val -690474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9" idx="0"/>
            <a:endCxn id="17" idx="2"/>
          </p:cNvCxnSpPr>
          <p:nvPr/>
        </p:nvCxnSpPr>
        <p:spPr>
          <a:xfrm rot="16200000" flipH="1">
            <a:off x="3511568" y="3323526"/>
            <a:ext cx="19110" cy="1553840"/>
          </a:xfrm>
          <a:prstGeom prst="bentConnector5">
            <a:avLst>
              <a:gd name="adj1" fmla="val 3528127"/>
              <a:gd name="adj2" fmla="val 45785"/>
              <a:gd name="adj3" fmla="val 3537279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028871" y="3652801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25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6861628" y="3656432"/>
            <a:ext cx="411843" cy="457200"/>
            <a:chOff x="7924800" y="6206835"/>
            <a:chExt cx="411843" cy="457200"/>
          </a:xfrm>
        </p:grpSpPr>
        <p:sp>
          <p:nvSpPr>
            <p:cNvPr id="53" name="Rectangle 52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7" name="Elbow Connector 56"/>
          <p:cNvCxnSpPr/>
          <p:nvPr/>
        </p:nvCxnSpPr>
        <p:spPr>
          <a:xfrm rot="10800000">
            <a:off x="6600610" y="4110001"/>
            <a:ext cx="1064986" cy="533400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672523" y="4376701"/>
            <a:ext cx="1420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newNode</a:t>
            </a:r>
            <a:endParaRPr lang="en-US" sz="2400" b="1" dirty="0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4495800" y="3085766"/>
            <a:ext cx="0" cy="56703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4495800" y="3099621"/>
            <a:ext cx="1752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6234545" y="3085766"/>
            <a:ext cx="0" cy="56703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6" idx="0"/>
            <a:endCxn id="51" idx="0"/>
          </p:cNvCxnSpPr>
          <p:nvPr/>
        </p:nvCxnSpPr>
        <p:spPr>
          <a:xfrm rot="16200000" flipH="1">
            <a:off x="4039965" y="1252053"/>
            <a:ext cx="95310" cy="4706187"/>
          </a:xfrm>
          <a:prstGeom prst="bentConnector3">
            <a:avLst>
              <a:gd name="adj1" fmla="val -690474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5190671" y="2957945"/>
            <a:ext cx="542471" cy="43262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1</a:t>
            </a:r>
          </a:p>
        </p:txBody>
      </p:sp>
      <p:sp>
        <p:nvSpPr>
          <p:cNvPr id="64" name="Oval 63"/>
          <p:cNvSpPr/>
          <p:nvPr/>
        </p:nvSpPr>
        <p:spPr>
          <a:xfrm>
            <a:off x="3476586" y="2667000"/>
            <a:ext cx="542471" cy="43262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7041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3" grpId="0" animBg="1"/>
      <p:bldP spid="6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00"/>
            <a:ext cx="7886700" cy="1325563"/>
          </a:xfrm>
        </p:spPr>
        <p:txBody>
          <a:bodyPr/>
          <a:lstStyle/>
          <a:p>
            <a:r>
              <a:rPr lang="en-US" dirty="0"/>
              <a:t>TH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38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1081314" y="1843325"/>
            <a:ext cx="2757055" cy="1085910"/>
            <a:chOff x="214745" y="4724400"/>
            <a:chExt cx="2757055" cy="1085910"/>
          </a:xfrm>
        </p:grpSpPr>
        <p:sp>
          <p:nvSpPr>
            <p:cNvPr id="5" name="Rectangle 4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4745" y="5087080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4501243" y="2091035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30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308600" y="2094666"/>
            <a:ext cx="411843" cy="457200"/>
            <a:chOff x="7924800" y="6206835"/>
            <a:chExt cx="411843" cy="457200"/>
          </a:xfrm>
        </p:grpSpPr>
        <p:sp>
          <p:nvSpPr>
            <p:cNvPr id="19" name="Rectangle 18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2" name="Elbow Connector 41"/>
          <p:cNvCxnSpPr>
            <a:stCxn id="9" idx="0"/>
            <a:endCxn id="17" idx="2"/>
          </p:cNvCxnSpPr>
          <p:nvPr/>
        </p:nvCxnSpPr>
        <p:spPr>
          <a:xfrm rot="16200000" flipH="1">
            <a:off x="4126611" y="1761760"/>
            <a:ext cx="19110" cy="1553840"/>
          </a:xfrm>
          <a:prstGeom prst="bentConnector5">
            <a:avLst>
              <a:gd name="adj1" fmla="val 3709833"/>
              <a:gd name="adj2" fmla="val 45785"/>
              <a:gd name="adj3" fmla="val 3718985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643914" y="2091035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25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5110843" y="1524000"/>
            <a:ext cx="0" cy="56703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5110843" y="1537855"/>
            <a:ext cx="1752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6849588" y="1524000"/>
            <a:ext cx="0" cy="56703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6" idx="0"/>
            <a:endCxn id="51" idx="0"/>
          </p:cNvCxnSpPr>
          <p:nvPr/>
        </p:nvCxnSpPr>
        <p:spPr>
          <a:xfrm rot="16200000" flipH="1">
            <a:off x="4655008" y="-309713"/>
            <a:ext cx="95310" cy="4706187"/>
          </a:xfrm>
          <a:prstGeom prst="bentConnector3">
            <a:avLst>
              <a:gd name="adj1" fmla="val -690474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>
            <a:off x="1066800" y="5238690"/>
            <a:ext cx="2757055" cy="1085910"/>
            <a:chOff x="214745" y="4724400"/>
            <a:chExt cx="2757055" cy="1085910"/>
          </a:xfrm>
        </p:grpSpPr>
        <p:sp>
          <p:nvSpPr>
            <p:cNvPr id="39" name="Rectangle 38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14745" y="5087080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sp>
        <p:nvSpPr>
          <p:cNvPr id="47" name="Rectangle 46"/>
          <p:cNvSpPr/>
          <p:nvPr/>
        </p:nvSpPr>
        <p:spPr>
          <a:xfrm>
            <a:off x="4486729" y="548640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25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7453086" y="5490031"/>
            <a:ext cx="411843" cy="457200"/>
            <a:chOff x="7924800" y="6206835"/>
            <a:chExt cx="411843" cy="457200"/>
          </a:xfrm>
        </p:grpSpPr>
        <p:sp>
          <p:nvSpPr>
            <p:cNvPr id="49" name="Rectangle 48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59" name="Straight Connector 58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8" name="Elbow Connector 67"/>
          <p:cNvCxnSpPr>
            <a:stCxn id="45" idx="0"/>
            <a:endCxn id="69" idx="2"/>
          </p:cNvCxnSpPr>
          <p:nvPr/>
        </p:nvCxnSpPr>
        <p:spPr>
          <a:xfrm rot="16200000" flipH="1">
            <a:off x="5183432" y="4085790"/>
            <a:ext cx="19110" cy="3696511"/>
          </a:xfrm>
          <a:prstGeom prst="bentConnector5">
            <a:avLst>
              <a:gd name="adj1" fmla="val 3164720"/>
              <a:gd name="adj2" fmla="val 48228"/>
              <a:gd name="adj3" fmla="val 3173867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6629400" y="548640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30</a:t>
            </a:r>
          </a:p>
        </p:txBody>
      </p:sp>
      <p:cxnSp>
        <p:nvCxnSpPr>
          <p:cNvPr id="70" name="Straight Arrow Connector 69"/>
          <p:cNvCxnSpPr>
            <a:stCxn id="47" idx="3"/>
            <a:endCxn id="69" idx="1"/>
          </p:cNvCxnSpPr>
          <p:nvPr/>
        </p:nvCxnSpPr>
        <p:spPr>
          <a:xfrm>
            <a:off x="5310415" y="5715000"/>
            <a:ext cx="1318985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>
            <a:stCxn id="41" idx="0"/>
            <a:endCxn id="47" idx="0"/>
          </p:cNvCxnSpPr>
          <p:nvPr/>
        </p:nvCxnSpPr>
        <p:spPr>
          <a:xfrm rot="16200000" flipH="1">
            <a:off x="3569159" y="4156987"/>
            <a:ext cx="95310" cy="2563516"/>
          </a:xfrm>
          <a:prstGeom prst="bentConnector3">
            <a:avLst>
              <a:gd name="adj1" fmla="val -646866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hevron 74"/>
          <p:cNvSpPr/>
          <p:nvPr/>
        </p:nvSpPr>
        <p:spPr>
          <a:xfrm rot="5400000">
            <a:off x="4313435" y="3401819"/>
            <a:ext cx="759277" cy="1722604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6" name="Chevron 75"/>
          <p:cNvSpPr/>
          <p:nvPr/>
        </p:nvSpPr>
        <p:spPr>
          <a:xfrm rot="5400000">
            <a:off x="4321659" y="3099737"/>
            <a:ext cx="759277" cy="1722604"/>
          </a:xfrm>
          <a:prstGeom prst="chevron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114800" y="3880760"/>
            <a:ext cx="10711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1"/>
                </a:solidFill>
              </a:rPr>
              <a:t>Vẽ lại</a:t>
            </a:r>
          </a:p>
        </p:txBody>
      </p:sp>
    </p:spTree>
    <p:extLst>
      <p:ext uri="{BB962C8B-B14F-4D97-AF65-F5344CB8AC3E}">
        <p14:creationId xmlns:p14="http://schemas.microsoft.com/office/powerpoint/2010/main" val="1014752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6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 Thêm một nút vào đầu danh sách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39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9071" y="4967525"/>
            <a:ext cx="2757055" cy="1085910"/>
            <a:chOff x="214745" y="4724400"/>
            <a:chExt cx="2757055" cy="1085910"/>
          </a:xfrm>
        </p:grpSpPr>
        <p:sp>
          <p:nvSpPr>
            <p:cNvPr id="5" name="Rectangle 4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4745" y="5087080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3361871" y="5215235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25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5557157" y="5218866"/>
            <a:ext cx="411843" cy="457200"/>
            <a:chOff x="7924800" y="6206835"/>
            <a:chExt cx="411843" cy="457200"/>
          </a:xfrm>
        </p:grpSpPr>
        <p:sp>
          <p:nvSpPr>
            <p:cNvPr id="13" name="Rectangle 12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" name="Elbow Connector 16"/>
          <p:cNvCxnSpPr>
            <a:stCxn id="9" idx="0"/>
            <a:endCxn id="18" idx="2"/>
          </p:cNvCxnSpPr>
          <p:nvPr/>
        </p:nvCxnSpPr>
        <p:spPr>
          <a:xfrm rot="16200000" flipH="1">
            <a:off x="3706603" y="4233725"/>
            <a:ext cx="19110" cy="2858311"/>
          </a:xfrm>
          <a:prstGeom prst="bentConnector5">
            <a:avLst>
              <a:gd name="adj1" fmla="val 3406986"/>
              <a:gd name="adj2" fmla="val 47708"/>
              <a:gd name="adj3" fmla="val 3416138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733471" y="5215235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30</a:t>
            </a:r>
          </a:p>
        </p:txBody>
      </p:sp>
      <p:cxnSp>
        <p:nvCxnSpPr>
          <p:cNvPr id="19" name="Straight Arrow Connector 18"/>
          <p:cNvCxnSpPr>
            <a:stCxn id="11" idx="3"/>
            <a:endCxn id="18" idx="1"/>
          </p:cNvCxnSpPr>
          <p:nvPr/>
        </p:nvCxnSpPr>
        <p:spPr>
          <a:xfrm>
            <a:off x="4185557" y="5443835"/>
            <a:ext cx="547914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6" idx="0"/>
            <a:endCxn id="11" idx="0"/>
          </p:cNvCxnSpPr>
          <p:nvPr/>
        </p:nvCxnSpPr>
        <p:spPr>
          <a:xfrm rot="16200000" flipH="1">
            <a:off x="2477865" y="3919387"/>
            <a:ext cx="95310" cy="2496387"/>
          </a:xfrm>
          <a:prstGeom prst="bentConnector3">
            <a:avLst>
              <a:gd name="adj1" fmla="val -923054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562271" y="5215235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42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7395028" y="5218866"/>
            <a:ext cx="411843" cy="457200"/>
            <a:chOff x="7924800" y="6206835"/>
            <a:chExt cx="411843" cy="457200"/>
          </a:xfrm>
        </p:grpSpPr>
        <p:sp>
          <p:nvSpPr>
            <p:cNvPr id="25" name="Rectangle 24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9" name="Elbow Connector 28"/>
          <p:cNvCxnSpPr/>
          <p:nvPr/>
        </p:nvCxnSpPr>
        <p:spPr>
          <a:xfrm rot="10800000">
            <a:off x="7134010" y="5672435"/>
            <a:ext cx="1064986" cy="533400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05923" y="5939135"/>
            <a:ext cx="1420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newNode</a:t>
            </a:r>
            <a:endParaRPr lang="en-US" sz="2400" b="1" dirty="0"/>
          </a:p>
        </p:txBody>
      </p:sp>
      <p:grpSp>
        <p:nvGrpSpPr>
          <p:cNvPr id="35" name="Group 34"/>
          <p:cNvGrpSpPr/>
          <p:nvPr/>
        </p:nvGrpSpPr>
        <p:grpSpPr>
          <a:xfrm>
            <a:off x="304800" y="1676400"/>
            <a:ext cx="8458200" cy="2362200"/>
            <a:chOff x="381000" y="1676400"/>
            <a:chExt cx="8458200" cy="2362200"/>
          </a:xfrm>
          <a:solidFill>
            <a:srgbClr val="0070C0"/>
          </a:solidFill>
        </p:grpSpPr>
        <p:sp>
          <p:nvSpPr>
            <p:cNvPr id="36" name="Folded Corner 35"/>
            <p:cNvSpPr/>
            <p:nvPr/>
          </p:nvSpPr>
          <p:spPr>
            <a:xfrm>
              <a:off x="838200" y="1905000"/>
              <a:ext cx="8001000" cy="2133600"/>
            </a:xfrm>
            <a:prstGeom prst="foldedCorner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000" dirty="0"/>
                <a:t>            	</a:t>
              </a:r>
              <a:r>
                <a:rPr lang="en-US" sz="3000" dirty="0" err="1"/>
                <a:t>Hãy</a:t>
              </a:r>
              <a:r>
                <a:rPr lang="en-US" sz="3000" dirty="0"/>
                <a:t> </a:t>
              </a:r>
              <a:r>
                <a:rPr lang="en-US" sz="3000" dirty="0" err="1"/>
                <a:t>vẽ</a:t>
              </a:r>
              <a:r>
                <a:rPr lang="en-US" sz="3000" dirty="0"/>
                <a:t> </a:t>
              </a:r>
              <a:r>
                <a:rPr lang="en-US" sz="3000" dirty="0" err="1"/>
                <a:t>lại</a:t>
              </a:r>
              <a:r>
                <a:rPr lang="en-US" sz="3000" dirty="0"/>
                <a:t> “</a:t>
              </a:r>
              <a:r>
                <a:rPr lang="en-US" sz="3000" dirty="0" err="1"/>
                <a:t>đường</a:t>
              </a:r>
              <a:r>
                <a:rPr lang="en-US" sz="3000" dirty="0"/>
                <a:t> </a:t>
              </a:r>
              <a:r>
                <a:rPr lang="en-US" sz="3000" dirty="0" err="1"/>
                <a:t>kết</a:t>
              </a:r>
              <a:r>
                <a:rPr lang="en-US" sz="3000" dirty="0"/>
                <a:t> </a:t>
              </a:r>
              <a:r>
                <a:rPr lang="en-US" sz="3000" dirty="0" err="1"/>
                <a:t>nối</a:t>
              </a:r>
              <a:r>
                <a:rPr lang="en-US" sz="3000" dirty="0"/>
                <a:t>” </a:t>
              </a:r>
              <a:r>
                <a:rPr lang="en-US" sz="3000" dirty="0" err="1"/>
                <a:t>theo</a:t>
              </a:r>
              <a:r>
                <a:rPr lang="en-US" sz="3000" dirty="0"/>
                <a:t> </a:t>
              </a:r>
            </a:p>
            <a:p>
              <a:r>
                <a:rPr lang="en-US" sz="3000" dirty="0"/>
                <a:t>         		</a:t>
              </a:r>
              <a:r>
                <a:rPr lang="en-US" sz="3000" dirty="0" err="1"/>
                <a:t>thứ</a:t>
              </a:r>
              <a:r>
                <a:rPr lang="en-US" sz="3000" dirty="0"/>
                <a:t> </a:t>
              </a:r>
              <a:r>
                <a:rPr lang="en-US" sz="3000" dirty="0" err="1"/>
                <a:t>tự</a:t>
              </a:r>
              <a:r>
                <a:rPr lang="en-US" sz="3000" dirty="0"/>
                <a:t> </a:t>
              </a:r>
              <a:r>
                <a:rPr lang="en-US" sz="3000" dirty="0" err="1"/>
                <a:t>thích</a:t>
              </a:r>
              <a:r>
                <a:rPr lang="en-US" sz="3000" dirty="0"/>
                <a:t> </a:t>
              </a:r>
              <a:r>
                <a:rPr lang="en-US" sz="3000" dirty="0" err="1"/>
                <a:t>hợp</a:t>
              </a:r>
              <a:r>
                <a:rPr lang="en-US" sz="3000" dirty="0"/>
                <a:t> </a:t>
              </a:r>
              <a:r>
                <a:rPr lang="en-US" sz="3000" dirty="0" err="1"/>
                <a:t>khi</a:t>
              </a:r>
              <a:r>
                <a:rPr lang="en-US" sz="3000" dirty="0"/>
                <a:t> </a:t>
              </a:r>
              <a:r>
                <a:rPr lang="en-US" sz="3000" dirty="0" err="1"/>
                <a:t>thêm</a:t>
              </a:r>
              <a:r>
                <a:rPr lang="en-US" sz="3000" dirty="0"/>
                <a:t> </a:t>
              </a:r>
              <a:r>
                <a:rPr lang="en-US" sz="3000" dirty="0" err="1">
                  <a:solidFill>
                    <a:srgbClr val="FFFF00"/>
                  </a:solidFill>
                </a:rPr>
                <a:t>newNode</a:t>
              </a:r>
              <a:endParaRPr lang="en-US" sz="3000" dirty="0">
                <a:solidFill>
                  <a:srgbClr val="FFFF00"/>
                </a:solidFill>
              </a:endParaRPr>
            </a:p>
            <a:p>
              <a:r>
                <a:rPr lang="en-US" sz="3000" dirty="0"/>
                <a:t>         		</a:t>
              </a:r>
              <a:r>
                <a:rPr lang="en-US" sz="3000" dirty="0" err="1"/>
                <a:t>vào</a:t>
              </a:r>
              <a:r>
                <a:rPr lang="en-US" sz="3000" dirty="0"/>
                <a:t> </a:t>
              </a:r>
              <a:r>
                <a:rPr lang="en-US" sz="3000" dirty="0" err="1"/>
                <a:t>đầu</a:t>
              </a:r>
              <a:r>
                <a:rPr lang="en-US" sz="3000" dirty="0"/>
                <a:t> </a:t>
              </a:r>
              <a:r>
                <a:rPr lang="en-US" sz="3000" dirty="0" err="1"/>
                <a:t>danh</a:t>
              </a:r>
              <a:r>
                <a:rPr lang="en-US" sz="3000" dirty="0"/>
                <a:t> </a:t>
              </a:r>
              <a:r>
                <a:rPr lang="en-US" sz="3000" dirty="0" err="1"/>
                <a:t>sách</a:t>
              </a:r>
              <a:endParaRPr lang="en-US" sz="3000" dirty="0"/>
            </a:p>
          </p:txBody>
        </p:sp>
        <p:sp>
          <p:nvSpPr>
            <p:cNvPr id="37" name="Oval 36"/>
            <p:cNvSpPr/>
            <p:nvPr/>
          </p:nvSpPr>
          <p:spPr>
            <a:xfrm>
              <a:off x="381000" y="1676400"/>
              <a:ext cx="1752600" cy="1752600"/>
            </a:xfrm>
            <a:prstGeom prst="ellipse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  <a:reflection blurRad="6350" stA="50000" endA="300" endPos="90000" dir="5400000" sy="-100000" algn="bl" rotWithShape="0"/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00" b="1" i="1"/>
                <a:t>?</a:t>
              </a:r>
              <a:endParaRPr lang="en-US" b="1" i="1"/>
            </a:p>
          </p:txBody>
        </p:sp>
      </p:grpSp>
    </p:spTree>
    <p:extLst>
      <p:ext uri="{BB962C8B-B14F-4D97-AF65-F5344CB8AC3E}">
        <p14:creationId xmlns:p14="http://schemas.microsoft.com/office/powerpoint/2010/main" val="23583124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 Thêm một nút vào đầu danh sách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40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466850" y="3105835"/>
            <a:ext cx="6229350" cy="89255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1.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newNode.next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= first;</a:t>
            </a: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2. first =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newNode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4091537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41</a:t>
            </a:fld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76200" y="1828800"/>
            <a:ext cx="8839200" cy="2590800"/>
            <a:chOff x="381000" y="1676400"/>
            <a:chExt cx="8458200" cy="2362200"/>
          </a:xfrm>
        </p:grpSpPr>
        <p:sp>
          <p:nvSpPr>
            <p:cNvPr id="36" name="Folded Corner 35"/>
            <p:cNvSpPr/>
            <p:nvPr/>
          </p:nvSpPr>
          <p:spPr>
            <a:xfrm>
              <a:off x="838200" y="1905000"/>
              <a:ext cx="8001000" cy="2133600"/>
            </a:xfrm>
            <a:prstGeom prst="foldedCorner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000" dirty="0"/>
                <a:t>             </a:t>
              </a:r>
              <a:r>
                <a:rPr lang="en-US" sz="3000" dirty="0" err="1"/>
                <a:t>Viết</a:t>
              </a:r>
              <a:r>
                <a:rPr lang="en-US" sz="3000" dirty="0"/>
                <a:t> </a:t>
              </a:r>
              <a:r>
                <a:rPr lang="en-US" sz="3000" dirty="0" err="1"/>
                <a:t>phương</a:t>
              </a:r>
              <a:r>
                <a:rPr lang="en-US" sz="3000" dirty="0"/>
                <a:t> </a:t>
              </a:r>
              <a:r>
                <a:rPr lang="en-US" sz="3000" dirty="0" err="1"/>
                <a:t>thức</a:t>
              </a:r>
              <a:r>
                <a:rPr lang="en-US" sz="3000" dirty="0"/>
                <a:t> </a:t>
              </a:r>
              <a:r>
                <a:rPr lang="en-US" sz="3000" dirty="0" err="1"/>
                <a:t>thêm</a:t>
              </a:r>
              <a:r>
                <a:rPr lang="en-US" sz="3000" dirty="0"/>
                <a:t> </a:t>
              </a:r>
              <a:r>
                <a:rPr lang="en-US" sz="3000" dirty="0" err="1"/>
                <a:t>phần</a:t>
              </a:r>
              <a:r>
                <a:rPr lang="en-US" sz="3000" dirty="0"/>
                <a:t> </a:t>
              </a:r>
              <a:r>
                <a:rPr lang="en-US" sz="3000" dirty="0" err="1"/>
                <a:t>tử</a:t>
              </a:r>
              <a:r>
                <a:rPr lang="en-US" sz="3000" dirty="0"/>
                <a:t> </a:t>
              </a:r>
              <a:r>
                <a:rPr lang="en-US" sz="3000" dirty="0" err="1">
                  <a:solidFill>
                    <a:srgbClr val="FF0000"/>
                  </a:solidFill>
                  <a:highlight>
                    <a:srgbClr val="FFFF00"/>
                  </a:highlight>
                </a:rPr>
                <a:t>newNode</a:t>
              </a:r>
              <a:r>
                <a:rPr lang="en-US" sz="3000" dirty="0"/>
                <a:t> </a:t>
              </a:r>
              <a:br>
                <a:rPr lang="en-US" sz="3000" dirty="0"/>
              </a:br>
              <a:r>
                <a:rPr lang="en-US" sz="3000" dirty="0"/>
                <a:t>      	   </a:t>
              </a:r>
              <a:r>
                <a:rPr lang="en-US" sz="3000" dirty="0" err="1"/>
                <a:t>vào</a:t>
              </a:r>
              <a:r>
                <a:rPr lang="en-US" sz="3000" dirty="0"/>
                <a:t> </a:t>
              </a:r>
              <a:r>
                <a:rPr lang="en-US" sz="3000" dirty="0" err="1"/>
                <a:t>đầu</a:t>
              </a:r>
              <a:r>
                <a:rPr lang="en-US" sz="3000" dirty="0"/>
                <a:t> </a:t>
              </a:r>
              <a:r>
                <a:rPr lang="en-US" sz="3000" dirty="0" err="1"/>
                <a:t>danh</a:t>
              </a:r>
              <a:r>
                <a:rPr lang="en-US" sz="3000" dirty="0"/>
                <a:t> </a:t>
              </a:r>
              <a:r>
                <a:rPr lang="en-US" sz="3000" dirty="0" err="1"/>
                <a:t>sách</a:t>
              </a:r>
              <a:r>
                <a:rPr lang="en-US" sz="3000" dirty="0"/>
                <a:t>, </a:t>
              </a:r>
              <a:r>
                <a:rPr lang="en-US" sz="3000" dirty="0" err="1"/>
                <a:t>theo</a:t>
              </a:r>
              <a:r>
                <a:rPr lang="en-US" sz="3000" dirty="0"/>
                <a:t> </a:t>
              </a:r>
              <a:r>
                <a:rPr lang="en-US" sz="3000" dirty="0" err="1"/>
                <a:t>mẫu</a:t>
              </a:r>
              <a:r>
                <a:rPr lang="en-US" sz="3000" dirty="0"/>
                <a:t> </a:t>
              </a:r>
              <a:r>
                <a:rPr lang="en-US" sz="3000" dirty="0" err="1"/>
                <a:t>sau</a:t>
              </a:r>
              <a:r>
                <a:rPr lang="en-US" sz="3000" dirty="0"/>
                <a:t>:</a:t>
              </a:r>
              <a:endParaRPr lang="en-US" sz="3000" dirty="0">
                <a:solidFill>
                  <a:srgbClr val="FF0000"/>
                </a:solidFill>
              </a:endParaRPr>
            </a:p>
            <a:p>
              <a:pPr algn="ctr"/>
              <a:r>
                <a:rPr lang="en-US" sz="3000" dirty="0">
                  <a:solidFill>
                    <a:srgbClr val="FF0000"/>
                  </a:solidFill>
                  <a:hlinkClick r:id="rId3" action="ppaction://hlinkpres?slideindex=1&amp;slidetitle="/>
                </a:rPr>
                <a:t>public void </a:t>
              </a:r>
              <a:r>
                <a:rPr lang="en-US" sz="3000" dirty="0" err="1">
                  <a:solidFill>
                    <a:srgbClr val="FF0000"/>
                  </a:solidFill>
                  <a:hlinkClick r:id="rId3" action="ppaction://hlinkpres?slideindex=1&amp;slidetitle="/>
                </a:rPr>
                <a:t>InsertFirst</a:t>
              </a:r>
              <a:r>
                <a:rPr lang="en-US" sz="3000" dirty="0">
                  <a:solidFill>
                    <a:srgbClr val="FF0000"/>
                  </a:solidFill>
                  <a:hlinkClick r:id="rId3" action="ppaction://hlinkpres?slideindex=1&amp;slidetitle="/>
                </a:rPr>
                <a:t>(Node&lt;T&gt; </a:t>
              </a:r>
              <a:r>
                <a:rPr lang="en-US" sz="3000" dirty="0" err="1">
                  <a:solidFill>
                    <a:srgbClr val="FF0000"/>
                  </a:solidFill>
                  <a:hlinkClick r:id="rId3" action="ppaction://hlinkpres?slideindex=1&amp;slidetitle="/>
                </a:rPr>
                <a:t>newNode</a:t>
              </a:r>
              <a:r>
                <a:rPr lang="en-US" sz="3000" dirty="0">
                  <a:solidFill>
                    <a:srgbClr val="FF0000"/>
                  </a:solidFill>
                  <a:hlinkClick r:id="rId3" action="ppaction://hlinkpres?slideindex=1&amp;slidetitle="/>
                </a:rPr>
                <a:t>)</a:t>
              </a:r>
              <a:endParaRPr lang="en-US" sz="3000" dirty="0">
                <a:solidFill>
                  <a:srgbClr val="FF0000"/>
                </a:solidFill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381000" y="1676400"/>
              <a:ext cx="1551776" cy="152848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  <a:reflection blurRad="6350" stA="50000" endA="300" endPos="90000" dir="5400000" sy="-100000" algn="bl" rotWithShape="0"/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00" b="1" i="1"/>
                <a:t>?</a:t>
              </a:r>
              <a:endParaRPr lang="en-US" b="1" i="1"/>
            </a:p>
          </p:txBody>
        </p:sp>
      </p:grpSp>
    </p:spTree>
    <p:extLst>
      <p:ext uri="{BB962C8B-B14F-4D97-AF65-F5344CB8AC3E}">
        <p14:creationId xmlns:p14="http://schemas.microsoft.com/office/powerpoint/2010/main" val="5509615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 Thêm một nút vào cuối danh sách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42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33400" y="2833925"/>
            <a:ext cx="2757055" cy="1085910"/>
            <a:chOff x="214745" y="4724400"/>
            <a:chExt cx="2757055" cy="1085910"/>
          </a:xfrm>
        </p:grpSpPr>
        <p:sp>
          <p:nvSpPr>
            <p:cNvPr id="5" name="Rectangle 4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4745" y="5087080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3953329" y="3081635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30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4760686" y="3085266"/>
            <a:ext cx="411843" cy="457200"/>
            <a:chOff x="7924800" y="6206835"/>
            <a:chExt cx="411843" cy="457200"/>
          </a:xfrm>
        </p:grpSpPr>
        <p:sp>
          <p:nvSpPr>
            <p:cNvPr id="19" name="Rectangle 18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4" name="Elbow Connector 23"/>
          <p:cNvCxnSpPr>
            <a:stCxn id="6" idx="0"/>
            <a:endCxn id="17" idx="0"/>
          </p:cNvCxnSpPr>
          <p:nvPr/>
        </p:nvCxnSpPr>
        <p:spPr>
          <a:xfrm rot="16200000" flipH="1">
            <a:off x="3035759" y="1752222"/>
            <a:ext cx="95310" cy="2563516"/>
          </a:xfrm>
          <a:prstGeom prst="bentConnector3">
            <a:avLst>
              <a:gd name="adj1" fmla="val -690474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9" idx="0"/>
            <a:endCxn id="17" idx="2"/>
          </p:cNvCxnSpPr>
          <p:nvPr/>
        </p:nvCxnSpPr>
        <p:spPr>
          <a:xfrm rot="16200000" flipH="1">
            <a:off x="3578697" y="2752360"/>
            <a:ext cx="19110" cy="1553840"/>
          </a:xfrm>
          <a:prstGeom prst="bentConnector5">
            <a:avLst>
              <a:gd name="adj1" fmla="val 3285850"/>
              <a:gd name="adj2" fmla="val 45785"/>
              <a:gd name="adj3" fmla="val 3295003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096000" y="3081635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25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6928757" y="3085266"/>
            <a:ext cx="411843" cy="457200"/>
            <a:chOff x="7924800" y="6206835"/>
            <a:chExt cx="411843" cy="457200"/>
          </a:xfrm>
        </p:grpSpPr>
        <p:sp>
          <p:nvSpPr>
            <p:cNvPr id="53" name="Rectangle 52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7" name="Elbow Connector 56"/>
          <p:cNvCxnSpPr/>
          <p:nvPr/>
        </p:nvCxnSpPr>
        <p:spPr>
          <a:xfrm rot="10800000">
            <a:off x="6667739" y="3538835"/>
            <a:ext cx="1064986" cy="533400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39652" y="3805535"/>
            <a:ext cx="1420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newNode</a:t>
            </a:r>
            <a:endParaRPr lang="en-US" sz="2400" b="1" dirty="0"/>
          </a:p>
        </p:txBody>
      </p:sp>
      <p:cxnSp>
        <p:nvCxnSpPr>
          <p:cNvPr id="38" name="Straight Connector 37"/>
          <p:cNvCxnSpPr>
            <a:stCxn id="19" idx="1"/>
            <a:endCxn id="51" idx="1"/>
          </p:cNvCxnSpPr>
          <p:nvPr/>
        </p:nvCxnSpPr>
        <p:spPr>
          <a:xfrm flipV="1">
            <a:off x="4760686" y="3310235"/>
            <a:ext cx="1335314" cy="3631"/>
          </a:xfrm>
          <a:prstGeom prst="line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904170" y="5029200"/>
            <a:ext cx="3608295" cy="584775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sz="3200" dirty="0" err="1"/>
              <a:t>last.next</a:t>
            </a:r>
            <a:r>
              <a:rPr lang="en-US" sz="3200" dirty="0"/>
              <a:t> = </a:t>
            </a:r>
            <a:r>
              <a:rPr lang="en-US" sz="3200" dirty="0" err="1"/>
              <a:t>newNode</a:t>
            </a:r>
            <a:endParaRPr lang="en-US" sz="3200" dirty="0"/>
          </a:p>
        </p:txBody>
      </p:sp>
      <p:sp>
        <p:nvSpPr>
          <p:cNvPr id="62" name="TextBox 61"/>
          <p:cNvSpPr txBox="1"/>
          <p:nvPr/>
        </p:nvSpPr>
        <p:spPr>
          <a:xfrm>
            <a:off x="1904170" y="5739825"/>
            <a:ext cx="2773323" cy="584775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last = </a:t>
            </a:r>
            <a:r>
              <a:rPr lang="en-US" sz="3200" dirty="0" err="1"/>
              <a:t>newNode</a:t>
            </a:r>
            <a:endParaRPr lang="en-US" sz="3200" dirty="0"/>
          </a:p>
        </p:txBody>
      </p:sp>
      <p:sp>
        <p:nvSpPr>
          <p:cNvPr id="63" name="Oval 62"/>
          <p:cNvSpPr/>
          <p:nvPr/>
        </p:nvSpPr>
        <p:spPr>
          <a:xfrm>
            <a:off x="5179456" y="3099621"/>
            <a:ext cx="542471" cy="43262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1</a:t>
            </a:r>
          </a:p>
        </p:txBody>
      </p:sp>
      <p:sp>
        <p:nvSpPr>
          <p:cNvPr id="65" name="Oval 64"/>
          <p:cNvSpPr/>
          <p:nvPr/>
        </p:nvSpPr>
        <p:spPr>
          <a:xfrm>
            <a:off x="1134160" y="5105276"/>
            <a:ext cx="542471" cy="43262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1</a:t>
            </a:r>
          </a:p>
        </p:txBody>
      </p:sp>
      <p:sp>
        <p:nvSpPr>
          <p:cNvPr id="66" name="Oval 65"/>
          <p:cNvSpPr/>
          <p:nvPr/>
        </p:nvSpPr>
        <p:spPr>
          <a:xfrm>
            <a:off x="1134159" y="5815901"/>
            <a:ext cx="542471" cy="43262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</a:t>
            </a:r>
          </a:p>
        </p:txBody>
      </p:sp>
      <p:cxnSp>
        <p:nvCxnSpPr>
          <p:cNvPr id="41" name="Elbow Connector 40"/>
          <p:cNvCxnSpPr>
            <a:stCxn id="9" idx="0"/>
            <a:endCxn id="51" idx="2"/>
          </p:cNvCxnSpPr>
          <p:nvPr/>
        </p:nvCxnSpPr>
        <p:spPr>
          <a:xfrm rot="16200000" flipH="1">
            <a:off x="4650032" y="1681025"/>
            <a:ext cx="19110" cy="3696511"/>
          </a:xfrm>
          <a:prstGeom prst="bentConnector5">
            <a:avLst>
              <a:gd name="adj1" fmla="val 4618362"/>
              <a:gd name="adj2" fmla="val 48228"/>
              <a:gd name="adj3" fmla="val 4627509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4757223" y="4308995"/>
            <a:ext cx="542471" cy="43262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9341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3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3" grpId="0" animBg="1"/>
      <p:bldP spid="65" grpId="0" animBg="1"/>
      <p:bldP spid="66" grpId="0" animBg="1"/>
      <p:bldP spid="6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 Thêm một nút vào cuối danh sách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43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0" y="5043725"/>
            <a:ext cx="2757055" cy="1085910"/>
            <a:chOff x="214745" y="4724400"/>
            <a:chExt cx="2757055" cy="1085910"/>
          </a:xfrm>
        </p:grpSpPr>
        <p:sp>
          <p:nvSpPr>
            <p:cNvPr id="5" name="Rectangle 4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4745" y="5087080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3419929" y="5291435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30</a:t>
            </a:r>
          </a:p>
        </p:txBody>
      </p:sp>
      <p:cxnSp>
        <p:nvCxnSpPr>
          <p:cNvPr id="24" name="Elbow Connector 23"/>
          <p:cNvCxnSpPr>
            <a:stCxn id="6" idx="0"/>
            <a:endCxn id="17" idx="0"/>
          </p:cNvCxnSpPr>
          <p:nvPr/>
        </p:nvCxnSpPr>
        <p:spPr>
          <a:xfrm rot="16200000" flipH="1">
            <a:off x="2502359" y="3962022"/>
            <a:ext cx="95310" cy="2563516"/>
          </a:xfrm>
          <a:prstGeom prst="bentConnector3">
            <a:avLst>
              <a:gd name="adj1" fmla="val -690474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4876800" y="5291435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25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5684157" y="5281211"/>
            <a:ext cx="411843" cy="457200"/>
            <a:chOff x="7924800" y="6206835"/>
            <a:chExt cx="411843" cy="457200"/>
          </a:xfrm>
        </p:grpSpPr>
        <p:sp>
          <p:nvSpPr>
            <p:cNvPr id="53" name="Rectangle 52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8" name="Straight Connector 37"/>
          <p:cNvCxnSpPr/>
          <p:nvPr/>
        </p:nvCxnSpPr>
        <p:spPr>
          <a:xfrm>
            <a:off x="4227286" y="5523667"/>
            <a:ext cx="667657" cy="7176"/>
          </a:xfrm>
          <a:prstGeom prst="line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/>
          <p:cNvCxnSpPr>
            <a:stCxn id="9" idx="0"/>
            <a:endCxn id="51" idx="2"/>
          </p:cNvCxnSpPr>
          <p:nvPr/>
        </p:nvCxnSpPr>
        <p:spPr>
          <a:xfrm rot="16200000" flipH="1">
            <a:off x="3773732" y="4233725"/>
            <a:ext cx="19110" cy="3010711"/>
          </a:xfrm>
          <a:prstGeom prst="bentConnector5">
            <a:avLst>
              <a:gd name="adj1" fmla="val 3104150"/>
              <a:gd name="adj2" fmla="val 47824"/>
              <a:gd name="adj3" fmla="val 3113291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304800" y="1600200"/>
            <a:ext cx="8458200" cy="2362200"/>
            <a:chOff x="381000" y="1676400"/>
            <a:chExt cx="8458200" cy="2362200"/>
          </a:xfrm>
        </p:grpSpPr>
        <p:sp>
          <p:nvSpPr>
            <p:cNvPr id="46" name="Folded Corner 45"/>
            <p:cNvSpPr/>
            <p:nvPr/>
          </p:nvSpPr>
          <p:spPr>
            <a:xfrm>
              <a:off x="838200" y="1905000"/>
              <a:ext cx="8001000" cy="2133600"/>
            </a:xfrm>
            <a:prstGeom prst="foldedCorner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000" dirty="0"/>
                <a:t>            	</a:t>
              </a:r>
              <a:r>
                <a:rPr lang="en-US" sz="3000" dirty="0" err="1"/>
                <a:t>Hãy</a:t>
              </a:r>
              <a:r>
                <a:rPr lang="en-US" sz="3000" dirty="0"/>
                <a:t> </a:t>
              </a:r>
              <a:r>
                <a:rPr lang="en-US" sz="3000" dirty="0" err="1"/>
                <a:t>vẽ</a:t>
              </a:r>
              <a:r>
                <a:rPr lang="en-US" sz="3000" dirty="0"/>
                <a:t> </a:t>
              </a:r>
              <a:r>
                <a:rPr lang="en-US" sz="3000" dirty="0" err="1"/>
                <a:t>lại</a:t>
              </a:r>
              <a:r>
                <a:rPr lang="en-US" sz="3000" dirty="0"/>
                <a:t> “</a:t>
              </a:r>
              <a:r>
                <a:rPr lang="en-US" sz="3000" dirty="0" err="1"/>
                <a:t>đường</a:t>
              </a:r>
              <a:r>
                <a:rPr lang="en-US" sz="3000" dirty="0"/>
                <a:t> </a:t>
              </a:r>
              <a:r>
                <a:rPr lang="en-US" sz="3000" dirty="0" err="1"/>
                <a:t>kết</a:t>
              </a:r>
              <a:r>
                <a:rPr lang="en-US" sz="3000" dirty="0"/>
                <a:t> </a:t>
              </a:r>
              <a:r>
                <a:rPr lang="en-US" sz="3000" dirty="0" err="1"/>
                <a:t>nối</a:t>
              </a:r>
              <a:r>
                <a:rPr lang="en-US" sz="3000" dirty="0"/>
                <a:t>” </a:t>
              </a:r>
              <a:r>
                <a:rPr lang="en-US" sz="3000" dirty="0" err="1"/>
                <a:t>theo</a:t>
              </a:r>
              <a:r>
                <a:rPr lang="en-US" sz="3000" dirty="0"/>
                <a:t> </a:t>
              </a:r>
            </a:p>
            <a:p>
              <a:r>
                <a:rPr lang="en-US" sz="3000" dirty="0"/>
                <a:t>           	</a:t>
              </a:r>
              <a:r>
                <a:rPr lang="en-US" sz="3000" dirty="0" err="1"/>
                <a:t>thứ</a:t>
              </a:r>
              <a:r>
                <a:rPr lang="en-US" sz="3000" dirty="0"/>
                <a:t> </a:t>
              </a:r>
              <a:r>
                <a:rPr lang="en-US" sz="3000" dirty="0" err="1"/>
                <a:t>tự</a:t>
              </a:r>
              <a:r>
                <a:rPr lang="en-US" sz="3000" dirty="0"/>
                <a:t> </a:t>
              </a:r>
              <a:r>
                <a:rPr lang="en-US" sz="3000" dirty="0" err="1"/>
                <a:t>thích</a:t>
              </a:r>
              <a:r>
                <a:rPr lang="en-US" sz="3000" dirty="0"/>
                <a:t> </a:t>
              </a:r>
              <a:r>
                <a:rPr lang="en-US" sz="3000" dirty="0" err="1"/>
                <a:t>hợp</a:t>
              </a:r>
              <a:r>
                <a:rPr lang="en-US" sz="3000" dirty="0"/>
                <a:t> </a:t>
              </a:r>
              <a:r>
                <a:rPr lang="en-US" sz="3000" dirty="0" err="1"/>
                <a:t>khi</a:t>
              </a:r>
              <a:r>
                <a:rPr lang="en-US" sz="3000" dirty="0"/>
                <a:t> </a:t>
              </a:r>
              <a:r>
                <a:rPr lang="en-US" sz="3000" dirty="0" err="1"/>
                <a:t>thêm</a:t>
              </a:r>
              <a:r>
                <a:rPr lang="en-US" sz="3000" dirty="0"/>
                <a:t> </a:t>
              </a:r>
              <a:r>
                <a:rPr lang="en-US" sz="3000" dirty="0" err="1">
                  <a:solidFill>
                    <a:srgbClr val="FFFF00"/>
                  </a:solidFill>
                </a:rPr>
                <a:t>newNode</a:t>
              </a:r>
              <a:endParaRPr lang="en-US" sz="3000" dirty="0">
                <a:solidFill>
                  <a:srgbClr val="FFFF00"/>
                </a:solidFill>
              </a:endParaRPr>
            </a:p>
            <a:p>
              <a:r>
                <a:rPr lang="en-US" sz="3000" dirty="0"/>
                <a:t>         		</a:t>
              </a:r>
              <a:r>
                <a:rPr lang="en-US" sz="3000" dirty="0" err="1"/>
                <a:t>vào</a:t>
              </a:r>
              <a:r>
                <a:rPr lang="en-US" sz="3000" dirty="0"/>
                <a:t> </a:t>
              </a:r>
              <a:r>
                <a:rPr lang="en-US" sz="3000" dirty="0" err="1"/>
                <a:t>cuối</a:t>
              </a:r>
              <a:r>
                <a:rPr lang="en-US" sz="3000" dirty="0"/>
                <a:t> </a:t>
              </a:r>
              <a:r>
                <a:rPr lang="en-US" sz="3000" dirty="0" err="1"/>
                <a:t>danh</a:t>
              </a:r>
              <a:r>
                <a:rPr lang="en-US" sz="3000" dirty="0"/>
                <a:t> </a:t>
              </a:r>
              <a:r>
                <a:rPr lang="en-US" sz="3000" dirty="0" err="1"/>
                <a:t>sách</a:t>
              </a:r>
              <a:endParaRPr lang="en-US" sz="3000" dirty="0"/>
            </a:p>
          </p:txBody>
        </p:sp>
        <p:sp>
          <p:nvSpPr>
            <p:cNvPr id="47" name="Oval 46"/>
            <p:cNvSpPr/>
            <p:nvPr/>
          </p:nvSpPr>
          <p:spPr>
            <a:xfrm>
              <a:off x="381000" y="1676400"/>
              <a:ext cx="1752600" cy="1752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  <a:reflection blurRad="6350" stA="50000" endA="300" endPos="90000" dir="5400000" sy="-100000" algn="bl" rotWithShape="0"/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00" b="1" i="1"/>
                <a:t>?</a:t>
              </a:r>
              <a:endParaRPr lang="en-US" b="1" i="1"/>
            </a:p>
          </p:txBody>
        </p:sp>
      </p:grpSp>
      <p:sp>
        <p:nvSpPr>
          <p:cNvPr id="48" name="Rectangle 47"/>
          <p:cNvSpPr/>
          <p:nvPr/>
        </p:nvSpPr>
        <p:spPr>
          <a:xfrm>
            <a:off x="6562271" y="5291435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42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7395028" y="5295066"/>
            <a:ext cx="411843" cy="457200"/>
            <a:chOff x="7924800" y="6206835"/>
            <a:chExt cx="411843" cy="457200"/>
          </a:xfrm>
        </p:grpSpPr>
        <p:sp>
          <p:nvSpPr>
            <p:cNvPr id="50" name="Rectangle 49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9" name="Group 58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60" name="Straight Connector 59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8" name="Elbow Connector 67"/>
          <p:cNvCxnSpPr>
            <a:cxnSpLocks/>
            <a:stCxn id="69" idx="1"/>
          </p:cNvCxnSpPr>
          <p:nvPr/>
        </p:nvCxnSpPr>
        <p:spPr>
          <a:xfrm rot="10800000">
            <a:off x="7134010" y="5748638"/>
            <a:ext cx="485990" cy="497531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620000" y="6015335"/>
            <a:ext cx="1420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newNode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636350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/>
              <a:t>cuối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44</a:t>
            </a:fld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76200" y="1828800"/>
            <a:ext cx="8839200" cy="2590800"/>
            <a:chOff x="381000" y="1676400"/>
            <a:chExt cx="8458200" cy="2362200"/>
          </a:xfrm>
        </p:grpSpPr>
        <p:sp>
          <p:nvSpPr>
            <p:cNvPr id="36" name="Folded Corner 35"/>
            <p:cNvSpPr/>
            <p:nvPr/>
          </p:nvSpPr>
          <p:spPr>
            <a:xfrm>
              <a:off x="838200" y="1905000"/>
              <a:ext cx="8001000" cy="2133600"/>
            </a:xfrm>
            <a:prstGeom prst="foldedCorner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000" dirty="0"/>
                <a:t>             </a:t>
              </a:r>
              <a:r>
                <a:rPr lang="en-US" sz="3000" dirty="0" err="1"/>
                <a:t>Viết</a:t>
              </a:r>
              <a:r>
                <a:rPr lang="en-US" sz="3000" dirty="0"/>
                <a:t> </a:t>
              </a:r>
              <a:r>
                <a:rPr lang="en-US" sz="3000" dirty="0" err="1"/>
                <a:t>phương</a:t>
              </a:r>
              <a:r>
                <a:rPr lang="en-US" sz="3000" dirty="0"/>
                <a:t> </a:t>
              </a:r>
              <a:r>
                <a:rPr lang="en-US" sz="3000" dirty="0" err="1"/>
                <a:t>thức</a:t>
              </a:r>
              <a:r>
                <a:rPr lang="en-US" sz="3000" dirty="0"/>
                <a:t> </a:t>
              </a:r>
              <a:r>
                <a:rPr lang="en-US" sz="3000" dirty="0" err="1"/>
                <a:t>thêm</a:t>
              </a:r>
              <a:r>
                <a:rPr lang="en-US" sz="3000" dirty="0"/>
                <a:t> </a:t>
              </a:r>
              <a:r>
                <a:rPr lang="en-US" sz="3000" dirty="0" err="1"/>
                <a:t>phần</a:t>
              </a:r>
              <a:r>
                <a:rPr lang="en-US" sz="3000" dirty="0"/>
                <a:t> </a:t>
              </a:r>
              <a:r>
                <a:rPr lang="en-US" sz="3000" dirty="0" err="1"/>
                <a:t>tử</a:t>
              </a:r>
              <a:r>
                <a:rPr lang="en-US" sz="3000" dirty="0"/>
                <a:t> </a:t>
              </a:r>
              <a:r>
                <a:rPr lang="en-US" sz="3000" dirty="0" err="1">
                  <a:solidFill>
                    <a:srgbClr val="FF0000"/>
                  </a:solidFill>
                  <a:highlight>
                    <a:srgbClr val="FFFF00"/>
                  </a:highlight>
                </a:rPr>
                <a:t>newNode</a:t>
              </a:r>
              <a:r>
                <a:rPr lang="en-US" sz="3000" dirty="0"/>
                <a:t> 	  </a:t>
              </a:r>
              <a:r>
                <a:rPr lang="en-US" sz="3000" dirty="0" err="1"/>
                <a:t>vào</a:t>
              </a:r>
              <a:r>
                <a:rPr lang="en-US" sz="3000" dirty="0"/>
                <a:t> </a:t>
              </a:r>
              <a:r>
                <a:rPr lang="en-US" sz="3000" dirty="0" err="1"/>
                <a:t>cuối</a:t>
              </a:r>
              <a:r>
                <a:rPr lang="en-US" sz="3000" dirty="0"/>
                <a:t> </a:t>
              </a:r>
              <a:r>
                <a:rPr lang="en-US" sz="3000" dirty="0" err="1"/>
                <a:t>danh</a:t>
              </a:r>
              <a:r>
                <a:rPr lang="en-US" sz="3000" dirty="0"/>
                <a:t> </a:t>
              </a:r>
              <a:r>
                <a:rPr lang="en-US" sz="3000" dirty="0" err="1"/>
                <a:t>sách</a:t>
              </a:r>
              <a:r>
                <a:rPr lang="en-US" sz="3000" dirty="0"/>
                <a:t> (C#), </a:t>
              </a:r>
              <a:r>
                <a:rPr lang="en-US" sz="3000" dirty="0" err="1"/>
                <a:t>theo</a:t>
              </a:r>
              <a:r>
                <a:rPr lang="en-US" sz="3000" dirty="0"/>
                <a:t> </a:t>
              </a:r>
              <a:r>
                <a:rPr lang="en-US" sz="3000" dirty="0" err="1"/>
                <a:t>mẫu</a:t>
              </a:r>
              <a:r>
                <a:rPr lang="en-US" sz="3000" dirty="0"/>
                <a:t>:</a:t>
              </a:r>
            </a:p>
            <a:p>
              <a:pPr algn="ctr"/>
              <a:r>
                <a:rPr lang="en-US" sz="3000" dirty="0"/>
                <a:t>         </a:t>
              </a:r>
              <a:r>
                <a:rPr lang="en-US" sz="3000" dirty="0">
                  <a:solidFill>
                    <a:srgbClr val="FF0000"/>
                  </a:solidFill>
                  <a:hlinkClick r:id="rId2" action="ppaction://hlinkpres?slideindex=1&amp;slidetitle="/>
                </a:rPr>
                <a:t>public void </a:t>
              </a:r>
              <a:r>
                <a:rPr lang="en-US" sz="3000" dirty="0" err="1">
                  <a:solidFill>
                    <a:srgbClr val="FF0000"/>
                  </a:solidFill>
                  <a:hlinkClick r:id="rId2" action="ppaction://hlinkpres?slideindex=1&amp;slidetitle="/>
                </a:rPr>
                <a:t>InsertLast</a:t>
              </a:r>
              <a:r>
                <a:rPr lang="en-US" sz="3000" dirty="0">
                  <a:solidFill>
                    <a:srgbClr val="FF0000"/>
                  </a:solidFill>
                  <a:hlinkClick r:id="rId2" action="ppaction://hlinkpres?slideindex=1&amp;slidetitle="/>
                </a:rPr>
                <a:t>(Node&lt;T&gt; </a:t>
              </a:r>
              <a:r>
                <a:rPr lang="en-US" sz="3000" dirty="0" err="1">
                  <a:solidFill>
                    <a:srgbClr val="FF0000"/>
                  </a:solidFill>
                  <a:hlinkClick r:id="rId2" action="ppaction://hlinkpres?slideindex=1&amp;slidetitle="/>
                </a:rPr>
                <a:t>newNode</a:t>
              </a:r>
              <a:r>
                <a:rPr lang="en-US" sz="3000" dirty="0">
                  <a:solidFill>
                    <a:srgbClr val="FF0000"/>
                  </a:solidFill>
                  <a:hlinkClick r:id="rId2" action="ppaction://hlinkpres?slideindex=1&amp;slidetitle="/>
                </a:rPr>
                <a:t>)</a:t>
              </a:r>
              <a:endParaRPr lang="en-US" sz="3000" dirty="0">
                <a:solidFill>
                  <a:srgbClr val="FF0000"/>
                </a:solidFill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381000" y="1676400"/>
              <a:ext cx="1551776" cy="152848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  <a:reflection blurRad="6350" stA="50000" endA="300" endPos="90000" dir="5400000" sy="-100000" algn="bl" rotWithShape="0"/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00" b="1" i="1"/>
                <a:t>?</a:t>
              </a:r>
              <a:endParaRPr lang="en-US" b="1" i="1"/>
            </a:p>
          </p:txBody>
        </p:sp>
      </p:grpSp>
    </p:spTree>
    <p:extLst>
      <p:ext uri="{BB962C8B-B14F-4D97-AF65-F5344CB8AC3E}">
        <p14:creationId xmlns:p14="http://schemas.microsoft.com/office/powerpoint/2010/main" val="41113082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DSLK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45</a:t>
            </a:fld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1600200" y="2362200"/>
            <a:ext cx="4572000" cy="99060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Nhập dữ liệu cho node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00200" y="3810000"/>
            <a:ext cx="4572000" cy="99060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Tạo con trỏ node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5257800"/>
            <a:ext cx="4572000" cy="99060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Thêm node vào danh sách</a:t>
            </a:r>
          </a:p>
        </p:txBody>
      </p:sp>
      <p:cxnSp>
        <p:nvCxnSpPr>
          <p:cNvPr id="8" name="Straight Arrow Connector 7"/>
          <p:cNvCxnSpPr>
            <a:endCxn id="4" idx="0"/>
          </p:cNvCxnSpPr>
          <p:nvPr/>
        </p:nvCxnSpPr>
        <p:spPr>
          <a:xfrm>
            <a:off x="3886200" y="1371600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2"/>
            <a:endCxn id="5" idx="0"/>
          </p:cNvCxnSpPr>
          <p:nvPr/>
        </p:nvCxnSpPr>
        <p:spPr>
          <a:xfrm>
            <a:off x="3886200" y="3352800"/>
            <a:ext cx="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2"/>
            <a:endCxn id="6" idx="0"/>
          </p:cNvCxnSpPr>
          <p:nvPr/>
        </p:nvCxnSpPr>
        <p:spPr>
          <a:xfrm>
            <a:off x="3886200" y="4800600"/>
            <a:ext cx="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886200" y="6248400"/>
            <a:ext cx="0" cy="4572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3886200" y="1866900"/>
            <a:ext cx="36576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3886200" y="6691745"/>
            <a:ext cx="3657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7529945" y="1866900"/>
            <a:ext cx="0" cy="48387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54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Nhập dữ liệu vào danh sách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8058150" cy="24384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node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x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sẵn</a:t>
            </a:r>
            <a:endParaRPr lang="en-US" dirty="0"/>
          </a:p>
          <a:p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x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data</a:t>
            </a:r>
          </a:p>
          <a:p>
            <a:r>
              <a:rPr lang="en-US" dirty="0"/>
              <a:t>Con </a:t>
            </a:r>
            <a:r>
              <a:rPr lang="en-US" dirty="0" err="1"/>
              <a:t>trỏ</a:t>
            </a:r>
            <a:r>
              <a:rPr lang="en-US" dirty="0"/>
              <a:t> next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46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600200" y="4191000"/>
            <a:ext cx="20574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data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657600" y="4191000"/>
            <a:ext cx="990600" cy="994231"/>
            <a:chOff x="7924800" y="6206835"/>
            <a:chExt cx="411843" cy="457200"/>
          </a:xfrm>
        </p:grpSpPr>
        <p:sp>
          <p:nvSpPr>
            <p:cNvPr id="6" name="Rectangle 5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" name="Elbow Connector 9"/>
          <p:cNvCxnSpPr/>
          <p:nvPr/>
        </p:nvCxnSpPr>
        <p:spPr>
          <a:xfrm rot="10800000">
            <a:off x="2592614" y="5181600"/>
            <a:ext cx="1064986" cy="533400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0" y="5481935"/>
            <a:ext cx="1420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newNode</a:t>
            </a:r>
            <a:endParaRPr lang="en-US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2930181" y="441133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accent2">
                    <a:lumMod val="50000"/>
                  </a:schemeClr>
                </a:solidFill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41148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newNode.data</a:t>
            </a:r>
            <a:r>
              <a:rPr lang="en-US" sz="2800" dirty="0"/>
              <a:t> = 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2044" y="4658380"/>
            <a:ext cx="36633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newNode.next</a:t>
            </a:r>
            <a:r>
              <a:rPr lang="en-US" sz="2800" dirty="0"/>
              <a:t> = </a:t>
            </a:r>
            <a:r>
              <a:rPr lang="en-US" sz="2800" dirty="0">
                <a:solidFill>
                  <a:srgbClr val="FF0000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67183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8210550" cy="1325563"/>
          </a:xfrm>
        </p:spPr>
        <p:txBody>
          <a:bodyPr/>
          <a:lstStyle/>
          <a:p>
            <a:r>
              <a:rPr lang="en-US" dirty="0"/>
              <a:t>VD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DSLK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8001000" cy="9906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i="1" dirty="0" err="1"/>
              <a:t>Tạo</a:t>
            </a:r>
            <a:r>
              <a:rPr lang="en-US" i="1" dirty="0"/>
              <a:t> </a:t>
            </a:r>
            <a:r>
              <a:rPr lang="en-US" i="1" dirty="0" err="1"/>
              <a:t>và</a:t>
            </a:r>
            <a:r>
              <a:rPr lang="en-US" i="1" dirty="0"/>
              <a:t> </a:t>
            </a:r>
            <a:r>
              <a:rPr lang="en-US" i="1" dirty="0" err="1"/>
              <a:t>trả</a:t>
            </a:r>
            <a:r>
              <a:rPr lang="en-US" i="1" dirty="0"/>
              <a:t> </a:t>
            </a:r>
            <a:r>
              <a:rPr lang="en-US" i="1" dirty="0" err="1"/>
              <a:t>về</a:t>
            </a:r>
            <a:r>
              <a:rPr lang="en-US" i="1" dirty="0"/>
              <a:t> Node </a:t>
            </a:r>
            <a:r>
              <a:rPr lang="en-US" i="1" dirty="0" err="1"/>
              <a:t>có</a:t>
            </a:r>
            <a:r>
              <a:rPr lang="en-US" i="1" dirty="0"/>
              <a:t> </a:t>
            </a:r>
            <a:r>
              <a:rPr lang="en-US" i="1" dirty="0" err="1"/>
              <a:t>chứa</a:t>
            </a:r>
            <a:r>
              <a:rPr lang="en-US" i="1" dirty="0"/>
              <a:t> </a:t>
            </a:r>
            <a:r>
              <a:rPr lang="en-US" i="1" dirty="0" err="1"/>
              <a:t>giá</a:t>
            </a:r>
            <a:r>
              <a:rPr lang="en-US" i="1" dirty="0"/>
              <a:t> </a:t>
            </a:r>
            <a:r>
              <a:rPr lang="en-US" i="1" dirty="0" err="1"/>
              <a:t>trị</a:t>
            </a:r>
            <a:r>
              <a:rPr lang="en-US" i="1" dirty="0"/>
              <a:t> x</a:t>
            </a:r>
          </a:p>
          <a:p>
            <a:pPr marL="45720" indent="0">
              <a:buNone/>
            </a:pPr>
            <a:endParaRPr lang="en-US" i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47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1828800"/>
            <a:ext cx="7315200" cy="4493538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private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data;</a:t>
            </a:r>
          </a:p>
          <a:p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private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next = null;</a:t>
            </a:r>
          </a:p>
          <a:p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IntNode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x = 0)</a:t>
            </a: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	data = x;</a:t>
            </a: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	next = 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2830280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DSLK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8382000" cy="1066800"/>
          </a:xfrm>
        </p:spPr>
        <p:txBody>
          <a:bodyPr/>
          <a:lstStyle/>
          <a:p>
            <a:pPr marL="45720" indent="0" algn="just">
              <a:buNone/>
            </a:pPr>
            <a:r>
              <a:rPr lang="en-US" i="1" dirty="0"/>
              <a:t>VD </a:t>
            </a:r>
            <a:r>
              <a:rPr lang="en-US" i="1" dirty="0" err="1"/>
              <a:t>nhập</a:t>
            </a:r>
            <a:r>
              <a:rPr lang="en-US" i="1" dirty="0"/>
              <a:t> </a:t>
            </a:r>
            <a:r>
              <a:rPr lang="en-US" i="1" dirty="0" err="1"/>
              <a:t>dữ</a:t>
            </a:r>
            <a:r>
              <a:rPr lang="en-US" i="1" dirty="0"/>
              <a:t> </a:t>
            </a:r>
            <a:r>
              <a:rPr lang="en-US" i="1" dirty="0" err="1"/>
              <a:t>liệu</a:t>
            </a:r>
            <a:r>
              <a:rPr lang="en-US" i="1" dirty="0"/>
              <a:t> </a:t>
            </a:r>
            <a:r>
              <a:rPr lang="en-US" i="1" dirty="0" err="1"/>
              <a:t>cho</a:t>
            </a:r>
            <a:r>
              <a:rPr lang="en-US" i="1" dirty="0"/>
              <a:t> DSLK </a:t>
            </a:r>
            <a:r>
              <a:rPr lang="en-US" i="1" dirty="0" err="1"/>
              <a:t>số</a:t>
            </a:r>
            <a:r>
              <a:rPr lang="en-US" i="1" dirty="0"/>
              <a:t> </a:t>
            </a:r>
            <a:r>
              <a:rPr lang="en-US" i="1" dirty="0" err="1"/>
              <a:t>nguyên</a:t>
            </a:r>
            <a:r>
              <a:rPr lang="en-US" i="1" dirty="0"/>
              <a:t> </a:t>
            </a:r>
            <a:r>
              <a:rPr lang="en-US" i="1" dirty="0" err="1"/>
              <a:t>dương</a:t>
            </a:r>
            <a:r>
              <a:rPr lang="en-US" i="1" dirty="0"/>
              <a:t> </a:t>
            </a:r>
            <a:r>
              <a:rPr lang="en-US" i="1" dirty="0" err="1"/>
              <a:t>và</a:t>
            </a:r>
            <a:r>
              <a:rPr lang="en-US" i="1" dirty="0"/>
              <a:t> </a:t>
            </a:r>
            <a:r>
              <a:rPr lang="en-US" i="1" dirty="0" err="1"/>
              <a:t>đưa</a:t>
            </a:r>
            <a:r>
              <a:rPr lang="en-US" i="1" dirty="0"/>
              <a:t> </a:t>
            </a:r>
            <a:r>
              <a:rPr lang="en-US" i="1" dirty="0" err="1"/>
              <a:t>vào</a:t>
            </a:r>
            <a:r>
              <a:rPr lang="en-US" i="1" dirty="0"/>
              <a:t> </a:t>
            </a:r>
            <a:r>
              <a:rPr lang="en-US" i="1" dirty="0" err="1"/>
              <a:t>đầu</a:t>
            </a:r>
            <a:r>
              <a:rPr lang="en-US" i="1" dirty="0"/>
              <a:t> </a:t>
            </a:r>
            <a:r>
              <a:rPr lang="en-US" i="1" dirty="0" err="1"/>
              <a:t>danh</a:t>
            </a:r>
            <a:r>
              <a:rPr lang="en-US" i="1" dirty="0"/>
              <a:t> </a:t>
            </a:r>
            <a:r>
              <a:rPr lang="en-US" i="1" dirty="0" err="1"/>
              <a:t>sách</a:t>
            </a:r>
            <a:endParaRPr lang="en-US" i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48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" y="1876485"/>
            <a:ext cx="8991600" cy="4524315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Input()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do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Nhap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vao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so nguyen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duong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nhap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-1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ket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thuc):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.TryParse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x);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(x &lt; 0)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   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{</a:t>
            </a:r>
          </a:p>
          <a:p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(x);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InsertFirst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}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5174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Xuất</a:t>
            </a:r>
            <a:r>
              <a:rPr lang="en-US" dirty="0"/>
              <a:t> DSLK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32415" y="2982684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84714" y="29935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94200" y="29935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18200" y="29990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442200" y="297180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>
            <a:stCxn id="6" idx="3"/>
            <a:endCxn id="7" idx="1"/>
          </p:cNvCxnSpPr>
          <p:nvPr/>
        </p:nvCxnSpPr>
        <p:spPr>
          <a:xfrm>
            <a:off x="2156101" y="321128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708400" y="3204031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232400" y="32221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756400" y="32221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471055" y="4705290"/>
            <a:ext cx="2757055" cy="1085910"/>
            <a:chOff x="214745" y="4724400"/>
            <a:chExt cx="2757055" cy="1085910"/>
          </a:xfrm>
        </p:grpSpPr>
        <p:sp>
          <p:nvSpPr>
            <p:cNvPr id="16" name="Rectangle 15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4745" y="5087080"/>
              <a:ext cx="5627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list</a:t>
              </a:r>
            </a:p>
          </p:txBody>
        </p:sp>
      </p:grpSp>
      <p:cxnSp>
        <p:nvCxnSpPr>
          <p:cNvPr id="22" name="Elbow Connector 21"/>
          <p:cNvCxnSpPr>
            <a:stCxn id="17" idx="0"/>
          </p:cNvCxnSpPr>
          <p:nvPr/>
        </p:nvCxnSpPr>
        <p:spPr>
          <a:xfrm rot="5400000" flipH="1" flipV="1">
            <a:off x="1032881" y="4146314"/>
            <a:ext cx="1417806" cy="494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19" idx="3"/>
          </p:cNvCxnSpPr>
          <p:nvPr/>
        </p:nvCxnSpPr>
        <p:spPr>
          <a:xfrm flipV="1">
            <a:off x="3076384" y="3429000"/>
            <a:ext cx="4777659" cy="1695390"/>
          </a:xfrm>
          <a:prstGeom prst="bentConnector2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8274957" y="2975431"/>
            <a:ext cx="411843" cy="457200"/>
            <a:chOff x="7924800" y="6206835"/>
            <a:chExt cx="411843" cy="457200"/>
          </a:xfrm>
        </p:grpSpPr>
        <p:sp>
          <p:nvSpPr>
            <p:cNvPr id="25" name="Rectangle 24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TextBox 29"/>
          <p:cNvSpPr txBox="1"/>
          <p:nvPr/>
        </p:nvSpPr>
        <p:spPr>
          <a:xfrm>
            <a:off x="1433064" y="2296251"/>
            <a:ext cx="6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A0E3BB4A-27EB-4943-8995-093D1A114103}"/>
              </a:ext>
            </a:extLst>
          </p:cNvPr>
          <p:cNvSpPr/>
          <p:nvPr/>
        </p:nvSpPr>
        <p:spPr>
          <a:xfrm>
            <a:off x="3429000" y="1600200"/>
            <a:ext cx="1803400" cy="457200"/>
          </a:xfrm>
          <a:prstGeom prst="borderCallout1">
            <a:avLst>
              <a:gd name="adj1" fmla="val 18750"/>
              <a:gd name="adj2" fmla="val -8333"/>
              <a:gd name="adj3" fmla="val 196044"/>
              <a:gd name="adj4" fmla="val -845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p</a:t>
            </a:r>
          </a:p>
        </p:txBody>
      </p:sp>
    </p:spTree>
    <p:extLst>
      <p:ext uri="{BB962C8B-B14F-4D97-AF65-F5344CB8AC3E}">
        <p14:creationId xmlns:p14="http://schemas.microsoft.com/office/powerpoint/2010/main" val="42655611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Xuất</a:t>
            </a:r>
            <a:r>
              <a:rPr lang="en-US" dirty="0"/>
              <a:t> DSLK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32415" y="2982684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84714" y="29935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94200" y="29935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18200" y="29990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442200" y="297180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>
            <a:stCxn id="6" idx="3"/>
            <a:endCxn id="7" idx="1"/>
          </p:cNvCxnSpPr>
          <p:nvPr/>
        </p:nvCxnSpPr>
        <p:spPr>
          <a:xfrm>
            <a:off x="2156101" y="321128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708400" y="3204031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232400" y="32221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756400" y="32221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471055" y="4705290"/>
            <a:ext cx="2757055" cy="1085910"/>
            <a:chOff x="214745" y="4724400"/>
            <a:chExt cx="2757055" cy="1085910"/>
          </a:xfrm>
        </p:grpSpPr>
        <p:sp>
          <p:nvSpPr>
            <p:cNvPr id="16" name="Rectangle 15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4745" y="5087080"/>
              <a:ext cx="5627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list</a:t>
              </a:r>
            </a:p>
          </p:txBody>
        </p:sp>
      </p:grpSp>
      <p:cxnSp>
        <p:nvCxnSpPr>
          <p:cNvPr id="22" name="Elbow Connector 21"/>
          <p:cNvCxnSpPr>
            <a:stCxn id="17" idx="0"/>
          </p:cNvCxnSpPr>
          <p:nvPr/>
        </p:nvCxnSpPr>
        <p:spPr>
          <a:xfrm rot="5400000" flipH="1" flipV="1">
            <a:off x="1032881" y="4146314"/>
            <a:ext cx="1417806" cy="494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19" idx="3"/>
          </p:cNvCxnSpPr>
          <p:nvPr/>
        </p:nvCxnSpPr>
        <p:spPr>
          <a:xfrm flipV="1">
            <a:off x="3076384" y="3429000"/>
            <a:ext cx="4777659" cy="1695390"/>
          </a:xfrm>
          <a:prstGeom prst="bentConnector2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8274957" y="2975431"/>
            <a:ext cx="411843" cy="457200"/>
            <a:chOff x="7924800" y="6206835"/>
            <a:chExt cx="411843" cy="457200"/>
          </a:xfrm>
        </p:grpSpPr>
        <p:sp>
          <p:nvSpPr>
            <p:cNvPr id="25" name="Rectangle 24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TextBox 29"/>
          <p:cNvSpPr txBox="1"/>
          <p:nvPr/>
        </p:nvSpPr>
        <p:spPr>
          <a:xfrm>
            <a:off x="2971800" y="2296251"/>
            <a:ext cx="6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A0E3BB4A-27EB-4943-8995-093D1A114103}"/>
              </a:ext>
            </a:extLst>
          </p:cNvPr>
          <p:cNvSpPr/>
          <p:nvPr/>
        </p:nvSpPr>
        <p:spPr>
          <a:xfrm>
            <a:off x="4967736" y="1600200"/>
            <a:ext cx="1803400" cy="457200"/>
          </a:xfrm>
          <a:prstGeom prst="borderCallout1">
            <a:avLst>
              <a:gd name="adj1" fmla="val 18750"/>
              <a:gd name="adj2" fmla="val -8333"/>
              <a:gd name="adj3" fmla="val 196044"/>
              <a:gd name="adj4" fmla="val -845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p</a:t>
            </a:r>
          </a:p>
        </p:txBody>
      </p:sp>
    </p:spTree>
    <p:extLst>
      <p:ext uri="{BB962C8B-B14F-4D97-AF65-F5344CB8AC3E}">
        <p14:creationId xmlns:p14="http://schemas.microsoft.com/office/powerpoint/2010/main" val="10464918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Xuất</a:t>
            </a:r>
            <a:r>
              <a:rPr lang="en-US" dirty="0"/>
              <a:t> DSLK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32415" y="2982684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84714" y="29935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94200" y="29935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18200" y="29990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442200" y="297180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>
            <a:stCxn id="6" idx="3"/>
            <a:endCxn id="7" idx="1"/>
          </p:cNvCxnSpPr>
          <p:nvPr/>
        </p:nvCxnSpPr>
        <p:spPr>
          <a:xfrm>
            <a:off x="2156101" y="321128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708400" y="3204031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232400" y="32221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756400" y="32221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471055" y="4705290"/>
            <a:ext cx="2757055" cy="1085910"/>
            <a:chOff x="214745" y="4724400"/>
            <a:chExt cx="2757055" cy="1085910"/>
          </a:xfrm>
        </p:grpSpPr>
        <p:sp>
          <p:nvSpPr>
            <p:cNvPr id="16" name="Rectangle 15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4745" y="5087080"/>
              <a:ext cx="5627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list</a:t>
              </a:r>
            </a:p>
          </p:txBody>
        </p:sp>
      </p:grpSp>
      <p:cxnSp>
        <p:nvCxnSpPr>
          <p:cNvPr id="22" name="Elbow Connector 21"/>
          <p:cNvCxnSpPr>
            <a:stCxn id="17" idx="0"/>
          </p:cNvCxnSpPr>
          <p:nvPr/>
        </p:nvCxnSpPr>
        <p:spPr>
          <a:xfrm rot="5400000" flipH="1" flipV="1">
            <a:off x="1032881" y="4146314"/>
            <a:ext cx="1417806" cy="494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19" idx="3"/>
          </p:cNvCxnSpPr>
          <p:nvPr/>
        </p:nvCxnSpPr>
        <p:spPr>
          <a:xfrm flipV="1">
            <a:off x="3076384" y="3429000"/>
            <a:ext cx="4777659" cy="1695390"/>
          </a:xfrm>
          <a:prstGeom prst="bentConnector2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8274957" y="2975431"/>
            <a:ext cx="411843" cy="457200"/>
            <a:chOff x="7924800" y="6206835"/>
            <a:chExt cx="411843" cy="457200"/>
          </a:xfrm>
        </p:grpSpPr>
        <p:sp>
          <p:nvSpPr>
            <p:cNvPr id="25" name="Rectangle 24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TextBox 29"/>
          <p:cNvSpPr txBox="1"/>
          <p:nvPr/>
        </p:nvSpPr>
        <p:spPr>
          <a:xfrm>
            <a:off x="4506464" y="2296251"/>
            <a:ext cx="6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A0E3BB4A-27EB-4943-8995-093D1A114103}"/>
              </a:ext>
            </a:extLst>
          </p:cNvPr>
          <p:cNvSpPr/>
          <p:nvPr/>
        </p:nvSpPr>
        <p:spPr>
          <a:xfrm>
            <a:off x="6502400" y="1600200"/>
            <a:ext cx="1803400" cy="457200"/>
          </a:xfrm>
          <a:prstGeom prst="borderCallout1">
            <a:avLst>
              <a:gd name="adj1" fmla="val 18750"/>
              <a:gd name="adj2" fmla="val -8333"/>
              <a:gd name="adj3" fmla="val 196044"/>
              <a:gd name="adj4" fmla="val -845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p</a:t>
            </a:r>
          </a:p>
        </p:txBody>
      </p:sp>
    </p:spTree>
    <p:extLst>
      <p:ext uri="{BB962C8B-B14F-4D97-AF65-F5344CB8AC3E}">
        <p14:creationId xmlns:p14="http://schemas.microsoft.com/office/powerpoint/2010/main" val="31551589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Xuất</a:t>
            </a:r>
            <a:r>
              <a:rPr lang="en-US" dirty="0"/>
              <a:t> DSLK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32415" y="2982684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84714" y="29935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94200" y="29935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18200" y="29990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442200" y="297180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>
            <a:stCxn id="6" idx="3"/>
            <a:endCxn id="7" idx="1"/>
          </p:cNvCxnSpPr>
          <p:nvPr/>
        </p:nvCxnSpPr>
        <p:spPr>
          <a:xfrm>
            <a:off x="2156101" y="321128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708400" y="3204031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232400" y="32221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756400" y="32221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471055" y="4705290"/>
            <a:ext cx="2757055" cy="1085910"/>
            <a:chOff x="214745" y="4724400"/>
            <a:chExt cx="2757055" cy="1085910"/>
          </a:xfrm>
        </p:grpSpPr>
        <p:sp>
          <p:nvSpPr>
            <p:cNvPr id="16" name="Rectangle 15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4745" y="5087080"/>
              <a:ext cx="5627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list</a:t>
              </a:r>
            </a:p>
          </p:txBody>
        </p:sp>
      </p:grpSp>
      <p:cxnSp>
        <p:nvCxnSpPr>
          <p:cNvPr id="22" name="Elbow Connector 21"/>
          <p:cNvCxnSpPr>
            <a:stCxn id="17" idx="0"/>
          </p:cNvCxnSpPr>
          <p:nvPr/>
        </p:nvCxnSpPr>
        <p:spPr>
          <a:xfrm rot="5400000" flipH="1" flipV="1">
            <a:off x="1032881" y="4146314"/>
            <a:ext cx="1417806" cy="494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19" idx="3"/>
          </p:cNvCxnSpPr>
          <p:nvPr/>
        </p:nvCxnSpPr>
        <p:spPr>
          <a:xfrm flipV="1">
            <a:off x="3076384" y="3429000"/>
            <a:ext cx="4777659" cy="1695390"/>
          </a:xfrm>
          <a:prstGeom prst="bentConnector2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8274957" y="2975431"/>
            <a:ext cx="411843" cy="457200"/>
            <a:chOff x="7924800" y="6206835"/>
            <a:chExt cx="411843" cy="457200"/>
          </a:xfrm>
        </p:grpSpPr>
        <p:sp>
          <p:nvSpPr>
            <p:cNvPr id="25" name="Rectangle 24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TextBox 29"/>
          <p:cNvSpPr txBox="1"/>
          <p:nvPr/>
        </p:nvSpPr>
        <p:spPr>
          <a:xfrm>
            <a:off x="5987142" y="2329012"/>
            <a:ext cx="6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A0E3BB4A-27EB-4943-8995-093D1A114103}"/>
              </a:ext>
            </a:extLst>
          </p:cNvPr>
          <p:cNvSpPr/>
          <p:nvPr/>
        </p:nvSpPr>
        <p:spPr>
          <a:xfrm>
            <a:off x="3793306" y="1514870"/>
            <a:ext cx="1803400" cy="457200"/>
          </a:xfrm>
          <a:prstGeom prst="borderCallout1">
            <a:avLst>
              <a:gd name="adj1" fmla="val 16218"/>
              <a:gd name="adj2" fmla="val 105270"/>
              <a:gd name="adj3" fmla="val 193512"/>
              <a:gd name="adj4" fmla="val 1400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p</a:t>
            </a:r>
          </a:p>
        </p:txBody>
      </p:sp>
    </p:spTree>
    <p:extLst>
      <p:ext uri="{BB962C8B-B14F-4D97-AF65-F5344CB8AC3E}">
        <p14:creationId xmlns:p14="http://schemas.microsoft.com/office/powerpoint/2010/main" val="290664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Xuất</a:t>
            </a:r>
            <a:r>
              <a:rPr lang="en-US" dirty="0"/>
              <a:t> DSLK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32415" y="2982684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84714" y="29935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94200" y="29935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18200" y="29990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442200" y="297180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>
            <a:stCxn id="6" idx="3"/>
            <a:endCxn id="7" idx="1"/>
          </p:cNvCxnSpPr>
          <p:nvPr/>
        </p:nvCxnSpPr>
        <p:spPr>
          <a:xfrm>
            <a:off x="2156101" y="321128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708400" y="3204031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232400" y="32221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756400" y="32221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471055" y="4705290"/>
            <a:ext cx="2757055" cy="1085910"/>
            <a:chOff x="214745" y="4724400"/>
            <a:chExt cx="2757055" cy="1085910"/>
          </a:xfrm>
        </p:grpSpPr>
        <p:sp>
          <p:nvSpPr>
            <p:cNvPr id="16" name="Rectangle 15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4745" y="5087080"/>
              <a:ext cx="5627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list</a:t>
              </a:r>
            </a:p>
          </p:txBody>
        </p:sp>
      </p:grpSp>
      <p:cxnSp>
        <p:nvCxnSpPr>
          <p:cNvPr id="22" name="Elbow Connector 21"/>
          <p:cNvCxnSpPr>
            <a:stCxn id="17" idx="0"/>
          </p:cNvCxnSpPr>
          <p:nvPr/>
        </p:nvCxnSpPr>
        <p:spPr>
          <a:xfrm rot="5400000" flipH="1" flipV="1">
            <a:off x="1032881" y="4146314"/>
            <a:ext cx="1417806" cy="494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19" idx="3"/>
          </p:cNvCxnSpPr>
          <p:nvPr/>
        </p:nvCxnSpPr>
        <p:spPr>
          <a:xfrm flipV="1">
            <a:off x="3076384" y="3429000"/>
            <a:ext cx="4777659" cy="1695390"/>
          </a:xfrm>
          <a:prstGeom prst="bentConnector2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8274957" y="2975431"/>
            <a:ext cx="411843" cy="457200"/>
            <a:chOff x="7924800" y="6206835"/>
            <a:chExt cx="411843" cy="457200"/>
          </a:xfrm>
        </p:grpSpPr>
        <p:sp>
          <p:nvSpPr>
            <p:cNvPr id="25" name="Rectangle 24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TextBox 29"/>
          <p:cNvSpPr txBox="1"/>
          <p:nvPr/>
        </p:nvSpPr>
        <p:spPr>
          <a:xfrm>
            <a:off x="7467599" y="2329012"/>
            <a:ext cx="6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A0E3BB4A-27EB-4943-8995-093D1A114103}"/>
              </a:ext>
            </a:extLst>
          </p:cNvPr>
          <p:cNvSpPr/>
          <p:nvPr/>
        </p:nvSpPr>
        <p:spPr>
          <a:xfrm>
            <a:off x="5273763" y="1514870"/>
            <a:ext cx="1803400" cy="457200"/>
          </a:xfrm>
          <a:prstGeom prst="borderCallout1">
            <a:avLst>
              <a:gd name="adj1" fmla="val 16218"/>
              <a:gd name="adj2" fmla="val 105270"/>
              <a:gd name="adj3" fmla="val 193512"/>
              <a:gd name="adj4" fmla="val 1400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p</a:t>
            </a:r>
          </a:p>
        </p:txBody>
      </p:sp>
    </p:spTree>
    <p:extLst>
      <p:ext uri="{BB962C8B-B14F-4D97-AF65-F5344CB8AC3E}">
        <p14:creationId xmlns:p14="http://schemas.microsoft.com/office/powerpoint/2010/main" val="20653524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Xuất</a:t>
            </a:r>
            <a:r>
              <a:rPr lang="en-US" dirty="0"/>
              <a:t> DSLK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32415" y="2982684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84714" y="29935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94200" y="2993568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18200" y="29990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442200" y="297180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>
            <a:stCxn id="6" idx="3"/>
            <a:endCxn id="7" idx="1"/>
          </p:cNvCxnSpPr>
          <p:nvPr/>
        </p:nvCxnSpPr>
        <p:spPr>
          <a:xfrm>
            <a:off x="2156101" y="3211284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708400" y="3204031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232400" y="32221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756400" y="3222168"/>
            <a:ext cx="728613" cy="10884"/>
          </a:xfrm>
          <a:prstGeom prst="line">
            <a:avLst/>
          </a:prstGeom>
          <a:ln w="38100">
            <a:solidFill>
              <a:srgbClr val="C0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471055" y="4705290"/>
            <a:ext cx="2757055" cy="1085910"/>
            <a:chOff x="214745" y="4724400"/>
            <a:chExt cx="2757055" cy="1085910"/>
          </a:xfrm>
        </p:grpSpPr>
        <p:sp>
          <p:nvSpPr>
            <p:cNvPr id="16" name="Rectangle 15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3619" y="5410200"/>
              <a:ext cx="60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211831" y="5410200"/>
              <a:ext cx="561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4745" y="5087080"/>
              <a:ext cx="5627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list</a:t>
              </a:r>
            </a:p>
          </p:txBody>
        </p:sp>
      </p:grpSp>
      <p:cxnSp>
        <p:nvCxnSpPr>
          <p:cNvPr id="22" name="Elbow Connector 21"/>
          <p:cNvCxnSpPr>
            <a:stCxn id="17" idx="0"/>
          </p:cNvCxnSpPr>
          <p:nvPr/>
        </p:nvCxnSpPr>
        <p:spPr>
          <a:xfrm rot="5400000" flipH="1" flipV="1">
            <a:off x="1032881" y="4146314"/>
            <a:ext cx="1417806" cy="494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19" idx="3"/>
          </p:cNvCxnSpPr>
          <p:nvPr/>
        </p:nvCxnSpPr>
        <p:spPr>
          <a:xfrm flipV="1">
            <a:off x="3076384" y="3429000"/>
            <a:ext cx="4777659" cy="1695390"/>
          </a:xfrm>
          <a:prstGeom prst="bentConnector2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8274957" y="2975431"/>
            <a:ext cx="411843" cy="457200"/>
            <a:chOff x="7924800" y="6206835"/>
            <a:chExt cx="411843" cy="457200"/>
          </a:xfrm>
        </p:grpSpPr>
        <p:sp>
          <p:nvSpPr>
            <p:cNvPr id="25" name="Rectangle 24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TextBox 29"/>
          <p:cNvSpPr txBox="1"/>
          <p:nvPr/>
        </p:nvSpPr>
        <p:spPr>
          <a:xfrm>
            <a:off x="8162616" y="2400285"/>
            <a:ext cx="6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A0E3BB4A-27EB-4943-8995-093D1A114103}"/>
              </a:ext>
            </a:extLst>
          </p:cNvPr>
          <p:cNvSpPr/>
          <p:nvPr/>
        </p:nvSpPr>
        <p:spPr>
          <a:xfrm>
            <a:off x="5638800" y="1586143"/>
            <a:ext cx="2133380" cy="457200"/>
          </a:xfrm>
          <a:prstGeom prst="borderCallout1">
            <a:avLst>
              <a:gd name="adj1" fmla="val 16218"/>
              <a:gd name="adj2" fmla="val 105270"/>
              <a:gd name="adj3" fmla="val 198575"/>
              <a:gd name="adj4" fmla="val 1297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p=NULL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Kết</a:t>
            </a:r>
            <a:r>
              <a:rPr lang="en-US" dirty="0">
                <a:sym typeface="Wingdings" panose="05000000000000000000" pitchFamily="2" charset="2"/>
              </a:rPr>
              <a:t> thúc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4760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Xuất</a:t>
            </a:r>
            <a:r>
              <a:rPr lang="en-US" dirty="0"/>
              <a:t> DSLK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28650" y="1997839"/>
            <a:ext cx="7886700" cy="3416320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Output()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p = first;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while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(p !=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		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p.data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"-&gt;"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p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p.next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243880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mẫu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Minh </a:t>
            </a:r>
            <a:r>
              <a:rPr lang="en-US" dirty="0" err="1"/>
              <a:t>hoạ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DSLK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.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3 </a:t>
            </a:r>
            <a:r>
              <a:rPr lang="en-US" dirty="0" err="1"/>
              <a:t>lớp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IntNode</a:t>
            </a:r>
            <a:r>
              <a:rPr lang="en-US" dirty="0"/>
              <a:t>: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Node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IntLinkedList</a:t>
            </a:r>
            <a:r>
              <a:rPr lang="en-US" dirty="0"/>
              <a:t>: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DSLK </a:t>
            </a:r>
            <a:r>
              <a:rPr lang="en-US" dirty="0" err="1"/>
              <a:t>đơn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 err="1"/>
              <a:t>Lớp</a:t>
            </a:r>
            <a:r>
              <a:rPr lang="en-US" dirty="0"/>
              <a:t> Program: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nghiệm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966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788" y="152401"/>
            <a:ext cx="7886700" cy="609600"/>
          </a:xfrm>
        </p:spPr>
        <p:txBody>
          <a:bodyPr>
            <a:normAutofit/>
          </a:bodyPr>
          <a:lstStyle/>
          <a:p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IntNode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2400" y="872490"/>
            <a:ext cx="8610600" cy="59093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data;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next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Data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data;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 data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Next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next;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 next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IntNode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 = 0)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data = x;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next=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8394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6200"/>
            <a:ext cx="7886700" cy="777874"/>
          </a:xfrm>
        </p:spPr>
        <p:txBody>
          <a:bodyPr/>
          <a:lstStyle/>
          <a:p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IntLinkedList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5800" y="872490"/>
            <a:ext cx="7543800" cy="59093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IntLinkedList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first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last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first ==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InsertFirst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first = last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newNode.next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first;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first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94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6526"/>
            <a:ext cx="7886700" cy="701674"/>
          </a:xfrm>
        </p:spPr>
        <p:txBody>
          <a:bodyPr/>
          <a:lstStyle/>
          <a:p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IntLinkedList</a:t>
            </a:r>
            <a:r>
              <a:rPr lang="en-US" dirty="0"/>
              <a:t> (</a:t>
            </a:r>
            <a:r>
              <a:rPr lang="en-US" dirty="0" err="1"/>
              <a:t>tt</a:t>
            </a:r>
            <a:r>
              <a:rPr lang="en-US" dirty="0"/>
              <a:t>…)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419285"/>
            <a:ext cx="9144000" cy="45243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Input()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do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Nhap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vao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so nguyen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duong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nhap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-1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ket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thuc):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.TryParse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x);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(x &lt; 0)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		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	{</a:t>
            </a:r>
          </a:p>
          <a:p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		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(x);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InsertFirst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}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422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6526"/>
            <a:ext cx="7886700" cy="701674"/>
          </a:xfrm>
        </p:spPr>
        <p:txBody>
          <a:bodyPr/>
          <a:lstStyle/>
          <a:p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IntLinkedList</a:t>
            </a:r>
            <a:r>
              <a:rPr lang="en-US" dirty="0"/>
              <a:t> (</a:t>
            </a:r>
            <a:r>
              <a:rPr lang="en-US" dirty="0" err="1"/>
              <a:t>tt</a:t>
            </a:r>
            <a:r>
              <a:rPr lang="en-US" dirty="0"/>
              <a:t>…)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81000" y="2027615"/>
            <a:ext cx="8534400" cy="313932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	 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Output()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p = first;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(p !=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p.data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"-&gt;"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p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p.next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"."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7227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00"/>
            <a:ext cx="7886700" cy="838201"/>
          </a:xfrm>
        </p:spPr>
        <p:txBody>
          <a:bodyPr>
            <a:normAutofit/>
          </a:bodyPr>
          <a:lstStyle/>
          <a:p>
            <a:r>
              <a:rPr lang="en-US" dirty="0" err="1"/>
              <a:t>Lớp</a:t>
            </a:r>
            <a:r>
              <a:rPr lang="en-US" dirty="0"/>
              <a:t>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4800" y="2166878"/>
            <a:ext cx="8610600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	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	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IntLinkedList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IntLinkedList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intList.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"Gia tri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trong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danh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sach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vua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nhap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:"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intList.Output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345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1219200"/>
            <a:ext cx="8286750" cy="5715000"/>
          </a:xfrm>
        </p:spPr>
        <p:txBody>
          <a:bodyPr>
            <a:normAutofit fontScale="92500" lnSpcReduction="20000"/>
          </a:bodyPr>
          <a:lstStyle/>
          <a:p>
            <a:pPr marL="45720" indent="0" algn="just">
              <a:buNone/>
            </a:pPr>
            <a:r>
              <a:rPr lang="en-US" sz="2600" dirty="0" err="1"/>
              <a:t>Định</a:t>
            </a:r>
            <a:r>
              <a:rPr lang="en-US" sz="2600" dirty="0"/>
              <a:t> </a:t>
            </a:r>
            <a:r>
              <a:rPr lang="en-US" sz="2600" dirty="0" err="1"/>
              <a:t>nghĩa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phương</a:t>
            </a:r>
            <a:r>
              <a:rPr lang="en-US" sz="2600" dirty="0"/>
              <a:t> </a:t>
            </a:r>
            <a:r>
              <a:rPr lang="en-US" sz="2600" dirty="0" err="1"/>
              <a:t>thức</a:t>
            </a:r>
            <a:r>
              <a:rPr lang="en-US" sz="2600" dirty="0"/>
              <a:t> </a:t>
            </a:r>
            <a:r>
              <a:rPr lang="en-US" sz="2600" dirty="0" err="1"/>
              <a:t>cho</a:t>
            </a:r>
            <a:r>
              <a:rPr lang="en-US" sz="2600" dirty="0"/>
              <a:t> </a:t>
            </a:r>
            <a:r>
              <a:rPr lang="en-US" sz="2600" dirty="0" err="1"/>
              <a:t>lớp</a:t>
            </a:r>
            <a:r>
              <a:rPr lang="en-US" sz="2600" dirty="0"/>
              <a:t> </a:t>
            </a:r>
            <a:r>
              <a:rPr lang="en-US" sz="2600" b="1" i="1" dirty="0" err="1">
                <a:solidFill>
                  <a:srgbClr val="0070C0"/>
                </a:solidFill>
              </a:rPr>
              <a:t>IntLinkedList</a:t>
            </a:r>
            <a:r>
              <a:rPr lang="en-US" sz="2600" dirty="0"/>
              <a:t>:</a:t>
            </a:r>
          </a:p>
          <a:p>
            <a:pPr marL="560070" indent="-514350">
              <a:buAutoNum type="arabicPeriod"/>
            </a:pPr>
            <a:r>
              <a:rPr lang="en-US" sz="2600" dirty="0" err="1"/>
              <a:t>Đếm</a:t>
            </a:r>
            <a:r>
              <a:rPr lang="en-US" sz="2600" dirty="0"/>
              <a:t> </a:t>
            </a:r>
            <a:r>
              <a:rPr lang="en-US" sz="2600" dirty="0" err="1"/>
              <a:t>số</a:t>
            </a:r>
            <a:r>
              <a:rPr lang="en-US" sz="2600" dirty="0"/>
              <a:t> </a:t>
            </a:r>
            <a:r>
              <a:rPr lang="en-US" sz="2600" dirty="0" err="1"/>
              <a:t>lượng</a:t>
            </a:r>
            <a:r>
              <a:rPr lang="en-US" sz="2600" dirty="0"/>
              <a:t> node</a:t>
            </a:r>
          </a:p>
          <a:p>
            <a:pPr marL="45720" indent="0">
              <a:buNone/>
            </a:pPr>
            <a:r>
              <a:rPr lang="en-US" sz="2600" dirty="0"/>
              <a:t>	</a:t>
            </a:r>
            <a:r>
              <a:rPr lang="en-US" sz="2600" b="1" dirty="0" err="1">
                <a:hlinkClick r:id="rId2" action="ppaction://hlinkpres?slideindex=1&amp;slidetitle="/>
              </a:rPr>
              <a:t>int</a:t>
            </a:r>
            <a:r>
              <a:rPr lang="en-US" sz="2600" dirty="0">
                <a:hlinkClick r:id="rId2" action="ppaction://hlinkpres?slideindex=1&amp;slidetitle="/>
              </a:rPr>
              <a:t> </a:t>
            </a:r>
            <a:r>
              <a:rPr lang="en-US" sz="2600" dirty="0" err="1">
                <a:hlinkClick r:id="rId2" action="ppaction://hlinkpres?slideindex=1&amp;slidetitle="/>
              </a:rPr>
              <a:t>DemSL</a:t>
            </a:r>
            <a:r>
              <a:rPr lang="en-US" sz="2600" dirty="0">
                <a:hlinkClick r:id="rId2" action="ppaction://hlinkpres?slideindex=1&amp;slidetitle="/>
              </a:rPr>
              <a:t>();</a:t>
            </a:r>
            <a:endParaRPr lang="en-US" sz="2600" dirty="0"/>
          </a:p>
          <a:p>
            <a:pPr marL="45720" indent="0">
              <a:buNone/>
            </a:pPr>
            <a:r>
              <a:rPr lang="en-US" sz="2600" dirty="0"/>
              <a:t>2. </a:t>
            </a:r>
            <a:r>
              <a:rPr lang="en-US" sz="2600" dirty="0" err="1"/>
              <a:t>Tìm</a:t>
            </a:r>
            <a:r>
              <a:rPr lang="en-US" sz="2600" dirty="0"/>
              <a:t> node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lớn</a:t>
            </a:r>
            <a:r>
              <a:rPr lang="en-US" sz="2600" dirty="0"/>
              <a:t> </a:t>
            </a:r>
            <a:r>
              <a:rPr lang="en-US" sz="2600" dirty="0" err="1"/>
              <a:t>nhất</a:t>
            </a:r>
            <a:endParaRPr lang="en-US" sz="2600" dirty="0"/>
          </a:p>
          <a:p>
            <a:pPr marL="45720" indent="0">
              <a:buNone/>
            </a:pPr>
            <a:r>
              <a:rPr lang="en-US" sz="2600" dirty="0"/>
              <a:t>	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</a:rPr>
              <a:t>IntNode</a:t>
            </a:r>
            <a:r>
              <a:rPr lang="en-US" sz="2600" dirty="0"/>
              <a:t> </a:t>
            </a:r>
            <a:r>
              <a:rPr lang="en-US" sz="2600" dirty="0" err="1">
                <a:hlinkClick r:id="rId3" action="ppaction://hlinkpres?slideindex=1&amp;slidetitle="/>
              </a:rPr>
              <a:t>TimMax</a:t>
            </a:r>
            <a:r>
              <a:rPr lang="en-US" sz="2600" dirty="0">
                <a:hlinkClick r:id="rId3" action="ppaction://hlinkpres?slideindex=1&amp;slidetitle="/>
              </a:rPr>
              <a:t>();</a:t>
            </a:r>
            <a:r>
              <a:rPr lang="en-US" sz="2600" dirty="0"/>
              <a:t>	</a:t>
            </a:r>
          </a:p>
          <a:p>
            <a:pPr marL="45720" indent="0">
              <a:buNone/>
            </a:pPr>
            <a:r>
              <a:rPr lang="en-US" sz="2600" dirty="0"/>
              <a:t>3. </a:t>
            </a:r>
            <a:r>
              <a:rPr lang="en-US" sz="2600" dirty="0" err="1"/>
              <a:t>Tìm</a:t>
            </a:r>
            <a:r>
              <a:rPr lang="en-US" sz="2600" dirty="0"/>
              <a:t> node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x</a:t>
            </a:r>
          </a:p>
          <a:p>
            <a:pPr marL="45720" indent="0">
              <a:buNone/>
            </a:pPr>
            <a:r>
              <a:rPr lang="en-US" sz="2600" dirty="0"/>
              <a:t>	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</a:rPr>
              <a:t>IntNode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600" dirty="0" err="1">
                <a:hlinkClick r:id="rId4" action="ppaction://hlinkpres?slideindex=1&amp;slidetitle="/>
              </a:rPr>
              <a:t>TimX</a:t>
            </a:r>
            <a:r>
              <a:rPr lang="en-US" sz="2600" dirty="0">
                <a:hlinkClick r:id="rId4" action="ppaction://hlinkpres?slideindex=1&amp;slidetitle="/>
              </a:rPr>
              <a:t>(</a:t>
            </a:r>
            <a:r>
              <a:rPr lang="en-US" sz="2600" dirty="0" err="1">
                <a:hlinkClick r:id="rId4" action="ppaction://hlinkpres?slideindex=1&amp;slidetitle="/>
              </a:rPr>
              <a:t>int</a:t>
            </a:r>
            <a:r>
              <a:rPr lang="en-US" sz="2600" dirty="0">
                <a:hlinkClick r:id="rId4" action="ppaction://hlinkpres?slideindex=1&amp;slidetitle="/>
              </a:rPr>
              <a:t> x);</a:t>
            </a:r>
            <a:endParaRPr lang="en-US" sz="2600" dirty="0"/>
          </a:p>
          <a:p>
            <a:pPr marL="45720" indent="0">
              <a:buNone/>
            </a:pPr>
            <a:r>
              <a:rPr lang="en-US" sz="2600" dirty="0"/>
              <a:t>4. In </a:t>
            </a:r>
            <a:r>
              <a:rPr lang="en-US" sz="2600" dirty="0" err="1"/>
              <a:t>những</a:t>
            </a:r>
            <a:r>
              <a:rPr lang="en-US" sz="2600" dirty="0"/>
              <a:t> node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chẵn</a:t>
            </a:r>
            <a:endParaRPr lang="en-US" sz="2600" dirty="0"/>
          </a:p>
          <a:p>
            <a:pPr marL="45720" indent="0">
              <a:buNone/>
            </a:pPr>
            <a:r>
              <a:rPr lang="en-US" sz="2600" dirty="0"/>
              <a:t>	</a:t>
            </a:r>
            <a:r>
              <a:rPr lang="en-US" sz="2600" b="1" dirty="0">
                <a:hlinkClick r:id="rId5" action="ppaction://hlinkpres?slideindex=1&amp;slidetitle="/>
              </a:rPr>
              <a:t>void</a:t>
            </a:r>
            <a:r>
              <a:rPr lang="en-US" sz="2600" dirty="0">
                <a:hlinkClick r:id="rId5" action="ppaction://hlinkpres?slideindex=1&amp;slidetitle="/>
              </a:rPr>
              <a:t> </a:t>
            </a:r>
            <a:r>
              <a:rPr lang="en-US" sz="2600" dirty="0" err="1">
                <a:hlinkClick r:id="rId5" action="ppaction://hlinkpres?slideindex=1&amp;slidetitle="/>
              </a:rPr>
              <a:t>InChan</a:t>
            </a:r>
            <a:r>
              <a:rPr lang="en-US" sz="2600" dirty="0">
                <a:hlinkClick r:id="rId5" action="ppaction://hlinkpres?slideindex=1&amp;slidetitle="/>
              </a:rPr>
              <a:t>();</a:t>
            </a:r>
            <a:endParaRPr lang="en-US" sz="2600" dirty="0"/>
          </a:p>
          <a:p>
            <a:pPr marL="45720" indent="0">
              <a:buNone/>
            </a:pPr>
            <a:r>
              <a:rPr lang="en-US" sz="2600" dirty="0"/>
              <a:t>5. </a:t>
            </a:r>
            <a:r>
              <a:rPr lang="en-US" sz="2600" dirty="0" err="1"/>
              <a:t>Tính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trung</a:t>
            </a:r>
            <a:r>
              <a:rPr lang="en-US" sz="2600" dirty="0"/>
              <a:t> </a:t>
            </a:r>
            <a:r>
              <a:rPr lang="en-US" sz="2600" dirty="0" err="1"/>
              <a:t>bình</a:t>
            </a:r>
            <a:r>
              <a:rPr lang="en-US" sz="2600" dirty="0"/>
              <a:t> </a:t>
            </a:r>
            <a:r>
              <a:rPr lang="en-US" sz="2600" dirty="0" err="1"/>
              <a:t>cộng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node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lẻ</a:t>
            </a:r>
            <a:endParaRPr lang="en-US" sz="2600" dirty="0"/>
          </a:p>
          <a:p>
            <a:pPr marL="45720" indent="0">
              <a:buNone/>
            </a:pPr>
            <a:r>
              <a:rPr lang="en-US" sz="2600" dirty="0"/>
              <a:t>	</a:t>
            </a:r>
            <a:r>
              <a:rPr lang="en-US" sz="2600" b="1" dirty="0">
                <a:hlinkClick r:id="rId6" action="ppaction://hlinkpres?slideindex=1&amp;slidetitle="/>
              </a:rPr>
              <a:t>double</a:t>
            </a:r>
            <a:r>
              <a:rPr lang="en-US" sz="2600" dirty="0">
                <a:hlinkClick r:id="rId6" action="ppaction://hlinkpres?slideindex=1&amp;slidetitle="/>
              </a:rPr>
              <a:t> </a:t>
            </a:r>
            <a:r>
              <a:rPr lang="en-US" sz="2600" dirty="0" err="1">
                <a:hlinkClick r:id="rId6" action="ppaction://hlinkpres?slideindex=1&amp;slidetitle="/>
              </a:rPr>
              <a:t>TBLe</a:t>
            </a:r>
            <a:r>
              <a:rPr lang="en-US" sz="2600" dirty="0">
                <a:hlinkClick r:id="rId6" action="ppaction://hlinkpres?slideindex=1&amp;slidetitle="/>
              </a:rPr>
              <a:t>();</a:t>
            </a:r>
            <a:endParaRPr lang="en-US" sz="2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755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1219200"/>
            <a:ext cx="8286750" cy="5715000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en-US" sz="2600" dirty="0" err="1"/>
              <a:t>Cài</a:t>
            </a:r>
            <a:r>
              <a:rPr lang="en-US" sz="2600" dirty="0"/>
              <a:t> </a:t>
            </a:r>
            <a:r>
              <a:rPr lang="en-US" sz="2600" dirty="0" err="1"/>
              <a:t>đặt</a:t>
            </a:r>
            <a:r>
              <a:rPr lang="en-US" sz="2600" dirty="0"/>
              <a:t> </a:t>
            </a:r>
            <a:r>
              <a:rPr lang="en-US" sz="2600" dirty="0" err="1"/>
              <a:t>lớp</a:t>
            </a:r>
            <a:r>
              <a:rPr lang="en-US" sz="2600" dirty="0"/>
              <a:t> LinkedList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kiểu</a:t>
            </a:r>
            <a:r>
              <a:rPr lang="en-US" sz="2600" dirty="0"/>
              <a:t> </a:t>
            </a:r>
            <a:r>
              <a:rPr lang="en-US" sz="2600" dirty="0" err="1"/>
              <a:t>dữ</a:t>
            </a:r>
            <a:r>
              <a:rPr lang="en-US" sz="2600" dirty="0"/>
              <a:t> </a:t>
            </a:r>
            <a:r>
              <a:rPr lang="en-US" sz="2600" dirty="0" err="1"/>
              <a:t>liệu</a:t>
            </a:r>
            <a:r>
              <a:rPr lang="en-US" sz="2600" dirty="0"/>
              <a:t> generic </a:t>
            </a:r>
            <a:r>
              <a:rPr lang="en-US" sz="2600" dirty="0" err="1"/>
              <a:t>gồm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chức</a:t>
            </a:r>
            <a:r>
              <a:rPr lang="en-US" sz="2600" dirty="0"/>
              <a:t> </a:t>
            </a:r>
            <a:r>
              <a:rPr lang="en-US" sz="2600" dirty="0" err="1"/>
              <a:t>năng</a:t>
            </a:r>
            <a:r>
              <a:rPr lang="en-US" sz="2600" dirty="0"/>
              <a:t>:</a:t>
            </a:r>
          </a:p>
          <a:p>
            <a:pPr marL="560070" indent="-514350" algn="just">
              <a:buAutoNum type="arabicPeriod"/>
            </a:pPr>
            <a:r>
              <a:rPr lang="en-US" sz="2600" dirty="0" err="1"/>
              <a:t>Tạo</a:t>
            </a:r>
            <a:r>
              <a:rPr lang="en-US" sz="2600" dirty="0"/>
              <a:t> node</a:t>
            </a:r>
          </a:p>
          <a:p>
            <a:pPr marL="560070" indent="-514350" algn="just">
              <a:buAutoNum type="arabicPeriod"/>
            </a:pPr>
            <a:r>
              <a:rPr lang="en-US" sz="2600" dirty="0" err="1"/>
              <a:t>Thêm</a:t>
            </a:r>
            <a:r>
              <a:rPr lang="en-US" sz="2600" dirty="0"/>
              <a:t> node </a:t>
            </a:r>
            <a:r>
              <a:rPr lang="en-US" sz="2600" dirty="0" err="1"/>
              <a:t>vào</a:t>
            </a:r>
            <a:r>
              <a:rPr lang="en-US" sz="2600" dirty="0"/>
              <a:t> </a:t>
            </a:r>
            <a:r>
              <a:rPr lang="en-US" sz="2600" dirty="0" err="1"/>
              <a:t>đầu</a:t>
            </a:r>
            <a:r>
              <a:rPr lang="en-US" sz="2600" dirty="0"/>
              <a:t> DSLK</a:t>
            </a:r>
          </a:p>
          <a:p>
            <a:pPr marL="560070" indent="-514350" algn="just">
              <a:buAutoNum type="arabicPeriod"/>
            </a:pPr>
            <a:r>
              <a:rPr lang="en-US" sz="2600" dirty="0" err="1"/>
              <a:t>Thêm</a:t>
            </a:r>
            <a:r>
              <a:rPr lang="en-US" sz="2600" dirty="0"/>
              <a:t> node </a:t>
            </a:r>
            <a:r>
              <a:rPr lang="en-US" sz="2600" dirty="0" err="1"/>
              <a:t>vào</a:t>
            </a:r>
            <a:r>
              <a:rPr lang="en-US" sz="2600" dirty="0"/>
              <a:t> </a:t>
            </a:r>
            <a:r>
              <a:rPr lang="en-US" sz="2600" dirty="0" err="1"/>
              <a:t>cuối</a:t>
            </a:r>
            <a:r>
              <a:rPr lang="en-US" sz="2600" dirty="0"/>
              <a:t> DSLK</a:t>
            </a:r>
          </a:p>
          <a:p>
            <a:pPr marL="560070" indent="-514350" algn="just">
              <a:buAutoNum type="arabicPeriod"/>
            </a:pPr>
            <a:r>
              <a:rPr lang="en-US" sz="2600" dirty="0" err="1"/>
              <a:t>Tìm</a:t>
            </a:r>
            <a:r>
              <a:rPr lang="en-US" sz="2600" dirty="0"/>
              <a:t> node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x</a:t>
            </a:r>
          </a:p>
          <a:p>
            <a:pPr marL="560070" indent="-514350" algn="just">
              <a:buAutoNum type="arabicPeriod"/>
            </a:pPr>
            <a:endParaRPr lang="en-US" sz="2600" dirty="0"/>
          </a:p>
          <a:p>
            <a:pPr marL="45720" indent="0" algn="just">
              <a:buNone/>
            </a:pPr>
            <a:r>
              <a:rPr lang="en-US" sz="2600" dirty="0" err="1"/>
              <a:t>Sử</a:t>
            </a:r>
            <a:r>
              <a:rPr lang="en-US" sz="2600" dirty="0"/>
              <a:t> </a:t>
            </a:r>
            <a:r>
              <a:rPr lang="en-US" sz="2600" dirty="0" err="1"/>
              <a:t>dụng</a:t>
            </a:r>
            <a:r>
              <a:rPr lang="en-US" sz="2600" dirty="0"/>
              <a:t> </a:t>
            </a:r>
            <a:r>
              <a:rPr lang="en-US" sz="2600" dirty="0" err="1"/>
              <a:t>lớp</a:t>
            </a:r>
            <a:r>
              <a:rPr lang="en-US" sz="2600" dirty="0"/>
              <a:t> </a:t>
            </a:r>
            <a:r>
              <a:rPr lang="en-US" sz="2600" dirty="0" err="1"/>
              <a:t>này</a:t>
            </a:r>
            <a:r>
              <a:rPr lang="en-US" sz="2600" dirty="0"/>
              <a:t> </a:t>
            </a:r>
            <a:r>
              <a:rPr lang="en-US" sz="2600" dirty="0" err="1"/>
              <a:t>cho</a:t>
            </a:r>
            <a:r>
              <a:rPr lang="en-US" sz="2600" dirty="0"/>
              <a:t> </a:t>
            </a:r>
            <a:r>
              <a:rPr lang="en-US" sz="2600" dirty="0" err="1"/>
              <a:t>trường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kiểu</a:t>
            </a:r>
            <a:r>
              <a:rPr lang="en-US" sz="2600" dirty="0"/>
              <a:t> </a:t>
            </a:r>
            <a:r>
              <a:rPr lang="en-US" sz="2600" dirty="0" err="1"/>
              <a:t>dữ</a:t>
            </a:r>
            <a:r>
              <a:rPr lang="en-US" sz="2600" dirty="0"/>
              <a:t> </a:t>
            </a:r>
            <a:r>
              <a:rPr lang="en-US" sz="2600" dirty="0" err="1"/>
              <a:t>liệu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số</a:t>
            </a:r>
            <a:r>
              <a:rPr lang="en-US" sz="2600" dirty="0"/>
              <a:t> </a:t>
            </a:r>
            <a:r>
              <a:rPr lang="en-US" sz="2600" dirty="0" err="1"/>
              <a:t>nguyên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thử</a:t>
            </a:r>
            <a:r>
              <a:rPr lang="en-US" sz="2600" dirty="0"/>
              <a:t> </a:t>
            </a:r>
            <a:r>
              <a:rPr lang="en-US" sz="2600" dirty="0" err="1"/>
              <a:t>nghiệm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chức</a:t>
            </a:r>
            <a:r>
              <a:rPr lang="en-US" sz="2600" dirty="0"/>
              <a:t> </a:t>
            </a:r>
            <a:r>
              <a:rPr lang="en-US" sz="2600" dirty="0" err="1"/>
              <a:t>năng</a:t>
            </a:r>
            <a:r>
              <a:rPr lang="en-US" sz="2600" dirty="0"/>
              <a:t>: </a:t>
            </a:r>
            <a:r>
              <a:rPr lang="en-US" sz="2600" dirty="0" err="1"/>
              <a:t>nhập</a:t>
            </a:r>
            <a:r>
              <a:rPr lang="en-US" sz="2600" dirty="0"/>
              <a:t>, </a:t>
            </a:r>
            <a:r>
              <a:rPr lang="en-US" sz="2600" dirty="0" err="1"/>
              <a:t>xuất</a:t>
            </a:r>
            <a:r>
              <a:rPr lang="en-US" sz="2600" dirty="0"/>
              <a:t>, </a:t>
            </a:r>
            <a:r>
              <a:rPr lang="en-US" sz="2600" dirty="0" err="1"/>
              <a:t>tìm</a:t>
            </a:r>
            <a:r>
              <a:rPr lang="en-US" sz="2600" dirty="0"/>
              <a:t> </a:t>
            </a:r>
            <a:r>
              <a:rPr lang="en-US" sz="2600" dirty="0" err="1"/>
              <a:t>kiếm</a:t>
            </a:r>
            <a:endParaRPr lang="en-US" sz="2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24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C:\Users\Minh Thanh\Desktop\fa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676400"/>
            <a:ext cx="4749800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46114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252277BDF55D44A62712C76FE01A4B" ma:contentTypeVersion="2" ma:contentTypeDescription="Create a new document." ma:contentTypeScope="" ma:versionID="232ded0e2faa80a5550211ed38ba48e6">
  <xsd:schema xmlns:xsd="http://www.w3.org/2001/XMLSchema" xmlns:xs="http://www.w3.org/2001/XMLSchema" xmlns:p="http://schemas.microsoft.com/office/2006/metadata/properties" xmlns:ns2="3dc0da11-70ec-4298-bf93-0cf833d2d1f5" targetNamespace="http://schemas.microsoft.com/office/2006/metadata/properties" ma:root="true" ma:fieldsID="acb72cece1da4e46e829a6d0d7ccea72" ns2:_="">
    <xsd:import namespace="3dc0da11-70ec-4298-bf93-0cf833d2d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c0da11-70ec-4298-bf93-0cf833d2d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B52233-E5D0-4AB5-857D-D9837BDD821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622E6C9-F596-4285-AAF0-7588CAC3D9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c0da11-70ec-4298-bf93-0cf833d2d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DAB0100-419C-4E73-9840-72315E770D8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{2B94E141-4D87-FB43-9172-BF3243D5CA7A}tf10001122</Template>
  <TotalTime>4958</TotalTime>
  <Words>2651</Words>
  <Application>Microsoft Macintosh PowerPoint</Application>
  <PresentationFormat>On-screen Show (4:3)</PresentationFormat>
  <Paragraphs>776</Paragraphs>
  <Slides>64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2" baseType="lpstr">
      <vt:lpstr>.VnAristote</vt:lpstr>
      <vt:lpstr>Arial</vt:lpstr>
      <vt:lpstr>Calibri</vt:lpstr>
      <vt:lpstr>Consolas</vt:lpstr>
      <vt:lpstr>Times New Roman</vt:lpstr>
      <vt:lpstr>Tw Cen MT</vt:lpstr>
      <vt:lpstr>Wingdings</vt:lpstr>
      <vt:lpstr>Circuit</vt:lpstr>
      <vt:lpstr>Bài 5: Danh sách liên kết Linked list (Phần 1)</vt:lpstr>
      <vt:lpstr>Mục tiêu</vt:lpstr>
      <vt:lpstr>Đánh giá kiểu dữ liệu mảng 1 chiều</vt:lpstr>
      <vt:lpstr>Vấn đề kiểu dữ liệu tĩnh</vt:lpstr>
      <vt:lpstr>Vấn đề kiểu dữ liệu tĩnh</vt:lpstr>
      <vt:lpstr>Giải pháp mảng trong C# Chèn x=6 vào vị trí 4</vt:lpstr>
      <vt:lpstr>Bài tập</vt:lpstr>
      <vt:lpstr>Vấn đề kiểu dữ liệu tĩnh</vt:lpstr>
      <vt:lpstr>Vấn đề kiểu dữ liệu tĩnh</vt:lpstr>
      <vt:lpstr>Giải pháp mảng trong C# Xóa phần tử 9</vt:lpstr>
      <vt:lpstr>Bài tập</vt:lpstr>
      <vt:lpstr>Vấn đề kiểu dữ liệu tĩnh</vt:lpstr>
      <vt:lpstr>PowerPoint Presentation</vt:lpstr>
      <vt:lpstr>Danh sách liên kết (DSLK)</vt:lpstr>
      <vt:lpstr>PowerPoint Presentation</vt:lpstr>
      <vt:lpstr>Cấu tạo của DSLK</vt:lpstr>
      <vt:lpstr>Cấu tạo của DSLK</vt:lpstr>
      <vt:lpstr>Cấu tạo Node</vt:lpstr>
      <vt:lpstr>Thao tác chèn thêm node vào DSLK</vt:lpstr>
      <vt:lpstr>Thao tác xóa node khỏi DSLK</vt:lpstr>
      <vt:lpstr>Đặc điểm DSLK</vt:lpstr>
      <vt:lpstr>Đặc điểm DSLK</vt:lpstr>
      <vt:lpstr>Các loại hình DSLK</vt:lpstr>
      <vt:lpstr>Các loại hình DSLK</vt:lpstr>
      <vt:lpstr>Các loại hình DSLK</vt:lpstr>
      <vt:lpstr>Mảng vs DSLK</vt:lpstr>
      <vt:lpstr>DSLK đơn</vt:lpstr>
      <vt:lpstr>Khai báo node</vt:lpstr>
      <vt:lpstr>node lưu số nguyên</vt:lpstr>
      <vt:lpstr>Tạo lập danh sách rỗng</vt:lpstr>
      <vt:lpstr>Khai báo DSLK đơn</vt:lpstr>
      <vt:lpstr>Khai báo DSLK đơn số nguyên</vt:lpstr>
      <vt:lpstr>Các thao tác trên DSLK đơn</vt:lpstr>
      <vt:lpstr>Kiểm tra danh sách rỗng</vt:lpstr>
      <vt:lpstr>Thêm một nút vào danh sách</vt:lpstr>
      <vt:lpstr>Thêm một nút vào danh sách</vt:lpstr>
      <vt:lpstr>TH Thêm một nút vào đầu danh sách</vt:lpstr>
      <vt:lpstr>TH Thêm một nút vào đầu danh sách</vt:lpstr>
      <vt:lpstr>TH Thêm một nút vào đầu danh sách</vt:lpstr>
      <vt:lpstr>TH Thêm một nút vào đầu danh sách</vt:lpstr>
      <vt:lpstr>TH Thêm một nút vào đầu danh sách</vt:lpstr>
      <vt:lpstr>TH Thêm một nút vào cuối danh sách</vt:lpstr>
      <vt:lpstr>TH Thêm một nút vào cuối danh sách</vt:lpstr>
      <vt:lpstr>TH Thêm một nút vào cuối danh sách</vt:lpstr>
      <vt:lpstr>Nhập dữ liệu vào DSLK</vt:lpstr>
      <vt:lpstr>Nhập dữ liệu vào danh sách</vt:lpstr>
      <vt:lpstr>VD nhập dữ liệu vào DSLK số nguyên</vt:lpstr>
      <vt:lpstr>Nhập dữ liệu vào DSLK</vt:lpstr>
      <vt:lpstr>Xuất DSLK</vt:lpstr>
      <vt:lpstr>Xuất DSLK</vt:lpstr>
      <vt:lpstr>Xuất DSLK</vt:lpstr>
      <vt:lpstr>Xuất DSLK</vt:lpstr>
      <vt:lpstr>Xuất DSLK</vt:lpstr>
      <vt:lpstr>Xuất DSLK</vt:lpstr>
      <vt:lpstr>Xuất DSLK số nguyên</vt:lpstr>
      <vt:lpstr>Chương trình mẫu</vt:lpstr>
      <vt:lpstr>Lớp IntNode</vt:lpstr>
      <vt:lpstr>Lớp IntLinkedList</vt:lpstr>
      <vt:lpstr>Lớp IntLinkedList (tt…)</vt:lpstr>
      <vt:lpstr>Lớp IntLinkedList (tt…)</vt:lpstr>
      <vt:lpstr>Lớp Program</vt:lpstr>
      <vt:lpstr>Bài tập</vt:lpstr>
      <vt:lpstr>Bài tập thực hành</vt:lpstr>
      <vt:lpstr>PowerPoint Presentation</vt:lpstr>
    </vt:vector>
  </TitlesOfParts>
  <Company>ITC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Minh Thai</dc:creator>
  <cp:lastModifiedBy>Huỳnh Thành Lộc</cp:lastModifiedBy>
  <cp:revision>223</cp:revision>
  <dcterms:created xsi:type="dcterms:W3CDTF">2010-09-22T04:06:07Z</dcterms:created>
  <dcterms:modified xsi:type="dcterms:W3CDTF">2025-10-21T04:25:05Z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0x01010077252277BDF55D44A62712C76FE01A4B</vt:lpwstr>
  </property>
</Properties>
</file>