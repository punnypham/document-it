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4" r:id="rId4"/>
  </p:sldMasterIdLst>
  <p:notesMasterIdLst>
    <p:notesMasterId r:id="rId90"/>
  </p:notesMasterIdLst>
  <p:sldIdLst>
    <p:sldId id="256" r:id="rId5"/>
    <p:sldId id="397" r:id="rId6"/>
    <p:sldId id="399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295" r:id="rId19"/>
    <p:sldId id="265" r:id="rId20"/>
    <p:sldId id="408" r:id="rId21"/>
    <p:sldId id="358" r:id="rId22"/>
    <p:sldId id="409" r:id="rId23"/>
    <p:sldId id="267" r:id="rId24"/>
    <p:sldId id="315" r:id="rId25"/>
    <p:sldId id="329" r:id="rId26"/>
    <p:sldId id="410" r:id="rId27"/>
    <p:sldId id="411" r:id="rId28"/>
    <p:sldId id="412" r:id="rId29"/>
    <p:sldId id="413" r:id="rId30"/>
    <p:sldId id="414" r:id="rId31"/>
    <p:sldId id="359" r:id="rId32"/>
    <p:sldId id="360" r:id="rId33"/>
    <p:sldId id="361" r:id="rId34"/>
    <p:sldId id="362" r:id="rId35"/>
    <p:sldId id="363" r:id="rId36"/>
    <p:sldId id="364" r:id="rId37"/>
    <p:sldId id="365" r:id="rId38"/>
    <p:sldId id="407" r:id="rId39"/>
    <p:sldId id="366" r:id="rId40"/>
    <p:sldId id="367" r:id="rId41"/>
    <p:sldId id="382" r:id="rId42"/>
    <p:sldId id="278" r:id="rId43"/>
    <p:sldId id="280" r:id="rId44"/>
    <p:sldId id="281" r:id="rId45"/>
    <p:sldId id="282" r:id="rId46"/>
    <p:sldId id="283" r:id="rId47"/>
    <p:sldId id="284" r:id="rId48"/>
    <p:sldId id="285" r:id="rId49"/>
    <p:sldId id="337" r:id="rId50"/>
    <p:sldId id="385" r:id="rId51"/>
    <p:sldId id="386" r:id="rId52"/>
    <p:sldId id="387" r:id="rId53"/>
    <p:sldId id="381" r:id="rId54"/>
    <p:sldId id="388" r:id="rId55"/>
    <p:sldId id="389" r:id="rId56"/>
    <p:sldId id="390" r:id="rId57"/>
    <p:sldId id="391" r:id="rId58"/>
    <p:sldId id="392" r:id="rId59"/>
    <p:sldId id="415" r:id="rId60"/>
    <p:sldId id="312" r:id="rId61"/>
    <p:sldId id="313" r:id="rId62"/>
    <p:sldId id="416" r:id="rId63"/>
    <p:sldId id="352" r:id="rId64"/>
    <p:sldId id="396" r:id="rId65"/>
    <p:sldId id="307" r:id="rId66"/>
    <p:sldId id="348" r:id="rId67"/>
    <p:sldId id="308" r:id="rId68"/>
    <p:sldId id="309" r:id="rId69"/>
    <p:sldId id="351" r:id="rId70"/>
    <p:sldId id="353" r:id="rId71"/>
    <p:sldId id="354" r:id="rId72"/>
    <p:sldId id="357" r:id="rId73"/>
    <p:sldId id="356" r:id="rId74"/>
    <p:sldId id="383" r:id="rId75"/>
    <p:sldId id="384" r:id="rId76"/>
    <p:sldId id="368" r:id="rId77"/>
    <p:sldId id="369" r:id="rId78"/>
    <p:sldId id="370" r:id="rId79"/>
    <p:sldId id="371" r:id="rId80"/>
    <p:sldId id="372" r:id="rId81"/>
    <p:sldId id="373" r:id="rId82"/>
    <p:sldId id="374" r:id="rId83"/>
    <p:sldId id="375" r:id="rId84"/>
    <p:sldId id="376" r:id="rId85"/>
    <p:sldId id="377" r:id="rId86"/>
    <p:sldId id="378" r:id="rId87"/>
    <p:sldId id="379" r:id="rId88"/>
    <p:sldId id="292" r:id="rId8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92160" autoAdjust="0"/>
  </p:normalViewPr>
  <p:slideViewPr>
    <p:cSldViewPr>
      <p:cViewPr varScale="1">
        <p:scale>
          <a:sx n="112" d="100"/>
          <a:sy n="112" d="100"/>
        </p:scale>
        <p:origin x="49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notesMaster" Target="notesMasters/notesMaster1.xml"/><Relationship Id="rId95" Type="http://schemas.microsoft.com/office/2016/11/relationships/changesInfo" Target="changesInfos/changesInfo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93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viewProps" Target="viewProps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c Huynh" userId="80c0383e323bd6ea" providerId="LiveId" clId="{DD84A855-1D16-8042-82E6-014C6E2B713E}"/>
    <pc:docChg chg="modSld">
      <pc:chgData name="Loc Huynh" userId="80c0383e323bd6ea" providerId="LiveId" clId="{DD84A855-1D16-8042-82E6-014C6E2B713E}" dt="2021-09-14T02:48:46.082" v="24" actId="207"/>
      <pc:docMkLst>
        <pc:docMk/>
      </pc:docMkLst>
      <pc:sldChg chg="modSp mod">
        <pc:chgData name="Loc Huynh" userId="80c0383e323bd6ea" providerId="LiveId" clId="{DD84A855-1D16-8042-82E6-014C6E2B713E}" dt="2021-09-14T02:48:46.082" v="24" actId="207"/>
        <pc:sldMkLst>
          <pc:docMk/>
          <pc:sldMk cId="1116507821" sldId="379"/>
        </pc:sldMkLst>
      </pc:sldChg>
    </pc:docChg>
  </pc:docChgLst>
  <pc:docChgLst>
    <pc:chgData name="Loc Huynh" userId="80c0383e323bd6ea" providerId="LiveId" clId="{423ADD57-852A-5550-B216-77C467B6E03C}"/>
    <pc:docChg chg="modSld">
      <pc:chgData name="Loc Huynh" userId="80c0383e323bd6ea" providerId="LiveId" clId="{423ADD57-852A-5550-B216-77C467B6E03C}" dt="2025-09-22T09:53:47.771" v="28" actId="20577"/>
      <pc:docMkLst>
        <pc:docMk/>
      </pc:docMkLst>
      <pc:sldChg chg="modSp mod">
        <pc:chgData name="Loc Huynh" userId="80c0383e323bd6ea" providerId="LiveId" clId="{423ADD57-852A-5550-B216-77C467B6E03C}" dt="2025-09-22T09:53:47.771" v="28" actId="20577"/>
        <pc:sldMkLst>
          <pc:docMk/>
          <pc:sldMk cId="3263437446" sldId="399"/>
        </pc:sldMkLst>
        <pc:graphicFrameChg chg="modGraphic">
          <ac:chgData name="Loc Huynh" userId="80c0383e323bd6ea" providerId="LiveId" clId="{423ADD57-852A-5550-B216-77C467B6E03C}" dt="2025-09-22T09:53:47.771" v="28" actId="20577"/>
          <ac:graphicFrameMkLst>
            <pc:docMk/>
            <pc:sldMk cId="3263437446" sldId="399"/>
            <ac:graphicFrameMk id="5" creationId="{00000000-0000-0000-0000-000000000000}"/>
          </ac:graphicFrameMkLst>
        </pc:graphicFrameChg>
      </pc:sldChg>
    </pc:docChg>
  </pc:docChgLst>
  <pc:docChgLst>
    <pc:chgData name="Minh-Thai Tran" userId="996740aabe1fc7dc" providerId="LiveId" clId="{A18EB796-FF07-41E0-94D0-2757074BF304}"/>
    <pc:docChg chg="undo custSel addSld delSld modSld">
      <pc:chgData name="Minh-Thai Tran" userId="996740aabe1fc7dc" providerId="LiveId" clId="{A18EB796-FF07-41E0-94D0-2757074BF304}" dt="2018-09-10T05:43:21.046" v="490" actId="20577"/>
      <pc:docMkLst>
        <pc:docMk/>
      </pc:docMkLst>
      <pc:sldChg chg="modSp">
        <pc:chgData name="Minh-Thai Tran" userId="996740aabe1fc7dc" providerId="LiveId" clId="{A18EB796-FF07-41E0-94D0-2757074BF304}" dt="2018-09-10T05:43:21.046" v="490" actId="20577"/>
        <pc:sldMkLst>
          <pc:docMk/>
          <pc:sldMk cId="3044275898" sldId="265"/>
        </pc:sldMkLst>
      </pc:sldChg>
      <pc:sldChg chg="add">
        <pc:chgData name="Minh-Thai Tran" userId="996740aabe1fc7dc" providerId="LiveId" clId="{A18EB796-FF07-41E0-94D0-2757074BF304}" dt="2018-09-10T05:42:41.511" v="489"/>
        <pc:sldMkLst>
          <pc:docMk/>
          <pc:sldMk cId="80256866" sldId="307"/>
        </pc:sldMkLst>
      </pc:sldChg>
      <pc:sldChg chg="add del">
        <pc:chgData name="Minh-Thai Tran" userId="996740aabe1fc7dc" providerId="LiveId" clId="{A18EB796-FF07-41E0-94D0-2757074BF304}" dt="2018-09-10T05:42:39.280" v="487" actId="2696"/>
        <pc:sldMkLst>
          <pc:docMk/>
          <pc:sldMk cId="502722405" sldId="307"/>
        </pc:sldMkLst>
      </pc:sldChg>
      <pc:sldChg chg="add">
        <pc:chgData name="Minh-Thai Tran" userId="996740aabe1fc7dc" providerId="LiveId" clId="{A18EB796-FF07-41E0-94D0-2757074BF304}" dt="2018-09-10T05:42:41.511" v="489"/>
        <pc:sldMkLst>
          <pc:docMk/>
          <pc:sldMk cId="398933652" sldId="348"/>
        </pc:sldMkLst>
      </pc:sldChg>
      <pc:sldChg chg="add del">
        <pc:chgData name="Minh-Thai Tran" userId="996740aabe1fc7dc" providerId="LiveId" clId="{A18EB796-FF07-41E0-94D0-2757074BF304}" dt="2018-09-10T05:42:39.306" v="488" actId="2696"/>
        <pc:sldMkLst>
          <pc:docMk/>
          <pc:sldMk cId="4255821662" sldId="348"/>
        </pc:sldMkLst>
      </pc:sldChg>
      <pc:sldChg chg="modSp">
        <pc:chgData name="Minh-Thai Tran" userId="996740aabe1fc7dc" providerId="LiveId" clId="{A18EB796-FF07-41E0-94D0-2757074BF304}" dt="2018-09-06T01:33:07.427" v="69" actId="20577"/>
        <pc:sldMkLst>
          <pc:docMk/>
          <pc:sldMk cId="1800571474" sldId="356"/>
        </pc:sldMkLst>
      </pc:sldChg>
      <pc:sldChg chg="modSp">
        <pc:chgData name="Minh-Thai Tran" userId="996740aabe1fc7dc" providerId="LiveId" clId="{A18EB796-FF07-41E0-94D0-2757074BF304}" dt="2018-09-06T01:32:59.124" v="67" actId="20577"/>
        <pc:sldMkLst>
          <pc:docMk/>
          <pc:sldMk cId="1943371897" sldId="357"/>
        </pc:sldMkLst>
      </pc:sldChg>
      <pc:sldChg chg="modSp">
        <pc:chgData name="Minh-Thai Tran" userId="996740aabe1fc7dc" providerId="LiveId" clId="{A18EB796-FF07-41E0-94D0-2757074BF304}" dt="2018-09-06T01:31:16.262" v="63" actId="20577"/>
        <pc:sldMkLst>
          <pc:docMk/>
          <pc:sldMk cId="958114296" sldId="369"/>
        </pc:sldMkLst>
      </pc:sldChg>
      <pc:sldChg chg="modSp">
        <pc:chgData name="Minh-Thai Tran" userId="996740aabe1fc7dc" providerId="LiveId" clId="{A18EB796-FF07-41E0-94D0-2757074BF304}" dt="2018-09-06T01:31:57.927" v="65" actId="20577"/>
        <pc:sldMkLst>
          <pc:docMk/>
          <pc:sldMk cId="1678717451" sldId="370"/>
        </pc:sldMkLst>
      </pc:sldChg>
      <pc:sldChg chg="modSp">
        <pc:chgData name="Minh-Thai Tran" userId="996740aabe1fc7dc" providerId="LiveId" clId="{A18EB796-FF07-41E0-94D0-2757074BF304}" dt="2018-09-06T01:50:50.314" v="481" actId="20577"/>
        <pc:sldMkLst>
          <pc:docMk/>
          <pc:sldMk cId="3488187961" sldId="379"/>
        </pc:sldMkLst>
      </pc:sldChg>
      <pc:sldChg chg="modSp">
        <pc:chgData name="Minh-Thai Tran" userId="996740aabe1fc7dc" providerId="LiveId" clId="{A18EB796-FF07-41E0-94D0-2757074BF304}" dt="2018-09-06T05:43:27.378" v="482" actId="20577"/>
        <pc:sldMkLst>
          <pc:docMk/>
          <pc:sldMk cId="3535989401" sldId="397"/>
        </pc:sldMkLst>
      </pc:sldChg>
      <pc:sldChg chg="modSp">
        <pc:chgData name="Minh-Thai Tran" userId="996740aabe1fc7dc" providerId="LiveId" clId="{A18EB796-FF07-41E0-94D0-2757074BF304}" dt="2018-09-06T01:28:45.695" v="61" actId="20577"/>
        <pc:sldMkLst>
          <pc:docMk/>
          <pc:sldMk cId="3263437446" sldId="39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A2BBA320-BD8F-4080-9E90-D4478BCAB7FE}" type="datetimeFigureOut">
              <a:rPr lang="en-US"/>
              <a:pPr>
                <a:defRPr/>
              </a:pPr>
              <a:t>9/22/25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A5E25AD-7004-4B36-8065-F8010AD099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1352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defTabSz="966788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defTabSz="966788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defTabSz="966788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defTabSz="966788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defTabSz="966788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defTabSz="966788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defTabSz="966788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defTabSz="966788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4F25CC40-7D77-4B9F-9409-877F2834CB46}" type="slidenum">
              <a:rPr lang="en-US" smtClean="0">
                <a:latin typeface="Arial" charset="0"/>
              </a:rPr>
              <a:pPr eaLnBrk="1" hangingPunct="1"/>
              <a:t>18</a:t>
            </a:fld>
            <a:endParaRPr lang="en-US">
              <a:latin typeface="Arial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72000" cy="3429000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/>
              <a:t>Đây chính là quá trình xây dựng cấu trúc dữ liệu cho bài toán thực tế được chuyển vào giải quyết trong máy tính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defTabSz="966788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defTabSz="966788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defTabSz="966788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defTabSz="966788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defTabSz="966788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defTabSz="966788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defTabSz="966788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defTabSz="966788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93F7BA53-2A1E-47F6-A09D-468C48210FA1}" type="slidenum">
              <a:rPr lang="en-US" smtClean="0">
                <a:latin typeface="Arial" charset="0"/>
              </a:rPr>
              <a:pPr eaLnBrk="1" hangingPunct="1"/>
              <a:t>19</a:t>
            </a:fld>
            <a:endParaRPr lang="en-US">
              <a:latin typeface="Arial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72000" cy="3429000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/>
              <a:t>Từ yêu cầu thực tế cần tìm ra các giải thuật tương ứng để xác định trình tự các thao tác máy tính phải thi hành để</a:t>
            </a:r>
          </a:p>
          <a:p>
            <a:pPr eaLnBrk="1" hangingPunct="1"/>
            <a:r>
              <a:rPr lang="en-US"/>
              <a:t>Cho ra kết quả mong muốn</a:t>
            </a:r>
            <a:r>
              <a:rPr lang="en-US" b="1"/>
              <a:t>, đây là bước xây dựng giải thuật cho bài toán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041400"/>
            <a:ext cx="6858000" cy="2387600"/>
          </a:xfrm>
        </p:spPr>
        <p:txBody>
          <a:bodyPr anchor="b"/>
          <a:lstStyle>
            <a:lvl1pPr algn="ctr">
              <a:defRPr sz="45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9E2BC83-8B0E-4EBA-8764-8851A1394889}" type="datetime1">
              <a:rPr lang="en-US" smtClean="0"/>
              <a:pPr>
                <a:defRPr/>
              </a:pPr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9C4EAC31-17AC-4D3D-9345-AB7406D3318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557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52401"/>
            <a:ext cx="7886700" cy="838200"/>
          </a:xfrm>
        </p:spPr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43000"/>
            <a:ext cx="7886700" cy="5033963"/>
          </a:xfrm>
        </p:spPr>
        <p:txBody>
          <a:bodyPr>
            <a:normAutofit/>
          </a:bodyPr>
          <a:lstStyle>
            <a:lvl1pPr marL="171450" indent="-171450">
              <a:buFont typeface="Wingdings" panose="05000000000000000000" pitchFamily="2" charset="2"/>
              <a:buChar char="§"/>
              <a:defRPr sz="2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514350" indent="-171450">
              <a:buFont typeface="Wingdings" panose="05000000000000000000" pitchFamily="2" charset="2"/>
              <a:buChar char="§"/>
              <a:defRPr sz="2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857250" indent="-171450">
              <a:buFont typeface="Wingdings" panose="05000000000000000000" pitchFamily="2" charset="2"/>
              <a:buChar char="§"/>
              <a:defRPr sz="26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200150" indent="-171450">
              <a:buFont typeface="Wingdings" panose="05000000000000000000" pitchFamily="2" charset="2"/>
              <a:buChar char="§"/>
              <a:defRPr sz="26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543050" indent="-171450">
              <a:buFont typeface="Wingdings" panose="05000000000000000000" pitchFamily="2" charset="2"/>
              <a:buChar char="§"/>
              <a:defRPr sz="26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vi-V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0E60B7-04AA-4313-B650-ED2789C64AA0}" type="datetime1">
              <a:rPr lang="en-US" smtClean="0"/>
              <a:pPr>
                <a:defRPr/>
              </a:pPr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779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6226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/>
            </a:lvl1pPr>
            <a:lvl2pPr marL="342900" indent="0">
              <a:buNone/>
              <a:defRPr sz="1500"/>
            </a:lvl2pPr>
            <a:lvl3pPr marL="685800" indent="0">
              <a:buNone/>
              <a:defRPr sz="135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D7FB176-8245-4906-9BE1-E4EA70FC16FF}" type="datetime1">
              <a:rPr lang="en-US" smtClean="0"/>
              <a:pPr>
                <a:defRPr/>
              </a:pPr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2D6635-C274-4C54-955D-CF800AD577A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927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6A1AAD2-6952-466F-A2F6-B73723A37FFF}" type="datetime1">
              <a:rPr lang="en-US" smtClean="0"/>
              <a:pPr>
                <a:defRPr/>
              </a:pPr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C96326-DB06-466A-B90D-3D08CA52919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417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74638"/>
            <a:ext cx="78867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1489075"/>
            <a:ext cx="3867150" cy="64135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888" y="2193926"/>
            <a:ext cx="3867150" cy="3978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2248" y="1489075"/>
            <a:ext cx="3868340" cy="64135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248" y="2193926"/>
            <a:ext cx="3868340" cy="3978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6E2282F-B358-497B-B1AA-0C527E83AEC3}" type="datetime1">
              <a:rPr lang="en-US" smtClean="0"/>
              <a:pPr>
                <a:defRPr/>
              </a:pPr>
              <a:t>9/22/25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A878F1-BA0E-40EA-8EE3-DB4A232B766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761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8E01909-32F4-4EAA-B271-851F3426E34B}" type="datetime1">
              <a:rPr lang="en-US" smtClean="0"/>
              <a:pPr>
                <a:defRPr/>
              </a:pPr>
              <a:t>9/22/25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13397A-E278-4B50-9011-AC8B18183D0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026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3F083DF-E136-48ED-8E26-DB2D19A6F815}" type="datetime1">
              <a:rPr lang="en-US" smtClean="0"/>
              <a:pPr>
                <a:defRPr/>
              </a:pPr>
              <a:t>9/22/25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564407-C900-4301-8D51-6A172A17542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142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101850"/>
            <a:ext cx="2949178" cy="375920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64EFBA1-D7A7-4D9C-BCB6-7C66322C65CD}" type="datetime1">
              <a:rPr lang="en-US" smtClean="0"/>
              <a:pPr>
                <a:defRPr/>
              </a:pPr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D1BF1C-19FB-4896-9D01-7E944BABDF3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366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101850"/>
            <a:ext cx="2949178" cy="375920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08F2926-597C-4630-AEC1-1651A36FD6A5}" type="datetime1">
              <a:rPr lang="en-US" smtClean="0"/>
              <a:pPr>
                <a:defRPr/>
              </a:pPr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EFFE99-FB8E-4D3A-AC1B-3CA5282ABB6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577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E5BD2C7-BB2A-4803-AEBF-7637B9CFF856}" type="datetime1">
              <a:rPr lang="en-US" smtClean="0"/>
              <a:pPr>
                <a:defRPr/>
              </a:pPr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2E5D16-13D0-4E21-9D6A-68EC0F270C8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820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BD852D-4C60-426C-9BA6-23A97AD32C0B}" type="datetime1">
              <a:rPr lang="en-US" smtClean="0"/>
              <a:pPr>
                <a:defRPr/>
              </a:pPr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F50605-FEE1-450B-9D13-035320F26B7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256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5C4BE6C-3476-4F42-ABD3-75345BEC0FDF}" type="datetime1">
              <a:rPr lang="en-US" smtClean="0"/>
              <a:pPr>
                <a:defRPr/>
              </a:pPr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6150" y="6356351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EAC7B26-B20C-4E6D-BF1F-331909629C8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476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</p:sldLayoutIdLst>
  <p:hf hdr="0" ftr="0" dt="0"/>
  <p:txStyles>
    <p:titleStyle>
      <a:lvl1pPr algn="l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inhthai@huflit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wmf"/><Relationship Id="rId4" Type="http://schemas.openxmlformats.org/officeDocument/2006/relationships/image" Target="../media/image3.w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3.wmf"/><Relationship Id="rId3" Type="http://schemas.openxmlformats.org/officeDocument/2006/relationships/image" Target="../media/image8.wmf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2.wmf"/><Relationship Id="rId5" Type="http://schemas.openxmlformats.org/officeDocument/2006/relationships/image" Target="../media/image9.wmf"/><Relationship Id="rId15" Type="http://schemas.openxmlformats.org/officeDocument/2006/relationships/image" Target="../media/image14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11.wmf"/><Relationship Id="rId14" Type="http://schemas.openxmlformats.org/officeDocument/2006/relationships/oleObject" Target="../embeddings/oleObject7.bin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1524000"/>
            <a:ext cx="7086600" cy="213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dirty="0"/>
              <a:t>CẤU TRÚC DỮ LIỆU VÀ GIẢI THUẬT</a:t>
            </a:r>
          </a:p>
        </p:txBody>
      </p:sp>
      <p:sp>
        <p:nvSpPr>
          <p:cNvPr id="8195" name="Subtitle 2"/>
          <p:cNvSpPr>
            <a:spLocks noGrp="1"/>
          </p:cNvSpPr>
          <p:nvPr>
            <p:ph type="subTitle" idx="1"/>
          </p:nvPr>
        </p:nvSpPr>
        <p:spPr>
          <a:xfrm>
            <a:off x="1066800" y="4267200"/>
            <a:ext cx="7086600" cy="2108200"/>
          </a:xfrm>
        </p:spPr>
        <p:txBody>
          <a:bodyPr/>
          <a:lstStyle/>
          <a:p>
            <a:pPr algn="l" eaLnBrk="1" hangingPunct="1"/>
            <a:r>
              <a:rPr lang="en-US" sz="2800" dirty="0">
                <a:solidFill>
                  <a:srgbClr val="0070C0"/>
                </a:solidFill>
              </a:rPr>
              <a:t>TS. Trần Minh Thái - </a:t>
            </a:r>
            <a:r>
              <a:rPr lang="en-US" sz="2800" dirty="0">
                <a:solidFill>
                  <a:srgbClr val="0070C0"/>
                </a:solidFill>
                <a:hlinkClick r:id="rId2"/>
              </a:rPr>
              <a:t>minhthai@huflit.edu.vn</a:t>
            </a:r>
            <a:endParaRPr lang="en-US" sz="2800" dirty="0">
              <a:solidFill>
                <a:srgbClr val="0070C0"/>
              </a:solidFill>
            </a:endParaRPr>
          </a:p>
          <a:p>
            <a:pPr algn="l" eaLnBrk="1" hangingPunct="1"/>
            <a:r>
              <a:rPr lang="en-US" sz="2800" dirty="0">
                <a:solidFill>
                  <a:srgbClr val="0070C0"/>
                </a:solidFill>
              </a:rPr>
              <a:t>Cập </a:t>
            </a:r>
            <a:r>
              <a:rPr lang="en-US" sz="2800" dirty="0" err="1">
                <a:solidFill>
                  <a:srgbClr val="0070C0"/>
                </a:solidFill>
              </a:rPr>
              <a:t>nhật</a:t>
            </a:r>
            <a:r>
              <a:rPr lang="en-US" sz="2800" dirty="0">
                <a:solidFill>
                  <a:srgbClr val="0070C0"/>
                </a:solidFill>
              </a:rPr>
              <a:t>: July 20, 2021</a:t>
            </a:r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D8F8BAD-31C6-4ADB-83F1-E4B993AD8C6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phần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43000"/>
            <a:ext cx="7886700" cy="5410200"/>
          </a:xfrm>
        </p:spPr>
        <p:txBody>
          <a:bodyPr>
            <a:normAutofit fontScale="92500" lnSpcReduction="20000"/>
          </a:bodyPr>
          <a:lstStyle/>
          <a:p>
            <a:pPr marL="0" lvl="0" indent="0" algn="just">
              <a:buNone/>
            </a:pPr>
            <a:r>
              <a:rPr lang="en-US" b="1" dirty="0"/>
              <a:t>1. </a:t>
            </a:r>
            <a:r>
              <a:rPr lang="en-US" b="1" dirty="0" err="1"/>
              <a:t>Tên</a:t>
            </a:r>
            <a:r>
              <a:rPr lang="en-US" b="1" dirty="0"/>
              <a:t> </a:t>
            </a:r>
            <a:r>
              <a:rPr lang="en-US" b="1" dirty="0" err="1"/>
              <a:t>học</a:t>
            </a:r>
            <a:r>
              <a:rPr lang="en-US" b="1" dirty="0"/>
              <a:t> </a:t>
            </a:r>
            <a:r>
              <a:rPr lang="en-US" b="1" dirty="0" err="1"/>
              <a:t>phần</a:t>
            </a:r>
            <a:r>
              <a:rPr lang="en-US" b="1" dirty="0"/>
              <a:t>: </a:t>
            </a:r>
            <a:r>
              <a:rPr lang="en-US" b="1" dirty="0" err="1"/>
              <a:t>Cấu</a:t>
            </a:r>
            <a:r>
              <a:rPr lang="en-US" b="1" dirty="0"/>
              <a:t> </a:t>
            </a:r>
            <a:r>
              <a:rPr lang="en-US" b="1" dirty="0" err="1"/>
              <a:t>trúc</a:t>
            </a:r>
            <a:r>
              <a:rPr lang="en-US" b="1" dirty="0"/>
              <a:t> </a:t>
            </a:r>
            <a:r>
              <a:rPr lang="en-US" b="1" dirty="0" err="1"/>
              <a:t>dữ</a:t>
            </a:r>
            <a:r>
              <a:rPr lang="en-US" b="1" dirty="0"/>
              <a:t> </a:t>
            </a:r>
            <a:r>
              <a:rPr lang="en-US" b="1" dirty="0" err="1"/>
              <a:t>liệu</a:t>
            </a:r>
            <a:r>
              <a:rPr lang="en-US" b="1" dirty="0"/>
              <a:t>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giải</a:t>
            </a:r>
            <a:r>
              <a:rPr lang="en-US" b="1" dirty="0"/>
              <a:t> </a:t>
            </a:r>
            <a:r>
              <a:rPr lang="en-US" b="1" dirty="0" err="1"/>
              <a:t>thuật</a:t>
            </a:r>
            <a:r>
              <a:rPr lang="en-US" b="1" dirty="0"/>
              <a:t> (Data structures and algorithms)</a:t>
            </a:r>
          </a:p>
          <a:p>
            <a:pPr lvl="2"/>
            <a:r>
              <a:rPr lang="vi-VN" dirty="0"/>
              <a:t>Mã học phần:	</a:t>
            </a:r>
            <a:r>
              <a:rPr lang="en-US" dirty="0"/>
              <a:t>	</a:t>
            </a:r>
            <a:r>
              <a:rPr lang="vi-VN" b="1" dirty="0"/>
              <a:t>1221014</a:t>
            </a:r>
            <a:endParaRPr lang="en-US" dirty="0"/>
          </a:p>
          <a:p>
            <a:pPr lvl="2"/>
            <a:r>
              <a:rPr lang="vi-VN" dirty="0"/>
              <a:t>Số tín chỉ: 		</a:t>
            </a:r>
            <a:r>
              <a:rPr lang="vi-VN" b="1" dirty="0"/>
              <a:t>4</a:t>
            </a:r>
            <a:r>
              <a:rPr lang="en-US" b="1" dirty="0"/>
              <a:t> (3+1) </a:t>
            </a:r>
            <a:r>
              <a:rPr lang="en-US" b="1" dirty="0" err="1"/>
              <a:t>tín</a:t>
            </a:r>
            <a:r>
              <a:rPr lang="en-US" b="1" dirty="0"/>
              <a:t> </a:t>
            </a:r>
            <a:r>
              <a:rPr lang="en-US" b="1" dirty="0" err="1"/>
              <a:t>chỉ</a:t>
            </a:r>
            <a:endParaRPr lang="en-US" dirty="0"/>
          </a:p>
          <a:p>
            <a:pPr marL="4763" lvl="2" indent="0">
              <a:buNone/>
            </a:pPr>
            <a:r>
              <a:rPr lang="en-US" sz="2800" b="1" dirty="0"/>
              <a:t>2. </a:t>
            </a:r>
            <a:r>
              <a:rPr lang="en-US" sz="2800" b="1" dirty="0" err="1"/>
              <a:t>Giáo</a:t>
            </a:r>
            <a:r>
              <a:rPr lang="en-US" sz="2800" b="1" dirty="0"/>
              <a:t> </a:t>
            </a:r>
            <a:r>
              <a:rPr lang="en-US" sz="2800" b="1" dirty="0" err="1"/>
              <a:t>trình</a:t>
            </a:r>
            <a:r>
              <a:rPr lang="en-US" sz="2800" b="1" dirty="0"/>
              <a:t> </a:t>
            </a:r>
            <a:r>
              <a:rPr lang="en-US" sz="2800" b="1" dirty="0" err="1"/>
              <a:t>chính</a:t>
            </a:r>
            <a:endParaRPr lang="en-US" sz="2800" b="1" dirty="0"/>
          </a:p>
          <a:p>
            <a:pPr marL="0" indent="0" algn="just">
              <a:buNone/>
            </a:pPr>
            <a:r>
              <a:rPr lang="en-US" sz="2800" dirty="0"/>
              <a:t>[1] </a:t>
            </a:r>
            <a:r>
              <a:rPr lang="en-US" sz="2800" dirty="0" err="1"/>
              <a:t>Cấu</a:t>
            </a:r>
            <a:r>
              <a:rPr lang="en-US" sz="2800" dirty="0"/>
              <a:t> </a:t>
            </a:r>
            <a:r>
              <a:rPr lang="en-US" sz="2800" dirty="0" err="1"/>
              <a:t>trúc</a:t>
            </a:r>
            <a:r>
              <a:rPr lang="en-US" sz="2800" dirty="0"/>
              <a:t> </a:t>
            </a:r>
            <a:r>
              <a:rPr lang="en-US" sz="2800" dirty="0" err="1"/>
              <a:t>dữ</a:t>
            </a:r>
            <a:r>
              <a:rPr lang="en-US" sz="2800" dirty="0"/>
              <a:t> </a:t>
            </a:r>
            <a:r>
              <a:rPr lang="en-US" sz="2800" dirty="0" err="1"/>
              <a:t>liệu</a:t>
            </a:r>
            <a:r>
              <a:rPr lang="en-US" sz="2800" dirty="0"/>
              <a:t> - </a:t>
            </a:r>
            <a:r>
              <a:rPr lang="en-US" sz="2800" dirty="0" err="1"/>
              <a:t>Ứng</a:t>
            </a:r>
            <a:r>
              <a:rPr lang="en-US" sz="2800" dirty="0"/>
              <a:t> </a:t>
            </a:r>
            <a:r>
              <a:rPr lang="en-US" sz="2800" dirty="0" err="1"/>
              <a:t>dụng</a:t>
            </a:r>
            <a:r>
              <a:rPr lang="en-US" sz="2800" dirty="0"/>
              <a:t>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dirty="0" err="1"/>
              <a:t>cài</a:t>
            </a:r>
            <a:r>
              <a:rPr lang="en-US" sz="2800" dirty="0"/>
              <a:t> </a:t>
            </a:r>
            <a:r>
              <a:rPr lang="en-US" sz="2800" dirty="0" err="1"/>
              <a:t>đặt</a:t>
            </a:r>
            <a:r>
              <a:rPr lang="en-US" sz="2800" dirty="0"/>
              <a:t> </a:t>
            </a:r>
            <a:r>
              <a:rPr lang="en-US" sz="2800" dirty="0" err="1"/>
              <a:t>bằng</a:t>
            </a:r>
            <a:r>
              <a:rPr lang="en-US" sz="2800" dirty="0"/>
              <a:t> C, </a:t>
            </a:r>
            <a:r>
              <a:rPr lang="en-US" sz="2800" dirty="0" err="1"/>
              <a:t>Nguyễn</a:t>
            </a:r>
            <a:r>
              <a:rPr lang="en-US" sz="2800" dirty="0"/>
              <a:t> </a:t>
            </a:r>
            <a:r>
              <a:rPr lang="en-US" sz="2800" dirty="0" err="1"/>
              <a:t>Hồng</a:t>
            </a:r>
            <a:r>
              <a:rPr lang="en-US" sz="2800" dirty="0"/>
              <a:t> </a:t>
            </a:r>
            <a:r>
              <a:rPr lang="en-US" sz="2800" dirty="0" err="1"/>
              <a:t>Chương</a:t>
            </a:r>
            <a:r>
              <a:rPr lang="en-US" sz="2800" dirty="0"/>
              <a:t>, NXB TPHCM, 2011</a:t>
            </a:r>
          </a:p>
          <a:p>
            <a:pPr marL="0" indent="0">
              <a:buNone/>
            </a:pPr>
            <a:r>
              <a:rPr lang="en-US" sz="2800" b="1" dirty="0"/>
              <a:t>3. </a:t>
            </a:r>
            <a:r>
              <a:rPr lang="en-US" sz="2800" b="1" dirty="0" err="1"/>
              <a:t>Tài</a:t>
            </a:r>
            <a:r>
              <a:rPr lang="en-US" sz="2800" b="1" dirty="0"/>
              <a:t> </a:t>
            </a:r>
            <a:r>
              <a:rPr lang="en-US" sz="2800" b="1" dirty="0" err="1"/>
              <a:t>liệu</a:t>
            </a:r>
            <a:r>
              <a:rPr lang="en-US" sz="2800" b="1" dirty="0"/>
              <a:t> </a:t>
            </a:r>
            <a:r>
              <a:rPr lang="en-US" sz="2800" b="1" dirty="0" err="1"/>
              <a:t>tham</a:t>
            </a:r>
            <a:r>
              <a:rPr lang="en-US" sz="2800" b="1" dirty="0"/>
              <a:t> </a:t>
            </a:r>
            <a:r>
              <a:rPr lang="en-US" sz="2800" b="1" dirty="0" err="1"/>
              <a:t>khảo</a:t>
            </a:r>
            <a:endParaRPr lang="en-US" sz="2800" b="1" dirty="0"/>
          </a:p>
          <a:p>
            <a:pPr marL="0" indent="0" algn="just">
              <a:buNone/>
            </a:pPr>
            <a:r>
              <a:rPr lang="en-US" sz="2800" dirty="0"/>
              <a:t>[2] </a:t>
            </a:r>
            <a:r>
              <a:rPr lang="en-US" sz="2800" dirty="0" err="1"/>
              <a:t>Giáo</a:t>
            </a:r>
            <a:r>
              <a:rPr lang="en-US" sz="2800" dirty="0"/>
              <a:t> </a:t>
            </a:r>
            <a:r>
              <a:rPr lang="en-US" sz="2800" dirty="0" err="1"/>
              <a:t>trình</a:t>
            </a:r>
            <a:r>
              <a:rPr lang="en-US" sz="2800" dirty="0"/>
              <a:t> </a:t>
            </a:r>
            <a:r>
              <a:rPr lang="en-US" sz="2800" dirty="0" err="1"/>
              <a:t>cấu</a:t>
            </a:r>
            <a:r>
              <a:rPr lang="en-US" sz="2800" dirty="0"/>
              <a:t> </a:t>
            </a:r>
            <a:r>
              <a:rPr lang="en-US" sz="2800" dirty="0" err="1"/>
              <a:t>trúc</a:t>
            </a:r>
            <a:r>
              <a:rPr lang="en-US" sz="2800" dirty="0"/>
              <a:t> </a:t>
            </a:r>
            <a:r>
              <a:rPr lang="en-US" sz="2800" dirty="0" err="1"/>
              <a:t>dữ</a:t>
            </a:r>
            <a:r>
              <a:rPr lang="en-US" sz="2800" dirty="0"/>
              <a:t> </a:t>
            </a:r>
            <a:r>
              <a:rPr lang="en-US" sz="2800" dirty="0" err="1"/>
              <a:t>liệu</a:t>
            </a:r>
            <a:r>
              <a:rPr lang="en-US" sz="2800" dirty="0"/>
              <a:t>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dirty="0" err="1"/>
              <a:t>giải</a:t>
            </a:r>
            <a:r>
              <a:rPr lang="en-US" sz="2800" dirty="0"/>
              <a:t> </a:t>
            </a:r>
            <a:r>
              <a:rPr lang="en-US" sz="2800" dirty="0" err="1"/>
              <a:t>thuật</a:t>
            </a:r>
            <a:r>
              <a:rPr lang="en-US" sz="2800" dirty="0"/>
              <a:t>, Trần </a:t>
            </a:r>
            <a:r>
              <a:rPr lang="en-US" sz="2800" dirty="0" err="1"/>
              <a:t>Hạnh</a:t>
            </a:r>
            <a:r>
              <a:rPr lang="en-US" sz="2800" dirty="0"/>
              <a:t> </a:t>
            </a:r>
            <a:r>
              <a:rPr lang="en-US" sz="2800" dirty="0" err="1"/>
              <a:t>Nhi</a:t>
            </a:r>
            <a:r>
              <a:rPr lang="en-US" sz="2800" dirty="0"/>
              <a:t>, Dương Anh Đức, ĐH Quốc </a:t>
            </a:r>
            <a:r>
              <a:rPr lang="en-US" sz="2800" dirty="0" err="1"/>
              <a:t>gia</a:t>
            </a:r>
            <a:r>
              <a:rPr lang="en-US" sz="2800" dirty="0"/>
              <a:t> TPHCM, 2010</a:t>
            </a:r>
          </a:p>
          <a:p>
            <a:pPr marL="0" indent="0" algn="just">
              <a:buNone/>
            </a:pPr>
            <a:r>
              <a:rPr lang="en-US" sz="2800" dirty="0"/>
              <a:t>[3] Data Structures and Algorithms Annotated Reference with Examples, Granville </a:t>
            </a:r>
            <a:r>
              <a:rPr lang="en-US" sz="2800" dirty="0" err="1"/>
              <a:t>Barne</a:t>
            </a:r>
            <a:r>
              <a:rPr lang="en-US" sz="2800" dirty="0"/>
              <a:t>, Luca Del </a:t>
            </a:r>
            <a:r>
              <a:rPr lang="en-US" sz="2800" dirty="0" err="1"/>
              <a:t>Tongo</a:t>
            </a:r>
            <a:r>
              <a:rPr lang="en-US" sz="2800" dirty="0"/>
              <a:t>, Queensland University of Technology, 2008. </a:t>
            </a:r>
            <a:r>
              <a:rPr lang="vi-VN" sz="2800" dirty="0"/>
              <a:t>(free book) </a:t>
            </a:r>
            <a:r>
              <a:rPr lang="en-US" sz="2800" dirty="0"/>
              <a:t>lib.mdp.ac.id/</a:t>
            </a:r>
            <a:r>
              <a:rPr lang="en-US" sz="2800" dirty="0" err="1"/>
              <a:t>ebook</a:t>
            </a:r>
            <a:r>
              <a:rPr lang="en-US" sz="2800" dirty="0"/>
              <a:t>/Karya%20Umum/Dsa.pdf</a:t>
            </a:r>
          </a:p>
          <a:p>
            <a:pPr marL="0" indent="0" algn="just">
              <a:buNone/>
            </a:pPr>
            <a:r>
              <a:rPr lang="en-US" sz="2800" b="1" dirty="0"/>
              <a:t>4. Web:</a:t>
            </a:r>
            <a:r>
              <a:rPr lang="en-US" sz="2800" dirty="0"/>
              <a:t> </a:t>
            </a:r>
            <a:r>
              <a:rPr lang="en-US" sz="2800" dirty="0">
                <a:hlinkClick r:id="rId2"/>
              </a:rPr>
              <a:t>https://www.geeksforgeeks.org</a:t>
            </a:r>
            <a:r>
              <a:rPr lang="en-US" sz="2800" dirty="0"/>
              <a:t> </a:t>
            </a:r>
          </a:p>
          <a:p>
            <a:pPr marL="0" indent="0" algn="just">
              <a:buNone/>
            </a:pP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989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633571"/>
              </p:ext>
            </p:extLst>
          </p:nvPr>
        </p:nvGraphicFramePr>
        <p:xfrm>
          <a:off x="152400" y="914400"/>
          <a:ext cx="8786310" cy="525570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{5A111915-BE36-4E01-A7E5-04B1672EAD32}</a:tableStyleId>
              </a:tblPr>
              <a:tblGrid>
                <a:gridCol w="571881">
                  <a:extLst>
                    <a:ext uri="{9D8B030D-6E8A-4147-A177-3AD203B41FA5}">
                      <a16:colId xmlns:a16="http://schemas.microsoft.com/office/drawing/2014/main" val="3357099435"/>
                    </a:ext>
                  </a:extLst>
                </a:gridCol>
                <a:gridCol w="3610781">
                  <a:extLst>
                    <a:ext uri="{9D8B030D-6E8A-4147-A177-3AD203B41FA5}">
                      <a16:colId xmlns:a16="http://schemas.microsoft.com/office/drawing/2014/main" val="907761683"/>
                    </a:ext>
                  </a:extLst>
                </a:gridCol>
                <a:gridCol w="3337033">
                  <a:extLst>
                    <a:ext uri="{9D8B030D-6E8A-4147-A177-3AD203B41FA5}">
                      <a16:colId xmlns:a16="http://schemas.microsoft.com/office/drawing/2014/main" val="2016694310"/>
                    </a:ext>
                  </a:extLst>
                </a:gridCol>
                <a:gridCol w="1266615">
                  <a:extLst>
                    <a:ext uri="{9D8B030D-6E8A-4147-A177-3AD203B41FA5}">
                      <a16:colId xmlns:a16="http://schemas.microsoft.com/office/drawing/2014/main" val="1817027410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09600" algn="l"/>
                        </a:tabLst>
                      </a:pPr>
                      <a:r>
                        <a:rPr lang="nl-NL" sz="2400">
                          <a:effectLst/>
                        </a:rPr>
                        <a:t>TT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09600" algn="l"/>
                        </a:tabLst>
                      </a:pPr>
                      <a:r>
                        <a:rPr lang="nl-NL" sz="2400">
                          <a:effectLst/>
                        </a:rPr>
                        <a:t>Điểm thành phần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09600" algn="l"/>
                        </a:tabLst>
                      </a:pPr>
                      <a:r>
                        <a:rPr lang="nl-NL" sz="2400">
                          <a:effectLst/>
                        </a:rPr>
                        <a:t>Quy định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09600" algn="l"/>
                        </a:tabLst>
                      </a:pPr>
                      <a:r>
                        <a:rPr lang="nl-NL" sz="2400" dirty="0">
                          <a:effectLst/>
                        </a:rPr>
                        <a:t>Trọng số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extLst>
                  <a:ext uri="{0D108BD9-81ED-4DB2-BD59-A6C34878D82A}">
                    <a16:rowId xmlns:a16="http://schemas.microsoft.com/office/drawing/2014/main" val="2050101219"/>
                  </a:ext>
                </a:extLst>
              </a:tr>
              <a:tr h="14504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09600" algn="l"/>
                        </a:tabLst>
                      </a:pPr>
                      <a:r>
                        <a:rPr lang="nl-NL" sz="2400">
                          <a:effectLst/>
                        </a:rPr>
                        <a:t>1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2760" marR="6276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09600" algn="l"/>
                        </a:tabLst>
                      </a:pPr>
                      <a:r>
                        <a:rPr lang="nl-NL" sz="2400">
                          <a:effectLst/>
                        </a:rPr>
                        <a:t>Điểm thi giữa kỳ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2760" marR="627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09600" algn="l"/>
                        </a:tabLst>
                      </a:pPr>
                      <a:r>
                        <a:rPr lang="nl-NL" sz="2400" dirty="0">
                          <a:effectLst/>
                        </a:rPr>
                        <a:t>- Tham gia học thực hành</a:t>
                      </a:r>
                      <a:endParaRPr lang="en-US" sz="2400" dirty="0">
                        <a:effectLst/>
                      </a:endParaRPr>
                    </a:p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09600" algn="l"/>
                        </a:tabLst>
                      </a:pPr>
                      <a:r>
                        <a:rPr lang="nl-NL" sz="2400" dirty="0">
                          <a:effectLst/>
                        </a:rPr>
                        <a:t>- Bài tập thực hành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2760" marR="627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09600" algn="l"/>
                        </a:tabLst>
                      </a:pPr>
                      <a:r>
                        <a:rPr lang="nl-NL" sz="2400" dirty="0">
                          <a:effectLst/>
                        </a:rPr>
                        <a:t>30%</a:t>
                      </a:r>
                      <a:endParaRPr lang="en-US" sz="2400" dirty="0">
                        <a:effectLst/>
                      </a:endParaRPr>
                    </a:p>
                  </a:txBody>
                  <a:tcPr marL="62760" marR="62760" marT="0" marB="0" anchor="ctr"/>
                </a:tc>
                <a:extLst>
                  <a:ext uri="{0D108BD9-81ED-4DB2-BD59-A6C34878D82A}">
                    <a16:rowId xmlns:a16="http://schemas.microsoft.com/office/drawing/2014/main" val="855179734"/>
                  </a:ext>
                </a:extLst>
              </a:tr>
              <a:tr h="14504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09600" algn="l"/>
                        </a:tabLst>
                      </a:pPr>
                      <a:r>
                        <a:rPr lang="nl-NL" sz="2400">
                          <a:effectLst/>
                        </a:rPr>
                        <a:t>2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2760" marR="6276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09600" algn="l"/>
                        </a:tabLst>
                      </a:pPr>
                      <a:r>
                        <a:rPr lang="nl-NL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Điểm quá trình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2760" marR="627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09600" algn="l"/>
                        </a:tabLst>
                      </a:pPr>
                      <a:r>
                        <a:rPr lang="nl-NL" sz="2400" dirty="0">
                          <a:effectLst/>
                        </a:rPr>
                        <a:t>- Tham gia học lý thuyết</a:t>
                      </a:r>
                      <a:endParaRPr lang="en-US" sz="2400" dirty="0">
                        <a:effectLst/>
                      </a:endParaRPr>
                    </a:p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09600" algn="l"/>
                        </a:tabLst>
                      </a:pPr>
                      <a:r>
                        <a:rPr lang="nl-NL" sz="2400" dirty="0">
                          <a:effectLst/>
                        </a:rPr>
                        <a:t>- Bài tập nhóm</a:t>
                      </a:r>
                      <a:endParaRPr lang="en-US" sz="2400" dirty="0">
                        <a:effectLst/>
                      </a:endParaRPr>
                    </a:p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09600" algn="l"/>
                        </a:tabLst>
                      </a:pPr>
                      <a:r>
                        <a:rPr lang="nl-NL" sz="2400" dirty="0">
                          <a:effectLst/>
                        </a:rPr>
                        <a:t>- Bài tập cá nhân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2760" marR="627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09600" algn="l"/>
                        </a:tabLst>
                      </a:pPr>
                      <a:r>
                        <a:rPr lang="en-US" sz="2400" dirty="0">
                          <a:effectLst/>
                        </a:rPr>
                        <a:t>20%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2760" marR="62760" marT="0" marB="0" anchor="ctr"/>
                </a:tc>
                <a:extLst>
                  <a:ext uri="{0D108BD9-81ED-4DB2-BD59-A6C34878D82A}">
                    <a16:rowId xmlns:a16="http://schemas.microsoft.com/office/drawing/2014/main" val="2347883772"/>
                  </a:ext>
                </a:extLst>
              </a:tr>
              <a:tr h="108783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09600" algn="l"/>
                        </a:tabLst>
                      </a:pPr>
                      <a:r>
                        <a:rPr lang="nl-NL" sz="2400">
                          <a:effectLst/>
                        </a:rPr>
                        <a:t>3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2760" marR="6276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09600" algn="l"/>
                        </a:tabLst>
                      </a:pPr>
                      <a:r>
                        <a:rPr lang="nl-NL" sz="2400">
                          <a:effectLst/>
                        </a:rPr>
                        <a:t>Điểm thi kết thúc học phần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2760" marR="627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09600" algn="l"/>
                        </a:tabLst>
                      </a:pPr>
                      <a:r>
                        <a:rPr lang="nl-NL" sz="2400" dirty="0">
                          <a:effectLst/>
                        </a:rPr>
                        <a:t>Trắc nghiệm trên Moodle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2760" marR="627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09600" algn="l"/>
                        </a:tabLst>
                      </a:pPr>
                      <a:r>
                        <a:rPr lang="nl-NL" sz="2400" dirty="0">
                          <a:effectLst/>
                        </a:rPr>
                        <a:t>50%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2760" marR="62760" marT="0" marB="0" anchor="ctr"/>
                </a:tc>
                <a:extLst>
                  <a:ext uri="{0D108BD9-81ED-4DB2-BD59-A6C34878D82A}">
                    <a16:rowId xmlns:a16="http://schemas.microsoft.com/office/drawing/2014/main" val="3587663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3437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19200"/>
            <a:ext cx="8153400" cy="52577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nl-NL" sz="2800" b="1" dirty="0"/>
              <a:t>Bài 1. Tổng quan về Cấu trúc dữ liệu &amp; Giải thuật</a:t>
            </a:r>
            <a:endParaRPr lang="en-US" sz="2800" b="1" i="1" dirty="0"/>
          </a:p>
          <a:p>
            <a:pPr marL="0" indent="0">
              <a:buNone/>
            </a:pPr>
            <a:r>
              <a:rPr lang="nl-NL" sz="2800" dirty="0"/>
              <a:t>1.1. Vai trò của cấu trúc dữ liệu</a:t>
            </a:r>
            <a:endParaRPr lang="en-US" sz="2800" dirty="0"/>
          </a:p>
          <a:p>
            <a:pPr marL="0" indent="0">
              <a:buNone/>
            </a:pPr>
            <a:r>
              <a:rPr lang="nl-NL" sz="2800" dirty="0"/>
              <a:t>1.2. Các tiêu chuẩn đánh giá cấu trúc dữ liệu</a:t>
            </a:r>
            <a:endParaRPr lang="en-US" sz="2800" dirty="0"/>
          </a:p>
          <a:p>
            <a:pPr marL="0" indent="0">
              <a:buNone/>
            </a:pPr>
            <a:r>
              <a:rPr lang="nl-NL" sz="2800" dirty="0"/>
              <a:t>1.3. Kiểu dữ liệu</a:t>
            </a:r>
            <a:endParaRPr lang="en-US" sz="2800" dirty="0"/>
          </a:p>
          <a:p>
            <a:pPr marL="0" indent="0">
              <a:buNone/>
            </a:pPr>
            <a:r>
              <a:rPr lang="nl-NL" sz="2800" dirty="0"/>
              <a:t>1.3.1. Định nghĩa kiểu dữ liệu</a:t>
            </a:r>
            <a:endParaRPr lang="en-US" sz="2800" dirty="0"/>
          </a:p>
          <a:p>
            <a:pPr marL="0" indent="0">
              <a:buNone/>
            </a:pPr>
            <a:r>
              <a:rPr lang="nl-NL" sz="2800" dirty="0"/>
              <a:t>1.3.2. Các kiểu dữ liệu cơ bản</a:t>
            </a:r>
            <a:endParaRPr lang="en-US" sz="2800" dirty="0"/>
          </a:p>
          <a:p>
            <a:pPr marL="0" indent="0">
              <a:buNone/>
            </a:pPr>
            <a:r>
              <a:rPr lang="nl-NL" sz="2800" dirty="0"/>
              <a:t>1.3.3. Các kiểu dữ liệu có cấu trúc</a:t>
            </a:r>
            <a:endParaRPr lang="en-US" sz="2800" dirty="0"/>
          </a:p>
          <a:p>
            <a:pPr marL="0" indent="0">
              <a:buNone/>
            </a:pPr>
            <a:r>
              <a:rPr lang="nl-NL" sz="2800" dirty="0"/>
              <a:t>1.3.4. Một số kiểu dữ liệu có cấu trúc cơ bản</a:t>
            </a:r>
            <a:endParaRPr lang="en-US" sz="2800" dirty="0"/>
          </a:p>
          <a:p>
            <a:pPr marL="0" indent="0">
              <a:buNone/>
            </a:pPr>
            <a:r>
              <a:rPr lang="nl-NL" sz="2800" dirty="0"/>
              <a:t>1.4. Đánh giá độ phức tạp giải thuật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409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43000"/>
            <a:ext cx="7886700" cy="55784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b="1" dirty="0"/>
              <a:t>Bài 2. Tìm kiếm và sắp xếp</a:t>
            </a:r>
            <a:endParaRPr lang="en-US" dirty="0"/>
          </a:p>
          <a:p>
            <a:pPr marL="0" indent="0">
              <a:buNone/>
            </a:pPr>
            <a:r>
              <a:rPr lang="nl-NL" dirty="0"/>
              <a:t>2.1. Nhu cầu tìm kiếm, sắp xếp dữ liệu trong một hệ thống thông tin</a:t>
            </a:r>
            <a:endParaRPr lang="en-US" dirty="0"/>
          </a:p>
          <a:p>
            <a:pPr marL="0" indent="0">
              <a:buNone/>
            </a:pPr>
            <a:r>
              <a:rPr lang="nl-NL" dirty="0"/>
              <a:t>2.2. Các giải thuật tìm kiếm nội</a:t>
            </a:r>
            <a:endParaRPr lang="en-US" dirty="0"/>
          </a:p>
          <a:p>
            <a:pPr marL="0" indent="0">
              <a:buNone/>
            </a:pPr>
            <a:r>
              <a:rPr lang="nl-NL" dirty="0"/>
              <a:t>2.2.1. Tìm kiếm tuyến tính</a:t>
            </a:r>
            <a:endParaRPr lang="en-US" dirty="0"/>
          </a:p>
          <a:p>
            <a:pPr marL="0" indent="0">
              <a:buNone/>
            </a:pPr>
            <a:r>
              <a:rPr lang="nl-NL" dirty="0"/>
              <a:t>2.2.2. Tìm kiếm nhị phân</a:t>
            </a:r>
            <a:endParaRPr lang="en-US" dirty="0"/>
          </a:p>
          <a:p>
            <a:pPr marL="0" indent="0">
              <a:buNone/>
            </a:pPr>
            <a:r>
              <a:rPr lang="nl-NL" dirty="0"/>
              <a:t>2.3. Các giải thuật sắp xếp nội</a:t>
            </a:r>
            <a:endParaRPr lang="en-US" dirty="0"/>
          </a:p>
          <a:p>
            <a:pPr marL="0" indent="0">
              <a:buNone/>
            </a:pPr>
            <a:r>
              <a:rPr lang="nl-NL" dirty="0"/>
              <a:t>2.3.1. Định nghĩa bài toán sắp xếp</a:t>
            </a:r>
            <a:endParaRPr lang="en-US" dirty="0"/>
          </a:p>
          <a:p>
            <a:pPr marL="0" indent="0">
              <a:buNone/>
            </a:pPr>
            <a:r>
              <a:rPr lang="nl-NL" dirty="0"/>
              <a:t>2.3.2. Phương pháp chọn trực tiếp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401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2736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i="1" dirty="0"/>
              <a:t>Các phương pháp sắp xếp do sinh viên tự nghiên cứu và thuyết trình</a:t>
            </a:r>
            <a:endParaRPr lang="en-US" dirty="0"/>
          </a:p>
          <a:p>
            <a:pPr marL="514350" lvl="0" indent="-514350">
              <a:buFont typeface="+mj-lt"/>
              <a:buAutoNum type="arabicPeriod"/>
            </a:pPr>
            <a:r>
              <a:rPr lang="nl-NL" dirty="0">
                <a:solidFill>
                  <a:srgbClr val="FF0000"/>
                </a:solidFill>
              </a:rPr>
              <a:t>Phương pháp Shaker sort</a:t>
            </a:r>
            <a:endParaRPr lang="en-US" dirty="0">
              <a:solidFill>
                <a:srgbClr val="FF0000"/>
              </a:solidFill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nl-NL" dirty="0">
                <a:solidFill>
                  <a:srgbClr val="FF0000"/>
                </a:solidFill>
              </a:rPr>
              <a:t>Phương pháp sắp xếp cây (Heap sort)</a:t>
            </a:r>
            <a:endParaRPr lang="en-US" dirty="0">
              <a:solidFill>
                <a:srgbClr val="FF0000"/>
              </a:solidFill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nl-NL" dirty="0">
                <a:solidFill>
                  <a:srgbClr val="FF0000"/>
                </a:solidFill>
              </a:rPr>
              <a:t>Phương pháp sắp xếp với độ dài bước giảm dần (Shell sort)</a:t>
            </a:r>
            <a:endParaRPr lang="en-US" dirty="0">
              <a:solidFill>
                <a:srgbClr val="FF0000"/>
              </a:solidFill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nl-NL" dirty="0">
                <a:solidFill>
                  <a:srgbClr val="FF0000"/>
                </a:solidFill>
              </a:rPr>
              <a:t>Phương pháp sắp xếp theo phương pháp trộn trực tiếp (Merge sort)</a:t>
            </a:r>
            <a:endParaRPr lang="en-US" dirty="0">
              <a:solidFill>
                <a:srgbClr val="FF0000"/>
              </a:solidFill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nl-NL" dirty="0">
                <a:solidFill>
                  <a:srgbClr val="FF0000"/>
                </a:solidFill>
              </a:rPr>
              <a:t>Phương pháp sắp xếp theo phương pháp cơ số (Radix sort)</a:t>
            </a:r>
            <a:endParaRPr lang="en-US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nl-NL" dirty="0">
                <a:solidFill>
                  <a:srgbClr val="FF0000"/>
                </a:solidFill>
              </a:rPr>
              <a:t>Phương pháp sắp xếp đếm phân khối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779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nl-NL" b="1" dirty="0"/>
              <a:t>Bài 3. Tổ chức ngăn xếp (Stack) &amp; Hàng đợi (Queue) trên mảng một chiều</a:t>
            </a:r>
            <a:endParaRPr lang="en-US" dirty="0"/>
          </a:p>
          <a:p>
            <a:pPr marL="0" indent="0">
              <a:buNone/>
            </a:pPr>
            <a:r>
              <a:rPr lang="nl-NL" dirty="0"/>
              <a:t>3.1. Ngăn xếp</a:t>
            </a:r>
            <a:endParaRPr lang="en-US" dirty="0"/>
          </a:p>
          <a:p>
            <a:pPr marL="0" indent="0">
              <a:buNone/>
            </a:pPr>
            <a:r>
              <a:rPr lang="nl-NL" dirty="0"/>
              <a:t>3.1.1. Giới thiệu</a:t>
            </a:r>
            <a:endParaRPr lang="en-US" dirty="0"/>
          </a:p>
          <a:p>
            <a:pPr marL="0" indent="0">
              <a:buNone/>
            </a:pPr>
            <a:r>
              <a:rPr lang="nl-NL" dirty="0"/>
              <a:t>3.1.2. Các thao tác trên ngăn xếp</a:t>
            </a:r>
            <a:endParaRPr lang="en-US" dirty="0"/>
          </a:p>
          <a:p>
            <a:pPr marL="0" indent="0">
              <a:buNone/>
            </a:pPr>
            <a:r>
              <a:rPr lang="nl-NL" dirty="0"/>
              <a:t>3.1.3. Các ứng dụng</a:t>
            </a:r>
            <a:endParaRPr lang="en-US" dirty="0"/>
          </a:p>
          <a:p>
            <a:pPr marL="0" lvl="0" indent="0">
              <a:buNone/>
            </a:pPr>
            <a:r>
              <a:rPr lang="nl-NL" dirty="0"/>
              <a:t>- Tính các biểu thức đại số</a:t>
            </a:r>
            <a:endParaRPr lang="en-US" dirty="0"/>
          </a:p>
          <a:p>
            <a:pPr marL="0" lvl="0" indent="0">
              <a:buNone/>
            </a:pPr>
            <a:r>
              <a:rPr lang="nl-NL" dirty="0"/>
              <a:t>- Quản lý bộ nhớ khi thi hành chương trình</a:t>
            </a:r>
            <a:endParaRPr lang="en-US" dirty="0"/>
          </a:p>
          <a:p>
            <a:pPr marL="0" indent="0">
              <a:buNone/>
            </a:pPr>
            <a:r>
              <a:rPr lang="nl-NL" dirty="0"/>
              <a:t>3.2. Hàng đợi</a:t>
            </a:r>
            <a:endParaRPr lang="en-US" dirty="0"/>
          </a:p>
          <a:p>
            <a:pPr marL="0" indent="0">
              <a:buNone/>
            </a:pPr>
            <a:r>
              <a:rPr lang="nl-NL" dirty="0"/>
              <a:t>3.2.1. Giới thiệu</a:t>
            </a:r>
            <a:endParaRPr lang="en-US" dirty="0"/>
          </a:p>
          <a:p>
            <a:pPr marL="0" indent="0">
              <a:buNone/>
            </a:pPr>
            <a:r>
              <a:rPr lang="nl-NL" dirty="0"/>
              <a:t>3.2.2. Các thao tác trên hàng đợi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937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/>
              <a:t>3.2.3. Các ứng dụng</a:t>
            </a:r>
            <a:endParaRPr lang="en-US" dirty="0"/>
          </a:p>
          <a:p>
            <a:r>
              <a:rPr lang="nl-NL" dirty="0"/>
              <a:t>Tổ chức bộ đệm bàn phím</a:t>
            </a:r>
            <a:endParaRPr lang="en-US" dirty="0"/>
          </a:p>
          <a:p>
            <a:r>
              <a:rPr lang="nl-NL" dirty="0"/>
              <a:t>Quản lý các tiến trình trong các hệ điều hành</a:t>
            </a:r>
            <a:endParaRPr lang="en-US" dirty="0"/>
          </a:p>
          <a:p>
            <a:r>
              <a:rPr lang="nl-NL" dirty="0"/>
              <a:t>Vét cạn </a:t>
            </a:r>
            <a:endParaRPr lang="en-US" dirty="0"/>
          </a:p>
          <a:p>
            <a:pPr marL="0" indent="0">
              <a:buNone/>
            </a:pPr>
            <a:r>
              <a:rPr lang="nl-NL" i="1" dirty="0">
                <a:solidFill>
                  <a:srgbClr val="FF0000"/>
                </a:solidFill>
              </a:rPr>
              <a:t>Nội dung sinh viên tự nghiên cứu và thuyết trình</a:t>
            </a:r>
            <a:endParaRPr lang="en-US" dirty="0">
              <a:solidFill>
                <a:srgbClr val="FF0000"/>
              </a:solidFill>
            </a:endParaRPr>
          </a:p>
          <a:p>
            <a:pPr lvl="0"/>
            <a:r>
              <a:rPr lang="nl-NL" dirty="0">
                <a:solidFill>
                  <a:srgbClr val="FF0000"/>
                </a:solidFill>
              </a:rPr>
              <a:t>Khử đệ quy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nl-NL" dirty="0">
                <a:solidFill>
                  <a:srgbClr val="FF0000"/>
                </a:solidFill>
              </a:rPr>
              <a:t>Tổ chức lưu vết các quá trình tìm kiếm theo chiều rộng và quay lui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009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NL" b="1" dirty="0"/>
              <a:t>Bài 4. Cấu trúc dữ liệu động</a:t>
            </a:r>
            <a:endParaRPr lang="en-US" dirty="0"/>
          </a:p>
          <a:p>
            <a:pPr marL="0" indent="0">
              <a:buNone/>
            </a:pPr>
            <a:r>
              <a:rPr lang="nl-NL" dirty="0"/>
              <a:t>4.1. Đặt vấn đề</a:t>
            </a:r>
            <a:endParaRPr lang="en-US" dirty="0"/>
          </a:p>
          <a:p>
            <a:pPr marL="0" indent="0">
              <a:buNone/>
            </a:pPr>
            <a:r>
              <a:rPr lang="nl-NL" dirty="0"/>
              <a:t>4.2. Kiểu dữ liệu con trỏ</a:t>
            </a:r>
            <a:endParaRPr lang="en-US" dirty="0"/>
          </a:p>
          <a:p>
            <a:pPr marL="0" indent="0">
              <a:buNone/>
            </a:pPr>
            <a:r>
              <a:rPr lang="nl-NL" dirty="0"/>
              <a:t>4.2.1. Biến không động</a:t>
            </a:r>
            <a:endParaRPr lang="en-US" dirty="0"/>
          </a:p>
          <a:p>
            <a:pPr marL="0" indent="0">
              <a:buNone/>
            </a:pPr>
            <a:r>
              <a:rPr lang="nl-NL" dirty="0"/>
              <a:t>4.2.2. Kiểu con trỏ</a:t>
            </a:r>
            <a:endParaRPr lang="en-US" dirty="0"/>
          </a:p>
          <a:p>
            <a:pPr marL="0" indent="0">
              <a:buNone/>
            </a:pPr>
            <a:r>
              <a:rPr lang="nl-NL" dirty="0"/>
              <a:t>4.2.3. Biến động</a:t>
            </a:r>
            <a:endParaRPr lang="en-US" dirty="0"/>
          </a:p>
          <a:p>
            <a:pPr marL="0" indent="0">
              <a:buNone/>
            </a:pPr>
            <a:r>
              <a:rPr lang="nl-NL" dirty="0"/>
              <a:t>4.3. Danh sách liên kết</a:t>
            </a:r>
            <a:endParaRPr lang="en-US" dirty="0"/>
          </a:p>
          <a:p>
            <a:pPr marL="0" indent="0">
              <a:buNone/>
            </a:pPr>
            <a:r>
              <a:rPr lang="nl-NL" dirty="0"/>
              <a:t>4.3.1. Định nghĩa</a:t>
            </a:r>
            <a:endParaRPr lang="en-US" dirty="0"/>
          </a:p>
          <a:p>
            <a:pPr marL="0" indent="0">
              <a:buNone/>
            </a:pPr>
            <a:r>
              <a:rPr lang="nl-NL" dirty="0"/>
              <a:t>4.3.2. Các hình thức tổ chức danh sách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076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/>
              <a:t>4.4. Danh sách đơn</a:t>
            </a:r>
            <a:endParaRPr lang="en-US" dirty="0"/>
          </a:p>
          <a:p>
            <a:pPr marL="0" indent="0">
              <a:buNone/>
            </a:pPr>
            <a:r>
              <a:rPr lang="nl-NL" dirty="0"/>
              <a:t>4.4.1. Tổ chức danh sách đơn theo cấp phát liên kết</a:t>
            </a:r>
            <a:endParaRPr lang="en-US" dirty="0"/>
          </a:p>
          <a:p>
            <a:pPr marL="0" indent="0">
              <a:buNone/>
            </a:pPr>
            <a:r>
              <a:rPr lang="nl-NL" dirty="0"/>
              <a:t>4.4.2. Các thao tác cơ bản trên danh sách đơn</a:t>
            </a:r>
            <a:endParaRPr lang="en-US" dirty="0"/>
          </a:p>
          <a:p>
            <a:pPr marL="0" indent="0">
              <a:buNone/>
            </a:pPr>
            <a:r>
              <a:rPr lang="nl-NL" dirty="0"/>
              <a:t>4.4.3. Sắp xếp danh sách</a:t>
            </a:r>
            <a:endParaRPr lang="en-US" dirty="0"/>
          </a:p>
          <a:p>
            <a:pPr marL="0" indent="0">
              <a:buNone/>
            </a:pPr>
            <a:r>
              <a:rPr lang="nl-NL" dirty="0"/>
              <a:t>4.4.4. Các cấu trúc đặc biệt của danh sách đơn</a:t>
            </a:r>
            <a:endParaRPr lang="en-US" dirty="0"/>
          </a:p>
          <a:p>
            <a:pPr marL="0" indent="0">
              <a:buNone/>
            </a:pPr>
            <a:r>
              <a:rPr lang="nl-NL" dirty="0"/>
              <a:t>4.5. Một số cấu trúc dữ liệu dạng danh sách liên kết khác</a:t>
            </a:r>
            <a:endParaRPr lang="en-US" dirty="0"/>
          </a:p>
          <a:p>
            <a:pPr marL="0" indent="0">
              <a:buNone/>
            </a:pPr>
            <a:r>
              <a:rPr lang="nl-NL" dirty="0"/>
              <a:t>4.5.1. Danh sách liên kết kép</a:t>
            </a:r>
            <a:endParaRPr lang="en-US" dirty="0"/>
          </a:p>
          <a:p>
            <a:pPr marL="0" indent="0">
              <a:buNone/>
            </a:pPr>
            <a:r>
              <a:rPr lang="nl-NL" dirty="0"/>
              <a:t>4.5.2. Danh sách liên kết vòng</a:t>
            </a:r>
            <a:endParaRPr lang="en-US" dirty="0"/>
          </a:p>
          <a:p>
            <a:pPr marL="0" indent="0">
              <a:buNone/>
            </a:pPr>
            <a:r>
              <a:rPr lang="nl-NL" dirty="0"/>
              <a:t>4.5.3. Danh sách có nhiều mối liên kết</a:t>
            </a:r>
            <a:endParaRPr lang="en-US" dirty="0"/>
          </a:p>
          <a:p>
            <a:pPr marL="0" indent="0">
              <a:buNone/>
            </a:pPr>
            <a:r>
              <a:rPr lang="nl-NL" dirty="0"/>
              <a:t>4.5.4. Danh sách tổng quát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539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nl-NL" i="1" dirty="0"/>
              <a:t>Nội dung sinh viên tự nghiên cứu &amp; thuyết trình</a:t>
            </a:r>
            <a:endParaRPr lang="en-US" dirty="0"/>
          </a:p>
          <a:p>
            <a:pPr algn="just"/>
            <a:r>
              <a:rPr lang="nl-NL" dirty="0">
                <a:solidFill>
                  <a:srgbClr val="FF0000"/>
                </a:solidFill>
              </a:rPr>
              <a:t>Hàng đợi </a:t>
            </a:r>
            <a:endParaRPr lang="en-US" dirty="0">
              <a:solidFill>
                <a:srgbClr val="FF0000"/>
              </a:solidFill>
            </a:endParaRPr>
          </a:p>
          <a:p>
            <a:pPr algn="just"/>
            <a:r>
              <a:rPr lang="nl-NL" dirty="0">
                <a:solidFill>
                  <a:srgbClr val="FF0000"/>
                </a:solidFill>
              </a:rPr>
              <a:t>Ngăn xếp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841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NL" b="1" dirty="0"/>
              <a:t>Bài 5. Cấu trúc cây</a:t>
            </a:r>
            <a:endParaRPr lang="en-US" dirty="0"/>
          </a:p>
          <a:p>
            <a:pPr marL="0" indent="0">
              <a:buNone/>
            </a:pPr>
            <a:r>
              <a:rPr lang="nl-NL" dirty="0"/>
              <a:t>5.1. Cấu trúc cây</a:t>
            </a:r>
            <a:endParaRPr lang="en-US" dirty="0"/>
          </a:p>
          <a:p>
            <a:pPr marL="0" indent="0">
              <a:buNone/>
            </a:pPr>
            <a:r>
              <a:rPr lang="nl-NL" dirty="0"/>
              <a:t>5.1.1. Một số khái niệm cơ bản</a:t>
            </a:r>
            <a:endParaRPr lang="en-US" dirty="0"/>
          </a:p>
          <a:p>
            <a:pPr marL="0" indent="0">
              <a:buNone/>
            </a:pPr>
            <a:r>
              <a:rPr lang="nl-NL" dirty="0"/>
              <a:t>5.1.2. Một số ví dụ về đối tượng các cấu trúc dạng cây</a:t>
            </a:r>
            <a:endParaRPr lang="en-US" dirty="0"/>
          </a:p>
          <a:p>
            <a:pPr marL="0" indent="0">
              <a:buNone/>
            </a:pPr>
            <a:r>
              <a:rPr lang="nl-NL" dirty="0"/>
              <a:t>5.2. Cây nhị phân</a:t>
            </a:r>
            <a:endParaRPr lang="en-US" dirty="0"/>
          </a:p>
          <a:p>
            <a:pPr marL="0" indent="0">
              <a:buNone/>
            </a:pPr>
            <a:r>
              <a:rPr lang="nl-NL" dirty="0"/>
              <a:t>5.2.1. Một số tính chất của cây nhị phân</a:t>
            </a:r>
            <a:endParaRPr lang="en-US" dirty="0"/>
          </a:p>
          <a:p>
            <a:pPr marL="0" indent="0">
              <a:buNone/>
            </a:pPr>
            <a:r>
              <a:rPr lang="nl-NL" dirty="0"/>
              <a:t>5.2.2. Biểu diễn cây nhị phân T</a:t>
            </a:r>
            <a:endParaRPr lang="en-US" dirty="0"/>
          </a:p>
          <a:p>
            <a:pPr marL="0" indent="0">
              <a:buNone/>
            </a:pPr>
            <a:r>
              <a:rPr lang="nl-NL" dirty="0"/>
              <a:t>5.2.3. Duyệt cây nhị phân</a:t>
            </a:r>
            <a:endParaRPr lang="en-US" dirty="0"/>
          </a:p>
          <a:p>
            <a:pPr marL="0" indent="0">
              <a:buNone/>
            </a:pPr>
            <a:r>
              <a:rPr lang="nl-NL" dirty="0"/>
              <a:t>5.2.4. Biểu diễn cây tổng quát bằng cây nhị phân</a:t>
            </a:r>
            <a:endParaRPr lang="en-US" dirty="0"/>
          </a:p>
          <a:p>
            <a:pPr marL="0" indent="0">
              <a:buNone/>
            </a:pPr>
            <a:r>
              <a:rPr lang="nl-NL" dirty="0"/>
              <a:t>5.2.5. Một cách biểu diễn cây nhị phân khác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493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5.3. Cây nhị phân tìm kiếm. </a:t>
            </a:r>
            <a:r>
              <a:rPr lang="en-US" dirty="0" err="1"/>
              <a:t>Các</a:t>
            </a:r>
            <a:r>
              <a:rPr lang="en-US" dirty="0"/>
              <a:t> thao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5.4.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cân</a:t>
            </a:r>
            <a:r>
              <a:rPr lang="en-US" dirty="0"/>
              <a:t> </a:t>
            </a:r>
            <a:r>
              <a:rPr lang="en-US" dirty="0" err="1"/>
              <a:t>bằng</a:t>
            </a:r>
            <a:endParaRPr lang="en-US" dirty="0"/>
          </a:p>
          <a:p>
            <a:pPr marL="0" indent="0">
              <a:buNone/>
            </a:pPr>
            <a:r>
              <a:rPr lang="nl-NL" dirty="0"/>
              <a:t>5.4.1. Cây nhị phân cân bằng hoàn toàn</a:t>
            </a:r>
            <a:endParaRPr lang="en-US" dirty="0"/>
          </a:p>
          <a:p>
            <a:pPr marL="0" indent="0">
              <a:buNone/>
            </a:pPr>
            <a:r>
              <a:rPr lang="nl-NL" dirty="0"/>
              <a:t>5.4.2. Cây nhị phân cân bằng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325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1343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Bài</a:t>
            </a:r>
            <a:r>
              <a:rPr lang="en-US" b="1" dirty="0"/>
              <a:t> 6</a:t>
            </a:r>
            <a:r>
              <a:rPr lang="en-US" dirty="0"/>
              <a:t>: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nhánh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6.1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6.2 </a:t>
            </a:r>
            <a:r>
              <a:rPr lang="en-US" dirty="0" err="1"/>
              <a:t>Cây</a:t>
            </a:r>
            <a:r>
              <a:rPr lang="en-US" dirty="0"/>
              <a:t> B-Tree</a:t>
            </a:r>
          </a:p>
          <a:p>
            <a:pPr marL="0" indent="0">
              <a:buNone/>
            </a:pPr>
            <a:r>
              <a:rPr lang="en-US" dirty="0"/>
              <a:t>6.2.1.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6.2.2.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571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91225"/>
          </a:xfrm>
        </p:spPr>
        <p:txBody>
          <a:bodyPr/>
          <a:lstStyle/>
          <a:p>
            <a:pPr algn="ctr"/>
            <a:r>
              <a:rPr lang="en-US" b="1" dirty="0" err="1"/>
              <a:t>Bài</a:t>
            </a:r>
            <a:r>
              <a:rPr lang="vi-VN" b="1" dirty="0"/>
              <a:t> 1</a:t>
            </a:r>
            <a:br>
              <a:rPr lang="en-US" dirty="0"/>
            </a:br>
            <a:r>
              <a:rPr lang="vi-VN" dirty="0"/>
              <a:t>Tổng quan về </a:t>
            </a:r>
            <a:br>
              <a:rPr lang="en-US" dirty="0"/>
            </a:br>
            <a:r>
              <a:rPr lang="en-US" dirty="0"/>
              <a:t>C</a:t>
            </a:r>
            <a:r>
              <a:rPr lang="vi-VN" dirty="0"/>
              <a:t>ấu trúc dữ liệu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873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74638"/>
            <a:ext cx="7239000" cy="868362"/>
          </a:xfrm>
        </p:spPr>
        <p:txBody>
          <a:bodyPr/>
          <a:lstStyle/>
          <a:p>
            <a:r>
              <a:rPr lang="en-US" b="1" dirty="0" err="1"/>
              <a:t>Mục</a:t>
            </a:r>
            <a:r>
              <a:rPr lang="en-US" b="1" dirty="0"/>
              <a:t> </a:t>
            </a:r>
            <a:r>
              <a:rPr lang="en-US" b="1" dirty="0" err="1"/>
              <a:t>tiêu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600200"/>
            <a:ext cx="7239000" cy="487375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 err="1"/>
              <a:t>Vai</a:t>
            </a:r>
            <a:r>
              <a:rPr lang="en-US" dirty="0"/>
              <a:t> </a:t>
            </a:r>
            <a:r>
              <a:rPr lang="en-US" dirty="0" err="1"/>
              <a:t>trò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 err="1"/>
              <a:t>Mối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GT &amp; CTDL</a:t>
            </a:r>
          </a:p>
          <a:p>
            <a:pPr algn="just">
              <a:lnSpc>
                <a:spcPct val="150000"/>
              </a:lnSpc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CTDL</a:t>
            </a:r>
          </a:p>
          <a:p>
            <a:pPr algn="just">
              <a:lnSpc>
                <a:spcPct val="150000"/>
              </a:lnSpc>
            </a:pPr>
            <a:r>
              <a:rPr lang="en-US" dirty="0" err="1"/>
              <a:t>Nhắc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C#</a:t>
            </a:r>
          </a:p>
          <a:p>
            <a:pPr algn="just">
              <a:lnSpc>
                <a:spcPct val="150000"/>
              </a:lnSpc>
            </a:pP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phức</a:t>
            </a:r>
            <a:r>
              <a:rPr lang="en-US" dirty="0"/>
              <a:t> </a:t>
            </a:r>
            <a:r>
              <a:rPr lang="en-US" dirty="0" err="1"/>
              <a:t>tạp</a:t>
            </a:r>
            <a:r>
              <a:rPr lang="en-US" dirty="0"/>
              <a:t> GT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2758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8134350" cy="1143000"/>
          </a:xfrm>
        </p:spPr>
        <p:txBody>
          <a:bodyPr>
            <a:normAutofit/>
          </a:bodyPr>
          <a:lstStyle/>
          <a:p>
            <a:r>
              <a:rPr lang="en-US" sz="3600" dirty="0" err="1"/>
              <a:t>Vai</a:t>
            </a:r>
            <a:r>
              <a:rPr lang="en-US" sz="3600" dirty="0"/>
              <a:t> </a:t>
            </a:r>
            <a:r>
              <a:rPr lang="en-US" sz="3600" dirty="0" err="1"/>
              <a:t>trò</a:t>
            </a:r>
            <a:r>
              <a:rPr lang="en-US" sz="3600" dirty="0"/>
              <a:t> </a:t>
            </a:r>
            <a:r>
              <a:rPr lang="en-US" sz="3600" dirty="0" err="1"/>
              <a:t>của</a:t>
            </a:r>
            <a:r>
              <a:rPr lang="en-US" sz="3600" dirty="0"/>
              <a:t> </a:t>
            </a:r>
            <a:r>
              <a:rPr lang="en-US" sz="3600" dirty="0" err="1"/>
              <a:t>tổ</a:t>
            </a:r>
            <a:r>
              <a:rPr lang="en-US" sz="3600" dirty="0"/>
              <a:t> </a:t>
            </a:r>
            <a:r>
              <a:rPr lang="en-US" sz="3600" dirty="0" err="1"/>
              <a:t>chức</a:t>
            </a:r>
            <a:r>
              <a:rPr lang="en-US" sz="3600" dirty="0"/>
              <a:t> </a:t>
            </a:r>
            <a:r>
              <a:rPr lang="en-US" sz="3600" dirty="0" err="1"/>
              <a:t>dữ</a:t>
            </a:r>
            <a:r>
              <a:rPr lang="en-US" sz="3600" dirty="0"/>
              <a:t> </a:t>
            </a:r>
            <a:r>
              <a:rPr lang="en-US" sz="3600" dirty="0" err="1"/>
              <a:t>liệu</a:t>
            </a:r>
            <a:endParaRPr lang="en-US" sz="3600" dirty="0"/>
          </a:p>
        </p:txBody>
      </p:sp>
      <p:grpSp>
        <p:nvGrpSpPr>
          <p:cNvPr id="23" name="Group 22"/>
          <p:cNvGrpSpPr/>
          <p:nvPr/>
        </p:nvGrpSpPr>
        <p:grpSpPr>
          <a:xfrm>
            <a:off x="1371600" y="2286000"/>
            <a:ext cx="6705600" cy="3581400"/>
            <a:chOff x="1371600" y="2286000"/>
            <a:chExt cx="6705600" cy="3581400"/>
          </a:xfrm>
        </p:grpSpPr>
        <p:sp>
          <p:nvSpPr>
            <p:cNvPr id="5" name="AutoShape 4"/>
            <p:cNvSpPr>
              <a:spLocks noChangeArrowheads="1"/>
            </p:cNvSpPr>
            <p:nvPr/>
          </p:nvSpPr>
          <p:spPr bwMode="auto">
            <a:xfrm>
              <a:off x="4326828" y="2633694"/>
              <a:ext cx="2607372" cy="1289304"/>
            </a:xfrm>
            <a:prstGeom prst="flowChartMultidocument">
              <a:avLst/>
            </a:prstGeom>
            <a:solidFill>
              <a:srgbClr val="FFCC99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spcBef>
                  <a:spcPct val="0"/>
                </a:spcBef>
                <a:defRPr/>
              </a:pPr>
              <a:r>
                <a:rPr lang="en-US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charset="0"/>
                  <a:cs typeface="Arial" charset="0"/>
                </a:rPr>
                <a:t>  Bài toán giải quyết </a:t>
              </a:r>
            </a:p>
            <a:p>
              <a:pPr eaLnBrk="0" hangingPunct="0">
                <a:spcBef>
                  <a:spcPct val="0"/>
                </a:spcBef>
                <a:defRPr/>
              </a:pPr>
              <a:r>
                <a:rPr lang="en-US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charset="0"/>
                  <a:cs typeface="Arial" charset="0"/>
                </a:rPr>
                <a:t>trong máy tính</a:t>
              </a:r>
            </a:p>
          </p:txBody>
        </p:sp>
        <p:sp>
          <p:nvSpPr>
            <p:cNvPr id="6" name="AutoShape 5"/>
            <p:cNvSpPr>
              <a:spLocks noChangeArrowheads="1"/>
            </p:cNvSpPr>
            <p:nvPr/>
          </p:nvSpPr>
          <p:spPr bwMode="auto">
            <a:xfrm>
              <a:off x="6339269" y="4792980"/>
              <a:ext cx="1737931" cy="1074420"/>
            </a:xfrm>
            <a:prstGeom prst="flowChartDocument">
              <a:avLst/>
            </a:prstGeom>
            <a:solidFill>
              <a:srgbClr val="99CCFF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spcBef>
                  <a:spcPct val="0"/>
                </a:spcBef>
                <a:defRPr/>
              </a:pPr>
              <a:r>
                <a:rPr lang="en-US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charset="0"/>
                  <a:cs typeface="Arial" charset="0"/>
                </a:rPr>
                <a:t>Xử lý trên </a:t>
              </a:r>
            </a:p>
            <a:p>
              <a:pPr eaLnBrk="0" hangingPunct="0">
                <a:spcBef>
                  <a:spcPct val="0"/>
                </a:spcBef>
                <a:defRPr/>
              </a:pPr>
              <a:r>
                <a:rPr lang="en-US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charset="0"/>
                  <a:cs typeface="Arial" charset="0"/>
                </a:rPr>
                <a:t>đối tượng DL</a:t>
              </a:r>
            </a:p>
          </p:txBody>
        </p:sp>
        <p:pic>
          <p:nvPicPr>
            <p:cNvPr id="10" name="Picture 9" descr="j0295583[1]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524698" y="2299430"/>
              <a:ext cx="1751902" cy="15519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" name="Text Box 10"/>
            <p:cNvSpPr txBox="1">
              <a:spLocks noChangeArrowheads="1"/>
            </p:cNvSpPr>
            <p:nvPr/>
          </p:nvSpPr>
          <p:spPr bwMode="auto">
            <a:xfrm>
              <a:off x="1371600" y="3784219"/>
              <a:ext cx="1924097" cy="367094"/>
            </a:xfrm>
            <a:prstGeom prst="rect">
              <a:avLst/>
            </a:prstGeom>
            <a:noFill/>
            <a:ln w="317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 b="1">
                  <a:latin typeface="Arial" charset="0"/>
                  <a:cs typeface="Arial" charset="0"/>
                </a:rPr>
                <a:t>Bài toán thực tế</a:t>
              </a:r>
            </a:p>
          </p:txBody>
        </p:sp>
        <p:pic>
          <p:nvPicPr>
            <p:cNvPr id="12" name="Picture 11" descr="bs00272_[1]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692413" y="2371058"/>
              <a:ext cx="862475" cy="5819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" name="Picture 12" descr="j0412266[1]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758065" y="2286000"/>
              <a:ext cx="790602" cy="702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" name="Picture 13" descr="j0335667[1]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3679972" y="3861816"/>
              <a:ext cx="814560" cy="859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" name="Picture 15" descr="j0433892[1]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6986125" y="4005072"/>
              <a:ext cx="790602" cy="7879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" name="AutoShape 16"/>
            <p:cNvSpPr>
              <a:spLocks noChangeArrowheads="1"/>
            </p:cNvSpPr>
            <p:nvPr/>
          </p:nvSpPr>
          <p:spPr bwMode="auto">
            <a:xfrm>
              <a:off x="3536226" y="4864608"/>
              <a:ext cx="1721574" cy="1002792"/>
            </a:xfrm>
            <a:prstGeom prst="flowChartDocument">
              <a:avLst/>
            </a:prstGeom>
            <a:solidFill>
              <a:srgbClr val="99CCFF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spcBef>
                  <a:spcPct val="0"/>
                </a:spcBef>
                <a:defRPr/>
              </a:pPr>
              <a:r>
                <a:rPr lang="en-US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charset="0"/>
                  <a:cs typeface="Arial" charset="0"/>
                </a:rPr>
                <a:t>Đối tượng </a:t>
              </a:r>
            </a:p>
            <a:p>
              <a:pPr eaLnBrk="0" hangingPunct="0">
                <a:spcBef>
                  <a:spcPct val="0"/>
                </a:spcBef>
                <a:defRPr/>
              </a:pPr>
              <a:r>
                <a:rPr lang="en-US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charset="0"/>
                  <a:cs typeface="Arial" charset="0"/>
                </a:rPr>
                <a:t>dữ liệu</a:t>
              </a:r>
            </a:p>
          </p:txBody>
        </p:sp>
        <p:sp>
          <p:nvSpPr>
            <p:cNvPr id="18" name="Right Arrow 17"/>
            <p:cNvSpPr/>
            <p:nvPr/>
          </p:nvSpPr>
          <p:spPr bwMode="auto">
            <a:xfrm>
              <a:off x="3200400" y="3048000"/>
              <a:ext cx="990600" cy="304800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2391" dir="1784693" algn="ctr" rotWithShape="0">
                      <a:srgbClr val="FF9900"/>
                    </a:outerShdw>
                  </a:effectLst>
                </a14:hiddenEffects>
              </a:ext>
            </a:extLst>
          </p:spPr>
          <p:txBody>
            <a:bodyPr vert="horz" wrap="none" lIns="91433" tIns="45716" rIns="91433" bIns="45716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??"/>
                <a:cs typeface="??"/>
              </a:endParaRPr>
            </a:p>
          </p:txBody>
        </p:sp>
        <p:sp>
          <p:nvSpPr>
            <p:cNvPr id="21" name="Right Arrow 20"/>
            <p:cNvSpPr/>
            <p:nvPr/>
          </p:nvSpPr>
          <p:spPr bwMode="auto">
            <a:xfrm rot="2626579">
              <a:off x="5835167" y="4110311"/>
              <a:ext cx="990600" cy="304800"/>
            </a:xfrm>
            <a:prstGeom prst="rightArrow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2391" dir="1784693" algn="ctr" rotWithShape="0">
                      <a:srgbClr val="FF9900"/>
                    </a:outerShdw>
                  </a:effectLst>
                </a14:hiddenEffects>
              </a:ext>
            </a:extLst>
          </p:spPr>
          <p:txBody>
            <a:bodyPr vert="horz" wrap="none" lIns="91433" tIns="45716" rIns="91433" bIns="45716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??"/>
                <a:cs typeface="??"/>
              </a:endParaRPr>
            </a:p>
          </p:txBody>
        </p:sp>
        <p:sp>
          <p:nvSpPr>
            <p:cNvPr id="22" name="Right Arrow 21"/>
            <p:cNvSpPr/>
            <p:nvPr/>
          </p:nvSpPr>
          <p:spPr bwMode="auto">
            <a:xfrm rot="8252962">
              <a:off x="4522775" y="4180555"/>
              <a:ext cx="990600" cy="304800"/>
            </a:xfrm>
            <a:prstGeom prst="rightArrow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2391" dir="1784693" algn="ctr" rotWithShape="0">
                      <a:srgbClr val="FF9900"/>
                    </a:outerShdw>
                  </a:effectLst>
                </a14:hiddenEffects>
              </a:ext>
            </a:extLst>
          </p:spPr>
          <p:txBody>
            <a:bodyPr vert="horz" wrap="none" lIns="91433" tIns="45716" rIns="91433" bIns="45716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??"/>
                <a:cs typeface="??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t>17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1769868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endParaRPr lang="en-US" dirty="0"/>
          </a:p>
          <a:p>
            <a:pPr lvl="1"/>
            <a:r>
              <a:rPr lang="en-US" dirty="0"/>
              <a:t> </a:t>
            </a:r>
            <a:r>
              <a:rPr lang="en-US" dirty="0" err="1"/>
              <a:t>Muôn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vạn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,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, </a:t>
            </a:r>
            <a:r>
              <a:rPr lang="en-US" dirty="0" err="1"/>
              <a:t>phong</a:t>
            </a:r>
            <a:r>
              <a:rPr lang="en-US" dirty="0"/>
              <a:t> </a:t>
            </a:r>
            <a:r>
              <a:rPr lang="en-US" dirty="0" err="1"/>
              <a:t>phú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đựng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nhau</a:t>
            </a:r>
            <a:endParaRPr lang="en-US" dirty="0"/>
          </a:p>
          <a:p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nhất</a:t>
            </a:r>
            <a:endParaRPr lang="en-US" dirty="0"/>
          </a:p>
          <a:p>
            <a:pPr lvl="1"/>
            <a:r>
              <a:rPr lang="en-US" dirty="0" err="1"/>
              <a:t>Phản</a:t>
            </a:r>
            <a:r>
              <a:rPr lang="en-US" dirty="0"/>
              <a:t> </a:t>
            </a:r>
            <a:r>
              <a:rPr lang="en-US" dirty="0" err="1"/>
              <a:t>ánh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endParaRPr lang="en-US" dirty="0"/>
          </a:p>
          <a:p>
            <a:pPr lvl="1"/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dàng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276484" name="AutoShape 4"/>
          <p:cNvSpPr>
            <a:spLocks noChangeArrowheads="1"/>
          </p:cNvSpPr>
          <p:nvPr/>
        </p:nvSpPr>
        <p:spPr bwMode="auto">
          <a:xfrm>
            <a:off x="6324600" y="4572000"/>
            <a:ext cx="2819400" cy="1981200"/>
          </a:xfrm>
          <a:prstGeom prst="irregularSeal2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eaLnBrk="0" hangingPunct="0">
              <a:spcBef>
                <a:spcPct val="0"/>
              </a:spcBef>
              <a:defRPr/>
            </a:pPr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Xây dựng </a:t>
            </a:r>
          </a:p>
          <a:p>
            <a:pPr eaLnBrk="0" hangingPunct="0">
              <a:spcBef>
                <a:spcPct val="0"/>
              </a:spcBef>
              <a:defRPr/>
            </a:pPr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CTDL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GV. Văn Thị  Thiên Trang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t>18</a:t>
            </a:fld>
            <a:endParaRPr kumimoji="0"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652A26F-A52C-48BA-947F-64F3E5BF9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dirty="0" err="1"/>
              <a:t>Vai</a:t>
            </a:r>
            <a:r>
              <a:rPr lang="en-US" dirty="0"/>
              <a:t> </a:t>
            </a:r>
            <a:r>
              <a:rPr lang="en-US" dirty="0" err="1"/>
              <a:t>trò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7319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3"/>
          <p:cNvSpPr>
            <a:spLocks noGrp="1" noChangeArrowheads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Autofit/>
          </a:bodyPr>
          <a:lstStyle/>
          <a:p>
            <a:pPr eaLnBrk="1" hangingPunct="1"/>
            <a:r>
              <a:rPr lang="en-US" sz="3200" dirty="0" err="1"/>
              <a:t>Vai</a:t>
            </a:r>
            <a:r>
              <a:rPr lang="en-US" sz="3200" dirty="0"/>
              <a:t> </a:t>
            </a:r>
            <a:r>
              <a:rPr lang="en-US" sz="3200" dirty="0" err="1"/>
              <a:t>trò</a:t>
            </a:r>
            <a:r>
              <a:rPr lang="en-US" sz="3200" dirty="0"/>
              <a:t> </a:t>
            </a:r>
            <a:r>
              <a:rPr lang="en-US" sz="3200" dirty="0" err="1"/>
              <a:t>của</a:t>
            </a:r>
            <a:r>
              <a:rPr lang="en-US" sz="3200" dirty="0"/>
              <a:t> </a:t>
            </a:r>
            <a:r>
              <a:rPr lang="en-US" sz="3200" dirty="0" err="1"/>
              <a:t>tổ</a:t>
            </a:r>
            <a:r>
              <a:rPr lang="en-US" sz="3200" dirty="0"/>
              <a:t> </a:t>
            </a:r>
            <a:r>
              <a:rPr lang="en-US" sz="3200" dirty="0" err="1"/>
              <a:t>chức</a:t>
            </a:r>
            <a:r>
              <a:rPr lang="en-US" sz="3200" dirty="0"/>
              <a:t> </a:t>
            </a:r>
            <a:r>
              <a:rPr lang="en-US" sz="3200" dirty="0" err="1"/>
              <a:t>dữ</a:t>
            </a:r>
            <a:r>
              <a:rPr lang="en-US" sz="3200" dirty="0"/>
              <a:t> </a:t>
            </a:r>
            <a:r>
              <a:rPr lang="en-US" sz="3200" dirty="0" err="1"/>
              <a:t>liệu</a:t>
            </a:r>
            <a:endParaRPr lang="en-US" sz="3200" dirty="0"/>
          </a:p>
        </p:txBody>
      </p:sp>
      <p:sp>
        <p:nvSpPr>
          <p:cNvPr id="8197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Symbol" pitchFamily="18" charset="2"/>
              <a:buNone/>
            </a:pPr>
            <a:r>
              <a:rPr lang="en-US"/>
              <a:t>Xây dựng thao tác xử lý	</a:t>
            </a:r>
          </a:p>
          <a:p>
            <a:pPr lvl="1">
              <a:buFont typeface="Symbol" pitchFamily="18" charset="2"/>
              <a:buNone/>
            </a:pPr>
            <a:r>
              <a:rPr lang="en-US"/>
              <a:t>Dựa trên Y/C cụ thể, xác định các trình tự giải quyết vấn đề trên máy tính để đưa kết quả mong muốn</a:t>
            </a:r>
          </a:p>
        </p:txBody>
      </p:sp>
      <p:grpSp>
        <p:nvGrpSpPr>
          <p:cNvPr id="8198" name="Group 22"/>
          <p:cNvGrpSpPr>
            <a:grpSpLocks/>
          </p:cNvGrpSpPr>
          <p:nvPr/>
        </p:nvGrpSpPr>
        <p:grpSpPr bwMode="auto">
          <a:xfrm>
            <a:off x="990600" y="3530600"/>
            <a:ext cx="7543800" cy="2336800"/>
            <a:chOff x="624" y="1584"/>
            <a:chExt cx="4752" cy="1472"/>
          </a:xfrm>
        </p:grpSpPr>
        <p:sp>
          <p:nvSpPr>
            <p:cNvPr id="8200" name="Freeform 2"/>
            <p:cNvSpPr>
              <a:spLocks/>
            </p:cNvSpPr>
            <p:nvPr/>
          </p:nvSpPr>
          <p:spPr bwMode="auto">
            <a:xfrm>
              <a:off x="624" y="1584"/>
              <a:ext cx="1920" cy="1472"/>
            </a:xfrm>
            <a:custGeom>
              <a:avLst/>
              <a:gdLst>
                <a:gd name="T0" fmla="*/ 187 w 2424"/>
                <a:gd name="T1" fmla="*/ 28 h 1816"/>
                <a:gd name="T2" fmla="*/ 23 w 2424"/>
                <a:gd name="T3" fmla="*/ 162 h 1816"/>
                <a:gd name="T4" fmla="*/ 82 w 2424"/>
                <a:gd name="T5" fmla="*/ 381 h 1816"/>
                <a:gd name="T6" fmla="*/ 23 w 2424"/>
                <a:gd name="T7" fmla="*/ 515 h 1816"/>
                <a:gd name="T8" fmla="*/ 216 w 2424"/>
                <a:gd name="T9" fmla="*/ 633 h 1816"/>
                <a:gd name="T10" fmla="*/ 427 w 2424"/>
                <a:gd name="T11" fmla="*/ 533 h 1816"/>
                <a:gd name="T12" fmla="*/ 665 w 2424"/>
                <a:gd name="T13" fmla="*/ 566 h 1816"/>
                <a:gd name="T14" fmla="*/ 756 w 2424"/>
                <a:gd name="T15" fmla="*/ 414 h 1816"/>
                <a:gd name="T16" fmla="*/ 665 w 2424"/>
                <a:gd name="T17" fmla="*/ 280 h 1816"/>
                <a:gd name="T18" fmla="*/ 636 w 2424"/>
                <a:gd name="T19" fmla="*/ 95 h 1816"/>
                <a:gd name="T20" fmla="*/ 397 w 2424"/>
                <a:gd name="T21" fmla="*/ 11 h 1816"/>
                <a:gd name="T22" fmla="*/ 187 w 2424"/>
                <a:gd name="T23" fmla="*/ 28 h 181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424"/>
                <a:gd name="T37" fmla="*/ 0 h 1816"/>
                <a:gd name="T38" fmla="*/ 2424 w 2424"/>
                <a:gd name="T39" fmla="*/ 1816 h 181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424" h="1816">
                  <a:moveTo>
                    <a:pt x="600" y="80"/>
                  </a:moveTo>
                  <a:cubicBezTo>
                    <a:pt x="400" y="152"/>
                    <a:pt x="128" y="296"/>
                    <a:pt x="72" y="464"/>
                  </a:cubicBezTo>
                  <a:cubicBezTo>
                    <a:pt x="16" y="632"/>
                    <a:pt x="264" y="920"/>
                    <a:pt x="264" y="1088"/>
                  </a:cubicBezTo>
                  <a:cubicBezTo>
                    <a:pt x="264" y="1256"/>
                    <a:pt x="0" y="1352"/>
                    <a:pt x="72" y="1472"/>
                  </a:cubicBezTo>
                  <a:cubicBezTo>
                    <a:pt x="144" y="1592"/>
                    <a:pt x="480" y="1800"/>
                    <a:pt x="696" y="1808"/>
                  </a:cubicBezTo>
                  <a:cubicBezTo>
                    <a:pt x="912" y="1816"/>
                    <a:pt x="1128" y="1552"/>
                    <a:pt x="1368" y="1520"/>
                  </a:cubicBezTo>
                  <a:cubicBezTo>
                    <a:pt x="1608" y="1488"/>
                    <a:pt x="1960" y="1672"/>
                    <a:pt x="2136" y="1616"/>
                  </a:cubicBezTo>
                  <a:cubicBezTo>
                    <a:pt x="2312" y="1560"/>
                    <a:pt x="2424" y="1320"/>
                    <a:pt x="2424" y="1184"/>
                  </a:cubicBezTo>
                  <a:cubicBezTo>
                    <a:pt x="2424" y="1048"/>
                    <a:pt x="2200" y="952"/>
                    <a:pt x="2136" y="800"/>
                  </a:cubicBezTo>
                  <a:cubicBezTo>
                    <a:pt x="2072" y="648"/>
                    <a:pt x="2184" y="400"/>
                    <a:pt x="2040" y="272"/>
                  </a:cubicBezTo>
                  <a:cubicBezTo>
                    <a:pt x="1896" y="144"/>
                    <a:pt x="1512" y="64"/>
                    <a:pt x="1272" y="32"/>
                  </a:cubicBezTo>
                  <a:cubicBezTo>
                    <a:pt x="1032" y="0"/>
                    <a:pt x="800" y="8"/>
                    <a:pt x="600" y="80"/>
                  </a:cubicBezTo>
                  <a:close/>
                </a:path>
              </a:pathLst>
            </a:custGeom>
            <a:solidFill>
              <a:srgbClr val="99CCFF">
                <a:alpha val="30980"/>
              </a:srgbClr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1" name="Oval 5"/>
            <p:cNvSpPr>
              <a:spLocks noChangeArrowheads="1"/>
            </p:cNvSpPr>
            <p:nvPr/>
          </p:nvSpPr>
          <p:spPr bwMode="auto">
            <a:xfrm>
              <a:off x="840" y="2048"/>
              <a:ext cx="384" cy="33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2" name="Rectangle 6"/>
            <p:cNvSpPr>
              <a:spLocks noChangeArrowheads="1"/>
            </p:cNvSpPr>
            <p:nvPr/>
          </p:nvSpPr>
          <p:spPr bwMode="auto">
            <a:xfrm>
              <a:off x="1368" y="2288"/>
              <a:ext cx="528" cy="192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3" name="AutoShape 7"/>
            <p:cNvSpPr>
              <a:spLocks noChangeArrowheads="1"/>
            </p:cNvSpPr>
            <p:nvPr/>
          </p:nvSpPr>
          <p:spPr bwMode="auto">
            <a:xfrm>
              <a:off x="840" y="2624"/>
              <a:ext cx="480" cy="240"/>
            </a:xfrm>
            <a:prstGeom prst="parallelogram">
              <a:avLst>
                <a:gd name="adj" fmla="val 50000"/>
              </a:avLst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4" name="AutoShape 8"/>
            <p:cNvSpPr>
              <a:spLocks noChangeArrowheads="1"/>
            </p:cNvSpPr>
            <p:nvPr/>
          </p:nvSpPr>
          <p:spPr bwMode="auto">
            <a:xfrm>
              <a:off x="1968" y="2192"/>
              <a:ext cx="384" cy="576"/>
            </a:xfrm>
            <a:prstGeom prst="diamond">
              <a:avLst/>
            </a:prstGeom>
            <a:solidFill>
              <a:srgbClr val="CC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5" name="Text Box 9"/>
            <p:cNvSpPr txBox="1">
              <a:spLocks noChangeArrowheads="1"/>
            </p:cNvSpPr>
            <p:nvPr/>
          </p:nvSpPr>
          <p:spPr bwMode="auto">
            <a:xfrm>
              <a:off x="984" y="1712"/>
              <a:ext cx="105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l" eaLnBrk="1" hangingPunct="1">
                <a:spcBef>
                  <a:spcPct val="0"/>
                </a:spcBef>
              </a:pPr>
              <a:r>
                <a:rPr lang="en-US" b="1">
                  <a:latin typeface="Arial" charset="0"/>
                  <a:cs typeface="Arial" charset="0"/>
                </a:rPr>
                <a:t>Đối tượng DL</a:t>
              </a:r>
            </a:p>
          </p:txBody>
        </p:sp>
        <p:sp>
          <p:nvSpPr>
            <p:cNvPr id="8206" name="AutoShape 15"/>
            <p:cNvSpPr>
              <a:spLocks noChangeArrowheads="1"/>
            </p:cNvSpPr>
            <p:nvPr/>
          </p:nvSpPr>
          <p:spPr bwMode="auto">
            <a:xfrm>
              <a:off x="2640" y="1856"/>
              <a:ext cx="1584" cy="62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68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rgbClr val="FFCC99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/>
                <a:t>Thao tác xử lý</a:t>
              </a:r>
            </a:p>
          </p:txBody>
        </p:sp>
        <p:sp>
          <p:nvSpPr>
            <p:cNvPr id="278544" name="AutoShape 16"/>
            <p:cNvSpPr>
              <a:spLocks noChangeArrowheads="1"/>
            </p:cNvSpPr>
            <p:nvPr/>
          </p:nvSpPr>
          <p:spPr bwMode="auto">
            <a:xfrm>
              <a:off x="4272" y="1712"/>
              <a:ext cx="1104" cy="1056"/>
            </a:xfrm>
            <a:prstGeom prst="verticalScroll">
              <a:avLst>
                <a:gd name="adj" fmla="val 12500"/>
              </a:avLst>
            </a:prstGeom>
            <a:solidFill>
              <a:srgbClr val="B1D87E">
                <a:alpha val="49001"/>
              </a:srgbClr>
            </a:solidFill>
            <a:ln w="31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spcBef>
                  <a:spcPct val="0"/>
                </a:spcBef>
                <a:defRPr/>
              </a:pPr>
              <a:r>
                <a:rPr lang="en-US" sz="1600" b="1">
                  <a:effectLst>
                    <a:outerShdw blurRad="38100" dist="38100" dir="2700000" algn="tl">
                      <a:srgbClr val="FFFFFF"/>
                    </a:outerShdw>
                  </a:effectLst>
                  <a:cs typeface="Arial" charset="0"/>
                </a:rPr>
                <a:t>Kết quả</a:t>
              </a:r>
            </a:p>
            <a:p>
              <a:pPr eaLnBrk="0" hangingPunct="0">
                <a:spcBef>
                  <a:spcPct val="0"/>
                </a:spcBef>
                <a:defRPr/>
              </a:pPr>
              <a:r>
                <a:rPr lang="en-US" sz="1600" b="1">
                  <a:effectLst>
                    <a:outerShdw blurRad="38100" dist="38100" dir="2700000" algn="tl">
                      <a:srgbClr val="FFFFFF"/>
                    </a:outerShdw>
                  </a:effectLst>
                  <a:cs typeface="Arial" charset="0"/>
                </a:rPr>
                <a:t>mong muốn</a:t>
              </a:r>
            </a:p>
          </p:txBody>
        </p:sp>
      </p:grpSp>
      <p:sp>
        <p:nvSpPr>
          <p:cNvPr id="278548" name="AutoShape 20"/>
          <p:cNvSpPr>
            <a:spLocks noChangeArrowheads="1"/>
          </p:cNvSpPr>
          <p:nvPr/>
        </p:nvSpPr>
        <p:spPr bwMode="auto">
          <a:xfrm>
            <a:off x="4343400" y="4876800"/>
            <a:ext cx="2819400" cy="1981200"/>
          </a:xfrm>
          <a:prstGeom prst="irregularSeal2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eaLnBrk="0" hangingPunct="0">
              <a:spcBef>
                <a:spcPct val="0"/>
              </a:spcBef>
              <a:defRPr/>
            </a:pPr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Xây dựng giải</a:t>
            </a:r>
          </a:p>
          <a:p>
            <a:pPr eaLnBrk="0" hangingPunct="0">
              <a:spcBef>
                <a:spcPct val="0"/>
              </a:spcBef>
              <a:defRPr/>
            </a:pPr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 thuật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t>19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1476475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92162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err="1"/>
              <a:t>Vai</a:t>
            </a:r>
            <a:r>
              <a:rPr lang="en-US" b="1" dirty="0"/>
              <a:t> </a:t>
            </a:r>
            <a:r>
              <a:rPr lang="en-US" b="1" dirty="0" err="1"/>
              <a:t>trò</a:t>
            </a:r>
            <a:r>
              <a:rPr lang="en-US" b="1" dirty="0"/>
              <a:t> </a:t>
            </a:r>
            <a:r>
              <a:rPr lang="en-US" b="1" dirty="0" err="1"/>
              <a:t>của</a:t>
            </a:r>
            <a:r>
              <a:rPr lang="en-US" b="1" dirty="0"/>
              <a:t> CTDL &amp; GT</a:t>
            </a: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A9C8558-BBA6-488B-8BCB-65718145D180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1600200" y="1066800"/>
            <a:ext cx="5715000" cy="5562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sz="4000" b="1" dirty="0">
              <a:solidFill>
                <a:schemeClr val="bg1"/>
              </a:solidFill>
            </a:endParaRPr>
          </a:p>
          <a:p>
            <a:pPr algn="ctr"/>
            <a:r>
              <a:rPr lang="en-US" sz="4000" b="1" dirty="0" err="1">
                <a:solidFill>
                  <a:schemeClr val="bg1"/>
                </a:solidFill>
              </a:rPr>
              <a:t>Phương</a:t>
            </a:r>
            <a:r>
              <a:rPr lang="en-US" sz="4000" b="1" dirty="0">
                <a:solidFill>
                  <a:schemeClr val="bg1"/>
                </a:solidFill>
              </a:rPr>
              <a:t> </a:t>
            </a:r>
            <a:r>
              <a:rPr lang="en-US" sz="4000" b="1" dirty="0" err="1">
                <a:solidFill>
                  <a:schemeClr val="bg1"/>
                </a:solidFill>
              </a:rPr>
              <a:t>thức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1752600" y="2362200"/>
            <a:ext cx="2590800" cy="251460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/>
              <a:t>Cấu trúc dữ liệu</a:t>
            </a:r>
          </a:p>
        </p:txBody>
      </p:sp>
      <p:sp>
        <p:nvSpPr>
          <p:cNvPr id="10" name="Oval 9"/>
          <p:cNvSpPr/>
          <p:nvPr/>
        </p:nvSpPr>
        <p:spPr>
          <a:xfrm>
            <a:off x="4648200" y="2362200"/>
            <a:ext cx="2514600" cy="251460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/>
              <a:t>Giải thuật</a:t>
            </a:r>
          </a:p>
        </p:txBody>
      </p:sp>
      <p:sp>
        <p:nvSpPr>
          <p:cNvPr id="8" name="Curved Down Arrow 7"/>
          <p:cNvSpPr/>
          <p:nvPr/>
        </p:nvSpPr>
        <p:spPr>
          <a:xfrm>
            <a:off x="2933700" y="1752600"/>
            <a:ext cx="3086100" cy="838200"/>
          </a:xfrm>
          <a:prstGeom prst="curvedDown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urved Down Arrow 11"/>
          <p:cNvSpPr/>
          <p:nvPr/>
        </p:nvSpPr>
        <p:spPr>
          <a:xfrm rot="10800000">
            <a:off x="3086100" y="4495799"/>
            <a:ext cx="3086100" cy="838200"/>
          </a:xfrm>
          <a:prstGeom prst="curvedDown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4522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repeatCount="indefinite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12" grpId="0" animBg="1"/>
      <p:bldP spid="12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24000"/>
            <a:ext cx="7886700" cy="5197476"/>
          </a:xfrm>
        </p:spPr>
        <p:txBody>
          <a:bodyPr>
            <a:noAutofit/>
          </a:bodyPr>
          <a:lstStyle/>
          <a:p>
            <a:pPr algn="just"/>
            <a:r>
              <a:rPr lang="en-US" sz="2800" dirty="0"/>
              <a:t>C</a:t>
            </a:r>
            <a:r>
              <a:rPr lang="vi-VN" sz="2800" dirty="0"/>
              <a:t>ách thức liên kết</a:t>
            </a:r>
            <a:r>
              <a:rPr lang="en-US" sz="2800" dirty="0"/>
              <a:t>/ </a:t>
            </a:r>
            <a:r>
              <a:rPr lang="en-US" sz="2800" dirty="0" err="1"/>
              <a:t>tổ</a:t>
            </a:r>
            <a:r>
              <a:rPr lang="en-US" sz="2800" dirty="0"/>
              <a:t> </a:t>
            </a:r>
            <a:r>
              <a:rPr lang="en-US" sz="2800" dirty="0" err="1"/>
              <a:t>chức</a:t>
            </a:r>
            <a:r>
              <a:rPr lang="vi-VN" sz="2800" dirty="0"/>
              <a:t> các </a:t>
            </a:r>
            <a:r>
              <a:rPr lang="en-US" sz="2800" dirty="0" err="1"/>
              <a:t>dữ</a:t>
            </a:r>
            <a:r>
              <a:rPr lang="en-US" sz="2800" dirty="0"/>
              <a:t> </a:t>
            </a:r>
            <a:r>
              <a:rPr lang="en-US" sz="2800" dirty="0" err="1"/>
              <a:t>liệu</a:t>
            </a:r>
            <a:r>
              <a:rPr lang="en-US" sz="2800" dirty="0"/>
              <a:t> </a:t>
            </a:r>
            <a:r>
              <a:rPr lang="en-US" sz="2800" dirty="0" err="1"/>
              <a:t>hợp</a:t>
            </a:r>
            <a:r>
              <a:rPr lang="en-US" sz="2800" dirty="0"/>
              <a:t> </a:t>
            </a:r>
            <a:r>
              <a:rPr lang="en-US" sz="2800" dirty="0" err="1"/>
              <a:t>lý</a:t>
            </a:r>
            <a:r>
              <a:rPr lang="en-US" sz="2800" dirty="0"/>
              <a:t> </a:t>
            </a:r>
            <a:r>
              <a:rPr lang="en-US" sz="2800" dirty="0" err="1"/>
              <a:t>để</a:t>
            </a:r>
            <a:r>
              <a:rPr lang="en-US" sz="2800" dirty="0"/>
              <a:t> </a:t>
            </a:r>
            <a:r>
              <a:rPr lang="en-US" sz="2800" dirty="0" err="1"/>
              <a:t>sử</a:t>
            </a:r>
            <a:r>
              <a:rPr lang="en-US" sz="2800" dirty="0"/>
              <a:t> </a:t>
            </a:r>
            <a:r>
              <a:rPr lang="en-US" sz="2800" dirty="0" err="1"/>
              <a:t>dụng</a:t>
            </a:r>
            <a:r>
              <a:rPr lang="en-US" sz="2800" dirty="0"/>
              <a:t> </a:t>
            </a:r>
            <a:r>
              <a:rPr lang="en-US" sz="2800" dirty="0" err="1"/>
              <a:t>một</a:t>
            </a:r>
            <a:r>
              <a:rPr lang="en-US" sz="2800" dirty="0"/>
              <a:t> </a:t>
            </a:r>
            <a:r>
              <a:rPr lang="en-US" sz="2800" dirty="0" err="1"/>
              <a:t>cách</a:t>
            </a:r>
            <a:r>
              <a:rPr lang="en-US" sz="2800" dirty="0"/>
              <a:t> </a:t>
            </a:r>
            <a:r>
              <a:rPr lang="en-US" sz="2800" dirty="0" err="1"/>
              <a:t>hiệu</a:t>
            </a:r>
            <a:r>
              <a:rPr lang="en-US" sz="2800" dirty="0"/>
              <a:t> </a:t>
            </a:r>
            <a:r>
              <a:rPr lang="en-US" sz="2800" dirty="0" err="1"/>
              <a:t>quả</a:t>
            </a:r>
            <a:r>
              <a:rPr lang="en-US" sz="2800" dirty="0"/>
              <a:t> (</a:t>
            </a:r>
            <a:r>
              <a:rPr lang="en-US" sz="2800" i="1" dirty="0" err="1"/>
              <a:t>phương</a:t>
            </a:r>
            <a:r>
              <a:rPr lang="en-US" sz="2800" i="1" dirty="0"/>
              <a:t> </a:t>
            </a:r>
            <a:r>
              <a:rPr lang="en-US" sz="2800" i="1" dirty="0" err="1"/>
              <a:t>pháp</a:t>
            </a:r>
            <a:r>
              <a:rPr lang="en-US" sz="2800" i="1" dirty="0"/>
              <a:t> </a:t>
            </a:r>
            <a:r>
              <a:rPr lang="en-US" sz="2800" i="1" dirty="0" err="1"/>
              <a:t>lưu</a:t>
            </a:r>
            <a:r>
              <a:rPr lang="en-US" sz="2800" i="1" dirty="0"/>
              <a:t> </a:t>
            </a:r>
            <a:r>
              <a:rPr lang="en-US" sz="2800" i="1" dirty="0" err="1"/>
              <a:t>trữ</a:t>
            </a:r>
            <a:r>
              <a:rPr lang="en-US" sz="2800" i="1" dirty="0"/>
              <a:t> </a:t>
            </a:r>
            <a:r>
              <a:rPr lang="en-US" sz="2800" i="1" dirty="0" err="1"/>
              <a:t>trên</a:t>
            </a:r>
            <a:r>
              <a:rPr lang="en-US" sz="2800" i="1" dirty="0"/>
              <a:t> </a:t>
            </a:r>
            <a:r>
              <a:rPr lang="en-US" sz="2800" i="1" dirty="0" err="1"/>
              <a:t>máy</a:t>
            </a:r>
            <a:r>
              <a:rPr lang="en-US" sz="2800" i="1" dirty="0"/>
              <a:t> </a:t>
            </a:r>
            <a:r>
              <a:rPr lang="en-US" sz="2800" i="1" dirty="0" err="1"/>
              <a:t>tính</a:t>
            </a:r>
            <a:r>
              <a:rPr lang="en-US" sz="2800" dirty="0"/>
              <a:t>)</a:t>
            </a:r>
          </a:p>
          <a:p>
            <a:pPr algn="just"/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thao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truy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cập</a:t>
            </a:r>
            <a:r>
              <a:rPr lang="en-US" altLang="en-US" sz="2800" dirty="0"/>
              <a:t>/ </a:t>
            </a:r>
            <a:r>
              <a:rPr lang="en-US" altLang="en-US" sz="2800" dirty="0" err="1"/>
              <a:t>xử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lý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thành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phần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dữ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liệu</a:t>
            </a:r>
            <a:r>
              <a:rPr lang="en-US" altLang="en-US" sz="2800" dirty="0"/>
              <a:t> </a:t>
            </a:r>
            <a:r>
              <a:rPr lang="en-US" altLang="en-US" sz="2800" dirty="0">
                <a:sym typeface="Wingdings" panose="05000000000000000000" pitchFamily="2" charset="2"/>
              </a:rPr>
              <a:t> </a:t>
            </a:r>
            <a:r>
              <a:rPr lang="en-US" altLang="en-US" sz="2800" dirty="0" err="1">
                <a:solidFill>
                  <a:srgbClr val="FF0000"/>
                </a:solidFill>
                <a:sym typeface="Wingdings" panose="05000000000000000000" pitchFamily="2" charset="2"/>
              </a:rPr>
              <a:t>Cần</a:t>
            </a:r>
            <a:r>
              <a:rPr lang="en-US" altLang="en-US" sz="28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sym typeface="Wingdings" panose="05000000000000000000" pitchFamily="2" charset="2"/>
              </a:rPr>
              <a:t>giải</a:t>
            </a:r>
            <a:r>
              <a:rPr lang="en-US" altLang="en-US" sz="28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sym typeface="Wingdings" panose="05000000000000000000" pitchFamily="2" charset="2"/>
              </a:rPr>
              <a:t>thuật</a:t>
            </a:r>
            <a:endParaRPr lang="en-US" altLang="en-US" sz="2800" dirty="0">
              <a:solidFill>
                <a:srgbClr val="FF000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altLang="en-US" sz="2800" dirty="0" err="1"/>
              <a:t>Ví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dụ</a:t>
            </a:r>
            <a:r>
              <a:rPr lang="en-US" altLang="en-US" sz="2800" dirty="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US" altLang="en-US" dirty="0" err="1"/>
              <a:t>Danh</a:t>
            </a:r>
            <a:r>
              <a:rPr lang="en-US" altLang="en-US" dirty="0"/>
              <a:t> </a:t>
            </a:r>
            <a:r>
              <a:rPr lang="en-US" altLang="en-US" dirty="0" err="1"/>
              <a:t>sách</a:t>
            </a:r>
            <a:r>
              <a:rPr lang="en-US" altLang="en-US" dirty="0"/>
              <a:t> </a:t>
            </a:r>
            <a:r>
              <a:rPr lang="en-US" altLang="en-US" dirty="0" err="1"/>
              <a:t>liên</a:t>
            </a:r>
            <a:r>
              <a:rPr lang="en-US" altLang="en-US" dirty="0"/>
              <a:t> </a:t>
            </a:r>
            <a:r>
              <a:rPr lang="en-US" altLang="en-US" dirty="0" err="1"/>
              <a:t>kết</a:t>
            </a:r>
            <a:r>
              <a:rPr lang="en-US" altLang="en-US" dirty="0"/>
              <a:t> (Linked List)</a:t>
            </a:r>
          </a:p>
          <a:p>
            <a:pPr lvl="1" algn="just">
              <a:lnSpc>
                <a:spcPct val="150000"/>
              </a:lnSpc>
            </a:pPr>
            <a:r>
              <a:rPr lang="en-US" altLang="en-US" dirty="0" err="1"/>
              <a:t>Ngăn</a:t>
            </a:r>
            <a:r>
              <a:rPr lang="en-US" altLang="en-US" dirty="0"/>
              <a:t> </a:t>
            </a:r>
            <a:r>
              <a:rPr lang="en-US" altLang="en-US" dirty="0" err="1"/>
              <a:t>xếp</a:t>
            </a:r>
            <a:r>
              <a:rPr lang="en-US" altLang="en-US" dirty="0"/>
              <a:t> (Stack)/ </a:t>
            </a:r>
            <a:r>
              <a:rPr lang="en-US" altLang="en-US" dirty="0" err="1"/>
              <a:t>Hàng</a:t>
            </a:r>
            <a:r>
              <a:rPr lang="en-US" altLang="en-US" dirty="0"/>
              <a:t> </a:t>
            </a:r>
            <a:r>
              <a:rPr lang="en-US" altLang="en-US" dirty="0" err="1"/>
              <a:t>đợi</a:t>
            </a:r>
            <a:r>
              <a:rPr lang="en-US" altLang="en-US" dirty="0"/>
              <a:t> (Queue)</a:t>
            </a:r>
          </a:p>
          <a:p>
            <a:pPr lvl="1" algn="just">
              <a:lnSpc>
                <a:spcPct val="150000"/>
              </a:lnSpc>
            </a:pPr>
            <a:r>
              <a:rPr lang="en-US" altLang="en-US" dirty="0" err="1"/>
              <a:t>Cây</a:t>
            </a:r>
            <a:r>
              <a:rPr lang="en-US" altLang="en-US" dirty="0"/>
              <a:t> (Tree)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8704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391400" cy="792162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tiêu</a:t>
            </a:r>
            <a:r>
              <a:rPr lang="en-US" b="1" dirty="0"/>
              <a:t> </a:t>
            </a:r>
            <a:r>
              <a:rPr lang="en-US" b="1" dirty="0" err="1"/>
              <a:t>chuẩn</a:t>
            </a:r>
            <a:r>
              <a:rPr lang="en-US" b="1" dirty="0"/>
              <a:t> </a:t>
            </a:r>
            <a:r>
              <a:rPr lang="en-US" b="1" dirty="0" err="1"/>
              <a:t>đánh</a:t>
            </a:r>
            <a:r>
              <a:rPr lang="en-US" b="1" dirty="0"/>
              <a:t> </a:t>
            </a:r>
            <a:r>
              <a:rPr lang="en-US" b="1" dirty="0" err="1"/>
              <a:t>giá</a:t>
            </a:r>
            <a:r>
              <a:rPr lang="en-US" b="1" dirty="0"/>
              <a:t> CTDL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7391400" cy="4873625"/>
          </a:xfrm>
        </p:spPr>
        <p:txBody>
          <a:bodyPr>
            <a:normAutofit/>
          </a:bodyPr>
          <a:lstStyle/>
          <a:p>
            <a:pPr algn="just"/>
            <a:r>
              <a:rPr lang="en-US" dirty="0" err="1"/>
              <a:t>Phản</a:t>
            </a:r>
            <a:r>
              <a:rPr lang="en-US" dirty="0"/>
              <a:t> </a:t>
            </a:r>
            <a:r>
              <a:rPr lang="en-US" dirty="0" err="1"/>
              <a:t>ánh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: </a:t>
            </a:r>
          </a:p>
          <a:p>
            <a:pPr lvl="1" algn="just"/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đầy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nhập</a:t>
            </a:r>
            <a:r>
              <a:rPr lang="en-US" dirty="0"/>
              <a:t>/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.</a:t>
            </a:r>
          </a:p>
          <a:p>
            <a:pPr algn="just"/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thao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: </a:t>
            </a:r>
          </a:p>
          <a:p>
            <a:pPr lvl="1" algn="just"/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 err="1">
                <a:sym typeface="Wingdings" pitchFamily="2" charset="2"/>
              </a:rPr>
              <a:t>hiệu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quả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của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dự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án</a:t>
            </a:r>
            <a:r>
              <a:rPr lang="en-US" dirty="0">
                <a:sym typeface="Wingdings" pitchFamily="2" charset="2"/>
              </a:rPr>
              <a:t> tin </a:t>
            </a:r>
            <a:r>
              <a:rPr lang="en-US" dirty="0" err="1">
                <a:sym typeface="Wingdings" pitchFamily="2" charset="2"/>
              </a:rPr>
              <a:t>học</a:t>
            </a:r>
            <a:r>
              <a:rPr lang="en-US" dirty="0">
                <a:sym typeface="Wingdings" pitchFamily="2" charset="2"/>
              </a:rPr>
              <a:t>.</a:t>
            </a:r>
          </a:p>
          <a:p>
            <a:pPr algn="just"/>
            <a:r>
              <a:rPr lang="en-US" dirty="0" err="1"/>
              <a:t>Tiết</a:t>
            </a:r>
            <a:r>
              <a:rPr lang="en-US" dirty="0"/>
              <a:t> </a:t>
            </a:r>
            <a:r>
              <a:rPr lang="en-US" dirty="0" err="1"/>
              <a:t>kiệm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: </a:t>
            </a:r>
          </a:p>
          <a:p>
            <a:pPr lvl="1" algn="just"/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vừa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&amp; </a:t>
            </a:r>
            <a:r>
              <a:rPr lang="en-US" dirty="0" err="1"/>
              <a:t>nhiệm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.</a:t>
            </a: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A9C8558-BBA6-488B-8BCB-65718145D180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7971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54074"/>
          </a:xfrm>
        </p:spPr>
        <p:txBody>
          <a:bodyPr>
            <a:normAutofit/>
          </a:bodyPr>
          <a:lstStyle/>
          <a:p>
            <a:r>
              <a:rPr lang="vi-VN" dirty="0"/>
              <a:t>Trừu tượng hóa dữ liệu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47800"/>
            <a:ext cx="7886700" cy="4729163"/>
          </a:xfrm>
        </p:spPr>
        <p:txBody>
          <a:bodyPr>
            <a:noAutofit/>
          </a:bodyPr>
          <a:lstStyle/>
          <a:p>
            <a:pPr>
              <a:lnSpc>
                <a:spcPct val="134000"/>
              </a:lnSpc>
              <a:spcBef>
                <a:spcPts val="0"/>
              </a:spcBef>
            </a:pPr>
            <a:r>
              <a:rPr lang="en-US" sz="2400" dirty="0" err="1"/>
              <a:t>Trừu</a:t>
            </a:r>
            <a:r>
              <a:rPr lang="en-US" sz="2400" dirty="0"/>
              <a:t> </a:t>
            </a:r>
            <a:r>
              <a:rPr lang="en-US" sz="2400" dirty="0" err="1"/>
              <a:t>tượng</a:t>
            </a:r>
            <a:r>
              <a:rPr lang="en-US" sz="2400" dirty="0"/>
              <a:t> </a:t>
            </a:r>
            <a:r>
              <a:rPr lang="en-US" sz="2400" dirty="0" err="1"/>
              <a:t>hoá</a:t>
            </a:r>
            <a:endParaRPr lang="en-US" sz="2400" dirty="0"/>
          </a:p>
          <a:p>
            <a:pPr lvl="1">
              <a:lnSpc>
                <a:spcPct val="134000"/>
              </a:lnSpc>
              <a:spcBef>
                <a:spcPts val="0"/>
              </a:spcBef>
            </a:pPr>
            <a:r>
              <a:rPr lang="en-US" sz="2400" dirty="0" err="1"/>
              <a:t>Làm</a:t>
            </a:r>
            <a:r>
              <a:rPr lang="en-US" sz="2400" dirty="0"/>
              <a:t> </a:t>
            </a:r>
            <a:r>
              <a:rPr lang="en-US" sz="2400" dirty="0" err="1"/>
              <a:t>đơn</a:t>
            </a:r>
            <a:r>
              <a:rPr lang="en-US" sz="2400" dirty="0"/>
              <a:t> </a:t>
            </a:r>
            <a:r>
              <a:rPr lang="en-US" sz="2400" dirty="0" err="1"/>
              <a:t>giản</a:t>
            </a:r>
            <a:r>
              <a:rPr lang="en-US" sz="2400" dirty="0"/>
              <a:t> </a:t>
            </a:r>
            <a:r>
              <a:rPr lang="en-US" sz="2400" dirty="0" err="1"/>
              <a:t>hóa</a:t>
            </a:r>
            <a:r>
              <a:rPr lang="en-US" sz="2400" dirty="0"/>
              <a:t>, </a:t>
            </a:r>
            <a:r>
              <a:rPr lang="en-US" sz="2400" dirty="0" err="1"/>
              <a:t>sáng</a:t>
            </a:r>
            <a:r>
              <a:rPr lang="en-US" sz="2400" dirty="0"/>
              <a:t> </a:t>
            </a:r>
            <a:r>
              <a:rPr lang="en-US" sz="2400" dirty="0" err="1"/>
              <a:t>sủa</a:t>
            </a:r>
            <a:r>
              <a:rPr lang="en-US" sz="2400" dirty="0"/>
              <a:t>, </a:t>
            </a:r>
            <a:r>
              <a:rPr lang="en-US" sz="2400" dirty="0" err="1"/>
              <a:t>dễ</a:t>
            </a:r>
            <a:r>
              <a:rPr lang="en-US" sz="2400" dirty="0"/>
              <a:t> </a:t>
            </a:r>
            <a:r>
              <a:rPr lang="en-US" sz="2400" dirty="0" err="1"/>
              <a:t>hiểu</a:t>
            </a:r>
            <a:r>
              <a:rPr lang="en-US" sz="2400" dirty="0"/>
              <a:t> </a:t>
            </a:r>
            <a:r>
              <a:rPr lang="en-US" sz="2400" dirty="0" err="1"/>
              <a:t>hơn</a:t>
            </a:r>
            <a:r>
              <a:rPr lang="en-US" sz="2400" dirty="0"/>
              <a:t>. </a:t>
            </a:r>
          </a:p>
          <a:p>
            <a:pPr lvl="1">
              <a:lnSpc>
                <a:spcPct val="134000"/>
              </a:lnSpc>
              <a:spcBef>
                <a:spcPts val="0"/>
              </a:spcBef>
            </a:pPr>
            <a:r>
              <a:rPr lang="en-US" sz="2400" dirty="0"/>
              <a:t>Che </a:t>
            </a:r>
            <a:r>
              <a:rPr lang="en-US" sz="2400" dirty="0" err="1"/>
              <a:t>đi</a:t>
            </a:r>
            <a:r>
              <a:rPr lang="en-US" sz="2400" dirty="0"/>
              <a:t> </a:t>
            </a:r>
            <a:r>
              <a:rPr lang="en-US" sz="2400" dirty="0" err="1"/>
              <a:t>phần</a:t>
            </a:r>
            <a:r>
              <a:rPr lang="en-US" sz="2400" dirty="0"/>
              <a:t> chi </a:t>
            </a:r>
            <a:r>
              <a:rPr lang="en-US" sz="2400" dirty="0" err="1"/>
              <a:t>tiết</a:t>
            </a:r>
            <a:r>
              <a:rPr lang="en-US" sz="2400" dirty="0"/>
              <a:t>, </a:t>
            </a:r>
            <a:r>
              <a:rPr lang="en-US" sz="2400" dirty="0" err="1"/>
              <a:t>làm</a:t>
            </a:r>
            <a:r>
              <a:rPr lang="en-US" sz="2400" dirty="0"/>
              <a:t> </a:t>
            </a:r>
            <a:r>
              <a:rPr lang="en-US" sz="2400" dirty="0" err="1"/>
              <a:t>nổi</a:t>
            </a:r>
            <a:r>
              <a:rPr lang="en-US" sz="2400" dirty="0"/>
              <a:t> </a:t>
            </a:r>
            <a:r>
              <a:rPr lang="en-US" sz="2400" dirty="0" err="1"/>
              <a:t>bật</a:t>
            </a:r>
            <a:r>
              <a:rPr lang="en-US" sz="2400" dirty="0"/>
              <a:t> </a:t>
            </a:r>
            <a:r>
              <a:rPr lang="en-US" sz="2400" dirty="0" err="1"/>
              <a:t>cái</a:t>
            </a:r>
            <a:r>
              <a:rPr lang="en-US" sz="2400" dirty="0"/>
              <a:t> </a:t>
            </a:r>
            <a:r>
              <a:rPr lang="en-US" sz="2400" dirty="0" err="1"/>
              <a:t>tổng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endParaRPr lang="en-US" sz="2400" dirty="0"/>
          </a:p>
          <a:p>
            <a:pPr>
              <a:lnSpc>
                <a:spcPct val="134000"/>
              </a:lnSpc>
              <a:spcBef>
                <a:spcPts val="0"/>
              </a:spcBef>
            </a:pPr>
            <a:r>
              <a:rPr lang="en-US" sz="2400" dirty="0" err="1"/>
              <a:t>Trừu</a:t>
            </a:r>
            <a:r>
              <a:rPr lang="en-US" sz="2400" dirty="0"/>
              <a:t> </a:t>
            </a:r>
            <a:r>
              <a:rPr lang="en-US" sz="2400" dirty="0" err="1"/>
              <a:t>tượng</a:t>
            </a:r>
            <a:r>
              <a:rPr lang="en-US" sz="2400" dirty="0"/>
              <a:t> </a:t>
            </a:r>
            <a:r>
              <a:rPr lang="en-US" sz="2400" dirty="0" err="1"/>
              <a:t>hoá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: </a:t>
            </a:r>
            <a:r>
              <a:rPr lang="en-US" sz="2400" dirty="0" err="1"/>
              <a:t>đưa</a:t>
            </a:r>
            <a:r>
              <a:rPr lang="en-US" sz="2400" dirty="0"/>
              <a:t> ra </a:t>
            </a:r>
            <a:r>
              <a:rPr lang="en-US" sz="2400" dirty="0" err="1"/>
              <a:t>các</a:t>
            </a:r>
            <a:r>
              <a:rPr lang="en-US" sz="2400" dirty="0"/>
              <a:t> KDL </a:t>
            </a:r>
            <a:r>
              <a:rPr lang="en-US" sz="2400" dirty="0" err="1"/>
              <a:t>trừu</a:t>
            </a:r>
            <a:r>
              <a:rPr lang="en-US" sz="2400" dirty="0"/>
              <a:t> </a:t>
            </a:r>
            <a:r>
              <a:rPr lang="en-US" sz="2400" dirty="0" err="1"/>
              <a:t>tượng</a:t>
            </a:r>
            <a:r>
              <a:rPr lang="en-US" sz="2400" dirty="0"/>
              <a:t> (Abstract Data Type – ADT) </a:t>
            </a:r>
            <a:r>
              <a:rPr lang="en-US" sz="2400" dirty="0" err="1"/>
              <a:t>gồm</a:t>
            </a:r>
            <a:r>
              <a:rPr lang="en-US" sz="2400" dirty="0"/>
              <a:t>:</a:t>
            </a:r>
          </a:p>
          <a:p>
            <a:pPr lvl="1">
              <a:lnSpc>
                <a:spcPct val="134000"/>
              </a:lnSpc>
              <a:spcBef>
                <a:spcPts val="0"/>
              </a:spcBef>
            </a:pPr>
            <a:r>
              <a:rPr lang="en-US" sz="2400" dirty="0" err="1"/>
              <a:t>Mô</a:t>
            </a:r>
            <a:r>
              <a:rPr lang="en-US" sz="2400" dirty="0"/>
              <a:t> </a:t>
            </a:r>
            <a:r>
              <a:rPr lang="en-US" sz="2400" dirty="0" err="1"/>
              <a:t>tả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endParaRPr lang="en-US" sz="2400" dirty="0"/>
          </a:p>
          <a:p>
            <a:pPr lvl="1">
              <a:lnSpc>
                <a:spcPct val="134000"/>
              </a:lnSpc>
              <a:spcBef>
                <a:spcPts val="0"/>
              </a:spcBef>
            </a:pPr>
            <a:r>
              <a:rPr lang="en-US" sz="2400" dirty="0" err="1"/>
              <a:t>Tác</a:t>
            </a:r>
            <a:r>
              <a:rPr lang="en-US" sz="2400" dirty="0"/>
              <a:t> </a:t>
            </a:r>
            <a:r>
              <a:rPr lang="en-US" sz="2400" dirty="0" err="1"/>
              <a:t>vụ</a:t>
            </a:r>
            <a:r>
              <a:rPr lang="en-US" sz="2400" dirty="0"/>
              <a:t> </a:t>
            </a:r>
            <a:r>
              <a:rPr lang="en-US" sz="2400" dirty="0" err="1"/>
              <a:t>xử</a:t>
            </a:r>
            <a:r>
              <a:rPr lang="en-US" sz="2400" dirty="0"/>
              <a:t> </a:t>
            </a:r>
            <a:r>
              <a:rPr lang="en-US" sz="2400" dirty="0" err="1"/>
              <a:t>lý</a:t>
            </a:r>
            <a:r>
              <a:rPr lang="en-US" sz="2400" dirty="0"/>
              <a:t> </a:t>
            </a:r>
            <a:r>
              <a:rPr lang="en-US" sz="2400" dirty="0" err="1"/>
              <a:t>liên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endParaRPr lang="en-US" sz="2400" dirty="0"/>
          </a:p>
          <a:p>
            <a:pPr>
              <a:lnSpc>
                <a:spcPct val="134000"/>
              </a:lnSpc>
              <a:spcBef>
                <a:spcPts val="0"/>
              </a:spcBef>
            </a:pPr>
            <a:r>
              <a:rPr lang="en-US" sz="2400" dirty="0"/>
              <a:t>VD: </a:t>
            </a:r>
            <a:r>
              <a:rPr lang="en-US" sz="2400" dirty="0" err="1"/>
              <a:t>tập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/>
              <a:t>nguyên</a:t>
            </a:r>
            <a:r>
              <a:rPr lang="en-US" sz="2400" dirty="0"/>
              <a:t> </a:t>
            </a:r>
            <a:r>
              <a:rPr lang="en-US" sz="2400" dirty="0" err="1"/>
              <a:t>với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phép</a:t>
            </a:r>
            <a:r>
              <a:rPr lang="en-US" sz="2400" dirty="0"/>
              <a:t> </a:t>
            </a:r>
            <a:r>
              <a:rPr lang="en-US" sz="2400" dirty="0" err="1"/>
              <a:t>toán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, </a:t>
            </a:r>
            <a:r>
              <a:rPr lang="en-US" sz="2400" dirty="0" err="1"/>
              <a:t>giao</a:t>
            </a:r>
            <a:r>
              <a:rPr lang="en-US" sz="2400" dirty="0"/>
              <a:t>, </a:t>
            </a:r>
            <a:r>
              <a:rPr lang="en-US" sz="2400" dirty="0" err="1"/>
              <a:t>hiệu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kiểu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</a:t>
            </a:r>
            <a:r>
              <a:rPr lang="en-US" sz="2400" dirty="0" err="1"/>
              <a:t>trừu</a:t>
            </a:r>
            <a:r>
              <a:rPr lang="en-US" sz="2400" dirty="0"/>
              <a:t> </a:t>
            </a:r>
            <a:r>
              <a:rPr lang="en-US" sz="2400" dirty="0" err="1"/>
              <a:t>tượng</a:t>
            </a:r>
            <a:r>
              <a:rPr lang="en-US" sz="2400" dirty="0"/>
              <a:t>.</a:t>
            </a:r>
          </a:p>
          <a:p>
            <a:pPr>
              <a:lnSpc>
                <a:spcPct val="134000"/>
              </a:lnSpc>
              <a:spcBef>
                <a:spcPts val="0"/>
              </a:spcBef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t>23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4876856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54074"/>
          </a:xfrm>
        </p:spPr>
        <p:txBody>
          <a:bodyPr>
            <a:normAutofit/>
          </a:bodyPr>
          <a:lstStyle/>
          <a:p>
            <a:r>
              <a:rPr lang="vi-VN" dirty="0"/>
              <a:t>Trừu tượng hóa dữ liệu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47800"/>
            <a:ext cx="7886700" cy="5045073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sz="2200" dirty="0"/>
              <a:t>VD: </a:t>
            </a:r>
            <a:r>
              <a:rPr lang="en-US" sz="2200" dirty="0" err="1"/>
              <a:t>mô</a:t>
            </a:r>
            <a:r>
              <a:rPr lang="en-US" sz="2200" dirty="0"/>
              <a:t> </a:t>
            </a:r>
            <a:r>
              <a:rPr lang="en-US" sz="2200" dirty="0" err="1"/>
              <a:t>tả</a:t>
            </a:r>
            <a:r>
              <a:rPr lang="en-US" sz="2200" dirty="0"/>
              <a:t> </a:t>
            </a:r>
            <a:r>
              <a:rPr lang="en-US" sz="2200" dirty="0" err="1"/>
              <a:t>kiểu</a:t>
            </a:r>
            <a:r>
              <a:rPr lang="en-US" sz="2200" dirty="0"/>
              <a:t> </a:t>
            </a:r>
            <a:r>
              <a:rPr lang="en-US" sz="2200" dirty="0" err="1"/>
              <a:t>dữ</a:t>
            </a:r>
            <a:r>
              <a:rPr lang="en-US" sz="2200" dirty="0"/>
              <a:t> </a:t>
            </a:r>
            <a:r>
              <a:rPr lang="en-US" sz="2200" dirty="0" err="1"/>
              <a:t>liệu</a:t>
            </a:r>
            <a:r>
              <a:rPr lang="en-US" sz="2200" dirty="0"/>
              <a:t> </a:t>
            </a:r>
            <a:r>
              <a:rPr lang="en-US" sz="2200" dirty="0" err="1"/>
              <a:t>trừu</a:t>
            </a:r>
            <a:r>
              <a:rPr lang="en-US" sz="2200" dirty="0"/>
              <a:t> </a:t>
            </a:r>
            <a:r>
              <a:rPr lang="en-US" sz="2200" dirty="0" err="1"/>
              <a:t>tượng</a:t>
            </a:r>
            <a:r>
              <a:rPr lang="en-US" sz="2200" dirty="0"/>
              <a:t> </a:t>
            </a:r>
            <a:r>
              <a:rPr lang="en-US" sz="2200" dirty="0" err="1"/>
              <a:t>về</a:t>
            </a:r>
            <a:r>
              <a:rPr lang="en-US" sz="2200" dirty="0"/>
              <a:t> </a:t>
            </a:r>
            <a:r>
              <a:rPr lang="en-US" sz="2200" dirty="0" err="1"/>
              <a:t>số</a:t>
            </a:r>
            <a:r>
              <a:rPr lang="en-US" sz="2200" dirty="0"/>
              <a:t> </a:t>
            </a:r>
            <a:r>
              <a:rPr lang="en-US" sz="2200" dirty="0" err="1"/>
              <a:t>hữu</a:t>
            </a:r>
            <a:r>
              <a:rPr lang="en-US" sz="2200" dirty="0"/>
              <a:t> </a:t>
            </a:r>
            <a:r>
              <a:rPr lang="en-US" sz="2200" dirty="0" err="1"/>
              <a:t>tỉ</a:t>
            </a:r>
            <a:r>
              <a:rPr lang="en-US" sz="2200" dirty="0"/>
              <a:t> a/b </a:t>
            </a:r>
            <a:r>
              <a:rPr lang="en-US" sz="2200" dirty="0" err="1"/>
              <a:t>với</a:t>
            </a:r>
            <a:r>
              <a:rPr lang="en-US" sz="2200" dirty="0"/>
              <a:t> </a:t>
            </a:r>
            <a:r>
              <a:rPr lang="en-US" sz="2200" dirty="0" err="1"/>
              <a:t>các</a:t>
            </a:r>
            <a:r>
              <a:rPr lang="en-US" sz="2200" dirty="0"/>
              <a:t> </a:t>
            </a:r>
            <a:r>
              <a:rPr lang="en-US" sz="2200" dirty="0" err="1"/>
              <a:t>tác</a:t>
            </a:r>
            <a:r>
              <a:rPr lang="en-US" sz="2200" dirty="0"/>
              <a:t> </a:t>
            </a:r>
            <a:r>
              <a:rPr lang="en-US" sz="2200" dirty="0" err="1"/>
              <a:t>vụ</a:t>
            </a:r>
            <a:r>
              <a:rPr lang="en-US" sz="2200" dirty="0"/>
              <a:t>: +,*, /</a:t>
            </a:r>
          </a:p>
          <a:p>
            <a:pPr lvl="1">
              <a:lnSpc>
                <a:spcPct val="120000"/>
              </a:lnSpc>
            </a:pPr>
            <a:r>
              <a:rPr lang="en-US" sz="1900" dirty="0" err="1"/>
              <a:t>Mô</a:t>
            </a:r>
            <a:r>
              <a:rPr lang="en-US" sz="1900" dirty="0"/>
              <a:t> </a:t>
            </a:r>
            <a:r>
              <a:rPr lang="en-US" sz="1900" dirty="0" err="1"/>
              <a:t>tả</a:t>
            </a:r>
            <a:r>
              <a:rPr lang="en-US" sz="1900" dirty="0"/>
              <a:t> </a:t>
            </a:r>
            <a:r>
              <a:rPr lang="en-US" sz="1900" dirty="0" err="1"/>
              <a:t>dữ</a:t>
            </a:r>
            <a:r>
              <a:rPr lang="en-US" sz="1900" dirty="0"/>
              <a:t> </a:t>
            </a:r>
            <a:r>
              <a:rPr lang="en-US" sz="1900" dirty="0" err="1"/>
              <a:t>liệu</a:t>
            </a:r>
            <a:endParaRPr lang="en-US" sz="1900" dirty="0"/>
          </a:p>
          <a:p>
            <a:pPr lvl="2">
              <a:lnSpc>
                <a:spcPct val="120000"/>
              </a:lnSpc>
            </a:pPr>
            <a:r>
              <a:rPr lang="en-US" sz="1900" dirty="0" err="1"/>
              <a:t>Tử</a:t>
            </a:r>
            <a:r>
              <a:rPr lang="en-US" sz="1900" dirty="0"/>
              <a:t> </a:t>
            </a:r>
            <a:r>
              <a:rPr lang="en-US" sz="1900" dirty="0" err="1"/>
              <a:t>số</a:t>
            </a:r>
            <a:endParaRPr lang="en-US" sz="1900" dirty="0"/>
          </a:p>
          <a:p>
            <a:pPr lvl="2">
              <a:lnSpc>
                <a:spcPct val="120000"/>
              </a:lnSpc>
            </a:pPr>
            <a:r>
              <a:rPr lang="en-US" sz="1900" dirty="0" err="1"/>
              <a:t>Mẫu</a:t>
            </a:r>
            <a:r>
              <a:rPr lang="en-US" sz="1900" dirty="0"/>
              <a:t> </a:t>
            </a:r>
            <a:r>
              <a:rPr lang="en-US" sz="1900" dirty="0" err="1"/>
              <a:t>số</a:t>
            </a:r>
            <a:r>
              <a:rPr lang="en-US" sz="1900" dirty="0"/>
              <a:t> (≠0)</a:t>
            </a:r>
          </a:p>
          <a:p>
            <a:pPr lvl="1">
              <a:lnSpc>
                <a:spcPct val="120000"/>
              </a:lnSpc>
            </a:pPr>
            <a:r>
              <a:rPr lang="en-US" sz="1900" dirty="0" err="1"/>
              <a:t>Mô</a:t>
            </a:r>
            <a:r>
              <a:rPr lang="en-US" sz="1900" dirty="0"/>
              <a:t> </a:t>
            </a:r>
            <a:r>
              <a:rPr lang="en-US" sz="1900" dirty="0" err="1"/>
              <a:t>tả</a:t>
            </a:r>
            <a:r>
              <a:rPr lang="en-US" sz="1900" dirty="0"/>
              <a:t> </a:t>
            </a:r>
            <a:r>
              <a:rPr lang="en-US" sz="1900" dirty="0" err="1"/>
              <a:t>tác</a:t>
            </a:r>
            <a:r>
              <a:rPr lang="en-US" sz="1900" dirty="0"/>
              <a:t> </a:t>
            </a:r>
            <a:r>
              <a:rPr lang="en-US" sz="1900" dirty="0" err="1"/>
              <a:t>vụ</a:t>
            </a:r>
            <a:endParaRPr lang="en-US" sz="1900" dirty="0"/>
          </a:p>
          <a:p>
            <a:pPr lvl="2">
              <a:lnSpc>
                <a:spcPct val="120000"/>
              </a:lnSpc>
              <a:buFont typeface="Symbol" pitchFamily="18" charset="2"/>
              <a:buNone/>
            </a:pPr>
            <a:r>
              <a:rPr lang="en-US" sz="1900" dirty="0" err="1"/>
              <a:t>Cộng</a:t>
            </a:r>
            <a:r>
              <a:rPr lang="en-US" sz="1900" dirty="0"/>
              <a:t>(</a:t>
            </a:r>
            <a:r>
              <a:rPr lang="en-US" sz="1900" dirty="0" err="1"/>
              <a:t>Số_Hữu_Tỉ</a:t>
            </a:r>
            <a:r>
              <a:rPr lang="en-US" sz="1900" dirty="0"/>
              <a:t> 1, </a:t>
            </a:r>
            <a:r>
              <a:rPr lang="en-US" sz="1900" dirty="0" err="1"/>
              <a:t>Số_Hữu_Tỉ</a:t>
            </a:r>
            <a:r>
              <a:rPr lang="en-US" sz="1900" dirty="0"/>
              <a:t> 2)</a:t>
            </a:r>
          </a:p>
          <a:p>
            <a:pPr lvl="2">
              <a:lnSpc>
                <a:spcPct val="120000"/>
              </a:lnSpc>
            </a:pPr>
            <a:r>
              <a:rPr lang="en-US" sz="1900" dirty="0" err="1"/>
              <a:t>Nhập</a:t>
            </a:r>
            <a:r>
              <a:rPr lang="en-US" sz="1900" dirty="0"/>
              <a:t>:</a:t>
            </a:r>
          </a:p>
          <a:p>
            <a:pPr lvl="3">
              <a:lnSpc>
                <a:spcPct val="120000"/>
              </a:lnSpc>
            </a:pPr>
            <a:r>
              <a:rPr lang="en-US" sz="1900" dirty="0"/>
              <a:t>a, b </a:t>
            </a:r>
            <a:r>
              <a:rPr lang="en-US" sz="1900" dirty="0" err="1"/>
              <a:t>là</a:t>
            </a:r>
            <a:r>
              <a:rPr lang="en-US" sz="1900" dirty="0"/>
              <a:t> </a:t>
            </a:r>
            <a:r>
              <a:rPr lang="en-US" sz="1900" dirty="0" err="1"/>
              <a:t>tử</a:t>
            </a:r>
            <a:r>
              <a:rPr lang="en-US" sz="1900" dirty="0"/>
              <a:t> </a:t>
            </a:r>
            <a:r>
              <a:rPr lang="en-US" sz="1900" dirty="0" err="1"/>
              <a:t>số</a:t>
            </a:r>
            <a:r>
              <a:rPr lang="en-US" sz="1900" dirty="0"/>
              <a:t> </a:t>
            </a:r>
            <a:r>
              <a:rPr lang="en-US" sz="1900" dirty="0" err="1"/>
              <a:t>và</a:t>
            </a:r>
            <a:r>
              <a:rPr lang="en-US" sz="1900" dirty="0"/>
              <a:t> </a:t>
            </a:r>
            <a:r>
              <a:rPr lang="en-US" sz="1900" dirty="0" err="1"/>
              <a:t>mẫu</a:t>
            </a:r>
            <a:r>
              <a:rPr lang="en-US" sz="1900" dirty="0"/>
              <a:t> </a:t>
            </a:r>
            <a:r>
              <a:rPr lang="en-US" sz="1900" dirty="0" err="1"/>
              <a:t>số</a:t>
            </a:r>
            <a:r>
              <a:rPr lang="en-US" sz="1900" dirty="0"/>
              <a:t> </a:t>
            </a:r>
            <a:r>
              <a:rPr lang="en-US" sz="1900" dirty="0" err="1"/>
              <a:t>của</a:t>
            </a:r>
            <a:r>
              <a:rPr lang="en-US" sz="1900" dirty="0"/>
              <a:t> </a:t>
            </a:r>
            <a:r>
              <a:rPr lang="en-US" sz="1900" dirty="0" err="1"/>
              <a:t>Số_Hữu_Tỉ</a:t>
            </a:r>
            <a:r>
              <a:rPr lang="en-US" sz="1900" dirty="0"/>
              <a:t> 1</a:t>
            </a:r>
          </a:p>
          <a:p>
            <a:pPr lvl="3">
              <a:lnSpc>
                <a:spcPct val="120000"/>
              </a:lnSpc>
            </a:pPr>
            <a:r>
              <a:rPr lang="en-US" sz="1900" dirty="0"/>
              <a:t>c, d </a:t>
            </a:r>
            <a:r>
              <a:rPr lang="en-US" sz="1900" dirty="0" err="1"/>
              <a:t>là</a:t>
            </a:r>
            <a:r>
              <a:rPr lang="en-US" sz="1900" dirty="0"/>
              <a:t> </a:t>
            </a:r>
            <a:r>
              <a:rPr lang="en-US" sz="1900" dirty="0" err="1"/>
              <a:t>tử</a:t>
            </a:r>
            <a:r>
              <a:rPr lang="en-US" sz="1900" dirty="0"/>
              <a:t> </a:t>
            </a:r>
            <a:r>
              <a:rPr lang="en-US" sz="1900" dirty="0" err="1"/>
              <a:t>số</a:t>
            </a:r>
            <a:r>
              <a:rPr lang="en-US" sz="1900" dirty="0"/>
              <a:t> </a:t>
            </a:r>
            <a:r>
              <a:rPr lang="en-US" sz="1900" dirty="0" err="1"/>
              <a:t>và</a:t>
            </a:r>
            <a:r>
              <a:rPr lang="en-US" sz="1900" dirty="0"/>
              <a:t> </a:t>
            </a:r>
            <a:r>
              <a:rPr lang="en-US" sz="1900" dirty="0" err="1"/>
              <a:t>mẫu</a:t>
            </a:r>
            <a:r>
              <a:rPr lang="en-US" sz="1900" dirty="0"/>
              <a:t> </a:t>
            </a:r>
            <a:r>
              <a:rPr lang="en-US" sz="1900" dirty="0" err="1"/>
              <a:t>số</a:t>
            </a:r>
            <a:r>
              <a:rPr lang="en-US" sz="1900" dirty="0"/>
              <a:t> </a:t>
            </a:r>
            <a:r>
              <a:rPr lang="en-US" sz="1900" dirty="0" err="1"/>
              <a:t>của</a:t>
            </a:r>
            <a:r>
              <a:rPr lang="en-US" sz="1900" dirty="0"/>
              <a:t> </a:t>
            </a:r>
            <a:r>
              <a:rPr lang="en-US" sz="1900" dirty="0" err="1"/>
              <a:t>Số_Hữu_Tỉ</a:t>
            </a:r>
            <a:r>
              <a:rPr lang="en-US" sz="1900" dirty="0"/>
              <a:t> 2</a:t>
            </a:r>
          </a:p>
          <a:p>
            <a:pPr lvl="2">
              <a:lnSpc>
                <a:spcPct val="120000"/>
              </a:lnSpc>
            </a:pPr>
            <a:r>
              <a:rPr lang="en-US" sz="1900" dirty="0" err="1"/>
              <a:t>Xuất</a:t>
            </a:r>
            <a:r>
              <a:rPr lang="en-US" sz="1900" dirty="0"/>
              <a:t>:</a:t>
            </a:r>
          </a:p>
          <a:p>
            <a:pPr lvl="3">
              <a:lnSpc>
                <a:spcPct val="120000"/>
              </a:lnSpc>
            </a:pPr>
            <a:r>
              <a:rPr lang="en-US" sz="1900" dirty="0" err="1"/>
              <a:t>ad+bc</a:t>
            </a:r>
            <a:r>
              <a:rPr lang="en-US" sz="1900" dirty="0"/>
              <a:t> </a:t>
            </a:r>
            <a:r>
              <a:rPr lang="en-US" sz="1900" dirty="0" err="1"/>
              <a:t>là</a:t>
            </a:r>
            <a:r>
              <a:rPr lang="en-US" sz="1900" dirty="0"/>
              <a:t> </a:t>
            </a:r>
            <a:r>
              <a:rPr lang="en-US" sz="1900" dirty="0" err="1"/>
              <a:t>tử</a:t>
            </a:r>
            <a:r>
              <a:rPr lang="en-US" sz="1900" dirty="0"/>
              <a:t> </a:t>
            </a:r>
            <a:r>
              <a:rPr lang="en-US" sz="1900" dirty="0" err="1"/>
              <a:t>số</a:t>
            </a:r>
            <a:r>
              <a:rPr lang="en-US" sz="1900" dirty="0"/>
              <a:t> </a:t>
            </a:r>
            <a:r>
              <a:rPr lang="en-US" sz="1900" dirty="0" err="1"/>
              <a:t>của</a:t>
            </a:r>
            <a:r>
              <a:rPr lang="en-US" sz="1900" dirty="0"/>
              <a:t> </a:t>
            </a:r>
            <a:r>
              <a:rPr lang="en-US" sz="1900" dirty="0" err="1"/>
              <a:t>số</a:t>
            </a:r>
            <a:r>
              <a:rPr lang="en-US" sz="1900" dirty="0"/>
              <a:t> </a:t>
            </a:r>
            <a:r>
              <a:rPr lang="en-US" sz="1900" dirty="0" err="1"/>
              <a:t>hữu</a:t>
            </a:r>
            <a:r>
              <a:rPr lang="en-US" sz="1900" dirty="0"/>
              <a:t> </a:t>
            </a:r>
            <a:r>
              <a:rPr lang="en-US" sz="1900" dirty="0" err="1"/>
              <a:t>tỉ</a:t>
            </a:r>
            <a:r>
              <a:rPr lang="en-US" sz="1900" dirty="0"/>
              <a:t> </a:t>
            </a:r>
            <a:r>
              <a:rPr lang="en-US" sz="1900" dirty="0" err="1"/>
              <a:t>kết</a:t>
            </a:r>
            <a:r>
              <a:rPr lang="en-US" sz="1900" dirty="0"/>
              <a:t> </a:t>
            </a:r>
            <a:r>
              <a:rPr lang="en-US" sz="1900" dirty="0" err="1"/>
              <a:t>quả</a:t>
            </a:r>
            <a:endParaRPr lang="en-US" sz="1900" dirty="0"/>
          </a:p>
          <a:p>
            <a:pPr lvl="3">
              <a:lnSpc>
                <a:spcPct val="120000"/>
              </a:lnSpc>
            </a:pPr>
            <a:r>
              <a:rPr lang="en-US" sz="1900" dirty="0" err="1"/>
              <a:t>bd</a:t>
            </a:r>
            <a:r>
              <a:rPr lang="en-US" sz="1900" dirty="0"/>
              <a:t> </a:t>
            </a:r>
            <a:r>
              <a:rPr lang="en-US" sz="1900" dirty="0" err="1"/>
              <a:t>là</a:t>
            </a:r>
            <a:r>
              <a:rPr lang="en-US" sz="1900" dirty="0"/>
              <a:t> </a:t>
            </a:r>
            <a:r>
              <a:rPr lang="en-US" sz="1900" dirty="0" err="1"/>
              <a:t>mẫu</a:t>
            </a:r>
            <a:r>
              <a:rPr lang="en-US" sz="1900" dirty="0"/>
              <a:t> </a:t>
            </a:r>
            <a:r>
              <a:rPr lang="en-US" sz="1900" dirty="0" err="1"/>
              <a:t>số</a:t>
            </a:r>
            <a:r>
              <a:rPr lang="en-US" sz="1900" dirty="0"/>
              <a:t> </a:t>
            </a:r>
            <a:r>
              <a:rPr lang="en-US" sz="1900" dirty="0" err="1"/>
              <a:t>của</a:t>
            </a:r>
            <a:r>
              <a:rPr lang="en-US" sz="1900" dirty="0"/>
              <a:t> </a:t>
            </a:r>
            <a:r>
              <a:rPr lang="en-US" sz="1900" dirty="0" err="1"/>
              <a:t>số</a:t>
            </a:r>
            <a:r>
              <a:rPr lang="en-US" sz="1900" dirty="0"/>
              <a:t> </a:t>
            </a:r>
            <a:r>
              <a:rPr lang="en-US" sz="1900" dirty="0" err="1"/>
              <a:t>hữu</a:t>
            </a:r>
            <a:r>
              <a:rPr lang="en-US" sz="1900" dirty="0"/>
              <a:t> </a:t>
            </a:r>
            <a:r>
              <a:rPr lang="en-US" sz="1900" dirty="0" err="1"/>
              <a:t>tỉ</a:t>
            </a:r>
            <a:r>
              <a:rPr lang="en-US" sz="1900" dirty="0"/>
              <a:t> </a:t>
            </a:r>
            <a:r>
              <a:rPr lang="en-US" sz="1900" dirty="0" err="1"/>
              <a:t>kết</a:t>
            </a:r>
            <a:r>
              <a:rPr lang="en-US" sz="1900" dirty="0"/>
              <a:t> </a:t>
            </a:r>
            <a:r>
              <a:rPr lang="en-US" sz="1900" dirty="0" err="1"/>
              <a:t>quả</a:t>
            </a:r>
            <a:endParaRPr lang="en-US" sz="1900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t>24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8289326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010400" cy="792162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47800"/>
            <a:ext cx="7315200" cy="5026025"/>
          </a:xfrm>
        </p:spPr>
        <p:txBody>
          <a:bodyPr>
            <a:noAutofit/>
          </a:bodyPr>
          <a:lstStyle/>
          <a:p>
            <a:pPr marL="114300" lvl="1" indent="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400" dirty="0"/>
              <a:t>T = &lt;V, O&gt;</a:t>
            </a:r>
          </a:p>
          <a:p>
            <a:pPr marL="114300" lvl="1" indent="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400" dirty="0"/>
              <a:t>V = {</a:t>
            </a:r>
            <a:r>
              <a:rPr lang="en-US" sz="2400" dirty="0" err="1"/>
              <a:t>Tập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r>
              <a:rPr lang="en-US" sz="2400" dirty="0"/>
              <a:t>}</a:t>
            </a:r>
          </a:p>
          <a:p>
            <a:pPr marL="114300" lvl="1" indent="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400" dirty="0"/>
              <a:t>O = {</a:t>
            </a:r>
            <a:r>
              <a:rPr lang="en-US" sz="2400" dirty="0" err="1"/>
              <a:t>Tập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thao</a:t>
            </a:r>
            <a:r>
              <a:rPr lang="en-US" sz="2400" dirty="0"/>
              <a:t> </a:t>
            </a:r>
            <a:r>
              <a:rPr lang="en-US" sz="2400" dirty="0" err="1"/>
              <a:t>tác</a:t>
            </a:r>
            <a:r>
              <a:rPr lang="en-US" sz="2400" dirty="0"/>
              <a:t> </a:t>
            </a:r>
            <a:r>
              <a:rPr lang="en-US" sz="2400" dirty="0" err="1"/>
              <a:t>xử</a:t>
            </a:r>
            <a:r>
              <a:rPr lang="en-US" sz="2400" dirty="0"/>
              <a:t> </a:t>
            </a:r>
            <a:r>
              <a:rPr lang="en-US" sz="2400" dirty="0" err="1"/>
              <a:t>lý</a:t>
            </a:r>
            <a:r>
              <a:rPr lang="en-US" sz="2400" dirty="0"/>
              <a:t>}</a:t>
            </a:r>
          </a:p>
          <a:p>
            <a:pPr marL="114300" lvl="1" indent="0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sz="2400" i="1" dirty="0"/>
          </a:p>
          <a:p>
            <a:pPr marL="114300" lvl="1" indent="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400" i="1" dirty="0" err="1"/>
              <a:t>Ví</a:t>
            </a:r>
            <a:r>
              <a:rPr lang="en-US" sz="2400" i="1" dirty="0"/>
              <a:t> </a:t>
            </a:r>
            <a:r>
              <a:rPr lang="en-US" sz="2400" i="1" dirty="0" err="1"/>
              <a:t>dụ</a:t>
            </a:r>
            <a:r>
              <a:rPr lang="en-US" sz="2400" i="1" dirty="0"/>
              <a:t>: </a:t>
            </a:r>
            <a:r>
              <a:rPr lang="en-US" sz="2400" i="1" dirty="0" err="1"/>
              <a:t>Kiểu</a:t>
            </a:r>
            <a:r>
              <a:rPr lang="en-US" sz="2400" i="1" dirty="0"/>
              <a:t> </a:t>
            </a:r>
            <a:r>
              <a:rPr lang="en-US" sz="2400" i="1" dirty="0" err="1"/>
              <a:t>dữ</a:t>
            </a:r>
            <a:r>
              <a:rPr lang="en-US" sz="2400" i="1" dirty="0"/>
              <a:t> </a:t>
            </a:r>
            <a:r>
              <a:rPr lang="en-US" sz="2400" i="1" dirty="0" err="1"/>
              <a:t>liệu</a:t>
            </a:r>
            <a:r>
              <a:rPr lang="en-US" sz="2400" i="1" dirty="0"/>
              <a:t> </a:t>
            </a:r>
            <a:r>
              <a:rPr lang="en-US" sz="2400" i="1" dirty="0" err="1"/>
              <a:t>số</a:t>
            </a:r>
            <a:r>
              <a:rPr lang="en-US" sz="2400" i="1" dirty="0"/>
              <a:t> </a:t>
            </a:r>
            <a:r>
              <a:rPr lang="en-US" sz="2400" i="1" dirty="0" err="1"/>
              <a:t>nguyên</a:t>
            </a:r>
            <a:r>
              <a:rPr lang="en-US" sz="2400" i="1" dirty="0"/>
              <a:t> </a:t>
            </a:r>
            <a:r>
              <a:rPr lang="en-US" sz="2400" b="1" i="1" dirty="0" err="1">
                <a:solidFill>
                  <a:srgbClr val="FF0000"/>
                </a:solidFill>
              </a:rPr>
              <a:t>int</a:t>
            </a:r>
            <a:r>
              <a:rPr lang="en-US" sz="2400" i="1" dirty="0"/>
              <a:t> </a:t>
            </a:r>
            <a:r>
              <a:rPr lang="en-US" sz="2400" i="1" dirty="0" err="1"/>
              <a:t>trong</a:t>
            </a:r>
            <a:r>
              <a:rPr lang="en-US" sz="2400" i="1" dirty="0"/>
              <a:t> </a:t>
            </a:r>
            <a:r>
              <a:rPr lang="en-US" sz="2400" i="1" dirty="0" err="1"/>
              <a:t>ngôn</a:t>
            </a:r>
            <a:r>
              <a:rPr lang="en-US" sz="2400" i="1" dirty="0"/>
              <a:t> </a:t>
            </a:r>
            <a:r>
              <a:rPr lang="en-US" sz="2400" i="1" dirty="0" err="1"/>
              <a:t>ngữ</a:t>
            </a:r>
            <a:r>
              <a:rPr lang="en-US" sz="2400" i="1" dirty="0"/>
              <a:t> C</a:t>
            </a:r>
            <a:endParaRPr lang="en-US" sz="2400" dirty="0"/>
          </a:p>
          <a:p>
            <a:pPr marL="640080" lvl="1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		</a:t>
            </a:r>
            <a:r>
              <a:rPr lang="en-US" sz="2400" dirty="0">
                <a:solidFill>
                  <a:srgbClr val="FF0000"/>
                </a:solidFill>
              </a:rPr>
              <a:t>T = </a:t>
            </a:r>
            <a:r>
              <a:rPr lang="en-US" sz="2400" dirty="0" err="1">
                <a:solidFill>
                  <a:srgbClr val="FF0000"/>
                </a:solidFill>
              </a:rPr>
              <a:t>int</a:t>
            </a:r>
            <a:endParaRPr lang="en-US" sz="2400" dirty="0">
              <a:solidFill>
                <a:srgbClr val="FF0000"/>
              </a:solidFill>
            </a:endParaRPr>
          </a:p>
          <a:p>
            <a:pPr marL="640080" lvl="1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400" dirty="0">
                <a:solidFill>
                  <a:srgbClr val="FF0000"/>
                </a:solidFill>
              </a:rPr>
              <a:t>		V = {-32768, 32767}</a:t>
            </a:r>
          </a:p>
          <a:p>
            <a:pPr marL="640080" lvl="1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400" dirty="0">
                <a:solidFill>
                  <a:srgbClr val="FF0000"/>
                </a:solidFill>
              </a:rPr>
              <a:t>		O = {+, -, *, /, %}</a:t>
            </a: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A9C8558-BBA6-488B-8BCB-65718145D180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1189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274638"/>
            <a:ext cx="7086600" cy="792162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7800"/>
            <a:ext cx="7772400" cy="5026025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thuộc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kiểu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</a:t>
            </a:r>
            <a:r>
              <a:rPr lang="en-US" sz="2400" dirty="0" err="1"/>
              <a:t>gồm</a:t>
            </a:r>
            <a:r>
              <a:rPr lang="en-US" sz="2400" dirty="0"/>
              <a:t>:</a:t>
            </a:r>
          </a:p>
          <a:p>
            <a:pPr marL="822960" lvl="1" indent="-457200" eaLnBrk="1" fontAlgn="auto" hangingPunct="1">
              <a:spcAft>
                <a:spcPts val="0"/>
              </a:spcAft>
              <a:defRPr/>
            </a:pPr>
            <a:r>
              <a:rPr lang="en-US" sz="2400" dirty="0" err="1"/>
              <a:t>Tên</a:t>
            </a:r>
            <a:endParaRPr lang="en-US" sz="2400" dirty="0"/>
          </a:p>
          <a:p>
            <a:pPr marL="822960" lvl="1" indent="-457200" eaLnBrk="1" fontAlgn="auto" hangingPunct="1">
              <a:spcAft>
                <a:spcPts val="0"/>
              </a:spcAft>
              <a:defRPr/>
            </a:pPr>
            <a:r>
              <a:rPr lang="en-US" sz="2400" dirty="0" err="1"/>
              <a:t>Miền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endParaRPr lang="en-US" sz="2400" dirty="0"/>
          </a:p>
          <a:p>
            <a:pPr marL="822960" lvl="1" indent="-457200" eaLnBrk="1" fontAlgn="auto" hangingPunct="1">
              <a:spcAft>
                <a:spcPts val="0"/>
              </a:spcAft>
              <a:defRPr/>
            </a:pPr>
            <a:r>
              <a:rPr lang="en-US" sz="2400" dirty="0" err="1"/>
              <a:t>Kích</a:t>
            </a:r>
            <a:r>
              <a:rPr lang="en-US" sz="2400" dirty="0"/>
              <a:t> </a:t>
            </a:r>
            <a:r>
              <a:rPr lang="en-US" sz="2400" dirty="0" err="1"/>
              <a:t>thước</a:t>
            </a:r>
            <a:r>
              <a:rPr lang="en-US" sz="2400" dirty="0"/>
              <a:t> </a:t>
            </a:r>
            <a:r>
              <a:rPr lang="en-US" sz="2400" dirty="0" err="1"/>
              <a:t>lưu</a:t>
            </a:r>
            <a:r>
              <a:rPr lang="en-US" sz="2400" dirty="0"/>
              <a:t> </a:t>
            </a:r>
            <a:r>
              <a:rPr lang="en-US" sz="2400" dirty="0" err="1"/>
              <a:t>trữ</a:t>
            </a:r>
            <a:endParaRPr lang="en-US" sz="2400" dirty="0"/>
          </a:p>
          <a:p>
            <a:pPr marL="822960" lvl="1" indent="-457200" eaLnBrk="1" fontAlgn="auto" hangingPunct="1">
              <a:spcAft>
                <a:spcPts val="0"/>
              </a:spcAft>
              <a:defRPr/>
            </a:pPr>
            <a:r>
              <a:rPr lang="en-US" sz="2400" dirty="0" err="1"/>
              <a:t>Tập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thao</a:t>
            </a:r>
            <a:r>
              <a:rPr lang="en-US" sz="2400" dirty="0"/>
              <a:t> </a:t>
            </a:r>
            <a:r>
              <a:rPr lang="en-US" sz="2400" dirty="0" err="1"/>
              <a:t>tác</a:t>
            </a:r>
            <a:r>
              <a:rPr lang="en-US" sz="2400" dirty="0"/>
              <a:t> </a:t>
            </a:r>
            <a:r>
              <a:rPr lang="en-US" sz="2400" dirty="0" err="1"/>
              <a:t>tác</a:t>
            </a:r>
            <a:r>
              <a:rPr lang="en-US" sz="2400" dirty="0"/>
              <a:t> </a:t>
            </a:r>
            <a:r>
              <a:rPr lang="en-US" sz="2400" dirty="0" err="1"/>
              <a:t>động</a:t>
            </a:r>
            <a:r>
              <a:rPr lang="en-US" sz="2400" dirty="0"/>
              <a:t> </a:t>
            </a:r>
            <a:r>
              <a:rPr lang="en-US" sz="2400" dirty="0" err="1"/>
              <a:t>lên</a:t>
            </a:r>
            <a:r>
              <a:rPr lang="en-US" sz="2400" dirty="0"/>
              <a:t> </a:t>
            </a:r>
            <a:r>
              <a:rPr lang="en-US" sz="2400" dirty="0" err="1"/>
              <a:t>kiểu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</a:t>
            </a:r>
            <a:r>
              <a:rPr lang="en-US" sz="2400" dirty="0" err="1"/>
              <a:t>đó</a:t>
            </a:r>
            <a:endParaRPr lang="en-US" sz="2400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loại</a:t>
            </a:r>
            <a:r>
              <a:rPr lang="en-US" sz="2400" dirty="0"/>
              <a:t> </a:t>
            </a:r>
            <a:r>
              <a:rPr lang="en-US" sz="2400" dirty="0" err="1"/>
              <a:t>kiểu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endParaRPr lang="en-US" sz="2400" dirty="0"/>
          </a:p>
          <a:p>
            <a:pPr marL="822960" lvl="1" indent="-457200" eaLnBrk="1" fontAlgn="auto" hangingPunct="1">
              <a:spcAft>
                <a:spcPts val="0"/>
              </a:spcAft>
              <a:defRPr/>
            </a:pPr>
            <a:r>
              <a:rPr lang="en-US" sz="2400" dirty="0" err="1"/>
              <a:t>Kiểu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</a:t>
            </a:r>
            <a:r>
              <a:rPr lang="en-US" sz="2400" dirty="0" err="1"/>
              <a:t>cơ</a:t>
            </a:r>
            <a:r>
              <a:rPr lang="en-US" sz="2400" dirty="0"/>
              <a:t> </a:t>
            </a:r>
            <a:r>
              <a:rPr lang="en-US" sz="2400" dirty="0" err="1"/>
              <a:t>bản</a:t>
            </a:r>
            <a:r>
              <a:rPr lang="en-US" sz="2400" dirty="0"/>
              <a:t>: </a:t>
            </a:r>
            <a:r>
              <a:rPr lang="en-US" sz="2400" dirty="0" err="1"/>
              <a:t>Cơ</a:t>
            </a:r>
            <a:r>
              <a:rPr lang="en-US" sz="2400" dirty="0"/>
              <a:t> </a:t>
            </a:r>
            <a:r>
              <a:rPr lang="en-US" sz="2400" dirty="0" err="1"/>
              <a:t>sở</a:t>
            </a:r>
            <a:r>
              <a:rPr lang="en-US" sz="2400" dirty="0"/>
              <a:t>, </a:t>
            </a:r>
            <a:r>
              <a:rPr lang="en-US" sz="2400" dirty="0" err="1"/>
              <a:t>mảng</a:t>
            </a:r>
            <a:r>
              <a:rPr lang="en-US" sz="2400" dirty="0"/>
              <a:t>, </a:t>
            </a:r>
            <a:r>
              <a:rPr lang="en-US" sz="2400" dirty="0" err="1"/>
              <a:t>cấu</a:t>
            </a:r>
            <a:r>
              <a:rPr lang="en-US" sz="2400" dirty="0"/>
              <a:t> </a:t>
            </a:r>
            <a:r>
              <a:rPr lang="en-US" sz="2400" dirty="0" err="1"/>
              <a:t>trúc</a:t>
            </a:r>
            <a:r>
              <a:rPr lang="en-US" sz="2400" dirty="0"/>
              <a:t> </a:t>
            </a:r>
            <a:r>
              <a:rPr lang="en-US" sz="2400" dirty="0" err="1"/>
              <a:t>cơ</a:t>
            </a:r>
            <a:r>
              <a:rPr lang="en-US" sz="2400" dirty="0"/>
              <a:t> </a:t>
            </a:r>
            <a:r>
              <a:rPr lang="en-US" sz="2400" dirty="0" err="1"/>
              <a:t>bản</a:t>
            </a:r>
            <a:endParaRPr lang="en-US" sz="2400" dirty="0"/>
          </a:p>
          <a:p>
            <a:pPr marL="822960" lvl="1" indent="-457200" algn="just" eaLnBrk="1" fontAlgn="auto" hangingPunct="1">
              <a:spcAft>
                <a:spcPts val="0"/>
              </a:spcAft>
              <a:defRPr/>
            </a:pPr>
            <a:r>
              <a:rPr lang="en-US" sz="2400" dirty="0" err="1"/>
              <a:t>Kiểu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cấu</a:t>
            </a:r>
            <a:r>
              <a:rPr lang="en-US" sz="2400" dirty="0"/>
              <a:t> </a:t>
            </a:r>
            <a:r>
              <a:rPr lang="en-US" sz="2400" dirty="0" err="1"/>
              <a:t>trúc</a:t>
            </a:r>
            <a:r>
              <a:rPr lang="en-US" sz="2400" dirty="0"/>
              <a:t> </a:t>
            </a:r>
            <a:r>
              <a:rPr lang="en-US" sz="2400" dirty="0" err="1"/>
              <a:t>hướng</a:t>
            </a:r>
            <a:r>
              <a:rPr lang="en-US" sz="2400" dirty="0"/>
              <a:t> </a:t>
            </a:r>
            <a:r>
              <a:rPr lang="en-US" sz="2400" dirty="0" err="1"/>
              <a:t>giải</a:t>
            </a:r>
            <a:r>
              <a:rPr lang="en-US" sz="2400" dirty="0"/>
              <a:t> </a:t>
            </a:r>
            <a:r>
              <a:rPr lang="en-US" sz="2400" dirty="0" err="1"/>
              <a:t>quyết</a:t>
            </a:r>
            <a:r>
              <a:rPr lang="en-US" sz="2400" dirty="0"/>
              <a:t> </a:t>
            </a:r>
            <a:r>
              <a:rPr lang="en-US" sz="2400" dirty="0" err="1"/>
              <a:t>vấn</a:t>
            </a:r>
            <a:r>
              <a:rPr lang="en-US" sz="2400" dirty="0"/>
              <a:t> </a:t>
            </a:r>
            <a:r>
              <a:rPr lang="en-US" sz="2400" dirty="0" err="1"/>
              <a:t>đề</a:t>
            </a:r>
            <a:r>
              <a:rPr lang="en-US" sz="2400" dirty="0"/>
              <a:t>: </a:t>
            </a:r>
            <a:r>
              <a:rPr lang="en-US" sz="2400" dirty="0" err="1"/>
              <a:t>Danh</a:t>
            </a:r>
            <a:r>
              <a:rPr lang="en-US" sz="2400" dirty="0"/>
              <a:t> </a:t>
            </a:r>
            <a:r>
              <a:rPr lang="en-US" sz="2400" dirty="0" err="1"/>
              <a:t>sách</a:t>
            </a:r>
            <a:r>
              <a:rPr lang="en-US" sz="2400" dirty="0"/>
              <a:t> </a:t>
            </a:r>
            <a:r>
              <a:rPr lang="en-US" sz="2400" dirty="0" err="1"/>
              <a:t>liên</a:t>
            </a:r>
            <a:r>
              <a:rPr lang="en-US" sz="2400" dirty="0"/>
              <a:t> </a:t>
            </a:r>
            <a:r>
              <a:rPr lang="en-US" sz="2400" dirty="0" err="1"/>
              <a:t>kết</a:t>
            </a:r>
            <a:r>
              <a:rPr lang="en-US" sz="2400" dirty="0"/>
              <a:t>, </a:t>
            </a:r>
            <a:r>
              <a:rPr lang="en-US" sz="2400" dirty="0" err="1"/>
              <a:t>hàng</a:t>
            </a:r>
            <a:r>
              <a:rPr lang="en-US" sz="2400" dirty="0"/>
              <a:t> </a:t>
            </a:r>
            <a:r>
              <a:rPr lang="en-US" sz="2400" dirty="0" err="1"/>
              <a:t>đợi</a:t>
            </a:r>
            <a:r>
              <a:rPr lang="en-US" sz="2400" dirty="0"/>
              <a:t>, </a:t>
            </a:r>
            <a:r>
              <a:rPr lang="en-US" sz="2400" dirty="0" err="1"/>
              <a:t>ngăn</a:t>
            </a:r>
            <a:r>
              <a:rPr lang="en-US" sz="2400" dirty="0"/>
              <a:t> </a:t>
            </a:r>
            <a:r>
              <a:rPr lang="en-US" sz="2400" dirty="0" err="1"/>
              <a:t>xếp</a:t>
            </a:r>
            <a:r>
              <a:rPr lang="en-US" sz="2400" dirty="0"/>
              <a:t>, </a:t>
            </a:r>
            <a:r>
              <a:rPr lang="en-US" sz="2400" dirty="0" err="1"/>
              <a:t>cây</a:t>
            </a:r>
            <a:r>
              <a:rPr lang="en-US" sz="2400" dirty="0"/>
              <a:t>, </a:t>
            </a:r>
            <a:r>
              <a:rPr lang="en-US" sz="2400" dirty="0" err="1"/>
              <a:t>bảng</a:t>
            </a:r>
            <a:r>
              <a:rPr lang="en-US" sz="2400" dirty="0"/>
              <a:t> </a:t>
            </a:r>
            <a:r>
              <a:rPr lang="en-US" sz="2400" dirty="0" err="1"/>
              <a:t>băm</a:t>
            </a:r>
            <a:r>
              <a:rPr lang="en-US" sz="2400" dirty="0"/>
              <a:t>, …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43B6616-7EF9-4AA9-A019-1B7A65CE6915}" type="slidenum">
              <a:rPr lang="en-US" smtClean="0">
                <a:solidFill>
                  <a:schemeClr val="tx1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26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24751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7620000" cy="792162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KDL</a:t>
            </a:r>
            <a:endParaRPr lang="en-US" b="1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228600" y="1219200"/>
          <a:ext cx="8763000" cy="5394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4976">
                <a:tc>
                  <a:txBody>
                    <a:bodyPr/>
                    <a:lstStyle/>
                    <a:p>
                      <a:pPr algn="ctr"/>
                      <a:r>
                        <a:rPr kumimoji="0" lang="en-US" sz="2800" b="1" u="sng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Tĩnh</a:t>
                      </a:r>
                      <a:endParaRPr kumimoji="0" lang="en-US" sz="2800" b="1" kern="1200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buFont typeface="Arial" pitchFamily="34" charset="0"/>
                        <a:buChar char="•"/>
                      </a:pPr>
                      <a:r>
                        <a:rPr kumimoji="0" lang="en-US" sz="2800" b="0" u="none" strike="noStrike" kern="1200" baseline="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Được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định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nghĩa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ở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thời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điểm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biên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dịch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algn="just">
                        <a:buFont typeface="Arial" pitchFamily="34" charset="0"/>
                        <a:buChar char="•"/>
                      </a:pPr>
                      <a:endParaRPr kumimoji="0" lang="en-US" sz="2800" b="0" kern="1200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buFont typeface="Arial" pitchFamily="34" charset="0"/>
                        <a:buChar char="•"/>
                      </a:pP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Được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cấp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phát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ở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thời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điểm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liên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kết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algn="just">
                        <a:buFont typeface="Arial" pitchFamily="34" charset="0"/>
                        <a:buChar char="•"/>
                      </a:pPr>
                      <a:r>
                        <a:rPr kumimoji="0" lang="en-US" sz="2800" b="0" kern="1200" baseline="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thể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giá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trị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ban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đầu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tùy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theo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từng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ngôn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ngữ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lập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trình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algn="just">
                        <a:buFont typeface="Arial" pitchFamily="34" charset="0"/>
                        <a:buChar char="•"/>
                      </a:pPr>
                      <a:r>
                        <a:rPr kumimoji="0" lang="en-US" sz="2800" b="0" kern="1200" baseline="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Tồn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tại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đến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khi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kết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thúc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chương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trình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en-US" sz="2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800" b="1" u="sng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Động</a:t>
                      </a:r>
                      <a:endParaRPr kumimoji="0" lang="en-US" sz="2800" b="1" kern="1200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buFont typeface="Arial" pitchFamily="34" charset="0"/>
                        <a:buChar char="•"/>
                      </a:pPr>
                      <a:r>
                        <a:rPr kumimoji="0" lang="en-US" sz="2800" b="0" u="none" strike="noStrike" kern="1200" baseline="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Được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gắn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kết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với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một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con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trỏ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i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sz="2800" b="0" i="1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tại</a:t>
                      </a:r>
                      <a:r>
                        <a:rPr kumimoji="0" lang="en-US" sz="2800" b="0" i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i="1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thời</a:t>
                      </a:r>
                      <a:r>
                        <a:rPr kumimoji="0" lang="en-US" sz="2800" b="0" i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i="1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điểm</a:t>
                      </a:r>
                      <a:r>
                        <a:rPr kumimoji="0" lang="en-US" sz="2800" b="0" i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i="1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biên</a:t>
                      </a:r>
                      <a:r>
                        <a:rPr kumimoji="0" lang="en-US" sz="2800" b="0" i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i="1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dịch</a:t>
                      </a:r>
                      <a:r>
                        <a:rPr kumimoji="0" lang="en-US" sz="2800" b="0" i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i="1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chưa</a:t>
                      </a:r>
                      <a:r>
                        <a:rPr kumimoji="0" lang="en-US" sz="2800" b="0" i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i="1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kumimoji="0" lang="en-US" sz="2800" b="0" i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).</a:t>
                      </a:r>
                    </a:p>
                    <a:p>
                      <a:pPr algn="just">
                        <a:buFont typeface="Arial" pitchFamily="34" charset="0"/>
                        <a:buChar char="•"/>
                      </a:pP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Phát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sinh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lúc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thực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thi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algn="just">
                        <a:buFont typeface="Arial" pitchFamily="34" charset="0"/>
                        <a:buChar char="•"/>
                      </a:pPr>
                      <a:endParaRPr kumimoji="0" lang="en-US" sz="2800" b="0" kern="1200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buFont typeface="Arial" pitchFamily="34" charset="0"/>
                        <a:buChar char="•"/>
                      </a:pPr>
                      <a:r>
                        <a:rPr kumimoji="0" lang="en-US" sz="2800" b="0" kern="1200" baseline="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Không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xác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định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giá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trị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ban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đầu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kumimoji="0" lang="en-US" sz="2800" b="0" kern="1200" baseline="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algn="just">
                        <a:buFont typeface="Arial" pitchFamily="34" charset="0"/>
                        <a:buChar char="•"/>
                      </a:pPr>
                      <a:endParaRPr kumimoji="0" lang="en-US" sz="2800" b="0" kern="1200" baseline="0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buFont typeface="Arial" pitchFamily="34" charset="0"/>
                        <a:buChar char="•"/>
                      </a:pPr>
                      <a:r>
                        <a:rPr kumimoji="0" lang="en-US" sz="2800" b="0" kern="1200" baseline="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Được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giải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phóng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khỏi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bộ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nhớ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khi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cần</a:t>
                      </a:r>
                      <a:r>
                        <a:rPr kumimoji="0" lang="en-US" sz="2800" b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en-US" sz="2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28" marB="4572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323" name="Slide Number Placeholder 3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36EC83A-440A-4305-A515-DA5E86977879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9560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graphicFrame>
        <p:nvGraphicFramePr>
          <p:cNvPr id="5" name="Content Placeholder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2887630"/>
              </p:ext>
            </p:extLst>
          </p:nvPr>
        </p:nvGraphicFramePr>
        <p:xfrm>
          <a:off x="76200" y="1524002"/>
          <a:ext cx="8991599" cy="48323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7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0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48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360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34136">
                <a:tc>
                  <a:txBody>
                    <a:bodyPr/>
                    <a:lstStyle/>
                    <a:p>
                      <a:pPr algn="ctr"/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C#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31" marB="457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Kích</a:t>
                      </a:r>
                      <a:endParaRPr lang="en-US" sz="20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20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Thước</a:t>
                      </a:r>
                      <a:endParaRPr lang="en-US" sz="20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(byte)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31" marB="457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.NET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31" marB="457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Miền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giá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trị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31" marB="457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Mô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tả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31" marB="45731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765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byte</a:t>
                      </a:r>
                    </a:p>
                  </a:txBody>
                  <a:tcPr marT="45731" marB="45731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45731" marB="45731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Byte</a:t>
                      </a:r>
                    </a:p>
                  </a:txBody>
                  <a:tcPr marT="45731" marB="45731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[0..255]</a:t>
                      </a:r>
                    </a:p>
                  </a:txBody>
                  <a:tcPr marT="45731" marB="45731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nguyên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dương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không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dấu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31" marB="4573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979"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sbyte</a:t>
                      </a:r>
                    </a:p>
                  </a:txBody>
                  <a:tcPr marT="45731" marB="45731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45731" marB="45731" anchor="ctr"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Sbyte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31" marB="45731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[-128..127]</a:t>
                      </a:r>
                    </a:p>
                  </a:txBody>
                  <a:tcPr marT="45731" marB="45731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nguyên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dấu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31" marB="4573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979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31" marB="45731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T="45731" marB="45731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Int16</a:t>
                      </a:r>
                    </a:p>
                  </a:txBody>
                  <a:tcPr marT="45731" marB="45731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[0..65.535]</a:t>
                      </a:r>
                    </a:p>
                  </a:txBody>
                  <a:tcPr marT="45731" marB="45731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nguyên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không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dấu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31" marB="4573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765"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</a:p>
                  </a:txBody>
                  <a:tcPr marT="45731" marB="45731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T="45731" marB="45731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Int32 </a:t>
                      </a:r>
                    </a:p>
                  </a:txBody>
                  <a:tcPr marT="45731" marB="45731" anchor="ctr"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Từ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-2.147.483.647 </a:t>
                      </a:r>
                    </a:p>
                    <a:p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đến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2.147.483.646</a:t>
                      </a:r>
                    </a:p>
                  </a:txBody>
                  <a:tcPr marT="45731" marB="45731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nguyên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dấu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31" marB="4573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979"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uint</a:t>
                      </a:r>
                    </a:p>
                  </a:txBody>
                  <a:tcPr marT="45731" marB="45731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T="45731" marB="45731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Uint32</a:t>
                      </a:r>
                    </a:p>
                  </a:txBody>
                  <a:tcPr marT="45731" marB="45731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Từ</a:t>
                      </a:r>
                      <a:r>
                        <a:rPr lang="en-US" sz="2000" baseline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đến</a:t>
                      </a:r>
                      <a:r>
                        <a:rPr lang="en-US" sz="2000" baseline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4.294.967.295</a:t>
                      </a:r>
                    </a:p>
                  </a:txBody>
                  <a:tcPr marT="45731" marB="45731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nguyên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không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dấu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31" marB="45731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0765"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long</a:t>
                      </a:r>
                    </a:p>
                  </a:txBody>
                  <a:tcPr marT="45731" marB="45731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T="45731" marB="45731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Int64</a:t>
                      </a:r>
                    </a:p>
                  </a:txBody>
                  <a:tcPr marT="45731" marB="45731" anchor="ctr"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Từ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-9.223.370.036.854.775.808</a:t>
                      </a:r>
                    </a:p>
                    <a:p>
                      <a:r>
                        <a:rPr lang="en-US" sz="20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đến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9.223.370.036.854.775.807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31" marB="45731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nguyên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dấu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31" marB="45731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979"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ulong</a:t>
                      </a:r>
                    </a:p>
                  </a:txBody>
                  <a:tcPr marT="45731" marB="45731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T="45731" marB="45731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Uint64</a:t>
                      </a:r>
                    </a:p>
                  </a:txBody>
                  <a:tcPr marT="45731" marB="45731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Từ</a:t>
                      </a:r>
                      <a:r>
                        <a:rPr lang="en-US" sz="2000" baseline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0 đến 0xffff ffff ffff ffff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31" marB="45731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nguyên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không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dấu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31" marB="45731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55116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logic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graphicFrame>
        <p:nvGraphicFramePr>
          <p:cNvPr id="5" name="Content Placeholder 7"/>
          <p:cNvGraphicFramePr>
            <a:graphicFrameLocks noGrp="1"/>
          </p:cNvGraphicFramePr>
          <p:nvPr>
            <p:ph sz="quarter" idx="1"/>
          </p:nvPr>
        </p:nvGraphicFramePr>
        <p:xfrm>
          <a:off x="298450" y="2008188"/>
          <a:ext cx="8616949" cy="24082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6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3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65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5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46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71771">
                <a:tc>
                  <a:txBody>
                    <a:bodyPr/>
                    <a:lstStyle/>
                    <a:p>
                      <a:pPr algn="ctr"/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C#</a:t>
                      </a:r>
                      <a:endParaRPr lang="en-US" sz="2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4" marR="91444" marT="45732" marB="457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Kích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thước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algn="ctr"/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(byte)</a:t>
                      </a:r>
                      <a:endParaRPr lang="en-US" sz="2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4" marR="91444" marT="45732" marB="457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.NET</a:t>
                      </a:r>
                      <a:endParaRPr lang="en-US" sz="2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4" marR="91444" marT="45732" marB="457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Miền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giá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trị</a:t>
                      </a:r>
                      <a:endParaRPr lang="en-US" sz="2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4" marR="91444" marT="45732" marB="457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Mô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tả</a:t>
                      </a:r>
                      <a:endParaRPr lang="en-US" sz="2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4" marR="91444" marT="45732" marB="4573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233">
                <a:tc>
                  <a:txBody>
                    <a:bodyPr/>
                    <a:lstStyle/>
                    <a:p>
                      <a:r>
                        <a:rPr lang="en-US" sz="2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bool</a:t>
                      </a:r>
                      <a:endParaRPr lang="en-US" sz="2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4" marR="91444" marT="45732" marB="4573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44" marR="91444" marT="45732" marB="45732"/>
                </a:tc>
                <a:tc>
                  <a:txBody>
                    <a:bodyPr/>
                    <a:lstStyle/>
                    <a:p>
                      <a:r>
                        <a:rPr lang="en-US" sz="2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Boolean</a:t>
                      </a:r>
                    </a:p>
                  </a:txBody>
                  <a:tcPr marL="91444" marR="91444" marT="45732" marB="45732"/>
                </a:tc>
                <a:tc>
                  <a:txBody>
                    <a:bodyPr/>
                    <a:lstStyle/>
                    <a:p>
                      <a:r>
                        <a:rPr lang="en-US" sz="2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lang="en-US" sz="2600" baseline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hoặc false</a:t>
                      </a:r>
                      <a:endParaRPr lang="en-US" sz="2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4" marR="91444" marT="45732" marB="45732"/>
                </a:tc>
                <a:tc>
                  <a:txBody>
                    <a:bodyPr/>
                    <a:lstStyle/>
                    <a:p>
                      <a:r>
                        <a:rPr lang="en-US" sz="2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Giá</a:t>
                      </a:r>
                      <a:r>
                        <a:rPr lang="en-US" sz="2600" baseline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trị logic</a:t>
                      </a:r>
                      <a:endParaRPr lang="en-US" sz="2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4" marR="91444" marT="45732" marB="457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233">
                <a:tc>
                  <a:txBody>
                    <a:bodyPr/>
                    <a:lstStyle/>
                    <a:p>
                      <a:r>
                        <a:rPr lang="en-US" sz="2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</a:t>
                      </a:r>
                    </a:p>
                  </a:txBody>
                  <a:tcPr marL="91444" marR="91444" marT="45732" marB="4573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44" marR="91444" marT="45732" marB="45732"/>
                </a:tc>
                <a:tc>
                  <a:txBody>
                    <a:bodyPr/>
                    <a:lstStyle/>
                    <a:p>
                      <a:r>
                        <a:rPr lang="en-US" sz="2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</a:t>
                      </a:r>
                    </a:p>
                  </a:txBody>
                  <a:tcPr marL="91444" marR="91444" marT="45732" marB="45732"/>
                </a:tc>
                <a:tc>
                  <a:txBody>
                    <a:bodyPr/>
                    <a:lstStyle/>
                    <a:p>
                      <a:endParaRPr lang="en-US" sz="2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4" marR="91444" marT="45732" marB="45732"/>
                </a:tc>
                <a:tc>
                  <a:txBody>
                    <a:bodyPr/>
                    <a:lstStyle/>
                    <a:p>
                      <a:r>
                        <a:rPr lang="en-US" sz="2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Ký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tự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Unicode</a:t>
                      </a:r>
                      <a:endParaRPr lang="en-US" sz="2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4" marR="91444" marT="45732" marB="457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47398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thực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graphicFrame>
        <p:nvGraphicFramePr>
          <p:cNvPr id="5" name="Content Placeholder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9048229"/>
              </p:ext>
            </p:extLst>
          </p:nvPr>
        </p:nvGraphicFramePr>
        <p:xfrm>
          <a:off x="152400" y="869088"/>
          <a:ext cx="8796338" cy="591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98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19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76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02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88492">
                <a:tc>
                  <a:txBody>
                    <a:bodyPr/>
                    <a:lstStyle/>
                    <a:p>
                      <a:pPr algn="ctr"/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C#</a:t>
                      </a:r>
                      <a:endParaRPr lang="en-US" sz="2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69" marB="456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Kích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thước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algn="ctr"/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(byte)</a:t>
                      </a:r>
                      <a:endParaRPr lang="en-US" sz="2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69" marB="456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.NET</a:t>
                      </a:r>
                      <a:endParaRPr lang="en-US" sz="2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69" marB="456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Miền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giá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trị</a:t>
                      </a:r>
                      <a:endParaRPr lang="en-US" sz="2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69" marB="456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Mô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tả</a:t>
                      </a:r>
                      <a:endParaRPr lang="en-US" sz="2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69" marB="45669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774"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</a:t>
                      </a:r>
                    </a:p>
                  </a:txBody>
                  <a:tcPr marT="45669" marB="456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T="45669" marB="45669" anchor="ctr"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</a:t>
                      </a:r>
                    </a:p>
                  </a:txBody>
                  <a:tcPr marT="45669" marB="45669" anchor="ctr"/>
                </a:tc>
                <a:tc>
                  <a:txBody>
                    <a:bodyPr/>
                    <a:lstStyle/>
                    <a:p>
                      <a:r>
                        <a:rPr lang="en-US" sz="2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Từ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3,4E-38 </a:t>
                      </a:r>
                    </a:p>
                    <a:p>
                      <a:r>
                        <a:rPr lang="en-US" sz="2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đến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3,4E+38</a:t>
                      </a:r>
                      <a:endParaRPr lang="en-US" sz="2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69" marB="4566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Kiểu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dấu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chấm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động, </a:t>
                      </a:r>
                      <a:r>
                        <a:rPr lang="en-US" sz="2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với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7 </a:t>
                      </a:r>
                      <a:r>
                        <a:rPr lang="en-US" sz="2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chữ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nghĩa</a:t>
                      </a:r>
                      <a:endParaRPr lang="en-US" sz="2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69" marB="4566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211">
                <a:tc>
                  <a:txBody>
                    <a:bodyPr/>
                    <a:lstStyle/>
                    <a:p>
                      <a:r>
                        <a:rPr lang="en-US" sz="2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double</a:t>
                      </a:r>
                    </a:p>
                  </a:txBody>
                  <a:tcPr marT="45669" marB="456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T="45669" marB="45669" anchor="ctr"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Double</a:t>
                      </a:r>
                    </a:p>
                  </a:txBody>
                  <a:tcPr marT="45669" marB="45669" anchor="ctr"/>
                </a:tc>
                <a:tc>
                  <a:txBody>
                    <a:bodyPr/>
                    <a:lstStyle/>
                    <a:p>
                      <a:r>
                        <a:rPr lang="en-US" sz="2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Từ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1,7E308 </a:t>
                      </a:r>
                    </a:p>
                    <a:p>
                      <a:r>
                        <a:rPr lang="en-US" sz="2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đến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1,7E+308</a:t>
                      </a:r>
                      <a:endParaRPr lang="en-US" sz="2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69" marB="4566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Kiểu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dấu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chấm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động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độ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chính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xác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gấp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đôi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với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15 </a:t>
                      </a:r>
                      <a:r>
                        <a:rPr lang="en-US" sz="2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chữ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nghĩa</a:t>
                      </a:r>
                      <a:endParaRPr lang="en-US" sz="2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69" marB="45669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54211">
                <a:tc>
                  <a:txBody>
                    <a:bodyPr/>
                    <a:lstStyle/>
                    <a:p>
                      <a:r>
                        <a:rPr lang="en-US" sz="2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decimal</a:t>
                      </a:r>
                    </a:p>
                  </a:txBody>
                  <a:tcPr marT="45669" marB="456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T="45669" marB="45669" anchor="ctr"/>
                </a:tc>
                <a:tc>
                  <a:txBody>
                    <a:bodyPr/>
                    <a:lstStyle/>
                    <a:p>
                      <a:r>
                        <a:rPr lang="en-US" sz="2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Decimal</a:t>
                      </a:r>
                    </a:p>
                  </a:txBody>
                  <a:tcPr marT="45669" marB="45669" anchor="ctr"/>
                </a:tc>
                <a:tc>
                  <a:txBody>
                    <a:bodyPr/>
                    <a:lstStyle/>
                    <a:p>
                      <a:endParaRPr lang="en-US" sz="2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69" marB="4566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độ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chính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xác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đến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28 con </a:t>
                      </a:r>
                      <a:r>
                        <a:rPr lang="en-US" sz="2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phải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hậu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tố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“m” </a:t>
                      </a:r>
                      <a:r>
                        <a:rPr lang="en-US" sz="2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hoặc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“M” </a:t>
                      </a:r>
                      <a:r>
                        <a:rPr lang="en-US" sz="2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theo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sau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giá</a:t>
                      </a:r>
                      <a:r>
                        <a:rPr lang="en-US" sz="2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trị</a:t>
                      </a:r>
                      <a:endParaRPr lang="en-US" sz="2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69" marB="4566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54489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Xâu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(string)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09600" y="1752600"/>
            <a:ext cx="7905750" cy="4343400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  <a:defRPr/>
            </a:pP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String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,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KDL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chứa</a:t>
            </a:r>
            <a:r>
              <a:rPr lang="en-US" dirty="0"/>
              <a:t> ở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heap. </a:t>
            </a:r>
          </a:p>
          <a:p>
            <a:pPr algn="just" eaLnBrk="1" hangingPunct="1">
              <a:lnSpc>
                <a:spcPct val="150000"/>
              </a:lnSpc>
              <a:defRPr/>
            </a:pP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:</a:t>
            </a:r>
          </a:p>
          <a:p>
            <a:pPr marL="0" indent="0" algn="just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dirty="0"/>
              <a:t>	string s = “Nguyen Van A”;</a:t>
            </a:r>
          </a:p>
        </p:txBody>
      </p:sp>
    </p:spTree>
    <p:extLst>
      <p:ext uri="{BB962C8B-B14F-4D97-AF65-F5344CB8AC3E}">
        <p14:creationId xmlns:p14="http://schemas.microsoft.com/office/powerpoint/2010/main" val="35071479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(Array)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qua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.</a:t>
            </a:r>
          </a:p>
          <a:p>
            <a:pPr eaLnBrk="1" hangingPunct="1">
              <a:lnSpc>
                <a:spcPct val="150000"/>
              </a:lnSpc>
            </a:pP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0.</a:t>
            </a:r>
          </a:p>
        </p:txBody>
      </p:sp>
    </p:spTree>
    <p:extLst>
      <p:ext uri="{BB962C8B-B14F-4D97-AF65-F5344CB8AC3E}">
        <p14:creationId xmlns:p14="http://schemas.microsoft.com/office/powerpoint/2010/main" val="10779113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Mảng</a:t>
            </a:r>
            <a:r>
              <a:rPr lang="en-US" dirty="0"/>
              <a:t> 1 </a:t>
            </a:r>
            <a:r>
              <a:rPr lang="en-US" dirty="0" err="1"/>
              <a:t>chiều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chiều</a:t>
            </a:r>
            <a:endParaRPr lang="en-US" dirty="0"/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dirty="0"/>
              <a:t>&lt;KDL&gt; []&lt;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&gt;=new &lt;KDL&gt;[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];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b="1" dirty="0"/>
              <a:t>VD: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b="1" dirty="0" err="1"/>
              <a:t>arr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 5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dirty="0"/>
              <a:t>		</a:t>
            </a:r>
            <a:r>
              <a:rPr lang="en-US" dirty="0" err="1"/>
              <a:t>int</a:t>
            </a:r>
            <a:r>
              <a:rPr lang="en-US" dirty="0"/>
              <a:t> [] </a:t>
            </a:r>
            <a:r>
              <a:rPr lang="en-US" dirty="0" err="1"/>
              <a:t>arr</a:t>
            </a:r>
            <a:r>
              <a:rPr lang="en-US" dirty="0"/>
              <a:t> = new </a:t>
            </a:r>
            <a:r>
              <a:rPr lang="en-US" dirty="0" err="1"/>
              <a:t>int</a:t>
            </a:r>
            <a:r>
              <a:rPr lang="en-US" dirty="0"/>
              <a:t> [5];</a:t>
            </a:r>
          </a:p>
        </p:txBody>
      </p:sp>
    </p:spTree>
    <p:extLst>
      <p:ext uri="{BB962C8B-B14F-4D97-AF65-F5344CB8AC3E}">
        <p14:creationId xmlns:p14="http://schemas.microsoft.com/office/powerpoint/2010/main" val="18812698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Mảng</a:t>
            </a:r>
            <a:r>
              <a:rPr lang="en-US" dirty="0"/>
              <a:t> 2 </a:t>
            </a:r>
            <a:r>
              <a:rPr lang="en-US" dirty="0" err="1"/>
              <a:t>chiều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chiều</a:t>
            </a:r>
            <a:endParaRPr lang="en-US" dirty="0"/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dirty="0"/>
              <a:t>&lt;KDL&gt; [,]&lt;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&gt;=new &lt;KDL&gt;[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,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cột</a:t>
            </a:r>
            <a:r>
              <a:rPr lang="en-US" dirty="0"/>
              <a:t>];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b="1" dirty="0"/>
              <a:t>VD: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ma </a:t>
            </a:r>
            <a:r>
              <a:rPr lang="en-US" dirty="0" err="1"/>
              <a:t>trận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b="1" dirty="0" err="1"/>
              <a:t>mt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 5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3 </a:t>
            </a:r>
            <a:r>
              <a:rPr lang="en-US" dirty="0" err="1"/>
              <a:t>cột</a:t>
            </a:r>
            <a:endParaRPr lang="en-US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dirty="0"/>
              <a:t>	long [ ,] </a:t>
            </a:r>
            <a:r>
              <a:rPr lang="en-US" dirty="0" err="1"/>
              <a:t>mt</a:t>
            </a:r>
            <a:r>
              <a:rPr lang="en-US" dirty="0"/>
              <a:t> = new long [5, 3];</a:t>
            </a: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9577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3A27A-7444-44DD-BBBE-B990EAF7E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KDL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BD4FD-9AD4-466A-A78C-2E1E0095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0BBC20C-4442-4967-B8B3-5447773FC7DD}"/>
              </a:ext>
            </a:extLst>
          </p:cNvPr>
          <p:cNvGrpSpPr/>
          <p:nvPr/>
        </p:nvGrpSpPr>
        <p:grpSpPr>
          <a:xfrm>
            <a:off x="1181100" y="2165351"/>
            <a:ext cx="6781800" cy="4191000"/>
            <a:chOff x="1600200" y="2286000"/>
            <a:chExt cx="6781800" cy="4191000"/>
          </a:xfrm>
        </p:grpSpPr>
        <p:sp>
          <p:nvSpPr>
            <p:cNvPr id="6" name="AutoShape 5">
              <a:extLst>
                <a:ext uri="{FF2B5EF4-FFF2-40B4-BE49-F238E27FC236}">
                  <a16:creationId xmlns:a16="http://schemas.microsoft.com/office/drawing/2014/main" id="{76142314-D5F5-46FF-95A2-F2ED9A434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4738" y="2286000"/>
              <a:ext cx="2133600" cy="381000"/>
            </a:xfrm>
            <a:prstGeom prst="accentCallout1">
              <a:avLst>
                <a:gd name="adj1" fmla="val 30000"/>
                <a:gd name="adj2" fmla="val -3569"/>
                <a:gd name="adj3" fmla="val 252500"/>
                <a:gd name="adj4" fmla="val -74704"/>
              </a:avLst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spcBef>
                  <a:spcPct val="0"/>
                </a:spcBef>
              </a:pPr>
              <a:r>
                <a:rPr lang="en-US" b="1">
                  <a:latin typeface="Arial" charset="0"/>
                  <a:cs typeface="Arial" charset="0"/>
                </a:rPr>
                <a:t>Mã SV: chuỗi kt</a:t>
              </a:r>
            </a:p>
          </p:txBody>
        </p:sp>
        <p:sp>
          <p:nvSpPr>
            <p:cNvPr id="7" name="AutoShape 6">
              <a:extLst>
                <a:ext uri="{FF2B5EF4-FFF2-40B4-BE49-F238E27FC236}">
                  <a16:creationId xmlns:a16="http://schemas.microsoft.com/office/drawing/2014/main" id="{82741B57-0EA3-46C9-8CE1-DB74182A93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9538" y="3124200"/>
              <a:ext cx="2133600" cy="419100"/>
            </a:xfrm>
            <a:prstGeom prst="accentCallout1">
              <a:avLst>
                <a:gd name="adj1" fmla="val 27273"/>
                <a:gd name="adj2" fmla="val -3569"/>
                <a:gd name="adj3" fmla="val 104546"/>
                <a:gd name="adj4" fmla="val -62944"/>
              </a:avLst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spcBef>
                  <a:spcPct val="0"/>
                </a:spcBef>
              </a:pPr>
              <a:r>
                <a:rPr lang="en-US" b="1">
                  <a:latin typeface="Arial" charset="0"/>
                  <a:cs typeface="Arial" charset="0"/>
                </a:rPr>
                <a:t>Tên SV: chuỗi kt</a:t>
              </a:r>
            </a:p>
          </p:txBody>
        </p:sp>
        <p:sp>
          <p:nvSpPr>
            <p:cNvPr id="8" name="AutoShape 7">
              <a:extLst>
                <a:ext uri="{FF2B5EF4-FFF2-40B4-BE49-F238E27FC236}">
                  <a16:creationId xmlns:a16="http://schemas.microsoft.com/office/drawing/2014/main" id="{86A1DEE8-3834-4E0A-9C12-0F888C460F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5738" y="4114800"/>
              <a:ext cx="3116262" cy="419100"/>
            </a:xfrm>
            <a:prstGeom prst="accentCallout1">
              <a:avLst>
                <a:gd name="adj1" fmla="val 27273"/>
                <a:gd name="adj2" fmla="val -2787"/>
                <a:gd name="adj3" fmla="val -31060"/>
                <a:gd name="adj4" fmla="val -54324"/>
              </a:avLst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spcBef>
                  <a:spcPct val="0"/>
                </a:spcBef>
              </a:pPr>
              <a:r>
                <a:rPr lang="en-US" b="1">
                  <a:latin typeface="Arial" charset="0"/>
                  <a:cs typeface="Arial" charset="0"/>
                </a:rPr>
                <a:t>Ngày sinh: ngày tháng</a:t>
              </a:r>
            </a:p>
          </p:txBody>
        </p:sp>
        <p:sp>
          <p:nvSpPr>
            <p:cNvPr id="9" name="AutoShape 8">
              <a:extLst>
                <a:ext uri="{FF2B5EF4-FFF2-40B4-BE49-F238E27FC236}">
                  <a16:creationId xmlns:a16="http://schemas.microsoft.com/office/drawing/2014/main" id="{7BB9F115-31B8-4360-BADE-C018365EF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2338" y="5181600"/>
              <a:ext cx="2354263" cy="381000"/>
            </a:xfrm>
            <a:prstGeom prst="accentCallout1">
              <a:avLst>
                <a:gd name="adj1" fmla="val 30000"/>
                <a:gd name="adj2" fmla="val -3236"/>
                <a:gd name="adj3" fmla="val -266250"/>
                <a:gd name="adj4" fmla="val -52463"/>
              </a:avLst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spcBef>
                  <a:spcPct val="0"/>
                </a:spcBef>
              </a:pPr>
              <a:r>
                <a:rPr lang="en-US" b="1">
                  <a:latin typeface="Arial" charset="0"/>
                  <a:cs typeface="Arial" charset="0"/>
                </a:rPr>
                <a:t>Nơi sinh: chuỗi kt</a:t>
              </a:r>
            </a:p>
          </p:txBody>
        </p:sp>
        <p:sp>
          <p:nvSpPr>
            <p:cNvPr id="10" name="AutoShape 9">
              <a:extLst>
                <a:ext uri="{FF2B5EF4-FFF2-40B4-BE49-F238E27FC236}">
                  <a16:creationId xmlns:a16="http://schemas.microsoft.com/office/drawing/2014/main" id="{472DAE6D-2C4A-4F63-93F3-8E42A2CB0E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5138" y="6096000"/>
              <a:ext cx="2430463" cy="381000"/>
            </a:xfrm>
            <a:prstGeom prst="accentCallout1">
              <a:avLst>
                <a:gd name="adj1" fmla="val 30000"/>
                <a:gd name="adj2" fmla="val -3134"/>
                <a:gd name="adj3" fmla="val -484167"/>
                <a:gd name="adj4" fmla="val -48597"/>
              </a:avLst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/>
            <a:lstStyle/>
            <a:p>
              <a:pPr algn="l">
                <a:spcBef>
                  <a:spcPct val="0"/>
                </a:spcBef>
              </a:pPr>
              <a:r>
                <a:rPr lang="en-US" b="1">
                  <a:latin typeface="Arial" charset="0"/>
                  <a:cs typeface="Arial" charset="0"/>
                </a:rPr>
                <a:t>Điểm thi: số thực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EBB4286-D52D-49D4-8303-54DFE459C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0200" y="3200400"/>
              <a:ext cx="2293938" cy="1050925"/>
            </a:xfrm>
            <a:prstGeom prst="ellipse">
              <a:avLst/>
            </a:prstGeom>
            <a:solidFill>
              <a:srgbClr val="FFC000"/>
            </a:solidFill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r>
                <a:rPr lang="en-US" sz="2400" b="1"/>
                <a:t>Sinh Viên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61867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KDL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28650" y="990600"/>
            <a:ext cx="7886700" cy="5562600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en-US" dirty="0" err="1">
                <a:solidFill>
                  <a:srgbClr val="0070C0"/>
                </a:solidFill>
              </a:rPr>
              <a:t>Struct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đó</a:t>
            </a:r>
            <a:endParaRPr lang="en-US" dirty="0"/>
          </a:p>
          <a:p>
            <a:pPr algn="just" eaLnBrk="1" hangingPunct="1">
              <a:lnSpc>
                <a:spcPct val="150000"/>
              </a:lnSpc>
            </a:pP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:</a:t>
            </a:r>
          </a:p>
          <a:p>
            <a:pPr marL="1487488" lvl="1" indent="-573088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b="1" dirty="0" err="1"/>
              <a:t>struct</a:t>
            </a:r>
            <a:r>
              <a:rPr lang="en-US" b="1" dirty="0"/>
              <a:t> &lt;</a:t>
            </a:r>
            <a:r>
              <a:rPr lang="en-US" b="1" dirty="0" err="1"/>
              <a:t>Tên</a:t>
            </a:r>
            <a:r>
              <a:rPr lang="en-US" b="1" dirty="0"/>
              <a:t> </a:t>
            </a:r>
            <a:r>
              <a:rPr lang="en-US" b="1" dirty="0" err="1"/>
              <a:t>cấu</a:t>
            </a:r>
            <a:r>
              <a:rPr lang="en-US" b="1" dirty="0"/>
              <a:t> </a:t>
            </a:r>
            <a:r>
              <a:rPr lang="en-US" b="1" dirty="0" err="1"/>
              <a:t>trúc</a:t>
            </a:r>
            <a:r>
              <a:rPr lang="en-US" b="1" dirty="0"/>
              <a:t>&gt;</a:t>
            </a:r>
          </a:p>
          <a:p>
            <a:pPr marL="1487488" lvl="1" indent="-573088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b="1" dirty="0"/>
              <a:t>{</a:t>
            </a:r>
          </a:p>
          <a:p>
            <a:pPr marL="1487488" lvl="1" indent="-573088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b="1" dirty="0"/>
              <a:t>	</a:t>
            </a:r>
            <a:r>
              <a:rPr lang="en-US" b="1" dirty="0" err="1"/>
              <a:t>Danh</a:t>
            </a:r>
            <a:r>
              <a:rPr lang="en-US" b="1" dirty="0"/>
              <a:t> </a:t>
            </a:r>
            <a:r>
              <a:rPr lang="en-US" b="1" dirty="0" err="1"/>
              <a:t>sách</a:t>
            </a:r>
            <a:r>
              <a:rPr lang="en-US" b="1" dirty="0"/>
              <a:t> </a:t>
            </a:r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thuộc</a:t>
            </a:r>
            <a:r>
              <a:rPr lang="en-US" b="1" dirty="0"/>
              <a:t> </a:t>
            </a:r>
            <a:r>
              <a:rPr lang="en-US" b="1" dirty="0" err="1"/>
              <a:t>tính</a:t>
            </a:r>
            <a:r>
              <a:rPr lang="en-US" b="1" dirty="0"/>
              <a:t>;</a:t>
            </a:r>
          </a:p>
          <a:p>
            <a:pPr marL="1487488" lvl="1" indent="-573088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b="1" dirty="0"/>
              <a:t>}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: &lt;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&gt;</a:t>
            </a:r>
            <a:r>
              <a:rPr lang="en-US" b="1" dirty="0"/>
              <a:t>.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4651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KDL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5033963"/>
          </a:xfrm>
        </p:spPr>
        <p:txBody>
          <a:bodyPr rtlCol="0">
            <a:noAutofit/>
          </a:bodyPr>
          <a:lstStyle/>
          <a:p>
            <a:pPr marL="182563" lvl="2" indent="-182563" eaLnBrk="1" fontAlgn="auto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accent1">
                  <a:shade val="75000"/>
                </a:schemeClr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lang="en-US" dirty="0"/>
              <a:t>	</a:t>
            </a:r>
            <a:r>
              <a:rPr lang="en-US" dirty="0" err="1"/>
              <a:t>struct</a:t>
            </a:r>
            <a:r>
              <a:rPr lang="en-US" dirty="0"/>
              <a:t> SV</a:t>
            </a:r>
          </a:p>
          <a:p>
            <a:pPr marL="182563" lvl="2" indent="-182563" eaLnBrk="1" fontAlgn="auto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accent1">
                  <a:shade val="75000"/>
                </a:schemeClr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lang="en-US" dirty="0"/>
              <a:t>	{</a:t>
            </a:r>
          </a:p>
          <a:p>
            <a:pPr marL="182563" lvl="2" indent="-182563" eaLnBrk="1" fontAlgn="auto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accent1">
                  <a:shade val="75000"/>
                </a:schemeClr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lang="en-US" dirty="0"/>
              <a:t>    	public string ten;</a:t>
            </a:r>
          </a:p>
          <a:p>
            <a:pPr marL="182563" lvl="2" indent="-182563" eaLnBrk="1" fontAlgn="auto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accent1">
                  <a:shade val="75000"/>
                </a:schemeClr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lang="en-US" dirty="0"/>
              <a:t>    	public string </a:t>
            </a:r>
            <a:r>
              <a:rPr lang="en-US" dirty="0" err="1"/>
              <a:t>maso</a:t>
            </a:r>
            <a:r>
              <a:rPr lang="en-US" dirty="0"/>
              <a:t>;</a:t>
            </a:r>
          </a:p>
          <a:p>
            <a:pPr marL="182563" lvl="2" indent="-182563" eaLnBrk="1" fontAlgn="auto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accent1">
                  <a:shade val="75000"/>
                </a:schemeClr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lang="en-US" dirty="0"/>
              <a:t>	}</a:t>
            </a:r>
          </a:p>
          <a:p>
            <a:pPr marL="341313" indent="-341313" eaLnBrk="1" fontAlgn="auto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dirty="0"/>
              <a:t>   static void Main(string[] </a:t>
            </a:r>
            <a:r>
              <a:rPr lang="en-US" dirty="0" err="1"/>
              <a:t>args</a:t>
            </a:r>
            <a:r>
              <a:rPr lang="en-US" dirty="0"/>
              <a:t>)</a:t>
            </a:r>
          </a:p>
          <a:p>
            <a:pPr marL="341313" indent="-341313" eaLnBrk="1" fontAlgn="auto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dirty="0"/>
              <a:t>   {</a:t>
            </a:r>
          </a:p>
          <a:p>
            <a:pPr marL="341313" indent="-341313" eaLnBrk="1" fontAlgn="auto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dirty="0"/>
              <a:t>       	SV a;</a:t>
            </a:r>
          </a:p>
          <a:p>
            <a:pPr marL="341313" indent="-341313" eaLnBrk="1" fontAlgn="auto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dirty="0"/>
              <a:t>        </a:t>
            </a:r>
            <a:r>
              <a:rPr lang="en-US" dirty="0" err="1"/>
              <a:t>a.ten</a:t>
            </a:r>
            <a:r>
              <a:rPr lang="en-US" dirty="0"/>
              <a:t> = "Le Van </a:t>
            </a:r>
            <a:r>
              <a:rPr lang="en-US" dirty="0" err="1"/>
              <a:t>Teo</a:t>
            </a:r>
            <a:r>
              <a:rPr lang="en-US" dirty="0"/>
              <a:t>";</a:t>
            </a:r>
          </a:p>
          <a:p>
            <a:pPr marL="341313" indent="-341313" eaLnBrk="1" fontAlgn="auto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dirty="0"/>
              <a:t>        </a:t>
            </a:r>
            <a:r>
              <a:rPr lang="en-US" dirty="0" err="1"/>
              <a:t>a.maso</a:t>
            </a:r>
            <a:r>
              <a:rPr lang="en-US" dirty="0"/>
              <a:t> = "002";</a:t>
            </a:r>
          </a:p>
          <a:p>
            <a:pPr marL="341313" indent="-341313" eaLnBrk="1" fontAlgn="auto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dirty="0"/>
              <a:t>    		</a:t>
            </a:r>
            <a:r>
              <a:rPr lang="en-US" dirty="0" err="1"/>
              <a:t>Console.WriteLine</a:t>
            </a:r>
            <a:r>
              <a:rPr lang="en-US" dirty="0"/>
              <a:t>("Ten: "+</a:t>
            </a:r>
            <a:r>
              <a:rPr lang="en-US" dirty="0" err="1"/>
              <a:t>a.ten</a:t>
            </a:r>
            <a:r>
              <a:rPr lang="en-US" dirty="0"/>
              <a:t>+" Ma so: "+</a:t>
            </a:r>
            <a:r>
              <a:rPr lang="en-US" dirty="0" err="1"/>
              <a:t>a.maso</a:t>
            </a:r>
            <a:r>
              <a:rPr lang="en-US" dirty="0"/>
              <a:t>);</a:t>
            </a:r>
          </a:p>
          <a:p>
            <a:pPr marL="341313" indent="-341313" eaLnBrk="1" fontAlgn="auto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dirty="0"/>
              <a:t>        </a:t>
            </a:r>
            <a:r>
              <a:rPr lang="en-US" dirty="0" err="1"/>
              <a:t>Console.ReadLine</a:t>
            </a:r>
            <a:r>
              <a:rPr lang="en-US" dirty="0"/>
              <a:t>();</a:t>
            </a:r>
          </a:p>
          <a:p>
            <a:pPr marL="341313" indent="-341313" eaLnBrk="1" fontAlgn="auto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dirty="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23745541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8037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 err="1"/>
              <a:t>Là</a:t>
            </a:r>
            <a:r>
              <a:rPr lang="en-US" sz="2800" dirty="0"/>
              <a:t> </a:t>
            </a:r>
            <a:r>
              <a:rPr lang="en-US" sz="2800" dirty="0" err="1"/>
              <a:t>một</a:t>
            </a:r>
            <a:r>
              <a:rPr lang="en-US" sz="2800" dirty="0"/>
              <a:t> </a:t>
            </a:r>
            <a:r>
              <a:rPr lang="en-US" sz="2800" dirty="0" err="1"/>
              <a:t>thủ</a:t>
            </a:r>
            <a:r>
              <a:rPr lang="en-US" sz="2800" dirty="0"/>
              <a:t> </a:t>
            </a:r>
            <a:r>
              <a:rPr lang="en-US" sz="2800" dirty="0" err="1"/>
              <a:t>tục</a:t>
            </a:r>
            <a:r>
              <a:rPr lang="en-US" sz="2800" dirty="0"/>
              <a:t> </a:t>
            </a:r>
            <a:r>
              <a:rPr lang="en-US" sz="2800" dirty="0" err="1"/>
              <a:t>tính</a:t>
            </a:r>
            <a:r>
              <a:rPr lang="en-US" sz="2800" dirty="0"/>
              <a:t> </a:t>
            </a:r>
            <a:r>
              <a:rPr lang="en-US" sz="2800" dirty="0" err="1"/>
              <a:t>toán</a:t>
            </a:r>
            <a:r>
              <a:rPr lang="en-US" sz="2800" dirty="0"/>
              <a:t> </a:t>
            </a:r>
            <a:r>
              <a:rPr lang="en-US" sz="2800" dirty="0" err="1"/>
              <a:t>xác</a:t>
            </a:r>
            <a:r>
              <a:rPr lang="en-US" sz="2800" dirty="0"/>
              <a:t> </a:t>
            </a:r>
            <a:r>
              <a:rPr lang="en-US" sz="2800" dirty="0" err="1"/>
              <a:t>định</a:t>
            </a:r>
            <a:r>
              <a:rPr lang="en-US" sz="2800" dirty="0"/>
              <a:t> (well-defined) </a:t>
            </a:r>
            <a:r>
              <a:rPr lang="en-US" sz="2800" dirty="0" err="1"/>
              <a:t>nhận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giá</a:t>
            </a:r>
            <a:r>
              <a:rPr lang="en-US" sz="2800" dirty="0"/>
              <a:t> </a:t>
            </a:r>
            <a:r>
              <a:rPr lang="en-US" sz="2800" dirty="0" err="1"/>
              <a:t>trị</a:t>
            </a:r>
            <a:r>
              <a:rPr lang="en-US" sz="2800" dirty="0"/>
              <a:t> </a:t>
            </a:r>
            <a:r>
              <a:rPr lang="en-US" sz="2800" dirty="0" err="1"/>
              <a:t>hoặc</a:t>
            </a:r>
            <a:r>
              <a:rPr lang="en-US" sz="2800" dirty="0"/>
              <a:t> </a:t>
            </a:r>
            <a:r>
              <a:rPr lang="en-US" sz="2800" dirty="0" err="1"/>
              <a:t>một</a:t>
            </a:r>
            <a:r>
              <a:rPr lang="en-US" sz="2800" dirty="0"/>
              <a:t> </a:t>
            </a:r>
            <a:r>
              <a:rPr lang="en-US" sz="2800" dirty="0" err="1"/>
              <a:t>tập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giá</a:t>
            </a:r>
            <a:r>
              <a:rPr lang="en-US" sz="2800" dirty="0"/>
              <a:t> </a:t>
            </a:r>
            <a:r>
              <a:rPr lang="en-US" sz="2800" dirty="0" err="1"/>
              <a:t>trị</a:t>
            </a:r>
            <a:r>
              <a:rPr lang="en-US" sz="2800" dirty="0"/>
              <a:t> (</a:t>
            </a:r>
            <a:r>
              <a:rPr lang="en-US" sz="2800" dirty="0">
                <a:solidFill>
                  <a:srgbClr val="FF0000"/>
                </a:solidFill>
              </a:rPr>
              <a:t>input</a:t>
            </a:r>
            <a:r>
              <a:rPr lang="en-US" sz="2800" dirty="0"/>
              <a:t>)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dirty="0" err="1"/>
              <a:t>sinh</a:t>
            </a:r>
            <a:r>
              <a:rPr lang="en-US" sz="2800" dirty="0"/>
              <a:t> </a:t>
            </a:r>
            <a:r>
              <a:rPr lang="en-US" sz="2800" dirty="0" err="1"/>
              <a:t>ra</a:t>
            </a:r>
            <a:r>
              <a:rPr lang="en-US" sz="2800" dirty="0"/>
              <a:t> </a:t>
            </a:r>
            <a:r>
              <a:rPr lang="en-US" sz="2800" dirty="0" err="1"/>
              <a:t>một</a:t>
            </a:r>
            <a:r>
              <a:rPr lang="en-US" sz="2800" dirty="0"/>
              <a:t> </a:t>
            </a:r>
            <a:r>
              <a:rPr lang="en-US" sz="2800" dirty="0" err="1"/>
              <a:t>vài</a:t>
            </a:r>
            <a:r>
              <a:rPr lang="en-US" sz="2800" dirty="0"/>
              <a:t> </a:t>
            </a:r>
            <a:r>
              <a:rPr lang="en-US" sz="2800" dirty="0" err="1"/>
              <a:t>giá</a:t>
            </a:r>
            <a:r>
              <a:rPr lang="en-US" sz="2800" dirty="0"/>
              <a:t> </a:t>
            </a:r>
            <a:r>
              <a:rPr lang="en-US" sz="2800" dirty="0" err="1"/>
              <a:t>trị</a:t>
            </a:r>
            <a:r>
              <a:rPr lang="en-US" sz="2800" dirty="0"/>
              <a:t> </a:t>
            </a:r>
            <a:r>
              <a:rPr lang="en-US" sz="2800" dirty="0" err="1"/>
              <a:t>hoặc</a:t>
            </a:r>
            <a:r>
              <a:rPr lang="en-US" sz="2800" dirty="0"/>
              <a:t> </a:t>
            </a:r>
            <a:r>
              <a:rPr lang="en-US" sz="2800" dirty="0" err="1"/>
              <a:t>tập</a:t>
            </a:r>
            <a:r>
              <a:rPr lang="en-US" sz="2800" dirty="0"/>
              <a:t> </a:t>
            </a:r>
            <a:r>
              <a:rPr lang="en-US" sz="2800" dirty="0" err="1"/>
              <a:t>giá</a:t>
            </a:r>
            <a:r>
              <a:rPr lang="en-US" sz="2800" dirty="0"/>
              <a:t> </a:t>
            </a:r>
            <a:r>
              <a:rPr lang="en-US" sz="2800" dirty="0" err="1"/>
              <a:t>trị</a:t>
            </a:r>
            <a:r>
              <a:rPr lang="en-US" sz="2800" dirty="0"/>
              <a:t> (</a:t>
            </a:r>
            <a:r>
              <a:rPr lang="en-US" sz="2800" dirty="0">
                <a:solidFill>
                  <a:srgbClr val="FF0000"/>
                </a:solidFill>
              </a:rPr>
              <a:t>output</a:t>
            </a:r>
            <a:r>
              <a:rPr lang="en-US" sz="2800" dirty="0"/>
              <a:t>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800" dirty="0">
                <a:sym typeface="Wingdings" panose="05000000000000000000" pitchFamily="2" charset="2"/>
              </a:rPr>
              <a:t> </a:t>
            </a:r>
            <a:r>
              <a:rPr lang="en-US" sz="2800" dirty="0" err="1">
                <a:sym typeface="Wingdings" panose="05000000000000000000" pitchFamily="2" charset="2"/>
              </a:rPr>
              <a:t>Cách</a:t>
            </a:r>
            <a:r>
              <a:rPr lang="en-US" sz="2800" dirty="0">
                <a:sym typeface="Wingdings" panose="05000000000000000000" pitchFamily="2" charset="2"/>
              </a:rPr>
              <a:t> </a:t>
            </a:r>
            <a:r>
              <a:rPr lang="en-US" sz="2800" dirty="0" err="1">
                <a:sym typeface="Wingdings" panose="05000000000000000000" pitchFamily="2" charset="2"/>
              </a:rPr>
              <a:t>thức</a:t>
            </a:r>
            <a:r>
              <a:rPr lang="en-US" sz="2800" dirty="0">
                <a:sym typeface="Wingdings" panose="05000000000000000000" pitchFamily="2" charset="2"/>
              </a:rPr>
              <a:t>/ </a:t>
            </a:r>
            <a:r>
              <a:rPr lang="en-US" sz="2800" dirty="0" err="1">
                <a:sym typeface="Wingdings" panose="05000000000000000000" pitchFamily="2" charset="2"/>
              </a:rPr>
              <a:t>quy</a:t>
            </a:r>
            <a:r>
              <a:rPr lang="en-US" sz="2800" dirty="0">
                <a:sym typeface="Wingdings" panose="05000000000000000000" pitchFamily="2" charset="2"/>
              </a:rPr>
              <a:t> </a:t>
            </a:r>
            <a:r>
              <a:rPr lang="en-US" sz="2800" dirty="0" err="1">
                <a:sym typeface="Wingdings" panose="05000000000000000000" pitchFamily="2" charset="2"/>
              </a:rPr>
              <a:t>trình</a:t>
            </a:r>
            <a:r>
              <a:rPr lang="en-US" sz="2800" dirty="0">
                <a:sym typeface="Wingdings" panose="05000000000000000000" pitchFamily="2" charset="2"/>
              </a:rPr>
              <a:t> </a:t>
            </a:r>
            <a:r>
              <a:rPr lang="en-US" sz="2800" dirty="0" err="1">
                <a:sym typeface="Wingdings" panose="05000000000000000000" pitchFamily="2" charset="2"/>
              </a:rPr>
              <a:t>thực</a:t>
            </a:r>
            <a:r>
              <a:rPr lang="en-US" sz="2800" dirty="0">
                <a:sym typeface="Wingdings" panose="05000000000000000000" pitchFamily="2" charset="2"/>
              </a:rPr>
              <a:t> </a:t>
            </a:r>
            <a:r>
              <a:rPr lang="en-US" sz="2800" dirty="0" err="1">
                <a:sym typeface="Wingdings" panose="05000000000000000000" pitchFamily="2" charset="2"/>
              </a:rPr>
              <a:t>hiện</a:t>
            </a:r>
            <a:r>
              <a:rPr lang="en-US" sz="2800" dirty="0">
                <a:sym typeface="Wingdings" panose="05000000000000000000" pitchFamily="2" charset="2"/>
              </a:rPr>
              <a:t> </a:t>
            </a:r>
            <a:r>
              <a:rPr lang="en-US" sz="2800" dirty="0" err="1">
                <a:sym typeface="Wingdings" panose="05000000000000000000" pitchFamily="2" charset="2"/>
              </a:rPr>
              <a:t>hoàn</a:t>
            </a:r>
            <a:r>
              <a:rPr lang="en-US" sz="2800" dirty="0">
                <a:sym typeface="Wingdings" panose="05000000000000000000" pitchFamily="2" charset="2"/>
              </a:rPr>
              <a:t> </a:t>
            </a:r>
            <a:r>
              <a:rPr lang="en-US" sz="2800" dirty="0" err="1">
                <a:sym typeface="Wingdings" panose="05000000000000000000" pitchFamily="2" charset="2"/>
              </a:rPr>
              <a:t>thành</a:t>
            </a:r>
            <a:r>
              <a:rPr lang="en-US" sz="2800" dirty="0">
                <a:sym typeface="Wingdings" panose="05000000000000000000" pitchFamily="2" charset="2"/>
              </a:rPr>
              <a:t> </a:t>
            </a:r>
            <a:r>
              <a:rPr lang="en-US" sz="2800" dirty="0" err="1">
                <a:sym typeface="Wingdings" panose="05000000000000000000" pitchFamily="2" charset="2"/>
              </a:rPr>
              <a:t>một</a:t>
            </a:r>
            <a:r>
              <a:rPr lang="en-US" sz="2800" dirty="0">
                <a:sym typeface="Wingdings" panose="05000000000000000000" pitchFamily="2" charset="2"/>
              </a:rPr>
              <a:t> </a:t>
            </a:r>
            <a:r>
              <a:rPr lang="en-US" sz="2800" dirty="0" err="1">
                <a:sym typeface="Wingdings" panose="05000000000000000000" pitchFamily="2" charset="2"/>
              </a:rPr>
              <a:t>công</a:t>
            </a:r>
            <a:r>
              <a:rPr lang="en-US" sz="2800" dirty="0">
                <a:sym typeface="Wingdings" panose="05000000000000000000" pitchFamily="2" charset="2"/>
              </a:rPr>
              <a:t> </a:t>
            </a:r>
            <a:r>
              <a:rPr lang="en-US" sz="2800" dirty="0" err="1">
                <a:sym typeface="Wingdings" panose="05000000000000000000" pitchFamily="2" charset="2"/>
              </a:rPr>
              <a:t>việc</a:t>
            </a:r>
            <a:r>
              <a:rPr lang="en-US" sz="2800" dirty="0">
                <a:sym typeface="Wingdings" panose="05000000000000000000" pitchFamily="2" charset="2"/>
              </a:rPr>
              <a:t> </a:t>
            </a:r>
            <a:r>
              <a:rPr lang="en-US" sz="2800" dirty="0" err="1">
                <a:sym typeface="Wingdings" panose="05000000000000000000" pitchFamily="2" charset="2"/>
              </a:rPr>
              <a:t>xác</a:t>
            </a:r>
            <a:r>
              <a:rPr lang="en-US" sz="2800" dirty="0">
                <a:sym typeface="Wingdings" panose="05000000000000000000" pitchFamily="2" charset="2"/>
              </a:rPr>
              <a:t> </a:t>
            </a:r>
            <a:r>
              <a:rPr lang="en-US" sz="2800" dirty="0" err="1">
                <a:sym typeface="Wingdings" panose="05000000000000000000" pitchFamily="2" charset="2"/>
              </a:rPr>
              <a:t>định</a:t>
            </a:r>
            <a:r>
              <a:rPr lang="en-US" sz="2800" dirty="0">
                <a:sym typeface="Wingdings" panose="05000000000000000000" pitchFamily="2" charset="2"/>
              </a:rPr>
              <a:t> </a:t>
            </a:r>
            <a:r>
              <a:rPr lang="en-US" sz="2800" dirty="0" err="1">
                <a:sym typeface="Wingdings" panose="05000000000000000000" pitchFamily="2" charset="2"/>
              </a:rPr>
              <a:t>cụ</a:t>
            </a:r>
            <a:r>
              <a:rPr lang="en-US" sz="2800" dirty="0">
                <a:sym typeface="Wingdings" panose="05000000000000000000" pitchFamily="2" charset="2"/>
              </a:rPr>
              <a:t> </a:t>
            </a:r>
            <a:r>
              <a:rPr lang="en-US" sz="2800" dirty="0" err="1">
                <a:sym typeface="Wingdings" panose="05000000000000000000" pitchFamily="2" charset="2"/>
              </a:rPr>
              <a:t>thể</a:t>
            </a:r>
            <a:r>
              <a:rPr lang="en-US" sz="2800" dirty="0">
                <a:sym typeface="Wingdings" panose="05000000000000000000" pitchFamily="2" charset="2"/>
              </a:rPr>
              <a:t> </a:t>
            </a:r>
            <a:r>
              <a:rPr lang="en-US" sz="2800" dirty="0" err="1">
                <a:sym typeface="Wingdings" panose="05000000000000000000" pitchFamily="2" charset="2"/>
              </a:rPr>
              <a:t>nào</a:t>
            </a:r>
            <a:r>
              <a:rPr lang="en-US" sz="2800" dirty="0">
                <a:sym typeface="Wingdings" panose="05000000000000000000" pitchFamily="2" charset="2"/>
              </a:rPr>
              <a:t> </a:t>
            </a:r>
            <a:r>
              <a:rPr lang="en-US" sz="2800" dirty="0" err="1">
                <a:sym typeface="Wingdings" panose="05000000000000000000" pitchFamily="2" charset="2"/>
              </a:rPr>
              <a:t>đó</a:t>
            </a:r>
            <a:r>
              <a:rPr lang="en-US" sz="2800" dirty="0">
                <a:sym typeface="Wingdings" panose="05000000000000000000" pitchFamily="2" charset="2"/>
              </a:rPr>
              <a:t>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800" dirty="0">
                <a:sym typeface="Wingdings" panose="05000000000000000000" pitchFamily="2" charset="2"/>
              </a:rPr>
              <a:t>	</a:t>
            </a:r>
            <a:r>
              <a:rPr lang="en-US" sz="2800" i="1" dirty="0">
                <a:sym typeface="Wingdings" panose="05000000000000000000" pitchFamily="2" charset="2"/>
              </a:rPr>
              <a:t>VD </a:t>
            </a:r>
            <a:r>
              <a:rPr lang="en-US" sz="2800" i="1" dirty="0" err="1">
                <a:sym typeface="Wingdings" panose="05000000000000000000" pitchFamily="2" charset="2"/>
              </a:rPr>
              <a:t>Cộng</a:t>
            </a:r>
            <a:r>
              <a:rPr lang="en-US" sz="2800" i="1" dirty="0">
                <a:sym typeface="Wingdings" panose="05000000000000000000" pitchFamily="2" charset="2"/>
              </a:rPr>
              <a:t> 2 </a:t>
            </a:r>
            <a:r>
              <a:rPr lang="en-US" sz="2800" i="1" dirty="0" err="1">
                <a:sym typeface="Wingdings" panose="05000000000000000000" pitchFamily="2" charset="2"/>
              </a:rPr>
              <a:t>số</a:t>
            </a:r>
            <a:r>
              <a:rPr lang="en-US" sz="2800" i="1" dirty="0">
                <a:sym typeface="Wingdings" panose="05000000000000000000" pitchFamily="2" charset="2"/>
              </a:rPr>
              <a:t>, </a:t>
            </a:r>
            <a:r>
              <a:rPr lang="en-US" sz="2800" i="1" dirty="0" err="1">
                <a:sym typeface="Wingdings" panose="05000000000000000000" pitchFamily="2" charset="2"/>
              </a:rPr>
              <a:t>tính</a:t>
            </a:r>
            <a:r>
              <a:rPr lang="en-US" sz="2800" i="1" dirty="0">
                <a:sym typeface="Wingdings" panose="05000000000000000000" pitchFamily="2" charset="2"/>
              </a:rPr>
              <a:t> </a:t>
            </a:r>
            <a:r>
              <a:rPr lang="en-US" sz="2800" i="1" dirty="0" err="1">
                <a:sym typeface="Wingdings" panose="05000000000000000000" pitchFamily="2" charset="2"/>
              </a:rPr>
              <a:t>tổng</a:t>
            </a:r>
            <a:r>
              <a:rPr lang="en-US" sz="2800" i="1" dirty="0">
                <a:sym typeface="Wingdings" panose="05000000000000000000" pitchFamily="2" charset="2"/>
              </a:rPr>
              <a:t> </a:t>
            </a:r>
            <a:r>
              <a:rPr lang="en-US" sz="2800" i="1" dirty="0" err="1">
                <a:sym typeface="Wingdings" panose="05000000000000000000" pitchFamily="2" charset="2"/>
              </a:rPr>
              <a:t>dãy</a:t>
            </a:r>
            <a:r>
              <a:rPr lang="en-US" sz="2800" i="1" dirty="0">
                <a:sym typeface="Wingdings" panose="05000000000000000000" pitchFamily="2" charset="2"/>
              </a:rPr>
              <a:t> </a:t>
            </a:r>
            <a:r>
              <a:rPr lang="en-US" sz="2800" i="1" dirty="0" err="1">
                <a:sym typeface="Wingdings" panose="05000000000000000000" pitchFamily="2" charset="2"/>
              </a:rPr>
              <a:t>Fibonaci</a:t>
            </a:r>
            <a:r>
              <a:rPr lang="en-US" sz="2800" i="1" dirty="0">
                <a:sym typeface="Wingdings" panose="05000000000000000000" pitchFamily="2" charset="2"/>
              </a:rPr>
              <a:t>, …</a:t>
            </a:r>
            <a:endParaRPr lang="en-GB" sz="28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1169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đồ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giả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nhiên</a:t>
            </a: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98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44563"/>
          </a:xfrm>
        </p:spPr>
        <p:txBody>
          <a:bodyPr>
            <a:normAutofit/>
          </a:bodyPr>
          <a:lstStyle/>
          <a:p>
            <a:pPr marL="320040" indent="-32004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đồ</a:t>
            </a:r>
            <a:endParaRPr lang="en-US" dirty="0"/>
          </a:p>
        </p:txBody>
      </p:sp>
      <p:sp>
        <p:nvSpPr>
          <p:cNvPr id="18435" name="Content Placeholder 5"/>
          <p:cNvSpPr>
            <a:spLocks noGrp="1"/>
          </p:cNvSpPr>
          <p:nvPr>
            <p:ph sz="quarter" idx="4294967295"/>
          </p:nvPr>
        </p:nvSpPr>
        <p:spPr>
          <a:xfrm>
            <a:off x="2286000" y="1219200"/>
            <a:ext cx="3352800" cy="5334000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Arial" charset="0"/>
              <a:buNone/>
              <a:defRPr/>
            </a:pPr>
            <a:r>
              <a:rPr lang="en-US" sz="3200" dirty="0" err="1"/>
              <a:t>Bắt</a:t>
            </a:r>
            <a:r>
              <a:rPr lang="en-US" sz="3200" dirty="0"/>
              <a:t> </a:t>
            </a:r>
            <a:r>
              <a:rPr lang="en-US" sz="3200" dirty="0" err="1"/>
              <a:t>đầu</a:t>
            </a:r>
            <a:r>
              <a:rPr lang="en-US" sz="3200" dirty="0"/>
              <a:t>/ </a:t>
            </a:r>
            <a:r>
              <a:rPr lang="en-US" sz="3200" dirty="0" err="1"/>
              <a:t>kết</a:t>
            </a:r>
            <a:r>
              <a:rPr lang="en-US" sz="3200" dirty="0"/>
              <a:t> </a:t>
            </a:r>
            <a:r>
              <a:rPr lang="en-US" sz="3200" dirty="0" err="1"/>
              <a:t>thúc</a:t>
            </a:r>
            <a:endParaRPr lang="en-US" sz="3200" dirty="0"/>
          </a:p>
          <a:p>
            <a:pPr eaLnBrk="1" hangingPunct="1">
              <a:buFont typeface="Arial" charset="0"/>
              <a:buNone/>
              <a:defRPr/>
            </a:pPr>
            <a:endParaRPr lang="en-US" sz="1600" dirty="0"/>
          </a:p>
          <a:p>
            <a:pPr eaLnBrk="1" hangingPunct="1">
              <a:buFont typeface="Arial" charset="0"/>
              <a:buNone/>
              <a:defRPr/>
            </a:pPr>
            <a:endParaRPr lang="en-US" sz="3200" dirty="0"/>
          </a:p>
          <a:p>
            <a:pPr eaLnBrk="1" hangingPunct="1">
              <a:buFont typeface="Arial" charset="0"/>
              <a:buNone/>
              <a:defRPr/>
            </a:pPr>
            <a:r>
              <a:rPr lang="en-US" sz="3200" dirty="0" err="1"/>
              <a:t>Rẽ</a:t>
            </a:r>
            <a:r>
              <a:rPr lang="en-US" sz="3200" dirty="0"/>
              <a:t> </a:t>
            </a:r>
            <a:r>
              <a:rPr lang="en-US" sz="3200" dirty="0" err="1"/>
              <a:t>nhánh</a:t>
            </a:r>
            <a:endParaRPr lang="en-US" sz="3200" dirty="0"/>
          </a:p>
          <a:p>
            <a:pPr eaLnBrk="1" hangingPunct="1">
              <a:buFont typeface="Arial" charset="0"/>
              <a:buNone/>
              <a:defRPr/>
            </a:pPr>
            <a:endParaRPr lang="en-US" sz="2400" dirty="0"/>
          </a:p>
          <a:p>
            <a:pPr eaLnBrk="1" hangingPunct="1">
              <a:buFont typeface="Arial" charset="0"/>
              <a:buNone/>
              <a:defRPr/>
            </a:pPr>
            <a:endParaRPr lang="en-US" sz="1400" dirty="0"/>
          </a:p>
          <a:p>
            <a:pPr eaLnBrk="1" hangingPunct="1">
              <a:buFont typeface="Arial" charset="0"/>
              <a:buNone/>
              <a:defRPr/>
            </a:pPr>
            <a:r>
              <a:rPr lang="en-US" sz="3200" dirty="0" err="1"/>
              <a:t>Luồng</a:t>
            </a:r>
            <a:r>
              <a:rPr lang="en-US" sz="3200" dirty="0"/>
              <a:t> </a:t>
            </a:r>
            <a:r>
              <a:rPr lang="en-US" sz="3200" dirty="0" err="1"/>
              <a:t>xử</a:t>
            </a:r>
            <a:r>
              <a:rPr lang="en-US" sz="3200" dirty="0"/>
              <a:t> </a:t>
            </a:r>
            <a:r>
              <a:rPr lang="en-US" sz="3200" dirty="0" err="1"/>
              <a:t>lý</a:t>
            </a:r>
            <a:endParaRPr lang="en-US" sz="3200" dirty="0"/>
          </a:p>
          <a:p>
            <a:pPr eaLnBrk="1" hangingPunct="1">
              <a:buFont typeface="Arial" charset="0"/>
              <a:buNone/>
              <a:defRPr/>
            </a:pPr>
            <a:endParaRPr lang="en-US" sz="1800" dirty="0"/>
          </a:p>
          <a:p>
            <a:pPr eaLnBrk="1" hangingPunct="1">
              <a:buFont typeface="Arial" charset="0"/>
              <a:buNone/>
              <a:defRPr/>
            </a:pPr>
            <a:r>
              <a:rPr lang="en-US" sz="3200" dirty="0" err="1"/>
              <a:t>Khối</a:t>
            </a:r>
            <a:r>
              <a:rPr lang="en-US" sz="3200" dirty="0"/>
              <a:t> </a:t>
            </a:r>
            <a:r>
              <a:rPr lang="en-US" sz="3200" dirty="0" err="1"/>
              <a:t>xử</a:t>
            </a:r>
            <a:r>
              <a:rPr lang="en-US" sz="3200" dirty="0"/>
              <a:t> </a:t>
            </a:r>
            <a:r>
              <a:rPr lang="en-US" sz="3200" dirty="0" err="1"/>
              <a:t>lý</a:t>
            </a:r>
            <a:endParaRPr lang="en-US" sz="3200" dirty="0"/>
          </a:p>
          <a:p>
            <a:pPr eaLnBrk="1" hangingPunct="1">
              <a:buFont typeface="Arial" charset="0"/>
              <a:buNone/>
              <a:defRPr/>
            </a:pPr>
            <a:endParaRPr lang="en-US" sz="2400" dirty="0"/>
          </a:p>
          <a:p>
            <a:pPr eaLnBrk="1" hangingPunct="1">
              <a:buFont typeface="Arial" charset="0"/>
              <a:buNone/>
              <a:defRPr/>
            </a:pPr>
            <a:r>
              <a:rPr lang="en-US" sz="3200" dirty="0" err="1"/>
              <a:t>Nhập</a:t>
            </a:r>
            <a:r>
              <a:rPr lang="en-US" sz="3200" dirty="0"/>
              <a:t>/ </a:t>
            </a:r>
            <a:r>
              <a:rPr lang="en-US" sz="3200" dirty="0" err="1"/>
              <a:t>Xuất</a:t>
            </a:r>
            <a:endParaRPr lang="en-US" sz="3200" dirty="0"/>
          </a:p>
          <a:p>
            <a:pPr eaLnBrk="1" hangingPunct="1">
              <a:buFont typeface="Arial" charset="0"/>
              <a:buNone/>
              <a:defRPr/>
            </a:pPr>
            <a:endParaRPr lang="en-US" sz="3200" dirty="0"/>
          </a:p>
          <a:p>
            <a:pPr eaLnBrk="1" hangingPunct="1">
              <a:buFont typeface="Arial" charset="0"/>
              <a:buNone/>
              <a:defRPr/>
            </a:pPr>
            <a:endParaRPr lang="en-US" sz="3200" dirty="0"/>
          </a:p>
          <a:p>
            <a:pPr eaLnBrk="1" hangingPunct="1">
              <a:buFont typeface="Arial" charset="0"/>
              <a:buNone/>
              <a:defRPr/>
            </a:pPr>
            <a:endParaRPr lang="en-US" sz="3200" dirty="0"/>
          </a:p>
          <a:p>
            <a:pPr eaLnBrk="1" hangingPunct="1">
              <a:buFont typeface="Arial" charset="0"/>
              <a:buNone/>
              <a:defRPr/>
            </a:pPr>
            <a:endParaRPr lang="en-US" sz="3200" dirty="0"/>
          </a:p>
          <a:p>
            <a:pPr eaLnBrk="1" hangingPunct="1">
              <a:buFont typeface="Arial" charset="0"/>
              <a:buNone/>
              <a:defRPr/>
            </a:pPr>
            <a:endParaRPr lang="en-US" sz="3200" dirty="0"/>
          </a:p>
        </p:txBody>
      </p:sp>
      <p:sp>
        <p:nvSpPr>
          <p:cNvPr id="7" name="Oval 6"/>
          <p:cNvSpPr/>
          <p:nvPr/>
        </p:nvSpPr>
        <p:spPr>
          <a:xfrm>
            <a:off x="381000" y="1143000"/>
            <a:ext cx="1828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Diamond 7"/>
          <p:cNvSpPr/>
          <p:nvPr/>
        </p:nvSpPr>
        <p:spPr>
          <a:xfrm>
            <a:off x="457200" y="2286000"/>
            <a:ext cx="1600200" cy="13716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 err="1"/>
              <a:t>Điều</a:t>
            </a:r>
            <a:r>
              <a:rPr lang="en-US" sz="2400" dirty="0"/>
              <a:t> </a:t>
            </a:r>
            <a:r>
              <a:rPr lang="en-US" sz="2400" dirty="0" err="1"/>
              <a:t>kiện</a:t>
            </a:r>
            <a:endParaRPr lang="en-US" sz="2400" dirty="0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533400" y="4189413"/>
            <a:ext cx="1524000" cy="1587"/>
          </a:xfrm>
          <a:prstGeom prst="straightConnector1">
            <a:avLst/>
          </a:prstGeom>
          <a:ln w="508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33400" y="4800600"/>
            <a:ext cx="15240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Parallelogram 12"/>
          <p:cNvSpPr/>
          <p:nvPr/>
        </p:nvSpPr>
        <p:spPr>
          <a:xfrm>
            <a:off x="533400" y="5943600"/>
            <a:ext cx="1524000" cy="685800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Left Arrow 13"/>
          <p:cNvSpPr/>
          <p:nvPr/>
        </p:nvSpPr>
        <p:spPr>
          <a:xfrm>
            <a:off x="5105400" y="2819400"/>
            <a:ext cx="914400" cy="6858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5257800" y="39624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2539" name="Content Placeholder 5"/>
          <p:cNvSpPr txBox="1">
            <a:spLocks/>
          </p:cNvSpPr>
          <p:nvPr/>
        </p:nvSpPr>
        <p:spPr bwMode="auto">
          <a:xfrm>
            <a:off x="6248400" y="2819400"/>
            <a:ext cx="27432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sz="3200" dirty="0" err="1">
                <a:latin typeface="Times New Roman" panose="02020603050405020304" pitchFamily="18" charset="0"/>
              </a:rPr>
              <a:t>Giá</a:t>
            </a:r>
            <a:r>
              <a:rPr lang="en-US" sz="3200" dirty="0"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</a:rPr>
              <a:t>trị</a:t>
            </a:r>
            <a:r>
              <a:rPr lang="en-US" sz="3200" dirty="0"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</a:rPr>
              <a:t>trả</a:t>
            </a:r>
            <a:r>
              <a:rPr lang="en-US" sz="3200" dirty="0"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</a:rPr>
              <a:t>về</a:t>
            </a:r>
            <a:endParaRPr lang="en-US" sz="32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sz="32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sz="3200" dirty="0" err="1">
                <a:latin typeface="Times New Roman" panose="02020603050405020304" pitchFamily="18" charset="0"/>
              </a:rPr>
              <a:t>Điểm</a:t>
            </a:r>
            <a:r>
              <a:rPr lang="en-US" sz="3200" dirty="0"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</a:rPr>
              <a:t>nối</a:t>
            </a:r>
            <a:endParaRPr lang="en-US" sz="32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sz="32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sz="32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sz="32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sz="3200" dirty="0">
              <a:latin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B2606F4-00AB-4ACE-9EF5-2935C96395AC}" type="slidenum">
              <a:rPr lang="en-US">
                <a:solidFill>
                  <a:srgbClr val="7F7F7F"/>
                </a:solidFill>
              </a:rPr>
              <a:pPr eaLnBrk="1" hangingPunct="1"/>
              <a:t>40</a:t>
            </a:fld>
            <a:endParaRPr lang="en-US"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59381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giả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05740" indent="-182880">
              <a:lnSpc>
                <a:spcPct val="150000"/>
              </a:lnSpc>
              <a:buClr>
                <a:schemeClr val="accent6">
                  <a:lumMod val="75000"/>
                </a:schemeClr>
              </a:buClr>
              <a:defRPr/>
            </a:pPr>
            <a:r>
              <a:rPr lang="en-US" dirty="0"/>
              <a:t>IF &lt;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&gt; THEN …ENDIF</a:t>
            </a:r>
          </a:p>
          <a:p>
            <a:pPr marL="205740" indent="-182880">
              <a:lnSpc>
                <a:spcPct val="150000"/>
              </a:lnSpc>
              <a:buClr>
                <a:schemeClr val="accent6">
                  <a:lumMod val="75000"/>
                </a:schemeClr>
              </a:buClr>
              <a:defRPr/>
            </a:pPr>
            <a:r>
              <a:rPr lang="en-US" dirty="0"/>
              <a:t>IF &lt;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&gt; THEN ... ELSE ... ENDIF</a:t>
            </a:r>
          </a:p>
          <a:p>
            <a:pPr marL="205740" indent="-182880">
              <a:lnSpc>
                <a:spcPct val="150000"/>
              </a:lnSpc>
              <a:buClr>
                <a:schemeClr val="accent6">
                  <a:lumMod val="75000"/>
                </a:schemeClr>
              </a:buClr>
              <a:defRPr/>
            </a:pPr>
            <a:r>
              <a:rPr lang="en-US" dirty="0"/>
              <a:t>WHILE &lt;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&gt; DO … ENDWHILE</a:t>
            </a:r>
          </a:p>
          <a:p>
            <a:pPr marL="205740" indent="-182880">
              <a:lnSpc>
                <a:spcPct val="150000"/>
              </a:lnSpc>
              <a:buClr>
                <a:schemeClr val="accent6">
                  <a:lumMod val="75000"/>
                </a:schemeClr>
              </a:buClr>
              <a:defRPr/>
            </a:pPr>
            <a:r>
              <a:rPr lang="en-US" dirty="0"/>
              <a:t>DO … UNTIL &lt;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&gt;</a:t>
            </a:r>
          </a:p>
          <a:p>
            <a:pPr marL="205740" indent="-182880">
              <a:lnSpc>
                <a:spcPct val="150000"/>
              </a:lnSpc>
              <a:buClr>
                <a:schemeClr val="accent6">
                  <a:lumMod val="75000"/>
                </a:schemeClr>
              </a:buClr>
              <a:defRPr/>
            </a:pPr>
            <a:r>
              <a:rPr lang="en-US" dirty="0"/>
              <a:t>DISPLAY …</a:t>
            </a:r>
          </a:p>
          <a:p>
            <a:pPr marL="205740" indent="-182880">
              <a:lnSpc>
                <a:spcPct val="150000"/>
              </a:lnSpc>
              <a:buClr>
                <a:schemeClr val="accent6">
                  <a:lumMod val="75000"/>
                </a:schemeClr>
              </a:buClr>
              <a:defRPr/>
            </a:pPr>
            <a:r>
              <a:rPr lang="en-US" dirty="0"/>
              <a:t>RETURN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1540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Tìm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ước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số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chung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lớn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nhất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của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2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số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nguyên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dương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và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b</a:t>
            </a:r>
          </a:p>
          <a:p>
            <a:pPr indent="-182880">
              <a:lnSpc>
                <a:spcPct val="150000"/>
              </a:lnSpc>
              <a:buClr>
                <a:schemeClr val="accent6">
                  <a:lumMod val="75000"/>
                </a:schemeClr>
              </a:buClr>
              <a:defRPr/>
            </a:pPr>
            <a:r>
              <a:rPr lang="en-US" dirty="0" err="1">
                <a:solidFill>
                  <a:srgbClr val="FF0000"/>
                </a:solidFill>
              </a:rPr>
              <a:t>Đầu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vào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2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số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nguyên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dương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và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b</a:t>
            </a:r>
          </a:p>
          <a:p>
            <a:pPr indent="-182880">
              <a:lnSpc>
                <a:spcPct val="150000"/>
              </a:lnSpc>
              <a:buClr>
                <a:schemeClr val="accent6">
                  <a:lumMod val="75000"/>
                </a:schemeClr>
              </a:buClr>
              <a:defRPr/>
            </a:pPr>
            <a:r>
              <a:rPr lang="en-US" dirty="0" err="1">
                <a:solidFill>
                  <a:srgbClr val="FF0000"/>
                </a:solidFill>
              </a:rPr>
              <a:t>Đầu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ra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ước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số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chung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lớn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nhất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của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và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b</a:t>
            </a:r>
          </a:p>
          <a:p>
            <a:pPr marL="0" indent="0">
              <a:lnSpc>
                <a:spcPct val="150000"/>
              </a:lnSpc>
              <a:buNone/>
            </a:pP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9428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nhiên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Bước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1: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Nếu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 = b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thì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kết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luận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là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ước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số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chung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lớn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nhất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kết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thúc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lnSpc>
                <a:spcPct val="150000"/>
              </a:lnSpc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Bước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2: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Nếu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 &gt; b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thì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a = a – b;</a:t>
            </a:r>
          </a:p>
          <a:p>
            <a:pPr marL="0" indent="0">
              <a:lnSpc>
                <a:spcPct val="150000"/>
              </a:lnSpc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  	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Ngược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lại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thì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b = b – a;</a:t>
            </a:r>
          </a:p>
          <a:p>
            <a:pPr marL="0" indent="0">
              <a:lnSpc>
                <a:spcPct val="150000"/>
              </a:lnSpc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Bước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3: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Quay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trở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lại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Bước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8029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giả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43000"/>
            <a:ext cx="7886700" cy="533400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/>
              <a:t>WHILE a ≠ b DO</a:t>
            </a:r>
          </a:p>
          <a:p>
            <a:pPr marL="0" indent="0">
              <a:lnSpc>
                <a:spcPct val="150000"/>
              </a:lnSpc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/>
              <a:t>	IF a&gt;b THEN</a:t>
            </a:r>
          </a:p>
          <a:p>
            <a:pPr marL="0" indent="0">
              <a:lnSpc>
                <a:spcPct val="150000"/>
              </a:lnSpc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/>
              <a:t>		a=a-b</a:t>
            </a:r>
          </a:p>
          <a:p>
            <a:pPr marL="0" indent="0">
              <a:lnSpc>
                <a:spcPct val="150000"/>
              </a:lnSpc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/>
              <a:t>	ELSE</a:t>
            </a:r>
          </a:p>
          <a:p>
            <a:pPr marL="0" indent="0">
              <a:lnSpc>
                <a:spcPct val="150000"/>
              </a:lnSpc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/>
              <a:t>		b=b-a</a:t>
            </a:r>
          </a:p>
          <a:p>
            <a:pPr marL="0" indent="0">
              <a:lnSpc>
                <a:spcPct val="150000"/>
              </a:lnSpc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/>
              <a:t>	ENDIF</a:t>
            </a:r>
          </a:p>
          <a:p>
            <a:pPr marL="0" indent="0">
              <a:lnSpc>
                <a:spcPct val="150000"/>
              </a:lnSpc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/>
              <a:t>ENDWHILE</a:t>
            </a:r>
          </a:p>
          <a:p>
            <a:pPr marL="0" indent="0">
              <a:lnSpc>
                <a:spcPct val="150000"/>
              </a:lnSpc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/>
              <a:t>DISPLAY 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9849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020937"/>
            <a:ext cx="8515350" cy="58370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1325563"/>
          </a:xfrm>
        </p:spPr>
        <p:txBody>
          <a:bodyPr/>
          <a:lstStyle/>
          <a:p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đồ</a:t>
            </a: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8497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in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ước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dương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3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:</a:t>
            </a:r>
          </a:p>
          <a:p>
            <a:pPr marL="514350" indent="-514350">
              <a:buAutoNum type="arabicPeriod"/>
            </a:pP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nhiên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giả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đồ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4525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 </a:t>
            </a:r>
            <a:r>
              <a:rPr lang="en-US" dirty="0" err="1"/>
              <a:t>đắn</a:t>
            </a:r>
            <a:endParaRPr lang="en-US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dừng</a:t>
            </a:r>
            <a:endParaRPr lang="en-US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endParaRPr lang="en-US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endParaRPr lang="en-US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phổ</a:t>
            </a:r>
            <a:r>
              <a:rPr lang="en-US" dirty="0"/>
              <a:t> </a:t>
            </a:r>
            <a:r>
              <a:rPr lang="en-US" dirty="0" err="1"/>
              <a:t>quát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912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dirty="0"/>
              <a:t>[1] </a:t>
            </a:r>
            <a:r>
              <a:rPr lang="en-US" sz="2800" dirty="0" err="1"/>
              <a:t>Tính</a:t>
            </a:r>
            <a:r>
              <a:rPr lang="en-US" sz="2800" dirty="0"/>
              <a:t> </a:t>
            </a:r>
            <a:r>
              <a:rPr lang="en-US" sz="2800" dirty="0" err="1"/>
              <a:t>đúng</a:t>
            </a:r>
            <a:r>
              <a:rPr lang="en-US" sz="2800" dirty="0"/>
              <a:t> </a:t>
            </a:r>
            <a:r>
              <a:rPr lang="en-US" sz="2800" dirty="0" err="1"/>
              <a:t>đắn</a:t>
            </a:r>
            <a:r>
              <a:rPr lang="en-US" sz="2800" dirty="0"/>
              <a:t> *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/>
              <a:t>	</a:t>
            </a:r>
            <a:r>
              <a:rPr lang="en-US" sz="2800" dirty="0" err="1"/>
              <a:t>Đảm</a:t>
            </a:r>
            <a:r>
              <a:rPr lang="en-US" sz="2800" dirty="0"/>
              <a:t> </a:t>
            </a:r>
            <a:r>
              <a:rPr lang="en-US" sz="2800" dirty="0" err="1"/>
              <a:t>bảo</a:t>
            </a:r>
            <a:r>
              <a:rPr lang="en-US" sz="2800" dirty="0"/>
              <a:t> </a:t>
            </a:r>
            <a:r>
              <a:rPr lang="en-US" sz="2800" dirty="0" err="1"/>
              <a:t>kết</a:t>
            </a:r>
            <a:r>
              <a:rPr lang="en-US" sz="2800" dirty="0"/>
              <a:t> </a:t>
            </a:r>
            <a:r>
              <a:rPr lang="en-US" sz="2800" dirty="0" err="1"/>
              <a:t>quả</a:t>
            </a:r>
            <a:r>
              <a:rPr lang="en-US" sz="2800" dirty="0"/>
              <a:t> </a:t>
            </a:r>
            <a:r>
              <a:rPr lang="en-US" sz="2800" dirty="0" err="1"/>
              <a:t>đúng</a:t>
            </a:r>
            <a:r>
              <a:rPr lang="en-US" sz="2800" dirty="0"/>
              <a:t> </a:t>
            </a:r>
            <a:r>
              <a:rPr lang="en-US" sz="2800" dirty="0" err="1"/>
              <a:t>sau</a:t>
            </a:r>
            <a:r>
              <a:rPr lang="en-US" sz="2800" dirty="0"/>
              <a:t> </a:t>
            </a:r>
            <a:r>
              <a:rPr lang="en-US" sz="2800" dirty="0" err="1"/>
              <a:t>khi</a:t>
            </a:r>
            <a:r>
              <a:rPr lang="en-US" sz="2800" dirty="0"/>
              <a:t> </a:t>
            </a:r>
            <a:r>
              <a:rPr lang="en-US" sz="2800" dirty="0" err="1"/>
              <a:t>thực</a:t>
            </a:r>
            <a:r>
              <a:rPr lang="en-US" sz="2800" dirty="0"/>
              <a:t> </a:t>
            </a:r>
            <a:r>
              <a:rPr lang="en-US" sz="2800" dirty="0" err="1"/>
              <a:t>hiện</a:t>
            </a:r>
            <a:r>
              <a:rPr lang="en-US" sz="2800" dirty="0"/>
              <a:t> </a:t>
            </a:r>
            <a:r>
              <a:rPr lang="en-US" sz="2800" dirty="0" err="1"/>
              <a:t>đối</a:t>
            </a:r>
            <a:r>
              <a:rPr lang="en-US" sz="2800" dirty="0"/>
              <a:t> </a:t>
            </a:r>
            <a:r>
              <a:rPr lang="en-US" sz="2800" dirty="0" err="1"/>
              <a:t>với</a:t>
            </a:r>
            <a:r>
              <a:rPr lang="en-US" sz="2800" dirty="0"/>
              <a:t> 	</a:t>
            </a:r>
            <a:r>
              <a:rPr lang="en-US" sz="2800" dirty="0" err="1"/>
              <a:t>bộ</a:t>
            </a:r>
            <a:r>
              <a:rPr lang="en-US" sz="2800" dirty="0"/>
              <a:t> </a:t>
            </a:r>
            <a:r>
              <a:rPr lang="en-US" sz="2800" dirty="0" err="1"/>
              <a:t>dữ</a:t>
            </a:r>
            <a:r>
              <a:rPr lang="en-US" sz="2800" dirty="0"/>
              <a:t> </a:t>
            </a:r>
            <a:r>
              <a:rPr lang="en-US" sz="2800" dirty="0" err="1"/>
              <a:t>liệu</a:t>
            </a:r>
            <a:r>
              <a:rPr lang="en-US" sz="2800" dirty="0"/>
              <a:t> </a:t>
            </a:r>
            <a:r>
              <a:rPr lang="en-US" sz="2800" dirty="0" err="1"/>
              <a:t>đầu</a:t>
            </a:r>
            <a:r>
              <a:rPr lang="en-US" sz="2800" dirty="0"/>
              <a:t> </a:t>
            </a:r>
            <a:r>
              <a:rPr lang="en-US" sz="2800" dirty="0" err="1"/>
              <a:t>vào</a:t>
            </a:r>
            <a:endParaRPr lang="en-US" sz="2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/>
              <a:t>[2] </a:t>
            </a:r>
            <a:r>
              <a:rPr lang="en-US" sz="2800" dirty="0" err="1"/>
              <a:t>Tính</a:t>
            </a:r>
            <a:r>
              <a:rPr lang="en-US" sz="2800" dirty="0"/>
              <a:t> </a:t>
            </a:r>
            <a:r>
              <a:rPr lang="en-US" sz="2800" dirty="0" err="1"/>
              <a:t>dừng</a:t>
            </a:r>
            <a:endParaRPr lang="en-US" sz="2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/>
              <a:t>	</a:t>
            </a:r>
            <a:r>
              <a:rPr lang="en-US" sz="2800" dirty="0" err="1"/>
              <a:t>Dừng</a:t>
            </a:r>
            <a:r>
              <a:rPr lang="en-US" sz="2800" dirty="0"/>
              <a:t> </a:t>
            </a:r>
            <a:r>
              <a:rPr lang="en-US" sz="2800" dirty="0">
                <a:sym typeface="Wingdings" panose="05000000000000000000" pitchFamily="2" charset="2"/>
              </a:rPr>
              <a:t> </a:t>
            </a:r>
            <a:r>
              <a:rPr lang="en-US" sz="2800" dirty="0"/>
              <a:t>Sau </a:t>
            </a:r>
            <a:r>
              <a:rPr lang="en-US" sz="2800" dirty="0" err="1"/>
              <a:t>một</a:t>
            </a:r>
            <a:r>
              <a:rPr lang="en-US" sz="2800" dirty="0"/>
              <a:t> </a:t>
            </a:r>
            <a:r>
              <a:rPr lang="en-US" sz="2800" dirty="0" err="1"/>
              <a:t>vài</a:t>
            </a:r>
            <a:r>
              <a:rPr lang="en-US" sz="2800" dirty="0"/>
              <a:t> </a:t>
            </a:r>
            <a:r>
              <a:rPr lang="en-US" sz="2800" dirty="0" err="1"/>
              <a:t>bước</a:t>
            </a:r>
            <a:r>
              <a:rPr lang="en-US" sz="2800" dirty="0"/>
              <a:t> </a:t>
            </a:r>
            <a:r>
              <a:rPr lang="en-US" sz="2800" dirty="0" err="1"/>
              <a:t>thực</a:t>
            </a:r>
            <a:r>
              <a:rPr lang="en-US" sz="2800" dirty="0"/>
              <a:t> </a:t>
            </a:r>
            <a:r>
              <a:rPr lang="en-US" sz="2800" dirty="0" err="1"/>
              <a:t>hiện</a:t>
            </a:r>
            <a:endParaRPr lang="en-GB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5363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71600"/>
            <a:ext cx="7886700" cy="5349876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dirty="0"/>
              <a:t>[3]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endParaRPr lang="en-US" dirty="0"/>
          </a:p>
          <a:p>
            <a:pPr marL="0" indent="0">
              <a:lnSpc>
                <a:spcPct val="160000"/>
              </a:lnSpc>
              <a:buNone/>
            </a:pPr>
            <a:r>
              <a:rPr lang="en-US" dirty="0"/>
              <a:t>	- </a:t>
            </a:r>
            <a:r>
              <a:rPr lang="en-US" dirty="0" err="1"/>
              <a:t>Rõ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,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thể</a:t>
            </a:r>
            <a:endParaRPr lang="en-US" dirty="0"/>
          </a:p>
          <a:p>
            <a:pPr marL="0" indent="0">
              <a:lnSpc>
                <a:spcPct val="160000"/>
              </a:lnSpc>
              <a:buNone/>
            </a:pPr>
            <a:r>
              <a:rPr lang="en-US" dirty="0"/>
              <a:t>	-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nhằng</a:t>
            </a:r>
            <a:r>
              <a:rPr lang="en-US" dirty="0"/>
              <a:t>, </a:t>
            </a:r>
            <a:r>
              <a:rPr lang="en-US" dirty="0" err="1"/>
              <a:t>gây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lầm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hiểu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dirty="0" err="1">
                <a:sym typeface="Wingdings" panose="05000000000000000000" pitchFamily="2" charset="2"/>
              </a:rPr>
              <a:t>cài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đặt</a:t>
            </a:r>
            <a:endParaRPr lang="en-US" dirty="0"/>
          </a:p>
          <a:p>
            <a:pPr marL="0" indent="0">
              <a:lnSpc>
                <a:spcPct val="160000"/>
              </a:lnSpc>
              <a:buNone/>
            </a:pPr>
            <a:r>
              <a:rPr lang="en-US" dirty="0"/>
              <a:t>[4]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endParaRPr lang="en-US" dirty="0"/>
          </a:p>
          <a:p>
            <a:pPr marL="0" indent="0">
              <a:lnSpc>
                <a:spcPct val="160000"/>
              </a:lnSpc>
              <a:buNone/>
            </a:pPr>
            <a:r>
              <a:rPr lang="en-US" dirty="0"/>
              <a:t>	-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,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endParaRPr lang="en-US" dirty="0"/>
          </a:p>
          <a:p>
            <a:pPr marL="0" indent="0">
              <a:lnSpc>
                <a:spcPct val="160000"/>
              </a:lnSpc>
              <a:buNone/>
            </a:pPr>
            <a:r>
              <a:rPr lang="en-US" dirty="0"/>
              <a:t>	- </a:t>
            </a:r>
            <a:r>
              <a:rPr lang="en-US" dirty="0" err="1"/>
              <a:t>Đáp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endParaRPr lang="en-US" dirty="0"/>
          </a:p>
          <a:p>
            <a:pPr marL="0" indent="0">
              <a:lnSpc>
                <a:spcPct val="160000"/>
              </a:lnSpc>
              <a:buNone/>
            </a:pPr>
            <a:r>
              <a:rPr lang="en-US" dirty="0"/>
              <a:t>[5]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phổ</a:t>
            </a:r>
            <a:r>
              <a:rPr lang="en-US" dirty="0"/>
              <a:t> </a:t>
            </a:r>
            <a:r>
              <a:rPr lang="en-US" dirty="0" err="1"/>
              <a:t>quát</a:t>
            </a:r>
            <a:endParaRPr lang="en-US" dirty="0"/>
          </a:p>
          <a:p>
            <a:pPr marL="0" indent="0">
              <a:lnSpc>
                <a:spcPct val="160000"/>
              </a:lnSpc>
              <a:buNone/>
            </a:pPr>
            <a:r>
              <a:rPr lang="en-US" dirty="0"/>
              <a:t>	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tự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3128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8210550" cy="1143000"/>
          </a:xfrm>
        </p:spPr>
        <p:txBody>
          <a:bodyPr/>
          <a:lstStyle/>
          <a:p>
            <a:r>
              <a:rPr lang="vi-VN" dirty="0"/>
              <a:t>Đ</a:t>
            </a:r>
            <a:r>
              <a:rPr lang="en-US" dirty="0" err="1"/>
              <a:t>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đ</a:t>
            </a:r>
            <a:r>
              <a:rPr lang="vi-VN" dirty="0"/>
              <a:t>ộ phức tạp của giải thuật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err="1"/>
              <a:t>Sự</a:t>
            </a:r>
            <a:r>
              <a:rPr lang="en-US" sz="2800" dirty="0"/>
              <a:t> </a:t>
            </a:r>
            <a:r>
              <a:rPr lang="en-US" sz="2800" dirty="0" err="1"/>
              <a:t>cần</a:t>
            </a:r>
            <a:r>
              <a:rPr lang="en-US" sz="2800" dirty="0"/>
              <a:t> </a:t>
            </a:r>
            <a:r>
              <a:rPr lang="en-US" sz="2800" dirty="0" err="1"/>
              <a:t>thiết</a:t>
            </a:r>
            <a:r>
              <a:rPr lang="en-US" sz="2800" dirty="0"/>
              <a:t> </a:t>
            </a:r>
            <a:r>
              <a:rPr lang="en-US" sz="2800" dirty="0" err="1"/>
              <a:t>phân</a:t>
            </a:r>
            <a:r>
              <a:rPr lang="en-US" sz="2800" dirty="0"/>
              <a:t> </a:t>
            </a:r>
            <a:r>
              <a:rPr lang="en-US" sz="2800" dirty="0" err="1"/>
              <a:t>tích</a:t>
            </a:r>
            <a:r>
              <a:rPr lang="en-US" sz="2800" dirty="0"/>
              <a:t> </a:t>
            </a:r>
            <a:r>
              <a:rPr lang="en-US" sz="2800" dirty="0" err="1"/>
              <a:t>giải</a:t>
            </a:r>
            <a:r>
              <a:rPr lang="en-US" sz="2800" dirty="0"/>
              <a:t> </a:t>
            </a:r>
            <a:r>
              <a:rPr lang="en-US" sz="2800" dirty="0" err="1"/>
              <a:t>thuật</a:t>
            </a:r>
            <a:endParaRPr lang="en-US" dirty="0"/>
          </a:p>
        </p:txBody>
      </p:sp>
      <p:grpSp>
        <p:nvGrpSpPr>
          <p:cNvPr id="15" name="Group 14"/>
          <p:cNvGrpSpPr/>
          <p:nvPr/>
        </p:nvGrpSpPr>
        <p:grpSpPr>
          <a:xfrm>
            <a:off x="762000" y="2133600"/>
            <a:ext cx="7848600" cy="4343400"/>
            <a:chOff x="990600" y="1905000"/>
            <a:chExt cx="7848600" cy="4343400"/>
          </a:xfrm>
        </p:grpSpPr>
        <p:sp>
          <p:nvSpPr>
            <p:cNvPr id="5" name="Oval 7"/>
            <p:cNvSpPr>
              <a:spLocks noChangeArrowheads="1"/>
            </p:cNvSpPr>
            <p:nvPr/>
          </p:nvSpPr>
          <p:spPr bwMode="auto">
            <a:xfrm>
              <a:off x="990600" y="2057400"/>
              <a:ext cx="4724400" cy="2819400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AutoShape 4"/>
            <p:cNvSpPr>
              <a:spLocks noChangeArrowheads="1"/>
            </p:cNvSpPr>
            <p:nvPr/>
          </p:nvSpPr>
          <p:spPr bwMode="auto">
            <a:xfrm>
              <a:off x="1828800" y="2590800"/>
              <a:ext cx="914400" cy="1143000"/>
            </a:xfrm>
            <a:prstGeom prst="verticalScroll">
              <a:avLst>
                <a:gd name="adj" fmla="val 12500"/>
              </a:avLst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eaLnBrk="0" hangingPunct="0">
                <a:spcBef>
                  <a:spcPct val="0"/>
                </a:spcBef>
              </a:pPr>
              <a:r>
                <a:rPr lang="en-US" sz="1400" b="1">
                  <a:latin typeface="Arial" charset="0"/>
                  <a:cs typeface="Arial" charset="0"/>
                </a:rPr>
                <a:t>GT A</a:t>
              </a:r>
            </a:p>
          </p:txBody>
        </p:sp>
        <p:sp>
          <p:nvSpPr>
            <p:cNvPr id="7" name="AutoShape 5"/>
            <p:cNvSpPr>
              <a:spLocks noChangeArrowheads="1"/>
            </p:cNvSpPr>
            <p:nvPr/>
          </p:nvSpPr>
          <p:spPr bwMode="auto">
            <a:xfrm>
              <a:off x="2895600" y="3048000"/>
              <a:ext cx="914400" cy="1143000"/>
            </a:xfrm>
            <a:prstGeom prst="verticalScroll">
              <a:avLst>
                <a:gd name="adj" fmla="val 12500"/>
              </a:avLst>
            </a:prstGeom>
            <a:solidFill>
              <a:srgbClr val="FFC000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0"/>
                </a:spcBef>
              </a:pPr>
              <a:r>
                <a:rPr lang="en-US" sz="1400" b="1">
                  <a:latin typeface="Arial" charset="0"/>
                  <a:cs typeface="Arial" charset="0"/>
                </a:rPr>
                <a:t>GT B</a:t>
              </a:r>
            </a:p>
          </p:txBody>
        </p:sp>
        <p:sp>
          <p:nvSpPr>
            <p:cNvPr id="8" name="AutoShape 6"/>
            <p:cNvSpPr>
              <a:spLocks noChangeArrowheads="1"/>
            </p:cNvSpPr>
            <p:nvPr/>
          </p:nvSpPr>
          <p:spPr bwMode="auto">
            <a:xfrm>
              <a:off x="3962400" y="2667000"/>
              <a:ext cx="914400" cy="1143000"/>
            </a:xfrm>
            <a:prstGeom prst="verticalScroll">
              <a:avLst>
                <a:gd name="adj" fmla="val 12500"/>
              </a:avLst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eaLnBrk="0" hangingPunct="0">
                <a:spcBef>
                  <a:spcPct val="0"/>
                </a:spcBef>
              </a:pPr>
              <a:r>
                <a:rPr lang="en-US" sz="1400" b="1">
                  <a:latin typeface="Arial" charset="0"/>
                  <a:cs typeface="Arial" charset="0"/>
                </a:rPr>
                <a:t>GT C</a:t>
              </a:r>
            </a:p>
          </p:txBody>
        </p:sp>
        <p:sp>
          <p:nvSpPr>
            <p:cNvPr id="9" name="Text Box 8"/>
            <p:cNvSpPr txBox="1">
              <a:spLocks noChangeArrowheads="1"/>
            </p:cNvSpPr>
            <p:nvPr/>
          </p:nvSpPr>
          <p:spPr bwMode="auto">
            <a:xfrm>
              <a:off x="2449513" y="4422775"/>
              <a:ext cx="1889125" cy="304800"/>
            </a:xfrm>
            <a:prstGeom prst="rect">
              <a:avLst/>
            </a:prstGeom>
            <a:noFill/>
            <a:ln w="317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 sz="1400">
                  <a:latin typeface="Arial" charset="0"/>
                  <a:cs typeface="Arial" charset="0"/>
                </a:rPr>
                <a:t>Vấn đề cần giải quyết</a:t>
              </a:r>
            </a:p>
          </p:txBody>
        </p:sp>
        <p:sp>
          <p:nvSpPr>
            <p:cNvPr id="10" name="AutoShape 9"/>
            <p:cNvSpPr>
              <a:spLocks noChangeArrowheads="1"/>
            </p:cNvSpPr>
            <p:nvPr/>
          </p:nvSpPr>
          <p:spPr bwMode="auto">
            <a:xfrm>
              <a:off x="5943600" y="3429000"/>
              <a:ext cx="1447800" cy="304800"/>
            </a:xfrm>
            <a:custGeom>
              <a:avLst/>
              <a:gdLst>
                <a:gd name="T0" fmla="*/ 2147483647 w 21600"/>
                <a:gd name="T1" fmla="*/ 0 h 21600"/>
                <a:gd name="T2" fmla="*/ 0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2147483647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chemeClr val="tx1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AutoShape 10"/>
            <p:cNvSpPr>
              <a:spLocks noChangeArrowheads="1"/>
            </p:cNvSpPr>
            <p:nvPr/>
          </p:nvSpPr>
          <p:spPr bwMode="auto">
            <a:xfrm>
              <a:off x="7467600" y="2743200"/>
              <a:ext cx="1371600" cy="1600200"/>
            </a:xfrm>
            <a:prstGeom prst="verticalScroll">
              <a:avLst>
                <a:gd name="adj" fmla="val 12500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sz="1400" b="1">
                  <a:latin typeface="Arial" charset="0"/>
                  <a:cs typeface="Arial" charset="0"/>
                </a:rPr>
                <a:t>GT tốt</a:t>
              </a: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4876800" y="5029200"/>
              <a:ext cx="3733800" cy="1219200"/>
            </a:xfrm>
            <a:prstGeom prst="rect">
              <a:avLst/>
            </a:prstGeom>
            <a:solidFill>
              <a:srgbClr val="FFC000"/>
            </a:solidFill>
            <a:ln w="317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marL="342900" indent="-342900" algn="l" eaLnBrk="0" hangingPunct="0">
                <a:spcBef>
                  <a:spcPct val="0"/>
                </a:spcBef>
                <a:buFontTx/>
                <a:buAutoNum type="arabicPeriod"/>
              </a:pPr>
              <a:r>
                <a:rPr lang="en-US" dirty="0" err="1">
                  <a:latin typeface="Arial" charset="0"/>
                  <a:cs typeface="Arial" charset="0"/>
                </a:rPr>
                <a:t>Giải</a:t>
              </a:r>
              <a:r>
                <a:rPr lang="en-US" dirty="0">
                  <a:latin typeface="Arial" charset="0"/>
                  <a:cs typeface="Arial" charset="0"/>
                </a:rPr>
                <a:t> </a:t>
              </a:r>
              <a:r>
                <a:rPr lang="en-US" dirty="0" err="1">
                  <a:latin typeface="Arial" charset="0"/>
                  <a:cs typeface="Arial" charset="0"/>
                </a:rPr>
                <a:t>thuật</a:t>
              </a:r>
              <a:r>
                <a:rPr lang="en-US" dirty="0">
                  <a:latin typeface="Arial" charset="0"/>
                  <a:cs typeface="Arial" charset="0"/>
                </a:rPr>
                <a:t> </a:t>
              </a:r>
              <a:r>
                <a:rPr lang="en-US" dirty="0" err="1">
                  <a:latin typeface="Arial" charset="0"/>
                  <a:cs typeface="Arial" charset="0"/>
                </a:rPr>
                <a:t>đúng</a:t>
              </a:r>
              <a:endParaRPr lang="en-US" dirty="0">
                <a:latin typeface="Arial" charset="0"/>
                <a:cs typeface="Arial" charset="0"/>
              </a:endParaRPr>
            </a:p>
            <a:p>
              <a:pPr marL="342900" indent="-342900" algn="l" eaLnBrk="0" hangingPunct="0">
                <a:spcBef>
                  <a:spcPct val="0"/>
                </a:spcBef>
                <a:buFontTx/>
                <a:buAutoNum type="arabicPeriod"/>
              </a:pPr>
              <a:r>
                <a:rPr lang="en-US" dirty="0" err="1">
                  <a:latin typeface="Arial" charset="0"/>
                  <a:cs typeface="Arial" charset="0"/>
                </a:rPr>
                <a:t>Giải</a:t>
              </a:r>
              <a:r>
                <a:rPr lang="en-US" dirty="0">
                  <a:latin typeface="Arial" charset="0"/>
                  <a:cs typeface="Arial" charset="0"/>
                </a:rPr>
                <a:t> </a:t>
              </a:r>
              <a:r>
                <a:rPr lang="en-US" dirty="0" err="1">
                  <a:latin typeface="Arial" charset="0"/>
                  <a:cs typeface="Arial" charset="0"/>
                </a:rPr>
                <a:t>thuật</a:t>
              </a:r>
              <a:r>
                <a:rPr lang="en-US" dirty="0">
                  <a:latin typeface="Arial" charset="0"/>
                  <a:cs typeface="Arial" charset="0"/>
                </a:rPr>
                <a:t> </a:t>
              </a:r>
              <a:r>
                <a:rPr lang="en-US" dirty="0" err="1">
                  <a:latin typeface="Arial" charset="0"/>
                  <a:cs typeface="Arial" charset="0"/>
                </a:rPr>
                <a:t>đơn</a:t>
              </a:r>
              <a:r>
                <a:rPr lang="en-US" dirty="0">
                  <a:latin typeface="Arial" charset="0"/>
                  <a:cs typeface="Arial" charset="0"/>
                </a:rPr>
                <a:t> </a:t>
              </a:r>
              <a:r>
                <a:rPr lang="en-US" dirty="0" err="1">
                  <a:latin typeface="Arial" charset="0"/>
                  <a:cs typeface="Arial" charset="0"/>
                </a:rPr>
                <a:t>giản</a:t>
              </a:r>
              <a:endParaRPr lang="en-US" dirty="0">
                <a:latin typeface="Arial" charset="0"/>
                <a:cs typeface="Arial" charset="0"/>
              </a:endParaRPr>
            </a:p>
            <a:p>
              <a:pPr marL="342900" indent="-342900" algn="l" eaLnBrk="0" hangingPunct="0">
                <a:spcBef>
                  <a:spcPct val="0"/>
                </a:spcBef>
                <a:buFontTx/>
                <a:buAutoNum type="arabicPeriod"/>
              </a:pPr>
              <a:r>
                <a:rPr lang="en-US" dirty="0" err="1">
                  <a:latin typeface="Arial" charset="0"/>
                  <a:cs typeface="Arial" charset="0"/>
                </a:rPr>
                <a:t>Giải</a:t>
              </a:r>
              <a:r>
                <a:rPr lang="en-US" dirty="0">
                  <a:latin typeface="Arial" charset="0"/>
                  <a:cs typeface="Arial" charset="0"/>
                </a:rPr>
                <a:t> </a:t>
              </a:r>
              <a:r>
                <a:rPr lang="en-US" dirty="0" err="1">
                  <a:latin typeface="Arial" charset="0"/>
                  <a:cs typeface="Arial" charset="0"/>
                </a:rPr>
                <a:t>thuật</a:t>
              </a:r>
              <a:r>
                <a:rPr lang="en-US" dirty="0">
                  <a:latin typeface="Arial" charset="0"/>
                  <a:cs typeface="Arial" charset="0"/>
                </a:rPr>
                <a:t> </a:t>
              </a:r>
              <a:r>
                <a:rPr lang="en-US" dirty="0" err="1">
                  <a:latin typeface="Arial" charset="0"/>
                  <a:cs typeface="Arial" charset="0"/>
                </a:rPr>
                <a:t>thực</a:t>
              </a:r>
              <a:r>
                <a:rPr lang="en-US" dirty="0">
                  <a:latin typeface="Arial" charset="0"/>
                  <a:cs typeface="Arial" charset="0"/>
                </a:rPr>
                <a:t> </a:t>
              </a:r>
              <a:r>
                <a:rPr lang="en-US" dirty="0" err="1">
                  <a:latin typeface="Arial" charset="0"/>
                  <a:cs typeface="Arial" charset="0"/>
                </a:rPr>
                <a:t>hiện</a:t>
              </a:r>
              <a:r>
                <a:rPr lang="en-US" dirty="0">
                  <a:latin typeface="Arial" charset="0"/>
                  <a:cs typeface="Arial" charset="0"/>
                </a:rPr>
                <a:t> </a:t>
              </a:r>
              <a:r>
                <a:rPr lang="en-US" dirty="0" err="1">
                  <a:latin typeface="Arial" charset="0"/>
                  <a:cs typeface="Arial" charset="0"/>
                </a:rPr>
                <a:t>nhanh</a:t>
              </a:r>
              <a:br>
                <a:rPr lang="en-US" dirty="0">
                  <a:latin typeface="Arial" charset="0"/>
                  <a:cs typeface="Arial" charset="0"/>
                </a:rPr>
              </a:br>
              <a:r>
                <a:rPr lang="en-US" dirty="0" err="1">
                  <a:latin typeface="Arial" charset="0"/>
                  <a:cs typeface="Arial" charset="0"/>
                </a:rPr>
                <a:t>và</a:t>
              </a:r>
              <a:r>
                <a:rPr lang="en-US" dirty="0">
                  <a:latin typeface="Arial" charset="0"/>
                  <a:cs typeface="Arial" charset="0"/>
                </a:rPr>
                <a:t> </a:t>
              </a:r>
              <a:r>
                <a:rPr lang="en-US" dirty="0" err="1">
                  <a:latin typeface="Arial" charset="0"/>
                  <a:cs typeface="Arial" charset="0"/>
                </a:rPr>
                <a:t>tài</a:t>
              </a:r>
              <a:r>
                <a:rPr lang="en-US" dirty="0">
                  <a:latin typeface="Arial" charset="0"/>
                  <a:cs typeface="Arial" charset="0"/>
                </a:rPr>
                <a:t> </a:t>
              </a:r>
              <a:r>
                <a:rPr lang="en-US" dirty="0" err="1">
                  <a:latin typeface="Arial" charset="0"/>
                  <a:cs typeface="Arial" charset="0"/>
                </a:rPr>
                <a:t>nguyên</a:t>
              </a:r>
              <a:r>
                <a:rPr lang="en-US" dirty="0">
                  <a:latin typeface="Arial" charset="0"/>
                  <a:cs typeface="Arial" charset="0"/>
                </a:rPr>
                <a:t> </a:t>
              </a:r>
              <a:r>
                <a:rPr lang="en-US" dirty="0" err="1">
                  <a:latin typeface="Arial" charset="0"/>
                  <a:cs typeface="Arial" charset="0"/>
                </a:rPr>
                <a:t>sử</a:t>
              </a:r>
              <a:r>
                <a:rPr lang="en-US" dirty="0">
                  <a:latin typeface="Arial" charset="0"/>
                  <a:cs typeface="Arial" charset="0"/>
                </a:rPr>
                <a:t> </a:t>
              </a:r>
              <a:r>
                <a:rPr lang="en-US" dirty="0" err="1">
                  <a:latin typeface="Arial" charset="0"/>
                  <a:cs typeface="Arial" charset="0"/>
                </a:rPr>
                <a:t>dụng</a:t>
              </a: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>
              <a:off x="6324600" y="3962400"/>
              <a:ext cx="228600" cy="91440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14" name="Picture 13" descr="j0078622[1]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6219825" y="1905000"/>
              <a:ext cx="638175" cy="1371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t>50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1071683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71600"/>
            <a:ext cx="7886700" cy="48053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tốt</a:t>
            </a:r>
            <a:r>
              <a:rPr lang="en-US" dirty="0">
                <a:solidFill>
                  <a:srgbClr val="FF0000"/>
                </a:solidFill>
              </a:rPr>
              <a:t>/ </a:t>
            </a:r>
            <a:r>
              <a:rPr lang="en-US" dirty="0" err="1">
                <a:solidFill>
                  <a:srgbClr val="FF0000"/>
                </a:solidFill>
              </a:rPr>
              <a:t>xấu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loại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giản</a:t>
            </a:r>
            <a:r>
              <a:rPr lang="en-US" dirty="0"/>
              <a:t>,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,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9726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76200"/>
            <a:ext cx="7886700" cy="1047749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vi-VN" b="1" dirty="0" err="1"/>
              <a:t>Đánh</a:t>
            </a:r>
            <a:r>
              <a:rPr lang="vi-VN" b="1" dirty="0"/>
              <a:t> </a:t>
            </a:r>
            <a:r>
              <a:rPr lang="vi-VN" b="1" dirty="0" err="1"/>
              <a:t>giá</a:t>
            </a:r>
            <a:r>
              <a:rPr lang="vi-VN" b="1" dirty="0"/>
              <a:t> </a:t>
            </a:r>
            <a:r>
              <a:rPr lang="vi-VN" b="1" dirty="0" err="1"/>
              <a:t>độ</a:t>
            </a:r>
            <a:r>
              <a:rPr lang="vi-VN" b="1" dirty="0"/>
              <a:t> </a:t>
            </a:r>
            <a:r>
              <a:rPr lang="vi-VN" b="1" dirty="0" err="1"/>
              <a:t>phức</a:t>
            </a:r>
            <a:r>
              <a:rPr lang="vi-VN" b="1" dirty="0"/>
              <a:t> </a:t>
            </a:r>
            <a:r>
              <a:rPr lang="vi-VN" b="1" dirty="0" err="1"/>
              <a:t>tạp</a:t>
            </a:r>
            <a:r>
              <a:rPr lang="vi-VN" b="1" dirty="0"/>
              <a:t> </a:t>
            </a:r>
            <a:r>
              <a:rPr lang="vi-VN" b="1" dirty="0" err="1"/>
              <a:t>giải</a:t>
            </a:r>
            <a:r>
              <a:rPr lang="vi-VN" b="1" dirty="0"/>
              <a:t> </a:t>
            </a:r>
            <a:r>
              <a:rPr lang="vi-VN" b="1" dirty="0" err="1"/>
              <a:t>thuật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71600"/>
            <a:ext cx="7886700" cy="5102226"/>
          </a:xfrm>
        </p:spPr>
        <p:txBody>
          <a:bodyPr>
            <a:normAutofit/>
          </a:bodyPr>
          <a:lstStyle/>
          <a:p>
            <a:pPr algn="just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endParaRPr lang="en-US" dirty="0"/>
          </a:p>
          <a:p>
            <a:pPr algn="just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endParaRPr lang="en-US" dirty="0"/>
          </a:p>
          <a:p>
            <a:pPr algn="just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thử</a:t>
            </a:r>
            <a:endParaRPr lang="en-US" dirty="0"/>
          </a:p>
          <a:p>
            <a:pPr algn="just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cứng</a:t>
            </a:r>
            <a:endParaRPr lang="en-US" dirty="0"/>
          </a:p>
          <a:p>
            <a:pPr algn="just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8C57E1C-0C46-4B2E-B7D2-CE9877054AC0}" type="slidenum">
              <a:rPr lang="en-US" smtClean="0">
                <a:solidFill>
                  <a:schemeClr val="tx1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52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35770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phức</a:t>
            </a:r>
            <a:r>
              <a:rPr lang="en-US" dirty="0"/>
              <a:t> </a:t>
            </a:r>
            <a:r>
              <a:rPr lang="en-US" dirty="0" err="1"/>
              <a:t>tạp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phức</a:t>
            </a:r>
            <a:r>
              <a:rPr lang="en-US" dirty="0"/>
              <a:t> </a:t>
            </a:r>
            <a:r>
              <a:rPr lang="en-US" dirty="0" err="1"/>
              <a:t>tạp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: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phức</a:t>
            </a:r>
            <a:r>
              <a:rPr lang="en-US" dirty="0"/>
              <a:t> </a:t>
            </a:r>
            <a:r>
              <a:rPr lang="en-US" dirty="0" err="1"/>
              <a:t>tạp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(algorithm complexity)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ym typeface="Wingdings" panose="05000000000000000000" pitchFamily="2" charset="2"/>
              </a:rPr>
              <a:t>	</a:t>
            </a:r>
            <a:r>
              <a:rPr lang="en-US" i="1" dirty="0">
                <a:sym typeface="Wingdings" panose="05000000000000000000" pitchFamily="2" charset="2"/>
              </a:rPr>
              <a:t> </a:t>
            </a:r>
            <a:r>
              <a:rPr lang="en-US" i="1" dirty="0" err="1">
                <a:sym typeface="Wingdings" panose="05000000000000000000" pitchFamily="2" charset="2"/>
              </a:rPr>
              <a:t>ước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lượng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FF0000"/>
                </a:solidFill>
                <a:sym typeface="Wingdings" panose="05000000000000000000" pitchFamily="2" charset="2"/>
              </a:rPr>
              <a:t>số</a:t>
            </a:r>
            <a:r>
              <a:rPr lang="en-US" i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FF0000"/>
                </a:solidFill>
                <a:sym typeface="Wingdings" panose="05000000000000000000" pitchFamily="2" charset="2"/>
              </a:rPr>
              <a:t>phép</a:t>
            </a:r>
            <a:r>
              <a:rPr lang="en-US" i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FF0000"/>
                </a:solidFill>
                <a:sym typeface="Wingdings" panose="05000000000000000000" pitchFamily="2" charset="2"/>
              </a:rPr>
              <a:t>tính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cần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thực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hiện</a:t>
            </a:r>
            <a:endParaRPr lang="en-US" i="1" dirty="0"/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3720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vi-VN" dirty="0"/>
              <a:t>Thời gian thực hiện một chương trình là một hàm của kích thước dữ liệu vào, ký hiệu T(</a:t>
            </a:r>
            <a:r>
              <a:rPr lang="en-US" dirty="0"/>
              <a:t>N</a:t>
            </a:r>
            <a:r>
              <a:rPr lang="vi-VN" dirty="0"/>
              <a:t>) trong đó </a:t>
            </a:r>
            <a:r>
              <a:rPr lang="en-US" dirty="0"/>
              <a:t>N</a:t>
            </a:r>
            <a:r>
              <a:rPr lang="vi-VN" dirty="0"/>
              <a:t> là kích thước (độ lớn) của dữ liệu vào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/>
              <a:t>VD: </a:t>
            </a:r>
            <a:r>
              <a:rPr lang="vi-VN" dirty="0"/>
              <a:t>Chương trình tính tổng của </a:t>
            </a:r>
            <a:r>
              <a:rPr lang="en-US" dirty="0"/>
              <a:t>N</a:t>
            </a:r>
            <a:r>
              <a:rPr lang="vi-VN" dirty="0"/>
              <a:t> số có thời gian thực hiện </a:t>
            </a:r>
            <a:r>
              <a:rPr lang="en-US" dirty="0"/>
              <a:t>(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) </a:t>
            </a:r>
            <a:r>
              <a:rPr lang="vi-VN" dirty="0"/>
              <a:t>là T(</a:t>
            </a:r>
            <a:r>
              <a:rPr lang="en-US" dirty="0"/>
              <a:t>N</a:t>
            </a:r>
            <a:r>
              <a:rPr lang="vi-VN" dirty="0"/>
              <a:t>) = c</a:t>
            </a:r>
            <a:r>
              <a:rPr lang="en-US" dirty="0"/>
              <a:t>.N</a:t>
            </a:r>
            <a:r>
              <a:rPr lang="vi-VN" dirty="0"/>
              <a:t> trong đó c là một hằng số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vi-VN" dirty="0"/>
              <a:t>Thời gian thực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vi-VN" dirty="0"/>
              <a:t>chương trình là một hàm không âm, tức là T(n) </a:t>
            </a:r>
            <a:r>
              <a:rPr lang="vi-VN" dirty="0">
                <a:sym typeface="Symbol" panose="05050102010706020507" pitchFamily="18" charset="2"/>
              </a:rPr>
              <a:t></a:t>
            </a:r>
            <a:r>
              <a:rPr lang="vi-VN" dirty="0"/>
              <a:t>0 </a:t>
            </a:r>
            <a:r>
              <a:rPr lang="vi-VN" dirty="0">
                <a:sym typeface="Symbol" panose="05050102010706020507" pitchFamily="18" charset="2"/>
              </a:rPr>
              <a:t></a:t>
            </a:r>
            <a:r>
              <a:rPr lang="vi-VN" dirty="0"/>
              <a:t>n</a:t>
            </a:r>
            <a:r>
              <a:rPr lang="vi-VN" dirty="0">
                <a:sym typeface="Symbol" panose="05050102010706020507" pitchFamily="18" charset="2"/>
              </a:rPr>
              <a:t></a:t>
            </a:r>
            <a:r>
              <a:rPr lang="vi-VN" dirty="0"/>
              <a:t>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7834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phức</a:t>
            </a:r>
            <a:r>
              <a:rPr lang="en-US" dirty="0"/>
              <a:t> </a:t>
            </a:r>
            <a:r>
              <a:rPr lang="en-US" dirty="0" err="1"/>
              <a:t>tạp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43000"/>
            <a:ext cx="7886700" cy="5486399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800" dirty="0"/>
              <a:t>H</a:t>
            </a:r>
            <a:r>
              <a:rPr lang="vi-VN" sz="2800" dirty="0"/>
              <a:t>àm T(</a:t>
            </a:r>
            <a:r>
              <a:rPr lang="en-US" sz="2800" dirty="0"/>
              <a:t>N</a:t>
            </a:r>
            <a:r>
              <a:rPr lang="vi-VN" sz="2800" dirty="0"/>
              <a:t>) có </a:t>
            </a:r>
            <a:r>
              <a:rPr lang="vi-VN" sz="2800" b="1" dirty="0"/>
              <a:t>tỷ suất tăng (growth rate)</a:t>
            </a:r>
            <a:r>
              <a:rPr lang="vi-VN" sz="2800" dirty="0"/>
              <a:t> </a:t>
            </a:r>
            <a:r>
              <a:rPr lang="en-US" sz="2800" dirty="0" err="1"/>
              <a:t>là</a:t>
            </a:r>
            <a:r>
              <a:rPr lang="en-US" sz="2800" dirty="0"/>
              <a:t> </a:t>
            </a:r>
            <a:r>
              <a:rPr lang="vi-VN" sz="2800" dirty="0"/>
              <a:t>f(n) nếu tồn tại các hằng số c và </a:t>
            </a:r>
            <a:r>
              <a:rPr lang="en-US" sz="2800" dirty="0"/>
              <a:t>N</a:t>
            </a:r>
            <a:r>
              <a:rPr lang="vi-VN" sz="2800" baseline="-25000" dirty="0"/>
              <a:t>0</a:t>
            </a:r>
            <a:r>
              <a:rPr lang="vi-VN" sz="2800" dirty="0"/>
              <a:t> sao cho T(</a:t>
            </a:r>
            <a:r>
              <a:rPr lang="en-US" sz="2800" dirty="0"/>
              <a:t>N</a:t>
            </a:r>
            <a:r>
              <a:rPr lang="vi-VN" sz="2800" dirty="0"/>
              <a:t>) ≤ f(</a:t>
            </a:r>
            <a:r>
              <a:rPr lang="en-US" sz="2800" dirty="0"/>
              <a:t>N</a:t>
            </a:r>
            <a:r>
              <a:rPr lang="vi-VN" sz="2800" dirty="0"/>
              <a:t>) với mọi </a:t>
            </a:r>
            <a:r>
              <a:rPr lang="en-US" sz="2800" dirty="0"/>
              <a:t>N</a:t>
            </a:r>
            <a:r>
              <a:rPr lang="vi-VN" sz="2800" dirty="0"/>
              <a:t> ≥ </a:t>
            </a:r>
            <a:r>
              <a:rPr lang="en-US" sz="2800" dirty="0"/>
              <a:t>N</a:t>
            </a:r>
            <a:r>
              <a:rPr lang="vi-VN" sz="2800" baseline="-25000" dirty="0"/>
              <a:t>0</a:t>
            </a:r>
            <a:r>
              <a:rPr lang="vi-VN" sz="2800" dirty="0"/>
              <a:t> </a:t>
            </a:r>
            <a:endParaRPr lang="en-US" sz="2800" dirty="0"/>
          </a:p>
          <a:p>
            <a:pPr algn="just">
              <a:lnSpc>
                <a:spcPct val="150000"/>
              </a:lnSpc>
            </a:pPr>
            <a:r>
              <a:rPr lang="en-US" sz="2800" dirty="0"/>
              <a:t>VD: </a:t>
            </a:r>
            <a:r>
              <a:rPr lang="vi-VN" sz="2800" dirty="0"/>
              <a:t>Giả sử T(0) = 1, T(1) = 4 và tổng quát T(</a:t>
            </a:r>
            <a:r>
              <a:rPr lang="en-US" sz="2800" dirty="0"/>
              <a:t>N</a:t>
            </a:r>
            <a:r>
              <a:rPr lang="vi-VN" sz="2800" dirty="0"/>
              <a:t>) = (</a:t>
            </a:r>
            <a:r>
              <a:rPr lang="en-US" sz="2800" dirty="0"/>
              <a:t>N</a:t>
            </a:r>
            <a:r>
              <a:rPr lang="vi-VN" sz="2800" dirty="0"/>
              <a:t>+1)</a:t>
            </a:r>
            <a:r>
              <a:rPr lang="vi-VN" sz="2800" baseline="30000" dirty="0"/>
              <a:t>2</a:t>
            </a:r>
            <a:r>
              <a:rPr lang="vi-VN" sz="2800" dirty="0"/>
              <a:t>. Đặt </a:t>
            </a:r>
            <a:r>
              <a:rPr lang="en-US" sz="2800" dirty="0"/>
              <a:t>N</a:t>
            </a:r>
            <a:r>
              <a:rPr lang="vi-VN" sz="2800" baseline="-25000" dirty="0"/>
              <a:t>0</a:t>
            </a:r>
            <a:r>
              <a:rPr lang="vi-VN" sz="2800" dirty="0"/>
              <a:t> = 1 và c = 4 thì với mọi </a:t>
            </a:r>
            <a:r>
              <a:rPr lang="en-US" sz="2800" dirty="0"/>
              <a:t>N</a:t>
            </a:r>
            <a:r>
              <a:rPr lang="vi-VN" sz="2800" dirty="0"/>
              <a:t> ≥ 1 chúng ta dễ dàng chứng minh rằng T(</a:t>
            </a:r>
            <a:r>
              <a:rPr lang="en-US" sz="2800" dirty="0"/>
              <a:t>N</a:t>
            </a:r>
            <a:r>
              <a:rPr lang="vi-VN" sz="2800" dirty="0"/>
              <a:t>) = (</a:t>
            </a:r>
            <a:r>
              <a:rPr lang="en-US" sz="2800" dirty="0"/>
              <a:t>N</a:t>
            </a:r>
            <a:r>
              <a:rPr lang="vi-VN" sz="2800" dirty="0"/>
              <a:t>+1)</a:t>
            </a:r>
            <a:r>
              <a:rPr lang="vi-VN" sz="2800" baseline="30000" dirty="0"/>
              <a:t>2</a:t>
            </a:r>
            <a:r>
              <a:rPr lang="vi-VN" sz="2800" dirty="0"/>
              <a:t> ≤ 4</a:t>
            </a:r>
            <a:r>
              <a:rPr lang="en-US" sz="2800" dirty="0"/>
              <a:t>N</a:t>
            </a:r>
            <a:r>
              <a:rPr lang="vi-VN" sz="2800" baseline="30000" dirty="0"/>
              <a:t>2</a:t>
            </a:r>
            <a:r>
              <a:rPr lang="vi-VN" sz="2800" dirty="0"/>
              <a:t> với mọi </a:t>
            </a:r>
            <a:r>
              <a:rPr lang="en-US" sz="2800" dirty="0"/>
              <a:t>N</a:t>
            </a:r>
            <a:r>
              <a:rPr lang="vi-VN" sz="2800" dirty="0"/>
              <a:t> ≥ 1, tức là tỷ suất tăng của T(</a:t>
            </a:r>
            <a:r>
              <a:rPr lang="en-US" sz="2800" dirty="0"/>
              <a:t>N</a:t>
            </a:r>
            <a:r>
              <a:rPr lang="vi-VN" sz="2800" dirty="0"/>
              <a:t>) là </a:t>
            </a:r>
            <a:r>
              <a:rPr lang="en-US" sz="2800" dirty="0"/>
              <a:t>N</a:t>
            </a:r>
            <a:r>
              <a:rPr lang="vi-VN" sz="2800" baseline="30000" dirty="0"/>
              <a:t>2</a:t>
            </a:r>
            <a:endParaRPr lang="en-US" sz="2800" dirty="0"/>
          </a:p>
          <a:p>
            <a:pPr algn="just">
              <a:lnSpc>
                <a:spcPct val="150000"/>
              </a:lnSpc>
            </a:pPr>
            <a:r>
              <a:rPr lang="en-US" sz="2800" dirty="0"/>
              <a:t>VD: </a:t>
            </a:r>
            <a:r>
              <a:rPr lang="vi-VN" sz="2800" dirty="0"/>
              <a:t>Tỷ suất tăng của hàm T(</a:t>
            </a:r>
            <a:r>
              <a:rPr lang="en-US" sz="2800" dirty="0"/>
              <a:t>N</a:t>
            </a:r>
            <a:r>
              <a:rPr lang="vi-VN" sz="2800" dirty="0"/>
              <a:t>) = 3</a:t>
            </a:r>
            <a:r>
              <a:rPr lang="en-US" sz="2800" dirty="0"/>
              <a:t>N</a:t>
            </a:r>
            <a:r>
              <a:rPr lang="vi-VN" sz="2800" baseline="30000" dirty="0"/>
              <a:t>3</a:t>
            </a:r>
            <a:r>
              <a:rPr lang="vi-VN" sz="2800" dirty="0"/>
              <a:t> + 2</a:t>
            </a:r>
            <a:r>
              <a:rPr lang="en-US" sz="2800" dirty="0"/>
              <a:t>N</a:t>
            </a:r>
            <a:r>
              <a:rPr lang="vi-VN" sz="2800" baseline="30000" dirty="0"/>
              <a:t>2</a:t>
            </a:r>
            <a:r>
              <a:rPr lang="vi-VN" sz="2800" dirty="0"/>
              <a:t> là </a:t>
            </a:r>
            <a:r>
              <a:rPr lang="en-US" sz="2800" dirty="0"/>
              <a:t>N</a:t>
            </a:r>
            <a:r>
              <a:rPr lang="vi-VN" sz="2800" baseline="30000" dirty="0"/>
              <a:t>3</a:t>
            </a:r>
            <a:r>
              <a:rPr lang="vi-VN" sz="2800" dirty="0"/>
              <a:t>. </a:t>
            </a:r>
            <a:r>
              <a:rPr lang="en-US" sz="2800" dirty="0" err="1"/>
              <a:t>Đặt</a:t>
            </a:r>
            <a:r>
              <a:rPr lang="en-US" sz="2800" dirty="0"/>
              <a:t> N</a:t>
            </a:r>
            <a:r>
              <a:rPr lang="vi-VN" sz="2800" baseline="-25000" dirty="0"/>
              <a:t>0</a:t>
            </a:r>
            <a:r>
              <a:rPr lang="vi-VN" sz="2800" dirty="0"/>
              <a:t> = 0 và c = 5 ta dễ dàng chứng minh rằng với mọi </a:t>
            </a:r>
            <a:r>
              <a:rPr lang="en-US" sz="2800" dirty="0"/>
              <a:t>N</a:t>
            </a:r>
            <a:r>
              <a:rPr lang="vi-VN" sz="2800" dirty="0"/>
              <a:t> ≥ 0 thì 3</a:t>
            </a:r>
            <a:r>
              <a:rPr lang="en-US" sz="2800" dirty="0"/>
              <a:t>N</a:t>
            </a:r>
            <a:r>
              <a:rPr lang="vi-VN" sz="2800" baseline="30000" dirty="0"/>
              <a:t>3</a:t>
            </a:r>
            <a:r>
              <a:rPr lang="vi-VN" sz="2800" dirty="0"/>
              <a:t> + 2</a:t>
            </a:r>
            <a:r>
              <a:rPr lang="en-US" sz="2800" dirty="0"/>
              <a:t>N</a:t>
            </a:r>
            <a:r>
              <a:rPr lang="vi-VN" sz="2800" baseline="30000" dirty="0"/>
              <a:t>2</a:t>
            </a:r>
            <a:r>
              <a:rPr lang="vi-VN" sz="2800" dirty="0"/>
              <a:t> ≤ 5</a:t>
            </a:r>
            <a:r>
              <a:rPr lang="en-US" sz="2800" dirty="0"/>
              <a:t>N</a:t>
            </a:r>
            <a:r>
              <a:rPr lang="vi-VN" sz="2800" baseline="30000" dirty="0"/>
              <a:t>3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3450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210550" cy="1325563"/>
          </a:xfrm>
        </p:spPr>
        <p:txBody>
          <a:bodyPr/>
          <a:lstStyle/>
          <a:p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phức</a:t>
            </a:r>
            <a:r>
              <a:rPr lang="en-US" dirty="0"/>
              <a:t> </a:t>
            </a:r>
            <a:r>
              <a:rPr lang="en-US" dirty="0" err="1"/>
              <a:t>tạp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dirty="0" err="1"/>
                  <a:t>Hàm</a:t>
                </a:r>
                <a:r>
                  <a:rPr lang="en-US" dirty="0"/>
                  <a:t> T(N) </a:t>
                </a:r>
                <a:r>
                  <a:rPr lang="en-US" dirty="0" err="1"/>
                  <a:t>là</a:t>
                </a:r>
                <a:r>
                  <a:rPr lang="en-US" dirty="0"/>
                  <a:t> O(f(N)) (hay T(N)=O(f(N) – T(N)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b="1" dirty="0" err="1"/>
                  <a:t>độ</a:t>
                </a:r>
                <a:r>
                  <a:rPr lang="en-US" b="1" dirty="0"/>
                  <a:t> </a:t>
                </a:r>
                <a:r>
                  <a:rPr lang="en-US" b="1" dirty="0" err="1"/>
                  <a:t>phức</a:t>
                </a:r>
                <a:r>
                  <a:rPr lang="en-US" b="1" dirty="0"/>
                  <a:t> </a:t>
                </a:r>
                <a:r>
                  <a:rPr lang="en-US" b="1" dirty="0" err="1"/>
                  <a:t>tạp</a:t>
                </a:r>
                <a:r>
                  <a:rPr lang="en-US" b="1" dirty="0"/>
                  <a:t>/ </a:t>
                </a:r>
                <a:r>
                  <a:rPr lang="en-US" b="1" dirty="0" err="1"/>
                  <a:t>có</a:t>
                </a:r>
                <a:r>
                  <a:rPr lang="en-US" b="1" dirty="0"/>
                  <a:t> </a:t>
                </a:r>
                <a:r>
                  <a:rPr lang="en-US" b="1" dirty="0" err="1"/>
                  <a:t>tỷ</a:t>
                </a:r>
                <a:r>
                  <a:rPr lang="en-US" b="1" dirty="0"/>
                  <a:t> </a:t>
                </a:r>
                <a:r>
                  <a:rPr lang="en-US" b="1" dirty="0" err="1"/>
                  <a:t>suất</a:t>
                </a:r>
                <a:r>
                  <a:rPr lang="en-US" b="1" dirty="0"/>
                  <a:t> </a:t>
                </a:r>
                <a:r>
                  <a:rPr lang="en-US" b="1" dirty="0" err="1"/>
                  <a:t>tăng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f(N)) </a:t>
                </a:r>
                <a:r>
                  <a:rPr lang="en-US" dirty="0" err="1"/>
                  <a:t>nếu</a:t>
                </a:r>
                <a:r>
                  <a:rPr lang="en-US" dirty="0"/>
                  <a:t> </a:t>
                </a:r>
                <a:r>
                  <a:rPr lang="en-US" dirty="0" err="1"/>
                  <a:t>tồn</a:t>
                </a:r>
                <a:r>
                  <a:rPr lang="en-US" dirty="0"/>
                  <a:t> </a:t>
                </a:r>
                <a:r>
                  <a:rPr lang="en-US" dirty="0" err="1"/>
                  <a:t>tại</a:t>
                </a:r>
                <a:r>
                  <a:rPr lang="en-US" dirty="0"/>
                  <a:t> </a:t>
                </a:r>
                <a:r>
                  <a:rPr lang="en-US" dirty="0" err="1"/>
                  <a:t>hằng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c </a:t>
                </a:r>
                <a:r>
                  <a:rPr lang="en-US" dirty="0" err="1"/>
                  <a:t>và</a:t>
                </a:r>
                <a:r>
                  <a:rPr lang="en-US" dirty="0"/>
                  <a:t> N</a:t>
                </a:r>
                <a:r>
                  <a:rPr lang="en-US" baseline="-25000" dirty="0"/>
                  <a:t>0</a:t>
                </a:r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/>
                  <a:t>Đ</a:t>
                </a:r>
                <a:r>
                  <a:rPr lang="vi-VN" dirty="0"/>
                  <a:t>ộ phức tạp giải thuật là một hàm chặn trên của hàm thời gian</a:t>
                </a:r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/>
                  <a:t>VD: </a:t>
                </a:r>
                <a:r>
                  <a:rPr lang="vi-VN" b="1" dirty="0"/>
                  <a:t>log</a:t>
                </a:r>
                <a:r>
                  <a:rPr lang="vi-VN" b="1" baseline="-25000" dirty="0"/>
                  <a:t>2</a:t>
                </a:r>
                <a:r>
                  <a:rPr lang="vi-VN" b="1" dirty="0"/>
                  <a:t>n, n, nlog</a:t>
                </a:r>
                <a:r>
                  <a:rPr lang="vi-VN" b="1" baseline="-25000" dirty="0"/>
                  <a:t>2</a:t>
                </a:r>
                <a:r>
                  <a:rPr lang="vi-VN" b="1" dirty="0"/>
                  <a:t>n, n</a:t>
                </a:r>
                <a:r>
                  <a:rPr lang="vi-VN" b="1" baseline="30000" dirty="0"/>
                  <a:t>2</a:t>
                </a:r>
                <a:r>
                  <a:rPr lang="vi-VN" b="1" dirty="0"/>
                  <a:t>, </a:t>
                </a:r>
                <a:r>
                  <a:rPr lang="vi-VN" b="1" u="sng" dirty="0">
                    <a:solidFill>
                      <a:srgbClr val="FF0000"/>
                    </a:solidFill>
                  </a:rPr>
                  <a:t>n</a:t>
                </a:r>
                <a:r>
                  <a:rPr lang="vi-VN" b="1" u="sng" baseline="30000" dirty="0">
                    <a:solidFill>
                      <a:srgbClr val="FF0000"/>
                    </a:solidFill>
                  </a:rPr>
                  <a:t>3</a:t>
                </a:r>
                <a:r>
                  <a:rPr lang="vi-VN" b="1" u="sng" dirty="0">
                    <a:solidFill>
                      <a:srgbClr val="FF0000"/>
                    </a:solidFill>
                  </a:rPr>
                  <a:t>, n!, n</a:t>
                </a:r>
                <a:r>
                  <a:rPr lang="vi-VN" b="1" u="sng" baseline="30000" dirty="0">
                    <a:solidFill>
                      <a:srgbClr val="FF0000"/>
                    </a:solidFill>
                  </a:rPr>
                  <a:t>n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7" r="-128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56</a:t>
            </a:fld>
            <a:endParaRPr lang="en-US" dirty="0"/>
          </a:p>
        </p:txBody>
      </p:sp>
      <p:sp>
        <p:nvSpPr>
          <p:cNvPr id="5" name="Oval Callout 4"/>
          <p:cNvSpPr/>
          <p:nvPr/>
        </p:nvSpPr>
        <p:spPr>
          <a:xfrm>
            <a:off x="5791200" y="4800600"/>
            <a:ext cx="2362200" cy="762000"/>
          </a:xfrm>
          <a:prstGeom prst="wedgeEllipseCallout">
            <a:avLst>
              <a:gd name="adj1" fmla="val -83364"/>
              <a:gd name="adj2" fmla="val 4711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mũ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02305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058150" cy="1325563"/>
          </a:xfrm>
        </p:spPr>
        <p:txBody>
          <a:bodyPr/>
          <a:lstStyle/>
          <a:p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tắc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phức</a:t>
            </a:r>
            <a:r>
              <a:rPr lang="en-US" dirty="0"/>
              <a:t> </a:t>
            </a:r>
            <a:r>
              <a:rPr lang="en-US" dirty="0" err="1"/>
              <a:t>tạp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tắc</a:t>
            </a:r>
            <a:r>
              <a:rPr lang="en-US" dirty="0"/>
              <a:t> </a:t>
            </a:r>
            <a:r>
              <a:rPr lang="en-US" dirty="0" err="1"/>
              <a:t>cộng</a:t>
            </a: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vi-VN" dirty="0"/>
              <a:t>Nếu T1(</a:t>
            </a:r>
            <a:r>
              <a:rPr lang="en-US" dirty="0"/>
              <a:t>N</a:t>
            </a:r>
            <a:r>
              <a:rPr lang="vi-VN" dirty="0"/>
              <a:t>) và T2(</a:t>
            </a:r>
            <a:r>
              <a:rPr lang="en-US" dirty="0"/>
              <a:t>N</a:t>
            </a:r>
            <a:r>
              <a:rPr lang="vi-VN" dirty="0"/>
              <a:t>) là thời gian thực hiện của hai đoạn chương trình P1 và P2; và T1(</a:t>
            </a:r>
            <a:r>
              <a:rPr lang="en-US" dirty="0"/>
              <a:t>N</a:t>
            </a:r>
            <a:r>
              <a:rPr lang="vi-VN" dirty="0"/>
              <a:t>)=O(f(</a:t>
            </a:r>
            <a:r>
              <a:rPr lang="en-US" dirty="0"/>
              <a:t>N</a:t>
            </a:r>
            <a:r>
              <a:rPr lang="vi-VN" dirty="0"/>
              <a:t>)), T2(</a:t>
            </a:r>
            <a:r>
              <a:rPr lang="en-US" dirty="0"/>
              <a:t>N</a:t>
            </a:r>
            <a:r>
              <a:rPr lang="vi-VN" dirty="0"/>
              <a:t>)=O(g(</a:t>
            </a:r>
            <a:r>
              <a:rPr lang="en-US" dirty="0"/>
              <a:t>N</a:t>
            </a:r>
            <a:r>
              <a:rPr lang="vi-VN" dirty="0"/>
              <a:t>) </a:t>
            </a: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vi-VN" dirty="0"/>
              <a:t>thời gian thực hiện của đoạn hai chương trình đó </a:t>
            </a:r>
            <a:r>
              <a:rPr lang="vi-VN" b="1" dirty="0"/>
              <a:t>nối tiếp nhau</a:t>
            </a:r>
            <a:r>
              <a:rPr lang="vi-VN" dirty="0"/>
              <a:t> là T(</a:t>
            </a:r>
            <a:r>
              <a:rPr lang="en-US" dirty="0"/>
              <a:t>N</a:t>
            </a:r>
            <a:r>
              <a:rPr lang="vi-VN" dirty="0"/>
              <a:t>)=O(</a:t>
            </a:r>
            <a:r>
              <a:rPr lang="vi-VN" b="1" dirty="0"/>
              <a:t>max(f(</a:t>
            </a:r>
            <a:r>
              <a:rPr lang="en-US" b="1" dirty="0"/>
              <a:t>N</a:t>
            </a:r>
            <a:r>
              <a:rPr lang="vi-VN" b="1" dirty="0"/>
              <a:t>),</a:t>
            </a:r>
            <a:r>
              <a:rPr lang="en-US" b="1" dirty="0"/>
              <a:t> </a:t>
            </a:r>
            <a:r>
              <a:rPr lang="vi-VN" b="1" dirty="0"/>
              <a:t>g(</a:t>
            </a:r>
            <a:r>
              <a:rPr lang="en-US" b="1" dirty="0"/>
              <a:t>N</a:t>
            </a:r>
            <a:r>
              <a:rPr lang="vi-VN" b="1" dirty="0"/>
              <a:t>))</a:t>
            </a:r>
            <a:r>
              <a:rPr lang="vi-VN" dirty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05661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tắc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phức</a:t>
            </a:r>
            <a:r>
              <a:rPr lang="en-US" dirty="0"/>
              <a:t> </a:t>
            </a:r>
            <a:r>
              <a:rPr lang="en-US" dirty="0" err="1"/>
              <a:t>tạp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tắc</a:t>
            </a:r>
            <a:r>
              <a:rPr lang="en-US" dirty="0"/>
              <a:t> </a:t>
            </a:r>
            <a:r>
              <a:rPr lang="en-US" dirty="0" err="1"/>
              <a:t>nhân</a:t>
            </a: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vi-VN" dirty="0"/>
              <a:t>Nếu T1(</a:t>
            </a:r>
            <a:r>
              <a:rPr lang="en-US" dirty="0"/>
              <a:t>N</a:t>
            </a:r>
            <a:r>
              <a:rPr lang="vi-VN" dirty="0"/>
              <a:t>) và T2(</a:t>
            </a:r>
            <a:r>
              <a:rPr lang="en-US" dirty="0"/>
              <a:t>N</a:t>
            </a:r>
            <a:r>
              <a:rPr lang="vi-VN" dirty="0"/>
              <a:t>) là thời gian thực hiện của hai đoạn chương trình P1và P2 và T1(</a:t>
            </a:r>
            <a:r>
              <a:rPr lang="en-US" dirty="0"/>
              <a:t>N</a:t>
            </a:r>
            <a:r>
              <a:rPr lang="vi-VN" dirty="0"/>
              <a:t>) = O(f(</a:t>
            </a:r>
            <a:r>
              <a:rPr lang="en-US" dirty="0"/>
              <a:t>N</a:t>
            </a:r>
            <a:r>
              <a:rPr lang="vi-VN" dirty="0"/>
              <a:t>)), T2(</a:t>
            </a:r>
            <a:r>
              <a:rPr lang="en-US" dirty="0"/>
              <a:t>N</a:t>
            </a:r>
            <a:r>
              <a:rPr lang="vi-VN" dirty="0"/>
              <a:t>) = O(g(</a:t>
            </a:r>
            <a:r>
              <a:rPr lang="en-US" dirty="0"/>
              <a:t>N</a:t>
            </a:r>
            <a:r>
              <a:rPr lang="vi-VN" dirty="0"/>
              <a:t>)</a:t>
            </a:r>
            <a:r>
              <a:rPr lang="en-US" dirty="0"/>
              <a:t>)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t</a:t>
            </a:r>
            <a:r>
              <a:rPr lang="vi-VN" dirty="0"/>
              <a:t>hời gian thực hiện của đoạn hai đoạn chương trình đó </a:t>
            </a:r>
            <a:r>
              <a:rPr lang="vi-VN" b="1" dirty="0"/>
              <a:t>lồng nhau </a:t>
            </a:r>
            <a:r>
              <a:rPr lang="vi-VN" dirty="0"/>
              <a:t>là T(</a:t>
            </a:r>
            <a:r>
              <a:rPr lang="en-US" dirty="0"/>
              <a:t>N</a:t>
            </a:r>
            <a:r>
              <a:rPr lang="vi-VN" dirty="0"/>
              <a:t>) = O(</a:t>
            </a:r>
            <a:r>
              <a:rPr lang="vi-VN" b="1" dirty="0"/>
              <a:t>f(</a:t>
            </a:r>
            <a:r>
              <a:rPr lang="en-US" b="1" dirty="0"/>
              <a:t>N</a:t>
            </a:r>
            <a:r>
              <a:rPr lang="vi-VN" b="1" dirty="0"/>
              <a:t>).g(</a:t>
            </a:r>
            <a:r>
              <a:rPr lang="en-US" b="1" dirty="0"/>
              <a:t>N</a:t>
            </a:r>
            <a:r>
              <a:rPr lang="vi-VN" b="1" dirty="0"/>
              <a:t>)</a:t>
            </a:r>
            <a:r>
              <a:rPr lang="vi-VN" dirty="0"/>
              <a:t>)</a:t>
            </a: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br>
              <a:rPr lang="vi-VN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90135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8058150" cy="1143000"/>
          </a:xfrm>
        </p:spPr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vi-VN" dirty="0"/>
              <a:t>phức tạp của giải thuật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gặp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O(1)        : </a:t>
            </a:r>
            <a:r>
              <a:rPr lang="en-US" dirty="0" err="1"/>
              <a:t>Nếu</a:t>
            </a:r>
            <a:r>
              <a:rPr lang="en-US" dirty="0"/>
              <a:t> T(n)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hằng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(T(n)=C)</a:t>
            </a:r>
          </a:p>
          <a:p>
            <a:r>
              <a:rPr lang="en-US" dirty="0"/>
              <a:t>O(log</a:t>
            </a:r>
            <a:r>
              <a:rPr lang="en-US" baseline="-25000" dirty="0"/>
              <a:t>2</a:t>
            </a:r>
            <a:r>
              <a:rPr lang="en-US" dirty="0"/>
              <a:t>n)  :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phức</a:t>
            </a:r>
            <a:r>
              <a:rPr lang="en-US" dirty="0"/>
              <a:t> </a:t>
            </a:r>
            <a:r>
              <a:rPr lang="en-US" dirty="0" err="1"/>
              <a:t>tạp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logarit</a:t>
            </a:r>
            <a:endParaRPr lang="en-US" dirty="0"/>
          </a:p>
          <a:p>
            <a:r>
              <a:rPr lang="en-US" dirty="0"/>
              <a:t>O( n)       :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phức</a:t>
            </a:r>
            <a:r>
              <a:rPr lang="en-US" dirty="0"/>
              <a:t> </a:t>
            </a:r>
            <a:r>
              <a:rPr lang="en-US" dirty="0" err="1"/>
              <a:t>tạp</a:t>
            </a:r>
            <a:r>
              <a:rPr lang="en-US" dirty="0"/>
              <a:t> </a:t>
            </a:r>
            <a:r>
              <a:rPr lang="en-US" dirty="0" err="1"/>
              <a:t>tuyến</a:t>
            </a:r>
            <a:r>
              <a:rPr lang="en-US" dirty="0"/>
              <a:t> </a:t>
            </a:r>
            <a:r>
              <a:rPr lang="en-US" dirty="0" err="1"/>
              <a:t>tính</a:t>
            </a:r>
            <a:endParaRPr lang="en-US" dirty="0"/>
          </a:p>
          <a:p>
            <a:r>
              <a:rPr lang="en-US" dirty="0"/>
              <a:t>O(nlog</a:t>
            </a:r>
            <a:r>
              <a:rPr lang="en-US" baseline="-25000" dirty="0"/>
              <a:t>2</a:t>
            </a:r>
            <a:r>
              <a:rPr lang="en-US" dirty="0"/>
              <a:t>n):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phức</a:t>
            </a:r>
            <a:r>
              <a:rPr lang="en-US" dirty="0"/>
              <a:t> </a:t>
            </a:r>
            <a:r>
              <a:rPr lang="en-US" dirty="0" err="1"/>
              <a:t>tạp</a:t>
            </a:r>
            <a:r>
              <a:rPr lang="en-US" dirty="0"/>
              <a:t> </a:t>
            </a:r>
            <a:r>
              <a:rPr lang="en-US" dirty="0" err="1"/>
              <a:t>tuyến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logarit</a:t>
            </a:r>
            <a:endParaRPr lang="en-US" dirty="0"/>
          </a:p>
          <a:p>
            <a:r>
              <a:rPr lang="en-US" dirty="0"/>
              <a:t>O( n</a:t>
            </a:r>
            <a:r>
              <a:rPr lang="en-US" baseline="30000" dirty="0"/>
              <a:t>2</a:t>
            </a:r>
            <a:r>
              <a:rPr lang="en-US" dirty="0"/>
              <a:t>),  O(n</a:t>
            </a:r>
            <a:r>
              <a:rPr lang="en-US" baseline="30000" dirty="0"/>
              <a:t>3</a:t>
            </a:r>
            <a:r>
              <a:rPr lang="en-US" dirty="0"/>
              <a:t>),…,O(n</a:t>
            </a:r>
            <a:r>
              <a:rPr lang="en-US" dirty="0">
                <a:sym typeface="Symbol" pitchFamily="18" charset="2"/>
              </a:rPr>
              <a:t></a:t>
            </a:r>
            <a:r>
              <a:rPr lang="en-US" baseline="30000" dirty="0">
                <a:sym typeface="Symbol" pitchFamily="18" charset="2"/>
              </a:rPr>
              <a:t></a:t>
            </a:r>
            <a:r>
              <a:rPr lang="en-US" dirty="0">
                <a:sym typeface="Symbol" pitchFamily="18" charset="2"/>
              </a:rPr>
              <a:t>): </a:t>
            </a:r>
            <a:r>
              <a:rPr lang="en-US" dirty="0" err="1">
                <a:sym typeface="Symbol" pitchFamily="18" charset="2"/>
              </a:rPr>
              <a:t>Độ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phức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tạp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đa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thức</a:t>
            </a:r>
            <a:endParaRPr lang="en-US" baseline="30000" dirty="0">
              <a:sym typeface="Symbol" pitchFamily="18" charset="2"/>
            </a:endParaRPr>
          </a:p>
          <a:p>
            <a:r>
              <a:rPr lang="en-US" dirty="0"/>
              <a:t>O(n!), O( </a:t>
            </a:r>
            <a:r>
              <a:rPr lang="en-US" dirty="0" err="1"/>
              <a:t>n</a:t>
            </a:r>
            <a:r>
              <a:rPr lang="en-US" baseline="30000" dirty="0" err="1"/>
              <a:t>n</a:t>
            </a:r>
            <a:r>
              <a:rPr lang="en-US" baseline="30000" dirty="0"/>
              <a:t>)</a:t>
            </a:r>
          </a:p>
          <a:p>
            <a:pPr algn="just">
              <a:buFont typeface="Wingdings" panose="05000000000000000000" pitchFamily="2" charset="2"/>
              <a:buChar char="à"/>
            </a:pP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phức</a:t>
            </a:r>
            <a:r>
              <a:rPr lang="en-US" dirty="0"/>
              <a:t> </a:t>
            </a:r>
            <a:r>
              <a:rPr lang="en-US" dirty="0" err="1"/>
              <a:t>tạp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endParaRPr lang="en-US" dirty="0"/>
          </a:p>
          <a:p>
            <a:pPr algn="just">
              <a:buFont typeface="Wingdings" panose="05000000000000000000" pitchFamily="2" charset="2"/>
              <a:buChar char="à"/>
            </a:pP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phức</a:t>
            </a:r>
            <a:r>
              <a:rPr lang="en-US" dirty="0"/>
              <a:t> </a:t>
            </a:r>
            <a:r>
              <a:rPr lang="en-US" dirty="0" err="1"/>
              <a:t>tạp</a:t>
            </a:r>
            <a:r>
              <a:rPr lang="en-US" dirty="0"/>
              <a:t> ở </a:t>
            </a:r>
            <a:r>
              <a:rPr lang="en-US" dirty="0" err="1"/>
              <a:t>mức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mũ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cải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!</a:t>
            </a:r>
          </a:p>
          <a:p>
            <a:pPr>
              <a:buFont typeface="Symbol" pitchFamily="18" charset="2"/>
              <a:buNone/>
            </a:pPr>
            <a:endParaRPr lang="en-US" baseline="30000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t>59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48262424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1A73E-9BDA-4029-8565-62415CB32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dùng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BCC548-37FE-4DB4-AE56-3098D1EFB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60</a:t>
            </a:fld>
            <a:endParaRPr lang="en-US"/>
          </a:p>
        </p:txBody>
      </p:sp>
      <p:graphicFrame>
        <p:nvGraphicFramePr>
          <p:cNvPr id="6" name="Object 8">
            <a:extLst>
              <a:ext uri="{FF2B5EF4-FFF2-40B4-BE49-F238E27FC236}">
                <a16:creationId xmlns:a16="http://schemas.microsoft.com/office/drawing/2014/main" id="{B11C4E01-F48D-4207-B882-765EA50F86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1989137"/>
          <a:ext cx="1168400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07960" imgH="431640" progId="Equation.3">
                  <p:embed/>
                </p:oleObj>
              </mc:Choice>
              <mc:Fallback>
                <p:oleObj name="Equation" r:id="rId2" imgW="507960" imgH="431640" progId="Equation.3">
                  <p:embed/>
                  <p:pic>
                    <p:nvPicPr>
                      <p:cNvPr id="6" name="Object 8">
                        <a:extLst>
                          <a:ext uri="{FF2B5EF4-FFF2-40B4-BE49-F238E27FC236}">
                            <a16:creationId xmlns:a16="http://schemas.microsoft.com/office/drawing/2014/main" id="{B11C4E01-F48D-4207-B882-765EA50F86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989137"/>
                        <a:ext cx="1168400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1">
            <a:extLst>
              <a:ext uri="{FF2B5EF4-FFF2-40B4-BE49-F238E27FC236}">
                <a16:creationId xmlns:a16="http://schemas.microsoft.com/office/drawing/2014/main" id="{266D4A08-6212-490D-9486-EE0C2E5BCB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86200" y="1981200"/>
          <a:ext cx="3962400" cy="103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50960" imgH="431640" progId="Equation.3">
                  <p:embed/>
                </p:oleObj>
              </mc:Choice>
              <mc:Fallback>
                <p:oleObj name="Equation" r:id="rId4" imgW="1650960" imgH="431640" progId="Equation.3">
                  <p:embed/>
                  <p:pic>
                    <p:nvPicPr>
                      <p:cNvPr id="8" name="Object 11">
                        <a:extLst>
                          <a:ext uri="{FF2B5EF4-FFF2-40B4-BE49-F238E27FC236}">
                            <a16:creationId xmlns:a16="http://schemas.microsoft.com/office/drawing/2014/main" id="{266D4A08-6212-490D-9486-EE0C2E5BCB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1981200"/>
                        <a:ext cx="3962400" cy="1036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3">
            <a:extLst>
              <a:ext uri="{FF2B5EF4-FFF2-40B4-BE49-F238E27FC236}">
                <a16:creationId xmlns:a16="http://schemas.microsoft.com/office/drawing/2014/main" id="{5C1D6D88-5CA0-4F00-B8CB-48F9A805F2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3208337"/>
          <a:ext cx="1917700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01440" imgH="431640" progId="Equation.3">
                  <p:embed/>
                </p:oleObj>
              </mc:Choice>
              <mc:Fallback>
                <p:oleObj name="Equation" r:id="rId6" imgW="901440" imgH="431640" progId="Equation.3">
                  <p:embed/>
                  <p:pic>
                    <p:nvPicPr>
                      <p:cNvPr id="10" name="Object 13">
                        <a:extLst>
                          <a:ext uri="{FF2B5EF4-FFF2-40B4-BE49-F238E27FC236}">
                            <a16:creationId xmlns:a16="http://schemas.microsoft.com/office/drawing/2014/main" id="{5C1D6D88-5CA0-4F00-B8CB-48F9A805F2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208337"/>
                        <a:ext cx="1917700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3">
            <a:extLst>
              <a:ext uri="{FF2B5EF4-FFF2-40B4-BE49-F238E27FC236}">
                <a16:creationId xmlns:a16="http://schemas.microsoft.com/office/drawing/2014/main" id="{6C1BF209-85ED-4797-84E6-47E844287E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0" y="3205162"/>
          <a:ext cx="3160713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85720" imgH="431640" progId="Equation.3">
                  <p:embed/>
                </p:oleObj>
              </mc:Choice>
              <mc:Fallback>
                <p:oleObj name="Equation" r:id="rId8" imgW="1485720" imgH="431640" progId="Equation.3">
                  <p:embed/>
                  <p:pic>
                    <p:nvPicPr>
                      <p:cNvPr id="12" name="Object 23">
                        <a:extLst>
                          <a:ext uri="{FF2B5EF4-FFF2-40B4-BE49-F238E27FC236}">
                            <a16:creationId xmlns:a16="http://schemas.microsoft.com/office/drawing/2014/main" id="{6C1BF209-85ED-4797-84E6-47E844287E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3205162"/>
                        <a:ext cx="3160713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9">
            <a:extLst>
              <a:ext uri="{FF2B5EF4-FFF2-40B4-BE49-F238E27FC236}">
                <a16:creationId xmlns:a16="http://schemas.microsoft.com/office/drawing/2014/main" id="{1C53B631-7A04-4ED7-A388-E9402CED66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6763" y="4321175"/>
          <a:ext cx="2187575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28520" imgH="457200" progId="Equation.3">
                  <p:embed/>
                </p:oleObj>
              </mc:Choice>
              <mc:Fallback>
                <p:oleObj name="Equation" r:id="rId10" imgW="1028520" imgH="457200" progId="Equation.3">
                  <p:embed/>
                  <p:pic>
                    <p:nvPicPr>
                      <p:cNvPr id="14" name="Object 29">
                        <a:extLst>
                          <a:ext uri="{FF2B5EF4-FFF2-40B4-BE49-F238E27FC236}">
                            <a16:creationId xmlns:a16="http://schemas.microsoft.com/office/drawing/2014/main" id="{1C53B631-7A04-4ED7-A388-E9402CED66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63" y="4321175"/>
                        <a:ext cx="2187575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32">
            <a:extLst>
              <a:ext uri="{FF2B5EF4-FFF2-40B4-BE49-F238E27FC236}">
                <a16:creationId xmlns:a16="http://schemas.microsoft.com/office/drawing/2014/main" id="{D08D1FED-192B-4D63-B090-D0E63B81BF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0" y="4324350"/>
          <a:ext cx="2895600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09400" imgH="431640" progId="Equation.3">
                  <p:embed/>
                </p:oleObj>
              </mc:Choice>
              <mc:Fallback>
                <p:oleObj name="Equation" r:id="rId12" imgW="1409400" imgH="431640" progId="Equation.3">
                  <p:embed/>
                  <p:pic>
                    <p:nvPicPr>
                      <p:cNvPr id="16" name="Object 32">
                        <a:extLst>
                          <a:ext uri="{FF2B5EF4-FFF2-40B4-BE49-F238E27FC236}">
                            <a16:creationId xmlns:a16="http://schemas.microsoft.com/office/drawing/2014/main" id="{D08D1FED-192B-4D63-B090-D0E63B81BF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4324350"/>
                        <a:ext cx="2895600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38">
            <a:extLst>
              <a:ext uri="{FF2B5EF4-FFF2-40B4-BE49-F238E27FC236}">
                <a16:creationId xmlns:a16="http://schemas.microsoft.com/office/drawing/2014/main" id="{D6EA0070-D5CF-46BA-AAB7-B0DEF6298C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0" y="5180012"/>
          <a:ext cx="2209800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91880" imgH="444240" progId="Equation.3">
                  <p:embed/>
                </p:oleObj>
              </mc:Choice>
              <mc:Fallback>
                <p:oleObj name="Equation" r:id="rId14" imgW="1091880" imgH="444240" progId="Equation.3">
                  <p:embed/>
                  <p:pic>
                    <p:nvPicPr>
                      <p:cNvPr id="18" name="Object 38">
                        <a:extLst>
                          <a:ext uri="{FF2B5EF4-FFF2-40B4-BE49-F238E27FC236}">
                            <a16:creationId xmlns:a16="http://schemas.microsoft.com/office/drawing/2014/main" id="{D6EA0070-D5CF-46BA-AAB7-B0DEF6298C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5180012"/>
                        <a:ext cx="2209800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744604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5029199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u="sng" dirty="0" err="1"/>
              <a:t>Bước</a:t>
            </a:r>
            <a:r>
              <a:rPr lang="en-US" u="sng" dirty="0"/>
              <a:t> 1: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1;	</a:t>
            </a:r>
          </a:p>
          <a:p>
            <a:pPr>
              <a:buNone/>
            </a:pPr>
            <a:r>
              <a:rPr lang="en-US" u="sng" dirty="0" err="1"/>
              <a:t>Bước</a:t>
            </a:r>
            <a:r>
              <a:rPr lang="en-US" u="sng" dirty="0"/>
              <a:t> 2: </a:t>
            </a:r>
          </a:p>
          <a:p>
            <a:pPr>
              <a:buNone/>
            </a:pPr>
            <a:r>
              <a:rPr lang="en-US" dirty="0"/>
              <a:t>		j = N;	</a:t>
            </a:r>
          </a:p>
          <a:p>
            <a:pPr>
              <a:buNone/>
            </a:pPr>
            <a:r>
              <a:rPr lang="en-US" dirty="0"/>
              <a:t>		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(j &gt; </a:t>
            </a:r>
            <a:r>
              <a:rPr lang="en-US" dirty="0" err="1"/>
              <a:t>i</a:t>
            </a:r>
            <a:r>
              <a:rPr lang="en-US" dirty="0"/>
              <a:t>)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: </a:t>
            </a:r>
          </a:p>
          <a:p>
            <a:pPr>
              <a:buNone/>
            </a:pPr>
            <a:r>
              <a:rPr lang="en-US" dirty="0"/>
              <a:t>			</a:t>
            </a:r>
            <a:r>
              <a:rPr lang="en-US" dirty="0" err="1"/>
              <a:t>Nếu</a:t>
            </a:r>
            <a:r>
              <a:rPr lang="en-US" dirty="0"/>
              <a:t> a[j]&lt;a[j-1] </a:t>
            </a:r>
            <a:r>
              <a:rPr lang="en-US" dirty="0" err="1"/>
              <a:t>thì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dirty="0"/>
              <a:t>				</a:t>
            </a:r>
            <a:r>
              <a:rPr lang="en-US" dirty="0" err="1"/>
              <a:t>tạm</a:t>
            </a:r>
            <a:r>
              <a:rPr lang="en-US" dirty="0"/>
              <a:t> = a[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pPr>
              <a:buNone/>
            </a:pPr>
            <a:r>
              <a:rPr lang="en-US" dirty="0"/>
              <a:t>				a[</a:t>
            </a:r>
            <a:r>
              <a:rPr lang="en-US" dirty="0" err="1"/>
              <a:t>i</a:t>
            </a:r>
            <a:r>
              <a:rPr lang="en-US" dirty="0"/>
              <a:t>]=a[j];</a:t>
            </a:r>
          </a:p>
          <a:p>
            <a:pPr>
              <a:buNone/>
            </a:pPr>
            <a:r>
              <a:rPr lang="en-US" dirty="0"/>
              <a:t>				a[j]=</a:t>
            </a:r>
            <a:r>
              <a:rPr lang="en-US" dirty="0" err="1"/>
              <a:t>tạm</a:t>
            </a:r>
            <a:r>
              <a:rPr lang="en-US" dirty="0"/>
              <a:t>; </a:t>
            </a:r>
          </a:p>
          <a:p>
            <a:pPr>
              <a:buNone/>
            </a:pPr>
            <a:r>
              <a:rPr lang="en-US" dirty="0"/>
              <a:t>			j = j-1;		</a:t>
            </a:r>
          </a:p>
          <a:p>
            <a:pPr>
              <a:buNone/>
            </a:pPr>
            <a:r>
              <a:rPr lang="en-US" u="sng" dirty="0" err="1"/>
              <a:t>Bước</a:t>
            </a:r>
            <a:r>
              <a:rPr lang="en-US" u="sng" dirty="0"/>
              <a:t> 3: </a:t>
            </a:r>
          </a:p>
          <a:p>
            <a:pPr>
              <a:buNone/>
            </a:pPr>
            <a:r>
              <a:rPr lang="en-US" dirty="0"/>
              <a:t>		</a:t>
            </a:r>
            <a:r>
              <a:rPr lang="en-US" dirty="0" err="1"/>
              <a:t>i</a:t>
            </a:r>
            <a:r>
              <a:rPr lang="en-US" dirty="0"/>
              <a:t> = i+1;	 </a:t>
            </a:r>
          </a:p>
          <a:p>
            <a:pPr>
              <a:buNone/>
            </a:pPr>
            <a:r>
              <a:rPr lang="en-US" dirty="0"/>
              <a:t>		</a:t>
            </a:r>
            <a:r>
              <a:rPr lang="en-US" dirty="0" err="1"/>
              <a:t>Nếu</a:t>
            </a:r>
            <a:r>
              <a:rPr lang="en-US" dirty="0"/>
              <a:t>  </a:t>
            </a:r>
            <a:r>
              <a:rPr lang="en-US" dirty="0" err="1"/>
              <a:t>i</a:t>
            </a:r>
            <a:r>
              <a:rPr lang="en-US" dirty="0"/>
              <a:t> = N: </a:t>
            </a:r>
            <a:r>
              <a:rPr lang="en-US" dirty="0" err="1"/>
              <a:t>Dừng</a:t>
            </a:r>
            <a:r>
              <a:rPr lang="en-US" dirty="0"/>
              <a:t>	</a:t>
            </a:r>
          </a:p>
          <a:p>
            <a:pPr>
              <a:buNone/>
            </a:pPr>
            <a:r>
              <a:rPr lang="en-US" dirty="0"/>
              <a:t>		</a:t>
            </a:r>
            <a:r>
              <a:rPr lang="en-US" dirty="0" err="1"/>
              <a:t>Ngược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: </a:t>
            </a:r>
            <a:r>
              <a:rPr lang="en-US" dirty="0" err="1"/>
              <a:t>Lặp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2. </a:t>
            </a:r>
          </a:p>
          <a:p>
            <a:pPr>
              <a:buNone/>
            </a:pPr>
            <a:r>
              <a:rPr lang="en-US" b="1" dirty="0" err="1">
                <a:solidFill>
                  <a:srgbClr val="FF0000"/>
                </a:solidFill>
              </a:rPr>
              <a:t>Tính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độ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phức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tạp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của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giải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thuật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trên</a:t>
            </a:r>
            <a:r>
              <a:rPr lang="en-US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97179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tắc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chia </a:t>
            </a: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dirty="0" err="1">
                <a:sym typeface="Wingdings" panose="05000000000000000000" pitchFamily="2" charset="2"/>
              </a:rPr>
              <a:t>Xây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dựng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các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lớp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phù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hợp</a:t>
            </a:r>
            <a:r>
              <a:rPr lang="en-US" dirty="0">
                <a:sym typeface="Wingdings" panose="05000000000000000000" pitchFamily="2" charset="2"/>
              </a:rPr>
              <a:t>: </a:t>
            </a:r>
            <a:r>
              <a:rPr lang="en-US" dirty="0" err="1">
                <a:sym typeface="Wingdings" panose="05000000000000000000" pitchFamily="2" charset="2"/>
              </a:rPr>
              <a:t>cung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cấp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các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đối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tượng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có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hành</a:t>
            </a:r>
            <a:r>
              <a:rPr lang="en-US" dirty="0">
                <a:sym typeface="Wingdings" panose="05000000000000000000" pitchFamily="2" charset="2"/>
              </a:rPr>
              <a:t> vi </a:t>
            </a:r>
            <a:r>
              <a:rPr lang="en-US" dirty="0" err="1">
                <a:sym typeface="Wingdings" panose="05000000000000000000" pitchFamily="2" charset="2"/>
              </a:rPr>
              <a:t>được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mong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đợi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kịch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lời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lúc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thiết</a:t>
            </a:r>
            <a:endParaRPr lang="en-US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dirty="0" err="1">
                <a:sym typeface="Wingdings" panose="05000000000000000000" pitchFamily="2" charset="2"/>
              </a:rPr>
              <a:t>Các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lớp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đóng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vai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trò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trung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tâm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trong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việc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hiện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thực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giải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thuật</a:t>
            </a:r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97228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mạnh</a:t>
            </a:r>
            <a:r>
              <a:rPr lang="en-US" dirty="0"/>
              <a:t>: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gói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thừa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: CTDL,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hoạ</a:t>
            </a:r>
            <a:r>
              <a:rPr lang="en-US" dirty="0"/>
              <a:t>,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, …</a:t>
            </a:r>
          </a:p>
          <a:p>
            <a:pPr algn="just">
              <a:lnSpc>
                <a:spcPct val="150000"/>
              </a:lnSpc>
            </a:pP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CTDL: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,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: </a:t>
            </a:r>
            <a:r>
              <a:rPr lang="en-US" dirty="0" err="1"/>
              <a:t>thêm</a:t>
            </a:r>
            <a:r>
              <a:rPr lang="en-US" dirty="0"/>
              <a:t>, </a:t>
            </a:r>
            <a:r>
              <a:rPr lang="en-US" dirty="0" err="1"/>
              <a:t>xoá</a:t>
            </a:r>
            <a:r>
              <a:rPr lang="en-US" dirty="0"/>
              <a:t>,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xuất</a:t>
            </a:r>
            <a:endParaRPr lang="en-US" dirty="0">
              <a:latin typeface="VNI-Times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36274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mong</a:t>
            </a:r>
            <a:r>
              <a:rPr lang="en-US" dirty="0"/>
              <a:t> </a:t>
            </a:r>
            <a:r>
              <a:rPr lang="en-US" dirty="0" err="1"/>
              <a:t>đợi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kịch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/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: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lớp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16617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CTDL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1.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/ </a:t>
            </a:r>
            <a:r>
              <a:rPr lang="en-US" dirty="0" err="1"/>
              <a:t>nhu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các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chức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năng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cần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có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của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lớp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2. </a:t>
            </a:r>
            <a:r>
              <a:rPr lang="en-US" dirty="0" err="1">
                <a:sym typeface="Wingdings" panose="05000000000000000000" pitchFamily="2" charset="2"/>
              </a:rPr>
              <a:t>Đặc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tả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các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phương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thức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giao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tiếp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với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bên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ngoài</a:t>
            </a:r>
            <a:r>
              <a:rPr lang="en-US" dirty="0">
                <a:sym typeface="Wingdings" panose="05000000000000000000" pitchFamily="2" charset="2"/>
              </a:rPr>
              <a:t>:</a:t>
            </a:r>
          </a:p>
          <a:p>
            <a:pPr lvl="1"/>
            <a:r>
              <a:rPr lang="en-US" dirty="0" err="1">
                <a:sym typeface="Wingdings" panose="05000000000000000000" pitchFamily="2" charset="2"/>
              </a:rPr>
              <a:t>Kiểu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dữ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liệu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trả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về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của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phương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thức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sz="2800" dirty="0" err="1">
                <a:sym typeface="Wingdings" panose="05000000000000000000" pitchFamily="2" charset="2"/>
              </a:rPr>
              <a:t>Các</a:t>
            </a:r>
            <a:r>
              <a:rPr lang="en-US" sz="2800" dirty="0">
                <a:sym typeface="Wingdings" panose="05000000000000000000" pitchFamily="2" charset="2"/>
              </a:rPr>
              <a:t> </a:t>
            </a:r>
            <a:r>
              <a:rPr lang="en-US" sz="2800" dirty="0" err="1"/>
              <a:t>thông</a:t>
            </a:r>
            <a:r>
              <a:rPr lang="en-US" sz="2800" dirty="0"/>
              <a:t> </a:t>
            </a:r>
            <a:r>
              <a:rPr lang="en-US" sz="2800" dirty="0" err="1"/>
              <a:t>số</a:t>
            </a:r>
            <a:r>
              <a:rPr lang="en-US" sz="2800" dirty="0"/>
              <a:t> </a:t>
            </a:r>
            <a:r>
              <a:rPr lang="en-US" sz="2800" dirty="0" err="1"/>
              <a:t>vào</a:t>
            </a:r>
            <a:r>
              <a:rPr lang="en-US" sz="2800" dirty="0"/>
              <a:t> / </a:t>
            </a:r>
            <a:r>
              <a:rPr lang="en-US" sz="2800" dirty="0" err="1"/>
              <a:t>ra</a:t>
            </a:r>
            <a:endParaRPr lang="en-US" sz="2800" dirty="0"/>
          </a:p>
          <a:p>
            <a:pPr lvl="1"/>
            <a:r>
              <a:rPr lang="vi-VN" sz="2800" dirty="0"/>
              <a:t>Các </a:t>
            </a:r>
            <a:r>
              <a:rPr lang="en-US" sz="2800" dirty="0" err="1"/>
              <a:t>tiền</a:t>
            </a:r>
            <a:r>
              <a:rPr lang="en-US" sz="2800" dirty="0"/>
              <a:t> </a:t>
            </a:r>
            <a:r>
              <a:rPr lang="vi-VN" sz="2800" dirty="0"/>
              <a:t>kiện (</a:t>
            </a:r>
            <a:r>
              <a:rPr lang="vi-VN" sz="2800" i="1" dirty="0"/>
              <a:t>precondition</a:t>
            </a:r>
            <a:r>
              <a:rPr lang="vi-VN" sz="2800" dirty="0"/>
              <a:t>)</a:t>
            </a:r>
            <a:endParaRPr lang="en-US" sz="2800" dirty="0"/>
          </a:p>
          <a:p>
            <a:pPr lvl="1"/>
            <a:r>
              <a:rPr lang="vi-VN" sz="2800" dirty="0"/>
              <a:t>Các </a:t>
            </a:r>
            <a:r>
              <a:rPr lang="en-US" sz="2800" dirty="0" err="1"/>
              <a:t>hậu</a:t>
            </a:r>
            <a:r>
              <a:rPr lang="en-US" sz="2800" dirty="0"/>
              <a:t> </a:t>
            </a:r>
            <a:r>
              <a:rPr lang="en-US" sz="2800" dirty="0" err="1"/>
              <a:t>kiện</a:t>
            </a:r>
            <a:r>
              <a:rPr lang="en-US" sz="2800" dirty="0"/>
              <a:t> </a:t>
            </a:r>
            <a:r>
              <a:rPr lang="vi-VN" sz="2800" dirty="0"/>
              <a:t>(</a:t>
            </a:r>
            <a:r>
              <a:rPr lang="vi-VN" sz="2800" i="1" dirty="0"/>
              <a:t>postcondition</a:t>
            </a:r>
            <a:r>
              <a:rPr lang="vi-VN" sz="2800" dirty="0"/>
              <a:t>)</a:t>
            </a:r>
            <a:endParaRPr lang="en-US" sz="2800" dirty="0"/>
          </a:p>
          <a:p>
            <a:pPr lvl="1"/>
            <a:r>
              <a:rPr lang="vi-VN" sz="2800" dirty="0"/>
              <a:t>Các lớp, hàm có sử dụng trong phương thức (</a:t>
            </a:r>
            <a:r>
              <a:rPr lang="vi-VN" sz="2800" i="1" dirty="0"/>
              <a:t>uses</a:t>
            </a:r>
            <a:r>
              <a:rPr lang="vi-VN" sz="2800" dirty="0"/>
              <a:t>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3.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: 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,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4.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thực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75897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KDL </a:t>
            </a:r>
            <a:r>
              <a:rPr lang="en-US" dirty="0" err="1"/>
              <a:t>trừu</a:t>
            </a:r>
            <a:r>
              <a:rPr lang="en-US" dirty="0"/>
              <a:t> </a:t>
            </a:r>
            <a:r>
              <a:rPr lang="en-US" dirty="0" err="1"/>
              <a:t>tượng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dirty="0"/>
              <a:t>Class: </a:t>
            </a:r>
            <a:r>
              <a:rPr lang="en-US" altLang="en-US" dirty="0" err="1"/>
              <a:t>hiện</a:t>
            </a:r>
            <a:r>
              <a:rPr lang="en-US" altLang="en-US" dirty="0"/>
              <a:t> </a:t>
            </a:r>
            <a:r>
              <a:rPr lang="en-US" altLang="en-US" dirty="0" err="1"/>
              <a:t>thực</a:t>
            </a:r>
            <a:r>
              <a:rPr lang="en-US" altLang="en-US" dirty="0"/>
              <a:t> </a:t>
            </a:r>
            <a:r>
              <a:rPr lang="en-US" altLang="en-US" dirty="0" err="1"/>
              <a:t>của</a:t>
            </a:r>
            <a:r>
              <a:rPr lang="en-US" altLang="en-US" dirty="0"/>
              <a:t> abstract data type</a:t>
            </a:r>
          </a:p>
          <a:p>
            <a:pPr lvl="1" algn="just">
              <a:lnSpc>
                <a:spcPct val="150000"/>
              </a:lnSpc>
            </a:pPr>
            <a:r>
              <a:rPr lang="en-US" altLang="en-US" dirty="0" err="1"/>
              <a:t>Định</a:t>
            </a:r>
            <a:r>
              <a:rPr lang="en-US" altLang="en-US" dirty="0"/>
              <a:t> </a:t>
            </a:r>
            <a:r>
              <a:rPr lang="en-US" altLang="en-US" dirty="0" err="1"/>
              <a:t>nghĩa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dữ</a:t>
            </a:r>
            <a:r>
              <a:rPr lang="en-US" altLang="en-US" dirty="0"/>
              <a:t> </a:t>
            </a:r>
            <a:r>
              <a:rPr lang="en-US" altLang="en-US" dirty="0" err="1"/>
              <a:t>liệu</a:t>
            </a:r>
            <a:endParaRPr lang="en-US" altLang="en-US" dirty="0"/>
          </a:p>
          <a:p>
            <a:pPr lvl="1" algn="just">
              <a:lnSpc>
                <a:spcPct val="150000"/>
              </a:lnSpc>
            </a:pPr>
            <a:r>
              <a:rPr lang="en-US" altLang="en-US" dirty="0" err="1"/>
              <a:t>Định</a:t>
            </a:r>
            <a:r>
              <a:rPr lang="en-US" altLang="en-US" dirty="0"/>
              <a:t> </a:t>
            </a:r>
            <a:r>
              <a:rPr lang="en-US" altLang="en-US" dirty="0" err="1"/>
              <a:t>nghĩa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phương</a:t>
            </a:r>
            <a:r>
              <a:rPr lang="en-US" altLang="en-US" dirty="0"/>
              <a:t> </a:t>
            </a:r>
            <a:r>
              <a:rPr lang="en-US" altLang="en-US" dirty="0" err="1"/>
              <a:t>thức</a:t>
            </a:r>
            <a:r>
              <a:rPr lang="en-US" altLang="en-US" dirty="0"/>
              <a:t> + </a:t>
            </a:r>
            <a:r>
              <a:rPr lang="en-US" altLang="en-US" dirty="0" err="1"/>
              <a:t>hàm</a:t>
            </a:r>
            <a:r>
              <a:rPr lang="en-US" altLang="en-US" dirty="0"/>
              <a:t> </a:t>
            </a:r>
            <a:r>
              <a:rPr lang="en-US" altLang="en-US" dirty="0" err="1"/>
              <a:t>phụ</a:t>
            </a:r>
            <a:r>
              <a:rPr lang="en-US" altLang="en-US" dirty="0"/>
              <a:t> </a:t>
            </a:r>
            <a:r>
              <a:rPr lang="en-US" altLang="en-US" dirty="0" err="1"/>
              <a:t>trợ</a:t>
            </a:r>
            <a:r>
              <a:rPr lang="en-US" altLang="en-US" dirty="0"/>
              <a:t> (</a:t>
            </a:r>
            <a:r>
              <a:rPr lang="en-US" altLang="en-US" dirty="0" err="1"/>
              <a:t>nội</a:t>
            </a:r>
            <a:r>
              <a:rPr lang="en-US" altLang="en-US" dirty="0"/>
              <a:t> </a:t>
            </a:r>
            <a:r>
              <a:rPr lang="en-US" altLang="en-US" dirty="0" err="1"/>
              <a:t>bộ</a:t>
            </a:r>
            <a:r>
              <a:rPr lang="en-US" altLang="en-US" dirty="0"/>
              <a:t>)</a:t>
            </a:r>
          </a:p>
          <a:p>
            <a:pPr lvl="1" algn="just">
              <a:lnSpc>
                <a:spcPct val="150000"/>
              </a:lnSpc>
            </a:pPr>
            <a:r>
              <a:rPr lang="en-US" altLang="en-US" dirty="0" err="1"/>
              <a:t>Định</a:t>
            </a:r>
            <a:r>
              <a:rPr lang="en-US" altLang="en-US" dirty="0"/>
              <a:t> </a:t>
            </a:r>
            <a:r>
              <a:rPr lang="en-US" altLang="en-US" dirty="0" err="1"/>
              <a:t>nghĩa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constructor </a:t>
            </a:r>
            <a:r>
              <a:rPr lang="en-US" altLang="en-US" dirty="0" err="1"/>
              <a:t>và</a:t>
            </a:r>
            <a:r>
              <a:rPr lang="en-US" altLang="en-US" dirty="0"/>
              <a:t> destructor</a:t>
            </a:r>
          </a:p>
          <a:p>
            <a:pPr algn="just">
              <a:lnSpc>
                <a:spcPct val="150000"/>
              </a:lnSpc>
            </a:pPr>
            <a:r>
              <a:rPr lang="en-US" altLang="en-US" dirty="0" err="1"/>
              <a:t>Đối</a:t>
            </a:r>
            <a:r>
              <a:rPr lang="en-US" altLang="en-US" dirty="0"/>
              <a:t> </a:t>
            </a:r>
            <a:r>
              <a:rPr lang="en-US" altLang="en-US" dirty="0" err="1"/>
              <a:t>tượng</a:t>
            </a:r>
            <a:r>
              <a:rPr lang="en-US" altLang="en-US" dirty="0"/>
              <a:t> = </a:t>
            </a: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thể</a:t>
            </a:r>
            <a:r>
              <a:rPr lang="en-US" altLang="en-US" dirty="0"/>
              <a:t> </a:t>
            </a:r>
            <a:r>
              <a:rPr lang="en-US" altLang="en-US" dirty="0" err="1"/>
              <a:t>hiện</a:t>
            </a:r>
            <a:r>
              <a:rPr lang="en-US" altLang="en-US" dirty="0"/>
              <a:t> (instance) </a:t>
            </a:r>
            <a:r>
              <a:rPr lang="en-US" altLang="en-US" dirty="0" err="1"/>
              <a:t>của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class</a:t>
            </a:r>
          </a:p>
          <a:p>
            <a:pPr algn="just">
              <a:lnSpc>
                <a:spcPct val="150000"/>
              </a:lnSpc>
            </a:pPr>
            <a:r>
              <a:rPr lang="en-US" altLang="en-US" dirty="0" err="1"/>
              <a:t>Thông</a:t>
            </a:r>
            <a:r>
              <a:rPr lang="en-US" altLang="en-US" dirty="0"/>
              <a:t> </a:t>
            </a:r>
            <a:r>
              <a:rPr lang="en-US" altLang="en-US" dirty="0" err="1"/>
              <a:t>điệp</a:t>
            </a:r>
            <a:r>
              <a:rPr lang="en-US" altLang="en-US" dirty="0"/>
              <a:t> (message): </a:t>
            </a:r>
            <a:r>
              <a:rPr lang="en-US" altLang="en-US" dirty="0" err="1"/>
              <a:t>dùng</a:t>
            </a:r>
            <a:r>
              <a:rPr lang="en-US" altLang="en-US" dirty="0"/>
              <a:t> </a:t>
            </a:r>
            <a:r>
              <a:rPr lang="en-US" altLang="en-US" dirty="0" err="1"/>
              <a:t>tương</a:t>
            </a:r>
            <a:r>
              <a:rPr lang="en-US" altLang="en-US" dirty="0"/>
              <a:t> </a:t>
            </a:r>
            <a:r>
              <a:rPr lang="en-US" altLang="en-US" dirty="0" err="1"/>
              <a:t>tác</a:t>
            </a:r>
            <a:r>
              <a:rPr lang="en-US" altLang="en-US" dirty="0"/>
              <a:t> </a:t>
            </a:r>
            <a:r>
              <a:rPr lang="en-US" altLang="en-US" dirty="0" err="1"/>
              <a:t>lẫn</a:t>
            </a:r>
            <a:r>
              <a:rPr lang="en-US" altLang="en-US" dirty="0"/>
              <a:t> </a:t>
            </a:r>
            <a:r>
              <a:rPr lang="en-US" altLang="en-US" dirty="0" err="1"/>
              <a:t>nhau</a:t>
            </a:r>
            <a:r>
              <a:rPr lang="en-US" altLang="en-US" dirty="0"/>
              <a:t> (</a:t>
            </a:r>
            <a:r>
              <a:rPr lang="en-US" altLang="en-US" dirty="0" err="1"/>
              <a:t>gọi</a:t>
            </a:r>
            <a:r>
              <a:rPr lang="en-US" altLang="en-US" dirty="0"/>
              <a:t> </a:t>
            </a:r>
            <a:r>
              <a:rPr lang="en-US" altLang="en-US" dirty="0" err="1"/>
              <a:t>phương</a:t>
            </a:r>
            <a:r>
              <a:rPr lang="en-US" altLang="en-US" dirty="0"/>
              <a:t> </a:t>
            </a:r>
            <a:r>
              <a:rPr lang="en-US" altLang="en-US" dirty="0" err="1"/>
              <a:t>thức</a:t>
            </a:r>
            <a:r>
              <a:rPr lang="en-US" altLang="en-US" dirty="0"/>
              <a:t> </a:t>
            </a:r>
            <a:r>
              <a:rPr lang="en-US" altLang="en-US" dirty="0" err="1"/>
              <a:t>của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đối</a:t>
            </a:r>
            <a:r>
              <a:rPr lang="en-US" altLang="en-US" dirty="0"/>
              <a:t> </a:t>
            </a:r>
            <a:r>
              <a:rPr lang="en-US" altLang="en-US" dirty="0" err="1"/>
              <a:t>tượng</a:t>
            </a:r>
            <a:r>
              <a:rPr lang="en-US" alt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67995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152400"/>
            <a:ext cx="7886700" cy="914400"/>
          </a:xfrm>
        </p:spPr>
        <p:txBody>
          <a:bodyPr/>
          <a:lstStyle/>
          <a:p>
            <a:pPr eaLnBrk="1" hangingPunct="1"/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(class) C#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5" name="Content Placeholder 2"/>
          <p:cNvSpPr>
            <a:spLocks noGrp="1"/>
          </p:cNvSpPr>
          <p:nvPr>
            <p:ph idx="4294967295"/>
          </p:nvPr>
        </p:nvSpPr>
        <p:spPr>
          <a:xfrm>
            <a:off x="628650" y="1219200"/>
            <a:ext cx="7905750" cy="5029199"/>
          </a:xfrm>
        </p:spPr>
        <p:txBody>
          <a:bodyPr>
            <a:noAutofit/>
          </a:bodyPr>
          <a:lstStyle/>
          <a:p>
            <a:pPr marL="23495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vi-V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vi-V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TênLớp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vi-V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495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457200" indent="-39370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&lt;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57200" indent="-39370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&lt;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() </a:t>
            </a:r>
          </a:p>
          <a:p>
            <a:pPr marL="457200" indent="-39370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pPr marL="457200" indent="-39370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39370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marL="23495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6057900" y="6356351"/>
            <a:ext cx="245745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84FD6D1-44ED-4F38-A06E-383F3933C31D}" type="slidenum">
              <a:rPr lang="en-US">
                <a:solidFill>
                  <a:schemeClr val="bg1"/>
                </a:solidFill>
                <a:latin typeface="Verdana" panose="020B0604030504040204" pitchFamily="34" charset="0"/>
              </a:rPr>
              <a:pPr eaLnBrk="1" hangingPunct="1"/>
              <a:t>67</a:t>
            </a:fld>
            <a:endParaRPr lang="en-US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1660525" y="7223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56936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152400"/>
            <a:ext cx="7886700" cy="914400"/>
          </a:xfrm>
        </p:spPr>
        <p:txBody>
          <a:bodyPr/>
          <a:lstStyle/>
          <a:p>
            <a:pPr eaLnBrk="1" hangingPunct="1"/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xuất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5" name="Content Placeholder 2"/>
          <p:cNvSpPr>
            <a:spLocks noGrp="1"/>
          </p:cNvSpPr>
          <p:nvPr>
            <p:ph idx="4294967295"/>
          </p:nvPr>
        </p:nvSpPr>
        <p:spPr>
          <a:xfrm>
            <a:off x="628650" y="1636712"/>
            <a:ext cx="7886700" cy="4840287"/>
          </a:xfrm>
        </p:spPr>
        <p:txBody>
          <a:bodyPr>
            <a:noAutofit/>
          </a:bodyPr>
          <a:lstStyle/>
          <a:p>
            <a:pPr marL="339725" indent="-339725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vi-V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(mặc định)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vi-V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vi-V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ruy xuất trong nội bộ lớp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39725" indent="-339725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protected: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 (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39725" indent="-339725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vi-V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vi-V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Truy xuất mọi nơi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39725" indent="-339725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static: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khởi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6057900" y="6356351"/>
            <a:ext cx="245745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84FD6D1-44ED-4F38-A06E-383F3933C31D}" type="slidenum">
              <a:rPr lang="en-US">
                <a:solidFill>
                  <a:schemeClr val="bg1"/>
                </a:solidFill>
                <a:latin typeface="Verdana" panose="020B0604030504040204" pitchFamily="34" charset="0"/>
              </a:rPr>
              <a:pPr eaLnBrk="1" hangingPunct="1"/>
              <a:t>68</a:t>
            </a:fld>
            <a:endParaRPr lang="en-US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1660525" y="7223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27408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152400"/>
            <a:ext cx="7886700" cy="914400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VD: </a:t>
            </a:r>
            <a:r>
              <a:rPr lang="en-US" sz="2400" dirty="0" err="1"/>
              <a:t>Định</a:t>
            </a:r>
            <a:r>
              <a:rPr lang="en-US" sz="2400" dirty="0"/>
              <a:t> </a:t>
            </a:r>
            <a:r>
              <a:rPr lang="en-US" sz="2400" dirty="0" err="1"/>
              <a:t>nghĩa</a:t>
            </a:r>
            <a:r>
              <a:rPr lang="en-US" sz="2400" dirty="0"/>
              <a:t> </a:t>
            </a:r>
            <a:r>
              <a:rPr lang="en-US" sz="2400" dirty="0" err="1"/>
              <a:t>lớp</a:t>
            </a:r>
            <a:r>
              <a:rPr lang="en-US" sz="2400" dirty="0"/>
              <a:t> </a:t>
            </a:r>
            <a:r>
              <a:rPr lang="en-US" sz="2400" dirty="0" err="1"/>
              <a:t>HocSinh</a:t>
            </a:r>
            <a:r>
              <a:rPr lang="en-US" sz="2400" dirty="0"/>
              <a:t> </a:t>
            </a:r>
            <a:r>
              <a:rPr lang="en-US" sz="2400" dirty="0" err="1"/>
              <a:t>gồm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</a:t>
            </a:r>
            <a:r>
              <a:rPr lang="en-US" sz="2400" dirty="0" err="1"/>
              <a:t>họ</a:t>
            </a:r>
            <a:r>
              <a:rPr lang="en-US" sz="2400" dirty="0"/>
              <a:t> </a:t>
            </a:r>
            <a:r>
              <a:rPr lang="en-US" sz="2400" dirty="0" err="1"/>
              <a:t>tên</a:t>
            </a:r>
            <a:r>
              <a:rPr lang="en-US" sz="2400" dirty="0"/>
              <a:t>, </a:t>
            </a:r>
            <a:r>
              <a:rPr lang="en-US" sz="2400" dirty="0" err="1"/>
              <a:t>điểm</a:t>
            </a:r>
            <a:r>
              <a:rPr lang="en-US" sz="2400" dirty="0"/>
              <a:t> </a:t>
            </a:r>
            <a:r>
              <a:rPr lang="en-US" sz="2400" dirty="0" err="1"/>
              <a:t>văn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điểm</a:t>
            </a:r>
            <a:r>
              <a:rPr lang="en-US" sz="2400" dirty="0"/>
              <a:t> </a:t>
            </a:r>
            <a:r>
              <a:rPr lang="en-US" sz="2400" dirty="0" err="1"/>
              <a:t>toán</a:t>
            </a:r>
            <a:r>
              <a:rPr lang="en-US" sz="2400" dirty="0"/>
              <a:t>.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thao</a:t>
            </a:r>
            <a:r>
              <a:rPr lang="en-US" sz="2400" dirty="0"/>
              <a:t> </a:t>
            </a:r>
            <a:r>
              <a:rPr lang="en-US" sz="2400" dirty="0" err="1"/>
              <a:t>tác</a:t>
            </a:r>
            <a:r>
              <a:rPr lang="en-US" sz="2400" dirty="0"/>
              <a:t> </a:t>
            </a:r>
            <a:r>
              <a:rPr lang="en-US" sz="2400" dirty="0" err="1"/>
              <a:t>nhập</a:t>
            </a:r>
            <a:r>
              <a:rPr lang="en-US" sz="2400" dirty="0"/>
              <a:t>,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điểm</a:t>
            </a:r>
            <a:r>
              <a:rPr lang="en-US" sz="2400" dirty="0"/>
              <a:t> </a:t>
            </a:r>
            <a:r>
              <a:rPr lang="en-US" sz="2400" dirty="0" err="1"/>
              <a:t>trung</a:t>
            </a:r>
            <a:r>
              <a:rPr lang="en-US" sz="2400" dirty="0"/>
              <a:t> </a:t>
            </a:r>
            <a:r>
              <a:rPr lang="en-US" sz="2400" dirty="0" err="1"/>
              <a:t>bình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in </a:t>
            </a:r>
            <a:r>
              <a:rPr lang="en-US" sz="2400" dirty="0" err="1"/>
              <a:t>kết</a:t>
            </a:r>
            <a:r>
              <a:rPr lang="en-US" sz="2400" dirty="0"/>
              <a:t> </a:t>
            </a:r>
            <a:r>
              <a:rPr lang="en-US" sz="2400" dirty="0" err="1"/>
              <a:t>quả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4294967295"/>
          </p:nvPr>
        </p:nvSpPr>
        <p:spPr>
          <a:xfrm>
            <a:off x="304800" y="1504583"/>
            <a:ext cx="8686800" cy="5337176"/>
          </a:xfrm>
        </p:spPr>
        <p:txBody>
          <a:bodyPr>
            <a:noAutofit/>
          </a:bodyPr>
          <a:lstStyle/>
          <a:p>
            <a:pPr marL="0" indent="0" algn="just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0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0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HocSinh</a:t>
            </a:r>
            <a:endParaRPr 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indent="-27432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indent="-27432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string </a:t>
            </a:r>
            <a:r>
              <a:rPr lang="en-US" sz="20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hoten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74320" indent="-27432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	</a:t>
            </a:r>
            <a:r>
              <a:rPr lang="en-US" sz="20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toan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van;</a:t>
            </a:r>
          </a:p>
          <a:p>
            <a:pPr marL="274320" indent="-27432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</a:t>
            </a:r>
            <a:r>
              <a:rPr lang="en-US" sz="20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float </a:t>
            </a:r>
            <a:r>
              <a:rPr lang="en-US" sz="20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dtb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74320" indent="-27432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</a:t>
            </a:r>
            <a:r>
              <a:rPr lang="en-US" sz="20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void </a:t>
            </a:r>
            <a:r>
              <a:rPr lang="en-US" sz="20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Nhap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274320" indent="-27432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	{</a:t>
            </a:r>
          </a:p>
          <a:p>
            <a:pPr marL="274320" indent="-27432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	</a:t>
            </a:r>
            <a:r>
              <a:rPr lang="en-US" sz="20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Console.Write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20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Nhap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 ten: ");   </a:t>
            </a:r>
            <a:r>
              <a:rPr lang="en-US" sz="20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hoten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0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Console.ReadLine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274320" indent="-27432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20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Console.Write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20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Nhap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diem van: ");  van = </a:t>
            </a:r>
            <a:r>
              <a:rPr lang="en-US" sz="20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int.Parse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Console.ReadLine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</a:p>
          <a:p>
            <a:pPr marL="274320" indent="-27432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</a:t>
            </a:r>
            <a:r>
              <a:rPr lang="en-US" sz="20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Console.Write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20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Nhap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diem </a:t>
            </a:r>
            <a:r>
              <a:rPr lang="en-US" sz="20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toan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"); </a:t>
            </a:r>
            <a:r>
              <a:rPr lang="en-US" sz="20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toan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0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int.Parse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Console.ReadLine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</a:p>
          <a:p>
            <a:pPr marL="274320" indent="-27432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nl-NL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	 dtb = (float)(toan + van) / 2;</a:t>
            </a:r>
          </a:p>
          <a:p>
            <a:pPr marL="274320" indent="-27432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}</a:t>
            </a:r>
          </a:p>
          <a:p>
            <a:pPr marL="274320" indent="-27432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</a:t>
            </a:r>
            <a:r>
              <a:rPr lang="en-US" sz="20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void </a:t>
            </a:r>
            <a:r>
              <a:rPr lang="en-US" sz="20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Xuat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274320" indent="-27432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marL="274320" indent="-27432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0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Console.WriteLine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("Diem </a:t>
            </a:r>
            <a:r>
              <a:rPr lang="en-US" sz="20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binh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{0:0.00}", </a:t>
            </a:r>
            <a:r>
              <a:rPr lang="en-US" sz="20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dtb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274320" indent="-27432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}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indent="-27432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6057900" y="6356351"/>
            <a:ext cx="245745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F3B439A-B8D4-40AA-9BE3-25283D005D68}" type="slidenum">
              <a:rPr lang="en-US">
                <a:solidFill>
                  <a:schemeClr val="bg1"/>
                </a:solidFill>
                <a:latin typeface="Verdana" panose="020B0604030504040204" pitchFamily="34" charset="0"/>
              </a:rPr>
              <a:pPr eaLnBrk="1" hangingPunct="1"/>
              <a:t>69</a:t>
            </a:fld>
            <a:endParaRPr lang="en-US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1660525" y="7223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462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1"/>
            <a:ext cx="7886700" cy="914400"/>
          </a:xfrm>
        </p:spPr>
        <p:txBody>
          <a:bodyPr/>
          <a:lstStyle/>
          <a:p>
            <a:pPr eaLnBrk="1" hangingPunct="1"/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6057900" y="6356351"/>
            <a:ext cx="245745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DC97B59-DC3C-4AD9-BF13-F1A7E99E26C1}" type="slidenum">
              <a:rPr lang="en-US">
                <a:solidFill>
                  <a:schemeClr val="bg1"/>
                </a:solidFill>
                <a:latin typeface="Verdana" panose="020B0604030504040204" pitchFamily="34" charset="0"/>
              </a:rPr>
              <a:pPr eaLnBrk="1" hangingPunct="1"/>
              <a:t>70</a:t>
            </a:fld>
            <a:endParaRPr lang="en-US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1660525" y="7223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293" name="Content Placeholder 2"/>
          <p:cNvSpPr txBox="1">
            <a:spLocks/>
          </p:cNvSpPr>
          <p:nvPr/>
        </p:nvSpPr>
        <p:spPr bwMode="gray">
          <a:xfrm>
            <a:off x="628650" y="1219200"/>
            <a:ext cx="828675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/>
            </a:pP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TênLớp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TênĐốiTượng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TênLớp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&gt;();</a:t>
            </a:r>
          </a:p>
          <a:p>
            <a:pPr lvl="1" eaLnBrk="1" hangingPunct="1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VD: 	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HocSinh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hsA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HocSinh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/>
            </a:pP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TênĐốiTượng.TênPhươngThức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]);</a:t>
            </a:r>
          </a:p>
          <a:p>
            <a:pPr lvl="1" eaLnBrk="1" hangingPunct="1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VD:	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hsA.Nhap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lvl="1" eaLnBrk="1" hangingPunct="1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hsA.Xuat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	</a:t>
            </a: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560521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tắc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CTDL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CTDL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rõ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(KDL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,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/ </a:t>
            </a:r>
            <a:r>
              <a:rPr lang="en-US" dirty="0" err="1"/>
              <a:t>ra</a:t>
            </a:r>
            <a:r>
              <a:rPr lang="en-US" dirty="0"/>
              <a:t>, </a:t>
            </a:r>
            <a:r>
              <a:rPr lang="en-US" dirty="0" err="1"/>
              <a:t>tiền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, </a:t>
            </a:r>
            <a:r>
              <a:rPr lang="en-US" dirty="0" err="1"/>
              <a:t>hậu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,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)</a:t>
            </a: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qua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,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lệ</a:t>
            </a:r>
            <a:endParaRPr lang="en-US" dirty="0"/>
          </a:p>
          <a:p>
            <a:pPr marL="342900" lvl="1" indent="0" algn="just">
              <a:lnSpc>
                <a:spcPct val="150000"/>
              </a:lnSpc>
              <a:buNone/>
            </a:pP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: private/ protected</a:t>
            </a: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ban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rỗng</a:t>
            </a:r>
            <a:endParaRPr lang="en-US" dirty="0"/>
          </a:p>
          <a:p>
            <a:pPr marL="514350" indent="-514350" algn="just">
              <a:lnSpc>
                <a:spcPct val="150000"/>
              </a:lnSpc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81385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: </a:t>
            </a:r>
            <a:r>
              <a:rPr lang="en-US" dirty="0" err="1"/>
              <a:t>dừng</a:t>
            </a:r>
            <a:r>
              <a:rPr lang="en-US" dirty="0"/>
              <a:t>/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tục</a:t>
            </a:r>
            <a:endParaRPr lang="en-US" dirty="0"/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endParaRPr lang="en-US" dirty="0"/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endParaRPr lang="en-US" dirty="0"/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KDL: </a:t>
            </a:r>
            <a:r>
              <a:rPr lang="en-US" dirty="0" err="1"/>
              <a:t>dùng</a:t>
            </a:r>
            <a:r>
              <a:rPr lang="en-US" dirty="0"/>
              <a:t> template (C++) hay Genetic</a:t>
            </a: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dirty="0"/>
              <a:t>Thao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ngoài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public,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private/ protected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25386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C#</a:t>
            </a:r>
          </a:p>
        </p:txBody>
      </p:sp>
      <p:sp>
        <p:nvSpPr>
          <p:cNvPr id="60419" name="Content Placeholder 2"/>
          <p:cNvSpPr>
            <a:spLocks noGrp="1"/>
          </p:cNvSpPr>
          <p:nvPr>
            <p:ph idx="1"/>
          </p:nvPr>
        </p:nvSpPr>
        <p:spPr>
          <a:xfrm>
            <a:off x="628650" y="1690688"/>
            <a:ext cx="8210550" cy="3719512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dirty="0" err="1"/>
              <a:t>Rẽ</a:t>
            </a:r>
            <a:r>
              <a:rPr lang="en-US" dirty="0"/>
              <a:t> </a:t>
            </a:r>
            <a:r>
              <a:rPr lang="en-US" dirty="0" err="1"/>
              <a:t>nhánh</a:t>
            </a:r>
            <a:r>
              <a:rPr lang="en-US" dirty="0"/>
              <a:t> : if…else</a:t>
            </a:r>
          </a:p>
          <a:p>
            <a:pPr eaLnBrk="1" hangingPunct="1">
              <a:lnSpc>
                <a:spcPct val="150000"/>
              </a:lnSpc>
            </a:pPr>
            <a:r>
              <a:rPr lang="en-US" dirty="0" err="1"/>
              <a:t>Lựa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: switch…case</a:t>
            </a:r>
          </a:p>
          <a:p>
            <a:pPr eaLnBrk="1" hangingPunct="1">
              <a:lnSpc>
                <a:spcPct val="150000"/>
              </a:lnSpc>
            </a:pPr>
            <a:r>
              <a:rPr lang="en-US" dirty="0" err="1"/>
              <a:t>Lặp</a:t>
            </a:r>
            <a:r>
              <a:rPr lang="en-US" dirty="0"/>
              <a:t> : for, while, do…while, </a:t>
            </a:r>
            <a:r>
              <a:rPr lang="en-US" dirty="0" err="1"/>
              <a:t>foreach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7546824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Cấu trúc rẽ nhánh</a:t>
            </a:r>
          </a:p>
        </p:txBody>
      </p:sp>
      <p:sp>
        <p:nvSpPr>
          <p:cNvPr id="61444" name="AutoShape 2" descr="mk:@MSITStore:E:\06HCA\ITC\LTHDT\Addison%20Wesley%20Essential%20C%20Sharp%202.0%20Jul%202006.chm::/0321150775/images/michaelis_mindmap02_alt.jp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61445" name="AutoShape 4" descr="mk:@MSITStore:E:\06HCA\ITC\LTHDT\Addison%20Wesley%20Essential%20C%20Sharp%202.0%20Jul%202006.chm::/0321150775/images/michaelis_mindmap02_alt.jpg"/>
          <p:cNvSpPr>
            <a:spLocks noChangeAspect="1" noChangeArrowheads="1"/>
          </p:cNvSpPr>
          <p:nvPr/>
        </p:nvSpPr>
        <p:spPr bwMode="auto">
          <a:xfrm>
            <a:off x="215900" y="1587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15900" y="1828800"/>
            <a:ext cx="4051300" cy="3293209"/>
          </a:xfrm>
          <a:prstGeom prst="rect">
            <a:avLst/>
          </a:prstGeom>
        </p:spPr>
        <p:txBody>
          <a:bodyPr>
            <a:spAutoFit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biểu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thức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điều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kiện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&lt;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khối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lệnh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;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just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Nếu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biểu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thức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điều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kiện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kết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quả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khác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(true)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̀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thực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hiện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khối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lệnh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1447" name="Object 5"/>
          <p:cNvGraphicFramePr>
            <a:graphicFrameLocks noChangeAspect="1"/>
          </p:cNvGraphicFramePr>
          <p:nvPr/>
        </p:nvGraphicFramePr>
        <p:xfrm>
          <a:off x="4419600" y="1828800"/>
          <a:ext cx="4524375" cy="480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628742" imgH="2800350" progId="Visio.Drawing.11">
                  <p:embed/>
                </p:oleObj>
              </mc:Choice>
              <mc:Fallback>
                <p:oleObj name="Visio" r:id="rId2" imgW="2628742" imgH="2800350" progId="Visio.Drawing.11">
                  <p:embed/>
                  <p:pic>
                    <p:nvPicPr>
                      <p:cNvPr id="6144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828800"/>
                        <a:ext cx="4524375" cy="480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0143141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2"/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1187450"/>
          </a:xfrm>
        </p:spPr>
        <p:txBody>
          <a:bodyPr/>
          <a:lstStyle/>
          <a:p>
            <a:pPr eaLnBrk="1" hangingPunct="1"/>
            <a:r>
              <a:rPr lang="en-US"/>
              <a:t>Cấu trúc rẽ nhánh (tt)</a:t>
            </a:r>
          </a:p>
        </p:txBody>
      </p:sp>
      <p:sp>
        <p:nvSpPr>
          <p:cNvPr id="63492" name="AutoShape 2" descr="mk:@MSITStore:E:\06HCA\ITC\LTHDT\Addison%20Wesley%20Essential%20C%20Sharp%202.0%20Jul%202006.chm::/0321150775/images/michaelis_mindmap02_alt.jp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63493" name="AutoShape 4" descr="mk:@MSITStore:E:\06HCA\ITC\LTHDT\Addison%20Wesley%20Essential%20C%20Sharp%202.0%20Jul%202006.chm::/0321150775/images/michaelis_mindmap02_alt.jpg"/>
          <p:cNvSpPr>
            <a:spLocks noChangeAspect="1" noChangeArrowheads="1"/>
          </p:cNvSpPr>
          <p:nvPr/>
        </p:nvSpPr>
        <p:spPr bwMode="auto">
          <a:xfrm>
            <a:off x="215900" y="1587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04800" y="1011734"/>
            <a:ext cx="38989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vi-V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(biểu thức điều kiện)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vi-V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vi-V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&lt;khối lệnh 1&gt;;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vi-V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vi-V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vi-V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vi-V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&lt;khối lệnh 2&gt;;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vi-V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vi-V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vi-V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Nếu biểu thức điều kiện cho kết quả khác không thì thực hiện khối lệnh 1, ngược lại thì cho thực hiện khối lệnh thứ 2. </a:t>
            </a:r>
          </a:p>
        </p:txBody>
      </p:sp>
      <p:graphicFrame>
        <p:nvGraphicFramePr>
          <p:cNvPr id="63495" name="Object 2"/>
          <p:cNvGraphicFramePr>
            <a:graphicFrameLocks noChangeAspect="1"/>
          </p:cNvGraphicFramePr>
          <p:nvPr/>
        </p:nvGraphicFramePr>
        <p:xfrm>
          <a:off x="4254500" y="1981200"/>
          <a:ext cx="4813300" cy="434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095559" imgH="2800350" progId="Visio.Drawing.11">
                  <p:embed/>
                </p:oleObj>
              </mc:Choice>
              <mc:Fallback>
                <p:oleObj name="Visio" r:id="rId2" imgW="3095559" imgH="2800350" progId="Visio.Drawing.11">
                  <p:embed/>
                  <p:pic>
                    <p:nvPicPr>
                      <p:cNvPr id="6349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4500" y="1981200"/>
                        <a:ext cx="4813300" cy="434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9207147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2"/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1047750"/>
          </a:xfrm>
        </p:spPr>
        <p:txBody>
          <a:bodyPr/>
          <a:lstStyle/>
          <a:p>
            <a:pPr eaLnBrk="1" hangingPunct="1"/>
            <a:r>
              <a:rPr lang="en-US"/>
              <a:t>Cấu trúc lựa chọn</a:t>
            </a:r>
          </a:p>
        </p:txBody>
      </p:sp>
      <p:sp>
        <p:nvSpPr>
          <p:cNvPr id="65539" name="Content Placeholder 2"/>
          <p:cNvSpPr>
            <a:spLocks noGrp="1"/>
          </p:cNvSpPr>
          <p:nvPr>
            <p:ph idx="1"/>
          </p:nvPr>
        </p:nvSpPr>
        <p:spPr>
          <a:xfrm>
            <a:off x="628650" y="1524000"/>
            <a:ext cx="8362950" cy="4949825"/>
          </a:xfrm>
        </p:spPr>
        <p:txBody>
          <a:bodyPr>
            <a:normAutofit lnSpcReduction="10000"/>
          </a:bodyPr>
          <a:lstStyle/>
          <a:p>
            <a:pPr marL="273050" indent="-273050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sz="2400" dirty="0"/>
              <a:t>switch (</a:t>
            </a:r>
            <a:r>
              <a:rPr lang="en-US" sz="2400" dirty="0" err="1"/>
              <a:t>biểu</a:t>
            </a:r>
            <a:r>
              <a:rPr lang="en-US" sz="2400" dirty="0"/>
              <a:t> </a:t>
            </a:r>
            <a:r>
              <a:rPr lang="en-US" sz="2400" dirty="0" err="1"/>
              <a:t>thức</a:t>
            </a:r>
            <a:r>
              <a:rPr lang="en-US" sz="2400" dirty="0"/>
              <a:t>)</a:t>
            </a:r>
          </a:p>
          <a:p>
            <a:pPr marL="273050" indent="-273050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sz="2400" dirty="0">
                <a:sym typeface="Symbol" panose="05050102010706020507" pitchFamily="18" charset="2"/>
              </a:rPr>
              <a:t></a:t>
            </a:r>
            <a:endParaRPr lang="en-US" sz="2400" dirty="0"/>
          </a:p>
          <a:p>
            <a:pPr marL="273050" indent="-273050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sz="2400" dirty="0"/>
              <a:t>	case  n1:</a:t>
            </a:r>
          </a:p>
          <a:p>
            <a:pPr marL="273050" indent="-273050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sz="2400" dirty="0"/>
              <a:t>               </a:t>
            </a:r>
            <a:r>
              <a:rPr lang="en-US" sz="2400" dirty="0" err="1"/>
              <a:t>các</a:t>
            </a:r>
            <a:r>
              <a:rPr lang="en-US" sz="2400" dirty="0"/>
              <a:t> </a:t>
            </a:r>
            <a:r>
              <a:rPr lang="en-US" sz="2400" dirty="0" err="1"/>
              <a:t>câu</a:t>
            </a:r>
            <a:r>
              <a:rPr lang="en-US" sz="2400" dirty="0"/>
              <a:t> </a:t>
            </a:r>
            <a:r>
              <a:rPr lang="en-US" sz="2400" dirty="0" err="1"/>
              <a:t>lệnh</a:t>
            </a:r>
            <a:r>
              <a:rPr lang="en-US" sz="2400" dirty="0"/>
              <a:t> ;</a:t>
            </a:r>
          </a:p>
          <a:p>
            <a:pPr marL="273050" indent="-273050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sz="2400" dirty="0"/>
              <a:t>               break ;</a:t>
            </a:r>
          </a:p>
          <a:p>
            <a:pPr marL="273050" indent="-273050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sz="2400" dirty="0"/>
              <a:t>	case  n2:         </a:t>
            </a:r>
          </a:p>
          <a:p>
            <a:pPr marL="273050" indent="-273050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sz="2400" dirty="0"/>
              <a:t>	            </a:t>
            </a:r>
            <a:r>
              <a:rPr lang="en-US" sz="2400" dirty="0" err="1"/>
              <a:t>các</a:t>
            </a:r>
            <a:r>
              <a:rPr lang="en-US" sz="2400" dirty="0"/>
              <a:t> </a:t>
            </a:r>
            <a:r>
              <a:rPr lang="en-US" sz="2400" dirty="0" err="1"/>
              <a:t>câu</a:t>
            </a:r>
            <a:r>
              <a:rPr lang="en-US" sz="2400" dirty="0"/>
              <a:t> </a:t>
            </a:r>
            <a:r>
              <a:rPr lang="en-US" sz="2400" dirty="0" err="1"/>
              <a:t>lệnh</a:t>
            </a:r>
            <a:r>
              <a:rPr lang="en-US" sz="2400" dirty="0"/>
              <a:t> ;</a:t>
            </a:r>
          </a:p>
          <a:p>
            <a:pPr marL="273050" indent="-273050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sz="2400" dirty="0"/>
              <a:t>	            break ;</a:t>
            </a:r>
          </a:p>
          <a:p>
            <a:pPr marL="273050" indent="-273050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sz="2400" dirty="0"/>
              <a:t>	………</a:t>
            </a:r>
          </a:p>
          <a:p>
            <a:pPr marL="273050" indent="-273050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sz="2400" dirty="0"/>
              <a:t>	case  </a:t>
            </a:r>
            <a:r>
              <a:rPr lang="en-US" sz="2400" dirty="0" err="1"/>
              <a:t>nk</a:t>
            </a:r>
            <a:r>
              <a:rPr lang="en-US" sz="2400" dirty="0"/>
              <a:t>:                                                                                       </a:t>
            </a:r>
          </a:p>
          <a:p>
            <a:pPr marL="273050" indent="-273050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sz="2400" dirty="0"/>
              <a:t>	            &lt;</a:t>
            </a:r>
            <a:r>
              <a:rPr lang="en-US" sz="2400" dirty="0" err="1"/>
              <a:t>các</a:t>
            </a:r>
            <a:r>
              <a:rPr lang="en-US" sz="2400" dirty="0"/>
              <a:t> </a:t>
            </a:r>
            <a:r>
              <a:rPr lang="en-US" sz="2400" dirty="0" err="1"/>
              <a:t>câu</a:t>
            </a:r>
            <a:r>
              <a:rPr lang="en-US" sz="2400" dirty="0"/>
              <a:t> </a:t>
            </a:r>
            <a:r>
              <a:rPr lang="en-US" sz="2400" dirty="0" err="1"/>
              <a:t>lệnh</a:t>
            </a:r>
            <a:r>
              <a:rPr lang="en-US" sz="2400" dirty="0"/>
              <a:t>&gt; ;</a:t>
            </a:r>
          </a:p>
          <a:p>
            <a:pPr marL="273050" indent="-273050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sz="2400" dirty="0"/>
              <a:t>	            break ;</a:t>
            </a:r>
          </a:p>
          <a:p>
            <a:pPr marL="273050" indent="-273050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sz="2400" dirty="0"/>
              <a:t>	[default: </a:t>
            </a:r>
            <a:r>
              <a:rPr lang="en-US" sz="2400" dirty="0" err="1"/>
              <a:t>các</a:t>
            </a:r>
            <a:r>
              <a:rPr lang="en-US" sz="2400" dirty="0"/>
              <a:t> </a:t>
            </a:r>
            <a:r>
              <a:rPr lang="en-US" sz="2400" dirty="0" err="1"/>
              <a:t>câu</a:t>
            </a:r>
            <a:r>
              <a:rPr lang="en-US" sz="2400" dirty="0"/>
              <a:t> </a:t>
            </a:r>
            <a:r>
              <a:rPr lang="en-US" sz="2400" dirty="0" err="1"/>
              <a:t>lệnh</a:t>
            </a:r>
            <a:r>
              <a:rPr lang="en-US" sz="2400" dirty="0"/>
              <a:t>]</a:t>
            </a:r>
          </a:p>
          <a:p>
            <a:pPr marL="273050" indent="-273050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sz="2400" dirty="0"/>
              <a:t>			break;                </a:t>
            </a:r>
          </a:p>
          <a:p>
            <a:pPr marL="273050" indent="-273050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sz="2400" dirty="0">
                <a:sym typeface="Symbol" panose="05050102010706020507" pitchFamily="18" charset="2"/>
              </a:rPr>
              <a:t></a:t>
            </a:r>
            <a:endParaRPr lang="en-US" sz="2400" dirty="0"/>
          </a:p>
          <a:p>
            <a:pPr marL="273050" indent="-273050" eaLnBrk="1" hangingPunct="1">
              <a:buFont typeface="Wingdings" panose="05000000000000000000" pitchFamily="2" charset="2"/>
              <a:buNone/>
            </a:pPr>
            <a:endParaRPr lang="en-US" sz="2400" dirty="0"/>
          </a:p>
        </p:txBody>
      </p:sp>
      <p:sp>
        <p:nvSpPr>
          <p:cNvPr id="65541" name="AutoShape 2" descr="mk:@MSITStore:E:\06HCA\ITC\LTHDT\Addison%20Wesley%20Essential%20C%20Sharp%202.0%20Jul%202006.chm::/0321150775/images/michaelis_mindmap02_alt.jp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65542" name="AutoShape 4" descr="mk:@MSITStore:E:\06HCA\ITC\LTHDT\Addison%20Wesley%20Essential%20C%20Sharp%202.0%20Jul%202006.chm::/0321150775/images/michaelis_mindmap02_alt.jpg"/>
          <p:cNvSpPr>
            <a:spLocks noChangeAspect="1" noChangeArrowheads="1"/>
          </p:cNvSpPr>
          <p:nvPr/>
        </p:nvSpPr>
        <p:spPr bwMode="auto">
          <a:xfrm>
            <a:off x="215900" y="1587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0" name="Line Callout 2 9"/>
          <p:cNvSpPr/>
          <p:nvPr/>
        </p:nvSpPr>
        <p:spPr>
          <a:xfrm>
            <a:off x="4114800" y="2362200"/>
            <a:ext cx="3429000" cy="8382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51136"/>
              <a:gd name="adj6" fmla="val -506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800" dirty="0"/>
              <a:t>KQ </a:t>
            </a:r>
            <a:r>
              <a:rPr lang="en-US" sz="2800" dirty="0" err="1"/>
              <a:t>phải</a:t>
            </a:r>
            <a:r>
              <a:rPr lang="en-US" sz="2800" dirty="0"/>
              <a:t> </a:t>
            </a:r>
            <a:r>
              <a:rPr lang="en-US" sz="2800" dirty="0" err="1"/>
              <a:t>là</a:t>
            </a:r>
            <a:r>
              <a:rPr lang="en-US" sz="2800" dirty="0"/>
              <a:t> </a:t>
            </a:r>
            <a:r>
              <a:rPr lang="en-US" sz="2800" dirty="0" err="1"/>
              <a:t>nguyên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8892255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Cấu trúc lặp</a:t>
            </a:r>
          </a:p>
        </p:txBody>
      </p:sp>
      <p:sp>
        <p:nvSpPr>
          <p:cNvPr id="686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/>
              <a:t>while</a:t>
            </a:r>
          </a:p>
          <a:p>
            <a:pPr>
              <a:lnSpc>
                <a:spcPct val="150000"/>
              </a:lnSpc>
            </a:pPr>
            <a:r>
              <a:rPr lang="en-US"/>
              <a:t>for</a:t>
            </a:r>
          </a:p>
          <a:p>
            <a:pPr>
              <a:lnSpc>
                <a:spcPct val="150000"/>
              </a:lnSpc>
            </a:pPr>
            <a:r>
              <a:rPr lang="en-US"/>
              <a:t>do…while</a:t>
            </a:r>
          </a:p>
          <a:p>
            <a:pPr>
              <a:lnSpc>
                <a:spcPct val="150000"/>
              </a:lnSpc>
            </a:pPr>
            <a:r>
              <a:rPr lang="en-US"/>
              <a:t>foreach</a:t>
            </a:r>
          </a:p>
        </p:txBody>
      </p:sp>
    </p:spTree>
    <p:extLst>
      <p:ext uri="{BB962C8B-B14F-4D97-AF65-F5344CB8AC3E}">
        <p14:creationId xmlns:p14="http://schemas.microsoft.com/office/powerpoint/2010/main" val="21414651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Cấu trúc lặp while và for</a:t>
            </a:r>
          </a:p>
        </p:txBody>
      </p:sp>
      <p:graphicFrame>
        <p:nvGraphicFramePr>
          <p:cNvPr id="69636" name="Object 2"/>
          <p:cNvGraphicFramePr>
            <a:graphicFrameLocks noChangeAspect="1"/>
          </p:cNvGraphicFramePr>
          <p:nvPr/>
        </p:nvGraphicFramePr>
        <p:xfrm>
          <a:off x="600075" y="1028700"/>
          <a:ext cx="8158163" cy="582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726440" imgH="3519000" progId="Visio.Drawing.11">
                  <p:embed/>
                </p:oleObj>
              </mc:Choice>
              <mc:Fallback>
                <p:oleObj name="Visio" r:id="rId2" imgW="4726440" imgH="3519000" progId="Visio.Drawing.11">
                  <p:embed/>
                  <p:pic>
                    <p:nvPicPr>
                      <p:cNvPr id="6963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075" y="1028700"/>
                        <a:ext cx="8158163" cy="582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5620974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Hoạt động cấu trúc lặp while và for</a:t>
            </a:r>
          </a:p>
        </p:txBody>
      </p:sp>
      <p:sp>
        <p:nvSpPr>
          <p:cNvPr id="706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en-US" u="sng"/>
              <a:t>Bước 1:</a:t>
            </a:r>
            <a:r>
              <a:rPr lang="en-US"/>
              <a:t> Thực hiện khởi gán</a:t>
            </a: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en-US" u="sng"/>
              <a:t>Bước 2:</a:t>
            </a:r>
            <a:r>
              <a:rPr lang="en-US"/>
              <a:t> Kiểm tra biểu thức điều kiện</a:t>
            </a:r>
          </a:p>
          <a:p>
            <a:pPr algn="just" eaLnBrk="1" hangingPunct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Tx/>
              <a:buChar char="-"/>
            </a:pPr>
            <a:r>
              <a:rPr lang="en-US"/>
              <a:t>Nếu kết quả là true thì cho thực hiện các lệnh của vòng lặp, thực hiện biểu thức tăng/ giảm. Quay trở lại bước 2.</a:t>
            </a:r>
          </a:p>
          <a:p>
            <a:pPr algn="just" eaLnBrk="1" hangingPunct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Tx/>
              <a:buChar char="-"/>
            </a:pPr>
            <a:r>
              <a:rPr lang="en-US"/>
              <a:t>Ngược lại kết thúc vòng lặp.</a:t>
            </a:r>
          </a:p>
        </p:txBody>
      </p:sp>
    </p:spTree>
    <p:extLst>
      <p:ext uri="{BB962C8B-B14F-4D97-AF65-F5344CB8AC3E}">
        <p14:creationId xmlns:p14="http://schemas.microsoft.com/office/powerpoint/2010/main" val="272277918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Cấu trúc lặp while</a:t>
            </a:r>
          </a:p>
        </p:txBody>
      </p:sp>
      <p:sp>
        <p:nvSpPr>
          <p:cNvPr id="71683" name="Content Placeholder 2"/>
          <p:cNvSpPr>
            <a:spLocks noGrp="1"/>
          </p:cNvSpPr>
          <p:nvPr>
            <p:ph idx="1"/>
          </p:nvPr>
        </p:nvSpPr>
        <p:spPr>
          <a:xfrm>
            <a:off x="628650" y="1690688"/>
            <a:ext cx="8210550" cy="4783137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/>
              <a:t>&lt; Khởi gán&gt;;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/>
              <a:t>while (&lt;biểu thức điều kiện&gt;)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>
                <a:sym typeface="Symbol" panose="05050102010706020507" pitchFamily="18" charset="2"/>
              </a:rPr>
              <a:t></a:t>
            </a:r>
            <a:endParaRPr lang="en-US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/>
              <a:t>		lệnh/ khối lệnh;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/>
              <a:t>		&lt;tăng/giảm chỉ số lặp&gt;;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>
                <a:sym typeface="Symbol" panose="05050102010706020507" pitchFamily="18" charset="2"/>
              </a:rPr>
              <a:t></a:t>
            </a:r>
            <a:endParaRPr lang="en-US"/>
          </a:p>
        </p:txBody>
      </p:sp>
      <p:sp>
        <p:nvSpPr>
          <p:cNvPr id="71685" name="AutoShape 2" descr="mk:@MSITStore:E:\06HCA\ITC\LTHDT\Addison%20Wesley%20Essential%20C%20Sharp%202.0%20Jul%202006.chm::/0321150775/images/michaelis_mindmap02_alt.jp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71686" name="AutoShape 4" descr="mk:@MSITStore:E:\06HCA\ITC\LTHDT\Addison%20Wesley%20Essential%20C%20Sharp%202.0%20Jul%202006.chm::/0321150775/images/michaelis_mindmap02_alt.jpg"/>
          <p:cNvSpPr>
            <a:spLocks noChangeAspect="1" noChangeArrowheads="1"/>
          </p:cNvSpPr>
          <p:nvPr/>
        </p:nvSpPr>
        <p:spPr bwMode="auto">
          <a:xfrm>
            <a:off x="215900" y="1587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56221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Cấu trúc lặp for</a:t>
            </a:r>
          </a:p>
        </p:txBody>
      </p:sp>
      <p:sp>
        <p:nvSpPr>
          <p:cNvPr id="73732" name="AutoShape 2" descr="mk:@MSITStore:E:\06HCA\ITC\LTHDT\Addison%20Wesley%20Essential%20C%20Sharp%202.0%20Jul%202006.chm::/0321150775/images/michaelis_mindmap02_alt.jp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73733" name="AutoShape 4" descr="mk:@MSITStore:E:\06HCA\ITC\LTHDT\Addison%20Wesley%20Essential%20C%20Sharp%202.0%20Jul%202006.chm::/0321150775/images/michaelis_mindmap02_alt.jpg"/>
          <p:cNvSpPr>
            <a:spLocks noChangeAspect="1" noChangeArrowheads="1"/>
          </p:cNvSpPr>
          <p:nvPr/>
        </p:nvSpPr>
        <p:spPr bwMode="auto">
          <a:xfrm>
            <a:off x="215900" y="1587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73734" name="Content Placeholder 2"/>
          <p:cNvSpPr txBox="1">
            <a:spLocks/>
          </p:cNvSpPr>
          <p:nvPr/>
        </p:nvSpPr>
        <p:spPr bwMode="gray">
          <a:xfrm>
            <a:off x="628650" y="1524000"/>
            <a:ext cx="828675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defTabSz="6858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400050" defTabSz="6858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457200" defTabSz="6858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571500" defTabSz="6858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685800" defTabSz="6858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685800" defTabSz="6858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685800" defTabSz="6858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685800" defTabSz="6858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685800" defTabSz="6858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for (&lt;Khởi gán&gt;;&lt;biểu thức ĐK&gt;;&lt;tăng/giảm&gt;)</a:t>
            </a: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		&lt;khối lệnh&gt;;</a:t>
            </a: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6257747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2"/>
          <p:cNvSpPr>
            <a:spLocks noGrp="1"/>
          </p:cNvSpPr>
          <p:nvPr>
            <p:ph type="title"/>
          </p:nvPr>
        </p:nvSpPr>
        <p:spPr>
          <a:xfrm>
            <a:off x="628650" y="15875"/>
            <a:ext cx="7886700" cy="1203325"/>
          </a:xfrm>
        </p:spPr>
        <p:txBody>
          <a:bodyPr/>
          <a:lstStyle/>
          <a:p>
            <a:pPr eaLnBrk="1" hangingPunct="1"/>
            <a:r>
              <a:rPr lang="en-US"/>
              <a:t>Cấu trúc lặp do…while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5029200" y="1219200"/>
            <a:ext cx="3886200" cy="5254625"/>
          </a:xfrm>
        </p:spPr>
        <p:txBody>
          <a:bodyPr rtlCol="0">
            <a:noAutofit/>
          </a:bodyPr>
          <a:lstStyle/>
          <a:p>
            <a:pPr marL="274320" indent="-274320" eaLnBrk="1" fontAlgn="auto" hangingPunct="1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800" dirty="0"/>
              <a:t>do</a:t>
            </a:r>
          </a:p>
          <a:p>
            <a:pPr marL="274320" indent="-274320" eaLnBrk="1" fontAlgn="auto" hangingPunct="1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800" dirty="0"/>
              <a:t>{</a:t>
            </a:r>
          </a:p>
          <a:p>
            <a:pPr marL="274320" indent="-274320" eaLnBrk="1" fontAlgn="auto" hangingPunct="1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800" dirty="0"/>
              <a:t>	&lt; </a:t>
            </a:r>
            <a:r>
              <a:rPr lang="en-US" sz="2800" dirty="0" err="1"/>
              <a:t>khối</a:t>
            </a:r>
            <a:r>
              <a:rPr lang="en-US" sz="2800" dirty="0"/>
              <a:t> </a:t>
            </a:r>
            <a:r>
              <a:rPr lang="en-US" sz="2800" dirty="0" err="1"/>
              <a:t>lệnh</a:t>
            </a:r>
            <a:r>
              <a:rPr lang="en-US" sz="2800" dirty="0"/>
              <a:t>&gt; ;</a:t>
            </a:r>
          </a:p>
          <a:p>
            <a:pPr marL="274320" indent="-274320" eaLnBrk="1" fontAlgn="auto" hangingPunct="1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800" dirty="0"/>
              <a:t>} while (</a:t>
            </a:r>
            <a:r>
              <a:rPr lang="en-US" sz="2800" dirty="0" err="1"/>
              <a:t>biểu</a:t>
            </a:r>
            <a:r>
              <a:rPr lang="en-US" sz="2800" dirty="0"/>
              <a:t> </a:t>
            </a:r>
            <a:r>
              <a:rPr lang="en-US" sz="2800" dirty="0" err="1"/>
              <a:t>thức</a:t>
            </a:r>
            <a:r>
              <a:rPr lang="en-US" sz="2800" dirty="0"/>
              <a:t> ĐK);</a:t>
            </a:r>
          </a:p>
          <a:p>
            <a:pPr marL="0" indent="0" algn="just" eaLnBrk="1" fontAlgn="auto" hangingPunct="1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800" i="1" dirty="0" err="1"/>
              <a:t>Thực</a:t>
            </a:r>
            <a:r>
              <a:rPr lang="en-US" sz="2800" i="1" dirty="0"/>
              <a:t> </a:t>
            </a:r>
            <a:r>
              <a:rPr lang="en-US" sz="2800" i="1" dirty="0" err="1"/>
              <a:t>hiện</a:t>
            </a:r>
            <a:r>
              <a:rPr lang="en-US" sz="2800" i="1" dirty="0"/>
              <a:t> </a:t>
            </a:r>
            <a:r>
              <a:rPr lang="en-US" sz="2800" i="1" dirty="0" err="1"/>
              <a:t>khối</a:t>
            </a:r>
            <a:r>
              <a:rPr lang="en-US" sz="2800" i="1" dirty="0"/>
              <a:t> </a:t>
            </a:r>
            <a:r>
              <a:rPr lang="en-US" sz="2800" i="1" dirty="0" err="1"/>
              <a:t>lệnh</a:t>
            </a:r>
            <a:r>
              <a:rPr lang="en-US" sz="2800" i="1" dirty="0"/>
              <a:t> </a:t>
            </a:r>
            <a:r>
              <a:rPr lang="en-US" sz="2800" i="1" dirty="0" err="1"/>
              <a:t>cho</a:t>
            </a:r>
            <a:r>
              <a:rPr lang="en-US" sz="2800" i="1" dirty="0"/>
              <a:t> </a:t>
            </a:r>
            <a:r>
              <a:rPr lang="en-US" sz="2800" i="1" dirty="0" err="1"/>
              <a:t>đến</a:t>
            </a:r>
            <a:r>
              <a:rPr lang="en-US" sz="2800" i="1" dirty="0"/>
              <a:t> </a:t>
            </a:r>
            <a:r>
              <a:rPr lang="en-US" sz="2800" i="1" dirty="0" err="1"/>
              <a:t>khi</a:t>
            </a:r>
            <a:r>
              <a:rPr lang="en-US" sz="2800" i="1" dirty="0"/>
              <a:t> </a:t>
            </a:r>
            <a:r>
              <a:rPr lang="en-US" sz="2800" i="1" dirty="0" err="1"/>
              <a:t>biểu</a:t>
            </a:r>
            <a:r>
              <a:rPr lang="en-US" sz="2800" i="1" dirty="0"/>
              <a:t> </a:t>
            </a:r>
            <a:r>
              <a:rPr lang="en-US" sz="2800" i="1" dirty="0" err="1"/>
              <a:t>thức</a:t>
            </a:r>
            <a:r>
              <a:rPr lang="en-US" sz="2800" i="1" dirty="0"/>
              <a:t> </a:t>
            </a:r>
            <a:r>
              <a:rPr lang="en-US" sz="2800" i="1" dirty="0" err="1"/>
              <a:t>điều</a:t>
            </a:r>
            <a:r>
              <a:rPr lang="en-US" sz="2800" i="1" dirty="0"/>
              <a:t> </a:t>
            </a:r>
            <a:r>
              <a:rPr lang="en-US" sz="2800" i="1" dirty="0" err="1"/>
              <a:t>kiện</a:t>
            </a:r>
            <a:r>
              <a:rPr lang="en-US" sz="2800" i="1" dirty="0"/>
              <a:t> </a:t>
            </a:r>
            <a:r>
              <a:rPr lang="en-US" sz="2800" i="1" dirty="0" err="1"/>
              <a:t>là</a:t>
            </a:r>
            <a:r>
              <a:rPr lang="en-US" sz="2800" i="1" dirty="0"/>
              <a:t> false</a:t>
            </a:r>
            <a:endParaRPr lang="en-US" sz="2800" dirty="0"/>
          </a:p>
        </p:txBody>
      </p:sp>
      <p:sp>
        <p:nvSpPr>
          <p:cNvPr id="75781" name="AutoShape 2" descr="mk:@MSITStore:E:\06HCA\ITC\LTHDT\Addison%20Wesley%20Essential%20C%20Sharp%202.0%20Jul%202006.chm::/0321150775/images/michaelis_mindmap02_alt.jp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75782" name="AutoShape 4" descr="mk:@MSITStore:E:\06HCA\ITC\LTHDT\Addison%20Wesley%20Essential%20C%20Sharp%202.0%20Jul%202006.chm::/0321150775/images/michaelis_mindmap02_alt.jpg"/>
          <p:cNvSpPr>
            <a:spLocks noChangeAspect="1" noChangeArrowheads="1"/>
          </p:cNvSpPr>
          <p:nvPr/>
        </p:nvSpPr>
        <p:spPr bwMode="auto">
          <a:xfrm>
            <a:off x="215900" y="1587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graphicFrame>
        <p:nvGraphicFramePr>
          <p:cNvPr id="75783" name="Object 5"/>
          <p:cNvGraphicFramePr>
            <a:graphicFrameLocks noChangeAspect="1"/>
          </p:cNvGraphicFramePr>
          <p:nvPr/>
        </p:nvGraphicFramePr>
        <p:xfrm>
          <a:off x="-50800" y="762000"/>
          <a:ext cx="5308600" cy="60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190808" imgH="3666965" progId="Visio.Drawing.11">
                  <p:embed/>
                </p:oleObj>
              </mc:Choice>
              <mc:Fallback>
                <p:oleObj name="Visio" r:id="rId2" imgW="3190808" imgH="3666965" progId="Visio.Drawing.11">
                  <p:embed/>
                  <p:pic>
                    <p:nvPicPr>
                      <p:cNvPr id="7578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50800" y="762000"/>
                        <a:ext cx="5308600" cy="609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5898219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Cấu trúc lặp foreach</a:t>
            </a:r>
          </a:p>
        </p:txBody>
      </p:sp>
      <p:sp>
        <p:nvSpPr>
          <p:cNvPr id="76803" name="Content Placeholder 2"/>
          <p:cNvSpPr>
            <a:spLocks noGrp="1"/>
          </p:cNvSpPr>
          <p:nvPr>
            <p:ph idx="1"/>
          </p:nvPr>
        </p:nvSpPr>
        <p:spPr>
          <a:xfrm>
            <a:off x="368300" y="1524000"/>
            <a:ext cx="8775700" cy="4783138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/>
              <a:t>Sử dụng cho mảng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/>
              <a:t>foreach (&lt;KDL mảng&gt;  &lt;tên biến&gt;  in  &lt;tên mảng&gt;)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/>
              <a:t>{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/>
              <a:t>	Khối lệnh;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/>
              <a:t>}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/>
              <a:t>Xét từng phần tử trong mảng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76805" name="AutoShape 2" descr="mk:@MSITStore:E:\06HCA\ITC\LTHDT\Addison%20Wesley%20Essential%20C%20Sharp%202.0%20Jul%202006.chm::/0321150775/images/michaelis_mindmap02_alt.jp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76806" name="AutoShape 4" descr="mk:@MSITStore:E:\06HCA\ITC\LTHDT\Addison%20Wesley%20Essential%20C%20Sharp%202.0%20Jul%202006.chm::/0321150775/images/michaelis_mindmap02_alt.jpg"/>
          <p:cNvSpPr>
            <a:spLocks noChangeAspect="1" noChangeArrowheads="1"/>
          </p:cNvSpPr>
          <p:nvPr/>
        </p:nvSpPr>
        <p:spPr bwMode="auto">
          <a:xfrm>
            <a:off x="215900" y="1587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0297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 algn="just">
              <a:lnSpc>
                <a:spcPct val="150000"/>
              </a:lnSpc>
              <a:buFont typeface="Wingdings" panose="05000000000000000000" pitchFamily="2" charset="2"/>
              <a:buAutoNum type="arabicPeriod"/>
            </a:pPr>
            <a:r>
              <a:rPr lang="en-US" sz="2800" dirty="0" err="1"/>
              <a:t>Hãy</a:t>
            </a:r>
            <a:r>
              <a:rPr lang="en-US" sz="2800" dirty="0"/>
              <a:t> </a:t>
            </a:r>
            <a:r>
              <a:rPr lang="en-US" sz="2800" dirty="0" err="1"/>
              <a:t>xây</a:t>
            </a:r>
            <a:r>
              <a:rPr lang="en-US" sz="2800" dirty="0"/>
              <a:t> </a:t>
            </a:r>
            <a:r>
              <a:rPr lang="en-US" sz="2800" dirty="0" err="1"/>
              <a:t>dựng</a:t>
            </a:r>
            <a:r>
              <a:rPr lang="en-US" sz="2800" dirty="0"/>
              <a:t>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dirty="0" err="1">
                <a:solidFill>
                  <a:srgbClr val="FF0000"/>
                </a:solidFill>
              </a:rPr>
              <a:t>hiện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thực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/>
              <a:t>kiểu</a:t>
            </a:r>
            <a:r>
              <a:rPr lang="en-US" sz="2800" dirty="0"/>
              <a:t> </a:t>
            </a:r>
            <a:r>
              <a:rPr lang="en-US" sz="2800" dirty="0" err="1"/>
              <a:t>dữ</a:t>
            </a:r>
            <a:r>
              <a:rPr lang="en-US" sz="2800" dirty="0"/>
              <a:t> </a:t>
            </a:r>
            <a:r>
              <a:rPr lang="en-US" sz="2800" dirty="0" err="1"/>
              <a:t>liệu</a:t>
            </a:r>
            <a:r>
              <a:rPr lang="en-US" sz="2800" dirty="0"/>
              <a:t> </a:t>
            </a:r>
            <a:r>
              <a:rPr lang="en-US" sz="2800" dirty="0" err="1"/>
              <a:t>trừu</a:t>
            </a:r>
            <a:r>
              <a:rPr lang="en-US" sz="2800" dirty="0"/>
              <a:t> </a:t>
            </a:r>
            <a:r>
              <a:rPr lang="en-US" sz="2800" dirty="0" err="1"/>
              <a:t>tượng (ADT)</a:t>
            </a:r>
            <a:r>
              <a:rPr lang="en-US" sz="2800" dirty="0"/>
              <a:t> </a:t>
            </a:r>
            <a:r>
              <a:rPr lang="en-US" sz="2800" dirty="0" err="1"/>
              <a:t>cho</a:t>
            </a:r>
            <a:r>
              <a:rPr lang="en-US" sz="2800" dirty="0"/>
              <a:t> </a:t>
            </a:r>
            <a:r>
              <a:rPr lang="en-US" sz="2800" dirty="0" err="1"/>
              <a:t>thông</a:t>
            </a:r>
            <a:r>
              <a:rPr lang="en-US" sz="2800" dirty="0"/>
              <a:t> tin </a:t>
            </a:r>
            <a:r>
              <a:rPr lang="en-US" sz="2800" dirty="0" err="1"/>
              <a:t>sinh</a:t>
            </a:r>
            <a:r>
              <a:rPr lang="en-US" sz="2800" dirty="0"/>
              <a:t> </a:t>
            </a:r>
            <a:r>
              <a:rPr lang="en-US" sz="2800" dirty="0" err="1"/>
              <a:t>viên</a:t>
            </a:r>
            <a:r>
              <a:rPr lang="en-US" sz="2800" dirty="0"/>
              <a:t> </a:t>
            </a:r>
            <a:r>
              <a:rPr lang="en-US" sz="2800" dirty="0" err="1"/>
              <a:t>với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thao</a:t>
            </a:r>
            <a:r>
              <a:rPr lang="en-US" sz="2800" dirty="0"/>
              <a:t> </a:t>
            </a:r>
            <a:r>
              <a:rPr lang="en-US" sz="2800" dirty="0" err="1"/>
              <a:t>tác</a:t>
            </a:r>
            <a:r>
              <a:rPr lang="en-US" sz="2800" dirty="0"/>
              <a:t> </a:t>
            </a:r>
            <a:r>
              <a:rPr lang="en-US" sz="2800" dirty="0" err="1"/>
              <a:t>nhập</a:t>
            </a:r>
            <a:r>
              <a:rPr lang="en-US" sz="2800" dirty="0"/>
              <a:t>, </a:t>
            </a:r>
            <a:r>
              <a:rPr lang="en-US" sz="2800" dirty="0" err="1"/>
              <a:t>xuất</a:t>
            </a:r>
            <a:r>
              <a:rPr lang="en-US" sz="2800" dirty="0"/>
              <a:t> </a:t>
            </a:r>
            <a:r>
              <a:rPr lang="en-US" sz="2800" dirty="0" err="1"/>
              <a:t>thông</a:t>
            </a:r>
            <a:r>
              <a:rPr lang="en-US" sz="2800" dirty="0"/>
              <a:t> tin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sinh</a:t>
            </a:r>
            <a:r>
              <a:rPr lang="en-US" sz="2800" dirty="0"/>
              <a:t> </a:t>
            </a:r>
            <a:r>
              <a:rPr lang="en-US" sz="2800" dirty="0" err="1"/>
              <a:t>viên</a:t>
            </a:r>
            <a:r>
              <a:rPr lang="en-US" sz="2800" dirty="0"/>
              <a:t>.</a:t>
            </a:r>
          </a:p>
          <a:p>
            <a:pPr marL="514350" indent="-514350" algn="just">
              <a:lnSpc>
                <a:spcPct val="150000"/>
              </a:lnSpc>
              <a:buFont typeface="Wingdings" panose="05000000000000000000" pitchFamily="2" charset="2"/>
              <a:buAutoNum type="arabicPeriod"/>
            </a:pPr>
            <a:r>
              <a:rPr lang="en-US" sz="2800" dirty="0" err="1"/>
              <a:t>Xây</a:t>
            </a:r>
            <a:r>
              <a:rPr lang="en-US" sz="2800" dirty="0"/>
              <a:t> </a:t>
            </a:r>
            <a:r>
              <a:rPr lang="en-US" sz="2800" dirty="0" err="1"/>
              <a:t>dựng</a:t>
            </a:r>
            <a:r>
              <a:rPr lang="en-US" sz="2800" dirty="0"/>
              <a:t>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dirty="0" err="1"/>
              <a:t>hiện</a:t>
            </a:r>
            <a:r>
              <a:rPr lang="en-US" sz="2800" dirty="0"/>
              <a:t> </a:t>
            </a:r>
            <a:r>
              <a:rPr lang="en-US" sz="2800" dirty="0" err="1"/>
              <a:t>thực</a:t>
            </a:r>
            <a:r>
              <a:rPr lang="en-US" sz="2800" dirty="0"/>
              <a:t> </a:t>
            </a:r>
            <a:r>
              <a:rPr lang="en-US" sz="2800" dirty="0" err="1"/>
              <a:t>kiểu</a:t>
            </a:r>
            <a:r>
              <a:rPr lang="en-US" sz="2800" dirty="0"/>
              <a:t> </a:t>
            </a:r>
            <a:r>
              <a:rPr lang="en-US" sz="2800" dirty="0" err="1"/>
              <a:t>dữ</a:t>
            </a:r>
            <a:r>
              <a:rPr lang="en-US" sz="2800" dirty="0"/>
              <a:t> </a:t>
            </a:r>
            <a:r>
              <a:rPr lang="en-US" sz="2800" dirty="0" err="1"/>
              <a:t>liệu</a:t>
            </a:r>
            <a:r>
              <a:rPr lang="en-US" sz="2800" dirty="0"/>
              <a:t> </a:t>
            </a:r>
            <a:r>
              <a:rPr lang="en-US" sz="2800" dirty="0" err="1"/>
              <a:t>trừu</a:t>
            </a:r>
            <a:r>
              <a:rPr lang="en-US" sz="2800" dirty="0"/>
              <a:t> </a:t>
            </a:r>
            <a:r>
              <a:rPr lang="en-US" sz="2800" dirty="0" err="1"/>
              <a:t>tượng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số</a:t>
            </a:r>
            <a:r>
              <a:rPr lang="en-US" sz="2800" dirty="0"/>
              <a:t> </a:t>
            </a:r>
            <a:r>
              <a:rPr lang="en-US" sz="2800" dirty="0" err="1"/>
              <a:t>hữu</a:t>
            </a:r>
            <a:r>
              <a:rPr lang="en-US" sz="2800" dirty="0"/>
              <a:t> </a:t>
            </a:r>
            <a:r>
              <a:rPr lang="en-US" sz="2800" dirty="0" err="1"/>
              <a:t>tỉ</a:t>
            </a:r>
            <a:r>
              <a:rPr lang="en-US" sz="2800" dirty="0"/>
              <a:t> a/b </a:t>
            </a:r>
            <a:r>
              <a:rPr lang="en-US" sz="2800" dirty="0" err="1"/>
              <a:t>với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tác</a:t>
            </a:r>
            <a:r>
              <a:rPr lang="en-US" sz="2800" dirty="0"/>
              <a:t> </a:t>
            </a:r>
            <a:r>
              <a:rPr lang="en-US" sz="2800" dirty="0" err="1"/>
              <a:t>vụ</a:t>
            </a:r>
            <a:r>
              <a:rPr lang="en-US" sz="2800" dirty="0"/>
              <a:t> </a:t>
            </a:r>
            <a:r>
              <a:rPr lang="en-US" sz="2800" dirty="0" err="1"/>
              <a:t>cộng</a:t>
            </a:r>
            <a:r>
              <a:rPr lang="en-US" sz="2800" dirty="0"/>
              <a:t> </a:t>
            </a:r>
            <a:r>
              <a:rPr lang="en-US" sz="2800" dirty="0" err="1"/>
              <a:t>hai</a:t>
            </a:r>
            <a:r>
              <a:rPr lang="en-US" sz="2800" dirty="0"/>
              <a:t> </a:t>
            </a:r>
            <a:r>
              <a:rPr lang="en-US" sz="2800" dirty="0" err="1"/>
              <a:t>số</a:t>
            </a:r>
            <a:r>
              <a:rPr lang="en-US" sz="2800" dirty="0"/>
              <a:t> </a:t>
            </a:r>
            <a:r>
              <a:rPr lang="en-US" sz="2800" dirty="0" err="1"/>
              <a:t>hữu</a:t>
            </a:r>
            <a:r>
              <a:rPr lang="en-US" sz="2800" dirty="0"/>
              <a:t> </a:t>
            </a:r>
            <a:r>
              <a:rPr lang="en-US" sz="2800" dirty="0" err="1"/>
              <a:t>tỉ</a:t>
            </a:r>
            <a:r>
              <a:rPr lang="en-US" sz="2800" dirty="0"/>
              <a:t>, </a:t>
            </a:r>
            <a:r>
              <a:rPr lang="en-US" sz="2800" dirty="0" err="1"/>
              <a:t>nhân</a:t>
            </a:r>
            <a:r>
              <a:rPr lang="en-US" sz="2800" dirty="0"/>
              <a:t> </a:t>
            </a:r>
            <a:r>
              <a:rPr lang="en-US" sz="2800" dirty="0" err="1"/>
              <a:t>hai</a:t>
            </a:r>
            <a:r>
              <a:rPr lang="en-US" sz="2800" dirty="0"/>
              <a:t> </a:t>
            </a:r>
            <a:r>
              <a:rPr lang="en-US" sz="2800" dirty="0" err="1"/>
              <a:t>số</a:t>
            </a:r>
            <a:r>
              <a:rPr lang="en-US" sz="2800" dirty="0"/>
              <a:t> </a:t>
            </a:r>
            <a:r>
              <a:rPr lang="en-US" sz="2800" dirty="0" err="1"/>
              <a:t>hữu</a:t>
            </a:r>
            <a:r>
              <a:rPr lang="en-US" sz="2800" dirty="0"/>
              <a:t> </a:t>
            </a:r>
            <a:r>
              <a:rPr lang="en-US" sz="2800" dirty="0" err="1"/>
              <a:t>tỉ</a:t>
            </a:r>
            <a:r>
              <a:rPr lang="en-US" sz="2800" dirty="0"/>
              <a:t>, chia </a:t>
            </a:r>
            <a:r>
              <a:rPr lang="en-US" sz="2800" dirty="0" err="1"/>
              <a:t>hai</a:t>
            </a:r>
            <a:r>
              <a:rPr lang="en-US" sz="2800" dirty="0"/>
              <a:t> </a:t>
            </a:r>
            <a:r>
              <a:rPr lang="en-US" sz="2800" dirty="0" err="1"/>
              <a:t>số</a:t>
            </a:r>
            <a:r>
              <a:rPr lang="en-US" sz="2800" dirty="0"/>
              <a:t> </a:t>
            </a:r>
            <a:r>
              <a:rPr lang="en-US" sz="2800" dirty="0" err="1"/>
              <a:t>hữu</a:t>
            </a:r>
            <a:r>
              <a:rPr lang="en-US" sz="2800" dirty="0"/>
              <a:t> </a:t>
            </a:r>
            <a:r>
              <a:rPr lang="en-US" sz="2800" dirty="0" err="1"/>
              <a:t>tỉ</a:t>
            </a:r>
            <a:r>
              <a:rPr lang="en-US" sz="2800" dirty="0"/>
              <a:t>.</a:t>
            </a:r>
            <a:endParaRPr lang="en-US" dirty="0"/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MyIntArray</a:t>
            </a:r>
            <a:r>
              <a:rPr lang="en-US" dirty="0"/>
              <a:t> dùng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chiều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thao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, </a:t>
            </a:r>
            <a:r>
              <a:rPr lang="en-US" dirty="0" err="1"/>
              <a:t>xuất</a:t>
            </a:r>
            <a:r>
              <a:rPr lang="en-US" dirty="0"/>
              <a:t>,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min.</a:t>
            </a: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MyArray</a:t>
            </a:r>
            <a:r>
              <a:rPr lang="en-US" dirty="0"/>
              <a:t> dùng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chiều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kiểu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chung</a:t>
            </a:r>
            <a:r>
              <a:rPr lang="en-US" dirty="0">
                <a:solidFill>
                  <a:srgbClr val="FF0000"/>
                </a:solidFill>
              </a:rPr>
              <a:t> (generic) </a:t>
            </a:r>
            <a:r>
              <a:rPr lang="en-US" dirty="0" err="1"/>
              <a:t>và</a:t>
            </a:r>
            <a:r>
              <a:rPr lang="en-US" dirty="0"/>
              <a:t> thao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mảng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50782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85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3200400" y="2330450"/>
            <a:ext cx="2590800" cy="2624138"/>
            <a:chOff x="3448050" y="2057400"/>
            <a:chExt cx="2590800" cy="2624138"/>
          </a:xfrm>
        </p:grpSpPr>
        <p:sp>
          <p:nvSpPr>
            <p:cNvPr id="5" name="Oval 4"/>
            <p:cNvSpPr/>
            <p:nvPr/>
          </p:nvSpPr>
          <p:spPr>
            <a:xfrm>
              <a:off x="3448050" y="2057400"/>
              <a:ext cx="2590800" cy="2624138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9900" b="1" dirty="0"/>
                <a:t>?</a:t>
              </a:r>
              <a:endParaRPr lang="en-US" sz="3600" b="1" dirty="0"/>
            </a:p>
          </p:txBody>
        </p:sp>
        <p:sp>
          <p:nvSpPr>
            <p:cNvPr id="6" name="Oval 5"/>
            <p:cNvSpPr/>
            <p:nvPr/>
          </p:nvSpPr>
          <p:spPr>
            <a:xfrm>
              <a:off x="3657600" y="2590800"/>
              <a:ext cx="375713" cy="695786"/>
            </a:xfrm>
            <a:prstGeom prst="ellipse">
              <a:avLst/>
            </a:prstGeom>
            <a:gradFill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5400000" scaled="0"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93691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252277BDF55D44A62712C76FE01A4B" ma:contentTypeVersion="2" ma:contentTypeDescription="Create a new document." ma:contentTypeScope="" ma:versionID="232ded0e2faa80a5550211ed38ba48e6">
  <xsd:schema xmlns:xsd="http://www.w3.org/2001/XMLSchema" xmlns:xs="http://www.w3.org/2001/XMLSchema" xmlns:p="http://schemas.microsoft.com/office/2006/metadata/properties" xmlns:ns2="3dc0da11-70ec-4298-bf93-0cf833d2d1f5" targetNamespace="http://schemas.microsoft.com/office/2006/metadata/properties" ma:root="true" ma:fieldsID="acb72cece1da4e46e829a6d0d7ccea72" ns2:_="">
    <xsd:import namespace="3dc0da11-70ec-4298-bf93-0cf833d2d1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c0da11-70ec-4298-bf93-0cf833d2d1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9F49433-E511-4CFC-8508-BAC664D2DBD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dc0da11-70ec-4298-bf93-0cf833d2d1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CF9BFF4-90BE-4C5D-8D4F-DE1B964F5DA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F2A8114-EF15-4833-A851-B3070A5D6135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2124</TotalTime>
  <Words>5281</Words>
  <Application>Microsoft Macintosh PowerPoint</Application>
  <PresentationFormat>On-screen Show (4:3)</PresentationFormat>
  <Paragraphs>765</Paragraphs>
  <Slides>85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85</vt:i4>
      </vt:variant>
    </vt:vector>
  </HeadingPairs>
  <TitlesOfParts>
    <vt:vector size="99" baseType="lpstr">
      <vt:lpstr>Arial</vt:lpstr>
      <vt:lpstr>Calibri</vt:lpstr>
      <vt:lpstr>Calibri Light</vt:lpstr>
      <vt:lpstr>Cambria Math</vt:lpstr>
      <vt:lpstr>Symbol</vt:lpstr>
      <vt:lpstr>Tahoma</vt:lpstr>
      <vt:lpstr>Times New Roman</vt:lpstr>
      <vt:lpstr>Verdana</vt:lpstr>
      <vt:lpstr>VNI-Times</vt:lpstr>
      <vt:lpstr>Wingdings</vt:lpstr>
      <vt:lpstr>Wingdings 2</vt:lpstr>
      <vt:lpstr>Office Theme</vt:lpstr>
      <vt:lpstr>Equation</vt:lpstr>
      <vt:lpstr>Visio</vt:lpstr>
      <vt:lpstr>CẤU TRÚC DỮ LIỆU VÀ GIẢI THUẬT</vt:lpstr>
      <vt:lpstr>Thông tin học phần</vt:lpstr>
      <vt:lpstr>Đánh giá</vt:lpstr>
      <vt:lpstr>Nội dung</vt:lpstr>
      <vt:lpstr>Nội dung</vt:lpstr>
      <vt:lpstr>Nội dung</vt:lpstr>
      <vt:lpstr>Nội dung</vt:lpstr>
      <vt:lpstr>Nội dung</vt:lpstr>
      <vt:lpstr>Nội dung</vt:lpstr>
      <vt:lpstr>Nội dung</vt:lpstr>
      <vt:lpstr>Nội dung</vt:lpstr>
      <vt:lpstr>Nội dung</vt:lpstr>
      <vt:lpstr>Nội dung</vt:lpstr>
      <vt:lpstr>Nội dung</vt:lpstr>
      <vt:lpstr>Bài 1 Tổng quan về  Cấu trúc dữ liệu và Giải thuật</vt:lpstr>
      <vt:lpstr>Mục tiêu</vt:lpstr>
      <vt:lpstr>Vai trò của tổ chức dữ liệu</vt:lpstr>
      <vt:lpstr>Vai trò của tổ chức dữ liệu</vt:lpstr>
      <vt:lpstr>Vai trò của tổ chức dữ liệu</vt:lpstr>
      <vt:lpstr>Vai trò của CTDL &amp; GT</vt:lpstr>
      <vt:lpstr>Cấu trúc dữ liệu?</vt:lpstr>
      <vt:lpstr>Các tiêu chuẩn đánh giá CTDL</vt:lpstr>
      <vt:lpstr>Trừu tượng hóa dữ liệu</vt:lpstr>
      <vt:lpstr>Trừu tượng hóa dữ liệu</vt:lpstr>
      <vt:lpstr>Khái niệm về kiểu dữ liệu</vt:lpstr>
      <vt:lpstr>Khái niệm về kiểu dữ liệu</vt:lpstr>
      <vt:lpstr>Khái niệm về KDL</vt:lpstr>
      <vt:lpstr>Số nguyên</vt:lpstr>
      <vt:lpstr>Ký tự và logic</vt:lpstr>
      <vt:lpstr>Số thực</vt:lpstr>
      <vt:lpstr>Xâu ký tự (string)</vt:lpstr>
      <vt:lpstr>Kiểu mảng (Array)</vt:lpstr>
      <vt:lpstr>Mảng 1 chiều</vt:lpstr>
      <vt:lpstr>Mảng 2 chiều</vt:lpstr>
      <vt:lpstr>KDL có cấu trúc</vt:lpstr>
      <vt:lpstr>KDL có cấu trúc</vt:lpstr>
      <vt:lpstr>KDL có cấu trúc</vt:lpstr>
      <vt:lpstr>Khái niệm về giải thuật</vt:lpstr>
      <vt:lpstr>Các phương pháp mô tả giải thuật</vt:lpstr>
      <vt:lpstr>Các ký hiệu lưu đồ</vt:lpstr>
      <vt:lpstr>Ký hiệu mã giả</vt:lpstr>
      <vt:lpstr>Ví dụ mô tả giải thuật</vt:lpstr>
      <vt:lpstr>Mô tả bằng mã tự nhiên</vt:lpstr>
      <vt:lpstr>Mô tả bằng mã giả</vt:lpstr>
      <vt:lpstr>Mô tả bằng lưu đồ</vt:lpstr>
      <vt:lpstr>Bài tập</vt:lpstr>
      <vt:lpstr>Đặc trưng của giải thuật</vt:lpstr>
      <vt:lpstr>Đặc trưng của giải thuật</vt:lpstr>
      <vt:lpstr>Đặc trưng của giải thuật</vt:lpstr>
      <vt:lpstr>Đánh giá độ phức tạp của giải thuật</vt:lpstr>
      <vt:lpstr>Tiêu chuẩn đánh giá giải thuật</vt:lpstr>
      <vt:lpstr>Đánh giá độ phức tạp giải thuật</vt:lpstr>
      <vt:lpstr>Đánh giá độ phức tạp giải thuật</vt:lpstr>
      <vt:lpstr>Thời gian thực thi chương trình</vt:lpstr>
      <vt:lpstr>Khái niệm độ phức tạp giải thuật</vt:lpstr>
      <vt:lpstr>Khái niệm độ phức tạp giải thuật</vt:lpstr>
      <vt:lpstr>Quy tắc tính độ phức tạp giải thuật</vt:lpstr>
      <vt:lpstr>Quy tắc tính độ phức tạp giải thuật</vt:lpstr>
      <vt:lpstr>Các độ phức tạp của giải thuật thường gặp</vt:lpstr>
      <vt:lpstr>Một số công thức thường dùng</vt:lpstr>
      <vt:lpstr>Bài tập</vt:lpstr>
      <vt:lpstr>Phân tích thiết kế hướng đối tượng</vt:lpstr>
      <vt:lpstr>Phân tích thiết kế hướng đối tượng</vt:lpstr>
      <vt:lpstr>Quá trình phân tích hướng đối tượng</vt:lpstr>
      <vt:lpstr>Xây dựng lớp CTDL</vt:lpstr>
      <vt:lpstr>Hiện thực KDL trừu tượng</vt:lpstr>
      <vt:lpstr>Định nghĩa lớp (class) C#</vt:lpstr>
      <vt:lpstr>Từ khóa truy xuất</vt:lpstr>
      <vt:lpstr>VD: Định nghĩa lớp HocSinh gồm dữ liệu họ tên, điểm văn và điểm toán. Các thao tác nhập, tính điểm trung bình và in kết quả</vt:lpstr>
      <vt:lpstr>Tạo và sử dụng đối tượng</vt:lpstr>
      <vt:lpstr>Các nguyên tắc xây dựng lớp CTDL</vt:lpstr>
      <vt:lpstr>Kỹ thuật lập trình</vt:lpstr>
      <vt:lpstr>Các cấu trúc điều khiển trong C#</vt:lpstr>
      <vt:lpstr>Cấu trúc rẽ nhánh</vt:lpstr>
      <vt:lpstr>Cấu trúc rẽ nhánh (tt)</vt:lpstr>
      <vt:lpstr>Cấu trúc lựa chọn</vt:lpstr>
      <vt:lpstr>Cấu trúc lặp</vt:lpstr>
      <vt:lpstr>Cấu trúc lặp while và for</vt:lpstr>
      <vt:lpstr>Hoạt động cấu trúc lặp while và for</vt:lpstr>
      <vt:lpstr>Cấu trúc lặp while</vt:lpstr>
      <vt:lpstr>Cấu trúc lặp for</vt:lpstr>
      <vt:lpstr>Cấu trúc lặp do…while</vt:lpstr>
      <vt:lpstr>Cấu trúc lặp foreach</vt:lpstr>
      <vt:lpstr>Bài tập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Minh Thai</dc:creator>
  <cp:lastModifiedBy>Huỳnh Thành Lộc</cp:lastModifiedBy>
  <cp:revision>104</cp:revision>
  <dcterms:created xsi:type="dcterms:W3CDTF">2007-08-28T06:01:43Z</dcterms:created>
  <dcterms:modified xsi:type="dcterms:W3CDTF">2025-09-22T09:53:48Z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0x01010077252277BDF55D44A62712C76FE01A4B</vt:lpwstr>
  </property>
</Properties>
</file>