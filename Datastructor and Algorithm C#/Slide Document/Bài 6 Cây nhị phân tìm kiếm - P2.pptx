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5"/>
  </p:notesMasterIdLst>
  <p:sldIdLst>
    <p:sldId id="256" r:id="rId5"/>
    <p:sldId id="257" r:id="rId6"/>
    <p:sldId id="338" r:id="rId7"/>
    <p:sldId id="339" r:id="rId8"/>
    <p:sldId id="340" r:id="rId9"/>
    <p:sldId id="361" r:id="rId10"/>
    <p:sldId id="362" r:id="rId11"/>
    <p:sldId id="358" r:id="rId12"/>
    <p:sldId id="359" r:id="rId13"/>
    <p:sldId id="360" r:id="rId14"/>
    <p:sldId id="369" r:id="rId15"/>
    <p:sldId id="341" r:id="rId16"/>
    <p:sldId id="363" r:id="rId17"/>
    <p:sldId id="371" r:id="rId18"/>
    <p:sldId id="368" r:id="rId19"/>
    <p:sldId id="365" r:id="rId20"/>
    <p:sldId id="366" r:id="rId21"/>
    <p:sldId id="367" r:id="rId22"/>
    <p:sldId id="357" r:id="rId23"/>
    <p:sldId id="370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5B9BD5"/>
    <a:srgbClr val="D2DEEF"/>
    <a:srgbClr val="EAEFF7"/>
    <a:srgbClr val="FFFFFF"/>
    <a:srgbClr val="FF3300"/>
    <a:srgbClr val="000000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392" autoAdjust="0"/>
    <p:restoredTop sz="94677" autoAdjust="0"/>
  </p:normalViewPr>
  <p:slideViewPr>
    <p:cSldViewPr>
      <p:cViewPr varScale="1">
        <p:scale>
          <a:sx n="63" d="100"/>
          <a:sy n="63" d="100"/>
        </p:scale>
        <p:origin x="192" y="1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5E94058B-4BCE-B54D-A456-AFAC0FF80456}"/>
    <pc:docChg chg="modSld">
      <pc:chgData name="Loc Huynh" userId="80c0383e323bd6ea" providerId="LiveId" clId="{5E94058B-4BCE-B54D-A456-AFAC0FF80456}" dt="2021-11-16T03:46:11.799" v="156" actId="20577"/>
      <pc:docMkLst>
        <pc:docMk/>
      </pc:docMkLst>
      <pc:sldChg chg="modSp mod">
        <pc:chgData name="Loc Huynh" userId="80c0383e323bd6ea" providerId="LiveId" clId="{5E94058B-4BCE-B54D-A456-AFAC0FF80456}" dt="2021-11-16T03:46:11.799" v="156" actId="20577"/>
        <pc:sldMkLst>
          <pc:docMk/>
          <pc:sldMk cId="3593938625" sldId="338"/>
        </pc:sldMkLst>
        <pc:spChg chg="mod">
          <ac:chgData name="Loc Huynh" userId="80c0383e323bd6ea" providerId="LiveId" clId="{5E94058B-4BCE-B54D-A456-AFAC0FF80456}" dt="2021-11-16T03:46:11.799" v="156" actId="20577"/>
          <ac:spMkLst>
            <pc:docMk/>
            <pc:sldMk cId="3593938625" sldId="33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D0D082E-E09E-4D11-8421-E55CA5006449}" type="datetimeFigureOut">
              <a:rPr lang="en-US"/>
              <a:pPr>
                <a:defRPr/>
              </a:pPr>
              <a:t>11/15/21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9FD7609-25D3-4C6C-B17C-57FF32D7B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6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FD7609-25D3-4C6C-B17C-57FF32D7BB3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08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478318E-C07A-4D3D-A6A3-43CD8CE59C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2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81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6226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47116F-A5C4-45A3-BD27-A8CEE0B05D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3F9D67-DFB9-4A21-B59E-0172C59F1F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489075"/>
            <a:ext cx="386715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93926"/>
            <a:ext cx="386715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489075"/>
            <a:ext cx="386834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93926"/>
            <a:ext cx="386834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8B196-89C0-45B9-8946-214AAE2387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4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86728-FBBD-46A5-9CFF-84AC8AD4A5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0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866C1C-1123-493F-8A2A-56B83D7EB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DE3A1-4119-42C5-919B-05966368E7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6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232D45-71C3-4BF0-8655-3A2FAEA407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3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5E43F1-39FF-4327-A688-D716E00EA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3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01C286-E41F-4F94-B4E8-878B1D61A4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2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C0F2-6636-4CB3-9369-07758DB7F8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7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itc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628800"/>
            <a:ext cx="7903789" cy="172082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6: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nhị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b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endParaRPr lang="en-US" sz="4600" dirty="0">
              <a:latin typeface="Arial Unicode MS" pitchFamily="34" charset="-128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4077073"/>
            <a:ext cx="7355243" cy="648072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Trần Minh Thái -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minhthai@huflit.edu.vn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37A5C889-6979-4D15-B5BC-BE4B6BE124D2}" type="slidenum">
              <a:rPr lang="en-US" smtClean="0">
                <a:solidFill>
                  <a:srgbClr val="FFFFFF"/>
                </a:solidFill>
              </a:rPr>
              <a:pPr eaLnBrk="1" hangingPunct="1"/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65126"/>
            <a:ext cx="7615758" cy="132556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981200"/>
            <a:ext cx="7558607" cy="4267200"/>
          </a:xfrm>
        </p:spPr>
        <p:txBody>
          <a:bodyPr>
            <a:normAutofit/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AVL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7840E616-C602-4341-8619-6D3AB15B6BAE}" type="slidenum">
              <a:rPr lang="en-US" smtClean="0"/>
              <a:pPr eaLnBrk="1" hangingPunct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/>
              <a:t>Phát</a:t>
            </a:r>
            <a:r>
              <a:rPr lang="en-US" sz="2600" dirty="0"/>
              <a:t> minh: </a:t>
            </a:r>
            <a:r>
              <a:rPr lang="en-US" sz="2600" dirty="0" err="1"/>
              <a:t>Nhà</a:t>
            </a:r>
            <a:r>
              <a:rPr lang="en-US" sz="2600" dirty="0"/>
              <a:t> </a:t>
            </a:r>
            <a:r>
              <a:rPr lang="en-US" sz="2600" dirty="0" err="1"/>
              <a:t>toán</a:t>
            </a:r>
            <a:r>
              <a:rPr lang="en-US" sz="2600" dirty="0"/>
              <a:t> </a:t>
            </a:r>
            <a:r>
              <a:rPr lang="en-US" sz="2600" dirty="0" err="1"/>
              <a:t>học</a:t>
            </a:r>
            <a:r>
              <a:rPr lang="en-US" sz="2600" dirty="0"/>
              <a:t> Nga G. M. </a:t>
            </a:r>
            <a:r>
              <a:rPr lang="en-US" sz="2600" b="1" u="sng" dirty="0" err="1"/>
              <a:t>A</a:t>
            </a:r>
            <a:r>
              <a:rPr lang="en-US" sz="2600" dirty="0" err="1"/>
              <a:t>del’Son-</a:t>
            </a:r>
            <a:r>
              <a:rPr lang="en-US" sz="2600" b="1" u="sng" dirty="0" err="1"/>
              <a:t>V</a:t>
            </a:r>
            <a:r>
              <a:rPr lang="en-US" sz="2600" dirty="0" err="1"/>
              <a:t>el’Skil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E. M. </a:t>
            </a:r>
            <a:r>
              <a:rPr lang="en-US" sz="2600" b="1" u="sng" dirty="0"/>
              <a:t>L</a:t>
            </a:r>
            <a:r>
              <a:rPr lang="en-US" sz="2600" dirty="0"/>
              <a:t>andis (1962)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Cấu</a:t>
            </a:r>
            <a:r>
              <a:rPr lang="en-US" sz="2600" dirty="0"/>
              <a:t> </a:t>
            </a:r>
            <a:r>
              <a:rPr lang="en-US" sz="2600" dirty="0" err="1"/>
              <a:t>trúc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giúp</a:t>
            </a:r>
            <a:r>
              <a:rPr lang="en-US" sz="2600" dirty="0"/>
              <a:t> </a:t>
            </a:r>
            <a:r>
              <a:rPr lang="en-US" sz="2600" dirty="0" err="1"/>
              <a:t>tối</a:t>
            </a:r>
            <a:r>
              <a:rPr lang="en-US" sz="2600" dirty="0"/>
              <a:t> </a:t>
            </a:r>
            <a:r>
              <a:rPr lang="en-US" sz="2600" dirty="0" err="1"/>
              <a:t>ưu</a:t>
            </a:r>
            <a:r>
              <a:rPr lang="en-US" sz="2600" dirty="0"/>
              <a:t> </a:t>
            </a:r>
            <a:r>
              <a:rPr lang="en-US" sz="2600" dirty="0" err="1"/>
              <a:t>thời</a:t>
            </a:r>
            <a:r>
              <a:rPr lang="en-US" sz="2600" dirty="0"/>
              <a:t> </a:t>
            </a:r>
            <a:r>
              <a:rPr lang="en-US" sz="2600" dirty="0" err="1"/>
              <a:t>gian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nhị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: </a:t>
            </a:r>
            <a:r>
              <a:rPr lang="en-US" sz="2600" dirty="0" err="1"/>
              <a:t>cây</a:t>
            </a:r>
            <a:r>
              <a:rPr lang="en-US" sz="2600" dirty="0"/>
              <a:t> AVL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Chi </a:t>
            </a:r>
            <a:r>
              <a:rPr lang="en-US" sz="2600" dirty="0" err="1"/>
              <a:t>phí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r>
              <a:rPr lang="en-US" sz="2600" dirty="0"/>
              <a:t>,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/>
              <a:t>mới</a:t>
            </a:r>
            <a:r>
              <a:rPr lang="en-US" sz="2600" dirty="0"/>
              <a:t>, </a:t>
            </a:r>
            <a:r>
              <a:rPr lang="en-US" sz="2600" dirty="0" err="1"/>
              <a:t>xoá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n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O(log</a:t>
            </a:r>
            <a:r>
              <a:rPr lang="en-US" sz="2600" baseline="-25000" dirty="0"/>
              <a:t>2</a:t>
            </a:r>
            <a:r>
              <a:rPr lang="en-US" sz="2600" dirty="0"/>
              <a:t>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3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/>
              <a:t>Cây</a:t>
            </a:r>
            <a:r>
              <a:rPr lang="en-US" sz="2600" dirty="0"/>
              <a:t> AVL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0000"/>
                </a:solidFill>
              </a:rPr>
              <a:t>cây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nhị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phân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tìm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kiếm</a:t>
            </a:r>
            <a:endParaRPr lang="en-US" sz="26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Chiều</a:t>
            </a:r>
            <a:r>
              <a:rPr lang="en-US" sz="2600" dirty="0"/>
              <a:t> </a:t>
            </a:r>
            <a:r>
              <a:rPr lang="en-US" sz="2600" dirty="0" err="1"/>
              <a:t>cao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gốc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0000"/>
                </a:solidFill>
              </a:rPr>
              <a:t>hơn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kém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nhau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không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quá</a:t>
            </a:r>
            <a:r>
              <a:rPr lang="en-US" sz="2600" dirty="0">
                <a:solidFill>
                  <a:srgbClr val="FF0000"/>
                </a:solidFill>
              </a:rPr>
              <a:t> 1</a:t>
            </a:r>
          </a:p>
          <a:p>
            <a:pPr algn="just">
              <a:lnSpc>
                <a:spcPct val="150000"/>
              </a:lnSpc>
            </a:pPr>
            <a:r>
              <a:rPr lang="en-US" sz="2600" dirty="0" err="1"/>
              <a:t>Cả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cũng</a:t>
            </a:r>
            <a:r>
              <a:rPr lang="en-US" sz="2600" dirty="0"/>
              <a:t>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AVL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77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(Balance factor)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04780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dirty="0" err="1"/>
              <a:t>Chỉ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(</a:t>
            </a:r>
            <a:r>
              <a:rPr lang="en-US" sz="2600" dirty="0" err="1"/>
              <a:t>bF</a:t>
            </a:r>
            <a:r>
              <a:rPr lang="en-US" sz="2600" dirty="0"/>
              <a:t> – balance Factor)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: </a:t>
            </a:r>
          </a:p>
          <a:p>
            <a:pPr marL="0" indent="0" algn="ctr">
              <a:buNone/>
            </a:pPr>
            <a:r>
              <a:rPr lang="en-US" sz="2600" i="1" dirty="0" err="1">
                <a:solidFill>
                  <a:srgbClr val="FF0000"/>
                </a:solidFill>
              </a:rPr>
              <a:t>bF</a:t>
            </a:r>
            <a:r>
              <a:rPr lang="en-US" sz="2600" i="1" dirty="0">
                <a:solidFill>
                  <a:srgbClr val="FF0000"/>
                </a:solidFill>
              </a:rPr>
              <a:t> = </a:t>
            </a:r>
            <a:r>
              <a:rPr lang="en-US" sz="2600" i="1" dirty="0" err="1">
                <a:solidFill>
                  <a:srgbClr val="FF0000"/>
                </a:solidFill>
              </a:rPr>
              <a:t>hL</a:t>
            </a:r>
            <a:r>
              <a:rPr lang="en-US" sz="2600" i="1" dirty="0">
                <a:solidFill>
                  <a:srgbClr val="FF0000"/>
                </a:solidFill>
              </a:rPr>
              <a:t> – </a:t>
            </a:r>
            <a:r>
              <a:rPr lang="en-US" sz="2600" i="1" dirty="0" err="1">
                <a:solidFill>
                  <a:srgbClr val="FF0000"/>
                </a:solidFill>
              </a:rPr>
              <a:t>hR</a:t>
            </a:r>
            <a:endParaRPr lang="en-US" sz="2600" i="1" dirty="0">
              <a:solidFill>
                <a:srgbClr val="FF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600" dirty="0" err="1"/>
              <a:t>hL</a:t>
            </a:r>
            <a:r>
              <a:rPr lang="en-US" sz="2600" dirty="0"/>
              <a:t>: </a:t>
            </a:r>
            <a:r>
              <a:rPr lang="en-US" sz="2600" dirty="0" err="1"/>
              <a:t>chiều</a:t>
            </a:r>
            <a:r>
              <a:rPr lang="en-US" sz="2600" dirty="0"/>
              <a:t> </a:t>
            </a:r>
            <a:r>
              <a:rPr lang="en-US" sz="2600" dirty="0" err="1"/>
              <a:t>cao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trái</a:t>
            </a:r>
            <a:endParaRPr lang="en-US" sz="2600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600" dirty="0" err="1"/>
              <a:t>hR</a:t>
            </a:r>
            <a:r>
              <a:rPr lang="en-US" sz="2600" dirty="0"/>
              <a:t>: </a:t>
            </a:r>
            <a:r>
              <a:rPr lang="en-US" sz="2600" dirty="0" err="1"/>
              <a:t>chiều</a:t>
            </a:r>
            <a:r>
              <a:rPr lang="en-US" sz="2600" dirty="0"/>
              <a:t> </a:t>
            </a:r>
            <a:r>
              <a:rPr lang="en-US" sz="2600" dirty="0" err="1"/>
              <a:t>cao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con </a:t>
            </a:r>
            <a:r>
              <a:rPr lang="en-US" sz="2600" dirty="0" err="1"/>
              <a:t>phải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dirty="0" err="1"/>
              <a:t>Có</a:t>
            </a:r>
            <a:r>
              <a:rPr lang="en-US" sz="2600" dirty="0"/>
              <a:t> 3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dirty="0" err="1"/>
              <a:t>bF</a:t>
            </a:r>
            <a:r>
              <a:rPr lang="en-US" sz="2600" dirty="0"/>
              <a:t> = 0: </a:t>
            </a:r>
            <a:r>
              <a:rPr lang="en-US" sz="2600" dirty="0" err="1"/>
              <a:t>hL</a:t>
            </a:r>
            <a:r>
              <a:rPr lang="en-US" sz="2600" dirty="0"/>
              <a:t> = </a:t>
            </a:r>
            <a:r>
              <a:rPr lang="en-US" sz="2600" dirty="0" err="1"/>
              <a:t>hR</a:t>
            </a:r>
            <a:endParaRPr lang="en-US" sz="26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dirty="0" err="1"/>
              <a:t>bF</a:t>
            </a:r>
            <a:r>
              <a:rPr lang="en-US" sz="2600" dirty="0"/>
              <a:t> &gt; 0: </a:t>
            </a:r>
            <a:r>
              <a:rPr lang="en-US" sz="2600" dirty="0" err="1"/>
              <a:t>hL</a:t>
            </a:r>
            <a:r>
              <a:rPr lang="en-US" sz="2600" dirty="0"/>
              <a:t> &gt; </a:t>
            </a:r>
            <a:r>
              <a:rPr lang="en-US" sz="2600" dirty="0" err="1"/>
              <a:t>hR</a:t>
            </a:r>
            <a:endParaRPr lang="en-US" sz="26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dirty="0" err="1"/>
              <a:t>bF</a:t>
            </a:r>
            <a:r>
              <a:rPr lang="en-US" sz="2600" dirty="0"/>
              <a:t> &lt; 0: </a:t>
            </a:r>
            <a:r>
              <a:rPr lang="en-US" sz="2600" dirty="0" err="1"/>
              <a:t>hL</a:t>
            </a:r>
            <a:r>
              <a:rPr lang="en-US" sz="2600" dirty="0"/>
              <a:t> &lt; </a:t>
            </a:r>
            <a:r>
              <a:rPr lang="en-US" sz="2600" dirty="0" err="1"/>
              <a:t>hR</a:t>
            </a:r>
            <a:endParaRPr lang="en-US" sz="2600" dirty="0"/>
          </a:p>
          <a:p>
            <a:pPr marL="0" indent="0" algn="just">
              <a:buNone/>
            </a:pPr>
            <a:endParaRPr lang="en-US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69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1: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trái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041798"/>
            <a:ext cx="3581400" cy="3571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0142" y="5983832"/>
            <a:ext cx="25603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1.1 </a:t>
            </a:r>
            <a:r>
              <a:rPr lang="en-US" sz="2200" dirty="0" err="1"/>
              <a:t>Lệch</a:t>
            </a:r>
            <a:r>
              <a:rPr lang="en-US" sz="2200" dirty="0"/>
              <a:t> </a:t>
            </a:r>
            <a:r>
              <a:rPr lang="en-US" sz="2200" dirty="0" err="1"/>
              <a:t>trái</a:t>
            </a:r>
            <a:r>
              <a:rPr lang="en-US" sz="2200" dirty="0"/>
              <a:t> – </a:t>
            </a:r>
            <a:r>
              <a:rPr lang="en-US" sz="2200" dirty="0" err="1"/>
              <a:t>trái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5990437" y="5983832"/>
            <a:ext cx="2592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1.2 </a:t>
            </a:r>
            <a:r>
              <a:rPr lang="en-US" sz="2200" dirty="0" err="1"/>
              <a:t>Lệch</a:t>
            </a:r>
            <a:r>
              <a:rPr lang="en-US" sz="2200" dirty="0"/>
              <a:t> </a:t>
            </a:r>
            <a:r>
              <a:rPr lang="en-US" sz="2200" dirty="0" err="1"/>
              <a:t>trái</a:t>
            </a:r>
            <a:r>
              <a:rPr lang="en-US" sz="2200" dirty="0"/>
              <a:t> – </a:t>
            </a:r>
            <a:r>
              <a:rPr lang="en-US" sz="2200" dirty="0" err="1"/>
              <a:t>phải</a:t>
            </a:r>
            <a:endParaRPr lang="en-US" sz="2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56085"/>
            <a:ext cx="35433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0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47806" cy="1325563"/>
          </a:xfrm>
        </p:spPr>
        <p:txBody>
          <a:bodyPr/>
          <a:lstStyle/>
          <a:p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2: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phải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87580" y="5979459"/>
            <a:ext cx="2592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2.1 </a:t>
            </a:r>
            <a:r>
              <a:rPr lang="en-US" sz="2200" dirty="0" err="1"/>
              <a:t>Lệch</a:t>
            </a:r>
            <a:r>
              <a:rPr lang="en-US" sz="2200" dirty="0"/>
              <a:t> </a:t>
            </a:r>
            <a:r>
              <a:rPr lang="en-US" sz="2200" dirty="0" err="1"/>
              <a:t>phải</a:t>
            </a:r>
            <a:r>
              <a:rPr lang="en-US" sz="2200" dirty="0"/>
              <a:t> – </a:t>
            </a:r>
            <a:r>
              <a:rPr lang="en-US" sz="2200" dirty="0" err="1"/>
              <a:t>trái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5931927" y="5979459"/>
            <a:ext cx="27093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2.2 </a:t>
            </a:r>
            <a:r>
              <a:rPr lang="en-US" sz="2200" dirty="0" err="1"/>
              <a:t>Lệch</a:t>
            </a:r>
            <a:r>
              <a:rPr lang="en-US" sz="2200" dirty="0"/>
              <a:t> </a:t>
            </a:r>
            <a:r>
              <a:rPr lang="en-US" sz="2200" dirty="0" err="1"/>
              <a:t>phải</a:t>
            </a:r>
            <a:r>
              <a:rPr lang="en-US" sz="2200" dirty="0"/>
              <a:t> – </a:t>
            </a:r>
            <a:r>
              <a:rPr lang="en-US" sz="2200" dirty="0" err="1"/>
              <a:t>phải</a:t>
            </a:r>
            <a:endParaRPr lang="en-US" sz="2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63874"/>
            <a:ext cx="3200400" cy="35718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830787"/>
            <a:ext cx="35623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3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- </a:t>
            </a:r>
            <a:r>
              <a:rPr lang="en-US" dirty="0" err="1"/>
              <a:t>trái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3851920" y="4023520"/>
            <a:ext cx="1584176" cy="557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Quay </a:t>
            </a:r>
            <a:r>
              <a:rPr lang="en-US" sz="2200" dirty="0" err="1"/>
              <a:t>phải</a:t>
            </a:r>
            <a:endParaRPr lang="en-US" sz="2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99021"/>
            <a:ext cx="3552825" cy="36099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771" y="2522871"/>
            <a:ext cx="35147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– </a:t>
            </a:r>
            <a:r>
              <a:rPr lang="en-US" dirty="0" err="1"/>
              <a:t>phải</a:t>
            </a:r>
            <a:r>
              <a:rPr lang="en-US" dirty="0"/>
              <a:t>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quay </a:t>
            </a:r>
            <a:r>
              <a:rPr lang="en-US" dirty="0" err="1"/>
              <a:t>kép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45" y="1690689"/>
            <a:ext cx="3533775" cy="3562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38" y="1690689"/>
            <a:ext cx="3486150" cy="356235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3707904" y="3183685"/>
            <a:ext cx="1892050" cy="557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B1. Quay </a:t>
            </a:r>
            <a:r>
              <a:rPr lang="en-US" sz="2200" dirty="0" err="1"/>
              <a:t>trái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612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– </a:t>
            </a:r>
            <a:r>
              <a:rPr lang="en-US" dirty="0" err="1"/>
              <a:t>phải</a:t>
            </a:r>
            <a:r>
              <a:rPr lang="en-US" dirty="0"/>
              <a:t>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quay </a:t>
            </a:r>
            <a:r>
              <a:rPr lang="en-US" dirty="0" err="1"/>
              <a:t>kép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9" y="1652587"/>
            <a:ext cx="3495675" cy="3552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042" y="1714651"/>
            <a:ext cx="3571875" cy="349567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3629950" y="3183685"/>
            <a:ext cx="1950162" cy="557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B2. Quay </a:t>
            </a:r>
            <a:r>
              <a:rPr lang="en-US" sz="2200" dirty="0" err="1"/>
              <a:t>phải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1629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dirty="0"/>
              <a:t>Cho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: </a:t>
            </a:r>
            <a:r>
              <a:rPr lang="en-US" sz="2600" b="1" dirty="0"/>
              <a:t>45, 46, 70, 11, 13, 42, 21, 9, 25, 4, 8, 7, 15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>
                <a:sym typeface="Wingdings" pitchFamily="2" charset="2"/>
              </a:rPr>
              <a:t> </a:t>
            </a:r>
            <a:r>
              <a:rPr lang="en-US" sz="2600" dirty="0" err="1"/>
              <a:t>Hãy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bày</a:t>
            </a:r>
            <a:r>
              <a:rPr lang="en-US" sz="2600" dirty="0"/>
              <a:t> </a:t>
            </a:r>
            <a:r>
              <a:rPr lang="en-US" sz="2600" dirty="0" err="1"/>
              <a:t>từng</a:t>
            </a:r>
            <a:r>
              <a:rPr lang="en-US" sz="2600" dirty="0"/>
              <a:t> </a:t>
            </a:r>
            <a:r>
              <a:rPr lang="en-US" sz="2600" dirty="0" err="1"/>
              <a:t>bước</a:t>
            </a:r>
            <a:r>
              <a:rPr lang="en-US" sz="2600" dirty="0"/>
              <a:t> </a:t>
            </a:r>
            <a:r>
              <a:rPr lang="en-US" sz="2600" dirty="0" err="1"/>
              <a:t>quá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xây</a:t>
            </a:r>
            <a:r>
              <a:rPr lang="en-US" sz="2600" dirty="0"/>
              <a:t> </a:t>
            </a:r>
            <a:r>
              <a:rPr lang="en-US" sz="2600" dirty="0" err="1"/>
              <a:t>dựng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AVL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b="1" dirty="0" err="1"/>
              <a:t>thứ</a:t>
            </a:r>
            <a:r>
              <a:rPr lang="en-US" sz="2600" b="1" dirty="0"/>
              <a:t> </a:t>
            </a:r>
            <a:r>
              <a:rPr lang="en-US" sz="2600" b="1" dirty="0" err="1"/>
              <a:t>tự</a:t>
            </a:r>
            <a:r>
              <a:rPr lang="en-US" sz="2600" b="1" dirty="0"/>
              <a:t> </a:t>
            </a:r>
            <a:r>
              <a:rPr lang="en-US" sz="2600" b="1" dirty="0" err="1"/>
              <a:t>từ</a:t>
            </a:r>
            <a:r>
              <a:rPr lang="en-US" sz="2600" b="1" dirty="0"/>
              <a:t> </a:t>
            </a:r>
            <a:r>
              <a:rPr lang="en-US" sz="2600" b="1" dirty="0" err="1"/>
              <a:t>trái</a:t>
            </a:r>
            <a:r>
              <a:rPr lang="en-US" sz="2600" b="1" dirty="0"/>
              <a:t> sang </a:t>
            </a:r>
            <a:r>
              <a:rPr lang="en-US" sz="2600" b="1" dirty="0" err="1"/>
              <a:t>phải</a:t>
            </a:r>
            <a:endParaRPr lang="en-US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42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AVL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650" y="2274838"/>
            <a:ext cx="77597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CMyAVLNode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&lt;T&gt;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height;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CMyAVLNode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left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CMyAVLNode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right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property get/ set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//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phương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thức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8527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</a:t>
            </a:r>
            <a:r>
              <a:rPr lang="en-US" dirty="0" err="1"/>
              <a:t>cho</a:t>
            </a:r>
            <a:r>
              <a:rPr lang="en-US" dirty="0"/>
              <a:t>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650" y="2413338"/>
            <a:ext cx="622935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CMyAVLIntNode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x)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data = x;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height = 1;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left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right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95763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Thêm</a:t>
            </a:r>
            <a:r>
              <a:rPr lang="en-US" dirty="0"/>
              <a:t> 1 node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AVL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Tương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như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NPTK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Sau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/>
              <a:t>xong</a:t>
            </a:r>
            <a:r>
              <a:rPr lang="en-US" sz="2600" dirty="0"/>
              <a:t>, </a:t>
            </a: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chiều</a:t>
            </a:r>
            <a:r>
              <a:rPr lang="en-US" sz="2600" dirty="0"/>
              <a:t> </a:t>
            </a:r>
            <a:r>
              <a:rPr lang="en-US" sz="2600" dirty="0" err="1"/>
              <a:t>cao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thay</a:t>
            </a:r>
            <a:r>
              <a:rPr lang="en-US" sz="2600" dirty="0"/>
              <a:t> </a:t>
            </a:r>
            <a:r>
              <a:rPr lang="en-US" sz="2600" dirty="0" err="1"/>
              <a:t>đổi</a:t>
            </a:r>
            <a:r>
              <a:rPr lang="en-US" sz="2600" dirty="0"/>
              <a:t>. </a:t>
            </a: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mất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 ở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này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 err="1"/>
              <a:t>Phương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 </a:t>
            </a:r>
            <a:r>
              <a:rPr lang="en-US" sz="2600" b="1" dirty="0" err="1"/>
              <a:t>InsertNode</a:t>
            </a:r>
            <a:r>
              <a:rPr lang="en-US" sz="2600" dirty="0"/>
              <a:t> </a:t>
            </a:r>
            <a:r>
              <a:rPr lang="en-US" sz="2600" dirty="0" err="1"/>
              <a:t>trả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node root </a:t>
            </a:r>
            <a:r>
              <a:rPr lang="en-US" sz="2600" dirty="0" err="1"/>
              <a:t>mới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309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21C2E-3002-465A-84B0-FC03C97D9C4C}"/>
              </a:ext>
            </a:extLst>
          </p:cNvPr>
          <p:cNvSpPr txBox="1"/>
          <p:nvPr/>
        </p:nvSpPr>
        <p:spPr>
          <a:xfrm>
            <a:off x="628650" y="2060848"/>
            <a:ext cx="631844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GetBalance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de-DE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	</a:t>
            </a:r>
            <a:r>
              <a:rPr lang="de-DE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2200" dirty="0">
                <a:solidFill>
                  <a:srgbClr val="000000"/>
                </a:solidFill>
                <a:latin typeface="Consolas" panose="020B0609020204030204" pitchFamily="49" charset="0"/>
              </a:rPr>
              <a:t> hL = 0, hR = 0;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(left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hL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left.height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	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(right !=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hR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right.height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hL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hR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0597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8640"/>
            <a:ext cx="7886700" cy="732582"/>
          </a:xfrm>
        </p:spPr>
        <p:txBody>
          <a:bodyPr/>
          <a:lstStyle/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xoay</a:t>
            </a:r>
            <a:r>
              <a:rPr lang="en-US" dirty="0"/>
              <a:t> </a:t>
            </a:r>
            <a:r>
              <a:rPr lang="en-US" dirty="0" err="1"/>
              <a:t>phải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ight Arrow 6">
            <a:extLst>
              <a:ext uri="{FF2B5EF4-FFF2-40B4-BE49-F238E27FC236}">
                <a16:creationId xmlns:a16="http://schemas.microsoft.com/office/drawing/2014/main" id="{B7B37A12-FB24-4AC2-B094-39E1793B19C4}"/>
              </a:ext>
            </a:extLst>
          </p:cNvPr>
          <p:cNvSpPr/>
          <p:nvPr/>
        </p:nvSpPr>
        <p:spPr>
          <a:xfrm>
            <a:off x="3941676" y="2019999"/>
            <a:ext cx="151797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Quay </a:t>
            </a:r>
            <a:r>
              <a:rPr lang="en-US" sz="2200" dirty="0" err="1"/>
              <a:t>phải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73C12D-EA82-4986-8CB0-81B71089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041997"/>
            <a:ext cx="1919187" cy="195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9C21A3-CC22-4CB4-BD5C-6F9323790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339" y="1365848"/>
            <a:ext cx="1898607" cy="1775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15DE0F-7977-4098-ADC1-6DDF1033905B}"/>
              </a:ext>
            </a:extLst>
          </p:cNvPr>
          <p:cNvSpPr txBox="1"/>
          <p:nvPr/>
        </p:nvSpPr>
        <p:spPr>
          <a:xfrm>
            <a:off x="539552" y="3120057"/>
            <a:ext cx="80478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&lt;T&gt;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RightRotate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&lt;T&gt; T1 = left;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&lt;T&gt;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RT1 = T1.right;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T1.right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left =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RT1;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Height = Max(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left.Height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right.Height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+ 1;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T1.Height = Max(T1.left.Height, T1.right.Height) + 1;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26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1031"/>
            <a:ext cx="7886700" cy="991705"/>
          </a:xfrm>
        </p:spPr>
        <p:txBody>
          <a:bodyPr/>
          <a:lstStyle/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xoay</a:t>
            </a:r>
            <a:r>
              <a:rPr lang="en-US" dirty="0"/>
              <a:t> </a:t>
            </a:r>
            <a:r>
              <a:rPr lang="en-US" dirty="0" err="1"/>
              <a:t>trái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8" name="Right Arrow 6">
            <a:extLst>
              <a:ext uri="{FF2B5EF4-FFF2-40B4-BE49-F238E27FC236}">
                <a16:creationId xmlns:a16="http://schemas.microsoft.com/office/drawing/2014/main" id="{8C22BF32-1AA0-4480-8612-6920058EAEE9}"/>
              </a:ext>
            </a:extLst>
          </p:cNvPr>
          <p:cNvSpPr/>
          <p:nvPr/>
        </p:nvSpPr>
        <p:spPr>
          <a:xfrm>
            <a:off x="3678734" y="2132856"/>
            <a:ext cx="1882766" cy="454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Quay </a:t>
            </a:r>
            <a:r>
              <a:rPr lang="en-US" sz="2200" dirty="0" err="1"/>
              <a:t>trái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B4EDBE-52F4-448E-AB59-568068401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54845"/>
            <a:ext cx="2122190" cy="21448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CC2CF9-A1B6-41B9-AEBD-88BACA954E7A}"/>
              </a:ext>
            </a:extLst>
          </p:cNvPr>
          <p:cNvSpPr txBox="1"/>
          <p:nvPr/>
        </p:nvSpPr>
        <p:spPr>
          <a:xfrm>
            <a:off x="323528" y="3120057"/>
            <a:ext cx="83358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&lt;T&gt;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LeftRotate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&lt;T&gt; T1 = right;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CMyAVLNode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&lt;T&gt;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LT1 = T1.left;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T1.left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right =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LT1;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Height = Max(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left.Height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right.Height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+ 1;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T1.Height = Max(T1.left.Height, T1.right.Height) + 1;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159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7D696-74EA-4873-BF20-D5BE782C4FFD}"/>
              </a:ext>
            </a:extLst>
          </p:cNvPr>
          <p:cNvSpPr txBox="1"/>
          <p:nvPr/>
        </p:nvSpPr>
        <p:spPr>
          <a:xfrm>
            <a:off x="107504" y="116632"/>
            <a:ext cx="896448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CMyAVLIntNode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CMyAVLIntNode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cur,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(data == x)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(x &lt; Data){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(left ==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left =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CMyAVLIntNode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left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left.InsertNode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	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(right ==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right =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CMyAVLIntNode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right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right.InsertNode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	}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Max(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	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 +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cur.right.Height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balance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cur.GetBalance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(balance &gt; 1 &amp;&amp; x &lt;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cur.left.Data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//LL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cur.RightRotate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(balance &lt; -1 &amp;&amp; x &gt;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cur.right.Data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//RR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cur.LeftRotate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(balance &gt; 1 &amp;&amp; x &gt;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cur.left.Data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 //LR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left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cur.left.LeftRotate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cur.RightRotate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5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(balance &lt; -1 &amp;&amp; x &lt;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cur.right.Data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 //RL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cur.right.RightRotate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cur.LeftRotate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36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Hủy</a:t>
            </a:r>
            <a:r>
              <a:rPr lang="en-US" dirty="0"/>
              <a:t> 1 node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Tương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như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NPTK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Sau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hủy</a:t>
            </a:r>
            <a:r>
              <a:rPr lang="en-US" sz="2600" dirty="0"/>
              <a:t>, </a:t>
            </a: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mất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>
                <a:sym typeface="Wingdings" panose="05000000000000000000" pitchFamily="2" charset="2"/>
              </a:rPr>
              <a:t>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 err="1"/>
              <a:t>Hàm</a:t>
            </a:r>
            <a:r>
              <a:rPr lang="en-US" sz="2600" dirty="0"/>
              <a:t> </a:t>
            </a:r>
            <a:r>
              <a:rPr lang="en-US" sz="2600" dirty="0" err="1"/>
              <a:t>DeleteNode</a:t>
            </a:r>
            <a:r>
              <a:rPr lang="en-US" sz="2600" dirty="0"/>
              <a:t> </a:t>
            </a:r>
            <a:r>
              <a:rPr lang="en-US" sz="2600" dirty="0" err="1"/>
              <a:t>trả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node root 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endParaRPr lang="en-US" sz="2600" dirty="0"/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76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71727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600" dirty="0"/>
              <a:t>Cho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nhập</a:t>
            </a:r>
            <a:r>
              <a:rPr lang="en-US" sz="2600" dirty="0"/>
              <a:t> </a:t>
            </a:r>
            <a:r>
              <a:rPr lang="en-US" sz="2600" dirty="0" err="1"/>
              <a:t>từ</a:t>
            </a:r>
            <a:r>
              <a:rPr lang="en-US" sz="2600" dirty="0"/>
              <a:t> </a:t>
            </a:r>
            <a:r>
              <a:rPr lang="en-US" sz="2600" dirty="0" err="1"/>
              <a:t>trái</a:t>
            </a:r>
            <a:r>
              <a:rPr lang="en-US" sz="2600" dirty="0"/>
              <a:t> sang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nh</a:t>
            </a:r>
            <a:r>
              <a:rPr lang="vi-VN" sz="2600" dirty="0"/>
              <a:t>ư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800" dirty="0"/>
              <a:t>19, 27, 70, 10, 15, 21, 13, 16, 8, 9</a:t>
            </a:r>
            <a:endParaRPr lang="en-US" sz="2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/>
              <a:t>1. </a:t>
            </a:r>
            <a:r>
              <a:rPr lang="en-US" sz="2600" dirty="0" err="1"/>
              <a:t>Vẽ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BST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/>
              <a:t>2.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bày</a:t>
            </a:r>
            <a:r>
              <a:rPr lang="en-US" sz="2600" dirty="0"/>
              <a:t> </a:t>
            </a:r>
            <a:r>
              <a:rPr lang="en-US" sz="2600" dirty="0" err="1"/>
              <a:t>quá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tạo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AVL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/>
              <a:t>3. </a:t>
            </a:r>
            <a:r>
              <a:rPr lang="en-US" sz="2600" dirty="0" err="1"/>
              <a:t>Hãy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bày</a:t>
            </a:r>
            <a:r>
              <a:rPr lang="en-US" sz="2600" dirty="0"/>
              <a:t> </a:t>
            </a:r>
            <a:r>
              <a:rPr lang="en-US" sz="2600" dirty="0" err="1"/>
              <a:t>từng</a:t>
            </a:r>
            <a:r>
              <a:rPr lang="en-US" sz="2600" dirty="0"/>
              <a:t> </a:t>
            </a:r>
            <a:r>
              <a:rPr lang="en-US" sz="2600" dirty="0" err="1"/>
              <a:t>bước</a:t>
            </a:r>
            <a:r>
              <a:rPr lang="en-US" sz="2600" dirty="0"/>
              <a:t> </a:t>
            </a:r>
            <a:r>
              <a:rPr lang="en-US" sz="2600" dirty="0" err="1"/>
              <a:t>quá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xóa</a:t>
            </a:r>
            <a:r>
              <a:rPr lang="en-US" sz="2600" dirty="0"/>
              <a:t> node </a:t>
            </a:r>
            <a:r>
              <a:rPr lang="en-US" sz="2600" dirty="0" err="1"/>
              <a:t>gốc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AVL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600" dirty="0"/>
              <a:t>4.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bày</a:t>
            </a:r>
            <a:r>
              <a:rPr lang="en-US" sz="2600" dirty="0"/>
              <a:t> </a:t>
            </a:r>
            <a:r>
              <a:rPr lang="en-US" sz="2600" dirty="0" err="1"/>
              <a:t>thuật</a:t>
            </a:r>
            <a:r>
              <a:rPr lang="en-US" sz="2600" dirty="0"/>
              <a:t> </a:t>
            </a:r>
            <a:r>
              <a:rPr lang="en-US" sz="2600" dirty="0" err="1"/>
              <a:t>toán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cài</a:t>
            </a:r>
            <a:r>
              <a:rPr lang="en-US" sz="2600" dirty="0"/>
              <a:t> </a:t>
            </a:r>
            <a:r>
              <a:rPr lang="en-US" sz="2600" dirty="0" err="1"/>
              <a:t>đặt</a:t>
            </a:r>
            <a:r>
              <a:rPr lang="en-US" sz="2600" dirty="0"/>
              <a:t> </a:t>
            </a:r>
            <a:r>
              <a:rPr lang="en-US" sz="2600" dirty="0" err="1"/>
              <a:t>phương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</a:t>
            </a:r>
            <a:r>
              <a:rPr lang="en-US" sz="2600" dirty="0" err="1"/>
              <a:t>xóa</a:t>
            </a:r>
            <a:r>
              <a:rPr lang="en-US" sz="2600" dirty="0"/>
              <a:t> node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AVL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129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D61550-222B-4B6E-A568-2EB51FB3629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F4A0A78-865E-46C6-B852-9E7D0F60B6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3D91A2-D849-4CA7-B3DF-D2BB6BF469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5307</TotalTime>
  <Words>1165</Words>
  <Application>Microsoft Macintosh PowerPoint</Application>
  <PresentationFormat>On-screen Show (4:3)</PresentationFormat>
  <Paragraphs>166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 Unicode MS</vt:lpstr>
      <vt:lpstr>Arial</vt:lpstr>
      <vt:lpstr>Calibri</vt:lpstr>
      <vt:lpstr>Calibri Light</vt:lpstr>
      <vt:lpstr>Consolas</vt:lpstr>
      <vt:lpstr>Courier New</vt:lpstr>
      <vt:lpstr>Tahoma</vt:lpstr>
      <vt:lpstr>Times New Roman</vt:lpstr>
      <vt:lpstr>Wingdings</vt:lpstr>
      <vt:lpstr>Office Theme</vt:lpstr>
      <vt:lpstr>Bài 6: Cây nhị phân tìm kiếm Cây cân bằng</vt:lpstr>
      <vt:lpstr>Nội dung</vt:lpstr>
      <vt:lpstr>Cây nhị phân tìm kiếm cân bằng</vt:lpstr>
      <vt:lpstr>Định nghĩa</vt:lpstr>
      <vt:lpstr>Chỉ số cân bằng (Balance factor)</vt:lpstr>
      <vt:lpstr>Trường hợp 1: Lệch trái</vt:lpstr>
      <vt:lpstr>Trường hợp 2: Lệch phải</vt:lpstr>
      <vt:lpstr>Lệch trái - trái</vt:lpstr>
      <vt:lpstr>Lệch trái – phải: Thực hiện quay kép</vt:lpstr>
      <vt:lpstr>Lệch trái – phải: Thực hiện quay kép</vt:lpstr>
      <vt:lpstr>Bài tập</vt:lpstr>
      <vt:lpstr>Khai báo cấu trúc cây AVL</vt:lpstr>
      <vt:lpstr>Constructor cho node</vt:lpstr>
      <vt:lpstr>Thêm 1 node vào cây AVL</vt:lpstr>
      <vt:lpstr>Xác định chỉ số cân bằng</vt:lpstr>
      <vt:lpstr>Phương thức xoay phải</vt:lpstr>
      <vt:lpstr>Phương thức xoay trái</vt:lpstr>
      <vt:lpstr>PowerPoint Presentation</vt:lpstr>
      <vt:lpstr>Hủy 1 node trên cây</vt:lpstr>
      <vt:lpstr>Bài tập</vt:lpstr>
    </vt:vector>
  </TitlesOfParts>
  <Company>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CÂY NHỊ PHÂN TÌM KIẾM</dc:title>
  <dc:creator>w2000Pro</dc:creator>
  <cp:lastModifiedBy>Huỳnh Thành Lộc</cp:lastModifiedBy>
  <cp:revision>212</cp:revision>
  <dcterms:created xsi:type="dcterms:W3CDTF">2006-12-06T00:42:10Z</dcterms:created>
  <dcterms:modified xsi:type="dcterms:W3CDTF">2021-11-16T03:46:41Z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