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70"/>
  </p:notesMasterIdLst>
  <p:handoutMasterIdLst>
    <p:handoutMasterId r:id="rId71"/>
  </p:handoutMasterIdLst>
  <p:sldIdLst>
    <p:sldId id="256" r:id="rId5"/>
    <p:sldId id="321" r:id="rId6"/>
    <p:sldId id="323" r:id="rId7"/>
    <p:sldId id="258" r:id="rId8"/>
    <p:sldId id="259" r:id="rId9"/>
    <p:sldId id="260" r:id="rId10"/>
    <p:sldId id="261" r:id="rId11"/>
    <p:sldId id="262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6" r:id="rId32"/>
    <p:sldId id="347" r:id="rId33"/>
    <p:sldId id="351" r:id="rId34"/>
    <p:sldId id="352" r:id="rId35"/>
    <p:sldId id="350" r:id="rId36"/>
    <p:sldId id="353" r:id="rId37"/>
    <p:sldId id="265" r:id="rId38"/>
    <p:sldId id="324" r:id="rId39"/>
    <p:sldId id="266" r:id="rId40"/>
    <p:sldId id="267" r:id="rId41"/>
    <p:sldId id="268" r:id="rId42"/>
    <p:sldId id="269" r:id="rId43"/>
    <p:sldId id="270" r:id="rId44"/>
    <p:sldId id="271" r:id="rId45"/>
    <p:sldId id="315" r:id="rId46"/>
    <p:sldId id="349" r:id="rId47"/>
    <p:sldId id="356" r:id="rId48"/>
    <p:sldId id="287" r:id="rId49"/>
    <p:sldId id="288" r:id="rId50"/>
    <p:sldId id="289" r:id="rId51"/>
    <p:sldId id="290" r:id="rId52"/>
    <p:sldId id="292" r:id="rId53"/>
    <p:sldId id="294" r:id="rId54"/>
    <p:sldId id="295" r:id="rId55"/>
    <p:sldId id="296" r:id="rId56"/>
    <p:sldId id="316" r:id="rId57"/>
    <p:sldId id="354" r:id="rId58"/>
    <p:sldId id="355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25" r:id="rId67"/>
    <p:sldId id="304" r:id="rId68"/>
    <p:sldId id="306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87425-8124-F543-A88E-29BE4C17D385}" v="11" dt="2025-10-17T00:00:48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 autoAdjust="0"/>
    <p:restoredTop sz="66850" autoAdjust="0"/>
  </p:normalViewPr>
  <p:slideViewPr>
    <p:cSldViewPr>
      <p:cViewPr varScale="1">
        <p:scale>
          <a:sx n="78" d="100"/>
          <a:sy n="78" d="100"/>
        </p:scale>
        <p:origin x="264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9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423ADD57-852A-5550-B216-77C467B6E03C}"/>
    <pc:docChg chg="custSel modSld">
      <pc:chgData name="Loc Huynh" userId="80c0383e323bd6ea" providerId="LiveId" clId="{423ADD57-852A-5550-B216-77C467B6E03C}" dt="2025-10-17T01:23:45.333" v="13" actId="207"/>
      <pc:docMkLst>
        <pc:docMk/>
      </pc:docMkLst>
      <pc:sldChg chg="modSp mod">
        <pc:chgData name="Loc Huynh" userId="80c0383e323bd6ea" providerId="LiveId" clId="{423ADD57-852A-5550-B216-77C467B6E03C}" dt="2025-10-17T01:23:45.333" v="13" actId="207"/>
        <pc:sldMkLst>
          <pc:docMk/>
          <pc:sldMk cId="0" sldId="295"/>
        </pc:sldMkLst>
        <pc:graphicFrameChg chg="modGraphic">
          <ac:chgData name="Loc Huynh" userId="80c0383e323bd6ea" providerId="LiveId" clId="{423ADD57-852A-5550-B216-77C467B6E03C}" dt="2025-10-17T01:23:45.333" v="13" actId="207"/>
          <ac:graphicFrameMkLst>
            <pc:docMk/>
            <pc:sldMk cId="0" sldId="295"/>
            <ac:graphicFrameMk id="49244" creationId="{00000000-0000-0000-0000-000000000000}"/>
          </ac:graphicFrameMkLst>
        </pc:graphicFrameChg>
      </pc:sldChg>
      <pc:sldChg chg="modSp">
        <pc:chgData name="Loc Huynh" userId="80c0383e323bd6ea" providerId="LiveId" clId="{423ADD57-852A-5550-B216-77C467B6E03C}" dt="2025-10-17T00:00:11.895" v="2" actId="207"/>
        <pc:sldMkLst>
          <pc:docMk/>
          <pc:sldMk cId="1137595400" sldId="340"/>
        </pc:sldMkLst>
        <pc:graphicFrameChg chg="mod">
          <ac:chgData name="Loc Huynh" userId="80c0383e323bd6ea" providerId="LiveId" clId="{423ADD57-852A-5550-B216-77C467B6E03C}" dt="2025-10-17T00:00:11.895" v="2" actId="207"/>
          <ac:graphicFrameMkLst>
            <pc:docMk/>
            <pc:sldMk cId="1137595400" sldId="340"/>
            <ac:graphicFrameMk id="62466" creationId="{00000000-0000-0000-0000-000000000000}"/>
          </ac:graphicFrameMkLst>
        </pc:graphicFrameChg>
      </pc:sldChg>
      <pc:sldChg chg="modSp">
        <pc:chgData name="Loc Huynh" userId="80c0383e323bd6ea" providerId="LiveId" clId="{423ADD57-852A-5550-B216-77C467B6E03C}" dt="2025-10-17T00:00:16.359" v="3" actId="207"/>
        <pc:sldMkLst>
          <pc:docMk/>
          <pc:sldMk cId="1541550646" sldId="341"/>
        </pc:sldMkLst>
        <pc:graphicFrameChg chg="mod">
          <ac:chgData name="Loc Huynh" userId="80c0383e323bd6ea" providerId="LiveId" clId="{423ADD57-852A-5550-B216-77C467B6E03C}" dt="2025-10-17T00:00:16.359" v="3" actId="207"/>
          <ac:graphicFrameMkLst>
            <pc:docMk/>
            <pc:sldMk cId="1541550646" sldId="341"/>
            <ac:graphicFrameMk id="64514" creationId="{00000000-0000-0000-0000-000000000000}"/>
          </ac:graphicFrameMkLst>
        </pc:graphicFrameChg>
      </pc:sldChg>
      <pc:sldChg chg="modSp">
        <pc:chgData name="Loc Huynh" userId="80c0383e323bd6ea" providerId="LiveId" clId="{423ADD57-852A-5550-B216-77C467B6E03C}" dt="2025-10-17T00:00:18.713" v="4" actId="207"/>
        <pc:sldMkLst>
          <pc:docMk/>
          <pc:sldMk cId="613126040" sldId="342"/>
        </pc:sldMkLst>
        <pc:graphicFrameChg chg="mod">
          <ac:chgData name="Loc Huynh" userId="80c0383e323bd6ea" providerId="LiveId" clId="{423ADD57-852A-5550-B216-77C467B6E03C}" dt="2025-10-17T00:00:18.713" v="4" actId="207"/>
          <ac:graphicFrameMkLst>
            <pc:docMk/>
            <pc:sldMk cId="613126040" sldId="342"/>
            <ac:graphicFrameMk id="66562" creationId="{00000000-0000-0000-0000-000000000000}"/>
          </ac:graphicFrameMkLst>
        </pc:graphicFrameChg>
      </pc:sldChg>
      <pc:sldChg chg="modSp mod">
        <pc:chgData name="Loc Huynh" userId="80c0383e323bd6ea" providerId="LiveId" clId="{423ADD57-852A-5550-B216-77C467B6E03C}" dt="2025-10-17T00:00:30.871" v="6" actId="1076"/>
        <pc:sldMkLst>
          <pc:docMk/>
          <pc:sldMk cId="331954739" sldId="343"/>
        </pc:sldMkLst>
        <pc:graphicFrameChg chg="mod">
          <ac:chgData name="Loc Huynh" userId="80c0383e323bd6ea" providerId="LiveId" clId="{423ADD57-852A-5550-B216-77C467B6E03C}" dt="2025-10-17T00:00:30.871" v="6" actId="1076"/>
          <ac:graphicFrameMkLst>
            <pc:docMk/>
            <pc:sldMk cId="331954739" sldId="343"/>
            <ac:graphicFrameMk id="68611" creationId="{00000000-0000-0000-0000-000000000000}"/>
          </ac:graphicFrameMkLst>
        </pc:graphicFrameChg>
      </pc:sldChg>
      <pc:sldChg chg="modSp">
        <pc:chgData name="Loc Huynh" userId="80c0383e323bd6ea" providerId="LiveId" clId="{423ADD57-852A-5550-B216-77C467B6E03C}" dt="2025-10-17T00:00:34.179" v="7" actId="207"/>
        <pc:sldMkLst>
          <pc:docMk/>
          <pc:sldMk cId="282827987" sldId="344"/>
        </pc:sldMkLst>
        <pc:graphicFrameChg chg="mod">
          <ac:chgData name="Loc Huynh" userId="80c0383e323bd6ea" providerId="LiveId" clId="{423ADD57-852A-5550-B216-77C467B6E03C}" dt="2025-10-17T00:00:34.179" v="7" actId="207"/>
          <ac:graphicFrameMkLst>
            <pc:docMk/>
            <pc:sldMk cId="282827987" sldId="344"/>
            <ac:graphicFrameMk id="70658" creationId="{00000000-0000-0000-0000-000000000000}"/>
          </ac:graphicFrameMkLst>
        </pc:graphicFrameChg>
      </pc:sldChg>
      <pc:sldChg chg="modSp">
        <pc:chgData name="Loc Huynh" userId="80c0383e323bd6ea" providerId="LiveId" clId="{423ADD57-852A-5550-B216-77C467B6E03C}" dt="2025-10-17T00:00:42.608" v="10" actId="14100"/>
        <pc:sldMkLst>
          <pc:docMk/>
          <pc:sldMk cId="1179384275" sldId="346"/>
        </pc:sldMkLst>
        <pc:graphicFrameChg chg="mod">
          <ac:chgData name="Loc Huynh" userId="80c0383e323bd6ea" providerId="LiveId" clId="{423ADD57-852A-5550-B216-77C467B6E03C}" dt="2025-10-17T00:00:42.608" v="10" actId="14100"/>
          <ac:graphicFrameMkLst>
            <pc:docMk/>
            <pc:sldMk cId="1179384275" sldId="346"/>
            <ac:graphicFrameMk id="84994" creationId="{00000000-0000-0000-0000-000000000000}"/>
          </ac:graphicFrameMkLst>
        </pc:graphicFrameChg>
      </pc:sldChg>
      <pc:sldChg chg="modSp">
        <pc:chgData name="Loc Huynh" userId="80c0383e323bd6ea" providerId="LiveId" clId="{423ADD57-852A-5550-B216-77C467B6E03C}" dt="2025-10-17T00:00:48.408" v="11" actId="207"/>
        <pc:sldMkLst>
          <pc:docMk/>
          <pc:sldMk cId="1942037569" sldId="347"/>
        </pc:sldMkLst>
        <pc:graphicFrameChg chg="mod">
          <ac:chgData name="Loc Huynh" userId="80c0383e323bd6ea" providerId="LiveId" clId="{423ADD57-852A-5550-B216-77C467B6E03C}" dt="2025-10-17T00:00:48.408" v="11" actId="207"/>
          <ac:graphicFrameMkLst>
            <pc:docMk/>
            <pc:sldMk cId="1942037569" sldId="347"/>
            <ac:graphicFrameMk id="87042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80745FB-9D26-41BF-A08D-BDD78B43AF44}" type="datetimeFigureOut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A8AC277-5E6E-4874-A7A6-D9E31EBF29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659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0BEB362-0318-4A37-B8D8-ABEEB28485EF}" type="datetimeFigureOut">
              <a:rPr lang="en-US"/>
              <a:pPr>
                <a:defRPr/>
              </a:pPr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86008FB-79CA-4926-A8B0-517FC16E2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86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58DC07-F267-4B69-8553-129F8A0F2DD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34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017A-A577-4150-B6C1-7FC984A96D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0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AB9C37B-3B08-4766-A962-CC006549D76E}" type="slidenum">
              <a:rPr lang="en-US" altLang="en-US" sz="1200">
                <a:latin typeface="Tahoma" panose="020B0604030504040204" pitchFamily="34" charset="0"/>
              </a:rPr>
              <a:pPr/>
              <a:t>11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1710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12F1E0-0045-4E56-B2CE-53FCB2D1748E}" type="slidenum">
              <a:rPr lang="en-US" altLang="en-US" sz="1200">
                <a:latin typeface="Tahoma" panose="020B0604030504040204" pitchFamily="34" charset="0"/>
              </a:rPr>
              <a:pPr/>
              <a:t>12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63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667A27-77AF-4FF7-B67E-79BCE062672C}" type="slidenum">
              <a:rPr lang="en-US" altLang="en-US" sz="1200">
                <a:latin typeface="Tahoma" panose="020B0604030504040204" pitchFamily="34" charset="0"/>
              </a:rPr>
              <a:pPr/>
              <a:t>13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722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34E672-D9C5-4ADD-B5B0-F02FA288D289}" type="slidenum">
              <a:rPr lang="en-US" altLang="en-US" sz="1200">
                <a:latin typeface="Tahoma" panose="020B0604030504040204" pitchFamily="34" charset="0"/>
              </a:rPr>
              <a:pPr/>
              <a:t>14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122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84BBE6-EDC7-499E-9931-92EA36D2D28A}" type="slidenum">
              <a:rPr lang="en-US" altLang="en-US" sz="1200">
                <a:latin typeface="Tahoma" panose="020B0604030504040204" pitchFamily="34" charset="0"/>
              </a:rPr>
              <a:pPr/>
              <a:t>15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711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80FDF1-16C4-457B-9F8F-668149E59997}" type="slidenum">
              <a:rPr lang="en-US" altLang="en-US" sz="1200">
                <a:latin typeface="Tahoma" panose="020B0604030504040204" pitchFamily="34" charset="0"/>
              </a:rPr>
              <a:pPr/>
              <a:t>16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564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EFB320-4798-47D5-A8E5-C91E05E99CFA}" type="slidenum">
              <a:rPr lang="en-US" altLang="en-US" sz="1200">
                <a:latin typeface="Tahoma" panose="020B0604030504040204" pitchFamily="34" charset="0"/>
              </a:rPr>
              <a:pPr/>
              <a:t>17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99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105E5CB-D0F0-4A94-A9A7-4D6A85BEC2F8}" type="slidenum">
              <a:rPr lang="en-US" altLang="en-US" sz="1200">
                <a:latin typeface="Tahoma" panose="020B0604030504040204" pitchFamily="34" charset="0"/>
              </a:rPr>
              <a:pPr/>
              <a:t>18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5254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C02ACC-DC41-4B8D-9D08-AA94DA0B872C}" type="slidenum">
              <a:rPr lang="en-US" altLang="en-US" sz="1200">
                <a:latin typeface="Tahoma" panose="020B0604030504040204" pitchFamily="34" charset="0"/>
              </a:rPr>
              <a:pPr/>
              <a:t>19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414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B02EA14-145A-45DE-BF82-D4B912326E98}" type="slidenum">
              <a:rPr lang="en-US" altLang="en-US" sz="1200">
                <a:latin typeface="Tahoma" panose="020B0604030504040204" pitchFamily="34" charset="0"/>
              </a:rPr>
              <a:pPr/>
              <a:t>23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978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84708E-7C15-40FB-977A-9C111E1AE072}" type="slidenum">
              <a:rPr lang="en-US" altLang="en-US" sz="1200">
                <a:latin typeface="Tahoma" panose="020B0604030504040204" pitchFamily="34" charset="0"/>
              </a:rPr>
              <a:pPr/>
              <a:t>24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8989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746773-B0DE-445C-86C7-79BC24DBC56E}" type="slidenum">
              <a:rPr lang="en-US" altLang="en-US" sz="1200">
                <a:latin typeface="Tahoma" panose="020B0604030504040204" pitchFamily="34" charset="0"/>
              </a:rPr>
              <a:pPr/>
              <a:t>25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2815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EEB336-A4E5-4D1B-945D-7A7EBE16F969}" type="slidenum">
              <a:rPr lang="en-US" altLang="en-US" sz="1200">
                <a:latin typeface="Tahoma" panose="020B0604030504040204" pitchFamily="34" charset="0"/>
              </a:rPr>
              <a:pPr/>
              <a:t>26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A1AF43-C456-4CAF-9665-39BCCEEE6475}" type="slidenum">
              <a:rPr lang="en-US" altLang="en-US" sz="1200">
                <a:latin typeface="Tahoma" panose="020B0604030504040204" pitchFamily="34" charset="0"/>
              </a:rPr>
              <a:pPr/>
              <a:t>27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666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288E88-121D-422E-B224-777A73601076}" type="slidenum">
              <a:rPr lang="en-US" altLang="en-US" sz="1200">
                <a:latin typeface="Tahoma" panose="020B0604030504040204" pitchFamily="34" charset="0"/>
              </a:rPr>
              <a:pPr/>
              <a:t>28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48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473716-3164-4222-A981-AA59F7691F52}" type="slidenum">
              <a:rPr lang="en-US" altLang="en-US" sz="1200">
                <a:latin typeface="Tahoma" panose="020B0604030504040204" pitchFamily="34" charset="0"/>
              </a:rPr>
              <a:pPr/>
              <a:t>29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71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0DAD1F-3EA3-44C7-8BC3-B9408817B910}" type="slidenum">
              <a:rPr lang="en-US" altLang="en-US" sz="1200">
                <a:latin typeface="Tahoma" panose="020B0604030504040204" pitchFamily="34" charset="0"/>
              </a:rPr>
              <a:pPr/>
              <a:t>31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9976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0DAD1F-3EA3-44C7-8BC3-B9408817B910}" type="slidenum">
              <a:rPr lang="en-US" altLang="en-US" sz="1200">
                <a:latin typeface="Tahoma" panose="020B0604030504040204" pitchFamily="34" charset="0"/>
              </a:rPr>
              <a:pPr/>
              <a:t>32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1761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9ADECEC-7AA0-4633-B86E-4B676A289CCD}" type="slidenum">
              <a:rPr lang="en-US" altLang="en-US" sz="1200">
                <a:latin typeface="Tahoma" panose="020B0604030504040204" pitchFamily="34" charset="0"/>
              </a:rPr>
              <a:pPr/>
              <a:t>33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755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6008FB-79CA-4926-A8B0-517FC16E2CE6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938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if </a:t>
            </a:r>
            <a:r>
              <a:rPr lang="en-GB" dirty="0"/>
              <a:t>(</a:t>
            </a:r>
            <a:r>
              <a:rPr lang="en-GB" dirty="0" err="1"/>
              <a:t>qNumItems</a:t>
            </a:r>
            <a:r>
              <a:rPr lang="en-GB" dirty="0"/>
              <a:t>==0) //Queue đang rỗng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 err="1"/>
              <a:t>	qFront</a:t>
            </a:r>
            <a:r>
              <a:rPr lang="en-GB" dirty="0"/>
              <a:t> = 0;</a:t>
            </a:r>
          </a:p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6008FB-79CA-4926-A8B0-517FC16E2CE6}" type="slidenum">
              <a:rPr lang="en-US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39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pPr>
              <a:defRPr/>
            </a:pPr>
            <a:fld id="{272F24F2-488A-4241-8DC5-2C4235883FC8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pPr>
              <a:defRPr/>
            </a:pPr>
            <a:fld id="{9287879F-6C41-4833-BE14-D19A90A0F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2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pPr>
              <a:defRPr/>
            </a:pPr>
            <a:fld id="{9EDC8B25-B449-1B44-A959-25C480F50569}" type="datetime1">
              <a:rPr lang="en-US" smtClean="0"/>
              <a:t>10/17/25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85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D6A5EB-0D83-564A-97BF-D657DDB53F3C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0E43AB-8F3A-44E5-91F5-4ED0338487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0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40262F-D00C-1940-BDEF-DE14E7954CEF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6308D0-2F9A-433B-9356-2E0CE4F7F4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E3F5E9-ECC6-1A46-9821-B19523C9C938}" type="datetime1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094A98-FD0F-4217-897B-14362AA6B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4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364282-6F97-8F4D-8DB9-588CC137AD04}" type="datetime1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1B2DE-B1C9-4C92-8DE9-E8A227818F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5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785948-8D7E-4C47-AA60-5E683E2FA924}" type="datetime1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3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ECC7C6-6E56-1242-B64E-A35F7E09A168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4CA107-3FA3-4B0A-9D53-8EE8F4E8A8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E08314-F132-704A-A870-FC6735B7E844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5AEDB8-C224-4C8F-BDD8-8F5C969AFB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1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F77920-76FF-D944-9E33-44452CF98A37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6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2B34A0-280C-D247-A1F2-E587F7A7D799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84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DD8326-DA06-874D-B17F-68DCC2C32BBB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58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C8C164-3CBB-4E4E-8A5A-B285BAB80A48}" type="datetime1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8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7A455D-17D6-7547-B65E-D745DE449033}" type="datetime1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06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D84BCB-1194-8546-A744-13EDD1165631}" type="datetime1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13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7F60A3-4399-DB41-B268-219274F8B5C0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DA9F2-CB05-4402-92D2-CAEB02056D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90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E9BFD5-F3AE-5A49-B76F-267B1557E13D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639C0D-7F63-4BB4-9339-5529BAB7ED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3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VN"/>
              </a:p>
            </p:txBody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F0A7B5-97C3-344C-AE25-3F9357499EB5}" type="datetime1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4F53917-30B5-442C-AFAD-0C456E880D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94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hthai@huflit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4_Document.doc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990600" y="4038600"/>
            <a:ext cx="8001000" cy="1905000"/>
          </a:xfrm>
        </p:spPr>
        <p:txBody>
          <a:bodyPr>
            <a:normAutofit/>
          </a:bodyPr>
          <a:lstStyle/>
          <a:p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minhthai@huflit.edu.vn</a:t>
            </a:r>
            <a:endParaRPr lang="en-US" sz="24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Aug 03, 2021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7CC007-CDEC-47C3-AAA1-D5476CD759B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0600" y="1981200"/>
            <a:ext cx="7162800" cy="20574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640080" indent="-457200" algn="l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54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82880" indent="0" algn="ctr">
              <a:buNone/>
            </a:pP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Ngăn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2880" indent="0" algn="ctr">
              <a:buNone/>
            </a:pP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đợi</a:t>
            </a:r>
            <a:endParaRPr lang="en-US" sz="4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Mục tiêu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8736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vững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,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Stack</a:t>
            </a:r>
            <a:r>
              <a:rPr lang="en-US" dirty="0"/>
              <a:t>)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Queue</a:t>
            </a:r>
            <a:r>
              <a:rPr lang="en-US" dirty="0"/>
              <a:t>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Stack,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Queue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Stack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Queue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endParaRPr lang="en-US" dirty="0"/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C#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4F7D98-69B6-4F1D-8099-7BFD11C4434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27575"/>
          </a:xfrm>
        </p:spPr>
        <p:txBody>
          <a:bodyPr>
            <a:normAutofit/>
          </a:bodyPr>
          <a:lstStyle/>
          <a:p>
            <a:r>
              <a:rPr lang="en-US" altLang="en-US" dirty="0"/>
              <a:t>Stack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gì</a:t>
            </a:r>
            <a:r>
              <a:rPr lang="en-US" altLang="en-US" dirty="0"/>
              <a:t>?</a:t>
            </a:r>
          </a:p>
          <a:p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khai</a:t>
            </a:r>
            <a:r>
              <a:rPr lang="en-US" altLang="en-US" dirty="0"/>
              <a:t> </a:t>
            </a:r>
            <a:r>
              <a:rPr lang="en-US" altLang="en-US" dirty="0" err="1"/>
              <a:t>báo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stack dùng </a:t>
            </a:r>
            <a:r>
              <a:rPr lang="en-US" altLang="en-US" dirty="0" err="1"/>
              <a:t>mảng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chiều</a:t>
            </a:r>
            <a:r>
              <a:rPr lang="en-US" altLang="en-US" dirty="0"/>
              <a:t>?</a:t>
            </a:r>
          </a:p>
          <a:p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</a:p>
          <a:p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3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Stack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91" name="Picture 67" descr="http://t3.gstatic.com/images?q=tbn:ANd9GcTs81A59GCcYyi0dQnycOu0D4HcLzxI5bexa3mBHb4PND5iNa1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395" y="1952625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3" name="Picture 69" descr="http://t0.gstatic.com/images?q=tbn:ANd9GcRW9CzPk8bT3KCLKj166c4kYYf4Qouwm4x6RVgrS4Js1uh4Yxw1r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659853"/>
            <a:ext cx="2638425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7" name="Picture 73" descr="http://t2.gstatic.com/images?q=tbn:ANd9GcQBd2Ufl1PjJG8_xEFZxX2r0wyMKu_2MEncFJs3fbbKcwLgy8CLT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05025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77567" y="5279554"/>
            <a:ext cx="5168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Thành </a:t>
            </a:r>
            <a:r>
              <a:rPr lang="en-US" sz="2800" i="1" dirty="0" err="1"/>
              <a:t>phần</a:t>
            </a:r>
            <a:r>
              <a:rPr lang="en-US" sz="2800" i="1" dirty="0"/>
              <a:t> </a:t>
            </a:r>
            <a:r>
              <a:rPr lang="en-US" sz="2800" i="1" dirty="0" err="1"/>
              <a:t>được</a:t>
            </a:r>
            <a:r>
              <a:rPr lang="en-US" sz="2800" i="1" dirty="0"/>
              <a:t> </a:t>
            </a:r>
            <a:r>
              <a:rPr lang="en-US" sz="2800" i="1" dirty="0" err="1"/>
              <a:t>lấy</a:t>
            </a:r>
            <a:r>
              <a:rPr lang="en-US" sz="2800" i="1" dirty="0"/>
              <a:t> </a:t>
            </a:r>
            <a:r>
              <a:rPr lang="en-US" sz="2800" i="1" dirty="0" err="1"/>
              <a:t>ra</a:t>
            </a:r>
            <a:r>
              <a:rPr lang="en-US" sz="2800" i="1" dirty="0"/>
              <a:t> </a:t>
            </a:r>
            <a:r>
              <a:rPr lang="en-US" sz="2800" i="1" dirty="0" err="1"/>
              <a:t>đầu</a:t>
            </a:r>
            <a:r>
              <a:rPr lang="en-US" sz="2800" i="1" dirty="0"/>
              <a:t> </a:t>
            </a:r>
            <a:r>
              <a:rPr lang="en-US" sz="2800" i="1" dirty="0" err="1"/>
              <a:t>tiên</a:t>
            </a:r>
            <a:r>
              <a:rPr lang="en-US" sz="2800" i="1" dirty="0"/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Stack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pPr eaLnBrk="1" hangingPunct="1"/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 eaLnBrk="1" hangingPunct="1"/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“</a:t>
            </a:r>
            <a:r>
              <a:rPr lang="en-US" b="1" i="1" dirty="0" err="1"/>
              <a:t>Vào</a:t>
            </a:r>
            <a:r>
              <a:rPr lang="en-US" b="1" i="1" dirty="0"/>
              <a:t> </a:t>
            </a:r>
            <a:r>
              <a:rPr lang="en-US" b="1" i="1" dirty="0" err="1"/>
              <a:t>sau</a:t>
            </a:r>
            <a:r>
              <a:rPr lang="en-US" b="1" i="1" dirty="0"/>
              <a:t> – Ra </a:t>
            </a:r>
            <a:r>
              <a:rPr lang="en-US" b="1" i="1" dirty="0" err="1"/>
              <a:t>trước</a:t>
            </a:r>
            <a:r>
              <a:rPr lang="en-US" dirty="0"/>
              <a:t>” (LIFO – Last In, First Out)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172" name="Group 20"/>
          <p:cNvGrpSpPr>
            <a:grpSpLocks/>
          </p:cNvGrpSpPr>
          <p:nvPr/>
        </p:nvGrpSpPr>
        <p:grpSpPr bwMode="auto">
          <a:xfrm>
            <a:off x="2590800" y="4892676"/>
            <a:ext cx="2209800" cy="1828800"/>
            <a:chOff x="1584" y="2448"/>
            <a:chExt cx="1392" cy="1152"/>
          </a:xfrm>
        </p:grpSpPr>
        <p:sp>
          <p:nvSpPr>
            <p:cNvPr id="7178" name="Line 15"/>
            <p:cNvSpPr>
              <a:spLocks noChangeShapeType="1"/>
            </p:cNvSpPr>
            <p:nvPr/>
          </p:nvSpPr>
          <p:spPr bwMode="auto">
            <a:xfrm>
              <a:off x="15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9" name="Line 16"/>
            <p:cNvSpPr>
              <a:spLocks noChangeShapeType="1"/>
            </p:cNvSpPr>
            <p:nvPr/>
          </p:nvSpPr>
          <p:spPr bwMode="auto">
            <a:xfrm>
              <a:off x="1776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0" name="Line 17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Line 18"/>
            <p:cNvSpPr>
              <a:spLocks noChangeShapeType="1"/>
            </p:cNvSpPr>
            <p:nvPr/>
          </p:nvSpPr>
          <p:spPr bwMode="auto">
            <a:xfrm flipV="1">
              <a:off x="2784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Line 19"/>
            <p:cNvSpPr>
              <a:spLocks noChangeShapeType="1"/>
            </p:cNvSpPr>
            <p:nvPr/>
          </p:nvSpPr>
          <p:spPr bwMode="auto">
            <a:xfrm>
              <a:off x="27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3" name="AutoShape 21"/>
          <p:cNvSpPr>
            <a:spLocks noChangeArrowheads="1"/>
          </p:cNvSpPr>
          <p:nvPr/>
        </p:nvSpPr>
        <p:spPr bwMode="auto">
          <a:xfrm>
            <a:off x="3048000" y="6188076"/>
            <a:ext cx="1295400" cy="3810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174" name="AutoShape 22"/>
          <p:cNvSpPr>
            <a:spLocks noChangeArrowheads="1"/>
          </p:cNvSpPr>
          <p:nvPr/>
        </p:nvSpPr>
        <p:spPr bwMode="auto">
          <a:xfrm>
            <a:off x="3048000" y="5730876"/>
            <a:ext cx="1295400" cy="3810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175" name="AutoShape 23"/>
          <p:cNvSpPr>
            <a:spLocks noChangeArrowheads="1"/>
          </p:cNvSpPr>
          <p:nvPr/>
        </p:nvSpPr>
        <p:spPr bwMode="auto">
          <a:xfrm>
            <a:off x="3048000" y="5273676"/>
            <a:ext cx="1295400" cy="3810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176" name="AutoShape 24"/>
          <p:cNvSpPr>
            <a:spLocks noChangeArrowheads="1"/>
          </p:cNvSpPr>
          <p:nvPr/>
        </p:nvSpPr>
        <p:spPr bwMode="auto">
          <a:xfrm>
            <a:off x="3048000" y="4816476"/>
            <a:ext cx="1295400" cy="3810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177" name="AutoShape 25"/>
          <p:cNvSpPr>
            <a:spLocks/>
          </p:cNvSpPr>
          <p:nvPr/>
        </p:nvSpPr>
        <p:spPr bwMode="auto">
          <a:xfrm>
            <a:off x="6580188" y="4022726"/>
            <a:ext cx="914400" cy="1327150"/>
          </a:xfrm>
          <a:prstGeom prst="borderCallout2">
            <a:avLst>
              <a:gd name="adj1" fmla="val 8611"/>
              <a:gd name="adj2" fmla="val -8333"/>
              <a:gd name="adj3" fmla="val 8611"/>
              <a:gd name="adj4" fmla="val -159204"/>
              <a:gd name="adj5" fmla="val 73088"/>
              <a:gd name="adj6" fmla="val -306773"/>
            </a:avLst>
          </a:prstGeom>
          <a:solidFill>
            <a:schemeClr val="accent1"/>
          </a:solidFill>
          <a:ln w="38100" cap="sq">
            <a:solidFill>
              <a:srgbClr val="FF9933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Đỉnh ngăn xếp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Stack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05000"/>
            <a:ext cx="7886700" cy="4648199"/>
          </a:xfrm>
        </p:spPr>
        <p:txBody>
          <a:bodyPr>
            <a:normAutofit/>
          </a:bodyPr>
          <a:lstStyle/>
          <a:p>
            <a:r>
              <a:rPr lang="en-US" i="1" u="sng" dirty="0">
                <a:solidFill>
                  <a:srgbClr val="FF9933"/>
                </a:solidFill>
              </a:rPr>
              <a:t>Constructor</a:t>
            </a:r>
            <a:r>
              <a:rPr lang="en-US" dirty="0"/>
              <a:t>: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Stack </a:t>
            </a:r>
            <a:r>
              <a:rPr lang="en-US" dirty="0" err="1"/>
              <a:t>rỗng</a:t>
            </a:r>
            <a:endParaRPr lang="en-US" dirty="0"/>
          </a:p>
          <a:p>
            <a:r>
              <a:rPr lang="en-US" i="1" u="sng" dirty="0" err="1">
                <a:solidFill>
                  <a:srgbClr val="FF9933"/>
                </a:solidFill>
              </a:rPr>
              <a:t>IsEmpty</a:t>
            </a:r>
            <a:r>
              <a:rPr lang="en-US" dirty="0"/>
              <a:t>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Stack </a:t>
            </a:r>
            <a:r>
              <a:rPr lang="en-US" dirty="0" err="1"/>
              <a:t>rỗng</a:t>
            </a:r>
            <a:r>
              <a:rPr lang="en-US" dirty="0"/>
              <a:t>?</a:t>
            </a:r>
          </a:p>
          <a:p>
            <a:r>
              <a:rPr lang="en-US" i="1" u="sng" dirty="0" err="1">
                <a:solidFill>
                  <a:srgbClr val="FF9933"/>
                </a:solidFill>
              </a:rPr>
              <a:t>IsFull</a:t>
            </a:r>
            <a:r>
              <a:rPr lang="en-US" dirty="0"/>
              <a:t>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Stack </a:t>
            </a:r>
            <a:r>
              <a:rPr lang="en-US" dirty="0" err="1"/>
              <a:t>đầy</a:t>
            </a:r>
            <a:r>
              <a:rPr lang="en-US" dirty="0"/>
              <a:t>?</a:t>
            </a:r>
          </a:p>
          <a:p>
            <a:r>
              <a:rPr lang="en-US" i="1" u="sng" dirty="0">
                <a:solidFill>
                  <a:srgbClr val="FF9933"/>
                </a:solidFill>
              </a:rPr>
              <a:t>Push</a:t>
            </a:r>
            <a:r>
              <a:rPr lang="en-US" dirty="0"/>
              <a:t>: </a:t>
            </a:r>
            <a:r>
              <a:rPr lang="en-US" dirty="0" err="1"/>
              <a:t>thêm</a:t>
            </a:r>
            <a:r>
              <a:rPr lang="en-US" dirty="0"/>
              <a:t> 1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Stack</a:t>
            </a:r>
          </a:p>
          <a:p>
            <a:r>
              <a:rPr lang="en-US" i="1" u="sng" dirty="0">
                <a:solidFill>
                  <a:srgbClr val="FF9933"/>
                </a:solidFill>
              </a:rPr>
              <a:t>Pop</a:t>
            </a:r>
            <a:r>
              <a:rPr lang="en-US" dirty="0"/>
              <a:t>: </a:t>
            </a:r>
            <a:r>
              <a:rPr lang="en-US" dirty="0" err="1"/>
              <a:t>lấy</a:t>
            </a:r>
            <a:r>
              <a:rPr lang="en-US" dirty="0"/>
              <a:t> ra 1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Stack</a:t>
            </a:r>
          </a:p>
          <a:p>
            <a:r>
              <a:rPr lang="en-US" i="1" u="sng" dirty="0">
                <a:solidFill>
                  <a:srgbClr val="FF9933"/>
                </a:solidFill>
              </a:rPr>
              <a:t>Peek</a:t>
            </a:r>
            <a:r>
              <a:rPr lang="en-US" dirty="0"/>
              <a:t>: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Stack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6477000" y="3048000"/>
            <a:ext cx="2209800" cy="1828800"/>
            <a:chOff x="1584" y="2448"/>
            <a:chExt cx="1392" cy="1152"/>
          </a:xfrm>
        </p:grpSpPr>
        <p:sp>
          <p:nvSpPr>
            <p:cNvPr id="8212" name="Line 5"/>
            <p:cNvSpPr>
              <a:spLocks noChangeShapeType="1"/>
            </p:cNvSpPr>
            <p:nvPr/>
          </p:nvSpPr>
          <p:spPr bwMode="auto">
            <a:xfrm>
              <a:off x="15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Line 6"/>
            <p:cNvSpPr>
              <a:spLocks noChangeShapeType="1"/>
            </p:cNvSpPr>
            <p:nvPr/>
          </p:nvSpPr>
          <p:spPr bwMode="auto">
            <a:xfrm>
              <a:off x="1776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Line 7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Line 8"/>
            <p:cNvSpPr>
              <a:spLocks noChangeShapeType="1"/>
            </p:cNvSpPr>
            <p:nvPr/>
          </p:nvSpPr>
          <p:spPr bwMode="auto">
            <a:xfrm flipV="1">
              <a:off x="2784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Line 9"/>
            <p:cNvSpPr>
              <a:spLocks noChangeShapeType="1"/>
            </p:cNvSpPr>
            <p:nvPr/>
          </p:nvSpPr>
          <p:spPr bwMode="auto">
            <a:xfrm>
              <a:off x="27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7" name="Line 10"/>
          <p:cNvSpPr>
            <a:spLocks noChangeShapeType="1"/>
          </p:cNvSpPr>
          <p:nvPr/>
        </p:nvSpPr>
        <p:spPr bwMode="auto">
          <a:xfrm flipV="1">
            <a:off x="7391400" y="4648200"/>
            <a:ext cx="6096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11"/>
          <p:cNvSpPr>
            <a:spLocks noChangeShapeType="1"/>
          </p:cNvSpPr>
          <p:nvPr/>
        </p:nvSpPr>
        <p:spPr bwMode="auto">
          <a:xfrm flipH="1" flipV="1">
            <a:off x="7391400" y="4495800"/>
            <a:ext cx="60960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Line 12"/>
          <p:cNvSpPr>
            <a:spLocks noChangeShapeType="1"/>
          </p:cNvSpPr>
          <p:nvPr/>
        </p:nvSpPr>
        <p:spPr bwMode="auto">
          <a:xfrm flipV="1">
            <a:off x="7391400" y="4267200"/>
            <a:ext cx="6096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Line 13"/>
          <p:cNvSpPr>
            <a:spLocks noChangeShapeType="1"/>
          </p:cNvSpPr>
          <p:nvPr/>
        </p:nvSpPr>
        <p:spPr bwMode="auto">
          <a:xfrm flipH="1" flipV="1">
            <a:off x="7391400" y="4114800"/>
            <a:ext cx="60960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14"/>
          <p:cNvSpPr>
            <a:spLocks noChangeShapeType="1"/>
          </p:cNvSpPr>
          <p:nvPr/>
        </p:nvSpPr>
        <p:spPr bwMode="auto">
          <a:xfrm flipV="1">
            <a:off x="7391400" y="3886200"/>
            <a:ext cx="6096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Line 15"/>
          <p:cNvSpPr>
            <a:spLocks noChangeShapeType="1"/>
          </p:cNvSpPr>
          <p:nvPr/>
        </p:nvSpPr>
        <p:spPr bwMode="auto">
          <a:xfrm flipH="1" flipV="1">
            <a:off x="7391400" y="3733800"/>
            <a:ext cx="60960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AutoShape 16"/>
          <p:cNvSpPr>
            <a:spLocks noChangeArrowheads="1"/>
          </p:cNvSpPr>
          <p:nvPr/>
        </p:nvSpPr>
        <p:spPr bwMode="auto">
          <a:xfrm>
            <a:off x="6934200" y="3657600"/>
            <a:ext cx="1295400" cy="762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204" name="AutoShape 17"/>
          <p:cNvSpPr>
            <a:spLocks noChangeArrowheads="1"/>
          </p:cNvSpPr>
          <p:nvPr/>
        </p:nvSpPr>
        <p:spPr bwMode="auto">
          <a:xfrm>
            <a:off x="6934200" y="3505200"/>
            <a:ext cx="1295400" cy="762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205" name="AutoShape 18"/>
          <p:cNvSpPr>
            <a:spLocks noChangeArrowheads="1"/>
          </p:cNvSpPr>
          <p:nvPr/>
        </p:nvSpPr>
        <p:spPr bwMode="auto">
          <a:xfrm>
            <a:off x="6934200" y="3352800"/>
            <a:ext cx="1295400" cy="762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206" name="AutoShape 19"/>
          <p:cNvSpPr>
            <a:spLocks noChangeArrowheads="1"/>
          </p:cNvSpPr>
          <p:nvPr/>
        </p:nvSpPr>
        <p:spPr bwMode="auto">
          <a:xfrm>
            <a:off x="6934200" y="3200400"/>
            <a:ext cx="1295400" cy="762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207" name="AutoShape 20"/>
          <p:cNvSpPr>
            <a:spLocks noChangeArrowheads="1"/>
          </p:cNvSpPr>
          <p:nvPr/>
        </p:nvSpPr>
        <p:spPr bwMode="auto">
          <a:xfrm>
            <a:off x="6934200" y="3048000"/>
            <a:ext cx="1295400" cy="762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208" name="AutoShape 22"/>
          <p:cNvSpPr>
            <a:spLocks noChangeArrowheads="1"/>
          </p:cNvSpPr>
          <p:nvPr/>
        </p:nvSpPr>
        <p:spPr bwMode="auto">
          <a:xfrm rot="5400000">
            <a:off x="6515100" y="2095500"/>
            <a:ext cx="762000" cy="990600"/>
          </a:xfrm>
          <a:custGeom>
            <a:avLst/>
            <a:gdLst>
              <a:gd name="T0" fmla="*/ 18824648 w 21600"/>
              <a:gd name="T1" fmla="*/ 0 h 21600"/>
              <a:gd name="T2" fmla="*/ 18824648 w 21600"/>
              <a:gd name="T3" fmla="*/ 25571195 h 21600"/>
              <a:gd name="T4" fmla="*/ 4028510 w 21600"/>
              <a:gd name="T5" fmla="*/ 45430012 h 21600"/>
              <a:gd name="T6" fmla="*/ 26881666 w 21600"/>
              <a:gd name="T7" fmla="*/ 12785620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9" name="AutoShape 23"/>
          <p:cNvSpPr>
            <a:spLocks noChangeArrowheads="1"/>
          </p:cNvSpPr>
          <p:nvPr/>
        </p:nvSpPr>
        <p:spPr bwMode="auto">
          <a:xfrm>
            <a:off x="7924800" y="1981200"/>
            <a:ext cx="762000" cy="990600"/>
          </a:xfrm>
          <a:custGeom>
            <a:avLst/>
            <a:gdLst>
              <a:gd name="T0" fmla="*/ 18824648 w 21600"/>
              <a:gd name="T1" fmla="*/ 0 h 21600"/>
              <a:gd name="T2" fmla="*/ 18824648 w 21600"/>
              <a:gd name="T3" fmla="*/ 25571195 h 21600"/>
              <a:gd name="T4" fmla="*/ 4028510 w 21600"/>
              <a:gd name="T5" fmla="*/ 45430012 h 21600"/>
              <a:gd name="T6" fmla="*/ 26881666 w 21600"/>
              <a:gd name="T7" fmla="*/ 12785620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0" name="Text Box 24"/>
          <p:cNvSpPr txBox="1">
            <a:spLocks noChangeArrowheads="1"/>
          </p:cNvSpPr>
          <p:nvPr/>
        </p:nvSpPr>
        <p:spPr bwMode="auto">
          <a:xfrm>
            <a:off x="6096000" y="2514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9933"/>
                </a:solidFill>
              </a:rPr>
              <a:t>Push</a:t>
            </a:r>
          </a:p>
        </p:txBody>
      </p:sp>
      <p:sp>
        <p:nvSpPr>
          <p:cNvPr id="8211" name="Text Box 25"/>
          <p:cNvSpPr txBox="1">
            <a:spLocks noChangeArrowheads="1"/>
          </p:cNvSpPr>
          <p:nvPr/>
        </p:nvSpPr>
        <p:spPr bwMode="auto">
          <a:xfrm>
            <a:off x="8153400" y="2514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9933"/>
                </a:solidFill>
              </a:rPr>
              <a:t>Pop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Push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Line Callout 1 5"/>
          <p:cNvSpPr/>
          <p:nvPr/>
        </p:nvSpPr>
        <p:spPr>
          <a:xfrm>
            <a:off x="935422" y="5444289"/>
            <a:ext cx="1807778" cy="381000"/>
          </a:xfrm>
          <a:prstGeom prst="borderCallout1">
            <a:avLst>
              <a:gd name="adj1" fmla="val 42560"/>
              <a:gd name="adj2" fmla="val 102185"/>
              <a:gd name="adj3" fmla="val 42658"/>
              <a:gd name="adj4" fmla="val 151592"/>
            </a:avLst>
          </a:prstGeom>
          <a:ln w="381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</a:t>
            </a:r>
          </a:p>
        </p:txBody>
      </p:sp>
      <p:sp>
        <p:nvSpPr>
          <p:cNvPr id="26" name="Flowchart: Magnetic Disk 25"/>
          <p:cNvSpPr/>
          <p:nvPr/>
        </p:nvSpPr>
        <p:spPr>
          <a:xfrm>
            <a:off x="6342992" y="1290899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27"/>
          <p:cNvGrpSpPr>
            <a:grpSpLocks/>
          </p:cNvGrpSpPr>
          <p:nvPr/>
        </p:nvGrpSpPr>
        <p:grpSpPr bwMode="auto">
          <a:xfrm>
            <a:off x="3048001" y="2543856"/>
            <a:ext cx="4002504" cy="3628345"/>
            <a:chOff x="1584" y="2448"/>
            <a:chExt cx="1392" cy="1152"/>
          </a:xfrm>
        </p:grpSpPr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15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29"/>
            <p:cNvSpPr>
              <a:spLocks noChangeShapeType="1"/>
            </p:cNvSpPr>
            <p:nvPr/>
          </p:nvSpPr>
          <p:spPr bwMode="auto">
            <a:xfrm>
              <a:off x="1776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30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31"/>
            <p:cNvSpPr>
              <a:spLocks noChangeShapeType="1"/>
            </p:cNvSpPr>
            <p:nvPr/>
          </p:nvSpPr>
          <p:spPr bwMode="auto">
            <a:xfrm flipV="1">
              <a:off x="2784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27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lowchart: Magnetic Disk 33"/>
          <p:cNvSpPr/>
          <p:nvPr/>
        </p:nvSpPr>
        <p:spPr>
          <a:xfrm>
            <a:off x="6342992" y="1274333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Magnetic Disk 34"/>
          <p:cNvSpPr/>
          <p:nvPr/>
        </p:nvSpPr>
        <p:spPr>
          <a:xfrm>
            <a:off x="6338981" y="1282616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Magnetic Disk 35"/>
          <p:cNvSpPr/>
          <p:nvPr/>
        </p:nvSpPr>
        <p:spPr>
          <a:xfrm>
            <a:off x="6334970" y="1290898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Magnetic Disk 36"/>
          <p:cNvSpPr/>
          <p:nvPr/>
        </p:nvSpPr>
        <p:spPr>
          <a:xfrm>
            <a:off x="6334970" y="1289715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6705600" y="2895600"/>
            <a:ext cx="685800" cy="32766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/>
              <a:t>PUSH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81481E-6 L -0.14636 -4.81481E-6 C -0.2125 -4.81481E-6 -0.29271 0.16945 -0.29271 0.30764 L -0.29271 0.61575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3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14636 1.48148E-6 C -0.2125 1.48148E-6 -0.29271 0.15 -0.29271 0.27268 L -0.29271 0.54583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7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7732 L -1.66667E-6 2.22222E-6 " pathEditMode="relative" rAng="0" ptsTypes="AA">
                                      <p:cBhvr>
                                        <p:cTn id="22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59259E-6 L -0.14618 2.59259E-6 C -0.21216 2.59259E-6 -0.29219 0.12847 -0.29219 0.23356 L -0.29219 0.46759 " pathEditMode="relative" rAng="0" ptsTypes="AAAA">
                                      <p:cBhvr>
                                        <p:cTn id="2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18" y="2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15486 L -0.00104 -0.07732 " pathEditMode="relative" rAng="0" ptsTypes="AA">
                                      <p:cBhvr>
                                        <p:cTn id="32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81481E-6 L -0.14601 -4.81481E-6 C -0.21198 -4.81481E-6 -0.29184 0.10602 -0.29184 0.19306 L -0.29184 0.38658 " pathEditMode="relative" rAng="0" ptsTypes="AAAA">
                                      <p:cBhvr>
                                        <p:cTn id="3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01" y="1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23195 L -0.00104 -0.15486 " pathEditMode="relative" rAng="0" ptsTypes="AA">
                                      <p:cBhvr>
                                        <p:cTn id="42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33333E-6 L -0.14601 -3.33333E-6 C -0.21198 -3.33333E-6 -0.29184 0.08542 -0.29184 0.15556 L -0.29184 0.31158 " pathEditMode="relative" rAng="0" ptsTypes="AAAA">
                                      <p:cBhvr>
                                        <p:cTn id="4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01" y="1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3088 L -0.00104 -0.23195 " pathEditMode="relative" rAng="0" ptsTypes="AA">
                                      <p:cBhvr>
                                        <p:cTn id="52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6" grpId="4" animBg="1"/>
      <p:bldP spid="26" grpId="0" animBg="1"/>
      <p:bldP spid="26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Pop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3" name="Line Callout 1 82"/>
          <p:cNvSpPr/>
          <p:nvPr/>
        </p:nvSpPr>
        <p:spPr>
          <a:xfrm>
            <a:off x="924911" y="3541501"/>
            <a:ext cx="1807778" cy="381000"/>
          </a:xfrm>
          <a:prstGeom prst="borderCallout1">
            <a:avLst>
              <a:gd name="adj1" fmla="val 42560"/>
              <a:gd name="adj2" fmla="val 102185"/>
              <a:gd name="adj3" fmla="val 42658"/>
              <a:gd name="adj4" fmla="val 151592"/>
            </a:avLst>
          </a:prstGeom>
          <a:ln w="38100">
            <a:solidFill>
              <a:srgbClr val="C00000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</a:t>
            </a:r>
          </a:p>
        </p:txBody>
      </p:sp>
      <p:grpSp>
        <p:nvGrpSpPr>
          <p:cNvPr id="84" name="Group 27"/>
          <p:cNvGrpSpPr>
            <a:grpSpLocks/>
          </p:cNvGrpSpPr>
          <p:nvPr/>
        </p:nvGrpSpPr>
        <p:grpSpPr bwMode="auto">
          <a:xfrm>
            <a:off x="3048000" y="2543856"/>
            <a:ext cx="3962400" cy="3628345"/>
            <a:chOff x="1584" y="2448"/>
            <a:chExt cx="1392" cy="1152"/>
          </a:xfrm>
        </p:grpSpPr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15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29"/>
            <p:cNvSpPr>
              <a:spLocks noChangeShapeType="1"/>
            </p:cNvSpPr>
            <p:nvPr/>
          </p:nvSpPr>
          <p:spPr bwMode="auto">
            <a:xfrm>
              <a:off x="1776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30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31"/>
            <p:cNvSpPr>
              <a:spLocks noChangeShapeType="1"/>
            </p:cNvSpPr>
            <p:nvPr/>
          </p:nvSpPr>
          <p:spPr bwMode="auto">
            <a:xfrm flipV="1">
              <a:off x="2784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27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Flowchart: Magnetic Disk 89"/>
          <p:cNvSpPr/>
          <p:nvPr/>
        </p:nvSpPr>
        <p:spPr>
          <a:xfrm>
            <a:off x="3649716" y="5550602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owchart: Magnetic Disk 90"/>
          <p:cNvSpPr/>
          <p:nvPr/>
        </p:nvSpPr>
        <p:spPr>
          <a:xfrm>
            <a:off x="3649716" y="5055653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Magnetic Disk 91"/>
          <p:cNvSpPr/>
          <p:nvPr/>
        </p:nvSpPr>
        <p:spPr>
          <a:xfrm>
            <a:off x="3649716" y="4560704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Magnetic Disk 92"/>
          <p:cNvSpPr/>
          <p:nvPr/>
        </p:nvSpPr>
        <p:spPr>
          <a:xfrm>
            <a:off x="3657600" y="4081830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Magnetic Disk 93"/>
          <p:cNvSpPr/>
          <p:nvPr/>
        </p:nvSpPr>
        <p:spPr>
          <a:xfrm>
            <a:off x="3657600" y="3611702"/>
            <a:ext cx="2724808" cy="62159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/>
          <p:cNvSpPr/>
          <p:nvPr/>
        </p:nvSpPr>
        <p:spPr>
          <a:xfrm rot="10800000">
            <a:off x="6705600" y="2895600"/>
            <a:ext cx="685800" cy="32766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/>
              <a:t>POP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-0.00191 -0.305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152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 0.0731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0.00104 -0.3738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1870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315 L 0 0.1416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81481E-6 L 0.00191 -0.4435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2217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4167 L 0 0.2113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0.00191 -0.51574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25787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1135 L 0 0.2835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7037E-7 L 0.00191 -0.5879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2939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  <p:bldP spid="83" grpId="2" animBg="1"/>
      <p:bldP spid="83" grpId="3" animBg="1"/>
      <p:bldP spid="83" grpId="4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Stack –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GB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ngoặc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solidFill>
                  <a:srgbClr val="FF9933"/>
                </a:solidFill>
              </a:rPr>
              <a:t>( ( A + B ) / C				( A + B ) / C)</a:t>
            </a:r>
          </a:p>
          <a:p>
            <a:pPr eaLnBrk="1" hangingPunct="1"/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 eaLnBrk="1" hangingPunct="1"/>
            <a:r>
              <a:rPr lang="en-US" dirty="0" err="1">
                <a:solidFill>
                  <a:srgbClr val="FF9933"/>
                </a:solidFill>
              </a:rPr>
              <a:t>Cá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Ăn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Kiến</a:t>
            </a:r>
            <a:r>
              <a:rPr lang="en-US" dirty="0">
                <a:solidFill>
                  <a:srgbClr val="FF9933"/>
                </a:solidFill>
              </a:rPr>
              <a:t>		</a:t>
            </a:r>
            <a:r>
              <a:rPr lang="en-US" dirty="0">
                <a:solidFill>
                  <a:srgbClr val="FF9933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rgbClr val="FF9933"/>
                </a:solidFill>
              </a:rPr>
              <a:t>		</a:t>
            </a:r>
            <a:r>
              <a:rPr lang="en-US" dirty="0" err="1">
                <a:solidFill>
                  <a:srgbClr val="FF9933"/>
                </a:solidFill>
              </a:rPr>
              <a:t>nếiK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nĂ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áC</a:t>
            </a:r>
            <a:endParaRPr lang="en-GB" dirty="0">
              <a:solidFill>
                <a:srgbClr val="FF9933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 flipV="1">
            <a:off x="1143000" y="3657600"/>
            <a:ext cx="0" cy="3048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1143000" y="3657600"/>
            <a:ext cx="1295400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2438400" y="3657600"/>
            <a:ext cx="0" cy="3048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flipV="1">
            <a:off x="914400" y="3429000"/>
            <a:ext cx="0" cy="5334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914400" y="3429000"/>
            <a:ext cx="2209800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3048000" y="3200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?</a:t>
            </a:r>
            <a:endParaRPr lang="en-GB">
              <a:solidFill>
                <a:srgbClr val="FF0000"/>
              </a:solidFill>
            </a:endParaRPr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 flipV="1">
            <a:off x="5486400" y="3657600"/>
            <a:ext cx="0" cy="3048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5486400" y="3657600"/>
            <a:ext cx="1295400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6781800" y="3657600"/>
            <a:ext cx="0" cy="3048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 flipV="1">
            <a:off x="7467600" y="3429000"/>
            <a:ext cx="0" cy="53340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5257800" y="3429000"/>
            <a:ext cx="2209800" cy="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5029200" y="3200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?</a:t>
            </a:r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5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Stack –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GB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GB" sz="2800" dirty="0"/>
              <a:t>Lưu </a:t>
            </a:r>
            <a:r>
              <a:rPr lang="en-GB" sz="2800" dirty="0" err="1"/>
              <a:t>vết</a:t>
            </a:r>
            <a:r>
              <a:rPr lang="en-GB" sz="2800" dirty="0"/>
              <a:t> </a:t>
            </a:r>
            <a:r>
              <a:rPr lang="en-GB" sz="2800" dirty="0" err="1"/>
              <a:t>trong</a:t>
            </a:r>
            <a:r>
              <a:rPr lang="en-GB" sz="2800" dirty="0"/>
              <a:t> </a:t>
            </a:r>
            <a:r>
              <a:rPr lang="en-GB" sz="2800" dirty="0" err="1"/>
              <a:t>thuật</a:t>
            </a:r>
            <a:r>
              <a:rPr lang="en-GB" sz="2800" dirty="0"/>
              <a:t> </a:t>
            </a:r>
            <a:r>
              <a:rPr lang="en-GB" sz="2800" dirty="0" err="1"/>
              <a:t>toán</a:t>
            </a:r>
            <a:r>
              <a:rPr lang="en-GB" sz="2800" dirty="0"/>
              <a:t> “back-tracking” (</a:t>
            </a:r>
            <a:r>
              <a:rPr lang="en-GB" sz="2800" dirty="0" err="1"/>
              <a:t>theo</a:t>
            </a:r>
            <a:r>
              <a:rPr lang="en-GB" sz="2800" dirty="0"/>
              <a:t> </a:t>
            </a:r>
            <a:r>
              <a:rPr lang="en-GB" sz="2800" dirty="0" err="1"/>
              <a:t>dõi</a:t>
            </a:r>
            <a:r>
              <a:rPr lang="en-GB" sz="2800" dirty="0"/>
              <a:t> </a:t>
            </a:r>
            <a:r>
              <a:rPr lang="en-GB" sz="2800" dirty="0" err="1"/>
              <a:t>dấu</a:t>
            </a:r>
            <a:r>
              <a:rPr lang="en-GB" sz="2800" dirty="0"/>
              <a:t> </a:t>
            </a:r>
            <a:r>
              <a:rPr lang="en-GB" sz="2800" dirty="0" err="1"/>
              <a:t>vết</a:t>
            </a:r>
            <a:r>
              <a:rPr lang="en-GB" sz="2800" dirty="0"/>
              <a:t>)</a:t>
            </a:r>
          </a:p>
          <a:p>
            <a:pPr algn="just" eaLnBrk="1" hangingPunct="1"/>
            <a:r>
              <a:rPr lang="en-GB" sz="2800" dirty="0" err="1"/>
              <a:t>Tính</a:t>
            </a:r>
            <a:r>
              <a:rPr lang="en-GB" sz="2800" dirty="0"/>
              <a:t> </a:t>
            </a:r>
            <a:r>
              <a:rPr lang="en-GB" sz="2800" dirty="0" err="1"/>
              <a:t>giá</a:t>
            </a:r>
            <a:r>
              <a:rPr lang="en-GB" sz="2800" dirty="0"/>
              <a:t> </a:t>
            </a:r>
            <a:r>
              <a:rPr lang="en-GB" sz="2800" dirty="0" err="1"/>
              <a:t>trị</a:t>
            </a:r>
            <a:r>
              <a:rPr lang="en-GB" sz="2800" dirty="0"/>
              <a:t> </a:t>
            </a:r>
            <a:r>
              <a:rPr lang="en-GB" sz="2800" dirty="0" err="1"/>
              <a:t>biểu</a:t>
            </a:r>
            <a:r>
              <a:rPr lang="en-GB" sz="2800" dirty="0"/>
              <a:t> </a:t>
            </a:r>
            <a:r>
              <a:rPr lang="en-GB" sz="2800" dirty="0" err="1"/>
              <a:t>thức</a:t>
            </a:r>
            <a:r>
              <a:rPr lang="en-GB" sz="2800" dirty="0"/>
              <a:t> </a:t>
            </a:r>
            <a:r>
              <a:rPr lang="en-GB" sz="2800" dirty="0" err="1"/>
              <a:t>toán</a:t>
            </a:r>
            <a:r>
              <a:rPr lang="en-GB" sz="2800" dirty="0"/>
              <a:t> </a:t>
            </a:r>
            <a:r>
              <a:rPr lang="en-GB" sz="2800" dirty="0" err="1"/>
              <a:t>học</a:t>
            </a:r>
            <a:endParaRPr lang="en-GB" sz="2800" dirty="0"/>
          </a:p>
          <a:p>
            <a:pPr algn="just" eaLnBrk="1" hangingPunct="1"/>
            <a:r>
              <a:rPr lang="en-GB" sz="2800" dirty="0" err="1"/>
              <a:t>Khử</a:t>
            </a:r>
            <a:r>
              <a:rPr lang="en-GB" sz="2800" dirty="0"/>
              <a:t> </a:t>
            </a:r>
            <a:r>
              <a:rPr lang="en-GB" sz="2800" dirty="0" err="1"/>
              <a:t>đệ</a:t>
            </a:r>
            <a:r>
              <a:rPr lang="en-GB" sz="2800" dirty="0"/>
              <a:t> </a:t>
            </a:r>
            <a:r>
              <a:rPr lang="en-GB" sz="2800" dirty="0" err="1"/>
              <a:t>quy</a:t>
            </a:r>
            <a:endParaRPr lang="en-GB" sz="2800" dirty="0"/>
          </a:p>
          <a:p>
            <a:pPr algn="just" eaLnBrk="1" hangingPunct="1"/>
            <a:r>
              <a:rPr lang="en-GB" sz="2800" dirty="0"/>
              <a:t>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1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HaNoi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B00FD9-E4D5-FC40-B485-0C5D54A0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37891" name="Picture 3" descr="hanoi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2103438"/>
            <a:ext cx="5337175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9717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A1E6A6-DE35-4847-92E7-3BCB734B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39939" name="Picture 3" descr="hanoi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0"/>
            <a:ext cx="53498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225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2B70B4-50F7-024F-A799-7DB987A3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41987" name="Picture 3" descr="hanoi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124200"/>
            <a:ext cx="5337175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64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059909-ABD8-CD45-B1D4-C2EAB7A8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44035" name="Picture 3" descr="hanoi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124200"/>
            <a:ext cx="5337175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1796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24BA9C-C33D-7C4A-97DA-8DA87955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46083" name="Picture 3" descr="hanoi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124200"/>
            <a:ext cx="53149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04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6BAADD-622E-B046-B5AF-49036588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48131" name="Picture 3" descr="hanoi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124200"/>
            <a:ext cx="53149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964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7F283-23B9-E643-A102-4FB834AD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50179" name="Picture 3" descr="hanoi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438400"/>
            <a:ext cx="53149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5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7E2EBF-3B5C-D74B-B526-375BEF98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2227" name="Picture 3" descr="hanoi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103438"/>
            <a:ext cx="5314950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4718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tháp</a:t>
            </a:r>
            <a:r>
              <a:rPr lang="en-US" altLang="en-US" dirty="0"/>
              <a:t> </a:t>
            </a:r>
            <a:r>
              <a:rPr lang="en-US" altLang="en-US" dirty="0" err="1"/>
              <a:t>hà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05000"/>
            <a:ext cx="7886700" cy="4724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void </a:t>
            </a:r>
            <a:r>
              <a:rPr lang="en-US" altLang="en-US" sz="2000" dirty="0" err="1"/>
              <a:t>ThapHaNoi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discs, STACK </a:t>
            </a:r>
            <a:r>
              <a:rPr lang="en-US" altLang="en-US" sz="2000" dirty="0" err="1"/>
              <a:t>fromPole</a:t>
            </a:r>
            <a:r>
              <a:rPr lang="en-US" altLang="en-US" sz="2000" dirty="0"/>
              <a:t>, STACK </a:t>
            </a:r>
            <a:r>
              <a:rPr lang="en-US" altLang="en-US" sz="2000" dirty="0" err="1"/>
              <a:t>toPole</a:t>
            </a:r>
            <a:r>
              <a:rPr lang="en-US" altLang="en-US" sz="2000" dirty="0"/>
              <a:t>, STACK aux) 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d;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if( discs &gt;= 1) 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{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	</a:t>
            </a:r>
            <a:r>
              <a:rPr lang="en-US" altLang="en-US" sz="2000" dirty="0" err="1"/>
              <a:t>ThapHaNoi</a:t>
            </a:r>
            <a:r>
              <a:rPr lang="en-US" altLang="en-US" sz="2000" dirty="0"/>
              <a:t> (discs-1, </a:t>
            </a:r>
            <a:r>
              <a:rPr lang="en-US" altLang="en-US" sz="2000" dirty="0" err="1"/>
              <a:t>fromPole</a:t>
            </a:r>
            <a:r>
              <a:rPr lang="en-US" altLang="en-US" sz="2000" dirty="0"/>
              <a:t>, aux, </a:t>
            </a:r>
            <a:r>
              <a:rPr lang="en-US" altLang="en-US" sz="2000" dirty="0" err="1"/>
              <a:t>toPole</a:t>
            </a:r>
            <a:r>
              <a:rPr lang="en-US" altLang="en-US" sz="2000" dirty="0"/>
              <a:t>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	d = </a:t>
            </a:r>
            <a:r>
              <a:rPr lang="en-US" altLang="en-US" sz="2000" dirty="0" err="1"/>
              <a:t>fromPole.pop</a:t>
            </a:r>
            <a:r>
              <a:rPr lang="en-US" altLang="en-US" sz="2000" dirty="0"/>
              <a:t>();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	</a:t>
            </a:r>
            <a:r>
              <a:rPr lang="en-US" altLang="en-US" sz="2000" dirty="0" err="1"/>
              <a:t>toPole.push</a:t>
            </a:r>
            <a:r>
              <a:rPr lang="en-US" altLang="en-US" sz="2000" dirty="0"/>
              <a:t>(d);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	</a:t>
            </a:r>
            <a:r>
              <a:rPr lang="en-US" altLang="en-US" sz="2000" dirty="0" err="1"/>
              <a:t>ThapHaNoi</a:t>
            </a:r>
            <a:r>
              <a:rPr lang="en-US" altLang="en-US" sz="2000" dirty="0"/>
              <a:t> (discs-1, aux, </a:t>
            </a:r>
            <a:r>
              <a:rPr lang="en-US" altLang="en-US" sz="2000" dirty="0" err="1"/>
              <a:t>toPole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fromPole</a:t>
            </a:r>
            <a:r>
              <a:rPr lang="en-US" altLang="en-US" sz="2000" dirty="0"/>
              <a:t>);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	}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/>
              <a:t>	}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C62125C-DE4F-0441-9A09-B2FD07E9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cxnSp>
        <p:nvCxnSpPr>
          <p:cNvPr id="4" name="Straight Arrow Connector 3"/>
          <p:cNvCxnSpPr>
            <a:cxnSpLocks/>
          </p:cNvCxnSpPr>
          <p:nvPr/>
        </p:nvCxnSpPr>
        <p:spPr>
          <a:xfrm flipH="1">
            <a:off x="5334000" y="3962400"/>
            <a:ext cx="11430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105400" y="3962400"/>
            <a:ext cx="11430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38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Stack – Quick Sort</a:t>
            </a:r>
            <a:endParaRPr lang="en-GB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8286750" cy="495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khử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Quick Sort, ta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stack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partition (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)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  <a:p>
            <a:pPr eaLnBrk="1" hangingPunct="1"/>
            <a:r>
              <a:rPr lang="en-US" b="1" u="sng" dirty="0"/>
              <a:t>Ý </a:t>
            </a:r>
            <a:r>
              <a:rPr lang="en-US" b="1" u="sng" dirty="0" err="1"/>
              <a:t>tưởng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/>
              <a:t>Push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(0, n-1) </a:t>
            </a:r>
            <a:r>
              <a:rPr lang="en-US" dirty="0" err="1"/>
              <a:t>vào</a:t>
            </a:r>
            <a:r>
              <a:rPr lang="en-US" dirty="0"/>
              <a:t> stack</a:t>
            </a:r>
          </a:p>
          <a:p>
            <a:pPr lvl="1" eaLnBrk="1" hangingPunct="1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stack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  <a:p>
            <a:pPr lvl="2" eaLnBrk="1" hangingPunct="1"/>
            <a:r>
              <a:rPr lang="en-US" dirty="0"/>
              <a:t>Pop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stack</a:t>
            </a:r>
          </a:p>
          <a:p>
            <a:pPr lvl="2" eaLnBrk="1" hangingPunct="1"/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lvl="2" eaLnBrk="1" hangingPunct="1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trục</a:t>
            </a:r>
            <a:endParaRPr lang="en-US" dirty="0"/>
          </a:p>
          <a:p>
            <a:pPr lvl="2" eaLnBrk="1" hangingPunct="1"/>
            <a:r>
              <a:rPr lang="en-US" dirty="0"/>
              <a:t>Push 2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stack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53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Stack – Quick Sort</a:t>
            </a:r>
            <a:endParaRPr lang="en-GB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352800" y="1752600"/>
            <a:ext cx="5562600" cy="280352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/>
              <a:t>Push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hoạch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tiên</a:t>
            </a:r>
            <a:r>
              <a:rPr lang="en-US" sz="2000" dirty="0"/>
              <a:t> (0, n-1) </a:t>
            </a:r>
            <a:r>
              <a:rPr lang="en-US" sz="2000" dirty="0" err="1"/>
              <a:t>vào</a:t>
            </a:r>
            <a:r>
              <a:rPr lang="en-US" sz="2000" dirty="0"/>
              <a:t> stack</a:t>
            </a:r>
          </a:p>
          <a:p>
            <a:pPr eaLnBrk="1" hangingPunct="1"/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stack </a:t>
            </a: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rỗng</a:t>
            </a:r>
            <a:endParaRPr lang="en-US" sz="2000" dirty="0"/>
          </a:p>
          <a:p>
            <a:pPr lvl="1" eaLnBrk="1" hangingPunct="1"/>
            <a:r>
              <a:rPr lang="en-US" sz="1800" dirty="0"/>
              <a:t>Pop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phân</a:t>
            </a:r>
            <a:r>
              <a:rPr lang="en-US" sz="1800" dirty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stack</a:t>
            </a:r>
          </a:p>
          <a:p>
            <a:pPr lvl="1" eaLnBrk="1" hangingPunct="1"/>
            <a:r>
              <a:rPr lang="en-US" sz="1800" dirty="0" err="1"/>
              <a:t>Chọn</a:t>
            </a:r>
            <a:r>
              <a:rPr lang="en-US" sz="1800" dirty="0"/>
              <a:t> </a:t>
            </a:r>
            <a:r>
              <a:rPr lang="en-US" sz="1800" dirty="0" err="1"/>
              <a:t>phần</a:t>
            </a:r>
            <a:r>
              <a:rPr lang="en-US" sz="1800" dirty="0"/>
              <a:t> </a:t>
            </a:r>
            <a:r>
              <a:rPr lang="en-US" sz="1800" dirty="0" err="1"/>
              <a:t>tử</a:t>
            </a:r>
            <a:r>
              <a:rPr lang="en-US" sz="1800" dirty="0"/>
              <a:t> </a:t>
            </a:r>
            <a:r>
              <a:rPr lang="en-US" sz="1800" dirty="0" err="1"/>
              <a:t>trục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</a:t>
            </a:r>
            <a:r>
              <a:rPr lang="en-US" sz="1800" dirty="0" err="1"/>
              <a:t>phân</a:t>
            </a:r>
            <a:r>
              <a:rPr lang="en-US" sz="1800" dirty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này</a:t>
            </a:r>
            <a:endParaRPr lang="en-US" sz="1800" dirty="0"/>
          </a:p>
          <a:p>
            <a:pPr lvl="1" eaLnBrk="1" hangingPunct="1"/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chỉnh</a:t>
            </a:r>
            <a:r>
              <a:rPr lang="en-US" sz="1800" dirty="0"/>
              <a:t> </a:t>
            </a:r>
            <a:r>
              <a:rPr lang="en-US" sz="1800" dirty="0" err="1"/>
              <a:t>phân</a:t>
            </a:r>
            <a:r>
              <a:rPr lang="en-US" sz="1800" dirty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trục</a:t>
            </a:r>
            <a:endParaRPr lang="en-US" sz="1800" dirty="0"/>
          </a:p>
          <a:p>
            <a:pPr lvl="1" eaLnBrk="1" hangingPunct="1"/>
            <a:r>
              <a:rPr lang="en-US" sz="1800" dirty="0"/>
              <a:t>Push 2 </a:t>
            </a:r>
            <a:r>
              <a:rPr lang="en-US" sz="1800" dirty="0" err="1"/>
              <a:t>phân</a:t>
            </a:r>
            <a:r>
              <a:rPr lang="en-US" sz="1800" dirty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trái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trục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r>
              <a:rPr lang="en-US" sz="1800" dirty="0"/>
              <a:t> stack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33796" name="Group 5"/>
          <p:cNvGrpSpPr>
            <a:grpSpLocks/>
          </p:cNvGrpSpPr>
          <p:nvPr/>
        </p:nvGrpSpPr>
        <p:grpSpPr bwMode="auto">
          <a:xfrm>
            <a:off x="228600" y="1752600"/>
            <a:ext cx="2209800" cy="4876800"/>
            <a:chOff x="1584" y="2448"/>
            <a:chExt cx="1392" cy="1152"/>
          </a:xfrm>
        </p:grpSpPr>
        <p:sp>
          <p:nvSpPr>
            <p:cNvPr id="33864" name="Line 6"/>
            <p:cNvSpPr>
              <a:spLocks noChangeShapeType="1"/>
            </p:cNvSpPr>
            <p:nvPr/>
          </p:nvSpPr>
          <p:spPr bwMode="auto">
            <a:xfrm>
              <a:off x="15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5" name="Line 7"/>
            <p:cNvSpPr>
              <a:spLocks noChangeShapeType="1"/>
            </p:cNvSpPr>
            <p:nvPr/>
          </p:nvSpPr>
          <p:spPr bwMode="auto">
            <a:xfrm>
              <a:off x="1776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6" name="Line 8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7" name="Line 9"/>
            <p:cNvSpPr>
              <a:spLocks noChangeShapeType="1"/>
            </p:cNvSpPr>
            <p:nvPr/>
          </p:nvSpPr>
          <p:spPr bwMode="auto">
            <a:xfrm flipV="1">
              <a:off x="2784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8" name="Line 10"/>
            <p:cNvSpPr>
              <a:spLocks noChangeShapeType="1"/>
            </p:cNvSpPr>
            <p:nvPr/>
          </p:nvSpPr>
          <p:spPr bwMode="auto">
            <a:xfrm>
              <a:off x="27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25" name="AutoShape 13"/>
          <p:cNvSpPr>
            <a:spLocks noChangeArrowheads="1"/>
          </p:cNvSpPr>
          <p:nvPr/>
        </p:nvSpPr>
        <p:spPr bwMode="auto">
          <a:xfrm>
            <a:off x="685800" y="6248400"/>
            <a:ext cx="12954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000"/>
              <a:t>(0,4)</a:t>
            </a:r>
            <a:endParaRPr lang="en-GB" sz="2000"/>
          </a:p>
        </p:txBody>
      </p:sp>
      <p:graphicFrame>
        <p:nvGraphicFramePr>
          <p:cNvPr id="38962" name="Group 50"/>
          <p:cNvGraphicFramePr>
            <a:graphicFrameLocks noGrp="1"/>
          </p:cNvGraphicFramePr>
          <p:nvPr/>
        </p:nvGraphicFramePr>
        <p:xfrm>
          <a:off x="4724400" y="5105400"/>
          <a:ext cx="3505200" cy="792408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5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4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7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46" name="AutoShape 34"/>
          <p:cNvSpPr>
            <a:spLocks noChangeArrowheads="1"/>
          </p:cNvSpPr>
          <p:nvPr/>
        </p:nvSpPr>
        <p:spPr bwMode="auto">
          <a:xfrm>
            <a:off x="4800600" y="5943600"/>
            <a:ext cx="533400" cy="685800"/>
          </a:xfrm>
          <a:prstGeom prst="up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i</a:t>
            </a:r>
            <a:endParaRPr lang="en-GB"/>
          </a:p>
        </p:txBody>
      </p:sp>
      <p:sp>
        <p:nvSpPr>
          <p:cNvPr id="38947" name="AutoShape 35"/>
          <p:cNvSpPr>
            <a:spLocks noChangeArrowheads="1"/>
          </p:cNvSpPr>
          <p:nvPr/>
        </p:nvSpPr>
        <p:spPr bwMode="auto">
          <a:xfrm>
            <a:off x="7620000" y="5943600"/>
            <a:ext cx="533400" cy="685800"/>
          </a:xfrm>
          <a:prstGeom prst="up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j</a:t>
            </a:r>
            <a:endParaRPr lang="en-GB"/>
          </a:p>
        </p:txBody>
      </p:sp>
      <p:sp>
        <p:nvSpPr>
          <p:cNvPr id="38948" name="AutoShape 36"/>
          <p:cNvSpPr>
            <a:spLocks noChangeArrowheads="1"/>
          </p:cNvSpPr>
          <p:nvPr/>
        </p:nvSpPr>
        <p:spPr bwMode="auto">
          <a:xfrm>
            <a:off x="6248400" y="4343400"/>
            <a:ext cx="457200" cy="6096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/>
              <a:t>t</a:t>
            </a:r>
            <a:endParaRPr lang="en-GB"/>
          </a:p>
        </p:txBody>
      </p:sp>
      <p:graphicFrame>
        <p:nvGraphicFramePr>
          <p:cNvPr id="38983" name="Group 71"/>
          <p:cNvGraphicFramePr>
            <a:graphicFrameLocks noGrp="1"/>
          </p:cNvGraphicFramePr>
          <p:nvPr/>
        </p:nvGraphicFramePr>
        <p:xfrm>
          <a:off x="4724400" y="5105400"/>
          <a:ext cx="3505200" cy="792408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4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7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5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003" name="AutoShape 91"/>
          <p:cNvSpPr>
            <a:spLocks noChangeArrowheads="1"/>
          </p:cNvSpPr>
          <p:nvPr/>
        </p:nvSpPr>
        <p:spPr bwMode="auto">
          <a:xfrm>
            <a:off x="685800" y="6248400"/>
            <a:ext cx="12954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000"/>
              <a:t>(0,1)</a:t>
            </a:r>
            <a:endParaRPr lang="en-GB" sz="2000"/>
          </a:p>
        </p:txBody>
      </p:sp>
      <p:sp>
        <p:nvSpPr>
          <p:cNvPr id="39004" name="AutoShape 92"/>
          <p:cNvSpPr>
            <a:spLocks noChangeArrowheads="1"/>
          </p:cNvSpPr>
          <p:nvPr/>
        </p:nvSpPr>
        <p:spPr bwMode="auto">
          <a:xfrm>
            <a:off x="685800" y="5867400"/>
            <a:ext cx="12954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000"/>
              <a:t>(3,4)</a:t>
            </a:r>
            <a:endParaRPr lang="en-GB" sz="2000"/>
          </a:p>
        </p:txBody>
      </p:sp>
      <p:graphicFrame>
        <p:nvGraphicFramePr>
          <p:cNvPr id="39005" name="Group 93"/>
          <p:cNvGraphicFramePr>
            <a:graphicFrameLocks noGrp="1"/>
          </p:cNvGraphicFramePr>
          <p:nvPr/>
        </p:nvGraphicFramePr>
        <p:xfrm>
          <a:off x="4724400" y="5105400"/>
          <a:ext cx="3505200" cy="792408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1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3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4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5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7</a:t>
                      </a:r>
                      <a:endParaRPr kumimoji="0" lang="en-GB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026" name="AutoShape 114"/>
          <p:cNvSpPr>
            <a:spLocks noChangeArrowheads="1"/>
          </p:cNvSpPr>
          <p:nvPr/>
        </p:nvSpPr>
        <p:spPr bwMode="auto">
          <a:xfrm>
            <a:off x="381000" y="3810000"/>
            <a:ext cx="1905000" cy="1600200"/>
          </a:xfrm>
          <a:prstGeom prst="hexagon">
            <a:avLst>
              <a:gd name="adj" fmla="val 29762"/>
              <a:gd name="vf" fmla="val 115470"/>
            </a:avLst>
          </a:prstGeom>
          <a:solidFill>
            <a:srgbClr val="FF0000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Stack rỗng</a:t>
            </a:r>
          </a:p>
          <a:p>
            <a:pPr algn="ctr">
              <a:defRPr/>
            </a:pP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Stop</a:t>
            </a:r>
            <a:endParaRPr lang="en-GB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9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1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3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06358E-6 L 0.2375 3.06358E-6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1965E-6 L 0.075 -4.21965E-6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2" dur="500"/>
                                        <p:tgtEl>
                                          <p:spTgt spid="38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500"/>
                                        <p:tgtEl>
                                          <p:spTgt spid="3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9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9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5 3.06358E-6 L -0.00417 3.06358E-6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06358E-6 L -0.22917 3.06358E-6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389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 -4.21965E-6 L -0.15 -4.21965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5" grpId="0" animBg="1"/>
      <p:bldP spid="38925" grpId="1" animBg="1"/>
      <p:bldP spid="38946" grpId="0" animBg="1"/>
      <p:bldP spid="38946" grpId="1" animBg="1"/>
      <p:bldP spid="38946" grpId="2" animBg="1"/>
      <p:bldP spid="38947" grpId="0" animBg="1"/>
      <p:bldP spid="38947" grpId="1" animBg="1"/>
      <p:bldP spid="38948" grpId="0" animBg="1"/>
      <p:bldP spid="38948" grpId="1" animBg="1"/>
      <p:bldP spid="38948" grpId="2" animBg="1"/>
      <p:bldP spid="39003" grpId="0" animBg="1"/>
      <p:bldP spid="39003" grpId="1" animBg="1"/>
      <p:bldP spid="39004" grpId="0" animBg="1"/>
      <p:bldP spid="39004" grpId="1" animBg="1"/>
      <p:bldP spid="390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1"/>
            <a:ext cx="7886700" cy="4486882"/>
          </a:xfrm>
        </p:spPr>
        <p:txBody>
          <a:bodyPr>
            <a:normAutofit/>
          </a:bodyPr>
          <a:lstStyle/>
          <a:p>
            <a:r>
              <a:rPr lang="en-US" altLang="zh-TW" sz="2600" dirty="0" err="1">
                <a:ea typeface="新細明體" pitchFamily="18" charset="-120"/>
              </a:rPr>
              <a:t>Giả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sử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có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biểu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thức</a:t>
            </a:r>
            <a:r>
              <a:rPr lang="en-US" altLang="zh-TW" sz="2600" dirty="0">
                <a:ea typeface="新細明體" pitchFamily="18" charset="-120"/>
              </a:rPr>
              <a:t> X = a / b - c + d * e - a * c</a:t>
            </a:r>
          </a:p>
          <a:p>
            <a:r>
              <a:rPr lang="en-US" altLang="zh-TW" sz="2600" dirty="0" err="1">
                <a:ea typeface="新細明體" pitchFamily="18" charset="-120"/>
              </a:rPr>
              <a:t>Với</a:t>
            </a:r>
            <a:r>
              <a:rPr lang="en-US" altLang="zh-TW" sz="2600" dirty="0">
                <a:ea typeface="新細明體" pitchFamily="18" charset="-120"/>
              </a:rPr>
              <a:t> a = 4, b = c = 2, d = e = 3</a:t>
            </a:r>
          </a:p>
          <a:p>
            <a:r>
              <a:rPr lang="en-US" altLang="zh-TW" sz="2600" dirty="0" err="1">
                <a:ea typeface="新細明體" pitchFamily="18" charset="-120"/>
              </a:rPr>
              <a:t>Diễn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giải</a:t>
            </a:r>
            <a:r>
              <a:rPr lang="en-US" altLang="zh-TW" sz="2600" dirty="0">
                <a:ea typeface="新細明體" pitchFamily="18" charset="-120"/>
              </a:rPr>
              <a:t> 1: </a:t>
            </a:r>
          </a:p>
          <a:p>
            <a:pPr marL="0" indent="0" algn="ctr">
              <a:buNone/>
            </a:pPr>
            <a:r>
              <a:rPr lang="en-US" altLang="zh-TW" sz="2600" dirty="0">
                <a:ea typeface="新細明體" pitchFamily="18" charset="-120"/>
              </a:rPr>
              <a:t>((</a:t>
            </a:r>
            <a:r>
              <a:rPr lang="zh-TW" altLang="zh-TW" sz="2600" dirty="0">
                <a:ea typeface="新細明體" pitchFamily="18" charset="-120"/>
              </a:rPr>
              <a:t>4/2)-2)+(3*3)-(4*2)=0 + 8+9=1</a:t>
            </a:r>
            <a:endParaRPr lang="en-US" altLang="zh-TW" sz="2600" dirty="0">
              <a:ea typeface="新細明體" pitchFamily="18" charset="-120"/>
            </a:endParaRPr>
          </a:p>
          <a:p>
            <a:r>
              <a:rPr lang="en-US" altLang="zh-TW" sz="2600" dirty="0">
                <a:ea typeface="新細明體" pitchFamily="18" charset="-120"/>
              </a:rPr>
              <a:t>Hay </a:t>
            </a:r>
            <a:r>
              <a:rPr lang="en-US" altLang="zh-TW" sz="2600" dirty="0" err="1">
                <a:ea typeface="新細明體" pitchFamily="18" charset="-120"/>
              </a:rPr>
              <a:t>diễn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giải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zh-TW" altLang="zh-TW" sz="2600" dirty="0">
                <a:ea typeface="新細明體" pitchFamily="18" charset="-120"/>
              </a:rPr>
              <a:t>2:</a:t>
            </a:r>
            <a:endParaRPr lang="en-US" altLang="zh-TW" sz="2600" dirty="0">
              <a:ea typeface="新細明體" pitchFamily="18" charset="-120"/>
            </a:endParaRPr>
          </a:p>
          <a:p>
            <a:pPr marL="0" indent="0" algn="ctr">
              <a:buNone/>
            </a:pPr>
            <a:r>
              <a:rPr lang="zh-TW" altLang="zh-TW" sz="2600" dirty="0">
                <a:ea typeface="新細明體" pitchFamily="18" charset="-120"/>
              </a:rPr>
              <a:t>(4/(2-2+3))*(3-4)*2=(4/3)*(-1)*2=-2.66666</a:t>
            </a:r>
            <a:r>
              <a:rPr lang="zh-TW" altLang="zh-TW" sz="2600" baseline="25000" dirty="0">
                <a:ea typeface="新細明體" pitchFamily="18" charset="-120"/>
              </a:rPr>
              <a:t>…</a:t>
            </a:r>
            <a:endParaRPr lang="en-US" altLang="zh-TW" sz="2600" baseline="25000" dirty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600" dirty="0">
                <a:ea typeface="新細明體" pitchFamily="18" charset="-120"/>
                <a:sym typeface="Wingdings" panose="05000000000000000000" pitchFamily="2" charset="2"/>
              </a:rPr>
              <a:t> </a:t>
            </a:r>
            <a:r>
              <a:rPr lang="en-US" altLang="zh-TW" sz="2600" dirty="0" err="1">
                <a:ea typeface="新細明體" pitchFamily="18" charset="-120"/>
              </a:rPr>
              <a:t>Máy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tính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sẽ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tính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như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thế</a:t>
            </a:r>
            <a:r>
              <a:rPr lang="en-US" altLang="zh-TW" sz="2600" dirty="0">
                <a:ea typeface="新細明體" pitchFamily="18" charset="-120"/>
              </a:rPr>
              <a:t> </a:t>
            </a:r>
            <a:r>
              <a:rPr lang="en-US" altLang="zh-TW" sz="2600" dirty="0" err="1">
                <a:ea typeface="新細明體" pitchFamily="18" charset="-120"/>
              </a:rPr>
              <a:t>nào</a:t>
            </a:r>
            <a:r>
              <a:rPr lang="zh-TW" altLang="zh-TW" sz="2600" dirty="0">
                <a:ea typeface="新細明體" pitchFamily="18" charset="-120"/>
              </a:rPr>
              <a:t>?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67449" y="6065837"/>
            <a:ext cx="4406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2400" dirty="0">
                <a:solidFill>
                  <a:srgbClr val="009900"/>
                </a:solidFill>
                <a:highlight>
                  <a:srgbClr val="FFFF00"/>
                </a:highlight>
                <a:ea typeface="新細明體" pitchFamily="18" charset="-120"/>
              </a:rPr>
              <a:t>precedence rule + associative rule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488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043653"/>
              </p:ext>
            </p:extLst>
          </p:nvPr>
        </p:nvGraphicFramePr>
        <p:xfrm>
          <a:off x="717550" y="641350"/>
          <a:ext cx="7705725" cy="578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810500" imgH="5867400" progId="Word.Document.8">
                  <p:embed/>
                </p:oleObj>
              </mc:Choice>
              <mc:Fallback>
                <p:oleObj name="Document" r:id="rId3" imgW="7810500" imgH="5867400" progId="Word.Document.8">
                  <p:embed/>
                  <p:pic>
                    <p:nvPicPr>
                      <p:cNvPr id="624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641350"/>
                        <a:ext cx="7705725" cy="57832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4A3E6-7792-F044-9337-BC0B4AC8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95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277030"/>
              </p:ext>
            </p:extLst>
          </p:nvPr>
        </p:nvGraphicFramePr>
        <p:xfrm>
          <a:off x="914400" y="520700"/>
          <a:ext cx="7161213" cy="610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162800" imgH="6121400" progId="Word.Document.8">
                  <p:embed/>
                </p:oleObj>
              </mc:Choice>
              <mc:Fallback>
                <p:oleObj name="Document" r:id="rId3" imgW="7162800" imgH="6121400" progId="Word.Document.8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20700"/>
                        <a:ext cx="7161213" cy="61071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7E24F-CAD9-C742-97E8-9F160EC4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50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373993"/>
              </p:ext>
            </p:extLst>
          </p:nvPr>
        </p:nvGraphicFramePr>
        <p:xfrm>
          <a:off x="762000" y="2209800"/>
          <a:ext cx="7493000" cy="579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3" imgW="7595616" imgH="5873496" progId="Word.Document.8">
                  <p:embed/>
                </p:oleObj>
              </mc:Choice>
              <mc:Fallback>
                <p:oleObj name="文件" r:id="rId3" imgW="7595616" imgH="5873496" progId="Word.Document.8">
                  <p:embed/>
                  <p:pic>
                    <p:nvPicPr>
                      <p:cNvPr id="665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09800"/>
                        <a:ext cx="7493000" cy="57927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3C7E4-FB73-1B44-9136-1616EA0E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26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1524000" y="1397000"/>
          <a:ext cx="6094413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3" imgW="6092952" imgH="4062984" progId="Word.Document.8">
                  <p:embed/>
                </p:oleObj>
              </mc:Choice>
              <mc:Fallback>
                <p:oleObj name="文件" r:id="rId3" imgW="6092952" imgH="4062984" progId="Word.Document.8">
                  <p:embed/>
                  <p:pic>
                    <p:nvPicPr>
                      <p:cNvPr id="68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4413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229308"/>
              </p:ext>
            </p:extLst>
          </p:nvPr>
        </p:nvGraphicFramePr>
        <p:xfrm>
          <a:off x="1524000" y="1585585"/>
          <a:ext cx="6592888" cy="417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6667500" imgH="4229100" progId="Word.Document.8">
                  <p:embed/>
                </p:oleObj>
              </mc:Choice>
              <mc:Fallback>
                <p:oleObj name="Document" r:id="rId5" imgW="6667500" imgH="4229100" progId="Word.Document.8">
                  <p:embed/>
                  <p:pic>
                    <p:nvPicPr>
                      <p:cNvPr id="68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85585"/>
                        <a:ext cx="6592888" cy="41783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231695" y="990600"/>
            <a:ext cx="1806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zh-TW" sz="2800" b="1" dirty="0">
                <a:solidFill>
                  <a:srgbClr val="009900"/>
                </a:solidFill>
                <a:ea typeface="新細明體" pitchFamily="18" charset="-120"/>
              </a:rPr>
              <a:t>Con </a:t>
            </a:r>
            <a:r>
              <a:rPr kumimoji="1" lang="en-US" altLang="zh-TW" sz="2800" b="1" dirty="0" err="1">
                <a:solidFill>
                  <a:srgbClr val="009900"/>
                </a:solidFill>
                <a:ea typeface="新細明體" pitchFamily="18" charset="-120"/>
              </a:rPr>
              <a:t>người</a:t>
            </a:r>
            <a:endParaRPr kumimoji="1" lang="en-US" altLang="zh-TW" sz="2800" b="1" dirty="0">
              <a:solidFill>
                <a:srgbClr val="009900"/>
              </a:solidFill>
              <a:ea typeface="新細明體" pitchFamily="18" charset="-120"/>
            </a:endParaRP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5067122" y="990600"/>
            <a:ext cx="2552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zh-TW" sz="2800" b="1" dirty="0" err="1">
                <a:solidFill>
                  <a:srgbClr val="009900"/>
                </a:solidFill>
                <a:ea typeface="新細明體" pitchFamily="18" charset="-120"/>
              </a:rPr>
              <a:t>Trình</a:t>
            </a:r>
            <a:r>
              <a:rPr kumimoji="1" lang="en-US" altLang="zh-TW" sz="2800" b="1" dirty="0">
                <a:solidFill>
                  <a:srgbClr val="009900"/>
                </a:solidFill>
                <a:ea typeface="新細明體" pitchFamily="18" charset="-120"/>
              </a:rPr>
              <a:t> </a:t>
            </a:r>
            <a:r>
              <a:rPr kumimoji="1" lang="en-US" altLang="zh-TW" sz="2800" b="1" dirty="0" err="1">
                <a:solidFill>
                  <a:srgbClr val="009900"/>
                </a:solidFill>
                <a:ea typeface="新細明體" pitchFamily="18" charset="-120"/>
              </a:rPr>
              <a:t>biên</a:t>
            </a:r>
            <a:r>
              <a:rPr kumimoji="1" lang="en-US" altLang="zh-TW" sz="2800" b="1" dirty="0">
                <a:solidFill>
                  <a:srgbClr val="009900"/>
                </a:solidFill>
                <a:ea typeface="新細明體" pitchFamily="18" charset="-120"/>
              </a:rPr>
              <a:t> </a:t>
            </a:r>
            <a:r>
              <a:rPr kumimoji="1" lang="en-US" altLang="zh-TW" sz="2800" b="1" dirty="0" err="1">
                <a:solidFill>
                  <a:srgbClr val="009900"/>
                </a:solidFill>
                <a:ea typeface="新細明體" pitchFamily="18" charset="-120"/>
              </a:rPr>
              <a:t>dịch</a:t>
            </a:r>
            <a:endParaRPr kumimoji="1" lang="en-US" altLang="zh-TW" sz="2800" b="1" dirty="0">
              <a:solidFill>
                <a:srgbClr val="009900"/>
              </a:solidFill>
              <a:ea typeface="新細明體" pitchFamily="18" charset="-120"/>
            </a:endParaRP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2148310" y="5930900"/>
            <a:ext cx="5837624" cy="46166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Postfix: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Không</a:t>
            </a:r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dấu</a:t>
            </a:r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ngoặc</a:t>
            </a:r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,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không</a:t>
            </a:r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độ</a:t>
            </a:r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ưu</a:t>
            </a:r>
            <a:r>
              <a:rPr kumimoji="1" lang="en-US" altLang="zh-TW" b="1" dirty="0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 </a:t>
            </a:r>
            <a:r>
              <a:rPr kumimoji="1" lang="en-US" altLang="zh-TW" b="1" dirty="0" err="1">
                <a:solidFill>
                  <a:schemeClr val="accent5"/>
                </a:solidFill>
                <a:highlight>
                  <a:srgbClr val="FFFF00"/>
                </a:highlight>
                <a:latin typeface="+mn-lt"/>
                <a:ea typeface="新細明體" pitchFamily="18" charset="-120"/>
              </a:rPr>
              <a:t>tiên</a:t>
            </a:r>
            <a:endParaRPr kumimoji="1" lang="en-US" altLang="zh-TW" b="1" dirty="0">
              <a:solidFill>
                <a:schemeClr val="accent5"/>
              </a:solidFill>
              <a:highlight>
                <a:srgbClr val="FFFF00"/>
              </a:highlight>
              <a:latin typeface="+mn-lt"/>
              <a:ea typeface="新細明體" pitchFamily="18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3CDBF3-C430-E94A-AC33-522F9B71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4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40055"/>
              </p:ext>
            </p:extLst>
          </p:nvPr>
        </p:nvGraphicFramePr>
        <p:xfrm>
          <a:off x="1295400" y="781050"/>
          <a:ext cx="6215063" cy="585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3" imgW="6217920" imgH="6080760" progId="Word.Document.8">
                  <p:embed/>
                </p:oleObj>
              </mc:Choice>
              <mc:Fallback>
                <p:oleObj name="文件" r:id="rId3" imgW="6217920" imgH="6080760" progId="Word.Document.8">
                  <p:embed/>
                  <p:pic>
                    <p:nvPicPr>
                      <p:cNvPr id="706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781050"/>
                        <a:ext cx="6215063" cy="585281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295400" y="224135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Ví</a:t>
            </a:r>
            <a:r>
              <a:rPr lang="en-US" sz="2400" b="1" dirty="0"/>
              <a:t> </a:t>
            </a:r>
            <a:r>
              <a:rPr lang="en-US" sz="2400" b="1" dirty="0" err="1"/>
              <a:t>dụ</a:t>
            </a:r>
            <a:r>
              <a:rPr lang="en-US" sz="2400" b="1" dirty="0"/>
              <a:t> </a:t>
            </a:r>
            <a:r>
              <a:rPr lang="en-US" sz="2400" b="1" dirty="0" err="1"/>
              <a:t>tính</a:t>
            </a:r>
            <a:r>
              <a:rPr lang="en-US" sz="2400" b="1" dirty="0"/>
              <a:t> 6/2-3+4*2 </a:t>
            </a:r>
            <a:r>
              <a:rPr lang="en-US" sz="2400" b="1" dirty="0">
                <a:sym typeface="Wingdings"/>
              </a:rPr>
              <a:t> postfix: 62/3-42*+</a:t>
            </a:r>
            <a:endParaRPr lang="en-US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F44850-5059-6B48-A54A-5DF94F20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7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458191"/>
              </p:ext>
            </p:extLst>
          </p:nvPr>
        </p:nvGraphicFramePr>
        <p:xfrm>
          <a:off x="1524000" y="1981200"/>
          <a:ext cx="79375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3" imgW="7940040" imgH="4422140" progId="Word.Document.8">
                  <p:embed/>
                </p:oleObj>
              </mc:Choice>
              <mc:Fallback>
                <p:oleObj name="文件" r:id="rId3" imgW="7940040" imgH="4422140" progId="Word.Document.8">
                  <p:embed/>
                  <p:pic>
                    <p:nvPicPr>
                      <p:cNvPr id="849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81200"/>
                        <a:ext cx="7937500" cy="44005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393789" y="346075"/>
            <a:ext cx="73629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Thứ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tự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toán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hạng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trong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Infix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và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Postfix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không</a:t>
            </a:r>
            <a:r>
              <a:rPr kumimoji="1" lang="en-US" altLang="zh-TW" sz="2800" dirty="0">
                <a:solidFill>
                  <a:schemeClr val="tx2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chemeClr val="tx2"/>
                </a:solidFill>
                <a:ea typeface="新細明體" pitchFamily="18" charset="-120"/>
              </a:rPr>
              <a:t>đổi</a:t>
            </a:r>
            <a:endParaRPr kumimoji="1" lang="en-US" altLang="zh-TW" sz="2800" dirty="0">
              <a:solidFill>
                <a:schemeClr val="tx2"/>
              </a:solidFill>
              <a:ea typeface="新細明體" pitchFamily="18" charset="-120"/>
            </a:endParaRPr>
          </a:p>
          <a:p>
            <a:pPr algn="ctr" eaLnBrk="1" hangingPunct="1"/>
            <a:r>
              <a:rPr kumimoji="1" lang="en-US" altLang="zh-TW" sz="2800" dirty="0">
                <a:solidFill>
                  <a:srgbClr val="CC3300"/>
                </a:solidFill>
                <a:ea typeface="新細明體" pitchFamily="18" charset="-120"/>
              </a:rPr>
              <a:t>a + b * c, </a:t>
            </a:r>
            <a:r>
              <a:rPr kumimoji="1" lang="en-US" altLang="zh-TW" sz="2800" dirty="0" err="1">
                <a:solidFill>
                  <a:srgbClr val="CC3300"/>
                </a:solidFill>
                <a:ea typeface="新細明體" pitchFamily="18" charset="-120"/>
              </a:rPr>
              <a:t>độ</a:t>
            </a:r>
            <a:r>
              <a:rPr kumimoji="1" lang="en-US" altLang="zh-TW" sz="2800" dirty="0">
                <a:solidFill>
                  <a:srgbClr val="CC3300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rgbClr val="CC3300"/>
                </a:solidFill>
                <a:ea typeface="新細明體" pitchFamily="18" charset="-120"/>
              </a:rPr>
              <a:t>ưu</a:t>
            </a:r>
            <a:r>
              <a:rPr kumimoji="1" lang="en-US" altLang="zh-TW" sz="2800" dirty="0">
                <a:solidFill>
                  <a:srgbClr val="CC3300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rgbClr val="CC3300"/>
                </a:solidFill>
                <a:ea typeface="新細明體" pitchFamily="18" charset="-120"/>
              </a:rPr>
              <a:t>tiên</a:t>
            </a:r>
            <a:r>
              <a:rPr kumimoji="1" lang="en-US" altLang="zh-TW" sz="2800" dirty="0">
                <a:solidFill>
                  <a:srgbClr val="CC3300"/>
                </a:solidFill>
                <a:ea typeface="新細明體" pitchFamily="18" charset="-120"/>
              </a:rPr>
              <a:t> * </a:t>
            </a:r>
            <a:r>
              <a:rPr kumimoji="1" lang="en-US" altLang="zh-TW" sz="2800" dirty="0" err="1">
                <a:solidFill>
                  <a:srgbClr val="CC3300"/>
                </a:solidFill>
                <a:ea typeface="新細明體" pitchFamily="18" charset="-120"/>
              </a:rPr>
              <a:t>lớn</a:t>
            </a:r>
            <a:r>
              <a:rPr kumimoji="1" lang="en-US" altLang="zh-TW" sz="2800" dirty="0">
                <a:solidFill>
                  <a:srgbClr val="CC3300"/>
                </a:solidFill>
                <a:ea typeface="新細明體" pitchFamily="18" charset="-120"/>
              </a:rPr>
              <a:t> </a:t>
            </a:r>
            <a:r>
              <a:rPr kumimoji="1" lang="en-US" altLang="zh-TW" sz="2800" dirty="0" err="1">
                <a:solidFill>
                  <a:srgbClr val="CC3300"/>
                </a:solidFill>
                <a:ea typeface="新細明體" pitchFamily="18" charset="-120"/>
              </a:rPr>
              <a:t>hơn</a:t>
            </a:r>
            <a:r>
              <a:rPr kumimoji="1" lang="en-US" altLang="zh-TW" sz="2800" dirty="0">
                <a:solidFill>
                  <a:srgbClr val="CC3300"/>
                </a:solidFill>
                <a:ea typeface="新細明體" pitchFamily="18" charset="-120"/>
              </a:rPr>
              <a:t> +</a:t>
            </a:r>
            <a:endParaRPr kumimoji="1" lang="en-US" altLang="zh-TW" sz="2800" dirty="0">
              <a:solidFill>
                <a:schemeClr val="tx2"/>
              </a:solidFill>
              <a:ea typeface="新細明體" pitchFamily="18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265E1-0B82-414A-8234-F35E758D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84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389924"/>
              </p:ext>
            </p:extLst>
          </p:nvPr>
        </p:nvGraphicFramePr>
        <p:xfrm>
          <a:off x="1066800" y="1219200"/>
          <a:ext cx="6997700" cy="552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3" imgW="7007352" imgH="6291072" progId="Word.Document.8">
                  <p:embed/>
                </p:oleObj>
              </mc:Choice>
              <mc:Fallback>
                <p:oleObj name="文件" r:id="rId3" imgW="7007352" imgH="6291072" progId="Word.Document.8">
                  <p:embed/>
                  <p:pic>
                    <p:nvPicPr>
                      <p:cNvPr id="870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19200"/>
                        <a:ext cx="6997700" cy="55245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3751263" y="457200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kumimoji="1" lang="en-US" altLang="zh-TW" dirty="0">
                <a:solidFill>
                  <a:srgbClr val="C00000"/>
                </a:solidFill>
                <a:ea typeface="新細明體" pitchFamily="18" charset="-120"/>
              </a:rPr>
              <a:t>a *</a:t>
            </a:r>
            <a:r>
              <a:rPr kumimoji="1" lang="en-US" altLang="zh-TW" baseline="-25000" dirty="0">
                <a:solidFill>
                  <a:srgbClr val="C00000"/>
                </a:solidFill>
                <a:ea typeface="新細明體" pitchFamily="18" charset="-120"/>
              </a:rPr>
              <a:t>1</a:t>
            </a:r>
            <a:r>
              <a:rPr kumimoji="1" lang="en-US" altLang="zh-TW" dirty="0">
                <a:solidFill>
                  <a:srgbClr val="C00000"/>
                </a:solidFill>
                <a:ea typeface="新細明體" pitchFamily="18" charset="-120"/>
              </a:rPr>
              <a:t> (b +c) *</a:t>
            </a:r>
            <a:r>
              <a:rPr kumimoji="1" lang="en-US" altLang="zh-TW" baseline="-25000" dirty="0">
                <a:solidFill>
                  <a:srgbClr val="C00000"/>
                </a:solidFill>
                <a:ea typeface="新細明體" pitchFamily="18" charset="-120"/>
              </a:rPr>
              <a:t>2</a:t>
            </a:r>
            <a:r>
              <a:rPr kumimoji="1" lang="en-US" altLang="zh-TW" dirty="0">
                <a:solidFill>
                  <a:srgbClr val="C00000"/>
                </a:solidFill>
                <a:ea typeface="新細明體" pitchFamily="18" charset="-120"/>
              </a:rPr>
              <a:t> d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3857625" y="4359275"/>
            <a:ext cx="110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en-US" altLang="zh-TW">
                <a:solidFill>
                  <a:srgbClr val="CC3300"/>
                </a:solidFill>
                <a:ea typeface="新細明體" pitchFamily="18" charset="-120"/>
              </a:rPr>
              <a:t>match )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3895725" y="4803775"/>
            <a:ext cx="101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 dirty="0">
                <a:solidFill>
                  <a:srgbClr val="CC3300"/>
                </a:solidFill>
                <a:ea typeface="新細明體" pitchFamily="18" charset="-120"/>
              </a:rPr>
              <a:t>*</a:t>
            </a:r>
            <a:r>
              <a:rPr kumimoji="1" lang="zh-TW" altLang="en-US" baseline="-25000" dirty="0">
                <a:solidFill>
                  <a:srgbClr val="CC3300"/>
                </a:solidFill>
                <a:ea typeface="新細明體" pitchFamily="18" charset="-120"/>
              </a:rPr>
              <a:t>1</a:t>
            </a:r>
            <a:r>
              <a:rPr kumimoji="1" lang="zh-TW" altLang="en-US" dirty="0">
                <a:solidFill>
                  <a:srgbClr val="CC3300"/>
                </a:solidFill>
                <a:ea typeface="新細明體" pitchFamily="18" charset="-120"/>
              </a:rPr>
              <a:t> = *</a:t>
            </a:r>
            <a:r>
              <a:rPr kumimoji="1" lang="zh-TW" altLang="zh-TW" baseline="-25000" dirty="0">
                <a:solidFill>
                  <a:srgbClr val="CC3300"/>
                </a:solidFill>
                <a:ea typeface="新細明體" pitchFamily="18" charset="-120"/>
              </a:rPr>
              <a:t>2</a:t>
            </a:r>
            <a:endParaRPr kumimoji="1" lang="zh-TW" altLang="zh-TW" dirty="0">
              <a:solidFill>
                <a:srgbClr val="CC3300"/>
              </a:solidFill>
              <a:ea typeface="新細明體" pitchFamily="18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8056D-A760-0848-9F2B-CADE8574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37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5A3DB-ED34-4180-9019-77B0EBBE5C8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1073289"/>
            <a:ext cx="7924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stack </a:t>
            </a:r>
            <a:r>
              <a:rPr lang="en-US" sz="2400" b="1" i="1" dirty="0" err="1"/>
              <a:t>opStack</a:t>
            </a:r>
            <a:r>
              <a:rPr lang="en-US" sz="2400" dirty="0"/>
              <a:t> </a:t>
            </a:r>
            <a:r>
              <a:rPr lang="en-US" sz="2400" dirty="0" err="1"/>
              <a:t>rỗng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,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b="1" i="1" dirty="0"/>
              <a:t>list</a:t>
            </a:r>
            <a:r>
              <a:rPr lang="en-US" sz="2400" dirty="0"/>
              <a:t> </a:t>
            </a:r>
            <a:r>
              <a:rPr lang="en-US" sz="2400" dirty="0" err="1"/>
              <a:t>rỗng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(Postfix)</a:t>
            </a:r>
          </a:p>
          <a:p>
            <a:pPr algn="just"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dirty="0" err="1"/>
              <a:t>Tách</a:t>
            </a:r>
            <a:r>
              <a:rPr lang="en-US" sz="2400" dirty="0"/>
              <a:t> </a:t>
            </a:r>
            <a:r>
              <a:rPr lang="en-US" sz="2400" dirty="0" err="1"/>
              <a:t>chuỗi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Infix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b="1" i="1" dirty="0"/>
              <a:t>token</a:t>
            </a:r>
          </a:p>
          <a:p>
            <a:pPr algn="just"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b="1" i="1" dirty="0"/>
              <a:t>token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trái</a:t>
            </a:r>
            <a:r>
              <a:rPr lang="en-US" sz="2400" dirty="0"/>
              <a:t> sang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1 </a:t>
            </a:r>
            <a:r>
              <a:rPr lang="en-US" sz="2400" dirty="0" err="1"/>
              <a:t>trong</a:t>
            </a:r>
            <a:r>
              <a:rPr lang="en-US" sz="2400" dirty="0"/>
              <a:t> 4 TH:</a:t>
            </a:r>
          </a:p>
          <a:p>
            <a:pPr lvl="1" algn="just"/>
            <a:r>
              <a:rPr lang="en-US" sz="2400" dirty="0"/>
              <a:t>3.1.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b="1" i="1" dirty="0"/>
              <a:t>token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hạng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cuối</a:t>
            </a:r>
            <a:r>
              <a:rPr lang="en-US" sz="2400" dirty="0"/>
              <a:t> </a:t>
            </a:r>
            <a:r>
              <a:rPr lang="en-US" sz="2400" b="1" i="1" dirty="0"/>
              <a:t>list</a:t>
            </a:r>
          </a:p>
          <a:p>
            <a:pPr lvl="1" algn="just"/>
            <a:r>
              <a:rPr lang="en-US" sz="2400" i="1" dirty="0"/>
              <a:t>3.2.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b="1" i="1" dirty="0"/>
              <a:t>token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dấu</a:t>
            </a:r>
            <a:r>
              <a:rPr lang="en-US" sz="2400" dirty="0"/>
              <a:t> “(“ </a:t>
            </a:r>
            <a:r>
              <a:rPr lang="en-US" sz="2400" dirty="0" err="1"/>
              <a:t>thì</a:t>
            </a:r>
            <a:r>
              <a:rPr lang="en-US" sz="2400" dirty="0"/>
              <a:t> push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b="1" i="1" dirty="0" err="1"/>
              <a:t>opstack</a:t>
            </a:r>
            <a:endParaRPr lang="en-US" sz="2400" b="1" i="1" dirty="0"/>
          </a:p>
          <a:p>
            <a:pPr lvl="1" algn="just"/>
            <a:r>
              <a:rPr lang="en-US" sz="2400" dirty="0"/>
              <a:t>3.3.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b="1" i="1" dirty="0"/>
              <a:t>token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dấu</a:t>
            </a:r>
            <a:r>
              <a:rPr lang="en-US" sz="2400" dirty="0"/>
              <a:t> “)” </a:t>
            </a:r>
            <a:r>
              <a:rPr lang="en-US" sz="2400" dirty="0" err="1"/>
              <a:t>thì</a:t>
            </a:r>
            <a:r>
              <a:rPr lang="en-US" sz="2400" dirty="0"/>
              <a:t> pop </a:t>
            </a:r>
            <a:r>
              <a:rPr lang="en-US" sz="2400" b="1" i="1" dirty="0" err="1"/>
              <a:t>opStack</a:t>
            </a:r>
            <a:r>
              <a:rPr lang="en-US" sz="2400" dirty="0"/>
              <a:t> (</a:t>
            </a:r>
            <a:r>
              <a:rPr lang="en-US" sz="2400" i="1" dirty="0" err="1"/>
              <a:t>cho</a:t>
            </a:r>
            <a:r>
              <a:rPr lang="en-US" sz="2400" i="1" dirty="0"/>
              <a:t> </a:t>
            </a:r>
            <a:r>
              <a:rPr lang="en-US" sz="2400" i="1" dirty="0" err="1"/>
              <a:t>đến</a:t>
            </a:r>
            <a:r>
              <a:rPr lang="en-US" sz="2400" i="1" dirty="0"/>
              <a:t> </a:t>
            </a:r>
            <a:r>
              <a:rPr lang="en-US" sz="2400" i="1" dirty="0" err="1"/>
              <a:t>khi</a:t>
            </a:r>
            <a:r>
              <a:rPr lang="en-US" sz="2400" i="1" dirty="0"/>
              <a:t> </a:t>
            </a:r>
            <a:r>
              <a:rPr lang="en-US" sz="2400" i="1" dirty="0" err="1"/>
              <a:t>gặp</a:t>
            </a:r>
            <a:r>
              <a:rPr lang="en-US" sz="2400" i="1" dirty="0"/>
              <a:t> </a:t>
            </a:r>
            <a:r>
              <a:rPr lang="en-US" sz="2400" i="1" dirty="0" err="1"/>
              <a:t>dấu</a:t>
            </a:r>
            <a:r>
              <a:rPr lang="en-US" sz="2400" i="1" dirty="0"/>
              <a:t> “(“ </a:t>
            </a:r>
            <a:r>
              <a:rPr lang="en-US" sz="2400" i="1" dirty="0" err="1"/>
              <a:t>thì</a:t>
            </a:r>
            <a:r>
              <a:rPr lang="en-US" sz="2400" i="1" dirty="0"/>
              <a:t> </a:t>
            </a:r>
            <a:r>
              <a:rPr lang="en-US" sz="2400" i="1" dirty="0" err="1"/>
              <a:t>dừng</a:t>
            </a:r>
            <a:r>
              <a:rPr lang="en-US" sz="2400" dirty="0"/>
              <a:t>)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lượt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cuối </a:t>
            </a:r>
            <a:r>
              <a:rPr lang="en-US" sz="2400" b="1" i="1" dirty="0"/>
              <a:t>list</a:t>
            </a:r>
          </a:p>
          <a:p>
            <a:pPr lvl="1" algn="just"/>
            <a:r>
              <a:rPr lang="en-US" sz="2400" dirty="0"/>
              <a:t>3.4. </a:t>
            </a:r>
            <a:r>
              <a:rPr lang="en-US" sz="2400" dirty="0" err="1"/>
              <a:t>Nếu</a:t>
            </a:r>
            <a:r>
              <a:rPr lang="en-US" sz="2400" dirty="0"/>
              <a:t> token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(*, /, +, </a:t>
            </a:r>
            <a:r>
              <a:rPr lang="mr-IN" sz="2400" dirty="0"/>
              <a:t>–</a:t>
            </a:r>
            <a:r>
              <a:rPr lang="en-US" sz="2400" dirty="0"/>
              <a:t>, …) </a:t>
            </a:r>
            <a:r>
              <a:rPr lang="en-US" sz="2400" dirty="0" err="1"/>
              <a:t>thì</a:t>
            </a:r>
            <a:r>
              <a:rPr lang="en-US" sz="2400" dirty="0"/>
              <a:t>:</a:t>
            </a:r>
          </a:p>
          <a:p>
            <a:pPr lvl="1" algn="just"/>
            <a:r>
              <a:rPr lang="en-US" sz="2400" i="1" dirty="0"/>
              <a:t> + </a:t>
            </a:r>
            <a:r>
              <a:rPr lang="en-US" sz="2400" i="1" dirty="0" err="1"/>
              <a:t>Trong</a:t>
            </a:r>
            <a:r>
              <a:rPr lang="en-US" sz="2400" i="1" dirty="0"/>
              <a:t> </a:t>
            </a:r>
            <a:r>
              <a:rPr lang="en-US" sz="2400" i="1" dirty="0" err="1"/>
              <a:t>khi</a:t>
            </a:r>
            <a:r>
              <a:rPr lang="en-US" sz="2400" i="1" dirty="0"/>
              <a:t> </a:t>
            </a:r>
            <a:r>
              <a:rPr lang="en-US" sz="2400" i="1" dirty="0" err="1"/>
              <a:t>đỉnh</a:t>
            </a:r>
            <a:r>
              <a:rPr lang="en-US" sz="2400" i="1" dirty="0"/>
              <a:t> </a:t>
            </a:r>
            <a:r>
              <a:rPr lang="en-US" sz="2400" b="1" i="1" dirty="0" err="1"/>
              <a:t>opStack</a:t>
            </a:r>
            <a:r>
              <a:rPr lang="en-US" sz="2400" i="1" dirty="0"/>
              <a:t>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độ</a:t>
            </a:r>
            <a:r>
              <a:rPr lang="en-US" sz="2400" i="1" dirty="0"/>
              <a:t> </a:t>
            </a:r>
            <a:r>
              <a:rPr lang="vi-VN" sz="2400" i="1" dirty="0"/>
              <a:t>ư</a:t>
            </a:r>
            <a:r>
              <a:rPr lang="en-US" sz="2400" i="1" dirty="0"/>
              <a:t>u </a:t>
            </a:r>
            <a:r>
              <a:rPr lang="en-US" sz="2400" i="1" dirty="0" err="1"/>
              <a:t>tiên</a:t>
            </a:r>
            <a:r>
              <a:rPr lang="en-US" sz="2400" i="1" dirty="0"/>
              <a:t> ≥ </a:t>
            </a:r>
            <a:r>
              <a:rPr lang="en-US" sz="2400" i="1" dirty="0" err="1"/>
              <a:t>độ</a:t>
            </a:r>
            <a:r>
              <a:rPr lang="en-US" sz="2400" i="1" dirty="0"/>
              <a:t> </a:t>
            </a:r>
            <a:r>
              <a:rPr lang="en-US" sz="2400" i="1" dirty="0" err="1"/>
              <a:t>ưu</a:t>
            </a:r>
            <a:r>
              <a:rPr lang="en-US" sz="2400" i="1" dirty="0"/>
              <a:t> </a:t>
            </a:r>
            <a:r>
              <a:rPr lang="en-US" sz="2400" i="1" dirty="0" err="1"/>
              <a:t>tiên</a:t>
            </a:r>
            <a:r>
              <a:rPr lang="en-US" sz="2400" i="1" dirty="0"/>
              <a:t> </a:t>
            </a:r>
            <a:r>
              <a:rPr lang="en-US" sz="2400" i="1" dirty="0" err="1"/>
              <a:t>của</a:t>
            </a:r>
            <a:r>
              <a:rPr lang="en-US" sz="2400" i="1" dirty="0"/>
              <a:t> </a:t>
            </a:r>
            <a:r>
              <a:rPr lang="en-US" sz="2400" b="1" i="1" dirty="0"/>
              <a:t>token</a:t>
            </a:r>
            <a:r>
              <a:rPr lang="en-US" sz="2400" i="1" dirty="0"/>
              <a:t> </a:t>
            </a:r>
            <a:r>
              <a:rPr lang="en-US" sz="2400" i="1" dirty="0" err="1"/>
              <a:t>thì</a:t>
            </a:r>
            <a:r>
              <a:rPr lang="en-US" sz="2400" i="1" dirty="0"/>
              <a:t> </a:t>
            </a:r>
            <a:r>
              <a:rPr lang="en-US" sz="2400" b="1" i="1" u="sng" dirty="0"/>
              <a:t>pop </a:t>
            </a:r>
            <a:r>
              <a:rPr lang="en-US" sz="2400" b="1" i="1" u="sng" dirty="0" err="1"/>
              <a:t>opStack</a:t>
            </a:r>
            <a:r>
              <a:rPr lang="en-US" sz="2400" i="1" dirty="0"/>
              <a:t> </a:t>
            </a:r>
            <a:r>
              <a:rPr lang="en-US" sz="2400" i="1" dirty="0" err="1"/>
              <a:t>lần</a:t>
            </a:r>
            <a:r>
              <a:rPr lang="en-US" sz="2400" i="1" dirty="0"/>
              <a:t> </a:t>
            </a:r>
            <a:r>
              <a:rPr lang="en-US" sz="2400" i="1" dirty="0" err="1"/>
              <a:t>lượt</a:t>
            </a:r>
            <a:r>
              <a:rPr lang="en-US" sz="2400" i="1" dirty="0"/>
              <a:t> </a:t>
            </a:r>
            <a:r>
              <a:rPr lang="en-US" sz="2400" i="1" dirty="0" err="1"/>
              <a:t>thêm</a:t>
            </a:r>
            <a:r>
              <a:rPr lang="en-US" sz="2400" i="1" dirty="0"/>
              <a:t> </a:t>
            </a:r>
            <a:r>
              <a:rPr lang="en-US" sz="2400" i="1" dirty="0" err="1"/>
              <a:t>vào</a:t>
            </a:r>
            <a:r>
              <a:rPr lang="en-US" sz="2400" i="1" dirty="0"/>
              <a:t> </a:t>
            </a:r>
            <a:r>
              <a:rPr lang="en-US" sz="2400" i="1" dirty="0" err="1"/>
              <a:t>sau</a:t>
            </a:r>
            <a:r>
              <a:rPr lang="en-US" sz="2400" i="1" dirty="0"/>
              <a:t> list. Cuối </a:t>
            </a:r>
            <a:r>
              <a:rPr lang="en-US" sz="2400" i="1" dirty="0" err="1"/>
              <a:t>cùng</a:t>
            </a:r>
            <a:r>
              <a:rPr lang="en-US" sz="2400" i="1" dirty="0"/>
              <a:t> </a:t>
            </a:r>
            <a:r>
              <a:rPr lang="en-US" sz="2400" b="1" i="1" u="sng" dirty="0"/>
              <a:t>push token</a:t>
            </a:r>
            <a:r>
              <a:rPr lang="en-US" sz="2400" i="1" dirty="0"/>
              <a:t> </a:t>
            </a:r>
            <a:r>
              <a:rPr lang="en-US" sz="2400" i="1" dirty="0" err="1"/>
              <a:t>vào</a:t>
            </a:r>
            <a:r>
              <a:rPr lang="en-US" sz="2400" i="1" dirty="0"/>
              <a:t> </a:t>
            </a:r>
            <a:r>
              <a:rPr lang="en-US" sz="2400" i="1" dirty="0" err="1"/>
              <a:t>opStack</a:t>
            </a:r>
            <a:endParaRPr lang="en-US" sz="2400" i="1" dirty="0"/>
          </a:p>
          <a:p>
            <a:pPr lvl="1" algn="just"/>
            <a:r>
              <a:rPr lang="en-US" sz="2400" i="1" dirty="0"/>
              <a:t> + Ng</a:t>
            </a:r>
            <a:r>
              <a:rPr lang="vi-VN" sz="2400" i="1" dirty="0"/>
              <a:t>ư</a:t>
            </a:r>
            <a:r>
              <a:rPr lang="en-US" sz="2400" i="1" dirty="0" err="1"/>
              <a:t>ợc</a:t>
            </a:r>
            <a:r>
              <a:rPr lang="en-US" sz="2400" i="1" dirty="0"/>
              <a:t> </a:t>
            </a:r>
            <a:r>
              <a:rPr lang="en-US" sz="2400" i="1" dirty="0" err="1"/>
              <a:t>lại</a:t>
            </a:r>
            <a:r>
              <a:rPr lang="en-US" sz="2400" i="1" dirty="0"/>
              <a:t> </a:t>
            </a:r>
            <a:r>
              <a:rPr lang="en-US" sz="2400" b="1" i="1" u="sng" dirty="0"/>
              <a:t>push token </a:t>
            </a:r>
            <a:r>
              <a:rPr lang="en-US" sz="2400" i="1" dirty="0" err="1"/>
              <a:t>vào</a:t>
            </a:r>
            <a:r>
              <a:rPr lang="en-US" sz="2400" i="1" dirty="0"/>
              <a:t> </a:t>
            </a:r>
            <a:r>
              <a:rPr lang="en-US" sz="2400" i="1" dirty="0" err="1"/>
              <a:t>opStack</a:t>
            </a:r>
            <a:endParaRPr lang="en-US" sz="2400" i="1" dirty="0"/>
          </a:p>
          <a:p>
            <a:pPr algn="just"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hết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b="1" i="1" dirty="0"/>
              <a:t>token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pop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b="1" i="1" dirty="0" err="1"/>
              <a:t>opStack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lượt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cuối</a:t>
            </a:r>
            <a:r>
              <a:rPr lang="en-US" sz="2400" dirty="0"/>
              <a:t> </a:t>
            </a:r>
            <a:r>
              <a:rPr lang="en-US" sz="2400" b="1" i="1" dirty="0"/>
              <a:t>list</a:t>
            </a:r>
            <a:endParaRPr lang="en-US" sz="2400" b="1" i="1" dirty="0">
              <a:effectLst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A7AD05-034D-804E-9337-05B34A1905C7}"/>
              </a:ext>
            </a:extLst>
          </p:cNvPr>
          <p:cNvSpPr txBox="1">
            <a:spLocks/>
          </p:cNvSpPr>
          <p:nvPr/>
        </p:nvSpPr>
        <p:spPr>
          <a:xfrm>
            <a:off x="856060" y="618518"/>
            <a:ext cx="7429499" cy="10293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CHUYỂN INFIX SANG POSTFIX</a:t>
            </a:r>
          </a:p>
        </p:txBody>
      </p:sp>
    </p:spTree>
    <p:extLst>
      <p:ext uri="{BB962C8B-B14F-4D97-AF65-F5344CB8AC3E}">
        <p14:creationId xmlns:p14="http://schemas.microsoft.com/office/powerpoint/2010/main" val="1666614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457201" y="1752600"/>
            <a:ext cx="80772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kumimoji="1" lang="zh-TW" altLang="en-US" sz="2600" dirty="0">
                <a:ea typeface="新細明體" pitchFamily="18" charset="-120"/>
              </a:rPr>
              <a:t>(1) </a:t>
            </a:r>
            <a:r>
              <a:rPr kumimoji="1" lang="en-US" altLang="zh-TW" sz="2600" dirty="0" err="1">
                <a:ea typeface="新細明體" pitchFamily="18" charset="-120"/>
              </a:rPr>
              <a:t>Toán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tử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được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lấy</a:t>
            </a:r>
            <a:r>
              <a:rPr kumimoji="1" lang="en-US" altLang="zh-TW" sz="2600" dirty="0">
                <a:ea typeface="新細明體" pitchFamily="18" charset="-120"/>
              </a:rPr>
              <a:t> ra </a:t>
            </a:r>
            <a:r>
              <a:rPr kumimoji="1" lang="en-US" altLang="zh-TW" sz="2600" dirty="0" err="1">
                <a:ea typeface="新細明體" pitchFamily="18" charset="-120"/>
              </a:rPr>
              <a:t>khỏi</a:t>
            </a:r>
            <a:r>
              <a:rPr kumimoji="1" lang="en-US" altLang="zh-TW" sz="2600" dirty="0">
                <a:ea typeface="新細明體" pitchFamily="18" charset="-120"/>
              </a:rPr>
              <a:t> stack </a:t>
            </a:r>
            <a:r>
              <a:rPr kumimoji="1" lang="en-US" altLang="zh-TW" sz="2600" dirty="0" err="1">
                <a:ea typeface="新細明體" pitchFamily="18" charset="-120"/>
              </a:rPr>
              <a:t>khi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độ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ưu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tiên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trong</a:t>
            </a:r>
            <a:r>
              <a:rPr kumimoji="1" lang="en-US" altLang="zh-TW" sz="2600" dirty="0">
                <a:ea typeface="新細明體" pitchFamily="18" charset="-120"/>
              </a:rPr>
              <a:t> stack (</a:t>
            </a:r>
            <a:r>
              <a:rPr kumimoji="1" lang="en-US" altLang="zh-TW" sz="2600" b="1" dirty="0" err="1">
                <a:ea typeface="新細明體" pitchFamily="18" charset="-120"/>
              </a:rPr>
              <a:t>isp</a:t>
            </a:r>
            <a:r>
              <a:rPr kumimoji="1" lang="en-US" altLang="zh-TW" sz="2600" b="1" dirty="0">
                <a:ea typeface="新細明體" pitchFamily="18" charset="-120"/>
              </a:rPr>
              <a:t>: in-stack precedence)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>
                <a:ea typeface="新細明體" pitchFamily="18" charset="-120"/>
                <a:sym typeface="Symbol" panose="05050102010706020507" pitchFamily="18" charset="2"/>
              </a:rPr>
              <a:t> </a:t>
            </a:r>
            <a:r>
              <a:rPr kumimoji="1" lang="en-US" altLang="zh-TW" sz="2600" dirty="0" err="1">
                <a:ea typeface="新細明體" pitchFamily="18" charset="-120"/>
              </a:rPr>
              <a:t>độ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ưu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tiên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của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toán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tử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đang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xét</a:t>
            </a:r>
            <a:r>
              <a:rPr kumimoji="1" lang="en-US" altLang="zh-TW" sz="2600" dirty="0">
                <a:ea typeface="新細明體" pitchFamily="18" charset="-120"/>
              </a:rPr>
              <a:t> (</a:t>
            </a:r>
            <a:r>
              <a:rPr kumimoji="1" lang="en-US" altLang="zh-TW" sz="2600" b="1" dirty="0" err="1">
                <a:ea typeface="新細明體" pitchFamily="18" charset="-120"/>
              </a:rPr>
              <a:t>icp</a:t>
            </a:r>
            <a:r>
              <a:rPr kumimoji="1" lang="en-US" altLang="zh-TW" sz="2600" b="1" dirty="0">
                <a:ea typeface="新細明體" pitchFamily="18" charset="-120"/>
              </a:rPr>
              <a:t>: incoming precedence)</a:t>
            </a:r>
            <a:endParaRPr kumimoji="1" lang="en-US" altLang="zh-TW" sz="2600" dirty="0">
              <a:ea typeface="新細明體" pitchFamily="18" charset="-120"/>
            </a:endParaRPr>
          </a:p>
          <a:p>
            <a:pPr algn="just" eaLnBrk="1" hangingPunct="1"/>
            <a:r>
              <a:rPr kumimoji="1" lang="en-US" altLang="zh-TW" sz="2600" dirty="0">
                <a:ea typeface="新細明體" pitchFamily="18" charset="-120"/>
              </a:rPr>
              <a:t>(2) </a:t>
            </a:r>
            <a:r>
              <a:rPr kumimoji="1" lang="en-US" altLang="zh-TW" sz="2600" dirty="0" err="1">
                <a:ea typeface="新細明體" pitchFamily="18" charset="-120"/>
              </a:rPr>
              <a:t>Dấu</a:t>
            </a:r>
            <a:r>
              <a:rPr kumimoji="1" lang="en-US" altLang="zh-TW" sz="2600" dirty="0">
                <a:ea typeface="新細明體" pitchFamily="18" charset="-120"/>
              </a:rPr>
              <a:t> (  </a:t>
            </a:r>
            <a:r>
              <a:rPr kumimoji="1" lang="en-US" altLang="zh-TW" sz="2600" dirty="0" err="1">
                <a:ea typeface="新細明體" pitchFamily="18" charset="-120"/>
              </a:rPr>
              <a:t>có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độ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ưu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tiên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trong</a:t>
            </a:r>
            <a:r>
              <a:rPr kumimoji="1" lang="en-US" altLang="zh-TW" sz="2600" dirty="0">
                <a:ea typeface="新細明體" pitchFamily="18" charset="-120"/>
              </a:rPr>
              <a:t> stack </a:t>
            </a:r>
            <a:r>
              <a:rPr kumimoji="1" lang="en-US" altLang="zh-TW" sz="2600" dirty="0" err="1">
                <a:ea typeface="新細明體" pitchFamily="18" charset="-120"/>
              </a:rPr>
              <a:t>thấp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và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độ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ưu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tiên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đang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xét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cao</a:t>
            </a:r>
            <a:endParaRPr kumimoji="1" lang="en-US" altLang="zh-TW" sz="2600" dirty="0">
              <a:ea typeface="新細明體" pitchFamily="18" charset="-120"/>
            </a:endParaRPr>
          </a:p>
          <a:p>
            <a:pPr algn="just" eaLnBrk="1" hangingPunct="1"/>
            <a:endParaRPr kumimoji="1" lang="en-US" altLang="zh-TW" sz="2600" dirty="0">
              <a:ea typeface="新細明體" pitchFamily="18" charset="-120"/>
            </a:endParaRPr>
          </a:p>
          <a:p>
            <a:pPr algn="just" eaLnBrk="1" hangingPunct="1"/>
            <a:r>
              <a:rPr kumimoji="1" lang="en-US" altLang="zh-TW" sz="2600" dirty="0">
                <a:ea typeface="新細明體" pitchFamily="18" charset="-120"/>
              </a:rPr>
              <a:t>	(	)	+	-	*	/	%	</a:t>
            </a:r>
            <a:r>
              <a:rPr kumimoji="1" lang="en-US" altLang="zh-TW" sz="2600" dirty="0" err="1">
                <a:ea typeface="新細明體" pitchFamily="18" charset="-120"/>
              </a:rPr>
              <a:t>eos</a:t>
            </a:r>
            <a:endParaRPr kumimoji="1" lang="en-US" altLang="zh-TW" sz="2600" dirty="0">
              <a:ea typeface="新細明體" pitchFamily="18" charset="-120"/>
            </a:endParaRPr>
          </a:p>
          <a:p>
            <a:pPr algn="just" eaLnBrk="1" hangingPunct="1"/>
            <a:r>
              <a:rPr kumimoji="1" lang="en-US" altLang="zh-TW" sz="2600" b="1" dirty="0" err="1">
                <a:ea typeface="新細明體" pitchFamily="18" charset="-120"/>
              </a:rPr>
              <a:t>isp</a:t>
            </a:r>
            <a:r>
              <a:rPr kumimoji="1" lang="en-US" altLang="zh-TW" sz="2600" dirty="0">
                <a:ea typeface="新細明體" pitchFamily="18" charset="-120"/>
              </a:rPr>
              <a:t>	0 	19	12 	12	13	13	13	0</a:t>
            </a:r>
          </a:p>
          <a:p>
            <a:pPr algn="just" eaLnBrk="1" hangingPunct="1"/>
            <a:r>
              <a:rPr kumimoji="1" lang="en-US" altLang="zh-TW" sz="2600" b="1" dirty="0" err="1">
                <a:ea typeface="新細明體" pitchFamily="18" charset="-120"/>
              </a:rPr>
              <a:t>icp</a:t>
            </a:r>
            <a:r>
              <a:rPr kumimoji="1" lang="en-US" altLang="zh-TW" sz="2600" dirty="0">
                <a:ea typeface="新細明體" pitchFamily="18" charset="-120"/>
              </a:rPr>
              <a:t>	20	19	12	12	13	13	13	0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533400" y="22860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tiên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2A2A3-72FF-FD4E-AA4A-D3314239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62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457201" y="1752600"/>
            <a:ext cx="80772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kumimoji="1" lang="en-US" altLang="zh-TW" sz="2600" dirty="0">
                <a:ea typeface="新細明體" pitchFamily="18" charset="-120"/>
              </a:rPr>
              <a:t>Cho </a:t>
            </a:r>
            <a:r>
              <a:rPr kumimoji="1" lang="en-US" altLang="zh-TW" sz="2600" dirty="0" err="1">
                <a:ea typeface="新細明體" pitchFamily="18" charset="-120"/>
              </a:rPr>
              <a:t>biểu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thức</a:t>
            </a:r>
            <a:r>
              <a:rPr kumimoji="1" lang="en-US" altLang="zh-TW" sz="2600" dirty="0">
                <a:ea typeface="新細明體" pitchFamily="18" charset="-120"/>
              </a:rPr>
              <a:t> Infix:</a:t>
            </a:r>
          </a:p>
          <a:p>
            <a:pPr algn="ctr" eaLnBrk="1" hangingPunct="1"/>
            <a:r>
              <a:rPr kumimoji="1" lang="en-US" altLang="zh-TW" sz="2600" dirty="0">
                <a:ea typeface="新細明體" pitchFamily="18" charset="-120"/>
              </a:rPr>
              <a:t>10 * 2 + (5 * ( 8 + 4 ) ) - 3</a:t>
            </a:r>
          </a:p>
          <a:p>
            <a:pPr marL="457200" indent="-457200" eaLnBrk="1" hangingPunct="1">
              <a:buFont typeface="Arial" charset="0"/>
              <a:buChar char="•"/>
            </a:pPr>
            <a:r>
              <a:rPr kumimoji="1" lang="en-US" altLang="zh-TW" sz="2600" dirty="0" err="1">
                <a:ea typeface="新細明體" pitchFamily="18" charset="-120"/>
              </a:rPr>
              <a:t>Chuyển</a:t>
            </a:r>
            <a:r>
              <a:rPr kumimoji="1" lang="en-US" altLang="zh-TW" sz="2600" dirty="0">
                <a:ea typeface="新細明體" pitchFamily="18" charset="-120"/>
              </a:rPr>
              <a:t> sang </a:t>
            </a:r>
            <a:r>
              <a:rPr kumimoji="1" lang="en-US" altLang="zh-TW" sz="2600" dirty="0" err="1">
                <a:ea typeface="新細明體" pitchFamily="18" charset="-120"/>
              </a:rPr>
              <a:t>dạng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Postfix</a:t>
            </a:r>
          </a:p>
          <a:p>
            <a:pPr marL="457200" indent="-457200" eaLnBrk="1" hangingPunct="1">
              <a:buFont typeface="Arial" charset="0"/>
              <a:buChar char="•"/>
            </a:pPr>
            <a:r>
              <a:rPr kumimoji="1" lang="en-US" altLang="zh-TW" sz="2600" dirty="0" err="1">
                <a:ea typeface="新細明體" pitchFamily="18" charset="-120"/>
              </a:rPr>
              <a:t>Mô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phỏng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quá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ea typeface="新細明體" pitchFamily="18" charset="-120"/>
              </a:rPr>
              <a:t>trình</a:t>
            </a:r>
            <a:r>
              <a:rPr kumimoji="1" lang="en-US" altLang="zh-TW" sz="2600" dirty="0"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solidFill>
                  <a:srgbClr val="FF0000"/>
                </a:solidFill>
                <a:ea typeface="新細明體" pitchFamily="18" charset="-120"/>
              </a:rPr>
              <a:t>tính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solidFill>
                  <a:srgbClr val="FF0000"/>
                </a:solidFill>
                <a:ea typeface="新細明體" pitchFamily="18" charset="-120"/>
              </a:rPr>
              <a:t>giá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solidFill>
                  <a:srgbClr val="FF0000"/>
                </a:solidFill>
                <a:ea typeface="新細明體" pitchFamily="18" charset="-120"/>
              </a:rPr>
              <a:t>trị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solidFill>
                  <a:srgbClr val="FF0000"/>
                </a:solidFill>
                <a:ea typeface="新細明體" pitchFamily="18" charset="-120"/>
              </a:rPr>
              <a:t>của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solidFill>
                  <a:srgbClr val="FF0000"/>
                </a:solidFill>
                <a:ea typeface="新細明體" pitchFamily="18" charset="-120"/>
              </a:rPr>
              <a:t>biểu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kumimoji="1" lang="en-US" altLang="zh-TW" sz="2600" dirty="0" err="1">
                <a:solidFill>
                  <a:srgbClr val="FF0000"/>
                </a:solidFill>
                <a:ea typeface="新細明體" pitchFamily="18" charset="-120"/>
              </a:rPr>
              <a:t>thức</a:t>
            </a:r>
            <a:r>
              <a:rPr kumimoji="1" lang="en-US" altLang="zh-TW" sz="2600" dirty="0">
                <a:solidFill>
                  <a:srgbClr val="FF0000"/>
                </a:solidFill>
                <a:ea typeface="新細明體" pitchFamily="18" charset="-120"/>
              </a:rPr>
              <a:t> Postfix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533400" y="22860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4000" dirty="0" err="1">
                <a:cs typeface="Times New Roman" panose="02020603050405020304" pitchFamily="18" charset="0"/>
              </a:rPr>
              <a:t>Bài</a:t>
            </a:r>
            <a:r>
              <a:rPr lang="en-US" altLang="en-US" sz="4000" dirty="0"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cs typeface="Times New Roman" panose="02020603050405020304" pitchFamily="18" charset="0"/>
              </a:rPr>
              <a:t>tập</a:t>
            </a:r>
            <a:endParaRPr lang="en-US" alt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953C3-A7D5-4609-99EB-6702A6BBC81F}"/>
              </a:ext>
            </a:extLst>
          </p:cNvPr>
          <p:cNvSpPr/>
          <p:nvPr/>
        </p:nvSpPr>
        <p:spPr>
          <a:xfrm>
            <a:off x="2560463" y="5604172"/>
            <a:ext cx="3870675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Postfix: </a:t>
            </a:r>
            <a:r>
              <a:rPr lang="en-US" sz="2400" b="1" dirty="0">
                <a:solidFill>
                  <a:schemeClr val="accent5"/>
                </a:solidFill>
              </a:rPr>
              <a:t>10 2 * 5 8 4 + * + 3 -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73450-5B64-8D4A-881C-4727409E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9E84D-9B2C-4093-9818-C4863231A08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45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Cách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kiểm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tra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xem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chuyển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Infix 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Postfix?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122B51-8D6B-7644-AA8C-1E38ACF5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1B2DE-B1C9-4C92-8DE9-E8A227818FE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628650" y="1793875"/>
            <a:ext cx="770021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 dirty="0">
                <a:ea typeface="新細明體" pitchFamily="18" charset="-120"/>
              </a:rPr>
              <a:t>(1) </a:t>
            </a:r>
            <a:r>
              <a:rPr kumimoji="1" lang="en-US" altLang="zh-TW" dirty="0" err="1">
                <a:ea typeface="新細明體" pitchFamily="18" charset="-120"/>
              </a:rPr>
              <a:t>Biểu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thức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đầy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đủ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dấu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ngoặc</a:t>
            </a:r>
            <a:endParaRPr kumimoji="1" lang="en-US" altLang="zh-TW" dirty="0">
              <a:ea typeface="新細明體" pitchFamily="18" charset="-120"/>
            </a:endParaRPr>
          </a:p>
          <a:p>
            <a:pPr eaLnBrk="1" hangingPunct="1"/>
            <a:r>
              <a:rPr kumimoji="1" lang="en-US" altLang="zh-TW" dirty="0">
                <a:solidFill>
                  <a:srgbClr val="CC3300"/>
                </a:solidFill>
                <a:ea typeface="新細明體" pitchFamily="18" charset="-120"/>
              </a:rPr>
              <a:t>		a / b - c + d * e - a * c --&gt;</a:t>
            </a:r>
          </a:p>
          <a:p>
            <a:pPr eaLnBrk="1" hangingPunct="1"/>
            <a:r>
              <a:rPr kumimoji="1" lang="en-US" altLang="zh-TW" dirty="0">
                <a:solidFill>
                  <a:srgbClr val="CC3300"/>
                </a:solidFill>
                <a:ea typeface="新細明體" pitchFamily="18" charset="-120"/>
              </a:rPr>
              <a:t>		((((a / b) - c) + (d * e)) – (a * c))</a:t>
            </a:r>
          </a:p>
          <a:p>
            <a:pPr marL="457200" indent="-457200" eaLnBrk="1" hangingPunct="1">
              <a:buAutoNum type="arabicParenBoth" startAt="2"/>
            </a:pPr>
            <a:r>
              <a:rPr kumimoji="1" lang="en-US" altLang="zh-TW" dirty="0" err="1">
                <a:ea typeface="新細明體" pitchFamily="18" charset="-120"/>
              </a:rPr>
              <a:t>Tất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cả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phép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toán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đặt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bên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phải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dấu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ngoặc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tương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ứng</a:t>
            </a:r>
            <a:endParaRPr kumimoji="1" lang="en-US" altLang="zh-TW" dirty="0">
              <a:ea typeface="新細明體" pitchFamily="18" charset="-120"/>
            </a:endParaRPr>
          </a:p>
          <a:p>
            <a:pPr eaLnBrk="1" hangingPunct="1"/>
            <a:r>
              <a:rPr kumimoji="1" lang="en-US" altLang="zh-TW" dirty="0">
                <a:ea typeface="新細明體" pitchFamily="18" charset="-120"/>
              </a:rPr>
              <a:t>		 </a:t>
            </a:r>
            <a:r>
              <a:rPr kumimoji="1" lang="en-US" altLang="zh-TW" dirty="0">
                <a:solidFill>
                  <a:srgbClr val="CC3300"/>
                </a:solidFill>
                <a:ea typeface="新細明體" pitchFamily="18" charset="-120"/>
              </a:rPr>
              <a:t>((((a / b) - c) + (d * e)) – (a * c))</a:t>
            </a:r>
          </a:p>
          <a:p>
            <a:pPr eaLnBrk="1" hangingPunct="1"/>
            <a:endParaRPr kumimoji="1" lang="en-US" altLang="zh-TW" dirty="0">
              <a:solidFill>
                <a:srgbClr val="CC3300"/>
              </a:solidFill>
              <a:ea typeface="新細明體" pitchFamily="18" charset="-120"/>
            </a:endParaRPr>
          </a:p>
          <a:p>
            <a:pPr eaLnBrk="1" hangingPunct="1"/>
            <a:endParaRPr kumimoji="1" lang="en-US" altLang="zh-TW" dirty="0">
              <a:solidFill>
                <a:srgbClr val="CC3300"/>
              </a:solidFill>
              <a:ea typeface="新細明體" pitchFamily="18" charset="-120"/>
            </a:endParaRPr>
          </a:p>
          <a:p>
            <a:pPr eaLnBrk="1" hangingPunct="1"/>
            <a:r>
              <a:rPr kumimoji="1" lang="en-US" altLang="zh-TW" dirty="0">
                <a:ea typeface="新細明體" pitchFamily="18" charset="-120"/>
              </a:rPr>
              <a:t>(3) </a:t>
            </a:r>
            <a:r>
              <a:rPr kumimoji="1" lang="en-US" altLang="zh-TW" dirty="0" err="1">
                <a:ea typeface="新細明體" pitchFamily="18" charset="-120"/>
              </a:rPr>
              <a:t>Xoá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tất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cả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dấu</a:t>
            </a:r>
            <a:r>
              <a:rPr kumimoji="1" lang="en-US" altLang="zh-TW" dirty="0">
                <a:ea typeface="新細明體" pitchFamily="18" charset="-120"/>
              </a:rPr>
              <a:t> </a:t>
            </a:r>
            <a:r>
              <a:rPr kumimoji="1" lang="en-US" altLang="zh-TW" dirty="0" err="1">
                <a:ea typeface="新細明體" pitchFamily="18" charset="-120"/>
              </a:rPr>
              <a:t>ngoặc</a:t>
            </a:r>
            <a:endParaRPr kumimoji="1" lang="en-US" altLang="zh-TW" dirty="0">
              <a:ea typeface="新細明體" pitchFamily="18" charset="-120"/>
            </a:endParaRPr>
          </a:p>
          <a:p>
            <a:pPr eaLnBrk="1" hangingPunct="1"/>
            <a:r>
              <a:rPr kumimoji="1" lang="en-US" altLang="zh-TW" dirty="0">
                <a:ea typeface="新細明體" pitchFamily="18" charset="-120"/>
              </a:rPr>
              <a:t>	</a:t>
            </a:r>
            <a:r>
              <a:rPr kumimoji="1" lang="en-US" altLang="zh-TW" dirty="0">
                <a:solidFill>
                  <a:srgbClr val="CC3300"/>
                </a:solidFill>
                <a:ea typeface="新細明體" pitchFamily="18" charset="-120"/>
              </a:rPr>
              <a:t>	ab/c-de*+ac*-	         </a:t>
            </a:r>
          </a:p>
        </p:txBody>
      </p:sp>
      <p:sp>
        <p:nvSpPr>
          <p:cNvPr id="82948" name="Line 4"/>
          <p:cNvSpPr>
            <a:spLocks noChangeShapeType="1"/>
          </p:cNvSpPr>
          <p:nvPr/>
        </p:nvSpPr>
        <p:spPr bwMode="auto">
          <a:xfrm>
            <a:off x="2438400" y="36703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2452688" y="3975100"/>
            <a:ext cx="33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0" name="Line 6"/>
          <p:cNvSpPr>
            <a:spLocks noChangeShapeType="1"/>
          </p:cNvSpPr>
          <p:nvPr/>
        </p:nvSpPr>
        <p:spPr bwMode="auto">
          <a:xfrm flipV="1">
            <a:off x="2730500" y="3657600"/>
            <a:ext cx="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1" name="Line 7"/>
          <p:cNvSpPr>
            <a:spLocks noChangeShapeType="1"/>
          </p:cNvSpPr>
          <p:nvPr/>
        </p:nvSpPr>
        <p:spPr bwMode="auto">
          <a:xfrm>
            <a:off x="3009900" y="3708400"/>
            <a:ext cx="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048000" y="3962400"/>
            <a:ext cx="29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 flipV="1">
            <a:off x="3276600" y="36449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4" name="Line 10"/>
          <p:cNvSpPr>
            <a:spLocks noChangeShapeType="1"/>
          </p:cNvSpPr>
          <p:nvPr/>
        </p:nvSpPr>
        <p:spPr bwMode="auto">
          <a:xfrm>
            <a:off x="4022725" y="3540125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5" name="Line 11"/>
          <p:cNvSpPr>
            <a:spLocks noChangeShapeType="1"/>
          </p:cNvSpPr>
          <p:nvPr/>
        </p:nvSpPr>
        <p:spPr bwMode="auto">
          <a:xfrm>
            <a:off x="4022725" y="3883025"/>
            <a:ext cx="33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6" name="Line 12"/>
          <p:cNvSpPr>
            <a:spLocks noChangeShapeType="1"/>
          </p:cNvSpPr>
          <p:nvPr/>
        </p:nvSpPr>
        <p:spPr bwMode="auto">
          <a:xfrm flipV="1">
            <a:off x="4340225" y="3552825"/>
            <a:ext cx="0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7" name="Line 13"/>
          <p:cNvSpPr>
            <a:spLocks noChangeShapeType="1"/>
          </p:cNvSpPr>
          <p:nvPr/>
        </p:nvSpPr>
        <p:spPr bwMode="auto">
          <a:xfrm>
            <a:off x="3429000" y="36322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8" name="Line 14"/>
          <p:cNvSpPr>
            <a:spLocks noChangeShapeType="1"/>
          </p:cNvSpPr>
          <p:nvPr/>
        </p:nvSpPr>
        <p:spPr bwMode="auto">
          <a:xfrm flipV="1">
            <a:off x="3429000" y="4076700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 flipV="1">
            <a:off x="4432300" y="3581400"/>
            <a:ext cx="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>
            <a:off x="5283200" y="3556000"/>
            <a:ext cx="0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>
            <a:off x="5270500" y="3873500"/>
            <a:ext cx="29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2" name="Line 18"/>
          <p:cNvSpPr>
            <a:spLocks noChangeShapeType="1"/>
          </p:cNvSpPr>
          <p:nvPr/>
        </p:nvSpPr>
        <p:spPr bwMode="auto">
          <a:xfrm flipV="1">
            <a:off x="5549900" y="3530600"/>
            <a:ext cx="0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3" name="Line 19"/>
          <p:cNvSpPr>
            <a:spLocks noChangeShapeType="1"/>
          </p:cNvSpPr>
          <p:nvPr/>
        </p:nvSpPr>
        <p:spPr bwMode="auto">
          <a:xfrm>
            <a:off x="4800600" y="36703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>
            <a:off x="4864100" y="4064000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 flipV="1">
            <a:off x="5638800" y="3632200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2514600" y="39370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>
                <a:solidFill>
                  <a:schemeClr val="tx2"/>
                </a:solidFill>
                <a:ea typeface="新細明體" pitchFamily="18" charset="-120"/>
              </a:rPr>
              <a:t>/</a:t>
            </a:r>
            <a:endParaRPr kumimoji="1" lang="zh-TW" altLang="en-US" sz="2000" b="1">
              <a:solidFill>
                <a:schemeClr val="tx2"/>
              </a:solidFill>
              <a:ea typeface="新細明體" pitchFamily="18" charset="-120"/>
            </a:endParaRPr>
          </a:p>
        </p:txBody>
      </p:sp>
      <p:sp>
        <p:nvSpPr>
          <p:cNvPr id="82967" name="Text Box 23"/>
          <p:cNvSpPr txBox="1">
            <a:spLocks noChangeArrowheads="1"/>
          </p:cNvSpPr>
          <p:nvPr/>
        </p:nvSpPr>
        <p:spPr bwMode="auto">
          <a:xfrm>
            <a:off x="2971800" y="386080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>
                <a:solidFill>
                  <a:schemeClr val="tx2"/>
                </a:solidFill>
                <a:ea typeface="新細明體" pitchFamily="18" charset="-120"/>
              </a:rPr>
              <a:t>-</a:t>
            </a:r>
          </a:p>
        </p:txBody>
      </p:sp>
      <p:sp>
        <p:nvSpPr>
          <p:cNvPr id="82968" name="Text Box 24"/>
          <p:cNvSpPr txBox="1">
            <a:spLocks noChangeArrowheads="1"/>
          </p:cNvSpPr>
          <p:nvPr/>
        </p:nvSpPr>
        <p:spPr bwMode="auto">
          <a:xfrm>
            <a:off x="4038600" y="3733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>
                <a:solidFill>
                  <a:schemeClr val="tx2"/>
                </a:solidFill>
                <a:ea typeface="新細明體" pitchFamily="18" charset="-120"/>
              </a:rPr>
              <a:t>*</a:t>
            </a:r>
          </a:p>
        </p:txBody>
      </p:sp>
      <p:sp>
        <p:nvSpPr>
          <p:cNvPr id="82969" name="Text Box 25"/>
          <p:cNvSpPr txBox="1">
            <a:spLocks noChangeArrowheads="1"/>
          </p:cNvSpPr>
          <p:nvPr/>
        </p:nvSpPr>
        <p:spPr bwMode="auto">
          <a:xfrm>
            <a:off x="3924300" y="3937000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>
                <a:solidFill>
                  <a:schemeClr val="tx2"/>
                </a:solidFill>
                <a:ea typeface="新細明體" pitchFamily="18" charset="-120"/>
              </a:rPr>
              <a:t>+</a:t>
            </a:r>
          </a:p>
        </p:txBody>
      </p:sp>
      <p:sp>
        <p:nvSpPr>
          <p:cNvPr id="82970" name="Text Box 26"/>
          <p:cNvSpPr txBox="1">
            <a:spLocks noChangeArrowheads="1"/>
          </p:cNvSpPr>
          <p:nvPr/>
        </p:nvSpPr>
        <p:spPr bwMode="auto">
          <a:xfrm>
            <a:off x="5257800" y="3733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 dirty="0">
                <a:solidFill>
                  <a:schemeClr val="tx2"/>
                </a:solidFill>
                <a:ea typeface="新細明體" pitchFamily="18" charset="-120"/>
              </a:rPr>
              <a:t>*</a:t>
            </a:r>
          </a:p>
        </p:txBody>
      </p:sp>
      <p:sp>
        <p:nvSpPr>
          <p:cNvPr id="82971" name="Text Box 27"/>
          <p:cNvSpPr txBox="1">
            <a:spLocks noChangeArrowheads="1"/>
          </p:cNvSpPr>
          <p:nvPr/>
        </p:nvSpPr>
        <p:spPr bwMode="auto">
          <a:xfrm>
            <a:off x="5029200" y="393700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1" lang="zh-TW" altLang="en-US">
                <a:solidFill>
                  <a:schemeClr val="tx2"/>
                </a:solidFill>
                <a:ea typeface="新細明體" pitchFamily="18" charset="-12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983806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Stack –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3315" name="Group 5"/>
          <p:cNvGrpSpPr>
            <a:grpSpLocks/>
          </p:cNvGrpSpPr>
          <p:nvPr/>
        </p:nvGrpSpPr>
        <p:grpSpPr bwMode="auto">
          <a:xfrm>
            <a:off x="2286000" y="1981200"/>
            <a:ext cx="2209800" cy="1828800"/>
            <a:chOff x="1584" y="2448"/>
            <a:chExt cx="1392" cy="1152"/>
          </a:xfrm>
        </p:grpSpPr>
        <p:sp>
          <p:nvSpPr>
            <p:cNvPr id="13367" name="Line 6"/>
            <p:cNvSpPr>
              <a:spLocks noChangeShapeType="1"/>
            </p:cNvSpPr>
            <p:nvPr/>
          </p:nvSpPr>
          <p:spPr bwMode="auto">
            <a:xfrm>
              <a:off x="15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Line 7"/>
            <p:cNvSpPr>
              <a:spLocks noChangeShapeType="1"/>
            </p:cNvSpPr>
            <p:nvPr/>
          </p:nvSpPr>
          <p:spPr bwMode="auto">
            <a:xfrm>
              <a:off x="1776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Line 8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Line 9"/>
            <p:cNvSpPr>
              <a:spLocks noChangeShapeType="1"/>
            </p:cNvSpPr>
            <p:nvPr/>
          </p:nvSpPr>
          <p:spPr bwMode="auto">
            <a:xfrm flipV="1">
              <a:off x="2784" y="2448"/>
              <a:ext cx="0" cy="1152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Line 10"/>
            <p:cNvSpPr>
              <a:spLocks noChangeShapeType="1"/>
            </p:cNvSpPr>
            <p:nvPr/>
          </p:nvSpPr>
          <p:spPr bwMode="auto">
            <a:xfrm>
              <a:off x="2784" y="2448"/>
              <a:ext cx="192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Group 11"/>
          <p:cNvGrpSpPr>
            <a:grpSpLocks/>
          </p:cNvGrpSpPr>
          <p:nvPr/>
        </p:nvGrpSpPr>
        <p:grpSpPr bwMode="auto">
          <a:xfrm>
            <a:off x="3200400" y="3352800"/>
            <a:ext cx="609600" cy="457200"/>
            <a:chOff x="3792" y="2496"/>
            <a:chExt cx="384" cy="720"/>
          </a:xfrm>
        </p:grpSpPr>
        <p:sp>
          <p:nvSpPr>
            <p:cNvPr id="13361" name="Line 12"/>
            <p:cNvSpPr>
              <a:spLocks noChangeShapeType="1"/>
            </p:cNvSpPr>
            <p:nvPr/>
          </p:nvSpPr>
          <p:spPr bwMode="auto">
            <a:xfrm flipV="1">
              <a:off x="3792" y="3072"/>
              <a:ext cx="384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Line 13"/>
            <p:cNvSpPr>
              <a:spLocks noChangeShapeType="1"/>
            </p:cNvSpPr>
            <p:nvPr/>
          </p:nvSpPr>
          <p:spPr bwMode="auto">
            <a:xfrm flipH="1" flipV="1">
              <a:off x="3792" y="2976"/>
              <a:ext cx="384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Line 14"/>
            <p:cNvSpPr>
              <a:spLocks noChangeShapeType="1"/>
            </p:cNvSpPr>
            <p:nvPr/>
          </p:nvSpPr>
          <p:spPr bwMode="auto">
            <a:xfrm flipV="1">
              <a:off x="3792" y="2832"/>
              <a:ext cx="384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Line 15"/>
            <p:cNvSpPr>
              <a:spLocks noChangeShapeType="1"/>
            </p:cNvSpPr>
            <p:nvPr/>
          </p:nvSpPr>
          <p:spPr bwMode="auto">
            <a:xfrm flipH="1" flipV="1">
              <a:off x="3792" y="2736"/>
              <a:ext cx="384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Line 16"/>
            <p:cNvSpPr>
              <a:spLocks noChangeShapeType="1"/>
            </p:cNvSpPr>
            <p:nvPr/>
          </p:nvSpPr>
          <p:spPr bwMode="auto">
            <a:xfrm flipV="1">
              <a:off x="3792" y="2592"/>
              <a:ext cx="384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Line 17"/>
            <p:cNvSpPr>
              <a:spLocks noChangeShapeType="1"/>
            </p:cNvSpPr>
            <p:nvPr/>
          </p:nvSpPr>
          <p:spPr bwMode="auto">
            <a:xfrm flipH="1" flipV="1">
              <a:off x="3792" y="2496"/>
              <a:ext cx="384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7" name="AutoShape 19"/>
          <p:cNvSpPr>
            <a:spLocks noChangeArrowheads="1"/>
          </p:cNvSpPr>
          <p:nvPr/>
        </p:nvSpPr>
        <p:spPr bwMode="auto">
          <a:xfrm>
            <a:off x="2743200" y="3048000"/>
            <a:ext cx="12954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318" name="AutoShape 20"/>
          <p:cNvSpPr>
            <a:spLocks noChangeArrowheads="1"/>
          </p:cNvSpPr>
          <p:nvPr/>
        </p:nvSpPr>
        <p:spPr bwMode="auto">
          <a:xfrm>
            <a:off x="2743200" y="2667000"/>
            <a:ext cx="12954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319" name="AutoShape 21"/>
          <p:cNvSpPr>
            <a:spLocks noChangeArrowheads="1"/>
          </p:cNvSpPr>
          <p:nvPr/>
        </p:nvSpPr>
        <p:spPr bwMode="auto">
          <a:xfrm>
            <a:off x="2743200" y="2286000"/>
            <a:ext cx="12954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graphicFrame>
        <p:nvGraphicFramePr>
          <p:cNvPr id="16521" name="Group 137"/>
          <p:cNvGraphicFramePr>
            <a:graphicFrameLocks noGrp="1"/>
          </p:cNvGraphicFramePr>
          <p:nvPr/>
        </p:nvGraphicFramePr>
        <p:xfrm>
          <a:off x="933450" y="4770252"/>
          <a:ext cx="7600950" cy="944748"/>
        </p:xfrm>
        <a:graphic>
          <a:graphicData uri="http://schemas.openxmlformats.org/drawingml/2006/table">
            <a:tbl>
              <a:tblPr/>
              <a:tblGrid>
                <a:gridCol w="760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7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687" marB="45687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687" marB="45687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522" name="Text Box 138"/>
          <p:cNvSpPr txBox="1">
            <a:spLocks noChangeArrowheads="1"/>
          </p:cNvSpPr>
          <p:nvPr/>
        </p:nvSpPr>
        <p:spPr bwMode="auto">
          <a:xfrm>
            <a:off x="2590800" y="3733800"/>
            <a:ext cx="1600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Stack</a:t>
            </a:r>
          </a:p>
        </p:txBody>
      </p:sp>
      <p:grpSp>
        <p:nvGrpSpPr>
          <p:cNvPr id="13358" name="Group 141"/>
          <p:cNvGrpSpPr>
            <a:grpSpLocks/>
          </p:cNvGrpSpPr>
          <p:nvPr/>
        </p:nvGrpSpPr>
        <p:grpSpPr bwMode="auto">
          <a:xfrm>
            <a:off x="1828800" y="2209800"/>
            <a:ext cx="990600" cy="396875"/>
            <a:chOff x="96" y="1488"/>
            <a:chExt cx="624" cy="250"/>
          </a:xfrm>
        </p:grpSpPr>
        <p:sp>
          <p:nvSpPr>
            <p:cNvPr id="16523" name="Text Box 139"/>
            <p:cNvSpPr txBox="1">
              <a:spLocks noChangeArrowheads="1"/>
            </p:cNvSpPr>
            <p:nvPr/>
          </p:nvSpPr>
          <p:spPr bwMode="auto">
            <a:xfrm>
              <a:off x="96" y="1488"/>
              <a:ext cx="432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Top</a:t>
              </a:r>
            </a:p>
          </p:txBody>
        </p:sp>
        <p:sp>
          <p:nvSpPr>
            <p:cNvPr id="13360" name="Line 140"/>
            <p:cNvSpPr>
              <a:spLocks noChangeShapeType="1"/>
            </p:cNvSpPr>
            <p:nvPr/>
          </p:nvSpPr>
          <p:spPr bwMode="auto">
            <a:xfrm>
              <a:off x="480" y="1632"/>
              <a:ext cx="240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Bent Arrow 5"/>
          <p:cNvSpPr/>
          <p:nvPr/>
        </p:nvSpPr>
        <p:spPr>
          <a:xfrm rot="5400000">
            <a:off x="4590047" y="3104147"/>
            <a:ext cx="1564105" cy="1371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141"/>
          <p:cNvGrpSpPr>
            <a:grpSpLocks/>
          </p:cNvGrpSpPr>
          <p:nvPr/>
        </p:nvGrpSpPr>
        <p:grpSpPr bwMode="auto">
          <a:xfrm rot="16200000">
            <a:off x="2293938" y="6011862"/>
            <a:ext cx="990600" cy="396875"/>
            <a:chOff x="96" y="1488"/>
            <a:chExt cx="624" cy="250"/>
          </a:xfrm>
        </p:grpSpPr>
        <p:sp>
          <p:nvSpPr>
            <p:cNvPr id="27" name="Text Box 139"/>
            <p:cNvSpPr txBox="1">
              <a:spLocks noChangeArrowheads="1"/>
            </p:cNvSpPr>
            <p:nvPr/>
          </p:nvSpPr>
          <p:spPr bwMode="auto">
            <a:xfrm>
              <a:off x="96" y="1488"/>
              <a:ext cx="432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Top</a:t>
              </a:r>
            </a:p>
          </p:txBody>
        </p:sp>
        <p:sp>
          <p:nvSpPr>
            <p:cNvPr id="28" name="Line 140"/>
            <p:cNvSpPr>
              <a:spLocks noChangeShapeType="1"/>
            </p:cNvSpPr>
            <p:nvPr/>
          </p:nvSpPr>
          <p:spPr bwMode="auto">
            <a:xfrm>
              <a:off x="480" y="1632"/>
              <a:ext cx="240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3979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–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93725" y="3810000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TW" altLang="zh-TW">
                <a:ea typeface="新細明體" pitchFamily="18" charset="-120"/>
              </a:rPr>
              <a:t>         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14400" y="2701925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286000" y="2701925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r>
              <a:rPr kumimoji="1" lang="en-US" altLang="zh-TW">
                <a:ea typeface="新細明體" pitchFamily="18" charset="-120"/>
              </a:rPr>
              <a:t>B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A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800600" y="2701925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r>
              <a:rPr kumimoji="1" lang="en-US" altLang="zh-TW">
                <a:ea typeface="新細明體" pitchFamily="18" charset="-120"/>
              </a:rPr>
              <a:t>D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C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B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A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581400" y="2701925"/>
            <a:ext cx="533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r>
              <a:rPr kumimoji="1" lang="en-US" altLang="zh-TW">
                <a:ea typeface="新細明體" pitchFamily="18" charset="-120"/>
              </a:rPr>
              <a:t>C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B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A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315200" y="2701925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TW" altLang="zh-TW">
              <a:ea typeface="新細明體" pitchFamily="18" charset="-120"/>
            </a:endParaRPr>
          </a:p>
          <a:p>
            <a:pPr algn="ctr"/>
            <a:r>
              <a:rPr kumimoji="1" lang="en-US" altLang="zh-TW">
                <a:ea typeface="新細明體" pitchFamily="18" charset="-120"/>
              </a:rPr>
              <a:t>D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C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B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A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96000" y="2701925"/>
            <a:ext cx="4572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TW">
                <a:ea typeface="新細明體" pitchFamily="18" charset="-120"/>
              </a:rPr>
              <a:t>E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D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C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B</a:t>
            </a:r>
          </a:p>
          <a:p>
            <a:pPr algn="ctr"/>
            <a:r>
              <a:rPr kumimoji="1" lang="en-US" altLang="zh-TW">
                <a:ea typeface="新細明體" pitchFamily="18" charset="-120"/>
              </a:rPr>
              <a:t>A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1447800" y="43783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676400" y="4149725"/>
            <a:ext cx="658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TW" dirty="0">
                <a:ea typeface="新細明體" pitchFamily="18" charset="-120"/>
              </a:rPr>
              <a:t>Top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914400" y="2701925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2286000" y="2701925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3581400" y="2701925"/>
            <a:ext cx="533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4800600" y="2701925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6096000" y="2701925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7315200" y="2701925"/>
            <a:ext cx="457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H="1">
            <a:off x="2743200" y="40735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H="1">
            <a:off x="4114800" y="36163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H="1">
            <a:off x="5257800" y="32353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 flipH="1">
            <a:off x="6553200" y="28543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>
            <a:off x="7772400" y="32353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2955925" y="3810000"/>
            <a:ext cx="658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TW" dirty="0">
                <a:ea typeface="新細明體" pitchFamily="18" charset="-120"/>
              </a:rPr>
              <a:t>Top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251325" y="3429000"/>
            <a:ext cx="658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TW" dirty="0">
                <a:ea typeface="新細明體" pitchFamily="18" charset="-120"/>
              </a:rPr>
              <a:t>Top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5394325" y="2971800"/>
            <a:ext cx="658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TW" dirty="0">
                <a:ea typeface="新細明體" pitchFamily="18" charset="-120"/>
              </a:rPr>
              <a:t>Top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6705600" y="2590800"/>
            <a:ext cx="658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TW" dirty="0">
                <a:ea typeface="新細明體" pitchFamily="18" charset="-120"/>
              </a:rPr>
              <a:t>Top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974725" y="41910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7924800" y="2930525"/>
            <a:ext cx="658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TW" dirty="0">
                <a:ea typeface="新細明體" pitchFamily="18" charset="-120"/>
              </a:rPr>
              <a:t>Top</a:t>
            </a:r>
          </a:p>
        </p:txBody>
      </p:sp>
    </p:spTree>
    <p:extLst>
      <p:ext uri="{BB962C8B-B14F-4D97-AF65-F5344CB8AC3E}">
        <p14:creationId xmlns:p14="http://schemas.microsoft.com/office/powerpoint/2010/main" val="3841466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class</a:t>
            </a:r>
            <a:r>
              <a:rPr lang="en-US" dirty="0"/>
              <a:t> </a:t>
            </a:r>
            <a:r>
              <a:rPr lang="en-US" dirty="0" err="1"/>
              <a:t>MyStack</a:t>
            </a:r>
            <a:endParaRPr lang="en-US" dirty="0"/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{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rgbClr val="FF9933"/>
                </a:solidFill>
              </a:rPr>
              <a:t>int</a:t>
            </a:r>
            <a:r>
              <a:rPr lang="en-US" b="1" dirty="0">
                <a:solidFill>
                  <a:srgbClr val="FF9933"/>
                </a:solidFill>
              </a:rPr>
              <a:t> []</a:t>
            </a:r>
            <a:r>
              <a:rPr lang="en-US" dirty="0"/>
              <a:t> </a:t>
            </a:r>
            <a:r>
              <a:rPr lang="en-US" dirty="0" err="1"/>
              <a:t>stkArray</a:t>
            </a:r>
            <a:r>
              <a:rPr lang="en-US" dirty="0"/>
              <a:t>; </a:t>
            </a:r>
            <a:r>
              <a:rPr lang="en-US" dirty="0">
                <a:solidFill>
                  <a:schemeClr val="accent1"/>
                </a:solidFill>
              </a:rPr>
              <a:t>// </a:t>
            </a:r>
            <a:r>
              <a:rPr lang="en-US" dirty="0" err="1">
                <a:solidFill>
                  <a:schemeClr val="accent1"/>
                </a:solidFill>
              </a:rPr>
              <a:t>mảng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chứa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các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phần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tử</a:t>
            </a:r>
            <a:endParaRPr 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rgbClr val="FF9933"/>
                </a:solidFill>
              </a:rPr>
              <a:t>int</a:t>
            </a:r>
            <a:r>
              <a:rPr lang="en-US" b="1" dirty="0">
                <a:solidFill>
                  <a:srgbClr val="FF9933"/>
                </a:solidFill>
              </a:rPr>
              <a:t> </a:t>
            </a:r>
            <a:r>
              <a:rPr lang="en-US" dirty="0" err="1"/>
              <a:t>stkMax</a:t>
            </a:r>
            <a:r>
              <a:rPr lang="en-US" dirty="0"/>
              <a:t>; </a:t>
            </a:r>
            <a:r>
              <a:rPr lang="en-US" dirty="0">
                <a:solidFill>
                  <a:schemeClr val="accent1"/>
                </a:solidFill>
              </a:rPr>
              <a:t>// </a:t>
            </a:r>
            <a:r>
              <a:rPr lang="en-US" dirty="0" err="1">
                <a:solidFill>
                  <a:schemeClr val="accent1"/>
                </a:solidFill>
              </a:rPr>
              <a:t>số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phần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tử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tối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đa</a:t>
            </a:r>
            <a:endParaRPr 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rgbClr val="FF9933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stkTop</a:t>
            </a:r>
            <a:r>
              <a:rPr lang="en-US" dirty="0"/>
              <a:t>; </a:t>
            </a:r>
            <a:r>
              <a:rPr lang="en-US" dirty="0">
                <a:solidFill>
                  <a:schemeClr val="accent1"/>
                </a:solidFill>
              </a:rPr>
              <a:t>// </a:t>
            </a:r>
            <a:r>
              <a:rPr lang="en-US" dirty="0" err="1">
                <a:solidFill>
                  <a:schemeClr val="accent1"/>
                </a:solidFill>
              </a:rPr>
              <a:t>vị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trí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đỉnh</a:t>
            </a:r>
            <a:r>
              <a:rPr lang="en-US" dirty="0">
                <a:solidFill>
                  <a:schemeClr val="accent1"/>
                </a:solidFill>
              </a:rPr>
              <a:t> Stack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		//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77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618518"/>
            <a:ext cx="813554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Constructor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05000"/>
            <a:ext cx="7886700" cy="425291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public </a:t>
            </a:r>
            <a:r>
              <a:rPr lang="en-US" dirty="0" err="1"/>
              <a:t>MyStack</a:t>
            </a:r>
            <a:r>
              <a:rPr lang="en-US" dirty="0"/>
              <a:t>(</a:t>
            </a:r>
            <a:r>
              <a:rPr lang="en-US" b="1" dirty="0">
                <a:solidFill>
                  <a:srgbClr val="FF9933"/>
                </a:solidFill>
              </a:rPr>
              <a:t>int </a:t>
            </a:r>
            <a:r>
              <a:rPr lang="en-US" dirty="0" err="1"/>
              <a:t>maxItems</a:t>
            </a:r>
            <a:r>
              <a:rPr lang="en-US" dirty="0"/>
              <a:t> = 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dirty="0"/>
              <a:t>{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dirty="0" err="1"/>
              <a:t>StkArray</a:t>
            </a:r>
            <a:r>
              <a:rPr lang="en-US" dirty="0"/>
              <a:t> = </a:t>
            </a:r>
            <a:r>
              <a:rPr lang="en-US" b="1" dirty="0">
                <a:solidFill>
                  <a:srgbClr val="FF9933"/>
                </a:solidFill>
              </a:rPr>
              <a:t>new</a:t>
            </a:r>
            <a:r>
              <a:rPr lang="en-US" dirty="0"/>
              <a:t> </a:t>
            </a:r>
            <a:r>
              <a:rPr lang="en-US" b="1" dirty="0">
                <a:solidFill>
                  <a:srgbClr val="FF9933"/>
                </a:solidFill>
              </a:rPr>
              <a:t>int</a:t>
            </a:r>
            <a:r>
              <a:rPr lang="en-US" dirty="0"/>
              <a:t>[</a:t>
            </a:r>
            <a:r>
              <a:rPr lang="en-US" dirty="0" err="1"/>
              <a:t>maxItems</a:t>
            </a:r>
            <a:r>
              <a:rPr lang="en-US" dirty="0"/>
              <a:t>];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dirty="0" err="1"/>
              <a:t>StkMax</a:t>
            </a:r>
            <a:r>
              <a:rPr lang="en-US" dirty="0"/>
              <a:t> = </a:t>
            </a:r>
            <a:r>
              <a:rPr lang="en-US" dirty="0" err="1"/>
              <a:t>maxItems</a:t>
            </a:r>
            <a:r>
              <a:rPr lang="en-US" dirty="0"/>
              <a:t>;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dirty="0" err="1"/>
              <a:t>StkTop</a:t>
            </a:r>
            <a:r>
              <a:rPr lang="en-US" dirty="0"/>
              <a:t> = -1;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247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618518"/>
            <a:ext cx="783074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public bool </a:t>
            </a:r>
            <a:r>
              <a:rPr lang="en-US" dirty="0" err="1"/>
              <a:t>IsEmpty</a:t>
            </a:r>
            <a:r>
              <a:rPr lang="en-US" dirty="0"/>
              <a:t>()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{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b="1" dirty="0">
                <a:solidFill>
                  <a:srgbClr val="FFCC00"/>
                </a:solidFill>
              </a:rPr>
              <a:t>	</a:t>
            </a:r>
            <a:r>
              <a:rPr lang="en-US" b="1" dirty="0">
                <a:solidFill>
                  <a:srgbClr val="FF9933"/>
                </a:solidFill>
              </a:rPr>
              <a:t>if </a:t>
            </a:r>
            <a:r>
              <a:rPr lang="en-US" dirty="0"/>
              <a:t>(</a:t>
            </a:r>
            <a:r>
              <a:rPr lang="en-US" dirty="0" err="1"/>
              <a:t>StkTop</a:t>
            </a:r>
            <a:r>
              <a:rPr lang="en-US" dirty="0"/>
              <a:t>==-1)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		return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dirty="0"/>
              <a:t>;</a:t>
            </a:r>
            <a:endParaRPr lang="en-US" i="1" dirty="0">
              <a:solidFill>
                <a:schemeClr val="accent2"/>
              </a:solidFill>
            </a:endParaRP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return </a:t>
            </a:r>
            <a:r>
              <a:rPr lang="en-US" dirty="0">
                <a:solidFill>
                  <a:srgbClr val="FF0000"/>
                </a:solidFill>
              </a:rPr>
              <a:t>false</a:t>
            </a:r>
            <a:r>
              <a:rPr lang="en-US" dirty="0"/>
              <a:t>;</a:t>
            </a:r>
            <a:endParaRPr lang="en-US" i="1" dirty="0"/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89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đầy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public bool </a:t>
            </a:r>
            <a:r>
              <a:rPr lang="en-GB" dirty="0" err="1"/>
              <a:t>IsFull</a:t>
            </a:r>
            <a:r>
              <a:rPr lang="en-GB" dirty="0"/>
              <a:t>()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{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	if </a:t>
            </a:r>
            <a:r>
              <a:rPr lang="en-GB" dirty="0"/>
              <a:t>(</a:t>
            </a:r>
            <a:r>
              <a:rPr lang="en-GB" dirty="0" err="1"/>
              <a:t>StkTop</a:t>
            </a:r>
            <a:r>
              <a:rPr lang="en-GB" dirty="0"/>
              <a:t>==StkMax-1)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GB" dirty="0"/>
              <a:t>			return </a:t>
            </a:r>
            <a:r>
              <a:rPr lang="en-GB" dirty="0">
                <a:solidFill>
                  <a:srgbClr val="FF0000"/>
                </a:solidFill>
              </a:rPr>
              <a:t>true</a:t>
            </a:r>
            <a:r>
              <a:rPr lang="en-GB" dirty="0"/>
              <a:t>;</a:t>
            </a:r>
            <a:endParaRPr lang="en-GB" i="1" dirty="0">
              <a:solidFill>
                <a:schemeClr val="accent2"/>
              </a:solidFill>
            </a:endParaRP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GB" dirty="0"/>
              <a:t>	return </a:t>
            </a:r>
            <a:r>
              <a:rPr lang="en-GB" dirty="0">
                <a:solidFill>
                  <a:srgbClr val="FF0000"/>
                </a:solidFill>
              </a:rPr>
              <a:t>false</a:t>
            </a:r>
            <a:r>
              <a:rPr lang="en-GB" dirty="0"/>
              <a:t>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05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618518"/>
            <a:ext cx="813554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stack</a:t>
            </a:r>
            <a:endParaRPr lang="en-GB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2097087"/>
            <a:ext cx="7886700" cy="4079875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public bool </a:t>
            </a:r>
            <a:r>
              <a:rPr lang="en-US" dirty="0"/>
              <a:t>Push (</a:t>
            </a:r>
            <a:r>
              <a:rPr lang="en-US" b="1" dirty="0">
                <a:solidFill>
                  <a:srgbClr val="FF9933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newItem</a:t>
            </a:r>
            <a:r>
              <a:rPr lang="en-US" dirty="0"/>
              <a:t>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{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9933"/>
                </a:solidFill>
              </a:rPr>
              <a:t>if </a:t>
            </a:r>
            <a:r>
              <a:rPr lang="en-US" dirty="0"/>
              <a:t>(</a:t>
            </a:r>
            <a:r>
              <a:rPr lang="en-US" dirty="0" err="1"/>
              <a:t>IsFull</a:t>
            </a:r>
            <a:r>
              <a:rPr lang="en-US" dirty="0"/>
              <a:t>())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		return </a:t>
            </a:r>
            <a:r>
              <a:rPr lang="en-US" dirty="0">
                <a:solidFill>
                  <a:srgbClr val="FF0000"/>
                </a:solidFill>
              </a:rPr>
              <a:t>false</a:t>
            </a:r>
            <a:r>
              <a:rPr lang="en-US" dirty="0"/>
              <a:t>;</a:t>
            </a:r>
            <a:endParaRPr lang="en-US" i="1" dirty="0">
              <a:solidFill>
                <a:schemeClr val="accent2"/>
              </a:solidFill>
            </a:endParaRP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</a:t>
            </a:r>
            <a:r>
              <a:rPr lang="en-US" dirty="0" err="1"/>
              <a:t>StkTop</a:t>
            </a:r>
            <a:r>
              <a:rPr lang="en-US" dirty="0"/>
              <a:t>++;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</a:t>
            </a:r>
            <a:r>
              <a:rPr lang="en-US" dirty="0" err="1"/>
              <a:t>StkArray</a:t>
            </a:r>
            <a:r>
              <a:rPr lang="en-US" dirty="0"/>
              <a:t>[</a:t>
            </a:r>
            <a:r>
              <a:rPr lang="en-US" dirty="0" err="1"/>
              <a:t>StkTop</a:t>
            </a:r>
            <a:r>
              <a:rPr lang="en-US" dirty="0"/>
              <a:t>] = </a:t>
            </a:r>
            <a:r>
              <a:rPr lang="en-US" dirty="0" err="1"/>
              <a:t>newItem</a:t>
            </a:r>
            <a:r>
              <a:rPr lang="en-US" dirty="0"/>
              <a:t>;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return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dirty="0"/>
              <a:t>;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}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50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stack</a:t>
            </a:r>
            <a:endParaRPr lang="en-GB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81199"/>
            <a:ext cx="7886700" cy="4419601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public bool </a:t>
            </a:r>
            <a:r>
              <a:rPr lang="en-US" dirty="0"/>
              <a:t>Pop(out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outItem</a:t>
            </a:r>
            <a:r>
              <a:rPr lang="en-US" dirty="0"/>
              <a:t>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{	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   </a:t>
            </a:r>
            <a:r>
              <a:rPr lang="en-US" dirty="0" err="1"/>
              <a:t>outItem</a:t>
            </a:r>
            <a:r>
              <a:rPr lang="en-US" dirty="0"/>
              <a:t> = 0;	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9933"/>
                </a:solidFill>
              </a:rPr>
              <a:t>if </a:t>
            </a:r>
            <a:r>
              <a:rPr lang="en-US" dirty="0"/>
              <a:t>(</a:t>
            </a:r>
            <a:r>
              <a:rPr lang="en-US" dirty="0" err="1"/>
              <a:t>IsEmpty</a:t>
            </a:r>
            <a:r>
              <a:rPr lang="en-US" dirty="0"/>
              <a:t>())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		return </a:t>
            </a:r>
            <a:r>
              <a:rPr lang="en-US" dirty="0">
                <a:solidFill>
                  <a:srgbClr val="FF0000"/>
                </a:solidFill>
              </a:rPr>
              <a:t>false</a:t>
            </a:r>
            <a:r>
              <a:rPr lang="en-US" dirty="0"/>
              <a:t>;</a:t>
            </a:r>
            <a:endParaRPr lang="en-US" i="1" dirty="0">
              <a:solidFill>
                <a:schemeClr val="accent2"/>
              </a:solidFill>
            </a:endParaRPr>
          </a:p>
          <a:p>
            <a:pPr marL="457200" indent="-457200">
              <a:lnSpc>
                <a:spcPct val="100000"/>
              </a:lnSpc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9933"/>
                </a:solidFill>
              </a:rPr>
              <a:t> </a:t>
            </a:r>
            <a:r>
              <a:rPr lang="en-US" dirty="0" err="1"/>
              <a:t>outItem</a:t>
            </a:r>
            <a:r>
              <a:rPr lang="en-US" dirty="0"/>
              <a:t> = </a:t>
            </a:r>
            <a:r>
              <a:rPr lang="en-US" dirty="0" err="1"/>
              <a:t>StkArray</a:t>
            </a:r>
            <a:r>
              <a:rPr lang="en-US" dirty="0"/>
              <a:t>[</a:t>
            </a:r>
            <a:r>
              <a:rPr lang="en-US" dirty="0" err="1"/>
              <a:t>StkTop</a:t>
            </a:r>
            <a:r>
              <a:rPr lang="en-US" dirty="0"/>
              <a:t>];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</a:t>
            </a:r>
            <a:r>
              <a:rPr lang="en-US" dirty="0" err="1"/>
              <a:t>StkTop</a:t>
            </a:r>
            <a:r>
              <a:rPr lang="en-US" dirty="0"/>
              <a:t>--;</a:t>
            </a:r>
          </a:p>
          <a:p>
            <a:pPr marL="457200" indent="-457200" eaLnBrk="1" hangingPunct="1">
              <a:lnSpc>
                <a:spcPct val="100000"/>
              </a:lnSpc>
              <a:buFontTx/>
              <a:buNone/>
            </a:pPr>
            <a:r>
              <a:rPr lang="en-US" dirty="0"/>
              <a:t>	return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dirty="0"/>
              <a:t>;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dirty="0"/>
              <a:t>}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86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424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Stack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.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Stack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  <a:p>
            <a:pPr algn="just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=0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42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09800"/>
            <a:ext cx="7886700" cy="3967163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Stack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str</a:t>
            </a:r>
            <a:r>
              <a:rPr lang="en-US" dirty="0"/>
              <a:t> (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Stack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)</a:t>
            </a:r>
          </a:p>
          <a:p>
            <a:pPr algn="just"/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Stack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str</a:t>
            </a:r>
            <a:r>
              <a:rPr lang="en-US" dirty="0"/>
              <a:t> (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Stack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-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trắng</a:t>
            </a:r>
            <a:r>
              <a:rPr lang="en-US" dirty="0"/>
              <a:t>)</a:t>
            </a:r>
          </a:p>
          <a:p>
            <a:pPr algn="just"/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QuickSort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Stack</a:t>
            </a:r>
          </a:p>
          <a:p>
            <a:pPr algn="just"/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Infix sang Postfix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522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94" y="1371600"/>
            <a:ext cx="3656012" cy="43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78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Queue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34820" name="Group 139"/>
          <p:cNvGrpSpPr>
            <a:grpSpLocks/>
          </p:cNvGrpSpPr>
          <p:nvPr/>
        </p:nvGrpSpPr>
        <p:grpSpPr bwMode="auto">
          <a:xfrm>
            <a:off x="1295400" y="2209800"/>
            <a:ext cx="1695450" cy="2133600"/>
            <a:chOff x="288" y="1248"/>
            <a:chExt cx="1068" cy="1344"/>
          </a:xfrm>
        </p:grpSpPr>
        <p:pic>
          <p:nvPicPr>
            <p:cNvPr id="35226" name="Picture 12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006666"/>
                </a:clrFrom>
                <a:clrTo>
                  <a:srgbClr val="00666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1440"/>
              <a:ext cx="1068" cy="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227" name="Group 19"/>
            <p:cNvGrpSpPr>
              <a:grpSpLocks/>
            </p:cNvGrpSpPr>
            <p:nvPr/>
          </p:nvGrpSpPr>
          <p:grpSpPr bwMode="auto">
            <a:xfrm>
              <a:off x="336" y="1296"/>
              <a:ext cx="96" cy="144"/>
              <a:chOff x="2064" y="1968"/>
              <a:chExt cx="192" cy="384"/>
            </a:xfrm>
          </p:grpSpPr>
          <p:sp>
            <p:nvSpPr>
              <p:cNvPr id="35347" name="Oval 13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48" name="Line 14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49" name="Line 15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50" name="Line 16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51" name="Line 17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52" name="Line 18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28" name="Group 20"/>
            <p:cNvGrpSpPr>
              <a:grpSpLocks/>
            </p:cNvGrpSpPr>
            <p:nvPr/>
          </p:nvGrpSpPr>
          <p:grpSpPr bwMode="auto">
            <a:xfrm>
              <a:off x="432" y="1440"/>
              <a:ext cx="96" cy="144"/>
              <a:chOff x="2064" y="1968"/>
              <a:chExt cx="192" cy="384"/>
            </a:xfrm>
          </p:grpSpPr>
          <p:sp>
            <p:nvSpPr>
              <p:cNvPr id="35341" name="Oval 21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42" name="Line 22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43" name="Line 23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44" name="Line 24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45" name="Line 25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46" name="Line 26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29" name="Group 27"/>
            <p:cNvGrpSpPr>
              <a:grpSpLocks/>
            </p:cNvGrpSpPr>
            <p:nvPr/>
          </p:nvGrpSpPr>
          <p:grpSpPr bwMode="auto">
            <a:xfrm>
              <a:off x="528" y="1248"/>
              <a:ext cx="96" cy="144"/>
              <a:chOff x="2064" y="1968"/>
              <a:chExt cx="192" cy="384"/>
            </a:xfrm>
          </p:grpSpPr>
          <p:sp>
            <p:nvSpPr>
              <p:cNvPr id="35335" name="Oval 28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36" name="Line 29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7" name="Line 30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8" name="Line 31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9" name="Line 32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40" name="Line 33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0" name="Group 34"/>
            <p:cNvGrpSpPr>
              <a:grpSpLocks/>
            </p:cNvGrpSpPr>
            <p:nvPr/>
          </p:nvGrpSpPr>
          <p:grpSpPr bwMode="auto">
            <a:xfrm>
              <a:off x="672" y="1248"/>
              <a:ext cx="96" cy="144"/>
              <a:chOff x="2064" y="1968"/>
              <a:chExt cx="192" cy="384"/>
            </a:xfrm>
          </p:grpSpPr>
          <p:sp>
            <p:nvSpPr>
              <p:cNvPr id="35329" name="Oval 35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30" name="Line 36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1" name="Line 37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2" name="Line 38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3" name="Line 39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34" name="Line 40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1" name="Group 41"/>
            <p:cNvGrpSpPr>
              <a:grpSpLocks/>
            </p:cNvGrpSpPr>
            <p:nvPr/>
          </p:nvGrpSpPr>
          <p:grpSpPr bwMode="auto">
            <a:xfrm>
              <a:off x="768" y="1344"/>
              <a:ext cx="96" cy="144"/>
              <a:chOff x="2064" y="1968"/>
              <a:chExt cx="192" cy="384"/>
            </a:xfrm>
          </p:grpSpPr>
          <p:sp>
            <p:nvSpPr>
              <p:cNvPr id="35323" name="Oval 42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24" name="Line 43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5" name="Line 44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6" name="Line 45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7" name="Line 46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8" name="Line 47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2" name="Group 48"/>
            <p:cNvGrpSpPr>
              <a:grpSpLocks/>
            </p:cNvGrpSpPr>
            <p:nvPr/>
          </p:nvGrpSpPr>
          <p:grpSpPr bwMode="auto">
            <a:xfrm>
              <a:off x="576" y="1440"/>
              <a:ext cx="96" cy="144"/>
              <a:chOff x="2064" y="1968"/>
              <a:chExt cx="192" cy="384"/>
            </a:xfrm>
          </p:grpSpPr>
          <p:sp>
            <p:nvSpPr>
              <p:cNvPr id="35317" name="Oval 49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18" name="Line 50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19" name="Line 51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0" name="Line 52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1" name="Line 53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22" name="Line 54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3" name="Group 55"/>
            <p:cNvGrpSpPr>
              <a:grpSpLocks/>
            </p:cNvGrpSpPr>
            <p:nvPr/>
          </p:nvGrpSpPr>
          <p:grpSpPr bwMode="auto">
            <a:xfrm>
              <a:off x="864" y="1488"/>
              <a:ext cx="96" cy="144"/>
              <a:chOff x="2064" y="1968"/>
              <a:chExt cx="192" cy="384"/>
            </a:xfrm>
          </p:grpSpPr>
          <p:sp>
            <p:nvSpPr>
              <p:cNvPr id="35311" name="Oval 56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12" name="Line 57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13" name="Line 58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14" name="Line 59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15" name="Line 60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16" name="Line 61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4" name="Group 62"/>
            <p:cNvGrpSpPr>
              <a:grpSpLocks/>
            </p:cNvGrpSpPr>
            <p:nvPr/>
          </p:nvGrpSpPr>
          <p:grpSpPr bwMode="auto">
            <a:xfrm>
              <a:off x="960" y="1296"/>
              <a:ext cx="96" cy="144"/>
              <a:chOff x="2064" y="1968"/>
              <a:chExt cx="192" cy="384"/>
            </a:xfrm>
          </p:grpSpPr>
          <p:sp>
            <p:nvSpPr>
              <p:cNvPr id="35305" name="Oval 63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06" name="Line 64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7" name="Line 65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8" name="Line 66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9" name="Line 67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10" name="Line 68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5" name="Group 69"/>
            <p:cNvGrpSpPr>
              <a:grpSpLocks/>
            </p:cNvGrpSpPr>
            <p:nvPr/>
          </p:nvGrpSpPr>
          <p:grpSpPr bwMode="auto">
            <a:xfrm>
              <a:off x="1104" y="1440"/>
              <a:ext cx="96" cy="144"/>
              <a:chOff x="2064" y="1968"/>
              <a:chExt cx="192" cy="384"/>
            </a:xfrm>
          </p:grpSpPr>
          <p:sp>
            <p:nvSpPr>
              <p:cNvPr id="35299" name="Oval 70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300" name="Line 71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1" name="Line 72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2" name="Line 73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3" name="Line 74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04" name="Line 75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6" name="Group 76"/>
            <p:cNvGrpSpPr>
              <a:grpSpLocks/>
            </p:cNvGrpSpPr>
            <p:nvPr/>
          </p:nvGrpSpPr>
          <p:grpSpPr bwMode="auto">
            <a:xfrm>
              <a:off x="1200" y="1248"/>
              <a:ext cx="96" cy="144"/>
              <a:chOff x="2064" y="1968"/>
              <a:chExt cx="192" cy="384"/>
            </a:xfrm>
          </p:grpSpPr>
          <p:sp>
            <p:nvSpPr>
              <p:cNvPr id="35293" name="Oval 77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94" name="Line 78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5" name="Line 79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6" name="Line 80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7" name="Line 81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8" name="Line 82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7" name="Group 83"/>
            <p:cNvGrpSpPr>
              <a:grpSpLocks/>
            </p:cNvGrpSpPr>
            <p:nvPr/>
          </p:nvGrpSpPr>
          <p:grpSpPr bwMode="auto">
            <a:xfrm>
              <a:off x="768" y="2016"/>
              <a:ext cx="96" cy="144"/>
              <a:chOff x="2064" y="1968"/>
              <a:chExt cx="192" cy="384"/>
            </a:xfrm>
          </p:grpSpPr>
          <p:sp>
            <p:nvSpPr>
              <p:cNvPr id="35287" name="Oval 84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88" name="Line 85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89" name="Line 86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0" name="Line 87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1" name="Line 88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92" name="Line 89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8" name="Group 90"/>
            <p:cNvGrpSpPr>
              <a:grpSpLocks/>
            </p:cNvGrpSpPr>
            <p:nvPr/>
          </p:nvGrpSpPr>
          <p:grpSpPr bwMode="auto">
            <a:xfrm>
              <a:off x="528" y="1632"/>
              <a:ext cx="96" cy="144"/>
              <a:chOff x="2064" y="1968"/>
              <a:chExt cx="192" cy="384"/>
            </a:xfrm>
          </p:grpSpPr>
          <p:sp>
            <p:nvSpPr>
              <p:cNvPr id="35281" name="Oval 91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82" name="Line 92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83" name="Line 93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84" name="Line 94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85" name="Line 95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86" name="Line 96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39" name="Group 97"/>
            <p:cNvGrpSpPr>
              <a:grpSpLocks/>
            </p:cNvGrpSpPr>
            <p:nvPr/>
          </p:nvGrpSpPr>
          <p:grpSpPr bwMode="auto">
            <a:xfrm>
              <a:off x="672" y="1728"/>
              <a:ext cx="96" cy="144"/>
              <a:chOff x="2064" y="1968"/>
              <a:chExt cx="192" cy="384"/>
            </a:xfrm>
          </p:grpSpPr>
          <p:sp>
            <p:nvSpPr>
              <p:cNvPr id="35275" name="Oval 98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76" name="Line 99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7" name="Line 100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8" name="Line 101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9" name="Line 102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80" name="Line 103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40" name="Group 104"/>
            <p:cNvGrpSpPr>
              <a:grpSpLocks/>
            </p:cNvGrpSpPr>
            <p:nvPr/>
          </p:nvGrpSpPr>
          <p:grpSpPr bwMode="auto">
            <a:xfrm>
              <a:off x="816" y="1632"/>
              <a:ext cx="96" cy="144"/>
              <a:chOff x="2064" y="1968"/>
              <a:chExt cx="192" cy="384"/>
            </a:xfrm>
          </p:grpSpPr>
          <p:sp>
            <p:nvSpPr>
              <p:cNvPr id="35269" name="Oval 105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70" name="Line 106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1" name="Line 107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2" name="Line 108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3" name="Line 109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74" name="Line 110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41" name="Group 111"/>
            <p:cNvGrpSpPr>
              <a:grpSpLocks/>
            </p:cNvGrpSpPr>
            <p:nvPr/>
          </p:nvGrpSpPr>
          <p:grpSpPr bwMode="auto">
            <a:xfrm>
              <a:off x="768" y="1824"/>
              <a:ext cx="96" cy="144"/>
              <a:chOff x="2064" y="1968"/>
              <a:chExt cx="192" cy="384"/>
            </a:xfrm>
          </p:grpSpPr>
          <p:sp>
            <p:nvSpPr>
              <p:cNvPr id="35263" name="Oval 112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64" name="Line 113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5" name="Line 114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6" name="Line 115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7" name="Line 116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8" name="Line 117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42" name="Group 118"/>
            <p:cNvGrpSpPr>
              <a:grpSpLocks/>
            </p:cNvGrpSpPr>
            <p:nvPr/>
          </p:nvGrpSpPr>
          <p:grpSpPr bwMode="auto">
            <a:xfrm>
              <a:off x="912" y="1680"/>
              <a:ext cx="96" cy="144"/>
              <a:chOff x="2064" y="1968"/>
              <a:chExt cx="192" cy="384"/>
            </a:xfrm>
          </p:grpSpPr>
          <p:sp>
            <p:nvSpPr>
              <p:cNvPr id="35257" name="Oval 119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58" name="Line 120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9" name="Line 121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0" name="Line 122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1" name="Line 123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62" name="Line 124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43" name="Group 125"/>
            <p:cNvGrpSpPr>
              <a:grpSpLocks/>
            </p:cNvGrpSpPr>
            <p:nvPr/>
          </p:nvGrpSpPr>
          <p:grpSpPr bwMode="auto">
            <a:xfrm>
              <a:off x="768" y="2208"/>
              <a:ext cx="96" cy="144"/>
              <a:chOff x="2064" y="1968"/>
              <a:chExt cx="192" cy="384"/>
            </a:xfrm>
          </p:grpSpPr>
          <p:sp>
            <p:nvSpPr>
              <p:cNvPr id="35251" name="Oval 126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52" name="Line 127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3" name="Line 128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4" name="Line 129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5" name="Line 130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6" name="Line 131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44" name="Group 132"/>
            <p:cNvGrpSpPr>
              <a:grpSpLocks/>
            </p:cNvGrpSpPr>
            <p:nvPr/>
          </p:nvGrpSpPr>
          <p:grpSpPr bwMode="auto">
            <a:xfrm>
              <a:off x="768" y="2448"/>
              <a:ext cx="96" cy="144"/>
              <a:chOff x="2064" y="1968"/>
              <a:chExt cx="192" cy="384"/>
            </a:xfrm>
          </p:grpSpPr>
          <p:sp>
            <p:nvSpPr>
              <p:cNvPr id="35245" name="Oval 133"/>
              <p:cNvSpPr>
                <a:spLocks noChangeArrowheads="1"/>
              </p:cNvSpPr>
              <p:nvPr/>
            </p:nvSpPr>
            <p:spPr bwMode="auto">
              <a:xfrm>
                <a:off x="2112" y="196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35246" name="Line 134"/>
              <p:cNvSpPr>
                <a:spLocks noChangeShapeType="1"/>
              </p:cNvSpPr>
              <p:nvPr/>
            </p:nvSpPr>
            <p:spPr bwMode="auto">
              <a:xfrm>
                <a:off x="2160" y="2064"/>
                <a:ext cx="0" cy="24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47" name="Line 135"/>
              <p:cNvSpPr>
                <a:spLocks noChangeShapeType="1"/>
              </p:cNvSpPr>
              <p:nvPr/>
            </p:nvSpPr>
            <p:spPr bwMode="auto">
              <a:xfrm flipH="1">
                <a:off x="2064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48" name="Line 136"/>
              <p:cNvSpPr>
                <a:spLocks noChangeShapeType="1"/>
              </p:cNvSpPr>
              <p:nvPr/>
            </p:nvSpPr>
            <p:spPr bwMode="auto">
              <a:xfrm>
                <a:off x="2160" y="2112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49" name="Line 137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50" name="Line 138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96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4821" name="Group 181"/>
          <p:cNvGrpSpPr>
            <a:grpSpLocks/>
          </p:cNvGrpSpPr>
          <p:nvPr/>
        </p:nvGrpSpPr>
        <p:grpSpPr bwMode="auto">
          <a:xfrm>
            <a:off x="5638800" y="1066800"/>
            <a:ext cx="1806575" cy="1814513"/>
            <a:chOff x="2736" y="960"/>
            <a:chExt cx="1138" cy="1143"/>
          </a:xfrm>
        </p:grpSpPr>
        <p:sp>
          <p:nvSpPr>
            <p:cNvPr id="35190" name="AutoShape 142"/>
            <p:cNvSpPr>
              <a:spLocks noChangeAspect="1" noChangeArrowheads="1" noTextEdit="1"/>
            </p:cNvSpPr>
            <p:nvPr/>
          </p:nvSpPr>
          <p:spPr bwMode="auto">
            <a:xfrm>
              <a:off x="2736" y="960"/>
              <a:ext cx="1138" cy="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1" name="Freeform 144"/>
            <p:cNvSpPr>
              <a:spLocks/>
            </p:cNvSpPr>
            <p:nvPr/>
          </p:nvSpPr>
          <p:spPr bwMode="auto">
            <a:xfrm>
              <a:off x="3812" y="1567"/>
              <a:ext cx="23" cy="83"/>
            </a:xfrm>
            <a:custGeom>
              <a:avLst/>
              <a:gdLst>
                <a:gd name="T0" fmla="*/ 23 w 46"/>
                <a:gd name="T1" fmla="*/ 83 h 165"/>
                <a:gd name="T2" fmla="*/ 23 w 46"/>
                <a:gd name="T3" fmla="*/ 1 h 165"/>
                <a:gd name="T4" fmla="*/ 5 w 46"/>
                <a:gd name="T5" fmla="*/ 0 h 165"/>
                <a:gd name="T6" fmla="*/ 0 w 46"/>
                <a:gd name="T7" fmla="*/ 83 h 165"/>
                <a:gd name="T8" fmla="*/ 23 w 46"/>
                <a:gd name="T9" fmla="*/ 83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165"/>
                <a:gd name="T17" fmla="*/ 46 w 46"/>
                <a:gd name="T18" fmla="*/ 165 h 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165">
                  <a:moveTo>
                    <a:pt x="46" y="165"/>
                  </a:moveTo>
                  <a:lnTo>
                    <a:pt x="46" y="2"/>
                  </a:lnTo>
                  <a:lnTo>
                    <a:pt x="9" y="0"/>
                  </a:lnTo>
                  <a:lnTo>
                    <a:pt x="0" y="165"/>
                  </a:lnTo>
                  <a:lnTo>
                    <a:pt x="46" y="1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2" name="Freeform 145"/>
            <p:cNvSpPr>
              <a:spLocks/>
            </p:cNvSpPr>
            <p:nvPr/>
          </p:nvSpPr>
          <p:spPr bwMode="auto">
            <a:xfrm>
              <a:off x="3690" y="1346"/>
              <a:ext cx="15" cy="53"/>
            </a:xfrm>
            <a:custGeom>
              <a:avLst/>
              <a:gdLst>
                <a:gd name="T0" fmla="*/ 15 w 30"/>
                <a:gd name="T1" fmla="*/ 27 h 106"/>
                <a:gd name="T2" fmla="*/ 14 w 30"/>
                <a:gd name="T3" fmla="*/ 16 h 106"/>
                <a:gd name="T4" fmla="*/ 11 w 30"/>
                <a:gd name="T5" fmla="*/ 8 h 106"/>
                <a:gd name="T6" fmla="*/ 7 w 30"/>
                <a:gd name="T7" fmla="*/ 3 h 106"/>
                <a:gd name="T8" fmla="*/ 2 w 30"/>
                <a:gd name="T9" fmla="*/ 0 h 106"/>
                <a:gd name="T10" fmla="*/ 0 w 30"/>
                <a:gd name="T11" fmla="*/ 53 h 106"/>
                <a:gd name="T12" fmla="*/ 6 w 30"/>
                <a:gd name="T13" fmla="*/ 51 h 106"/>
                <a:gd name="T14" fmla="*/ 11 w 30"/>
                <a:gd name="T15" fmla="*/ 45 h 106"/>
                <a:gd name="T16" fmla="*/ 14 w 30"/>
                <a:gd name="T17" fmla="*/ 37 h 106"/>
                <a:gd name="T18" fmla="*/ 15 w 30"/>
                <a:gd name="T19" fmla="*/ 27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106"/>
                <a:gd name="T32" fmla="*/ 30 w 30"/>
                <a:gd name="T33" fmla="*/ 106 h 10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106">
                  <a:moveTo>
                    <a:pt x="30" y="53"/>
                  </a:moveTo>
                  <a:lnTo>
                    <a:pt x="28" y="32"/>
                  </a:lnTo>
                  <a:lnTo>
                    <a:pt x="22" y="16"/>
                  </a:lnTo>
                  <a:lnTo>
                    <a:pt x="14" y="5"/>
                  </a:lnTo>
                  <a:lnTo>
                    <a:pt x="3" y="0"/>
                  </a:lnTo>
                  <a:lnTo>
                    <a:pt x="0" y="106"/>
                  </a:lnTo>
                  <a:lnTo>
                    <a:pt x="12" y="101"/>
                  </a:lnTo>
                  <a:lnTo>
                    <a:pt x="21" y="90"/>
                  </a:lnTo>
                  <a:lnTo>
                    <a:pt x="27" y="74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3" name="Freeform 146"/>
            <p:cNvSpPr>
              <a:spLocks/>
            </p:cNvSpPr>
            <p:nvPr/>
          </p:nvSpPr>
          <p:spPr bwMode="auto">
            <a:xfrm>
              <a:off x="3672" y="1415"/>
              <a:ext cx="39" cy="78"/>
            </a:xfrm>
            <a:custGeom>
              <a:avLst/>
              <a:gdLst>
                <a:gd name="T0" fmla="*/ 32 w 78"/>
                <a:gd name="T1" fmla="*/ 0 h 157"/>
                <a:gd name="T2" fmla="*/ 29 w 78"/>
                <a:gd name="T3" fmla="*/ 0 h 157"/>
                <a:gd name="T4" fmla="*/ 27 w 78"/>
                <a:gd name="T5" fmla="*/ 2 h 157"/>
                <a:gd name="T6" fmla="*/ 25 w 78"/>
                <a:gd name="T7" fmla="*/ 4 h 157"/>
                <a:gd name="T8" fmla="*/ 24 w 78"/>
                <a:gd name="T9" fmla="*/ 7 h 157"/>
                <a:gd name="T10" fmla="*/ 24 w 78"/>
                <a:gd name="T11" fmla="*/ 19 h 157"/>
                <a:gd name="T12" fmla="*/ 1 w 78"/>
                <a:gd name="T13" fmla="*/ 19 h 157"/>
                <a:gd name="T14" fmla="*/ 1 w 78"/>
                <a:gd name="T15" fmla="*/ 28 h 157"/>
                <a:gd name="T16" fmla="*/ 24 w 78"/>
                <a:gd name="T17" fmla="*/ 28 h 157"/>
                <a:gd name="T18" fmla="*/ 24 w 78"/>
                <a:gd name="T19" fmla="*/ 42 h 157"/>
                <a:gd name="T20" fmla="*/ 0 w 78"/>
                <a:gd name="T21" fmla="*/ 42 h 157"/>
                <a:gd name="T22" fmla="*/ 0 w 78"/>
                <a:gd name="T23" fmla="*/ 51 h 157"/>
                <a:gd name="T24" fmla="*/ 24 w 78"/>
                <a:gd name="T25" fmla="*/ 51 h 157"/>
                <a:gd name="T26" fmla="*/ 23 w 78"/>
                <a:gd name="T27" fmla="*/ 71 h 157"/>
                <a:gd name="T28" fmla="*/ 24 w 78"/>
                <a:gd name="T29" fmla="*/ 74 h 157"/>
                <a:gd name="T30" fmla="*/ 25 w 78"/>
                <a:gd name="T31" fmla="*/ 76 h 157"/>
                <a:gd name="T32" fmla="*/ 27 w 78"/>
                <a:gd name="T33" fmla="*/ 78 h 157"/>
                <a:gd name="T34" fmla="*/ 30 w 78"/>
                <a:gd name="T35" fmla="*/ 78 h 157"/>
                <a:gd name="T36" fmla="*/ 33 w 78"/>
                <a:gd name="T37" fmla="*/ 78 h 157"/>
                <a:gd name="T38" fmla="*/ 35 w 78"/>
                <a:gd name="T39" fmla="*/ 76 h 157"/>
                <a:gd name="T40" fmla="*/ 37 w 78"/>
                <a:gd name="T41" fmla="*/ 74 h 157"/>
                <a:gd name="T42" fmla="*/ 37 w 78"/>
                <a:gd name="T43" fmla="*/ 71 h 157"/>
                <a:gd name="T44" fmla="*/ 39 w 78"/>
                <a:gd name="T45" fmla="*/ 7 h 157"/>
                <a:gd name="T46" fmla="*/ 39 w 78"/>
                <a:gd name="T47" fmla="*/ 4 h 157"/>
                <a:gd name="T48" fmla="*/ 37 w 78"/>
                <a:gd name="T49" fmla="*/ 2 h 157"/>
                <a:gd name="T50" fmla="*/ 35 w 78"/>
                <a:gd name="T51" fmla="*/ 0 h 157"/>
                <a:gd name="T52" fmla="*/ 32 w 78"/>
                <a:gd name="T53" fmla="*/ 0 h 15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78"/>
                <a:gd name="T82" fmla="*/ 0 h 157"/>
                <a:gd name="T83" fmla="*/ 78 w 78"/>
                <a:gd name="T84" fmla="*/ 157 h 15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78" h="157">
                  <a:moveTo>
                    <a:pt x="64" y="0"/>
                  </a:moveTo>
                  <a:lnTo>
                    <a:pt x="58" y="1"/>
                  </a:lnTo>
                  <a:lnTo>
                    <a:pt x="54" y="5"/>
                  </a:lnTo>
                  <a:lnTo>
                    <a:pt x="50" y="9"/>
                  </a:lnTo>
                  <a:lnTo>
                    <a:pt x="49" y="15"/>
                  </a:lnTo>
                  <a:lnTo>
                    <a:pt x="49" y="38"/>
                  </a:lnTo>
                  <a:lnTo>
                    <a:pt x="1" y="38"/>
                  </a:lnTo>
                  <a:lnTo>
                    <a:pt x="1" y="56"/>
                  </a:lnTo>
                  <a:lnTo>
                    <a:pt x="49" y="56"/>
                  </a:lnTo>
                  <a:lnTo>
                    <a:pt x="48" y="84"/>
                  </a:lnTo>
                  <a:lnTo>
                    <a:pt x="0" y="84"/>
                  </a:lnTo>
                  <a:lnTo>
                    <a:pt x="0" y="102"/>
                  </a:lnTo>
                  <a:lnTo>
                    <a:pt x="48" y="102"/>
                  </a:lnTo>
                  <a:lnTo>
                    <a:pt x="47" y="142"/>
                  </a:lnTo>
                  <a:lnTo>
                    <a:pt x="48" y="148"/>
                  </a:lnTo>
                  <a:lnTo>
                    <a:pt x="50" y="152"/>
                  </a:lnTo>
                  <a:lnTo>
                    <a:pt x="55" y="156"/>
                  </a:lnTo>
                  <a:lnTo>
                    <a:pt x="61" y="157"/>
                  </a:lnTo>
                  <a:lnTo>
                    <a:pt x="65" y="156"/>
                  </a:lnTo>
                  <a:lnTo>
                    <a:pt x="70" y="152"/>
                  </a:lnTo>
                  <a:lnTo>
                    <a:pt x="73" y="148"/>
                  </a:lnTo>
                  <a:lnTo>
                    <a:pt x="74" y="142"/>
                  </a:lnTo>
                  <a:lnTo>
                    <a:pt x="78" y="15"/>
                  </a:lnTo>
                  <a:lnTo>
                    <a:pt x="77" y="9"/>
                  </a:lnTo>
                  <a:lnTo>
                    <a:pt x="74" y="5"/>
                  </a:lnTo>
                  <a:lnTo>
                    <a:pt x="70" y="1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4" name="Freeform 149"/>
            <p:cNvSpPr>
              <a:spLocks/>
            </p:cNvSpPr>
            <p:nvPr/>
          </p:nvSpPr>
          <p:spPr bwMode="auto">
            <a:xfrm>
              <a:off x="2810" y="1365"/>
              <a:ext cx="960" cy="433"/>
            </a:xfrm>
            <a:custGeom>
              <a:avLst/>
              <a:gdLst>
                <a:gd name="T0" fmla="*/ 876 w 1920"/>
                <a:gd name="T1" fmla="*/ 129 h 866"/>
                <a:gd name="T2" fmla="*/ 893 w 1920"/>
                <a:gd name="T3" fmla="*/ 149 h 866"/>
                <a:gd name="T4" fmla="*/ 895 w 1920"/>
                <a:gd name="T5" fmla="*/ 154 h 866"/>
                <a:gd name="T6" fmla="*/ 900 w 1920"/>
                <a:gd name="T7" fmla="*/ 156 h 866"/>
                <a:gd name="T8" fmla="*/ 905 w 1920"/>
                <a:gd name="T9" fmla="*/ 154 h 866"/>
                <a:gd name="T10" fmla="*/ 907 w 1920"/>
                <a:gd name="T11" fmla="*/ 149 h 866"/>
                <a:gd name="T12" fmla="*/ 908 w 1920"/>
                <a:gd name="T13" fmla="*/ 83 h 866"/>
                <a:gd name="T14" fmla="*/ 904 w 1920"/>
                <a:gd name="T15" fmla="*/ 79 h 866"/>
                <a:gd name="T16" fmla="*/ 899 w 1920"/>
                <a:gd name="T17" fmla="*/ 79 h 866"/>
                <a:gd name="T18" fmla="*/ 895 w 1920"/>
                <a:gd name="T19" fmla="*/ 83 h 866"/>
                <a:gd name="T20" fmla="*/ 894 w 1920"/>
                <a:gd name="T21" fmla="*/ 98 h 866"/>
                <a:gd name="T22" fmla="*/ 878 w 1920"/>
                <a:gd name="T23" fmla="*/ 38 h 866"/>
                <a:gd name="T24" fmla="*/ 876 w 1920"/>
                <a:gd name="T25" fmla="*/ 24 h 866"/>
                <a:gd name="T26" fmla="*/ 870 w 1920"/>
                <a:gd name="T27" fmla="*/ 12 h 866"/>
                <a:gd name="T28" fmla="*/ 860 w 1920"/>
                <a:gd name="T29" fmla="*/ 3 h 866"/>
                <a:gd name="T30" fmla="*/ 848 w 1920"/>
                <a:gd name="T31" fmla="*/ 0 h 866"/>
                <a:gd name="T32" fmla="*/ 127 w 1920"/>
                <a:gd name="T33" fmla="*/ 8 h 866"/>
                <a:gd name="T34" fmla="*/ 38 w 1920"/>
                <a:gd name="T35" fmla="*/ 6 h 866"/>
                <a:gd name="T36" fmla="*/ 10 w 1920"/>
                <a:gd name="T37" fmla="*/ 6 h 866"/>
                <a:gd name="T38" fmla="*/ 8 w 1920"/>
                <a:gd name="T39" fmla="*/ 7 h 866"/>
                <a:gd name="T40" fmla="*/ 4 w 1920"/>
                <a:gd name="T41" fmla="*/ 7 h 866"/>
                <a:gd name="T42" fmla="*/ 0 w 1920"/>
                <a:gd name="T43" fmla="*/ 7 h 866"/>
                <a:gd name="T44" fmla="*/ 183 w 1920"/>
                <a:gd name="T45" fmla="*/ 355 h 866"/>
                <a:gd name="T46" fmla="*/ 183 w 1920"/>
                <a:gd name="T47" fmla="*/ 357 h 866"/>
                <a:gd name="T48" fmla="*/ 183 w 1920"/>
                <a:gd name="T49" fmla="*/ 360 h 866"/>
                <a:gd name="T50" fmla="*/ 184 w 1920"/>
                <a:gd name="T51" fmla="*/ 376 h 866"/>
                <a:gd name="T52" fmla="*/ 194 w 1920"/>
                <a:gd name="T53" fmla="*/ 402 h 866"/>
                <a:gd name="T54" fmla="*/ 212 w 1920"/>
                <a:gd name="T55" fmla="*/ 421 h 866"/>
                <a:gd name="T56" fmla="*/ 236 w 1920"/>
                <a:gd name="T57" fmla="*/ 432 h 866"/>
                <a:gd name="T58" fmla="*/ 263 w 1920"/>
                <a:gd name="T59" fmla="*/ 432 h 866"/>
                <a:gd name="T60" fmla="*/ 288 w 1920"/>
                <a:gd name="T61" fmla="*/ 422 h 866"/>
                <a:gd name="T62" fmla="*/ 307 w 1920"/>
                <a:gd name="T63" fmla="*/ 404 h 866"/>
                <a:gd name="T64" fmla="*/ 318 w 1920"/>
                <a:gd name="T65" fmla="*/ 378 h 866"/>
                <a:gd name="T66" fmla="*/ 319 w 1920"/>
                <a:gd name="T67" fmla="*/ 362 h 866"/>
                <a:gd name="T68" fmla="*/ 319 w 1920"/>
                <a:gd name="T69" fmla="*/ 359 h 866"/>
                <a:gd name="T70" fmla="*/ 460 w 1920"/>
                <a:gd name="T71" fmla="*/ 352 h 866"/>
                <a:gd name="T72" fmla="*/ 886 w 1920"/>
                <a:gd name="T73" fmla="*/ 366 h 866"/>
                <a:gd name="T74" fmla="*/ 898 w 1920"/>
                <a:gd name="T75" fmla="*/ 340 h 866"/>
                <a:gd name="T76" fmla="*/ 923 w 1920"/>
                <a:gd name="T77" fmla="*/ 272 h 866"/>
                <a:gd name="T78" fmla="*/ 949 w 1920"/>
                <a:gd name="T79" fmla="*/ 202 h 866"/>
                <a:gd name="T80" fmla="*/ 960 w 1920"/>
                <a:gd name="T81" fmla="*/ 170 h 86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20"/>
                <a:gd name="T124" fmla="*/ 0 h 866"/>
                <a:gd name="T125" fmla="*/ 1920 w 1920"/>
                <a:gd name="T126" fmla="*/ 866 h 86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20" h="866">
                  <a:moveTo>
                    <a:pt x="1749" y="340"/>
                  </a:moveTo>
                  <a:lnTo>
                    <a:pt x="1751" y="258"/>
                  </a:lnTo>
                  <a:lnTo>
                    <a:pt x="1787" y="258"/>
                  </a:lnTo>
                  <a:lnTo>
                    <a:pt x="1786" y="297"/>
                  </a:lnTo>
                  <a:lnTo>
                    <a:pt x="1787" y="303"/>
                  </a:lnTo>
                  <a:lnTo>
                    <a:pt x="1789" y="308"/>
                  </a:lnTo>
                  <a:lnTo>
                    <a:pt x="1794" y="311"/>
                  </a:lnTo>
                  <a:lnTo>
                    <a:pt x="1800" y="312"/>
                  </a:lnTo>
                  <a:lnTo>
                    <a:pt x="1804" y="311"/>
                  </a:lnTo>
                  <a:lnTo>
                    <a:pt x="1809" y="308"/>
                  </a:lnTo>
                  <a:lnTo>
                    <a:pt x="1812" y="303"/>
                  </a:lnTo>
                  <a:lnTo>
                    <a:pt x="1814" y="297"/>
                  </a:lnTo>
                  <a:lnTo>
                    <a:pt x="1817" y="172"/>
                  </a:lnTo>
                  <a:lnTo>
                    <a:pt x="1816" y="166"/>
                  </a:lnTo>
                  <a:lnTo>
                    <a:pt x="1812" y="161"/>
                  </a:lnTo>
                  <a:lnTo>
                    <a:pt x="1808" y="158"/>
                  </a:lnTo>
                  <a:lnTo>
                    <a:pt x="1803" y="157"/>
                  </a:lnTo>
                  <a:lnTo>
                    <a:pt x="1797" y="158"/>
                  </a:lnTo>
                  <a:lnTo>
                    <a:pt x="1793" y="161"/>
                  </a:lnTo>
                  <a:lnTo>
                    <a:pt x="1789" y="166"/>
                  </a:lnTo>
                  <a:lnTo>
                    <a:pt x="1788" y="172"/>
                  </a:lnTo>
                  <a:lnTo>
                    <a:pt x="1788" y="195"/>
                  </a:lnTo>
                  <a:lnTo>
                    <a:pt x="1752" y="195"/>
                  </a:lnTo>
                  <a:lnTo>
                    <a:pt x="1755" y="75"/>
                  </a:lnTo>
                  <a:lnTo>
                    <a:pt x="1754" y="62"/>
                  </a:lnTo>
                  <a:lnTo>
                    <a:pt x="1751" y="48"/>
                  </a:lnTo>
                  <a:lnTo>
                    <a:pt x="1746" y="36"/>
                  </a:lnTo>
                  <a:lnTo>
                    <a:pt x="1739" y="24"/>
                  </a:lnTo>
                  <a:lnTo>
                    <a:pt x="1729" y="15"/>
                  </a:lnTo>
                  <a:lnTo>
                    <a:pt x="1719" y="7"/>
                  </a:lnTo>
                  <a:lnTo>
                    <a:pt x="1709" y="2"/>
                  </a:lnTo>
                  <a:lnTo>
                    <a:pt x="1696" y="0"/>
                  </a:lnTo>
                  <a:lnTo>
                    <a:pt x="158" y="14"/>
                  </a:lnTo>
                  <a:lnTo>
                    <a:pt x="254" y="16"/>
                  </a:lnTo>
                  <a:lnTo>
                    <a:pt x="75" y="15"/>
                  </a:lnTo>
                  <a:lnTo>
                    <a:pt x="75" y="12"/>
                  </a:lnTo>
                  <a:lnTo>
                    <a:pt x="26" y="12"/>
                  </a:lnTo>
                  <a:lnTo>
                    <a:pt x="19" y="12"/>
                  </a:lnTo>
                  <a:lnTo>
                    <a:pt x="15" y="12"/>
                  </a:lnTo>
                  <a:lnTo>
                    <a:pt x="15" y="13"/>
                  </a:lnTo>
                  <a:lnTo>
                    <a:pt x="11" y="13"/>
                  </a:lnTo>
                  <a:lnTo>
                    <a:pt x="8" y="14"/>
                  </a:lnTo>
                  <a:lnTo>
                    <a:pt x="3" y="14"/>
                  </a:lnTo>
                  <a:lnTo>
                    <a:pt x="0" y="15"/>
                  </a:lnTo>
                  <a:lnTo>
                    <a:pt x="211" y="714"/>
                  </a:lnTo>
                  <a:lnTo>
                    <a:pt x="366" y="710"/>
                  </a:lnTo>
                  <a:lnTo>
                    <a:pt x="366" y="713"/>
                  </a:lnTo>
                  <a:lnTo>
                    <a:pt x="366" y="717"/>
                  </a:lnTo>
                  <a:lnTo>
                    <a:pt x="366" y="720"/>
                  </a:lnTo>
                  <a:lnTo>
                    <a:pt x="365" y="724"/>
                  </a:lnTo>
                  <a:lnTo>
                    <a:pt x="367" y="752"/>
                  </a:lnTo>
                  <a:lnTo>
                    <a:pt x="375" y="779"/>
                  </a:lnTo>
                  <a:lnTo>
                    <a:pt x="387" y="803"/>
                  </a:lnTo>
                  <a:lnTo>
                    <a:pt x="403" y="824"/>
                  </a:lnTo>
                  <a:lnTo>
                    <a:pt x="423" y="842"/>
                  </a:lnTo>
                  <a:lnTo>
                    <a:pt x="446" y="855"/>
                  </a:lnTo>
                  <a:lnTo>
                    <a:pt x="471" y="863"/>
                  </a:lnTo>
                  <a:lnTo>
                    <a:pt x="499" y="866"/>
                  </a:lnTo>
                  <a:lnTo>
                    <a:pt x="526" y="864"/>
                  </a:lnTo>
                  <a:lnTo>
                    <a:pt x="553" y="856"/>
                  </a:lnTo>
                  <a:lnTo>
                    <a:pt x="576" y="843"/>
                  </a:lnTo>
                  <a:lnTo>
                    <a:pt x="597" y="826"/>
                  </a:lnTo>
                  <a:lnTo>
                    <a:pt x="614" y="807"/>
                  </a:lnTo>
                  <a:lnTo>
                    <a:pt x="627" y="782"/>
                  </a:lnTo>
                  <a:lnTo>
                    <a:pt x="635" y="756"/>
                  </a:lnTo>
                  <a:lnTo>
                    <a:pt x="638" y="727"/>
                  </a:lnTo>
                  <a:lnTo>
                    <a:pt x="638" y="724"/>
                  </a:lnTo>
                  <a:lnTo>
                    <a:pt x="638" y="720"/>
                  </a:lnTo>
                  <a:lnTo>
                    <a:pt x="638" y="718"/>
                  </a:lnTo>
                  <a:lnTo>
                    <a:pt x="638" y="714"/>
                  </a:lnTo>
                  <a:lnTo>
                    <a:pt x="919" y="703"/>
                  </a:lnTo>
                  <a:lnTo>
                    <a:pt x="1069" y="704"/>
                  </a:lnTo>
                  <a:lnTo>
                    <a:pt x="1771" y="731"/>
                  </a:lnTo>
                  <a:lnTo>
                    <a:pt x="1778" y="720"/>
                  </a:lnTo>
                  <a:lnTo>
                    <a:pt x="1795" y="680"/>
                  </a:lnTo>
                  <a:lnTo>
                    <a:pt x="1818" y="618"/>
                  </a:lnTo>
                  <a:lnTo>
                    <a:pt x="1846" y="544"/>
                  </a:lnTo>
                  <a:lnTo>
                    <a:pt x="1872" y="470"/>
                  </a:lnTo>
                  <a:lnTo>
                    <a:pt x="1897" y="404"/>
                  </a:lnTo>
                  <a:lnTo>
                    <a:pt x="1913" y="357"/>
                  </a:lnTo>
                  <a:lnTo>
                    <a:pt x="1920" y="340"/>
                  </a:lnTo>
                  <a:lnTo>
                    <a:pt x="1749" y="340"/>
                  </a:lnTo>
                  <a:close/>
                </a:path>
              </a:pathLst>
            </a:custGeom>
            <a:solidFill>
              <a:srgbClr val="D6C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5" name="Freeform 150"/>
            <p:cNvSpPr>
              <a:spLocks/>
            </p:cNvSpPr>
            <p:nvPr/>
          </p:nvSpPr>
          <p:spPr bwMode="auto">
            <a:xfrm>
              <a:off x="2777" y="1344"/>
              <a:ext cx="1051" cy="347"/>
            </a:xfrm>
            <a:custGeom>
              <a:avLst/>
              <a:gdLst>
                <a:gd name="T0" fmla="*/ 30 w 2102"/>
                <a:gd name="T1" fmla="*/ 0 h 693"/>
                <a:gd name="T2" fmla="*/ 876 w 2102"/>
                <a:gd name="T3" fmla="*/ 10 h 693"/>
                <a:gd name="T4" fmla="*/ 888 w 2102"/>
                <a:gd name="T5" fmla="*/ 22 h 693"/>
                <a:gd name="T6" fmla="*/ 894 w 2102"/>
                <a:gd name="T7" fmla="*/ 53 h 693"/>
                <a:gd name="T8" fmla="*/ 894 w 2102"/>
                <a:gd name="T9" fmla="*/ 179 h 693"/>
                <a:gd name="T10" fmla="*/ 1042 w 2102"/>
                <a:gd name="T11" fmla="*/ 176 h 693"/>
                <a:gd name="T12" fmla="*/ 1051 w 2102"/>
                <a:gd name="T13" fmla="*/ 205 h 693"/>
                <a:gd name="T14" fmla="*/ 1051 w 2102"/>
                <a:gd name="T15" fmla="*/ 274 h 693"/>
                <a:gd name="T16" fmla="*/ 1048 w 2102"/>
                <a:gd name="T17" fmla="*/ 347 h 693"/>
                <a:gd name="T18" fmla="*/ 328 w 2102"/>
                <a:gd name="T19" fmla="*/ 343 h 693"/>
                <a:gd name="T20" fmla="*/ 0 w 2102"/>
                <a:gd name="T21" fmla="*/ 340 h 693"/>
                <a:gd name="T22" fmla="*/ 3 w 2102"/>
                <a:gd name="T23" fmla="*/ 287 h 693"/>
                <a:gd name="T24" fmla="*/ 6 w 2102"/>
                <a:gd name="T25" fmla="*/ 101 h 693"/>
                <a:gd name="T26" fmla="*/ 9 w 2102"/>
                <a:gd name="T27" fmla="*/ 41 h 693"/>
                <a:gd name="T28" fmla="*/ 30 w 2102"/>
                <a:gd name="T29" fmla="*/ 0 h 6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2"/>
                <a:gd name="T46" fmla="*/ 0 h 693"/>
                <a:gd name="T47" fmla="*/ 2102 w 2102"/>
                <a:gd name="T48" fmla="*/ 693 h 6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2" h="693">
                  <a:moveTo>
                    <a:pt x="61" y="0"/>
                  </a:moveTo>
                  <a:lnTo>
                    <a:pt x="1753" y="19"/>
                  </a:lnTo>
                  <a:lnTo>
                    <a:pt x="1777" y="44"/>
                  </a:lnTo>
                  <a:lnTo>
                    <a:pt x="1789" y="106"/>
                  </a:lnTo>
                  <a:lnTo>
                    <a:pt x="1789" y="358"/>
                  </a:lnTo>
                  <a:lnTo>
                    <a:pt x="2084" y="352"/>
                  </a:lnTo>
                  <a:lnTo>
                    <a:pt x="2102" y="409"/>
                  </a:lnTo>
                  <a:lnTo>
                    <a:pt x="2102" y="548"/>
                  </a:lnTo>
                  <a:lnTo>
                    <a:pt x="2096" y="693"/>
                  </a:lnTo>
                  <a:lnTo>
                    <a:pt x="656" y="686"/>
                  </a:lnTo>
                  <a:lnTo>
                    <a:pt x="0" y="680"/>
                  </a:lnTo>
                  <a:lnTo>
                    <a:pt x="6" y="573"/>
                  </a:lnTo>
                  <a:lnTo>
                    <a:pt x="13" y="201"/>
                  </a:lnTo>
                  <a:lnTo>
                    <a:pt x="18" y="8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DD6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6" name="Freeform 151"/>
            <p:cNvSpPr>
              <a:spLocks/>
            </p:cNvSpPr>
            <p:nvPr/>
          </p:nvSpPr>
          <p:spPr bwMode="auto">
            <a:xfrm>
              <a:off x="2777" y="1532"/>
              <a:ext cx="1054" cy="163"/>
            </a:xfrm>
            <a:custGeom>
              <a:avLst/>
              <a:gdLst>
                <a:gd name="T0" fmla="*/ 1054 w 2108"/>
                <a:gd name="T1" fmla="*/ 13 h 326"/>
                <a:gd name="T2" fmla="*/ 1013 w 2108"/>
                <a:gd name="T3" fmla="*/ 0 h 326"/>
                <a:gd name="T4" fmla="*/ 1017 w 2108"/>
                <a:gd name="T5" fmla="*/ 70 h 326"/>
                <a:gd name="T6" fmla="*/ 970 w 2108"/>
                <a:gd name="T7" fmla="*/ 55 h 326"/>
                <a:gd name="T8" fmla="*/ 930 w 2108"/>
                <a:gd name="T9" fmla="*/ 57 h 326"/>
                <a:gd name="T10" fmla="*/ 908 w 2108"/>
                <a:gd name="T11" fmla="*/ 70 h 326"/>
                <a:gd name="T12" fmla="*/ 889 w 2108"/>
                <a:gd name="T13" fmla="*/ 87 h 326"/>
                <a:gd name="T14" fmla="*/ 865 w 2108"/>
                <a:gd name="T15" fmla="*/ 119 h 326"/>
                <a:gd name="T16" fmla="*/ 0 w 2108"/>
                <a:gd name="T17" fmla="*/ 117 h 326"/>
                <a:gd name="T18" fmla="*/ 2 w 2108"/>
                <a:gd name="T19" fmla="*/ 163 h 326"/>
                <a:gd name="T20" fmla="*/ 1043 w 2108"/>
                <a:gd name="T21" fmla="*/ 159 h 326"/>
                <a:gd name="T22" fmla="*/ 1043 w 2108"/>
                <a:gd name="T23" fmla="*/ 116 h 326"/>
                <a:gd name="T24" fmla="*/ 1051 w 2108"/>
                <a:gd name="T25" fmla="*/ 117 h 326"/>
                <a:gd name="T26" fmla="*/ 1054 w 2108"/>
                <a:gd name="T27" fmla="*/ 13 h 32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08"/>
                <a:gd name="T43" fmla="*/ 0 h 326"/>
                <a:gd name="T44" fmla="*/ 2108 w 2108"/>
                <a:gd name="T45" fmla="*/ 326 h 32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08" h="326">
                  <a:moveTo>
                    <a:pt x="2108" y="27"/>
                  </a:moveTo>
                  <a:lnTo>
                    <a:pt x="2027" y="0"/>
                  </a:lnTo>
                  <a:lnTo>
                    <a:pt x="2034" y="139"/>
                  </a:lnTo>
                  <a:lnTo>
                    <a:pt x="1940" y="111"/>
                  </a:lnTo>
                  <a:lnTo>
                    <a:pt x="1860" y="115"/>
                  </a:lnTo>
                  <a:lnTo>
                    <a:pt x="1816" y="139"/>
                  </a:lnTo>
                  <a:lnTo>
                    <a:pt x="1779" y="174"/>
                  </a:lnTo>
                  <a:lnTo>
                    <a:pt x="1730" y="239"/>
                  </a:lnTo>
                  <a:lnTo>
                    <a:pt x="0" y="235"/>
                  </a:lnTo>
                  <a:lnTo>
                    <a:pt x="4" y="326"/>
                  </a:lnTo>
                  <a:lnTo>
                    <a:pt x="2085" y="318"/>
                  </a:lnTo>
                  <a:lnTo>
                    <a:pt x="2085" y="232"/>
                  </a:lnTo>
                  <a:lnTo>
                    <a:pt x="2102" y="235"/>
                  </a:lnTo>
                  <a:lnTo>
                    <a:pt x="2108" y="27"/>
                  </a:lnTo>
                  <a:close/>
                </a:path>
              </a:pathLst>
            </a:custGeom>
            <a:solidFill>
              <a:srgbClr val="C9B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7" name="Freeform 152"/>
            <p:cNvSpPr>
              <a:spLocks/>
            </p:cNvSpPr>
            <p:nvPr/>
          </p:nvSpPr>
          <p:spPr bwMode="auto">
            <a:xfrm>
              <a:off x="2782" y="1380"/>
              <a:ext cx="64" cy="281"/>
            </a:xfrm>
            <a:custGeom>
              <a:avLst/>
              <a:gdLst>
                <a:gd name="T0" fmla="*/ 28 w 129"/>
                <a:gd name="T1" fmla="*/ 0 h 561"/>
                <a:gd name="T2" fmla="*/ 58 w 129"/>
                <a:gd name="T3" fmla="*/ 0 h 561"/>
                <a:gd name="T4" fmla="*/ 36 w 129"/>
                <a:gd name="T5" fmla="*/ 230 h 561"/>
                <a:gd name="T6" fmla="*/ 36 w 129"/>
                <a:gd name="T7" fmla="*/ 234 h 561"/>
                <a:gd name="T8" fmla="*/ 35 w 129"/>
                <a:gd name="T9" fmla="*/ 242 h 561"/>
                <a:gd name="T10" fmla="*/ 37 w 129"/>
                <a:gd name="T11" fmla="*/ 253 h 561"/>
                <a:gd name="T12" fmla="*/ 40 w 129"/>
                <a:gd name="T13" fmla="*/ 262 h 561"/>
                <a:gd name="T14" fmla="*/ 43 w 129"/>
                <a:gd name="T15" fmla="*/ 266 h 561"/>
                <a:gd name="T16" fmla="*/ 46 w 129"/>
                <a:gd name="T17" fmla="*/ 269 h 561"/>
                <a:gd name="T18" fmla="*/ 50 w 129"/>
                <a:gd name="T19" fmla="*/ 272 h 561"/>
                <a:gd name="T20" fmla="*/ 55 w 129"/>
                <a:gd name="T21" fmla="*/ 275 h 561"/>
                <a:gd name="T22" fmla="*/ 58 w 129"/>
                <a:gd name="T23" fmla="*/ 277 h 561"/>
                <a:gd name="T24" fmla="*/ 61 w 129"/>
                <a:gd name="T25" fmla="*/ 279 h 561"/>
                <a:gd name="T26" fmla="*/ 64 w 129"/>
                <a:gd name="T27" fmla="*/ 280 h 561"/>
                <a:gd name="T28" fmla="*/ 64 w 129"/>
                <a:gd name="T29" fmla="*/ 281 h 561"/>
                <a:gd name="T30" fmla="*/ 0 w 129"/>
                <a:gd name="T31" fmla="*/ 278 h 561"/>
                <a:gd name="T32" fmla="*/ 14 w 129"/>
                <a:gd name="T33" fmla="*/ 64 h 561"/>
                <a:gd name="T34" fmla="*/ 28 w 129"/>
                <a:gd name="T35" fmla="*/ 0 h 56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29"/>
                <a:gd name="T55" fmla="*/ 0 h 561"/>
                <a:gd name="T56" fmla="*/ 129 w 129"/>
                <a:gd name="T57" fmla="*/ 561 h 56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29" h="561">
                  <a:moveTo>
                    <a:pt x="57" y="0"/>
                  </a:moveTo>
                  <a:lnTo>
                    <a:pt x="116" y="0"/>
                  </a:lnTo>
                  <a:lnTo>
                    <a:pt x="73" y="460"/>
                  </a:lnTo>
                  <a:lnTo>
                    <a:pt x="73" y="467"/>
                  </a:lnTo>
                  <a:lnTo>
                    <a:pt x="71" y="484"/>
                  </a:lnTo>
                  <a:lnTo>
                    <a:pt x="74" y="505"/>
                  </a:lnTo>
                  <a:lnTo>
                    <a:pt x="81" y="523"/>
                  </a:lnTo>
                  <a:lnTo>
                    <a:pt x="86" y="531"/>
                  </a:lnTo>
                  <a:lnTo>
                    <a:pt x="93" y="538"/>
                  </a:lnTo>
                  <a:lnTo>
                    <a:pt x="101" y="544"/>
                  </a:lnTo>
                  <a:lnTo>
                    <a:pt x="110" y="550"/>
                  </a:lnTo>
                  <a:lnTo>
                    <a:pt x="116" y="554"/>
                  </a:lnTo>
                  <a:lnTo>
                    <a:pt x="123" y="558"/>
                  </a:lnTo>
                  <a:lnTo>
                    <a:pt x="128" y="560"/>
                  </a:lnTo>
                  <a:lnTo>
                    <a:pt x="129" y="561"/>
                  </a:lnTo>
                  <a:lnTo>
                    <a:pt x="0" y="556"/>
                  </a:lnTo>
                  <a:lnTo>
                    <a:pt x="29" y="128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C9B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8" name="Freeform 153"/>
            <p:cNvSpPr>
              <a:spLocks/>
            </p:cNvSpPr>
            <p:nvPr/>
          </p:nvSpPr>
          <p:spPr bwMode="auto">
            <a:xfrm>
              <a:off x="2755" y="1363"/>
              <a:ext cx="15" cy="53"/>
            </a:xfrm>
            <a:custGeom>
              <a:avLst/>
              <a:gdLst>
                <a:gd name="T0" fmla="*/ 0 w 30"/>
                <a:gd name="T1" fmla="*/ 26 h 106"/>
                <a:gd name="T2" fmla="*/ 2 w 30"/>
                <a:gd name="T3" fmla="*/ 17 h 106"/>
                <a:gd name="T4" fmla="*/ 5 w 30"/>
                <a:gd name="T5" fmla="*/ 7 h 106"/>
                <a:gd name="T6" fmla="*/ 9 w 30"/>
                <a:gd name="T7" fmla="*/ 3 h 106"/>
                <a:gd name="T8" fmla="*/ 15 w 30"/>
                <a:gd name="T9" fmla="*/ 0 h 106"/>
                <a:gd name="T10" fmla="*/ 14 w 30"/>
                <a:gd name="T11" fmla="*/ 53 h 106"/>
                <a:gd name="T12" fmla="*/ 8 w 30"/>
                <a:gd name="T13" fmla="*/ 51 h 106"/>
                <a:gd name="T14" fmla="*/ 4 w 30"/>
                <a:gd name="T15" fmla="*/ 45 h 106"/>
                <a:gd name="T16" fmla="*/ 1 w 30"/>
                <a:gd name="T17" fmla="*/ 37 h 106"/>
                <a:gd name="T18" fmla="*/ 0 w 30"/>
                <a:gd name="T19" fmla="*/ 26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106"/>
                <a:gd name="T32" fmla="*/ 30 w 30"/>
                <a:gd name="T33" fmla="*/ 106 h 10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106">
                  <a:moveTo>
                    <a:pt x="0" y="52"/>
                  </a:moveTo>
                  <a:lnTo>
                    <a:pt x="3" y="33"/>
                  </a:lnTo>
                  <a:lnTo>
                    <a:pt x="9" y="15"/>
                  </a:lnTo>
                  <a:lnTo>
                    <a:pt x="18" y="5"/>
                  </a:lnTo>
                  <a:lnTo>
                    <a:pt x="30" y="0"/>
                  </a:lnTo>
                  <a:lnTo>
                    <a:pt x="28" y="106"/>
                  </a:lnTo>
                  <a:lnTo>
                    <a:pt x="16" y="102"/>
                  </a:lnTo>
                  <a:lnTo>
                    <a:pt x="8" y="90"/>
                  </a:lnTo>
                  <a:lnTo>
                    <a:pt x="2" y="73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9" name="Freeform 154"/>
            <p:cNvSpPr>
              <a:spLocks/>
            </p:cNvSpPr>
            <p:nvPr/>
          </p:nvSpPr>
          <p:spPr bwMode="auto">
            <a:xfrm>
              <a:off x="2845" y="1467"/>
              <a:ext cx="93" cy="41"/>
            </a:xfrm>
            <a:custGeom>
              <a:avLst/>
              <a:gdLst>
                <a:gd name="T0" fmla="*/ 0 w 186"/>
                <a:gd name="T1" fmla="*/ 41 h 83"/>
                <a:gd name="T2" fmla="*/ 92 w 186"/>
                <a:gd name="T3" fmla="*/ 41 h 83"/>
                <a:gd name="T4" fmla="*/ 93 w 186"/>
                <a:gd name="T5" fmla="*/ 0 h 83"/>
                <a:gd name="T6" fmla="*/ 1 w 186"/>
                <a:gd name="T7" fmla="*/ 0 h 83"/>
                <a:gd name="T8" fmla="*/ 0 w 186"/>
                <a:gd name="T9" fmla="*/ 41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83"/>
                <a:gd name="T17" fmla="*/ 186 w 186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83">
                  <a:moveTo>
                    <a:pt x="0" y="83"/>
                  </a:moveTo>
                  <a:lnTo>
                    <a:pt x="184" y="83"/>
                  </a:lnTo>
                  <a:lnTo>
                    <a:pt x="186" y="0"/>
                  </a:lnTo>
                  <a:lnTo>
                    <a:pt x="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0" name="Freeform 155"/>
            <p:cNvSpPr>
              <a:spLocks/>
            </p:cNvSpPr>
            <p:nvPr/>
          </p:nvSpPr>
          <p:spPr bwMode="auto">
            <a:xfrm>
              <a:off x="2846" y="1416"/>
              <a:ext cx="93" cy="37"/>
            </a:xfrm>
            <a:custGeom>
              <a:avLst/>
              <a:gdLst>
                <a:gd name="T0" fmla="*/ 93 w 186"/>
                <a:gd name="T1" fmla="*/ 0 h 74"/>
                <a:gd name="T2" fmla="*/ 1 w 186"/>
                <a:gd name="T3" fmla="*/ 0 h 74"/>
                <a:gd name="T4" fmla="*/ 0 w 186"/>
                <a:gd name="T5" fmla="*/ 37 h 74"/>
                <a:gd name="T6" fmla="*/ 92 w 186"/>
                <a:gd name="T7" fmla="*/ 37 h 74"/>
                <a:gd name="T8" fmla="*/ 93 w 186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74"/>
                <a:gd name="T17" fmla="*/ 186 w 186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74">
                  <a:moveTo>
                    <a:pt x="186" y="0"/>
                  </a:moveTo>
                  <a:lnTo>
                    <a:pt x="1" y="0"/>
                  </a:lnTo>
                  <a:lnTo>
                    <a:pt x="0" y="74"/>
                  </a:lnTo>
                  <a:lnTo>
                    <a:pt x="184" y="7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1" name="Freeform 156"/>
            <p:cNvSpPr>
              <a:spLocks/>
            </p:cNvSpPr>
            <p:nvPr/>
          </p:nvSpPr>
          <p:spPr bwMode="auto">
            <a:xfrm>
              <a:off x="2958" y="1416"/>
              <a:ext cx="93" cy="37"/>
            </a:xfrm>
            <a:custGeom>
              <a:avLst/>
              <a:gdLst>
                <a:gd name="T0" fmla="*/ 93 w 186"/>
                <a:gd name="T1" fmla="*/ 0 h 74"/>
                <a:gd name="T2" fmla="*/ 1 w 186"/>
                <a:gd name="T3" fmla="*/ 0 h 74"/>
                <a:gd name="T4" fmla="*/ 0 w 186"/>
                <a:gd name="T5" fmla="*/ 37 h 74"/>
                <a:gd name="T6" fmla="*/ 92 w 186"/>
                <a:gd name="T7" fmla="*/ 37 h 74"/>
                <a:gd name="T8" fmla="*/ 93 w 186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74"/>
                <a:gd name="T17" fmla="*/ 186 w 186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74">
                  <a:moveTo>
                    <a:pt x="186" y="0"/>
                  </a:moveTo>
                  <a:lnTo>
                    <a:pt x="1" y="0"/>
                  </a:lnTo>
                  <a:lnTo>
                    <a:pt x="0" y="74"/>
                  </a:lnTo>
                  <a:lnTo>
                    <a:pt x="184" y="7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2" name="Freeform 157"/>
            <p:cNvSpPr>
              <a:spLocks/>
            </p:cNvSpPr>
            <p:nvPr/>
          </p:nvSpPr>
          <p:spPr bwMode="auto">
            <a:xfrm>
              <a:off x="2957" y="1467"/>
              <a:ext cx="93" cy="41"/>
            </a:xfrm>
            <a:custGeom>
              <a:avLst/>
              <a:gdLst>
                <a:gd name="T0" fmla="*/ 0 w 187"/>
                <a:gd name="T1" fmla="*/ 41 h 83"/>
                <a:gd name="T2" fmla="*/ 93 w 187"/>
                <a:gd name="T3" fmla="*/ 41 h 83"/>
                <a:gd name="T4" fmla="*/ 93 w 187"/>
                <a:gd name="T5" fmla="*/ 0 h 83"/>
                <a:gd name="T6" fmla="*/ 1 w 187"/>
                <a:gd name="T7" fmla="*/ 0 h 83"/>
                <a:gd name="T8" fmla="*/ 0 w 187"/>
                <a:gd name="T9" fmla="*/ 41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7"/>
                <a:gd name="T16" fmla="*/ 0 h 83"/>
                <a:gd name="T17" fmla="*/ 187 w 187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7" h="83">
                  <a:moveTo>
                    <a:pt x="0" y="83"/>
                  </a:moveTo>
                  <a:lnTo>
                    <a:pt x="186" y="83"/>
                  </a:lnTo>
                  <a:lnTo>
                    <a:pt x="187" y="0"/>
                  </a:lnTo>
                  <a:lnTo>
                    <a:pt x="3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3" name="Freeform 158"/>
            <p:cNvSpPr>
              <a:spLocks/>
            </p:cNvSpPr>
            <p:nvPr/>
          </p:nvSpPr>
          <p:spPr bwMode="auto">
            <a:xfrm>
              <a:off x="3069" y="1467"/>
              <a:ext cx="92" cy="41"/>
            </a:xfrm>
            <a:custGeom>
              <a:avLst/>
              <a:gdLst>
                <a:gd name="T0" fmla="*/ 0 w 184"/>
                <a:gd name="T1" fmla="*/ 41 h 83"/>
                <a:gd name="T2" fmla="*/ 92 w 184"/>
                <a:gd name="T3" fmla="*/ 41 h 83"/>
                <a:gd name="T4" fmla="*/ 92 w 184"/>
                <a:gd name="T5" fmla="*/ 0 h 83"/>
                <a:gd name="T6" fmla="*/ 1 w 184"/>
                <a:gd name="T7" fmla="*/ 0 h 83"/>
                <a:gd name="T8" fmla="*/ 0 w 184"/>
                <a:gd name="T9" fmla="*/ 41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"/>
                <a:gd name="T16" fmla="*/ 0 h 83"/>
                <a:gd name="T17" fmla="*/ 184 w 184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" h="83">
                  <a:moveTo>
                    <a:pt x="0" y="83"/>
                  </a:moveTo>
                  <a:lnTo>
                    <a:pt x="183" y="83"/>
                  </a:lnTo>
                  <a:lnTo>
                    <a:pt x="184" y="0"/>
                  </a:lnTo>
                  <a:lnTo>
                    <a:pt x="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4" name="Freeform 159"/>
            <p:cNvSpPr>
              <a:spLocks/>
            </p:cNvSpPr>
            <p:nvPr/>
          </p:nvSpPr>
          <p:spPr bwMode="auto">
            <a:xfrm>
              <a:off x="3070" y="1416"/>
              <a:ext cx="92" cy="37"/>
            </a:xfrm>
            <a:custGeom>
              <a:avLst/>
              <a:gdLst>
                <a:gd name="T0" fmla="*/ 92 w 186"/>
                <a:gd name="T1" fmla="*/ 0 h 74"/>
                <a:gd name="T2" fmla="*/ 0 w 186"/>
                <a:gd name="T3" fmla="*/ 0 h 74"/>
                <a:gd name="T4" fmla="*/ 0 w 186"/>
                <a:gd name="T5" fmla="*/ 37 h 74"/>
                <a:gd name="T6" fmla="*/ 92 w 186"/>
                <a:gd name="T7" fmla="*/ 37 h 74"/>
                <a:gd name="T8" fmla="*/ 92 w 186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74"/>
                <a:gd name="T17" fmla="*/ 186 w 186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74">
                  <a:moveTo>
                    <a:pt x="186" y="0"/>
                  </a:moveTo>
                  <a:lnTo>
                    <a:pt x="1" y="0"/>
                  </a:lnTo>
                  <a:lnTo>
                    <a:pt x="0" y="74"/>
                  </a:lnTo>
                  <a:lnTo>
                    <a:pt x="185" y="7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5" name="Freeform 160"/>
            <p:cNvSpPr>
              <a:spLocks/>
            </p:cNvSpPr>
            <p:nvPr/>
          </p:nvSpPr>
          <p:spPr bwMode="auto">
            <a:xfrm>
              <a:off x="3180" y="1467"/>
              <a:ext cx="93" cy="41"/>
            </a:xfrm>
            <a:custGeom>
              <a:avLst/>
              <a:gdLst>
                <a:gd name="T0" fmla="*/ 0 w 185"/>
                <a:gd name="T1" fmla="*/ 41 h 83"/>
                <a:gd name="T2" fmla="*/ 92 w 185"/>
                <a:gd name="T3" fmla="*/ 41 h 83"/>
                <a:gd name="T4" fmla="*/ 93 w 185"/>
                <a:gd name="T5" fmla="*/ 0 h 83"/>
                <a:gd name="T6" fmla="*/ 1 w 185"/>
                <a:gd name="T7" fmla="*/ 0 h 83"/>
                <a:gd name="T8" fmla="*/ 0 w 185"/>
                <a:gd name="T9" fmla="*/ 41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5"/>
                <a:gd name="T16" fmla="*/ 0 h 83"/>
                <a:gd name="T17" fmla="*/ 185 w 185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5" h="83">
                  <a:moveTo>
                    <a:pt x="0" y="83"/>
                  </a:moveTo>
                  <a:lnTo>
                    <a:pt x="184" y="83"/>
                  </a:lnTo>
                  <a:lnTo>
                    <a:pt x="185" y="0"/>
                  </a:lnTo>
                  <a:lnTo>
                    <a:pt x="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6" name="Freeform 161"/>
            <p:cNvSpPr>
              <a:spLocks/>
            </p:cNvSpPr>
            <p:nvPr/>
          </p:nvSpPr>
          <p:spPr bwMode="auto">
            <a:xfrm>
              <a:off x="3181" y="1416"/>
              <a:ext cx="93" cy="37"/>
            </a:xfrm>
            <a:custGeom>
              <a:avLst/>
              <a:gdLst>
                <a:gd name="T0" fmla="*/ 93 w 186"/>
                <a:gd name="T1" fmla="*/ 0 h 74"/>
                <a:gd name="T2" fmla="*/ 1 w 186"/>
                <a:gd name="T3" fmla="*/ 0 h 74"/>
                <a:gd name="T4" fmla="*/ 0 w 186"/>
                <a:gd name="T5" fmla="*/ 37 h 74"/>
                <a:gd name="T6" fmla="*/ 93 w 186"/>
                <a:gd name="T7" fmla="*/ 37 h 74"/>
                <a:gd name="T8" fmla="*/ 93 w 186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74"/>
                <a:gd name="T17" fmla="*/ 186 w 186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74">
                  <a:moveTo>
                    <a:pt x="186" y="0"/>
                  </a:moveTo>
                  <a:lnTo>
                    <a:pt x="2" y="0"/>
                  </a:lnTo>
                  <a:lnTo>
                    <a:pt x="0" y="74"/>
                  </a:lnTo>
                  <a:lnTo>
                    <a:pt x="185" y="7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7" name="Freeform 162"/>
            <p:cNvSpPr>
              <a:spLocks/>
            </p:cNvSpPr>
            <p:nvPr/>
          </p:nvSpPr>
          <p:spPr bwMode="auto">
            <a:xfrm>
              <a:off x="3292" y="1467"/>
              <a:ext cx="93" cy="41"/>
            </a:xfrm>
            <a:custGeom>
              <a:avLst/>
              <a:gdLst>
                <a:gd name="T0" fmla="*/ 0 w 187"/>
                <a:gd name="T1" fmla="*/ 41 h 83"/>
                <a:gd name="T2" fmla="*/ 92 w 187"/>
                <a:gd name="T3" fmla="*/ 41 h 83"/>
                <a:gd name="T4" fmla="*/ 93 w 187"/>
                <a:gd name="T5" fmla="*/ 0 h 83"/>
                <a:gd name="T6" fmla="*/ 0 w 187"/>
                <a:gd name="T7" fmla="*/ 0 h 83"/>
                <a:gd name="T8" fmla="*/ 0 w 187"/>
                <a:gd name="T9" fmla="*/ 41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7"/>
                <a:gd name="T16" fmla="*/ 0 h 83"/>
                <a:gd name="T17" fmla="*/ 187 w 187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7" h="83">
                  <a:moveTo>
                    <a:pt x="0" y="83"/>
                  </a:moveTo>
                  <a:lnTo>
                    <a:pt x="184" y="83"/>
                  </a:lnTo>
                  <a:lnTo>
                    <a:pt x="187" y="0"/>
                  </a:lnTo>
                  <a:lnTo>
                    <a:pt x="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8" name="Freeform 163"/>
            <p:cNvSpPr>
              <a:spLocks/>
            </p:cNvSpPr>
            <p:nvPr/>
          </p:nvSpPr>
          <p:spPr bwMode="auto">
            <a:xfrm>
              <a:off x="3293" y="1416"/>
              <a:ext cx="93" cy="37"/>
            </a:xfrm>
            <a:custGeom>
              <a:avLst/>
              <a:gdLst>
                <a:gd name="T0" fmla="*/ 93 w 186"/>
                <a:gd name="T1" fmla="*/ 0 h 74"/>
                <a:gd name="T2" fmla="*/ 1 w 186"/>
                <a:gd name="T3" fmla="*/ 0 h 74"/>
                <a:gd name="T4" fmla="*/ 0 w 186"/>
                <a:gd name="T5" fmla="*/ 37 h 74"/>
                <a:gd name="T6" fmla="*/ 93 w 186"/>
                <a:gd name="T7" fmla="*/ 37 h 74"/>
                <a:gd name="T8" fmla="*/ 93 w 186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74"/>
                <a:gd name="T17" fmla="*/ 186 w 186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74">
                  <a:moveTo>
                    <a:pt x="186" y="0"/>
                  </a:moveTo>
                  <a:lnTo>
                    <a:pt x="2" y="0"/>
                  </a:lnTo>
                  <a:lnTo>
                    <a:pt x="0" y="74"/>
                  </a:lnTo>
                  <a:lnTo>
                    <a:pt x="185" y="7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9" name="Freeform 164"/>
            <p:cNvSpPr>
              <a:spLocks/>
            </p:cNvSpPr>
            <p:nvPr/>
          </p:nvSpPr>
          <p:spPr bwMode="auto">
            <a:xfrm>
              <a:off x="3402" y="1467"/>
              <a:ext cx="93" cy="41"/>
            </a:xfrm>
            <a:custGeom>
              <a:avLst/>
              <a:gdLst>
                <a:gd name="T0" fmla="*/ 0 w 186"/>
                <a:gd name="T1" fmla="*/ 41 h 83"/>
                <a:gd name="T2" fmla="*/ 93 w 186"/>
                <a:gd name="T3" fmla="*/ 41 h 83"/>
                <a:gd name="T4" fmla="*/ 93 w 186"/>
                <a:gd name="T5" fmla="*/ 0 h 83"/>
                <a:gd name="T6" fmla="*/ 1 w 186"/>
                <a:gd name="T7" fmla="*/ 0 h 83"/>
                <a:gd name="T8" fmla="*/ 0 w 186"/>
                <a:gd name="T9" fmla="*/ 41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83"/>
                <a:gd name="T17" fmla="*/ 186 w 186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83">
                  <a:moveTo>
                    <a:pt x="0" y="83"/>
                  </a:moveTo>
                  <a:lnTo>
                    <a:pt x="185" y="83"/>
                  </a:lnTo>
                  <a:lnTo>
                    <a:pt x="186" y="0"/>
                  </a:lnTo>
                  <a:lnTo>
                    <a:pt x="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0" name="Freeform 165"/>
            <p:cNvSpPr>
              <a:spLocks/>
            </p:cNvSpPr>
            <p:nvPr/>
          </p:nvSpPr>
          <p:spPr bwMode="auto">
            <a:xfrm>
              <a:off x="3403" y="1416"/>
              <a:ext cx="93" cy="37"/>
            </a:xfrm>
            <a:custGeom>
              <a:avLst/>
              <a:gdLst>
                <a:gd name="T0" fmla="*/ 93 w 187"/>
                <a:gd name="T1" fmla="*/ 0 h 74"/>
                <a:gd name="T2" fmla="*/ 1 w 187"/>
                <a:gd name="T3" fmla="*/ 0 h 74"/>
                <a:gd name="T4" fmla="*/ 0 w 187"/>
                <a:gd name="T5" fmla="*/ 37 h 74"/>
                <a:gd name="T6" fmla="*/ 93 w 187"/>
                <a:gd name="T7" fmla="*/ 37 h 74"/>
                <a:gd name="T8" fmla="*/ 93 w 187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7"/>
                <a:gd name="T16" fmla="*/ 0 h 74"/>
                <a:gd name="T17" fmla="*/ 187 w 187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7" h="74">
                  <a:moveTo>
                    <a:pt x="187" y="0"/>
                  </a:moveTo>
                  <a:lnTo>
                    <a:pt x="3" y="0"/>
                  </a:lnTo>
                  <a:lnTo>
                    <a:pt x="0" y="74"/>
                  </a:lnTo>
                  <a:lnTo>
                    <a:pt x="186" y="74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1" name="Freeform 166"/>
            <p:cNvSpPr>
              <a:spLocks/>
            </p:cNvSpPr>
            <p:nvPr/>
          </p:nvSpPr>
          <p:spPr bwMode="auto">
            <a:xfrm>
              <a:off x="3640" y="1577"/>
              <a:ext cx="168" cy="75"/>
            </a:xfrm>
            <a:custGeom>
              <a:avLst/>
              <a:gdLst>
                <a:gd name="T0" fmla="*/ 56 w 335"/>
                <a:gd name="T1" fmla="*/ 11 h 151"/>
                <a:gd name="T2" fmla="*/ 46 w 335"/>
                <a:gd name="T3" fmla="*/ 17 h 151"/>
                <a:gd name="T4" fmla="*/ 37 w 335"/>
                <a:gd name="T5" fmla="*/ 23 h 151"/>
                <a:gd name="T6" fmla="*/ 29 w 335"/>
                <a:gd name="T7" fmla="*/ 31 h 151"/>
                <a:gd name="T8" fmla="*/ 22 w 335"/>
                <a:gd name="T9" fmla="*/ 38 h 151"/>
                <a:gd name="T10" fmla="*/ 15 w 335"/>
                <a:gd name="T11" fmla="*/ 47 h 151"/>
                <a:gd name="T12" fmla="*/ 10 w 335"/>
                <a:gd name="T13" fmla="*/ 56 h 151"/>
                <a:gd name="T14" fmla="*/ 4 w 335"/>
                <a:gd name="T15" fmla="*/ 65 h 151"/>
                <a:gd name="T16" fmla="*/ 0 w 335"/>
                <a:gd name="T17" fmla="*/ 75 h 151"/>
                <a:gd name="T18" fmla="*/ 5 w 335"/>
                <a:gd name="T19" fmla="*/ 68 h 151"/>
                <a:gd name="T20" fmla="*/ 10 w 335"/>
                <a:gd name="T21" fmla="*/ 61 h 151"/>
                <a:gd name="T22" fmla="*/ 15 w 335"/>
                <a:gd name="T23" fmla="*/ 54 h 151"/>
                <a:gd name="T24" fmla="*/ 20 w 335"/>
                <a:gd name="T25" fmla="*/ 48 h 151"/>
                <a:gd name="T26" fmla="*/ 27 w 335"/>
                <a:gd name="T27" fmla="*/ 41 h 151"/>
                <a:gd name="T28" fmla="*/ 34 w 335"/>
                <a:gd name="T29" fmla="*/ 36 h 151"/>
                <a:gd name="T30" fmla="*/ 41 w 335"/>
                <a:gd name="T31" fmla="*/ 31 h 151"/>
                <a:gd name="T32" fmla="*/ 49 w 335"/>
                <a:gd name="T33" fmla="*/ 26 h 151"/>
                <a:gd name="T34" fmla="*/ 56 w 335"/>
                <a:gd name="T35" fmla="*/ 23 h 151"/>
                <a:gd name="T36" fmla="*/ 64 w 335"/>
                <a:gd name="T37" fmla="*/ 20 h 151"/>
                <a:gd name="T38" fmla="*/ 72 w 335"/>
                <a:gd name="T39" fmla="*/ 18 h 151"/>
                <a:gd name="T40" fmla="*/ 80 w 335"/>
                <a:gd name="T41" fmla="*/ 16 h 151"/>
                <a:gd name="T42" fmla="*/ 88 w 335"/>
                <a:gd name="T43" fmla="*/ 15 h 151"/>
                <a:gd name="T44" fmla="*/ 96 w 335"/>
                <a:gd name="T45" fmla="*/ 15 h 151"/>
                <a:gd name="T46" fmla="*/ 104 w 335"/>
                <a:gd name="T47" fmla="*/ 15 h 151"/>
                <a:gd name="T48" fmla="*/ 112 w 335"/>
                <a:gd name="T49" fmla="*/ 15 h 151"/>
                <a:gd name="T50" fmla="*/ 120 w 335"/>
                <a:gd name="T51" fmla="*/ 17 h 151"/>
                <a:gd name="T52" fmla="*/ 127 w 335"/>
                <a:gd name="T53" fmla="*/ 19 h 151"/>
                <a:gd name="T54" fmla="*/ 135 w 335"/>
                <a:gd name="T55" fmla="*/ 22 h 151"/>
                <a:gd name="T56" fmla="*/ 141 w 335"/>
                <a:gd name="T57" fmla="*/ 25 h 151"/>
                <a:gd name="T58" fmla="*/ 148 w 335"/>
                <a:gd name="T59" fmla="*/ 28 h 151"/>
                <a:gd name="T60" fmla="*/ 155 w 335"/>
                <a:gd name="T61" fmla="*/ 33 h 151"/>
                <a:gd name="T62" fmla="*/ 162 w 335"/>
                <a:gd name="T63" fmla="*/ 37 h 151"/>
                <a:gd name="T64" fmla="*/ 167 w 335"/>
                <a:gd name="T65" fmla="*/ 42 h 151"/>
                <a:gd name="T66" fmla="*/ 168 w 335"/>
                <a:gd name="T67" fmla="*/ 22 h 151"/>
                <a:gd name="T68" fmla="*/ 162 w 335"/>
                <a:gd name="T69" fmla="*/ 18 h 151"/>
                <a:gd name="T70" fmla="*/ 156 w 335"/>
                <a:gd name="T71" fmla="*/ 14 h 151"/>
                <a:gd name="T72" fmla="*/ 150 w 335"/>
                <a:gd name="T73" fmla="*/ 10 h 151"/>
                <a:gd name="T74" fmla="*/ 143 w 335"/>
                <a:gd name="T75" fmla="*/ 7 h 151"/>
                <a:gd name="T76" fmla="*/ 136 w 335"/>
                <a:gd name="T77" fmla="*/ 4 h 151"/>
                <a:gd name="T78" fmla="*/ 129 w 335"/>
                <a:gd name="T79" fmla="*/ 3 h 151"/>
                <a:gd name="T80" fmla="*/ 122 w 335"/>
                <a:gd name="T81" fmla="*/ 1 h 151"/>
                <a:gd name="T82" fmla="*/ 114 w 335"/>
                <a:gd name="T83" fmla="*/ 0 h 151"/>
                <a:gd name="T84" fmla="*/ 107 w 335"/>
                <a:gd name="T85" fmla="*/ 0 h 151"/>
                <a:gd name="T86" fmla="*/ 99 w 335"/>
                <a:gd name="T87" fmla="*/ 0 h 151"/>
                <a:gd name="T88" fmla="*/ 93 w 335"/>
                <a:gd name="T89" fmla="*/ 0 h 151"/>
                <a:gd name="T90" fmla="*/ 85 w 335"/>
                <a:gd name="T91" fmla="*/ 1 h 151"/>
                <a:gd name="T92" fmla="*/ 78 w 335"/>
                <a:gd name="T93" fmla="*/ 3 h 151"/>
                <a:gd name="T94" fmla="*/ 70 w 335"/>
                <a:gd name="T95" fmla="*/ 5 h 151"/>
                <a:gd name="T96" fmla="*/ 63 w 335"/>
                <a:gd name="T97" fmla="*/ 8 h 151"/>
                <a:gd name="T98" fmla="*/ 56 w 335"/>
                <a:gd name="T99" fmla="*/ 11 h 15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35"/>
                <a:gd name="T151" fmla="*/ 0 h 151"/>
                <a:gd name="T152" fmla="*/ 335 w 335"/>
                <a:gd name="T153" fmla="*/ 151 h 15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35" h="151">
                  <a:moveTo>
                    <a:pt x="111" y="23"/>
                  </a:moveTo>
                  <a:lnTo>
                    <a:pt x="91" y="35"/>
                  </a:lnTo>
                  <a:lnTo>
                    <a:pt x="74" y="47"/>
                  </a:lnTo>
                  <a:lnTo>
                    <a:pt x="58" y="62"/>
                  </a:lnTo>
                  <a:lnTo>
                    <a:pt x="43" y="77"/>
                  </a:lnTo>
                  <a:lnTo>
                    <a:pt x="30" y="95"/>
                  </a:lnTo>
                  <a:lnTo>
                    <a:pt x="19" y="113"/>
                  </a:lnTo>
                  <a:lnTo>
                    <a:pt x="8" y="131"/>
                  </a:lnTo>
                  <a:lnTo>
                    <a:pt x="0" y="151"/>
                  </a:lnTo>
                  <a:lnTo>
                    <a:pt x="9" y="136"/>
                  </a:lnTo>
                  <a:lnTo>
                    <a:pt x="19" y="122"/>
                  </a:lnTo>
                  <a:lnTo>
                    <a:pt x="29" y="108"/>
                  </a:lnTo>
                  <a:lnTo>
                    <a:pt x="40" y="96"/>
                  </a:lnTo>
                  <a:lnTo>
                    <a:pt x="53" y="83"/>
                  </a:lnTo>
                  <a:lnTo>
                    <a:pt x="67" y="73"/>
                  </a:lnTo>
                  <a:lnTo>
                    <a:pt x="82" y="62"/>
                  </a:lnTo>
                  <a:lnTo>
                    <a:pt x="97" y="53"/>
                  </a:lnTo>
                  <a:lnTo>
                    <a:pt x="112" y="46"/>
                  </a:lnTo>
                  <a:lnTo>
                    <a:pt x="128" y="40"/>
                  </a:lnTo>
                  <a:lnTo>
                    <a:pt x="144" y="36"/>
                  </a:lnTo>
                  <a:lnTo>
                    <a:pt x="160" y="32"/>
                  </a:lnTo>
                  <a:lnTo>
                    <a:pt x="175" y="30"/>
                  </a:lnTo>
                  <a:lnTo>
                    <a:pt x="191" y="30"/>
                  </a:lnTo>
                  <a:lnTo>
                    <a:pt x="208" y="30"/>
                  </a:lnTo>
                  <a:lnTo>
                    <a:pt x="223" y="31"/>
                  </a:lnTo>
                  <a:lnTo>
                    <a:pt x="239" y="35"/>
                  </a:lnTo>
                  <a:lnTo>
                    <a:pt x="254" y="38"/>
                  </a:lnTo>
                  <a:lnTo>
                    <a:pt x="269" y="44"/>
                  </a:lnTo>
                  <a:lnTo>
                    <a:pt x="282" y="50"/>
                  </a:lnTo>
                  <a:lnTo>
                    <a:pt x="296" y="56"/>
                  </a:lnTo>
                  <a:lnTo>
                    <a:pt x="310" y="66"/>
                  </a:lnTo>
                  <a:lnTo>
                    <a:pt x="323" y="75"/>
                  </a:lnTo>
                  <a:lnTo>
                    <a:pt x="334" y="85"/>
                  </a:lnTo>
                  <a:lnTo>
                    <a:pt x="335" y="44"/>
                  </a:lnTo>
                  <a:lnTo>
                    <a:pt x="324" y="36"/>
                  </a:lnTo>
                  <a:lnTo>
                    <a:pt x="311" y="28"/>
                  </a:lnTo>
                  <a:lnTo>
                    <a:pt x="299" y="21"/>
                  </a:lnTo>
                  <a:lnTo>
                    <a:pt x="285" y="15"/>
                  </a:lnTo>
                  <a:lnTo>
                    <a:pt x="271" y="9"/>
                  </a:lnTo>
                  <a:lnTo>
                    <a:pt x="257" y="6"/>
                  </a:lnTo>
                  <a:lnTo>
                    <a:pt x="243" y="2"/>
                  </a:lnTo>
                  <a:lnTo>
                    <a:pt x="228" y="0"/>
                  </a:lnTo>
                  <a:lnTo>
                    <a:pt x="213" y="0"/>
                  </a:lnTo>
                  <a:lnTo>
                    <a:pt x="198" y="0"/>
                  </a:lnTo>
                  <a:lnTo>
                    <a:pt x="185" y="1"/>
                  </a:lnTo>
                  <a:lnTo>
                    <a:pt x="170" y="3"/>
                  </a:lnTo>
                  <a:lnTo>
                    <a:pt x="155" y="6"/>
                  </a:lnTo>
                  <a:lnTo>
                    <a:pt x="140" y="10"/>
                  </a:lnTo>
                  <a:lnTo>
                    <a:pt x="125" y="16"/>
                  </a:lnTo>
                  <a:lnTo>
                    <a:pt x="111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2" name="Freeform 167"/>
            <p:cNvSpPr>
              <a:spLocks/>
            </p:cNvSpPr>
            <p:nvPr/>
          </p:nvSpPr>
          <p:spPr bwMode="auto">
            <a:xfrm>
              <a:off x="3184" y="1620"/>
              <a:ext cx="619" cy="144"/>
            </a:xfrm>
            <a:custGeom>
              <a:avLst/>
              <a:gdLst>
                <a:gd name="T0" fmla="*/ 585 w 1238"/>
                <a:gd name="T1" fmla="*/ 9 h 289"/>
                <a:gd name="T2" fmla="*/ 581 w 1238"/>
                <a:gd name="T3" fmla="*/ 7 h 289"/>
                <a:gd name="T4" fmla="*/ 577 w 1238"/>
                <a:gd name="T5" fmla="*/ 5 h 289"/>
                <a:gd name="T6" fmla="*/ 573 w 1238"/>
                <a:gd name="T7" fmla="*/ 4 h 289"/>
                <a:gd name="T8" fmla="*/ 569 w 1238"/>
                <a:gd name="T9" fmla="*/ 2 h 289"/>
                <a:gd name="T10" fmla="*/ 565 w 1238"/>
                <a:gd name="T11" fmla="*/ 1 h 289"/>
                <a:gd name="T12" fmla="*/ 561 w 1238"/>
                <a:gd name="T13" fmla="*/ 0 h 289"/>
                <a:gd name="T14" fmla="*/ 556 w 1238"/>
                <a:gd name="T15" fmla="*/ 0 h 289"/>
                <a:gd name="T16" fmla="*/ 552 w 1238"/>
                <a:gd name="T17" fmla="*/ 0 h 289"/>
                <a:gd name="T18" fmla="*/ 547 w 1238"/>
                <a:gd name="T19" fmla="*/ 0 h 289"/>
                <a:gd name="T20" fmla="*/ 542 w 1238"/>
                <a:gd name="T21" fmla="*/ 0 h 289"/>
                <a:gd name="T22" fmla="*/ 537 w 1238"/>
                <a:gd name="T23" fmla="*/ 2 h 289"/>
                <a:gd name="T24" fmla="*/ 532 w 1238"/>
                <a:gd name="T25" fmla="*/ 3 h 289"/>
                <a:gd name="T26" fmla="*/ 528 w 1238"/>
                <a:gd name="T27" fmla="*/ 5 h 289"/>
                <a:gd name="T28" fmla="*/ 523 w 1238"/>
                <a:gd name="T29" fmla="*/ 7 h 289"/>
                <a:gd name="T30" fmla="*/ 518 w 1238"/>
                <a:gd name="T31" fmla="*/ 10 h 289"/>
                <a:gd name="T32" fmla="*/ 514 w 1238"/>
                <a:gd name="T33" fmla="*/ 13 h 289"/>
                <a:gd name="T34" fmla="*/ 508 w 1238"/>
                <a:gd name="T35" fmla="*/ 17 h 289"/>
                <a:gd name="T36" fmla="*/ 502 w 1238"/>
                <a:gd name="T37" fmla="*/ 22 h 289"/>
                <a:gd name="T38" fmla="*/ 497 w 1238"/>
                <a:gd name="T39" fmla="*/ 28 h 289"/>
                <a:gd name="T40" fmla="*/ 493 w 1238"/>
                <a:gd name="T41" fmla="*/ 34 h 289"/>
                <a:gd name="T42" fmla="*/ 489 w 1238"/>
                <a:gd name="T43" fmla="*/ 41 h 289"/>
                <a:gd name="T44" fmla="*/ 486 w 1238"/>
                <a:gd name="T45" fmla="*/ 48 h 289"/>
                <a:gd name="T46" fmla="*/ 485 w 1238"/>
                <a:gd name="T47" fmla="*/ 56 h 289"/>
                <a:gd name="T48" fmla="*/ 483 w 1238"/>
                <a:gd name="T49" fmla="*/ 64 h 289"/>
                <a:gd name="T50" fmla="*/ 0 w 1238"/>
                <a:gd name="T51" fmla="*/ 73 h 289"/>
                <a:gd name="T52" fmla="*/ 482 w 1238"/>
                <a:gd name="T53" fmla="*/ 81 h 289"/>
                <a:gd name="T54" fmla="*/ 485 w 1238"/>
                <a:gd name="T55" fmla="*/ 94 h 289"/>
                <a:gd name="T56" fmla="*/ 489 w 1238"/>
                <a:gd name="T57" fmla="*/ 105 h 289"/>
                <a:gd name="T58" fmla="*/ 495 w 1238"/>
                <a:gd name="T59" fmla="*/ 116 h 289"/>
                <a:gd name="T60" fmla="*/ 504 w 1238"/>
                <a:gd name="T61" fmla="*/ 126 h 289"/>
                <a:gd name="T62" fmla="*/ 513 w 1238"/>
                <a:gd name="T63" fmla="*/ 134 h 289"/>
                <a:gd name="T64" fmla="*/ 524 w 1238"/>
                <a:gd name="T65" fmla="*/ 139 h 289"/>
                <a:gd name="T66" fmla="*/ 536 w 1238"/>
                <a:gd name="T67" fmla="*/ 143 h 289"/>
                <a:gd name="T68" fmla="*/ 549 w 1238"/>
                <a:gd name="T69" fmla="*/ 144 h 289"/>
                <a:gd name="T70" fmla="*/ 563 w 1238"/>
                <a:gd name="T71" fmla="*/ 143 h 289"/>
                <a:gd name="T72" fmla="*/ 576 w 1238"/>
                <a:gd name="T73" fmla="*/ 139 h 289"/>
                <a:gd name="T74" fmla="*/ 588 w 1238"/>
                <a:gd name="T75" fmla="*/ 132 h 289"/>
                <a:gd name="T76" fmla="*/ 598 w 1238"/>
                <a:gd name="T77" fmla="*/ 123 h 289"/>
                <a:gd name="T78" fmla="*/ 607 w 1238"/>
                <a:gd name="T79" fmla="*/ 113 h 289"/>
                <a:gd name="T80" fmla="*/ 613 w 1238"/>
                <a:gd name="T81" fmla="*/ 101 h 289"/>
                <a:gd name="T82" fmla="*/ 618 w 1238"/>
                <a:gd name="T83" fmla="*/ 87 h 289"/>
                <a:gd name="T84" fmla="*/ 619 w 1238"/>
                <a:gd name="T85" fmla="*/ 72 h 289"/>
                <a:gd name="T86" fmla="*/ 619 w 1238"/>
                <a:gd name="T87" fmla="*/ 63 h 289"/>
                <a:gd name="T88" fmla="*/ 617 w 1238"/>
                <a:gd name="T89" fmla="*/ 53 h 289"/>
                <a:gd name="T90" fmla="*/ 614 w 1238"/>
                <a:gd name="T91" fmla="*/ 44 h 289"/>
                <a:gd name="T92" fmla="*/ 610 w 1238"/>
                <a:gd name="T93" fmla="*/ 35 h 289"/>
                <a:gd name="T94" fmla="*/ 605 w 1238"/>
                <a:gd name="T95" fmla="*/ 28 h 289"/>
                <a:gd name="T96" fmla="*/ 599 w 1238"/>
                <a:gd name="T97" fmla="*/ 20 h 289"/>
                <a:gd name="T98" fmla="*/ 592 w 1238"/>
                <a:gd name="T99" fmla="*/ 14 h 289"/>
                <a:gd name="T100" fmla="*/ 585 w 1238"/>
                <a:gd name="T101" fmla="*/ 9 h 2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38"/>
                <a:gd name="T154" fmla="*/ 0 h 289"/>
                <a:gd name="T155" fmla="*/ 1238 w 1238"/>
                <a:gd name="T156" fmla="*/ 289 h 28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38" h="289">
                  <a:moveTo>
                    <a:pt x="1169" y="19"/>
                  </a:moveTo>
                  <a:lnTo>
                    <a:pt x="1162" y="14"/>
                  </a:lnTo>
                  <a:lnTo>
                    <a:pt x="1154" y="11"/>
                  </a:lnTo>
                  <a:lnTo>
                    <a:pt x="1146" y="8"/>
                  </a:lnTo>
                  <a:lnTo>
                    <a:pt x="1138" y="5"/>
                  </a:lnTo>
                  <a:lnTo>
                    <a:pt x="1130" y="3"/>
                  </a:lnTo>
                  <a:lnTo>
                    <a:pt x="1122" y="1"/>
                  </a:lnTo>
                  <a:lnTo>
                    <a:pt x="1112" y="0"/>
                  </a:lnTo>
                  <a:lnTo>
                    <a:pt x="1104" y="0"/>
                  </a:lnTo>
                  <a:lnTo>
                    <a:pt x="1094" y="0"/>
                  </a:lnTo>
                  <a:lnTo>
                    <a:pt x="1084" y="1"/>
                  </a:lnTo>
                  <a:lnTo>
                    <a:pt x="1073" y="4"/>
                  </a:lnTo>
                  <a:lnTo>
                    <a:pt x="1064" y="7"/>
                  </a:lnTo>
                  <a:lnTo>
                    <a:pt x="1055" y="11"/>
                  </a:lnTo>
                  <a:lnTo>
                    <a:pt x="1046" y="15"/>
                  </a:lnTo>
                  <a:lnTo>
                    <a:pt x="1036" y="20"/>
                  </a:lnTo>
                  <a:lnTo>
                    <a:pt x="1028" y="26"/>
                  </a:lnTo>
                  <a:lnTo>
                    <a:pt x="1016" y="35"/>
                  </a:lnTo>
                  <a:lnTo>
                    <a:pt x="1005" y="45"/>
                  </a:lnTo>
                  <a:lnTo>
                    <a:pt x="995" y="57"/>
                  </a:lnTo>
                  <a:lnTo>
                    <a:pt x="987" y="69"/>
                  </a:lnTo>
                  <a:lnTo>
                    <a:pt x="979" y="82"/>
                  </a:lnTo>
                  <a:lnTo>
                    <a:pt x="973" y="97"/>
                  </a:lnTo>
                  <a:lnTo>
                    <a:pt x="970" y="112"/>
                  </a:lnTo>
                  <a:lnTo>
                    <a:pt x="966" y="128"/>
                  </a:lnTo>
                  <a:lnTo>
                    <a:pt x="0" y="147"/>
                  </a:lnTo>
                  <a:lnTo>
                    <a:pt x="965" y="162"/>
                  </a:lnTo>
                  <a:lnTo>
                    <a:pt x="970" y="188"/>
                  </a:lnTo>
                  <a:lnTo>
                    <a:pt x="979" y="211"/>
                  </a:lnTo>
                  <a:lnTo>
                    <a:pt x="991" y="233"/>
                  </a:lnTo>
                  <a:lnTo>
                    <a:pt x="1008" y="253"/>
                  </a:lnTo>
                  <a:lnTo>
                    <a:pt x="1026" y="268"/>
                  </a:lnTo>
                  <a:lnTo>
                    <a:pt x="1048" y="279"/>
                  </a:lnTo>
                  <a:lnTo>
                    <a:pt x="1072" y="287"/>
                  </a:lnTo>
                  <a:lnTo>
                    <a:pt x="1098" y="289"/>
                  </a:lnTo>
                  <a:lnTo>
                    <a:pt x="1125" y="286"/>
                  </a:lnTo>
                  <a:lnTo>
                    <a:pt x="1152" y="278"/>
                  </a:lnTo>
                  <a:lnTo>
                    <a:pt x="1175" y="265"/>
                  </a:lnTo>
                  <a:lnTo>
                    <a:pt x="1195" y="247"/>
                  </a:lnTo>
                  <a:lnTo>
                    <a:pt x="1213" y="226"/>
                  </a:lnTo>
                  <a:lnTo>
                    <a:pt x="1225" y="202"/>
                  </a:lnTo>
                  <a:lnTo>
                    <a:pt x="1235" y="174"/>
                  </a:lnTo>
                  <a:lnTo>
                    <a:pt x="1238" y="145"/>
                  </a:lnTo>
                  <a:lnTo>
                    <a:pt x="1237" y="126"/>
                  </a:lnTo>
                  <a:lnTo>
                    <a:pt x="1233" y="106"/>
                  </a:lnTo>
                  <a:lnTo>
                    <a:pt x="1228" y="88"/>
                  </a:lnTo>
                  <a:lnTo>
                    <a:pt x="1220" y="71"/>
                  </a:lnTo>
                  <a:lnTo>
                    <a:pt x="1210" y="56"/>
                  </a:lnTo>
                  <a:lnTo>
                    <a:pt x="1198" y="41"/>
                  </a:lnTo>
                  <a:lnTo>
                    <a:pt x="1184" y="29"/>
                  </a:lnTo>
                  <a:lnTo>
                    <a:pt x="1169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3" name="Rectangle 168"/>
            <p:cNvSpPr>
              <a:spLocks noChangeArrowheads="1"/>
            </p:cNvSpPr>
            <p:nvPr/>
          </p:nvSpPr>
          <p:spPr bwMode="auto">
            <a:xfrm>
              <a:off x="2804" y="1382"/>
              <a:ext cx="465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5214" name="Rectangle 169"/>
            <p:cNvSpPr>
              <a:spLocks noChangeArrowheads="1"/>
            </p:cNvSpPr>
            <p:nvPr/>
          </p:nvSpPr>
          <p:spPr bwMode="auto">
            <a:xfrm>
              <a:off x="2846" y="1530"/>
              <a:ext cx="40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5215" name="Freeform 170"/>
            <p:cNvSpPr>
              <a:spLocks/>
            </p:cNvSpPr>
            <p:nvPr/>
          </p:nvSpPr>
          <p:spPr bwMode="auto">
            <a:xfrm>
              <a:off x="2810" y="1575"/>
              <a:ext cx="670" cy="16"/>
            </a:xfrm>
            <a:custGeom>
              <a:avLst/>
              <a:gdLst>
                <a:gd name="T0" fmla="*/ 0 w 1339"/>
                <a:gd name="T1" fmla="*/ 16 h 32"/>
                <a:gd name="T2" fmla="*/ 0 w 1339"/>
                <a:gd name="T3" fmla="*/ 0 h 32"/>
                <a:gd name="T4" fmla="*/ 670 w 1339"/>
                <a:gd name="T5" fmla="*/ 6 h 32"/>
                <a:gd name="T6" fmla="*/ 0 w 1339"/>
                <a:gd name="T7" fmla="*/ 16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9"/>
                <a:gd name="T13" fmla="*/ 0 h 32"/>
                <a:gd name="T14" fmla="*/ 1339 w 1339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9" h="32">
                  <a:moveTo>
                    <a:pt x="0" y="32"/>
                  </a:moveTo>
                  <a:lnTo>
                    <a:pt x="0" y="0"/>
                  </a:lnTo>
                  <a:lnTo>
                    <a:pt x="1339" y="1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C9B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6" name="Freeform 171"/>
            <p:cNvSpPr>
              <a:spLocks/>
            </p:cNvSpPr>
            <p:nvPr/>
          </p:nvSpPr>
          <p:spPr bwMode="auto">
            <a:xfrm>
              <a:off x="3153" y="1647"/>
              <a:ext cx="492" cy="16"/>
            </a:xfrm>
            <a:custGeom>
              <a:avLst/>
              <a:gdLst>
                <a:gd name="T0" fmla="*/ 486 w 984"/>
                <a:gd name="T1" fmla="*/ 16 h 31"/>
                <a:gd name="T2" fmla="*/ 492 w 984"/>
                <a:gd name="T3" fmla="*/ 0 h 31"/>
                <a:gd name="T4" fmla="*/ 0 w 984"/>
                <a:gd name="T5" fmla="*/ 3 h 31"/>
                <a:gd name="T6" fmla="*/ 486 w 984"/>
                <a:gd name="T7" fmla="*/ 16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84"/>
                <a:gd name="T13" fmla="*/ 0 h 31"/>
                <a:gd name="T14" fmla="*/ 984 w 984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84" h="31">
                  <a:moveTo>
                    <a:pt x="971" y="31"/>
                  </a:moveTo>
                  <a:lnTo>
                    <a:pt x="984" y="0"/>
                  </a:lnTo>
                  <a:lnTo>
                    <a:pt x="0" y="5"/>
                  </a:lnTo>
                  <a:lnTo>
                    <a:pt x="971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7" name="Freeform 172"/>
            <p:cNvSpPr>
              <a:spLocks/>
            </p:cNvSpPr>
            <p:nvPr/>
          </p:nvSpPr>
          <p:spPr bwMode="auto">
            <a:xfrm>
              <a:off x="2808" y="1565"/>
              <a:ext cx="685" cy="15"/>
            </a:xfrm>
            <a:custGeom>
              <a:avLst/>
              <a:gdLst>
                <a:gd name="T0" fmla="*/ 0 w 1370"/>
                <a:gd name="T1" fmla="*/ 15 h 31"/>
                <a:gd name="T2" fmla="*/ 0 w 1370"/>
                <a:gd name="T3" fmla="*/ 0 h 31"/>
                <a:gd name="T4" fmla="*/ 685 w 1370"/>
                <a:gd name="T5" fmla="*/ 6 h 31"/>
                <a:gd name="T6" fmla="*/ 0 w 1370"/>
                <a:gd name="T7" fmla="*/ 15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70"/>
                <a:gd name="T13" fmla="*/ 0 h 31"/>
                <a:gd name="T14" fmla="*/ 1370 w 137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70" h="31">
                  <a:moveTo>
                    <a:pt x="0" y="31"/>
                  </a:moveTo>
                  <a:lnTo>
                    <a:pt x="0" y="0"/>
                  </a:lnTo>
                  <a:lnTo>
                    <a:pt x="1370" y="13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8" name="Rectangle 173"/>
            <p:cNvSpPr>
              <a:spLocks noChangeArrowheads="1"/>
            </p:cNvSpPr>
            <p:nvPr/>
          </p:nvSpPr>
          <p:spPr bwMode="auto">
            <a:xfrm>
              <a:off x="3579" y="1406"/>
              <a:ext cx="41" cy="2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5219" name="Rectangle 174"/>
            <p:cNvSpPr>
              <a:spLocks noChangeArrowheads="1"/>
            </p:cNvSpPr>
            <p:nvPr/>
          </p:nvSpPr>
          <p:spPr bwMode="auto">
            <a:xfrm>
              <a:off x="3525" y="1406"/>
              <a:ext cx="42" cy="22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5220" name="Freeform 175"/>
            <p:cNvSpPr>
              <a:spLocks/>
            </p:cNvSpPr>
            <p:nvPr/>
          </p:nvSpPr>
          <p:spPr bwMode="auto">
            <a:xfrm>
              <a:off x="2881" y="1337"/>
              <a:ext cx="980" cy="378"/>
            </a:xfrm>
            <a:custGeom>
              <a:avLst/>
              <a:gdLst>
                <a:gd name="T0" fmla="*/ 964 w 1959"/>
                <a:gd name="T1" fmla="*/ 201 h 756"/>
                <a:gd name="T2" fmla="*/ 962 w 1959"/>
                <a:gd name="T3" fmla="*/ 189 h 756"/>
                <a:gd name="T4" fmla="*/ 956 w 1959"/>
                <a:gd name="T5" fmla="*/ 179 h 756"/>
                <a:gd name="T6" fmla="*/ 946 w 1959"/>
                <a:gd name="T7" fmla="*/ 172 h 756"/>
                <a:gd name="T8" fmla="*/ 934 w 1959"/>
                <a:gd name="T9" fmla="*/ 169 h 756"/>
                <a:gd name="T10" fmla="*/ 799 w 1959"/>
                <a:gd name="T11" fmla="*/ 38 h 756"/>
                <a:gd name="T12" fmla="*/ 797 w 1959"/>
                <a:gd name="T13" fmla="*/ 24 h 756"/>
                <a:gd name="T14" fmla="*/ 791 w 1959"/>
                <a:gd name="T15" fmla="*/ 12 h 756"/>
                <a:gd name="T16" fmla="*/ 781 w 1959"/>
                <a:gd name="T17" fmla="*/ 3 h 756"/>
                <a:gd name="T18" fmla="*/ 770 w 1959"/>
                <a:gd name="T19" fmla="*/ 0 h 756"/>
                <a:gd name="T20" fmla="*/ 760 w 1959"/>
                <a:gd name="T21" fmla="*/ 28 h 756"/>
                <a:gd name="T22" fmla="*/ 771 w 1959"/>
                <a:gd name="T23" fmla="*/ 32 h 756"/>
                <a:gd name="T24" fmla="*/ 780 w 1959"/>
                <a:gd name="T25" fmla="*/ 42 h 756"/>
                <a:gd name="T26" fmla="*/ 786 w 1959"/>
                <a:gd name="T27" fmla="*/ 53 h 756"/>
                <a:gd name="T28" fmla="*/ 787 w 1959"/>
                <a:gd name="T29" fmla="*/ 66 h 756"/>
                <a:gd name="T30" fmla="*/ 769 w 1959"/>
                <a:gd name="T31" fmla="*/ 72 h 756"/>
                <a:gd name="T32" fmla="*/ 779 w 1959"/>
                <a:gd name="T33" fmla="*/ 172 h 756"/>
                <a:gd name="T34" fmla="*/ 909 w 1959"/>
                <a:gd name="T35" fmla="*/ 199 h 756"/>
                <a:gd name="T36" fmla="*/ 920 w 1959"/>
                <a:gd name="T37" fmla="*/ 202 h 756"/>
                <a:gd name="T38" fmla="*/ 929 w 1959"/>
                <a:gd name="T39" fmla="*/ 209 h 756"/>
                <a:gd name="T40" fmla="*/ 934 w 1959"/>
                <a:gd name="T41" fmla="*/ 219 h 756"/>
                <a:gd name="T42" fmla="*/ 936 w 1959"/>
                <a:gd name="T43" fmla="*/ 231 h 756"/>
                <a:gd name="T44" fmla="*/ 940 w 1959"/>
                <a:gd name="T45" fmla="*/ 245 h 756"/>
                <a:gd name="T46" fmla="*/ 946 w 1959"/>
                <a:gd name="T47" fmla="*/ 259 h 756"/>
                <a:gd name="T48" fmla="*/ 945 w 1959"/>
                <a:gd name="T49" fmla="*/ 279 h 756"/>
                <a:gd name="T50" fmla="*/ 937 w 1959"/>
                <a:gd name="T51" fmla="*/ 293 h 756"/>
                <a:gd name="T52" fmla="*/ 931 w 1959"/>
                <a:gd name="T53" fmla="*/ 339 h 756"/>
                <a:gd name="T54" fmla="*/ 915 w 1959"/>
                <a:gd name="T55" fmla="*/ 361 h 756"/>
                <a:gd name="T56" fmla="*/ 926 w 1959"/>
                <a:gd name="T57" fmla="*/ 362 h 756"/>
                <a:gd name="T58" fmla="*/ 933 w 1959"/>
                <a:gd name="T59" fmla="*/ 363 h 756"/>
                <a:gd name="T60" fmla="*/ 936 w 1959"/>
                <a:gd name="T61" fmla="*/ 364 h 756"/>
                <a:gd name="T62" fmla="*/ 939 w 1959"/>
                <a:gd name="T63" fmla="*/ 364 h 756"/>
                <a:gd name="T64" fmla="*/ 940 w 1959"/>
                <a:gd name="T65" fmla="*/ 375 h 756"/>
                <a:gd name="T66" fmla="*/ 948 w 1959"/>
                <a:gd name="T67" fmla="*/ 377 h 756"/>
                <a:gd name="T68" fmla="*/ 960 w 1959"/>
                <a:gd name="T69" fmla="*/ 378 h 756"/>
                <a:gd name="T70" fmla="*/ 971 w 1959"/>
                <a:gd name="T71" fmla="*/ 377 h 756"/>
                <a:gd name="T72" fmla="*/ 978 w 1959"/>
                <a:gd name="T73" fmla="*/ 362 h 756"/>
                <a:gd name="T74" fmla="*/ 979 w 1959"/>
                <a:gd name="T75" fmla="*/ 324 h 756"/>
                <a:gd name="T76" fmla="*/ 973 w 1959"/>
                <a:gd name="T77" fmla="*/ 308 h 756"/>
                <a:gd name="T78" fmla="*/ 963 w 1959"/>
                <a:gd name="T79" fmla="*/ 304 h 7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959"/>
                <a:gd name="T121" fmla="*/ 0 h 756"/>
                <a:gd name="T122" fmla="*/ 1959 w 1959"/>
                <a:gd name="T123" fmla="*/ 756 h 75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959" h="756">
                  <a:moveTo>
                    <a:pt x="1923" y="606"/>
                  </a:moveTo>
                  <a:lnTo>
                    <a:pt x="1928" y="402"/>
                  </a:lnTo>
                  <a:lnTo>
                    <a:pt x="1927" y="389"/>
                  </a:lnTo>
                  <a:lnTo>
                    <a:pt x="1924" y="378"/>
                  </a:lnTo>
                  <a:lnTo>
                    <a:pt x="1918" y="366"/>
                  </a:lnTo>
                  <a:lnTo>
                    <a:pt x="1911" y="357"/>
                  </a:lnTo>
                  <a:lnTo>
                    <a:pt x="1902" y="349"/>
                  </a:lnTo>
                  <a:lnTo>
                    <a:pt x="1892" y="343"/>
                  </a:lnTo>
                  <a:lnTo>
                    <a:pt x="1881" y="340"/>
                  </a:lnTo>
                  <a:lnTo>
                    <a:pt x="1868" y="338"/>
                  </a:lnTo>
                  <a:lnTo>
                    <a:pt x="1592" y="338"/>
                  </a:lnTo>
                  <a:lnTo>
                    <a:pt x="1598" y="75"/>
                  </a:lnTo>
                  <a:lnTo>
                    <a:pt x="1596" y="62"/>
                  </a:lnTo>
                  <a:lnTo>
                    <a:pt x="1594" y="48"/>
                  </a:lnTo>
                  <a:lnTo>
                    <a:pt x="1588" y="35"/>
                  </a:lnTo>
                  <a:lnTo>
                    <a:pt x="1582" y="24"/>
                  </a:lnTo>
                  <a:lnTo>
                    <a:pt x="1572" y="15"/>
                  </a:lnTo>
                  <a:lnTo>
                    <a:pt x="1562" y="7"/>
                  </a:lnTo>
                  <a:lnTo>
                    <a:pt x="1552" y="2"/>
                  </a:lnTo>
                  <a:lnTo>
                    <a:pt x="1539" y="0"/>
                  </a:lnTo>
                  <a:lnTo>
                    <a:pt x="0" y="14"/>
                  </a:lnTo>
                  <a:lnTo>
                    <a:pt x="1520" y="56"/>
                  </a:lnTo>
                  <a:lnTo>
                    <a:pt x="1532" y="58"/>
                  </a:lnTo>
                  <a:lnTo>
                    <a:pt x="1542" y="64"/>
                  </a:lnTo>
                  <a:lnTo>
                    <a:pt x="1552" y="72"/>
                  </a:lnTo>
                  <a:lnTo>
                    <a:pt x="1560" y="83"/>
                  </a:lnTo>
                  <a:lnTo>
                    <a:pt x="1567" y="94"/>
                  </a:lnTo>
                  <a:lnTo>
                    <a:pt x="1571" y="107"/>
                  </a:lnTo>
                  <a:lnTo>
                    <a:pt x="1573" y="120"/>
                  </a:lnTo>
                  <a:lnTo>
                    <a:pt x="1573" y="132"/>
                  </a:lnTo>
                  <a:lnTo>
                    <a:pt x="1572" y="143"/>
                  </a:lnTo>
                  <a:lnTo>
                    <a:pt x="1537" y="143"/>
                  </a:lnTo>
                  <a:lnTo>
                    <a:pt x="1537" y="343"/>
                  </a:lnTo>
                  <a:lnTo>
                    <a:pt x="1558" y="343"/>
                  </a:lnTo>
                  <a:lnTo>
                    <a:pt x="1555" y="383"/>
                  </a:lnTo>
                  <a:lnTo>
                    <a:pt x="1818" y="398"/>
                  </a:lnTo>
                  <a:lnTo>
                    <a:pt x="1829" y="401"/>
                  </a:lnTo>
                  <a:lnTo>
                    <a:pt x="1840" y="404"/>
                  </a:lnTo>
                  <a:lnTo>
                    <a:pt x="1850" y="411"/>
                  </a:lnTo>
                  <a:lnTo>
                    <a:pt x="1858" y="418"/>
                  </a:lnTo>
                  <a:lnTo>
                    <a:pt x="1864" y="427"/>
                  </a:lnTo>
                  <a:lnTo>
                    <a:pt x="1868" y="438"/>
                  </a:lnTo>
                  <a:lnTo>
                    <a:pt x="1872" y="449"/>
                  </a:lnTo>
                  <a:lnTo>
                    <a:pt x="1872" y="462"/>
                  </a:lnTo>
                  <a:lnTo>
                    <a:pt x="1870" y="484"/>
                  </a:lnTo>
                  <a:lnTo>
                    <a:pt x="1879" y="491"/>
                  </a:lnTo>
                  <a:lnTo>
                    <a:pt x="1887" y="502"/>
                  </a:lnTo>
                  <a:lnTo>
                    <a:pt x="1892" y="518"/>
                  </a:lnTo>
                  <a:lnTo>
                    <a:pt x="1893" y="537"/>
                  </a:lnTo>
                  <a:lnTo>
                    <a:pt x="1890" y="557"/>
                  </a:lnTo>
                  <a:lnTo>
                    <a:pt x="1883" y="574"/>
                  </a:lnTo>
                  <a:lnTo>
                    <a:pt x="1874" y="585"/>
                  </a:lnTo>
                  <a:lnTo>
                    <a:pt x="1864" y="591"/>
                  </a:lnTo>
                  <a:lnTo>
                    <a:pt x="1862" y="678"/>
                  </a:lnTo>
                  <a:lnTo>
                    <a:pt x="1832" y="678"/>
                  </a:lnTo>
                  <a:lnTo>
                    <a:pt x="1830" y="722"/>
                  </a:lnTo>
                  <a:lnTo>
                    <a:pt x="1842" y="722"/>
                  </a:lnTo>
                  <a:lnTo>
                    <a:pt x="1852" y="723"/>
                  </a:lnTo>
                  <a:lnTo>
                    <a:pt x="1859" y="724"/>
                  </a:lnTo>
                  <a:lnTo>
                    <a:pt x="1865" y="726"/>
                  </a:lnTo>
                  <a:lnTo>
                    <a:pt x="1868" y="727"/>
                  </a:lnTo>
                  <a:lnTo>
                    <a:pt x="1872" y="728"/>
                  </a:lnTo>
                  <a:lnTo>
                    <a:pt x="1874" y="728"/>
                  </a:lnTo>
                  <a:lnTo>
                    <a:pt x="1877" y="728"/>
                  </a:lnTo>
                  <a:lnTo>
                    <a:pt x="1877" y="749"/>
                  </a:lnTo>
                  <a:lnTo>
                    <a:pt x="1879" y="750"/>
                  </a:lnTo>
                  <a:lnTo>
                    <a:pt x="1886" y="751"/>
                  </a:lnTo>
                  <a:lnTo>
                    <a:pt x="1896" y="753"/>
                  </a:lnTo>
                  <a:lnTo>
                    <a:pt x="1908" y="754"/>
                  </a:lnTo>
                  <a:lnTo>
                    <a:pt x="1920" y="756"/>
                  </a:lnTo>
                  <a:lnTo>
                    <a:pt x="1932" y="756"/>
                  </a:lnTo>
                  <a:lnTo>
                    <a:pt x="1941" y="753"/>
                  </a:lnTo>
                  <a:lnTo>
                    <a:pt x="1948" y="749"/>
                  </a:lnTo>
                  <a:lnTo>
                    <a:pt x="1956" y="724"/>
                  </a:lnTo>
                  <a:lnTo>
                    <a:pt x="1959" y="686"/>
                  </a:lnTo>
                  <a:lnTo>
                    <a:pt x="1958" y="648"/>
                  </a:lnTo>
                  <a:lnTo>
                    <a:pt x="1954" y="624"/>
                  </a:lnTo>
                  <a:lnTo>
                    <a:pt x="1946" y="615"/>
                  </a:lnTo>
                  <a:lnTo>
                    <a:pt x="1935" y="609"/>
                  </a:lnTo>
                  <a:lnTo>
                    <a:pt x="1926" y="607"/>
                  </a:lnTo>
                  <a:lnTo>
                    <a:pt x="1923" y="6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1" name="Freeform 176"/>
            <p:cNvSpPr>
              <a:spLocks/>
            </p:cNvSpPr>
            <p:nvPr/>
          </p:nvSpPr>
          <p:spPr bwMode="auto">
            <a:xfrm>
              <a:off x="2750" y="1344"/>
              <a:ext cx="385" cy="427"/>
            </a:xfrm>
            <a:custGeom>
              <a:avLst/>
              <a:gdLst>
                <a:gd name="T0" fmla="*/ 382 w 771"/>
                <a:gd name="T1" fmla="*/ 330 h 854"/>
                <a:gd name="T2" fmla="*/ 368 w 771"/>
                <a:gd name="T3" fmla="*/ 298 h 854"/>
                <a:gd name="T4" fmla="*/ 345 w 771"/>
                <a:gd name="T5" fmla="*/ 276 h 854"/>
                <a:gd name="T6" fmla="*/ 316 w 771"/>
                <a:gd name="T7" fmla="*/ 265 h 854"/>
                <a:gd name="T8" fmla="*/ 288 w 771"/>
                <a:gd name="T9" fmla="*/ 265 h 854"/>
                <a:gd name="T10" fmla="*/ 262 w 771"/>
                <a:gd name="T11" fmla="*/ 275 h 854"/>
                <a:gd name="T12" fmla="*/ 241 w 771"/>
                <a:gd name="T13" fmla="*/ 291 h 854"/>
                <a:gd name="T14" fmla="*/ 225 w 771"/>
                <a:gd name="T15" fmla="*/ 314 h 854"/>
                <a:gd name="T16" fmla="*/ 67 w 771"/>
                <a:gd name="T17" fmla="*/ 328 h 854"/>
                <a:gd name="T18" fmla="*/ 56 w 771"/>
                <a:gd name="T19" fmla="*/ 325 h 854"/>
                <a:gd name="T20" fmla="*/ 47 w 771"/>
                <a:gd name="T21" fmla="*/ 318 h 854"/>
                <a:gd name="T22" fmla="*/ 42 w 771"/>
                <a:gd name="T23" fmla="*/ 308 h 854"/>
                <a:gd name="T24" fmla="*/ 40 w 771"/>
                <a:gd name="T25" fmla="*/ 296 h 854"/>
                <a:gd name="T26" fmla="*/ 50 w 771"/>
                <a:gd name="T27" fmla="*/ 173 h 854"/>
                <a:gd name="T28" fmla="*/ 52 w 771"/>
                <a:gd name="T29" fmla="*/ 173 h 854"/>
                <a:gd name="T30" fmla="*/ 58 w 771"/>
                <a:gd name="T31" fmla="*/ 172 h 854"/>
                <a:gd name="T32" fmla="*/ 64 w 771"/>
                <a:gd name="T33" fmla="*/ 166 h 854"/>
                <a:gd name="T34" fmla="*/ 65 w 771"/>
                <a:gd name="T35" fmla="*/ 83 h 854"/>
                <a:gd name="T36" fmla="*/ 63 w 771"/>
                <a:gd name="T37" fmla="*/ 76 h 854"/>
                <a:gd name="T38" fmla="*/ 57 w 771"/>
                <a:gd name="T39" fmla="*/ 72 h 854"/>
                <a:gd name="T40" fmla="*/ 61 w 771"/>
                <a:gd name="T41" fmla="*/ 10 h 854"/>
                <a:gd name="T42" fmla="*/ 64 w 771"/>
                <a:gd name="T43" fmla="*/ 3 h 854"/>
                <a:gd name="T44" fmla="*/ 62 w 771"/>
                <a:gd name="T45" fmla="*/ 0 h 854"/>
                <a:gd name="T46" fmla="*/ 50 w 771"/>
                <a:gd name="T47" fmla="*/ 3 h 854"/>
                <a:gd name="T48" fmla="*/ 40 w 771"/>
                <a:gd name="T49" fmla="*/ 10 h 854"/>
                <a:gd name="T50" fmla="*/ 33 w 771"/>
                <a:gd name="T51" fmla="*/ 19 h 854"/>
                <a:gd name="T52" fmla="*/ 31 w 771"/>
                <a:gd name="T53" fmla="*/ 31 h 854"/>
                <a:gd name="T54" fmla="*/ 23 w 771"/>
                <a:gd name="T55" fmla="*/ 183 h 854"/>
                <a:gd name="T56" fmla="*/ 16 w 771"/>
                <a:gd name="T57" fmla="*/ 196 h 854"/>
                <a:gd name="T58" fmla="*/ 16 w 771"/>
                <a:gd name="T59" fmla="*/ 214 h 854"/>
                <a:gd name="T60" fmla="*/ 21 w 771"/>
                <a:gd name="T61" fmla="*/ 228 h 854"/>
                <a:gd name="T62" fmla="*/ 24 w 771"/>
                <a:gd name="T63" fmla="*/ 288 h 854"/>
                <a:gd name="T64" fmla="*/ 0 w 771"/>
                <a:gd name="T65" fmla="*/ 366 h 854"/>
                <a:gd name="T66" fmla="*/ 50 w 771"/>
                <a:gd name="T67" fmla="*/ 355 h 854"/>
                <a:gd name="T68" fmla="*/ 235 w 771"/>
                <a:gd name="T69" fmla="*/ 348 h 854"/>
                <a:gd name="T70" fmla="*/ 235 w 771"/>
                <a:gd name="T71" fmla="*/ 352 h 854"/>
                <a:gd name="T72" fmla="*/ 235 w 771"/>
                <a:gd name="T73" fmla="*/ 355 h 854"/>
                <a:gd name="T74" fmla="*/ 240 w 771"/>
                <a:gd name="T75" fmla="*/ 384 h 854"/>
                <a:gd name="T76" fmla="*/ 254 w 771"/>
                <a:gd name="T77" fmla="*/ 406 h 854"/>
                <a:gd name="T78" fmla="*/ 276 w 771"/>
                <a:gd name="T79" fmla="*/ 422 h 854"/>
                <a:gd name="T80" fmla="*/ 302 w 771"/>
                <a:gd name="T81" fmla="*/ 427 h 854"/>
                <a:gd name="T82" fmla="*/ 329 w 771"/>
                <a:gd name="T83" fmla="*/ 422 h 854"/>
                <a:gd name="T84" fmla="*/ 350 w 771"/>
                <a:gd name="T85" fmla="*/ 407 h 854"/>
                <a:gd name="T86" fmla="*/ 365 w 771"/>
                <a:gd name="T87" fmla="*/ 385 h 854"/>
                <a:gd name="T88" fmla="*/ 371 w 771"/>
                <a:gd name="T89" fmla="*/ 358 h 854"/>
                <a:gd name="T90" fmla="*/ 371 w 771"/>
                <a:gd name="T91" fmla="*/ 354 h 854"/>
                <a:gd name="T92" fmla="*/ 371 w 771"/>
                <a:gd name="T93" fmla="*/ 351 h 85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71"/>
                <a:gd name="T142" fmla="*/ 0 h 854"/>
                <a:gd name="T143" fmla="*/ 771 w 771"/>
                <a:gd name="T144" fmla="*/ 854 h 85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71" h="854">
                  <a:moveTo>
                    <a:pt x="771" y="700"/>
                  </a:moveTo>
                  <a:lnTo>
                    <a:pt x="765" y="659"/>
                  </a:lnTo>
                  <a:lnTo>
                    <a:pt x="753" y="625"/>
                  </a:lnTo>
                  <a:lnTo>
                    <a:pt x="736" y="595"/>
                  </a:lnTo>
                  <a:lnTo>
                    <a:pt x="715" y="571"/>
                  </a:lnTo>
                  <a:lnTo>
                    <a:pt x="690" y="552"/>
                  </a:lnTo>
                  <a:lnTo>
                    <a:pt x="662" y="538"/>
                  </a:lnTo>
                  <a:lnTo>
                    <a:pt x="633" y="530"/>
                  </a:lnTo>
                  <a:lnTo>
                    <a:pt x="604" y="528"/>
                  </a:lnTo>
                  <a:lnTo>
                    <a:pt x="576" y="530"/>
                  </a:lnTo>
                  <a:lnTo>
                    <a:pt x="549" y="537"/>
                  </a:lnTo>
                  <a:lnTo>
                    <a:pt x="524" y="549"/>
                  </a:lnTo>
                  <a:lnTo>
                    <a:pt x="502" y="564"/>
                  </a:lnTo>
                  <a:lnTo>
                    <a:pt x="483" y="582"/>
                  </a:lnTo>
                  <a:lnTo>
                    <a:pt x="465" y="603"/>
                  </a:lnTo>
                  <a:lnTo>
                    <a:pt x="451" y="627"/>
                  </a:lnTo>
                  <a:lnTo>
                    <a:pt x="441" y="653"/>
                  </a:lnTo>
                  <a:lnTo>
                    <a:pt x="134" y="656"/>
                  </a:lnTo>
                  <a:lnTo>
                    <a:pt x="123" y="654"/>
                  </a:lnTo>
                  <a:lnTo>
                    <a:pt x="113" y="649"/>
                  </a:lnTo>
                  <a:lnTo>
                    <a:pt x="102" y="643"/>
                  </a:lnTo>
                  <a:lnTo>
                    <a:pt x="94" y="635"/>
                  </a:lnTo>
                  <a:lnTo>
                    <a:pt x="88" y="626"/>
                  </a:lnTo>
                  <a:lnTo>
                    <a:pt x="84" y="616"/>
                  </a:lnTo>
                  <a:lnTo>
                    <a:pt x="80" y="604"/>
                  </a:lnTo>
                  <a:lnTo>
                    <a:pt x="80" y="591"/>
                  </a:lnTo>
                  <a:lnTo>
                    <a:pt x="99" y="345"/>
                  </a:lnTo>
                  <a:lnTo>
                    <a:pt x="101" y="346"/>
                  </a:lnTo>
                  <a:lnTo>
                    <a:pt x="103" y="346"/>
                  </a:lnTo>
                  <a:lnTo>
                    <a:pt x="105" y="346"/>
                  </a:lnTo>
                  <a:lnTo>
                    <a:pt x="107" y="346"/>
                  </a:lnTo>
                  <a:lnTo>
                    <a:pt x="116" y="344"/>
                  </a:lnTo>
                  <a:lnTo>
                    <a:pt x="124" y="339"/>
                  </a:lnTo>
                  <a:lnTo>
                    <a:pt x="129" y="332"/>
                  </a:lnTo>
                  <a:lnTo>
                    <a:pt x="131" y="323"/>
                  </a:lnTo>
                  <a:lnTo>
                    <a:pt x="131" y="166"/>
                  </a:lnTo>
                  <a:lnTo>
                    <a:pt x="130" y="158"/>
                  </a:lnTo>
                  <a:lnTo>
                    <a:pt x="126" y="152"/>
                  </a:lnTo>
                  <a:lnTo>
                    <a:pt x="121" y="147"/>
                  </a:lnTo>
                  <a:lnTo>
                    <a:pt x="114" y="143"/>
                  </a:lnTo>
                  <a:lnTo>
                    <a:pt x="122" y="28"/>
                  </a:lnTo>
                  <a:lnTo>
                    <a:pt x="123" y="20"/>
                  </a:lnTo>
                  <a:lnTo>
                    <a:pt x="125" y="13"/>
                  </a:lnTo>
                  <a:lnTo>
                    <a:pt x="128" y="6"/>
                  </a:lnTo>
                  <a:lnTo>
                    <a:pt x="131" y="0"/>
                  </a:lnTo>
                  <a:lnTo>
                    <a:pt x="124" y="0"/>
                  </a:lnTo>
                  <a:lnTo>
                    <a:pt x="111" y="2"/>
                  </a:lnTo>
                  <a:lnTo>
                    <a:pt x="100" y="5"/>
                  </a:lnTo>
                  <a:lnTo>
                    <a:pt x="90" y="11"/>
                  </a:lnTo>
                  <a:lnTo>
                    <a:pt x="80" y="19"/>
                  </a:lnTo>
                  <a:lnTo>
                    <a:pt x="72" y="28"/>
                  </a:lnTo>
                  <a:lnTo>
                    <a:pt x="66" y="38"/>
                  </a:lnTo>
                  <a:lnTo>
                    <a:pt x="63" y="50"/>
                  </a:lnTo>
                  <a:lnTo>
                    <a:pt x="62" y="63"/>
                  </a:lnTo>
                  <a:lnTo>
                    <a:pt x="55" y="359"/>
                  </a:lnTo>
                  <a:lnTo>
                    <a:pt x="46" y="366"/>
                  </a:lnTo>
                  <a:lnTo>
                    <a:pt x="39" y="377"/>
                  </a:lnTo>
                  <a:lnTo>
                    <a:pt x="33" y="392"/>
                  </a:lnTo>
                  <a:lnTo>
                    <a:pt x="31" y="411"/>
                  </a:lnTo>
                  <a:lnTo>
                    <a:pt x="32" y="429"/>
                  </a:lnTo>
                  <a:lnTo>
                    <a:pt x="37" y="444"/>
                  </a:lnTo>
                  <a:lnTo>
                    <a:pt x="43" y="457"/>
                  </a:lnTo>
                  <a:lnTo>
                    <a:pt x="53" y="464"/>
                  </a:lnTo>
                  <a:lnTo>
                    <a:pt x="49" y="575"/>
                  </a:lnTo>
                  <a:lnTo>
                    <a:pt x="3" y="575"/>
                  </a:lnTo>
                  <a:lnTo>
                    <a:pt x="0" y="732"/>
                  </a:lnTo>
                  <a:lnTo>
                    <a:pt x="100" y="730"/>
                  </a:lnTo>
                  <a:lnTo>
                    <a:pt x="100" y="709"/>
                  </a:lnTo>
                  <a:lnTo>
                    <a:pt x="469" y="700"/>
                  </a:lnTo>
                  <a:lnTo>
                    <a:pt x="471" y="696"/>
                  </a:lnTo>
                  <a:lnTo>
                    <a:pt x="471" y="700"/>
                  </a:lnTo>
                  <a:lnTo>
                    <a:pt x="471" y="703"/>
                  </a:lnTo>
                  <a:lnTo>
                    <a:pt x="471" y="707"/>
                  </a:lnTo>
                  <a:lnTo>
                    <a:pt x="471" y="710"/>
                  </a:lnTo>
                  <a:lnTo>
                    <a:pt x="473" y="739"/>
                  </a:lnTo>
                  <a:lnTo>
                    <a:pt x="480" y="767"/>
                  </a:lnTo>
                  <a:lnTo>
                    <a:pt x="492" y="791"/>
                  </a:lnTo>
                  <a:lnTo>
                    <a:pt x="509" y="812"/>
                  </a:lnTo>
                  <a:lnTo>
                    <a:pt x="529" y="830"/>
                  </a:lnTo>
                  <a:lnTo>
                    <a:pt x="552" y="843"/>
                  </a:lnTo>
                  <a:lnTo>
                    <a:pt x="577" y="851"/>
                  </a:lnTo>
                  <a:lnTo>
                    <a:pt x="605" y="854"/>
                  </a:lnTo>
                  <a:lnTo>
                    <a:pt x="632" y="852"/>
                  </a:lnTo>
                  <a:lnTo>
                    <a:pt x="658" y="844"/>
                  </a:lnTo>
                  <a:lnTo>
                    <a:pt x="681" y="831"/>
                  </a:lnTo>
                  <a:lnTo>
                    <a:pt x="701" y="814"/>
                  </a:lnTo>
                  <a:lnTo>
                    <a:pt x="719" y="794"/>
                  </a:lnTo>
                  <a:lnTo>
                    <a:pt x="731" y="770"/>
                  </a:lnTo>
                  <a:lnTo>
                    <a:pt x="740" y="744"/>
                  </a:lnTo>
                  <a:lnTo>
                    <a:pt x="743" y="715"/>
                  </a:lnTo>
                  <a:lnTo>
                    <a:pt x="743" y="711"/>
                  </a:lnTo>
                  <a:lnTo>
                    <a:pt x="743" y="708"/>
                  </a:lnTo>
                  <a:lnTo>
                    <a:pt x="743" y="704"/>
                  </a:lnTo>
                  <a:lnTo>
                    <a:pt x="743" y="701"/>
                  </a:lnTo>
                  <a:lnTo>
                    <a:pt x="771" y="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2" name="Freeform 177"/>
            <p:cNvSpPr>
              <a:spLocks/>
            </p:cNvSpPr>
            <p:nvPr/>
          </p:nvSpPr>
          <p:spPr bwMode="auto">
            <a:xfrm>
              <a:off x="3024" y="1667"/>
              <a:ext cx="58" cy="59"/>
            </a:xfrm>
            <a:custGeom>
              <a:avLst/>
              <a:gdLst>
                <a:gd name="T0" fmla="*/ 29 w 118"/>
                <a:gd name="T1" fmla="*/ 59 h 117"/>
                <a:gd name="T2" fmla="*/ 34 w 118"/>
                <a:gd name="T3" fmla="*/ 58 h 117"/>
                <a:gd name="T4" fmla="*/ 40 w 118"/>
                <a:gd name="T5" fmla="*/ 57 h 117"/>
                <a:gd name="T6" fmla="*/ 45 w 118"/>
                <a:gd name="T7" fmla="*/ 54 h 117"/>
                <a:gd name="T8" fmla="*/ 49 w 118"/>
                <a:gd name="T9" fmla="*/ 50 h 117"/>
                <a:gd name="T10" fmla="*/ 53 w 118"/>
                <a:gd name="T11" fmla="*/ 46 h 117"/>
                <a:gd name="T12" fmla="*/ 56 w 118"/>
                <a:gd name="T13" fmla="*/ 41 h 117"/>
                <a:gd name="T14" fmla="*/ 57 w 118"/>
                <a:gd name="T15" fmla="*/ 35 h 117"/>
                <a:gd name="T16" fmla="*/ 58 w 118"/>
                <a:gd name="T17" fmla="*/ 30 h 117"/>
                <a:gd name="T18" fmla="*/ 57 w 118"/>
                <a:gd name="T19" fmla="*/ 24 h 117"/>
                <a:gd name="T20" fmla="*/ 56 w 118"/>
                <a:gd name="T21" fmla="*/ 18 h 117"/>
                <a:gd name="T22" fmla="*/ 53 w 118"/>
                <a:gd name="T23" fmla="*/ 13 h 117"/>
                <a:gd name="T24" fmla="*/ 49 w 118"/>
                <a:gd name="T25" fmla="*/ 9 h 117"/>
                <a:gd name="T26" fmla="*/ 45 w 118"/>
                <a:gd name="T27" fmla="*/ 5 h 117"/>
                <a:gd name="T28" fmla="*/ 40 w 118"/>
                <a:gd name="T29" fmla="*/ 3 h 117"/>
                <a:gd name="T30" fmla="*/ 34 w 118"/>
                <a:gd name="T31" fmla="*/ 1 h 117"/>
                <a:gd name="T32" fmla="*/ 29 w 118"/>
                <a:gd name="T33" fmla="*/ 0 h 117"/>
                <a:gd name="T34" fmla="*/ 23 w 118"/>
                <a:gd name="T35" fmla="*/ 1 h 117"/>
                <a:gd name="T36" fmla="*/ 18 w 118"/>
                <a:gd name="T37" fmla="*/ 3 h 117"/>
                <a:gd name="T38" fmla="*/ 13 w 118"/>
                <a:gd name="T39" fmla="*/ 5 h 117"/>
                <a:gd name="T40" fmla="*/ 8 w 118"/>
                <a:gd name="T41" fmla="*/ 9 h 117"/>
                <a:gd name="T42" fmla="*/ 5 w 118"/>
                <a:gd name="T43" fmla="*/ 13 h 117"/>
                <a:gd name="T44" fmla="*/ 2 w 118"/>
                <a:gd name="T45" fmla="*/ 18 h 117"/>
                <a:gd name="T46" fmla="*/ 0 w 118"/>
                <a:gd name="T47" fmla="*/ 24 h 117"/>
                <a:gd name="T48" fmla="*/ 0 w 118"/>
                <a:gd name="T49" fmla="*/ 30 h 117"/>
                <a:gd name="T50" fmla="*/ 0 w 118"/>
                <a:gd name="T51" fmla="*/ 35 h 117"/>
                <a:gd name="T52" fmla="*/ 2 w 118"/>
                <a:gd name="T53" fmla="*/ 41 h 117"/>
                <a:gd name="T54" fmla="*/ 5 w 118"/>
                <a:gd name="T55" fmla="*/ 46 h 117"/>
                <a:gd name="T56" fmla="*/ 8 w 118"/>
                <a:gd name="T57" fmla="*/ 50 h 117"/>
                <a:gd name="T58" fmla="*/ 13 w 118"/>
                <a:gd name="T59" fmla="*/ 54 h 117"/>
                <a:gd name="T60" fmla="*/ 18 w 118"/>
                <a:gd name="T61" fmla="*/ 57 h 117"/>
                <a:gd name="T62" fmla="*/ 23 w 118"/>
                <a:gd name="T63" fmla="*/ 58 h 117"/>
                <a:gd name="T64" fmla="*/ 29 w 118"/>
                <a:gd name="T65" fmla="*/ 59 h 1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8"/>
                <a:gd name="T100" fmla="*/ 0 h 117"/>
                <a:gd name="T101" fmla="*/ 118 w 118"/>
                <a:gd name="T102" fmla="*/ 117 h 11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8" h="117">
                  <a:moveTo>
                    <a:pt x="59" y="117"/>
                  </a:moveTo>
                  <a:lnTo>
                    <a:pt x="70" y="116"/>
                  </a:lnTo>
                  <a:lnTo>
                    <a:pt x="82" y="113"/>
                  </a:lnTo>
                  <a:lnTo>
                    <a:pt x="91" y="107"/>
                  </a:lnTo>
                  <a:lnTo>
                    <a:pt x="100" y="100"/>
                  </a:lnTo>
                  <a:lnTo>
                    <a:pt x="107" y="91"/>
                  </a:lnTo>
                  <a:lnTo>
                    <a:pt x="113" y="82"/>
                  </a:lnTo>
                  <a:lnTo>
                    <a:pt x="116" y="70"/>
                  </a:lnTo>
                  <a:lnTo>
                    <a:pt x="118" y="59"/>
                  </a:lnTo>
                  <a:lnTo>
                    <a:pt x="116" y="47"/>
                  </a:lnTo>
                  <a:lnTo>
                    <a:pt x="113" y="36"/>
                  </a:lnTo>
                  <a:lnTo>
                    <a:pt x="107" y="26"/>
                  </a:lnTo>
                  <a:lnTo>
                    <a:pt x="100" y="17"/>
                  </a:lnTo>
                  <a:lnTo>
                    <a:pt x="91" y="10"/>
                  </a:lnTo>
                  <a:lnTo>
                    <a:pt x="82" y="5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47" y="1"/>
                  </a:lnTo>
                  <a:lnTo>
                    <a:pt x="36" y="5"/>
                  </a:lnTo>
                  <a:lnTo>
                    <a:pt x="27" y="10"/>
                  </a:lnTo>
                  <a:lnTo>
                    <a:pt x="17" y="17"/>
                  </a:lnTo>
                  <a:lnTo>
                    <a:pt x="10" y="26"/>
                  </a:lnTo>
                  <a:lnTo>
                    <a:pt x="5" y="36"/>
                  </a:lnTo>
                  <a:lnTo>
                    <a:pt x="1" y="47"/>
                  </a:lnTo>
                  <a:lnTo>
                    <a:pt x="0" y="59"/>
                  </a:lnTo>
                  <a:lnTo>
                    <a:pt x="1" y="70"/>
                  </a:lnTo>
                  <a:lnTo>
                    <a:pt x="5" y="82"/>
                  </a:lnTo>
                  <a:lnTo>
                    <a:pt x="10" y="91"/>
                  </a:lnTo>
                  <a:lnTo>
                    <a:pt x="17" y="100"/>
                  </a:lnTo>
                  <a:lnTo>
                    <a:pt x="27" y="107"/>
                  </a:lnTo>
                  <a:lnTo>
                    <a:pt x="36" y="113"/>
                  </a:lnTo>
                  <a:lnTo>
                    <a:pt x="47" y="116"/>
                  </a:lnTo>
                  <a:lnTo>
                    <a:pt x="59" y="117"/>
                  </a:lnTo>
                  <a:close/>
                </a:path>
              </a:pathLst>
            </a:custGeom>
            <a:solidFill>
              <a:srgbClr val="C9B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3" name="Freeform 178"/>
            <p:cNvSpPr>
              <a:spLocks/>
            </p:cNvSpPr>
            <p:nvPr/>
          </p:nvSpPr>
          <p:spPr bwMode="auto">
            <a:xfrm>
              <a:off x="3040" y="1676"/>
              <a:ext cx="34" cy="40"/>
            </a:xfrm>
            <a:custGeom>
              <a:avLst/>
              <a:gdLst>
                <a:gd name="T0" fmla="*/ 34 w 68"/>
                <a:gd name="T1" fmla="*/ 21 h 81"/>
                <a:gd name="T2" fmla="*/ 34 w 68"/>
                <a:gd name="T3" fmla="*/ 17 h 81"/>
                <a:gd name="T4" fmla="*/ 33 w 68"/>
                <a:gd name="T5" fmla="*/ 13 h 81"/>
                <a:gd name="T6" fmla="*/ 31 w 68"/>
                <a:gd name="T7" fmla="*/ 9 h 81"/>
                <a:gd name="T8" fmla="*/ 28 w 68"/>
                <a:gd name="T9" fmla="*/ 6 h 81"/>
                <a:gd name="T10" fmla="*/ 24 w 68"/>
                <a:gd name="T11" fmla="*/ 3 h 81"/>
                <a:gd name="T12" fmla="*/ 21 w 68"/>
                <a:gd name="T13" fmla="*/ 2 h 81"/>
                <a:gd name="T14" fmla="*/ 17 w 68"/>
                <a:gd name="T15" fmla="*/ 0 h 81"/>
                <a:gd name="T16" fmla="*/ 13 w 68"/>
                <a:gd name="T17" fmla="*/ 0 h 81"/>
                <a:gd name="T18" fmla="*/ 9 w 68"/>
                <a:gd name="T19" fmla="*/ 0 h 81"/>
                <a:gd name="T20" fmla="*/ 6 w 68"/>
                <a:gd name="T21" fmla="*/ 1 h 81"/>
                <a:gd name="T22" fmla="*/ 3 w 68"/>
                <a:gd name="T23" fmla="*/ 2 h 81"/>
                <a:gd name="T24" fmla="*/ 0 w 68"/>
                <a:gd name="T25" fmla="*/ 4 h 81"/>
                <a:gd name="T26" fmla="*/ 1 w 68"/>
                <a:gd name="T27" fmla="*/ 4 h 81"/>
                <a:gd name="T28" fmla="*/ 2 w 68"/>
                <a:gd name="T29" fmla="*/ 4 h 81"/>
                <a:gd name="T30" fmla="*/ 2 w 68"/>
                <a:gd name="T31" fmla="*/ 4 h 81"/>
                <a:gd name="T32" fmla="*/ 3 w 68"/>
                <a:gd name="T33" fmla="*/ 4 h 81"/>
                <a:gd name="T34" fmla="*/ 7 w 68"/>
                <a:gd name="T35" fmla="*/ 4 h 81"/>
                <a:gd name="T36" fmla="*/ 12 w 68"/>
                <a:gd name="T37" fmla="*/ 6 h 81"/>
                <a:gd name="T38" fmla="*/ 16 w 68"/>
                <a:gd name="T39" fmla="*/ 8 h 81"/>
                <a:gd name="T40" fmla="*/ 19 w 68"/>
                <a:gd name="T41" fmla="*/ 10 h 81"/>
                <a:gd name="T42" fmla="*/ 21 w 68"/>
                <a:gd name="T43" fmla="*/ 14 h 81"/>
                <a:gd name="T44" fmla="*/ 24 w 68"/>
                <a:gd name="T45" fmla="*/ 18 h 81"/>
                <a:gd name="T46" fmla="*/ 25 w 68"/>
                <a:gd name="T47" fmla="*/ 22 h 81"/>
                <a:gd name="T48" fmla="*/ 25 w 68"/>
                <a:gd name="T49" fmla="*/ 26 h 81"/>
                <a:gd name="T50" fmla="*/ 25 w 68"/>
                <a:gd name="T51" fmla="*/ 30 h 81"/>
                <a:gd name="T52" fmla="*/ 24 w 68"/>
                <a:gd name="T53" fmla="*/ 34 h 81"/>
                <a:gd name="T54" fmla="*/ 22 w 68"/>
                <a:gd name="T55" fmla="*/ 37 h 81"/>
                <a:gd name="T56" fmla="*/ 21 w 68"/>
                <a:gd name="T57" fmla="*/ 40 h 81"/>
                <a:gd name="T58" fmla="*/ 26 w 68"/>
                <a:gd name="T59" fmla="*/ 37 h 81"/>
                <a:gd name="T60" fmla="*/ 30 w 68"/>
                <a:gd name="T61" fmla="*/ 32 h 81"/>
                <a:gd name="T62" fmla="*/ 33 w 68"/>
                <a:gd name="T63" fmla="*/ 27 h 81"/>
                <a:gd name="T64" fmla="*/ 34 w 68"/>
                <a:gd name="T65" fmla="*/ 21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"/>
                <a:gd name="T100" fmla="*/ 0 h 81"/>
                <a:gd name="T101" fmla="*/ 68 w 68"/>
                <a:gd name="T102" fmla="*/ 81 h 8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" h="81">
                  <a:moveTo>
                    <a:pt x="68" y="42"/>
                  </a:moveTo>
                  <a:lnTo>
                    <a:pt x="67" y="34"/>
                  </a:lnTo>
                  <a:lnTo>
                    <a:pt x="65" y="26"/>
                  </a:lnTo>
                  <a:lnTo>
                    <a:pt x="62" y="19"/>
                  </a:lnTo>
                  <a:lnTo>
                    <a:pt x="56" y="12"/>
                  </a:lnTo>
                  <a:lnTo>
                    <a:pt x="49" y="7"/>
                  </a:lnTo>
                  <a:lnTo>
                    <a:pt x="42" y="4"/>
                  </a:lnTo>
                  <a:lnTo>
                    <a:pt x="34" y="1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2" y="3"/>
                  </a:lnTo>
                  <a:lnTo>
                    <a:pt x="6" y="5"/>
                  </a:lnTo>
                  <a:lnTo>
                    <a:pt x="0" y="8"/>
                  </a:lnTo>
                  <a:lnTo>
                    <a:pt x="2" y="8"/>
                  </a:lnTo>
                  <a:lnTo>
                    <a:pt x="4" y="8"/>
                  </a:lnTo>
                  <a:lnTo>
                    <a:pt x="5" y="8"/>
                  </a:lnTo>
                  <a:lnTo>
                    <a:pt x="6" y="8"/>
                  </a:lnTo>
                  <a:lnTo>
                    <a:pt x="15" y="9"/>
                  </a:lnTo>
                  <a:lnTo>
                    <a:pt x="24" y="12"/>
                  </a:lnTo>
                  <a:lnTo>
                    <a:pt x="32" y="16"/>
                  </a:lnTo>
                  <a:lnTo>
                    <a:pt x="38" y="21"/>
                  </a:lnTo>
                  <a:lnTo>
                    <a:pt x="43" y="28"/>
                  </a:lnTo>
                  <a:lnTo>
                    <a:pt x="48" y="36"/>
                  </a:lnTo>
                  <a:lnTo>
                    <a:pt x="50" y="44"/>
                  </a:lnTo>
                  <a:lnTo>
                    <a:pt x="51" y="53"/>
                  </a:lnTo>
                  <a:lnTo>
                    <a:pt x="50" y="61"/>
                  </a:lnTo>
                  <a:lnTo>
                    <a:pt x="49" y="68"/>
                  </a:lnTo>
                  <a:lnTo>
                    <a:pt x="45" y="75"/>
                  </a:lnTo>
                  <a:lnTo>
                    <a:pt x="42" y="81"/>
                  </a:lnTo>
                  <a:lnTo>
                    <a:pt x="52" y="74"/>
                  </a:lnTo>
                  <a:lnTo>
                    <a:pt x="60" y="65"/>
                  </a:lnTo>
                  <a:lnTo>
                    <a:pt x="66" y="54"/>
                  </a:lnTo>
                  <a:lnTo>
                    <a:pt x="68" y="42"/>
                  </a:lnTo>
                  <a:close/>
                </a:path>
              </a:pathLst>
            </a:custGeom>
            <a:solidFill>
              <a:srgbClr val="F2E2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4" name="Freeform 179"/>
            <p:cNvSpPr>
              <a:spLocks/>
            </p:cNvSpPr>
            <p:nvPr/>
          </p:nvSpPr>
          <p:spPr bwMode="auto">
            <a:xfrm>
              <a:off x="3705" y="1662"/>
              <a:ext cx="59" cy="58"/>
            </a:xfrm>
            <a:custGeom>
              <a:avLst/>
              <a:gdLst>
                <a:gd name="T0" fmla="*/ 30 w 118"/>
                <a:gd name="T1" fmla="*/ 58 h 116"/>
                <a:gd name="T2" fmla="*/ 36 w 118"/>
                <a:gd name="T3" fmla="*/ 58 h 116"/>
                <a:gd name="T4" fmla="*/ 41 w 118"/>
                <a:gd name="T5" fmla="*/ 56 h 116"/>
                <a:gd name="T6" fmla="*/ 46 w 118"/>
                <a:gd name="T7" fmla="*/ 54 h 116"/>
                <a:gd name="T8" fmla="*/ 51 w 118"/>
                <a:gd name="T9" fmla="*/ 50 h 116"/>
                <a:gd name="T10" fmla="*/ 54 w 118"/>
                <a:gd name="T11" fmla="*/ 46 h 116"/>
                <a:gd name="T12" fmla="*/ 57 w 118"/>
                <a:gd name="T13" fmla="*/ 41 h 116"/>
                <a:gd name="T14" fmla="*/ 59 w 118"/>
                <a:gd name="T15" fmla="*/ 35 h 116"/>
                <a:gd name="T16" fmla="*/ 59 w 118"/>
                <a:gd name="T17" fmla="*/ 29 h 116"/>
                <a:gd name="T18" fmla="*/ 59 w 118"/>
                <a:gd name="T19" fmla="*/ 24 h 116"/>
                <a:gd name="T20" fmla="*/ 57 w 118"/>
                <a:gd name="T21" fmla="*/ 18 h 116"/>
                <a:gd name="T22" fmla="*/ 54 w 118"/>
                <a:gd name="T23" fmla="*/ 13 h 116"/>
                <a:gd name="T24" fmla="*/ 51 w 118"/>
                <a:gd name="T25" fmla="*/ 9 h 116"/>
                <a:gd name="T26" fmla="*/ 46 w 118"/>
                <a:gd name="T27" fmla="*/ 5 h 116"/>
                <a:gd name="T28" fmla="*/ 41 w 118"/>
                <a:gd name="T29" fmla="*/ 2 h 116"/>
                <a:gd name="T30" fmla="*/ 36 w 118"/>
                <a:gd name="T31" fmla="*/ 1 h 116"/>
                <a:gd name="T32" fmla="*/ 30 w 118"/>
                <a:gd name="T33" fmla="*/ 0 h 116"/>
                <a:gd name="T34" fmla="*/ 24 w 118"/>
                <a:gd name="T35" fmla="*/ 1 h 116"/>
                <a:gd name="T36" fmla="*/ 18 w 118"/>
                <a:gd name="T37" fmla="*/ 2 h 116"/>
                <a:gd name="T38" fmla="*/ 14 w 118"/>
                <a:gd name="T39" fmla="*/ 5 h 116"/>
                <a:gd name="T40" fmla="*/ 9 w 118"/>
                <a:gd name="T41" fmla="*/ 9 h 116"/>
                <a:gd name="T42" fmla="*/ 6 w 118"/>
                <a:gd name="T43" fmla="*/ 13 h 116"/>
                <a:gd name="T44" fmla="*/ 3 w 118"/>
                <a:gd name="T45" fmla="*/ 18 h 116"/>
                <a:gd name="T46" fmla="*/ 1 w 118"/>
                <a:gd name="T47" fmla="*/ 24 h 116"/>
                <a:gd name="T48" fmla="*/ 0 w 118"/>
                <a:gd name="T49" fmla="*/ 29 h 116"/>
                <a:gd name="T50" fmla="*/ 1 w 118"/>
                <a:gd name="T51" fmla="*/ 35 h 116"/>
                <a:gd name="T52" fmla="*/ 3 w 118"/>
                <a:gd name="T53" fmla="*/ 41 h 116"/>
                <a:gd name="T54" fmla="*/ 6 w 118"/>
                <a:gd name="T55" fmla="*/ 46 h 116"/>
                <a:gd name="T56" fmla="*/ 9 w 118"/>
                <a:gd name="T57" fmla="*/ 50 h 116"/>
                <a:gd name="T58" fmla="*/ 14 w 118"/>
                <a:gd name="T59" fmla="*/ 54 h 116"/>
                <a:gd name="T60" fmla="*/ 18 w 118"/>
                <a:gd name="T61" fmla="*/ 56 h 116"/>
                <a:gd name="T62" fmla="*/ 24 w 118"/>
                <a:gd name="T63" fmla="*/ 58 h 116"/>
                <a:gd name="T64" fmla="*/ 30 w 118"/>
                <a:gd name="T65" fmla="*/ 58 h 1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8"/>
                <a:gd name="T100" fmla="*/ 0 h 116"/>
                <a:gd name="T101" fmla="*/ 118 w 118"/>
                <a:gd name="T102" fmla="*/ 116 h 1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8" h="116">
                  <a:moveTo>
                    <a:pt x="59" y="116"/>
                  </a:moveTo>
                  <a:lnTo>
                    <a:pt x="71" y="115"/>
                  </a:lnTo>
                  <a:lnTo>
                    <a:pt x="82" y="111"/>
                  </a:lnTo>
                  <a:lnTo>
                    <a:pt x="91" y="107"/>
                  </a:lnTo>
                  <a:lnTo>
                    <a:pt x="101" y="99"/>
                  </a:lnTo>
                  <a:lnTo>
                    <a:pt x="108" y="91"/>
                  </a:lnTo>
                  <a:lnTo>
                    <a:pt x="113" y="81"/>
                  </a:lnTo>
                  <a:lnTo>
                    <a:pt x="117" y="70"/>
                  </a:lnTo>
                  <a:lnTo>
                    <a:pt x="118" y="58"/>
                  </a:lnTo>
                  <a:lnTo>
                    <a:pt x="117" y="47"/>
                  </a:lnTo>
                  <a:lnTo>
                    <a:pt x="113" y="35"/>
                  </a:lnTo>
                  <a:lnTo>
                    <a:pt x="108" y="26"/>
                  </a:lnTo>
                  <a:lnTo>
                    <a:pt x="101" y="17"/>
                  </a:lnTo>
                  <a:lnTo>
                    <a:pt x="91" y="10"/>
                  </a:lnTo>
                  <a:lnTo>
                    <a:pt x="82" y="4"/>
                  </a:lnTo>
                  <a:lnTo>
                    <a:pt x="71" y="1"/>
                  </a:lnTo>
                  <a:lnTo>
                    <a:pt x="59" y="0"/>
                  </a:lnTo>
                  <a:lnTo>
                    <a:pt x="48" y="1"/>
                  </a:lnTo>
                  <a:lnTo>
                    <a:pt x="36" y="4"/>
                  </a:lnTo>
                  <a:lnTo>
                    <a:pt x="27" y="10"/>
                  </a:lnTo>
                  <a:lnTo>
                    <a:pt x="18" y="17"/>
                  </a:lnTo>
                  <a:lnTo>
                    <a:pt x="11" y="26"/>
                  </a:lnTo>
                  <a:lnTo>
                    <a:pt x="5" y="35"/>
                  </a:lnTo>
                  <a:lnTo>
                    <a:pt x="1" y="47"/>
                  </a:lnTo>
                  <a:lnTo>
                    <a:pt x="0" y="58"/>
                  </a:lnTo>
                  <a:lnTo>
                    <a:pt x="1" y="70"/>
                  </a:lnTo>
                  <a:lnTo>
                    <a:pt x="5" y="81"/>
                  </a:lnTo>
                  <a:lnTo>
                    <a:pt x="11" y="91"/>
                  </a:lnTo>
                  <a:lnTo>
                    <a:pt x="18" y="99"/>
                  </a:lnTo>
                  <a:lnTo>
                    <a:pt x="27" y="107"/>
                  </a:lnTo>
                  <a:lnTo>
                    <a:pt x="36" y="111"/>
                  </a:lnTo>
                  <a:lnTo>
                    <a:pt x="48" y="115"/>
                  </a:lnTo>
                  <a:lnTo>
                    <a:pt x="59" y="116"/>
                  </a:lnTo>
                  <a:close/>
                </a:path>
              </a:pathLst>
            </a:custGeom>
            <a:solidFill>
              <a:srgbClr val="C9B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5" name="Freeform 180"/>
            <p:cNvSpPr>
              <a:spLocks/>
            </p:cNvSpPr>
            <p:nvPr/>
          </p:nvSpPr>
          <p:spPr bwMode="auto">
            <a:xfrm>
              <a:off x="3722" y="1670"/>
              <a:ext cx="34" cy="41"/>
            </a:xfrm>
            <a:custGeom>
              <a:avLst/>
              <a:gdLst>
                <a:gd name="T0" fmla="*/ 34 w 68"/>
                <a:gd name="T1" fmla="*/ 21 h 81"/>
                <a:gd name="T2" fmla="*/ 34 w 68"/>
                <a:gd name="T3" fmla="*/ 17 h 81"/>
                <a:gd name="T4" fmla="*/ 32 w 68"/>
                <a:gd name="T5" fmla="*/ 13 h 81"/>
                <a:gd name="T6" fmla="*/ 30 w 68"/>
                <a:gd name="T7" fmla="*/ 9 h 81"/>
                <a:gd name="T8" fmla="*/ 27 w 68"/>
                <a:gd name="T9" fmla="*/ 6 h 81"/>
                <a:gd name="T10" fmla="*/ 24 w 68"/>
                <a:gd name="T11" fmla="*/ 3 h 81"/>
                <a:gd name="T12" fmla="*/ 20 w 68"/>
                <a:gd name="T13" fmla="*/ 2 h 81"/>
                <a:gd name="T14" fmla="*/ 17 w 68"/>
                <a:gd name="T15" fmla="*/ 1 h 81"/>
                <a:gd name="T16" fmla="*/ 12 w 68"/>
                <a:gd name="T17" fmla="*/ 0 h 81"/>
                <a:gd name="T18" fmla="*/ 9 w 68"/>
                <a:gd name="T19" fmla="*/ 1 h 81"/>
                <a:gd name="T20" fmla="*/ 5 w 68"/>
                <a:gd name="T21" fmla="*/ 1 h 81"/>
                <a:gd name="T22" fmla="*/ 3 w 68"/>
                <a:gd name="T23" fmla="*/ 3 h 81"/>
                <a:gd name="T24" fmla="*/ 0 w 68"/>
                <a:gd name="T25" fmla="*/ 5 h 81"/>
                <a:gd name="T26" fmla="*/ 1 w 68"/>
                <a:gd name="T27" fmla="*/ 5 h 81"/>
                <a:gd name="T28" fmla="*/ 1 w 68"/>
                <a:gd name="T29" fmla="*/ 4 h 81"/>
                <a:gd name="T30" fmla="*/ 2 w 68"/>
                <a:gd name="T31" fmla="*/ 4 h 81"/>
                <a:gd name="T32" fmla="*/ 3 w 68"/>
                <a:gd name="T33" fmla="*/ 4 h 81"/>
                <a:gd name="T34" fmla="*/ 7 w 68"/>
                <a:gd name="T35" fmla="*/ 5 h 81"/>
                <a:gd name="T36" fmla="*/ 11 w 68"/>
                <a:gd name="T37" fmla="*/ 6 h 81"/>
                <a:gd name="T38" fmla="*/ 15 w 68"/>
                <a:gd name="T39" fmla="*/ 8 h 81"/>
                <a:gd name="T40" fmla="*/ 19 w 68"/>
                <a:gd name="T41" fmla="*/ 11 h 81"/>
                <a:gd name="T42" fmla="*/ 21 w 68"/>
                <a:gd name="T43" fmla="*/ 14 h 81"/>
                <a:gd name="T44" fmla="*/ 23 w 68"/>
                <a:gd name="T45" fmla="*/ 18 h 81"/>
                <a:gd name="T46" fmla="*/ 24 w 68"/>
                <a:gd name="T47" fmla="*/ 22 h 81"/>
                <a:gd name="T48" fmla="*/ 25 w 68"/>
                <a:gd name="T49" fmla="*/ 27 h 81"/>
                <a:gd name="T50" fmla="*/ 24 w 68"/>
                <a:gd name="T51" fmla="*/ 31 h 81"/>
                <a:gd name="T52" fmla="*/ 24 w 68"/>
                <a:gd name="T53" fmla="*/ 35 h 81"/>
                <a:gd name="T54" fmla="*/ 22 w 68"/>
                <a:gd name="T55" fmla="*/ 38 h 81"/>
                <a:gd name="T56" fmla="*/ 20 w 68"/>
                <a:gd name="T57" fmla="*/ 41 h 81"/>
                <a:gd name="T58" fmla="*/ 26 w 68"/>
                <a:gd name="T59" fmla="*/ 37 h 81"/>
                <a:gd name="T60" fmla="*/ 30 w 68"/>
                <a:gd name="T61" fmla="*/ 33 h 81"/>
                <a:gd name="T62" fmla="*/ 33 w 68"/>
                <a:gd name="T63" fmla="*/ 28 h 81"/>
                <a:gd name="T64" fmla="*/ 34 w 68"/>
                <a:gd name="T65" fmla="*/ 21 h 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8"/>
                <a:gd name="T100" fmla="*/ 0 h 81"/>
                <a:gd name="T101" fmla="*/ 68 w 68"/>
                <a:gd name="T102" fmla="*/ 81 h 8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8" h="81">
                  <a:moveTo>
                    <a:pt x="68" y="42"/>
                  </a:moveTo>
                  <a:lnTo>
                    <a:pt x="67" y="33"/>
                  </a:lnTo>
                  <a:lnTo>
                    <a:pt x="64" y="25"/>
                  </a:lnTo>
                  <a:lnTo>
                    <a:pt x="61" y="18"/>
                  </a:lnTo>
                  <a:lnTo>
                    <a:pt x="55" y="12"/>
                  </a:lnTo>
                  <a:lnTo>
                    <a:pt x="48" y="6"/>
                  </a:lnTo>
                  <a:lnTo>
                    <a:pt x="41" y="3"/>
                  </a:lnTo>
                  <a:lnTo>
                    <a:pt x="33" y="1"/>
                  </a:lnTo>
                  <a:lnTo>
                    <a:pt x="25" y="0"/>
                  </a:lnTo>
                  <a:lnTo>
                    <a:pt x="18" y="1"/>
                  </a:lnTo>
                  <a:lnTo>
                    <a:pt x="11" y="2"/>
                  </a:lnTo>
                  <a:lnTo>
                    <a:pt x="6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3" y="8"/>
                  </a:lnTo>
                  <a:lnTo>
                    <a:pt x="4" y="8"/>
                  </a:lnTo>
                  <a:lnTo>
                    <a:pt x="6" y="8"/>
                  </a:lnTo>
                  <a:lnTo>
                    <a:pt x="15" y="9"/>
                  </a:lnTo>
                  <a:lnTo>
                    <a:pt x="23" y="11"/>
                  </a:lnTo>
                  <a:lnTo>
                    <a:pt x="31" y="16"/>
                  </a:lnTo>
                  <a:lnTo>
                    <a:pt x="38" y="21"/>
                  </a:lnTo>
                  <a:lnTo>
                    <a:pt x="42" y="27"/>
                  </a:lnTo>
                  <a:lnTo>
                    <a:pt x="47" y="35"/>
                  </a:lnTo>
                  <a:lnTo>
                    <a:pt x="49" y="43"/>
                  </a:lnTo>
                  <a:lnTo>
                    <a:pt x="50" y="53"/>
                  </a:lnTo>
                  <a:lnTo>
                    <a:pt x="49" y="61"/>
                  </a:lnTo>
                  <a:lnTo>
                    <a:pt x="48" y="69"/>
                  </a:lnTo>
                  <a:lnTo>
                    <a:pt x="45" y="76"/>
                  </a:lnTo>
                  <a:lnTo>
                    <a:pt x="41" y="81"/>
                  </a:lnTo>
                  <a:lnTo>
                    <a:pt x="52" y="74"/>
                  </a:lnTo>
                  <a:lnTo>
                    <a:pt x="60" y="65"/>
                  </a:lnTo>
                  <a:lnTo>
                    <a:pt x="65" y="55"/>
                  </a:lnTo>
                  <a:lnTo>
                    <a:pt x="68" y="42"/>
                  </a:lnTo>
                  <a:close/>
                </a:path>
              </a:pathLst>
            </a:custGeom>
            <a:solidFill>
              <a:srgbClr val="F2E2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2" name="Line 186"/>
          <p:cNvSpPr>
            <a:spLocks noChangeShapeType="1"/>
          </p:cNvSpPr>
          <p:nvPr/>
        </p:nvSpPr>
        <p:spPr bwMode="auto">
          <a:xfrm>
            <a:off x="4419600" y="5029200"/>
            <a:ext cx="2667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Line 187"/>
          <p:cNvSpPr>
            <a:spLocks noChangeShapeType="1"/>
          </p:cNvSpPr>
          <p:nvPr/>
        </p:nvSpPr>
        <p:spPr bwMode="auto">
          <a:xfrm>
            <a:off x="4648200" y="48006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Line 188"/>
          <p:cNvSpPr>
            <a:spLocks noChangeShapeType="1"/>
          </p:cNvSpPr>
          <p:nvPr/>
        </p:nvSpPr>
        <p:spPr bwMode="auto">
          <a:xfrm flipV="1">
            <a:off x="4419600" y="43434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189"/>
          <p:cNvSpPr>
            <a:spLocks noChangeShapeType="1"/>
          </p:cNvSpPr>
          <p:nvPr/>
        </p:nvSpPr>
        <p:spPr bwMode="auto">
          <a:xfrm flipV="1">
            <a:off x="4648200" y="45720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Line 190"/>
          <p:cNvSpPr>
            <a:spLocks noChangeShapeType="1"/>
          </p:cNvSpPr>
          <p:nvPr/>
        </p:nvSpPr>
        <p:spPr bwMode="auto">
          <a:xfrm>
            <a:off x="4648200" y="45720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91"/>
          <p:cNvSpPr>
            <a:spLocks noChangeShapeType="1"/>
          </p:cNvSpPr>
          <p:nvPr/>
        </p:nvSpPr>
        <p:spPr bwMode="auto">
          <a:xfrm>
            <a:off x="4419600" y="43434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92"/>
          <p:cNvSpPr>
            <a:spLocks noChangeShapeType="1"/>
          </p:cNvSpPr>
          <p:nvPr/>
        </p:nvSpPr>
        <p:spPr bwMode="auto">
          <a:xfrm flipV="1">
            <a:off x="7086600" y="38862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93"/>
          <p:cNvSpPr>
            <a:spLocks noChangeShapeType="1"/>
          </p:cNvSpPr>
          <p:nvPr/>
        </p:nvSpPr>
        <p:spPr bwMode="auto">
          <a:xfrm flipV="1">
            <a:off x="6858000" y="41148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Line 194"/>
          <p:cNvSpPr>
            <a:spLocks noChangeShapeType="1"/>
          </p:cNvSpPr>
          <p:nvPr/>
        </p:nvSpPr>
        <p:spPr bwMode="auto">
          <a:xfrm>
            <a:off x="4648200" y="38862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Line 195"/>
          <p:cNvSpPr>
            <a:spLocks noChangeShapeType="1"/>
          </p:cNvSpPr>
          <p:nvPr/>
        </p:nvSpPr>
        <p:spPr bwMode="auto">
          <a:xfrm>
            <a:off x="4419600" y="41148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Line 196"/>
          <p:cNvSpPr>
            <a:spLocks noChangeShapeType="1"/>
          </p:cNvSpPr>
          <p:nvPr/>
        </p:nvSpPr>
        <p:spPr bwMode="auto">
          <a:xfrm flipV="1">
            <a:off x="4419600" y="34290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Line 197"/>
          <p:cNvSpPr>
            <a:spLocks noChangeShapeType="1"/>
          </p:cNvSpPr>
          <p:nvPr/>
        </p:nvSpPr>
        <p:spPr bwMode="auto">
          <a:xfrm flipV="1">
            <a:off x="4648200" y="36576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Line 198"/>
          <p:cNvSpPr>
            <a:spLocks noChangeShapeType="1"/>
          </p:cNvSpPr>
          <p:nvPr/>
        </p:nvSpPr>
        <p:spPr bwMode="auto">
          <a:xfrm>
            <a:off x="4648200" y="36576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5" name="Line 199"/>
          <p:cNvSpPr>
            <a:spLocks noChangeShapeType="1"/>
          </p:cNvSpPr>
          <p:nvPr/>
        </p:nvSpPr>
        <p:spPr bwMode="auto">
          <a:xfrm>
            <a:off x="4419600" y="34290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Line 200"/>
          <p:cNvSpPr>
            <a:spLocks noChangeShapeType="1"/>
          </p:cNvSpPr>
          <p:nvPr/>
        </p:nvSpPr>
        <p:spPr bwMode="auto">
          <a:xfrm flipV="1">
            <a:off x="7086600" y="29718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Line 201"/>
          <p:cNvSpPr>
            <a:spLocks noChangeShapeType="1"/>
          </p:cNvSpPr>
          <p:nvPr/>
        </p:nvSpPr>
        <p:spPr bwMode="auto">
          <a:xfrm flipV="1">
            <a:off x="6858000" y="3200400"/>
            <a:ext cx="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Line 202"/>
          <p:cNvSpPr>
            <a:spLocks noChangeShapeType="1"/>
          </p:cNvSpPr>
          <p:nvPr/>
        </p:nvSpPr>
        <p:spPr bwMode="auto">
          <a:xfrm>
            <a:off x="4648200" y="29718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9" name="Line 203"/>
          <p:cNvSpPr>
            <a:spLocks noChangeShapeType="1"/>
          </p:cNvSpPr>
          <p:nvPr/>
        </p:nvSpPr>
        <p:spPr bwMode="auto">
          <a:xfrm>
            <a:off x="4419600" y="32004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0" name="Line 204"/>
          <p:cNvSpPr>
            <a:spLocks noChangeShapeType="1"/>
          </p:cNvSpPr>
          <p:nvPr/>
        </p:nvSpPr>
        <p:spPr bwMode="auto">
          <a:xfrm flipV="1">
            <a:off x="4419600" y="2514600"/>
            <a:ext cx="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Line 205"/>
          <p:cNvSpPr>
            <a:spLocks noChangeShapeType="1"/>
          </p:cNvSpPr>
          <p:nvPr/>
        </p:nvSpPr>
        <p:spPr bwMode="auto">
          <a:xfrm flipV="1">
            <a:off x="4648200" y="2514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2" name="Line 206"/>
          <p:cNvSpPr>
            <a:spLocks noChangeShapeType="1"/>
          </p:cNvSpPr>
          <p:nvPr/>
        </p:nvSpPr>
        <p:spPr bwMode="auto">
          <a:xfrm flipV="1">
            <a:off x="4648200" y="2209800"/>
            <a:ext cx="22860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3" name="Line 207"/>
          <p:cNvSpPr>
            <a:spLocks noChangeShapeType="1"/>
          </p:cNvSpPr>
          <p:nvPr/>
        </p:nvSpPr>
        <p:spPr bwMode="auto">
          <a:xfrm flipV="1">
            <a:off x="4419600" y="2133600"/>
            <a:ext cx="30480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" name="Group 220"/>
          <p:cNvGrpSpPr>
            <a:grpSpLocks/>
          </p:cNvGrpSpPr>
          <p:nvPr/>
        </p:nvGrpSpPr>
        <p:grpSpPr bwMode="auto">
          <a:xfrm>
            <a:off x="6858000" y="4800600"/>
            <a:ext cx="228600" cy="228600"/>
            <a:chOff x="4272" y="2736"/>
            <a:chExt cx="579" cy="558"/>
          </a:xfrm>
        </p:grpSpPr>
        <p:sp>
          <p:nvSpPr>
            <p:cNvPr id="35182" name="AutoShape 210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3" name="Freeform 213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4" name="Freeform 214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5" name="Freeform 215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6" name="Freeform 216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7" name="Freeform 217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8" name="Freeform 218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9" name="Freeform 219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1"/>
          <p:cNvGrpSpPr>
            <a:grpSpLocks/>
          </p:cNvGrpSpPr>
          <p:nvPr/>
        </p:nvGrpSpPr>
        <p:grpSpPr bwMode="auto">
          <a:xfrm>
            <a:off x="6477000" y="4800600"/>
            <a:ext cx="228600" cy="228600"/>
            <a:chOff x="4272" y="2736"/>
            <a:chExt cx="579" cy="558"/>
          </a:xfrm>
        </p:grpSpPr>
        <p:sp>
          <p:nvSpPr>
            <p:cNvPr id="35174" name="AutoShape 222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5" name="Freeform 223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6" name="Freeform 224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7" name="Freeform 225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8" name="Freeform 226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9" name="Freeform 227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0" name="Freeform 228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1" name="Freeform 229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0"/>
          <p:cNvGrpSpPr>
            <a:grpSpLocks/>
          </p:cNvGrpSpPr>
          <p:nvPr/>
        </p:nvGrpSpPr>
        <p:grpSpPr bwMode="auto">
          <a:xfrm>
            <a:off x="6096000" y="4800600"/>
            <a:ext cx="228600" cy="228600"/>
            <a:chOff x="4272" y="2736"/>
            <a:chExt cx="579" cy="558"/>
          </a:xfrm>
        </p:grpSpPr>
        <p:sp>
          <p:nvSpPr>
            <p:cNvPr id="35166" name="AutoShape 231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7" name="Freeform 232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8" name="Freeform 233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9" name="Freeform 234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0" name="Freeform 235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1" name="Freeform 236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2" name="Freeform 237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3" name="Freeform 238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39"/>
          <p:cNvGrpSpPr>
            <a:grpSpLocks/>
          </p:cNvGrpSpPr>
          <p:nvPr/>
        </p:nvGrpSpPr>
        <p:grpSpPr bwMode="auto">
          <a:xfrm>
            <a:off x="5715000" y="4800600"/>
            <a:ext cx="228600" cy="228600"/>
            <a:chOff x="4272" y="2736"/>
            <a:chExt cx="579" cy="558"/>
          </a:xfrm>
        </p:grpSpPr>
        <p:sp>
          <p:nvSpPr>
            <p:cNvPr id="35158" name="AutoShape 240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9" name="Freeform 241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0" name="Freeform 242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1" name="Freeform 243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2" name="Freeform 244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3" name="Freeform 245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4" name="Freeform 246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5" name="Freeform 247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48"/>
          <p:cNvGrpSpPr>
            <a:grpSpLocks/>
          </p:cNvGrpSpPr>
          <p:nvPr/>
        </p:nvGrpSpPr>
        <p:grpSpPr bwMode="auto">
          <a:xfrm>
            <a:off x="5257800" y="4800600"/>
            <a:ext cx="228600" cy="228600"/>
            <a:chOff x="4272" y="2736"/>
            <a:chExt cx="579" cy="558"/>
          </a:xfrm>
        </p:grpSpPr>
        <p:sp>
          <p:nvSpPr>
            <p:cNvPr id="35150" name="AutoShape 249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1" name="Freeform 250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2" name="Freeform 251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3" name="Freeform 252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4" name="Freeform 253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5" name="Freeform 254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6" name="Freeform 255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7" name="Freeform 256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57"/>
          <p:cNvGrpSpPr>
            <a:grpSpLocks/>
          </p:cNvGrpSpPr>
          <p:nvPr/>
        </p:nvGrpSpPr>
        <p:grpSpPr bwMode="auto">
          <a:xfrm>
            <a:off x="4876800" y="4800600"/>
            <a:ext cx="228600" cy="228600"/>
            <a:chOff x="4272" y="2736"/>
            <a:chExt cx="579" cy="558"/>
          </a:xfrm>
        </p:grpSpPr>
        <p:sp>
          <p:nvSpPr>
            <p:cNvPr id="35142" name="AutoShape 258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3" name="Freeform 259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4" name="Freeform 260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5" name="Freeform 261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6" name="Freeform 262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7" name="Freeform 263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8" name="Freeform 264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9" name="Freeform 265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66"/>
          <p:cNvGrpSpPr>
            <a:grpSpLocks/>
          </p:cNvGrpSpPr>
          <p:nvPr/>
        </p:nvGrpSpPr>
        <p:grpSpPr bwMode="auto">
          <a:xfrm>
            <a:off x="4572000" y="4800600"/>
            <a:ext cx="228600" cy="228600"/>
            <a:chOff x="4272" y="2736"/>
            <a:chExt cx="579" cy="558"/>
          </a:xfrm>
        </p:grpSpPr>
        <p:sp>
          <p:nvSpPr>
            <p:cNvPr id="35134" name="AutoShape 267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5" name="Freeform 268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6" name="Freeform 269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7" name="Freeform 270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8" name="Freeform 271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9" name="Freeform 272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0" name="Freeform 273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1" name="Freeform 274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75"/>
          <p:cNvGrpSpPr>
            <a:grpSpLocks/>
          </p:cNvGrpSpPr>
          <p:nvPr/>
        </p:nvGrpSpPr>
        <p:grpSpPr bwMode="auto">
          <a:xfrm>
            <a:off x="4419600" y="4572000"/>
            <a:ext cx="228600" cy="228600"/>
            <a:chOff x="4272" y="2736"/>
            <a:chExt cx="579" cy="558"/>
          </a:xfrm>
        </p:grpSpPr>
        <p:sp>
          <p:nvSpPr>
            <p:cNvPr id="35126" name="AutoShape 276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7" name="Freeform 277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8" name="Freeform 278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9" name="Freeform 279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0" name="Freeform 280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1" name="Freeform 281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2" name="Freeform 282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3" name="Freeform 283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284"/>
          <p:cNvGrpSpPr>
            <a:grpSpLocks/>
          </p:cNvGrpSpPr>
          <p:nvPr/>
        </p:nvGrpSpPr>
        <p:grpSpPr bwMode="auto">
          <a:xfrm>
            <a:off x="6858000" y="4114800"/>
            <a:ext cx="228600" cy="228600"/>
            <a:chOff x="4272" y="2736"/>
            <a:chExt cx="579" cy="558"/>
          </a:xfrm>
        </p:grpSpPr>
        <p:sp>
          <p:nvSpPr>
            <p:cNvPr id="35118" name="AutoShape 285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9" name="Freeform 286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0" name="Freeform 287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1" name="Freeform 288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2" name="Freeform 289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3" name="Freeform 290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4" name="Freeform 291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25" name="Freeform 292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53" name="Line 293"/>
          <p:cNvSpPr>
            <a:spLocks noChangeShapeType="1"/>
          </p:cNvSpPr>
          <p:nvPr/>
        </p:nvSpPr>
        <p:spPr bwMode="auto">
          <a:xfrm>
            <a:off x="4648200" y="38862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" name="Group 303"/>
          <p:cNvGrpSpPr>
            <a:grpSpLocks/>
          </p:cNvGrpSpPr>
          <p:nvPr/>
        </p:nvGrpSpPr>
        <p:grpSpPr bwMode="auto">
          <a:xfrm>
            <a:off x="6477000" y="3886200"/>
            <a:ext cx="228600" cy="228600"/>
            <a:chOff x="4272" y="2736"/>
            <a:chExt cx="579" cy="558"/>
          </a:xfrm>
        </p:grpSpPr>
        <p:sp>
          <p:nvSpPr>
            <p:cNvPr id="35110" name="AutoShape 304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1" name="Freeform 305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2" name="Freeform 306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3" name="Freeform 307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4" name="Freeform 308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5" name="Freeform 309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6" name="Freeform 310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17" name="Freeform 311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3" name="Group 312"/>
          <p:cNvGrpSpPr>
            <a:grpSpLocks/>
          </p:cNvGrpSpPr>
          <p:nvPr/>
        </p:nvGrpSpPr>
        <p:grpSpPr bwMode="auto">
          <a:xfrm>
            <a:off x="6096000" y="3886200"/>
            <a:ext cx="228600" cy="228600"/>
            <a:chOff x="4272" y="2736"/>
            <a:chExt cx="579" cy="558"/>
          </a:xfrm>
        </p:grpSpPr>
        <p:sp>
          <p:nvSpPr>
            <p:cNvPr id="35102" name="AutoShape 313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3" name="Freeform 314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4" name="Freeform 315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5" name="Freeform 316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6" name="Freeform 317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7" name="Freeform 318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8" name="Freeform 319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9" name="Freeform 320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4" name="Group 321"/>
          <p:cNvGrpSpPr>
            <a:grpSpLocks/>
          </p:cNvGrpSpPr>
          <p:nvPr/>
        </p:nvGrpSpPr>
        <p:grpSpPr bwMode="auto">
          <a:xfrm>
            <a:off x="5715000" y="3886200"/>
            <a:ext cx="228600" cy="228600"/>
            <a:chOff x="4272" y="2736"/>
            <a:chExt cx="579" cy="558"/>
          </a:xfrm>
        </p:grpSpPr>
        <p:sp>
          <p:nvSpPr>
            <p:cNvPr id="35094" name="AutoShape 322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5" name="Freeform 323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6" name="Freeform 324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7" name="Freeform 325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8" name="Freeform 326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9" name="Freeform 327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0" name="Freeform 328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01" name="Freeform 329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5" name="Group 330"/>
          <p:cNvGrpSpPr>
            <a:grpSpLocks/>
          </p:cNvGrpSpPr>
          <p:nvPr/>
        </p:nvGrpSpPr>
        <p:grpSpPr bwMode="auto">
          <a:xfrm>
            <a:off x="5257800" y="3886200"/>
            <a:ext cx="228600" cy="228600"/>
            <a:chOff x="4272" y="2736"/>
            <a:chExt cx="579" cy="558"/>
          </a:xfrm>
        </p:grpSpPr>
        <p:sp>
          <p:nvSpPr>
            <p:cNvPr id="35086" name="AutoShape 331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7" name="Freeform 332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8" name="Freeform 333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9" name="Freeform 334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0" name="Freeform 335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1" name="Freeform 336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2" name="Freeform 337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93" name="Freeform 338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6" name="Group 339"/>
          <p:cNvGrpSpPr>
            <a:grpSpLocks/>
          </p:cNvGrpSpPr>
          <p:nvPr/>
        </p:nvGrpSpPr>
        <p:grpSpPr bwMode="auto">
          <a:xfrm>
            <a:off x="4876800" y="3886200"/>
            <a:ext cx="228600" cy="228600"/>
            <a:chOff x="4272" y="2736"/>
            <a:chExt cx="579" cy="558"/>
          </a:xfrm>
        </p:grpSpPr>
        <p:sp>
          <p:nvSpPr>
            <p:cNvPr id="35078" name="AutoShape 340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9" name="Freeform 341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0" name="Freeform 342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1" name="Freeform 343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2" name="Freeform 344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3" name="Freeform 345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4" name="Freeform 346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85" name="Freeform 347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7" name="Group 348"/>
          <p:cNvGrpSpPr>
            <a:grpSpLocks/>
          </p:cNvGrpSpPr>
          <p:nvPr/>
        </p:nvGrpSpPr>
        <p:grpSpPr bwMode="auto">
          <a:xfrm>
            <a:off x="4572000" y="3886200"/>
            <a:ext cx="228600" cy="228600"/>
            <a:chOff x="4272" y="2736"/>
            <a:chExt cx="579" cy="558"/>
          </a:xfrm>
        </p:grpSpPr>
        <p:sp>
          <p:nvSpPr>
            <p:cNvPr id="35070" name="AutoShape 349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1" name="Freeform 350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2" name="Freeform 351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3" name="Freeform 352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4" name="Freeform 353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5" name="Freeform 354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6" name="Freeform 355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77" name="Freeform 356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8" name="Group 357"/>
          <p:cNvGrpSpPr>
            <a:grpSpLocks/>
          </p:cNvGrpSpPr>
          <p:nvPr/>
        </p:nvGrpSpPr>
        <p:grpSpPr bwMode="auto">
          <a:xfrm>
            <a:off x="4419600" y="3657600"/>
            <a:ext cx="228600" cy="228600"/>
            <a:chOff x="4272" y="2736"/>
            <a:chExt cx="579" cy="558"/>
          </a:xfrm>
        </p:grpSpPr>
        <p:sp>
          <p:nvSpPr>
            <p:cNvPr id="35062" name="AutoShape 358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3" name="Freeform 359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4" name="Freeform 360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5" name="Freeform 361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6" name="Freeform 362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7" name="Freeform 363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8" name="Freeform 364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9" name="Freeform 365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59" name="Group 366"/>
          <p:cNvGrpSpPr>
            <a:grpSpLocks/>
          </p:cNvGrpSpPr>
          <p:nvPr/>
        </p:nvGrpSpPr>
        <p:grpSpPr bwMode="auto">
          <a:xfrm>
            <a:off x="6477000" y="3429000"/>
            <a:ext cx="228600" cy="228600"/>
            <a:chOff x="4272" y="2736"/>
            <a:chExt cx="579" cy="558"/>
          </a:xfrm>
        </p:grpSpPr>
        <p:sp>
          <p:nvSpPr>
            <p:cNvPr id="35054" name="AutoShape 367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5" name="Freeform 368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6" name="Freeform 369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7" name="Freeform 370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8" name="Freeform 371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9" name="Freeform 372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0" name="Freeform 373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61" name="Freeform 374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16" name="Group 375"/>
          <p:cNvGrpSpPr>
            <a:grpSpLocks/>
          </p:cNvGrpSpPr>
          <p:nvPr/>
        </p:nvGrpSpPr>
        <p:grpSpPr bwMode="auto">
          <a:xfrm>
            <a:off x="6096000" y="3429000"/>
            <a:ext cx="228600" cy="228600"/>
            <a:chOff x="4272" y="2736"/>
            <a:chExt cx="579" cy="558"/>
          </a:xfrm>
        </p:grpSpPr>
        <p:sp>
          <p:nvSpPr>
            <p:cNvPr id="35046" name="AutoShape 376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7" name="Freeform 377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8" name="Freeform 378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9" name="Freeform 379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0" name="Freeform 380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1" name="Freeform 381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2" name="Freeform 382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53" name="Freeform 383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17" name="Group 384"/>
          <p:cNvGrpSpPr>
            <a:grpSpLocks/>
          </p:cNvGrpSpPr>
          <p:nvPr/>
        </p:nvGrpSpPr>
        <p:grpSpPr bwMode="auto">
          <a:xfrm>
            <a:off x="5715000" y="3429000"/>
            <a:ext cx="228600" cy="228600"/>
            <a:chOff x="4272" y="2736"/>
            <a:chExt cx="579" cy="558"/>
          </a:xfrm>
        </p:grpSpPr>
        <p:sp>
          <p:nvSpPr>
            <p:cNvPr id="35038" name="AutoShape 385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9" name="Freeform 386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0" name="Freeform 387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1" name="Freeform 388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2" name="Freeform 389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3" name="Freeform 390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4" name="Freeform 391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45" name="Freeform 392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18" name="Group 393"/>
          <p:cNvGrpSpPr>
            <a:grpSpLocks/>
          </p:cNvGrpSpPr>
          <p:nvPr/>
        </p:nvGrpSpPr>
        <p:grpSpPr bwMode="auto">
          <a:xfrm>
            <a:off x="5257800" y="3429000"/>
            <a:ext cx="228600" cy="228600"/>
            <a:chOff x="4272" y="2736"/>
            <a:chExt cx="579" cy="558"/>
          </a:xfrm>
        </p:grpSpPr>
        <p:sp>
          <p:nvSpPr>
            <p:cNvPr id="35030" name="AutoShape 394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1" name="Freeform 395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2" name="Freeform 396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3" name="Freeform 397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4" name="Freeform 398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5" name="Freeform 399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6" name="Freeform 400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37" name="Freeform 401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402"/>
          <p:cNvGrpSpPr>
            <a:grpSpLocks/>
          </p:cNvGrpSpPr>
          <p:nvPr/>
        </p:nvGrpSpPr>
        <p:grpSpPr bwMode="auto">
          <a:xfrm>
            <a:off x="4876800" y="3429000"/>
            <a:ext cx="228600" cy="228600"/>
            <a:chOff x="4272" y="2736"/>
            <a:chExt cx="579" cy="558"/>
          </a:xfrm>
        </p:grpSpPr>
        <p:sp>
          <p:nvSpPr>
            <p:cNvPr id="35022" name="AutoShape 403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3" name="Freeform 404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4" name="Freeform 405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5" name="Freeform 406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6" name="Freeform 407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7" name="Freeform 408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8" name="Freeform 409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9" name="Freeform 410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411"/>
          <p:cNvGrpSpPr>
            <a:grpSpLocks/>
          </p:cNvGrpSpPr>
          <p:nvPr/>
        </p:nvGrpSpPr>
        <p:grpSpPr bwMode="auto">
          <a:xfrm>
            <a:off x="4572000" y="3429000"/>
            <a:ext cx="228600" cy="228600"/>
            <a:chOff x="4272" y="2736"/>
            <a:chExt cx="579" cy="558"/>
          </a:xfrm>
        </p:grpSpPr>
        <p:sp>
          <p:nvSpPr>
            <p:cNvPr id="35014" name="AutoShape 412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5" name="Freeform 413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6" name="Freeform 414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7" name="Freeform 415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8" name="Freeform 416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9" name="Freeform 417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0" name="Freeform 418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21" name="Freeform 419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4" name="Group 420"/>
          <p:cNvGrpSpPr>
            <a:grpSpLocks/>
          </p:cNvGrpSpPr>
          <p:nvPr/>
        </p:nvGrpSpPr>
        <p:grpSpPr bwMode="auto">
          <a:xfrm>
            <a:off x="6477000" y="4343400"/>
            <a:ext cx="228600" cy="228600"/>
            <a:chOff x="4272" y="2736"/>
            <a:chExt cx="579" cy="558"/>
          </a:xfrm>
        </p:grpSpPr>
        <p:sp>
          <p:nvSpPr>
            <p:cNvPr id="35006" name="AutoShape 421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7" name="Freeform 422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8" name="Freeform 423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9" name="Freeform 424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0" name="Freeform 425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1" name="Freeform 426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2" name="Freeform 427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13" name="Freeform 428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5" name="Group 429"/>
          <p:cNvGrpSpPr>
            <a:grpSpLocks/>
          </p:cNvGrpSpPr>
          <p:nvPr/>
        </p:nvGrpSpPr>
        <p:grpSpPr bwMode="auto">
          <a:xfrm>
            <a:off x="6096000" y="4343400"/>
            <a:ext cx="228600" cy="228600"/>
            <a:chOff x="4272" y="2736"/>
            <a:chExt cx="579" cy="558"/>
          </a:xfrm>
        </p:grpSpPr>
        <p:sp>
          <p:nvSpPr>
            <p:cNvPr id="34998" name="AutoShape 430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9" name="Freeform 431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0" name="Freeform 432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1" name="Freeform 433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2" name="Freeform 434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3" name="Freeform 435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4" name="Freeform 436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05" name="Freeform 437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6" name="Group 438"/>
          <p:cNvGrpSpPr>
            <a:grpSpLocks/>
          </p:cNvGrpSpPr>
          <p:nvPr/>
        </p:nvGrpSpPr>
        <p:grpSpPr bwMode="auto">
          <a:xfrm>
            <a:off x="5715000" y="4343400"/>
            <a:ext cx="228600" cy="228600"/>
            <a:chOff x="4272" y="2736"/>
            <a:chExt cx="579" cy="558"/>
          </a:xfrm>
        </p:grpSpPr>
        <p:sp>
          <p:nvSpPr>
            <p:cNvPr id="34990" name="AutoShape 439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1" name="Freeform 440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2" name="Freeform 441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3" name="Freeform 442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4" name="Freeform 443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5" name="Freeform 444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6" name="Freeform 445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7" name="Freeform 446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7" name="Group 447"/>
          <p:cNvGrpSpPr>
            <a:grpSpLocks/>
          </p:cNvGrpSpPr>
          <p:nvPr/>
        </p:nvGrpSpPr>
        <p:grpSpPr bwMode="auto">
          <a:xfrm>
            <a:off x="5257800" y="4343400"/>
            <a:ext cx="228600" cy="228600"/>
            <a:chOff x="4272" y="2736"/>
            <a:chExt cx="579" cy="558"/>
          </a:xfrm>
        </p:grpSpPr>
        <p:sp>
          <p:nvSpPr>
            <p:cNvPr id="34982" name="AutoShape 448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3" name="Freeform 449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4" name="Freeform 450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5" name="Freeform 451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6" name="Freeform 452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7" name="Freeform 453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8" name="Freeform 454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9" name="Freeform 455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8" name="Group 456"/>
          <p:cNvGrpSpPr>
            <a:grpSpLocks/>
          </p:cNvGrpSpPr>
          <p:nvPr/>
        </p:nvGrpSpPr>
        <p:grpSpPr bwMode="auto">
          <a:xfrm>
            <a:off x="4876800" y="4343400"/>
            <a:ext cx="228600" cy="228600"/>
            <a:chOff x="4272" y="2736"/>
            <a:chExt cx="579" cy="558"/>
          </a:xfrm>
        </p:grpSpPr>
        <p:sp>
          <p:nvSpPr>
            <p:cNvPr id="34974" name="AutoShape 457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5" name="Freeform 458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6" name="Freeform 459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7" name="Freeform 460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8" name="Freeform 461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9" name="Freeform 462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0" name="Freeform 463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1" name="Freeform 464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49" name="Group 465"/>
          <p:cNvGrpSpPr>
            <a:grpSpLocks/>
          </p:cNvGrpSpPr>
          <p:nvPr/>
        </p:nvGrpSpPr>
        <p:grpSpPr bwMode="auto">
          <a:xfrm>
            <a:off x="4572000" y="4343400"/>
            <a:ext cx="228600" cy="228600"/>
            <a:chOff x="4272" y="2736"/>
            <a:chExt cx="579" cy="558"/>
          </a:xfrm>
        </p:grpSpPr>
        <p:sp>
          <p:nvSpPr>
            <p:cNvPr id="34966" name="AutoShape 466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7" name="Freeform 467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8" name="Freeform 468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9" name="Freeform 469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0" name="Freeform 470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1" name="Freeform 471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2" name="Freeform 472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73" name="Freeform 473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0" name="Group 474"/>
          <p:cNvGrpSpPr>
            <a:grpSpLocks/>
          </p:cNvGrpSpPr>
          <p:nvPr/>
        </p:nvGrpSpPr>
        <p:grpSpPr bwMode="auto">
          <a:xfrm>
            <a:off x="6858000" y="3200400"/>
            <a:ext cx="228600" cy="228600"/>
            <a:chOff x="4272" y="2736"/>
            <a:chExt cx="579" cy="558"/>
          </a:xfrm>
        </p:grpSpPr>
        <p:sp>
          <p:nvSpPr>
            <p:cNvPr id="34958" name="AutoShape 475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9" name="Freeform 476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0" name="Freeform 477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1" name="Freeform 478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2" name="Freeform 479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3" name="Freeform 480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4" name="Freeform 481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65" name="Freeform 482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1" name="Group 483"/>
          <p:cNvGrpSpPr>
            <a:grpSpLocks/>
          </p:cNvGrpSpPr>
          <p:nvPr/>
        </p:nvGrpSpPr>
        <p:grpSpPr bwMode="auto">
          <a:xfrm>
            <a:off x="6477000" y="2971800"/>
            <a:ext cx="228600" cy="228600"/>
            <a:chOff x="4272" y="2736"/>
            <a:chExt cx="579" cy="558"/>
          </a:xfrm>
        </p:grpSpPr>
        <p:sp>
          <p:nvSpPr>
            <p:cNvPr id="34950" name="AutoShape 484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1" name="Freeform 485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2" name="Freeform 486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3" name="Freeform 487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4" name="Freeform 488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5" name="Freeform 489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6" name="Freeform 490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57" name="Freeform 491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2" name="Group 492"/>
          <p:cNvGrpSpPr>
            <a:grpSpLocks/>
          </p:cNvGrpSpPr>
          <p:nvPr/>
        </p:nvGrpSpPr>
        <p:grpSpPr bwMode="auto">
          <a:xfrm>
            <a:off x="6096000" y="2971800"/>
            <a:ext cx="228600" cy="228600"/>
            <a:chOff x="4272" y="2736"/>
            <a:chExt cx="579" cy="558"/>
          </a:xfrm>
        </p:grpSpPr>
        <p:sp>
          <p:nvSpPr>
            <p:cNvPr id="34942" name="AutoShape 493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3" name="Freeform 494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4" name="Freeform 495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5" name="Freeform 496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6" name="Freeform 497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7" name="Freeform 498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8" name="Freeform 499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9" name="Freeform 500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4" name="Group 501"/>
          <p:cNvGrpSpPr>
            <a:grpSpLocks/>
          </p:cNvGrpSpPr>
          <p:nvPr/>
        </p:nvGrpSpPr>
        <p:grpSpPr bwMode="auto">
          <a:xfrm>
            <a:off x="5715000" y="2971800"/>
            <a:ext cx="228600" cy="228600"/>
            <a:chOff x="4272" y="2736"/>
            <a:chExt cx="579" cy="558"/>
          </a:xfrm>
        </p:grpSpPr>
        <p:sp>
          <p:nvSpPr>
            <p:cNvPr id="34934" name="AutoShape 502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5" name="Freeform 503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6" name="Freeform 504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7" name="Freeform 505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8" name="Freeform 506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9" name="Freeform 507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0" name="Freeform 508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41" name="Freeform 509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5" name="Group 510"/>
          <p:cNvGrpSpPr>
            <a:grpSpLocks/>
          </p:cNvGrpSpPr>
          <p:nvPr/>
        </p:nvGrpSpPr>
        <p:grpSpPr bwMode="auto">
          <a:xfrm>
            <a:off x="5257800" y="2971800"/>
            <a:ext cx="228600" cy="228600"/>
            <a:chOff x="4272" y="2736"/>
            <a:chExt cx="579" cy="558"/>
          </a:xfrm>
        </p:grpSpPr>
        <p:sp>
          <p:nvSpPr>
            <p:cNvPr id="34926" name="AutoShape 511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7" name="Freeform 512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8" name="Freeform 513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9" name="Freeform 514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0" name="Freeform 515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1" name="Freeform 516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2" name="Freeform 517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33" name="Freeform 518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6" name="Group 519"/>
          <p:cNvGrpSpPr>
            <a:grpSpLocks/>
          </p:cNvGrpSpPr>
          <p:nvPr/>
        </p:nvGrpSpPr>
        <p:grpSpPr bwMode="auto">
          <a:xfrm>
            <a:off x="4876800" y="2971800"/>
            <a:ext cx="228600" cy="228600"/>
            <a:chOff x="4272" y="2736"/>
            <a:chExt cx="579" cy="558"/>
          </a:xfrm>
        </p:grpSpPr>
        <p:sp>
          <p:nvSpPr>
            <p:cNvPr id="34918" name="AutoShape 520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9" name="Freeform 521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Freeform 522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Freeform 523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2" name="Freeform 524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3" name="Freeform 525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4" name="Freeform 526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5" name="Freeform 527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7" name="Group 528"/>
          <p:cNvGrpSpPr>
            <a:grpSpLocks/>
          </p:cNvGrpSpPr>
          <p:nvPr/>
        </p:nvGrpSpPr>
        <p:grpSpPr bwMode="auto">
          <a:xfrm>
            <a:off x="4572000" y="2971800"/>
            <a:ext cx="228600" cy="228600"/>
            <a:chOff x="4272" y="2736"/>
            <a:chExt cx="579" cy="558"/>
          </a:xfrm>
        </p:grpSpPr>
        <p:sp>
          <p:nvSpPr>
            <p:cNvPr id="34910" name="AutoShape 529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530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Freeform 531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Freeform 532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Freeform 533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Freeform 534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Freeform 535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Freeform 536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8" name="Group 537"/>
          <p:cNvGrpSpPr>
            <a:grpSpLocks/>
          </p:cNvGrpSpPr>
          <p:nvPr/>
        </p:nvGrpSpPr>
        <p:grpSpPr bwMode="auto">
          <a:xfrm>
            <a:off x="4419600" y="2743200"/>
            <a:ext cx="228600" cy="228600"/>
            <a:chOff x="4272" y="2736"/>
            <a:chExt cx="579" cy="558"/>
          </a:xfrm>
        </p:grpSpPr>
        <p:sp>
          <p:nvSpPr>
            <p:cNvPr id="34902" name="AutoShape 538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Freeform 539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Freeform 540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541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Freeform 542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543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Freeform 544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Freeform 545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59" name="Group 546"/>
          <p:cNvGrpSpPr>
            <a:grpSpLocks/>
          </p:cNvGrpSpPr>
          <p:nvPr/>
        </p:nvGrpSpPr>
        <p:grpSpPr bwMode="auto">
          <a:xfrm>
            <a:off x="4419600" y="2438400"/>
            <a:ext cx="228600" cy="228600"/>
            <a:chOff x="4272" y="2736"/>
            <a:chExt cx="579" cy="558"/>
          </a:xfrm>
        </p:grpSpPr>
        <p:sp>
          <p:nvSpPr>
            <p:cNvPr id="34894" name="AutoShape 547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Freeform 548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549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550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551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552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Freeform 553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Freeform 554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60" name="Group 555"/>
          <p:cNvGrpSpPr>
            <a:grpSpLocks/>
          </p:cNvGrpSpPr>
          <p:nvPr/>
        </p:nvGrpSpPr>
        <p:grpSpPr bwMode="auto">
          <a:xfrm>
            <a:off x="4648200" y="2133600"/>
            <a:ext cx="228600" cy="228600"/>
            <a:chOff x="4272" y="2736"/>
            <a:chExt cx="579" cy="558"/>
          </a:xfrm>
        </p:grpSpPr>
        <p:sp>
          <p:nvSpPr>
            <p:cNvPr id="34886" name="AutoShape 556"/>
            <p:cNvSpPr>
              <a:spLocks noChangeAspect="1" noChangeArrowheads="1" noTextEdit="1"/>
            </p:cNvSpPr>
            <p:nvPr/>
          </p:nvSpPr>
          <p:spPr bwMode="auto">
            <a:xfrm>
              <a:off x="4272" y="2736"/>
              <a:ext cx="579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7" name="Freeform 557"/>
            <p:cNvSpPr>
              <a:spLocks/>
            </p:cNvSpPr>
            <p:nvPr/>
          </p:nvSpPr>
          <p:spPr bwMode="auto">
            <a:xfrm>
              <a:off x="4273" y="2890"/>
              <a:ext cx="99" cy="126"/>
            </a:xfrm>
            <a:custGeom>
              <a:avLst/>
              <a:gdLst>
                <a:gd name="T0" fmla="*/ 1 w 198"/>
                <a:gd name="T1" fmla="*/ 93 h 252"/>
                <a:gd name="T2" fmla="*/ 0 w 198"/>
                <a:gd name="T3" fmla="*/ 98 h 252"/>
                <a:gd name="T4" fmla="*/ 1 w 198"/>
                <a:gd name="T5" fmla="*/ 104 h 252"/>
                <a:gd name="T6" fmla="*/ 3 w 198"/>
                <a:gd name="T7" fmla="*/ 109 h 252"/>
                <a:gd name="T8" fmla="*/ 5 w 198"/>
                <a:gd name="T9" fmla="*/ 114 h 252"/>
                <a:gd name="T10" fmla="*/ 8 w 198"/>
                <a:gd name="T11" fmla="*/ 118 h 252"/>
                <a:gd name="T12" fmla="*/ 13 w 198"/>
                <a:gd name="T13" fmla="*/ 122 h 252"/>
                <a:gd name="T14" fmla="*/ 18 w 198"/>
                <a:gd name="T15" fmla="*/ 124 h 252"/>
                <a:gd name="T16" fmla="*/ 23 w 198"/>
                <a:gd name="T17" fmla="*/ 126 h 252"/>
                <a:gd name="T18" fmla="*/ 27 w 198"/>
                <a:gd name="T19" fmla="*/ 126 h 252"/>
                <a:gd name="T20" fmla="*/ 33 w 198"/>
                <a:gd name="T21" fmla="*/ 126 h 252"/>
                <a:gd name="T22" fmla="*/ 38 w 198"/>
                <a:gd name="T23" fmla="*/ 124 h 252"/>
                <a:gd name="T24" fmla="*/ 43 w 198"/>
                <a:gd name="T25" fmla="*/ 121 h 252"/>
                <a:gd name="T26" fmla="*/ 48 w 198"/>
                <a:gd name="T27" fmla="*/ 118 h 252"/>
                <a:gd name="T28" fmla="*/ 51 w 198"/>
                <a:gd name="T29" fmla="*/ 113 h 252"/>
                <a:gd name="T30" fmla="*/ 53 w 198"/>
                <a:gd name="T31" fmla="*/ 108 h 252"/>
                <a:gd name="T32" fmla="*/ 54 w 198"/>
                <a:gd name="T33" fmla="*/ 102 h 252"/>
                <a:gd name="T34" fmla="*/ 56 w 198"/>
                <a:gd name="T35" fmla="*/ 90 h 252"/>
                <a:gd name="T36" fmla="*/ 58 w 198"/>
                <a:gd name="T37" fmla="*/ 76 h 252"/>
                <a:gd name="T38" fmla="*/ 60 w 198"/>
                <a:gd name="T39" fmla="*/ 62 h 252"/>
                <a:gd name="T40" fmla="*/ 64 w 198"/>
                <a:gd name="T41" fmla="*/ 49 h 252"/>
                <a:gd name="T42" fmla="*/ 69 w 198"/>
                <a:gd name="T43" fmla="*/ 35 h 252"/>
                <a:gd name="T44" fmla="*/ 77 w 198"/>
                <a:gd name="T45" fmla="*/ 23 h 252"/>
                <a:gd name="T46" fmla="*/ 87 w 198"/>
                <a:gd name="T47" fmla="*/ 11 h 252"/>
                <a:gd name="T48" fmla="*/ 99 w 198"/>
                <a:gd name="T49" fmla="*/ 0 h 252"/>
                <a:gd name="T50" fmla="*/ 89 w 198"/>
                <a:gd name="T51" fmla="*/ 3 h 252"/>
                <a:gd name="T52" fmla="*/ 79 w 198"/>
                <a:gd name="T53" fmla="*/ 7 h 252"/>
                <a:gd name="T54" fmla="*/ 69 w 198"/>
                <a:gd name="T55" fmla="*/ 11 h 252"/>
                <a:gd name="T56" fmla="*/ 60 w 198"/>
                <a:gd name="T57" fmla="*/ 16 h 252"/>
                <a:gd name="T58" fmla="*/ 52 w 198"/>
                <a:gd name="T59" fmla="*/ 21 h 252"/>
                <a:gd name="T60" fmla="*/ 45 w 198"/>
                <a:gd name="T61" fmla="*/ 27 h 252"/>
                <a:gd name="T62" fmla="*/ 37 w 198"/>
                <a:gd name="T63" fmla="*/ 33 h 252"/>
                <a:gd name="T64" fmla="*/ 30 w 198"/>
                <a:gd name="T65" fmla="*/ 39 h 252"/>
                <a:gd name="T66" fmla="*/ 25 w 198"/>
                <a:gd name="T67" fmla="*/ 46 h 252"/>
                <a:gd name="T68" fmla="*/ 19 w 198"/>
                <a:gd name="T69" fmla="*/ 53 h 252"/>
                <a:gd name="T70" fmla="*/ 14 w 198"/>
                <a:gd name="T71" fmla="*/ 60 h 252"/>
                <a:gd name="T72" fmla="*/ 11 w 198"/>
                <a:gd name="T73" fmla="*/ 66 h 252"/>
                <a:gd name="T74" fmla="*/ 7 w 198"/>
                <a:gd name="T75" fmla="*/ 73 h 252"/>
                <a:gd name="T76" fmla="*/ 4 w 198"/>
                <a:gd name="T77" fmla="*/ 80 h 252"/>
                <a:gd name="T78" fmla="*/ 2 w 198"/>
                <a:gd name="T79" fmla="*/ 87 h 252"/>
                <a:gd name="T80" fmla="*/ 1 w 198"/>
                <a:gd name="T81" fmla="*/ 93 h 25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98"/>
                <a:gd name="T124" fmla="*/ 0 h 252"/>
                <a:gd name="T125" fmla="*/ 198 w 198"/>
                <a:gd name="T126" fmla="*/ 252 h 25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98" h="252">
                  <a:moveTo>
                    <a:pt x="1" y="185"/>
                  </a:moveTo>
                  <a:lnTo>
                    <a:pt x="0" y="196"/>
                  </a:lnTo>
                  <a:lnTo>
                    <a:pt x="1" y="207"/>
                  </a:lnTo>
                  <a:lnTo>
                    <a:pt x="5" y="218"/>
                  </a:lnTo>
                  <a:lnTo>
                    <a:pt x="9" y="228"/>
                  </a:lnTo>
                  <a:lnTo>
                    <a:pt x="16" y="236"/>
                  </a:lnTo>
                  <a:lnTo>
                    <a:pt x="26" y="243"/>
                  </a:lnTo>
                  <a:lnTo>
                    <a:pt x="35" y="248"/>
                  </a:lnTo>
                  <a:lnTo>
                    <a:pt x="45" y="251"/>
                  </a:lnTo>
                  <a:lnTo>
                    <a:pt x="55" y="252"/>
                  </a:lnTo>
                  <a:lnTo>
                    <a:pt x="66" y="251"/>
                  </a:lnTo>
                  <a:lnTo>
                    <a:pt x="76" y="248"/>
                  </a:lnTo>
                  <a:lnTo>
                    <a:pt x="85" y="242"/>
                  </a:lnTo>
                  <a:lnTo>
                    <a:pt x="95" y="235"/>
                  </a:lnTo>
                  <a:lnTo>
                    <a:pt x="102" y="226"/>
                  </a:lnTo>
                  <a:lnTo>
                    <a:pt x="106" y="215"/>
                  </a:lnTo>
                  <a:lnTo>
                    <a:pt x="108" y="204"/>
                  </a:lnTo>
                  <a:lnTo>
                    <a:pt x="112" y="179"/>
                  </a:lnTo>
                  <a:lnTo>
                    <a:pt x="117" y="151"/>
                  </a:lnTo>
                  <a:lnTo>
                    <a:pt x="121" y="124"/>
                  </a:lnTo>
                  <a:lnTo>
                    <a:pt x="128" y="97"/>
                  </a:lnTo>
                  <a:lnTo>
                    <a:pt x="138" y="70"/>
                  </a:lnTo>
                  <a:lnTo>
                    <a:pt x="153" y="45"/>
                  </a:lnTo>
                  <a:lnTo>
                    <a:pt x="173" y="22"/>
                  </a:lnTo>
                  <a:lnTo>
                    <a:pt x="198" y="0"/>
                  </a:lnTo>
                  <a:lnTo>
                    <a:pt x="178" y="6"/>
                  </a:lnTo>
                  <a:lnTo>
                    <a:pt x="157" y="14"/>
                  </a:lnTo>
                  <a:lnTo>
                    <a:pt x="138" y="22"/>
                  </a:lnTo>
                  <a:lnTo>
                    <a:pt x="121" y="32"/>
                  </a:lnTo>
                  <a:lnTo>
                    <a:pt x="104" y="42"/>
                  </a:lnTo>
                  <a:lnTo>
                    <a:pt x="89" y="54"/>
                  </a:lnTo>
                  <a:lnTo>
                    <a:pt x="74" y="66"/>
                  </a:lnTo>
                  <a:lnTo>
                    <a:pt x="61" y="78"/>
                  </a:lnTo>
                  <a:lnTo>
                    <a:pt x="49" y="92"/>
                  </a:lnTo>
                  <a:lnTo>
                    <a:pt x="38" y="105"/>
                  </a:lnTo>
                  <a:lnTo>
                    <a:pt x="29" y="119"/>
                  </a:lnTo>
                  <a:lnTo>
                    <a:pt x="21" y="132"/>
                  </a:lnTo>
                  <a:lnTo>
                    <a:pt x="14" y="146"/>
                  </a:lnTo>
                  <a:lnTo>
                    <a:pt x="8" y="159"/>
                  </a:lnTo>
                  <a:lnTo>
                    <a:pt x="4" y="173"/>
                  </a:lnTo>
                  <a:lnTo>
                    <a:pt x="1" y="1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8" name="Freeform 558"/>
            <p:cNvSpPr>
              <a:spLocks/>
            </p:cNvSpPr>
            <p:nvPr/>
          </p:nvSpPr>
          <p:spPr bwMode="auto">
            <a:xfrm>
              <a:off x="4365" y="2736"/>
              <a:ext cx="435" cy="556"/>
            </a:xfrm>
            <a:custGeom>
              <a:avLst/>
              <a:gdLst>
                <a:gd name="T0" fmla="*/ 328 w 869"/>
                <a:gd name="T1" fmla="*/ 396 h 1111"/>
                <a:gd name="T2" fmla="*/ 342 w 869"/>
                <a:gd name="T3" fmla="*/ 388 h 1111"/>
                <a:gd name="T4" fmla="*/ 354 w 869"/>
                <a:gd name="T5" fmla="*/ 378 h 1111"/>
                <a:gd name="T6" fmla="*/ 367 w 869"/>
                <a:gd name="T7" fmla="*/ 368 h 1111"/>
                <a:gd name="T8" fmla="*/ 387 w 869"/>
                <a:gd name="T9" fmla="*/ 347 h 1111"/>
                <a:gd name="T10" fmla="*/ 410 w 869"/>
                <a:gd name="T11" fmla="*/ 312 h 1111"/>
                <a:gd name="T12" fmla="*/ 426 w 869"/>
                <a:gd name="T13" fmla="*/ 274 h 1111"/>
                <a:gd name="T14" fmla="*/ 434 w 869"/>
                <a:gd name="T15" fmla="*/ 233 h 1111"/>
                <a:gd name="T16" fmla="*/ 434 w 869"/>
                <a:gd name="T17" fmla="*/ 191 h 1111"/>
                <a:gd name="T18" fmla="*/ 426 w 869"/>
                <a:gd name="T19" fmla="*/ 150 h 1111"/>
                <a:gd name="T20" fmla="*/ 410 w 869"/>
                <a:gd name="T21" fmla="*/ 112 h 1111"/>
                <a:gd name="T22" fmla="*/ 387 w 869"/>
                <a:gd name="T23" fmla="*/ 77 h 1111"/>
                <a:gd name="T24" fmla="*/ 365 w 869"/>
                <a:gd name="T25" fmla="*/ 54 h 1111"/>
                <a:gd name="T26" fmla="*/ 349 w 869"/>
                <a:gd name="T27" fmla="*/ 42 h 1111"/>
                <a:gd name="T28" fmla="*/ 332 w 869"/>
                <a:gd name="T29" fmla="*/ 30 h 1111"/>
                <a:gd name="T30" fmla="*/ 313 w 869"/>
                <a:gd name="T31" fmla="*/ 20 h 1111"/>
                <a:gd name="T32" fmla="*/ 294 w 869"/>
                <a:gd name="T33" fmla="*/ 12 h 1111"/>
                <a:gd name="T34" fmla="*/ 275 w 869"/>
                <a:gd name="T35" fmla="*/ 7 h 1111"/>
                <a:gd name="T36" fmla="*/ 254 w 869"/>
                <a:gd name="T37" fmla="*/ 3 h 1111"/>
                <a:gd name="T38" fmla="*/ 233 w 869"/>
                <a:gd name="T39" fmla="*/ 0 h 1111"/>
                <a:gd name="T40" fmla="*/ 201 w 869"/>
                <a:gd name="T41" fmla="*/ 1 h 1111"/>
                <a:gd name="T42" fmla="*/ 160 w 869"/>
                <a:gd name="T43" fmla="*/ 9 h 1111"/>
                <a:gd name="T44" fmla="*/ 122 w 869"/>
                <a:gd name="T45" fmla="*/ 26 h 1111"/>
                <a:gd name="T46" fmla="*/ 88 w 869"/>
                <a:gd name="T47" fmla="*/ 49 h 1111"/>
                <a:gd name="T48" fmla="*/ 59 w 869"/>
                <a:gd name="T49" fmla="*/ 77 h 1111"/>
                <a:gd name="T50" fmla="*/ 36 w 869"/>
                <a:gd name="T51" fmla="*/ 111 h 1111"/>
                <a:gd name="T52" fmla="*/ 20 w 869"/>
                <a:gd name="T53" fmla="*/ 149 h 1111"/>
                <a:gd name="T54" fmla="*/ 12 w 869"/>
                <a:gd name="T55" fmla="*/ 190 h 1111"/>
                <a:gd name="T56" fmla="*/ 12 w 869"/>
                <a:gd name="T57" fmla="*/ 233 h 1111"/>
                <a:gd name="T58" fmla="*/ 20 w 869"/>
                <a:gd name="T59" fmla="*/ 274 h 1111"/>
                <a:gd name="T60" fmla="*/ 35 w 869"/>
                <a:gd name="T61" fmla="*/ 312 h 1111"/>
                <a:gd name="T62" fmla="*/ 58 w 869"/>
                <a:gd name="T63" fmla="*/ 347 h 1111"/>
                <a:gd name="T64" fmla="*/ 79 w 869"/>
                <a:gd name="T65" fmla="*/ 369 h 1111"/>
                <a:gd name="T66" fmla="*/ 93 w 869"/>
                <a:gd name="T67" fmla="*/ 380 h 1111"/>
                <a:gd name="T68" fmla="*/ 107 w 869"/>
                <a:gd name="T69" fmla="*/ 391 h 1111"/>
                <a:gd name="T70" fmla="*/ 122 w 869"/>
                <a:gd name="T71" fmla="*/ 399 h 1111"/>
                <a:gd name="T72" fmla="*/ 94 w 869"/>
                <a:gd name="T73" fmla="*/ 498 h 1111"/>
                <a:gd name="T74" fmla="*/ 29 w 869"/>
                <a:gd name="T75" fmla="*/ 464 h 1111"/>
                <a:gd name="T76" fmla="*/ 22 w 869"/>
                <a:gd name="T77" fmla="*/ 462 h 1111"/>
                <a:gd name="T78" fmla="*/ 14 w 869"/>
                <a:gd name="T79" fmla="*/ 463 h 1111"/>
                <a:gd name="T80" fmla="*/ 7 w 869"/>
                <a:gd name="T81" fmla="*/ 467 h 1111"/>
                <a:gd name="T82" fmla="*/ 2 w 869"/>
                <a:gd name="T83" fmla="*/ 473 h 1111"/>
                <a:gd name="T84" fmla="*/ 1 w 869"/>
                <a:gd name="T85" fmla="*/ 488 h 1111"/>
                <a:gd name="T86" fmla="*/ 10 w 869"/>
                <a:gd name="T87" fmla="*/ 500 h 1111"/>
                <a:gd name="T88" fmla="*/ 168 w 869"/>
                <a:gd name="T89" fmla="*/ 418 h 1111"/>
                <a:gd name="T90" fmla="*/ 181 w 869"/>
                <a:gd name="T91" fmla="*/ 420 h 1111"/>
                <a:gd name="T92" fmla="*/ 195 w 869"/>
                <a:gd name="T93" fmla="*/ 423 h 1111"/>
                <a:gd name="T94" fmla="*/ 209 w 869"/>
                <a:gd name="T95" fmla="*/ 424 h 1111"/>
                <a:gd name="T96" fmla="*/ 223 w 869"/>
                <a:gd name="T97" fmla="*/ 425 h 1111"/>
                <a:gd name="T98" fmla="*/ 238 w 869"/>
                <a:gd name="T99" fmla="*/ 424 h 1111"/>
                <a:gd name="T100" fmla="*/ 253 w 869"/>
                <a:gd name="T101" fmla="*/ 422 h 1111"/>
                <a:gd name="T102" fmla="*/ 268 w 869"/>
                <a:gd name="T103" fmla="*/ 420 h 1111"/>
                <a:gd name="T104" fmla="*/ 282 w 869"/>
                <a:gd name="T105" fmla="*/ 416 h 1111"/>
                <a:gd name="T106" fmla="*/ 272 w 869"/>
                <a:gd name="T107" fmla="*/ 516 h 1111"/>
                <a:gd name="T108" fmla="*/ 260 w 869"/>
                <a:gd name="T109" fmla="*/ 526 h 1111"/>
                <a:gd name="T110" fmla="*/ 258 w 869"/>
                <a:gd name="T111" fmla="*/ 542 h 1111"/>
                <a:gd name="T112" fmla="*/ 262 w 869"/>
                <a:gd name="T113" fmla="*/ 548 h 1111"/>
                <a:gd name="T114" fmla="*/ 268 w 869"/>
                <a:gd name="T115" fmla="*/ 554 h 1111"/>
                <a:gd name="T116" fmla="*/ 275 w 869"/>
                <a:gd name="T117" fmla="*/ 556 h 1111"/>
                <a:gd name="T118" fmla="*/ 283 w 869"/>
                <a:gd name="T119" fmla="*/ 555 h 1111"/>
                <a:gd name="T120" fmla="*/ 321 w 869"/>
                <a:gd name="T121" fmla="*/ 400 h 11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9"/>
                <a:gd name="T184" fmla="*/ 0 h 1111"/>
                <a:gd name="T185" fmla="*/ 869 w 869"/>
                <a:gd name="T186" fmla="*/ 1111 h 11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9" h="1111">
                  <a:moveTo>
                    <a:pt x="641" y="800"/>
                  </a:moveTo>
                  <a:lnTo>
                    <a:pt x="655" y="792"/>
                  </a:lnTo>
                  <a:lnTo>
                    <a:pt x="669" y="784"/>
                  </a:lnTo>
                  <a:lnTo>
                    <a:pt x="683" y="776"/>
                  </a:lnTo>
                  <a:lnTo>
                    <a:pt x="695" y="767"/>
                  </a:lnTo>
                  <a:lnTo>
                    <a:pt x="708" y="756"/>
                  </a:lnTo>
                  <a:lnTo>
                    <a:pt x="721" y="746"/>
                  </a:lnTo>
                  <a:lnTo>
                    <a:pt x="733" y="736"/>
                  </a:lnTo>
                  <a:lnTo>
                    <a:pt x="745" y="724"/>
                  </a:lnTo>
                  <a:lnTo>
                    <a:pt x="774" y="693"/>
                  </a:lnTo>
                  <a:lnTo>
                    <a:pt x="798" y="659"/>
                  </a:lnTo>
                  <a:lnTo>
                    <a:pt x="820" y="624"/>
                  </a:lnTo>
                  <a:lnTo>
                    <a:pt x="837" y="587"/>
                  </a:lnTo>
                  <a:lnTo>
                    <a:pt x="851" y="548"/>
                  </a:lnTo>
                  <a:lnTo>
                    <a:pt x="861" y="507"/>
                  </a:lnTo>
                  <a:lnTo>
                    <a:pt x="867" y="466"/>
                  </a:lnTo>
                  <a:lnTo>
                    <a:pt x="869" y="423"/>
                  </a:lnTo>
                  <a:lnTo>
                    <a:pt x="867" y="382"/>
                  </a:lnTo>
                  <a:lnTo>
                    <a:pt x="861" y="340"/>
                  </a:lnTo>
                  <a:lnTo>
                    <a:pt x="851" y="300"/>
                  </a:lnTo>
                  <a:lnTo>
                    <a:pt x="837" y="261"/>
                  </a:lnTo>
                  <a:lnTo>
                    <a:pt x="820" y="224"/>
                  </a:lnTo>
                  <a:lnTo>
                    <a:pt x="798" y="188"/>
                  </a:lnTo>
                  <a:lnTo>
                    <a:pt x="774" y="154"/>
                  </a:lnTo>
                  <a:lnTo>
                    <a:pt x="745" y="123"/>
                  </a:lnTo>
                  <a:lnTo>
                    <a:pt x="730" y="108"/>
                  </a:lnTo>
                  <a:lnTo>
                    <a:pt x="714" y="96"/>
                  </a:lnTo>
                  <a:lnTo>
                    <a:pt x="698" y="83"/>
                  </a:lnTo>
                  <a:lnTo>
                    <a:pt x="680" y="70"/>
                  </a:lnTo>
                  <a:lnTo>
                    <a:pt x="663" y="60"/>
                  </a:lnTo>
                  <a:lnTo>
                    <a:pt x="645" y="50"/>
                  </a:lnTo>
                  <a:lnTo>
                    <a:pt x="626" y="40"/>
                  </a:lnTo>
                  <a:lnTo>
                    <a:pt x="608" y="32"/>
                  </a:lnTo>
                  <a:lnTo>
                    <a:pt x="588" y="24"/>
                  </a:lnTo>
                  <a:lnTo>
                    <a:pt x="569" y="18"/>
                  </a:lnTo>
                  <a:lnTo>
                    <a:pt x="549" y="13"/>
                  </a:lnTo>
                  <a:lnTo>
                    <a:pt x="528" y="8"/>
                  </a:lnTo>
                  <a:lnTo>
                    <a:pt x="508" y="5"/>
                  </a:lnTo>
                  <a:lnTo>
                    <a:pt x="487" y="2"/>
                  </a:lnTo>
                  <a:lnTo>
                    <a:pt x="466" y="0"/>
                  </a:lnTo>
                  <a:lnTo>
                    <a:pt x="445" y="0"/>
                  </a:lnTo>
                  <a:lnTo>
                    <a:pt x="402" y="2"/>
                  </a:lnTo>
                  <a:lnTo>
                    <a:pt x="360" y="8"/>
                  </a:lnTo>
                  <a:lnTo>
                    <a:pt x="319" y="18"/>
                  </a:lnTo>
                  <a:lnTo>
                    <a:pt x="280" y="33"/>
                  </a:lnTo>
                  <a:lnTo>
                    <a:pt x="243" y="51"/>
                  </a:lnTo>
                  <a:lnTo>
                    <a:pt x="208" y="73"/>
                  </a:lnTo>
                  <a:lnTo>
                    <a:pt x="175" y="97"/>
                  </a:lnTo>
                  <a:lnTo>
                    <a:pt x="145" y="123"/>
                  </a:lnTo>
                  <a:lnTo>
                    <a:pt x="117" y="153"/>
                  </a:lnTo>
                  <a:lnTo>
                    <a:pt x="93" y="187"/>
                  </a:lnTo>
                  <a:lnTo>
                    <a:pt x="71" y="221"/>
                  </a:lnTo>
                  <a:lnTo>
                    <a:pt x="54" y="258"/>
                  </a:lnTo>
                  <a:lnTo>
                    <a:pt x="40" y="297"/>
                  </a:lnTo>
                  <a:lnTo>
                    <a:pt x="28" y="338"/>
                  </a:lnTo>
                  <a:lnTo>
                    <a:pt x="23" y="379"/>
                  </a:lnTo>
                  <a:lnTo>
                    <a:pt x="20" y="423"/>
                  </a:lnTo>
                  <a:lnTo>
                    <a:pt x="23" y="466"/>
                  </a:lnTo>
                  <a:lnTo>
                    <a:pt x="28" y="507"/>
                  </a:lnTo>
                  <a:lnTo>
                    <a:pt x="39" y="548"/>
                  </a:lnTo>
                  <a:lnTo>
                    <a:pt x="53" y="587"/>
                  </a:lnTo>
                  <a:lnTo>
                    <a:pt x="70" y="624"/>
                  </a:lnTo>
                  <a:lnTo>
                    <a:pt x="92" y="659"/>
                  </a:lnTo>
                  <a:lnTo>
                    <a:pt x="116" y="693"/>
                  </a:lnTo>
                  <a:lnTo>
                    <a:pt x="145" y="724"/>
                  </a:lnTo>
                  <a:lnTo>
                    <a:pt x="157" y="737"/>
                  </a:lnTo>
                  <a:lnTo>
                    <a:pt x="171" y="748"/>
                  </a:lnTo>
                  <a:lnTo>
                    <a:pt x="185" y="760"/>
                  </a:lnTo>
                  <a:lnTo>
                    <a:pt x="199" y="770"/>
                  </a:lnTo>
                  <a:lnTo>
                    <a:pt x="214" y="781"/>
                  </a:lnTo>
                  <a:lnTo>
                    <a:pt x="228" y="790"/>
                  </a:lnTo>
                  <a:lnTo>
                    <a:pt x="244" y="798"/>
                  </a:lnTo>
                  <a:lnTo>
                    <a:pt x="259" y="806"/>
                  </a:lnTo>
                  <a:lnTo>
                    <a:pt x="187" y="995"/>
                  </a:lnTo>
                  <a:lnTo>
                    <a:pt x="58" y="928"/>
                  </a:lnTo>
                  <a:lnTo>
                    <a:pt x="50" y="925"/>
                  </a:lnTo>
                  <a:lnTo>
                    <a:pt x="43" y="923"/>
                  </a:lnTo>
                  <a:lnTo>
                    <a:pt x="35" y="923"/>
                  </a:lnTo>
                  <a:lnTo>
                    <a:pt x="27" y="925"/>
                  </a:lnTo>
                  <a:lnTo>
                    <a:pt x="20" y="928"/>
                  </a:lnTo>
                  <a:lnTo>
                    <a:pt x="13" y="933"/>
                  </a:lnTo>
                  <a:lnTo>
                    <a:pt x="8" y="938"/>
                  </a:lnTo>
                  <a:lnTo>
                    <a:pt x="3" y="945"/>
                  </a:lnTo>
                  <a:lnTo>
                    <a:pt x="0" y="960"/>
                  </a:lnTo>
                  <a:lnTo>
                    <a:pt x="2" y="975"/>
                  </a:lnTo>
                  <a:lnTo>
                    <a:pt x="9" y="989"/>
                  </a:lnTo>
                  <a:lnTo>
                    <a:pt x="20" y="1000"/>
                  </a:lnTo>
                  <a:lnTo>
                    <a:pt x="231" y="1109"/>
                  </a:lnTo>
                  <a:lnTo>
                    <a:pt x="335" y="835"/>
                  </a:lnTo>
                  <a:lnTo>
                    <a:pt x="349" y="838"/>
                  </a:lnTo>
                  <a:lnTo>
                    <a:pt x="361" y="840"/>
                  </a:lnTo>
                  <a:lnTo>
                    <a:pt x="375" y="843"/>
                  </a:lnTo>
                  <a:lnTo>
                    <a:pt x="389" y="845"/>
                  </a:lnTo>
                  <a:lnTo>
                    <a:pt x="403" y="846"/>
                  </a:lnTo>
                  <a:lnTo>
                    <a:pt x="417" y="847"/>
                  </a:lnTo>
                  <a:lnTo>
                    <a:pt x="432" y="849"/>
                  </a:lnTo>
                  <a:lnTo>
                    <a:pt x="445" y="849"/>
                  </a:lnTo>
                  <a:lnTo>
                    <a:pt x="460" y="849"/>
                  </a:lnTo>
                  <a:lnTo>
                    <a:pt x="475" y="847"/>
                  </a:lnTo>
                  <a:lnTo>
                    <a:pt x="490" y="846"/>
                  </a:lnTo>
                  <a:lnTo>
                    <a:pt x="505" y="844"/>
                  </a:lnTo>
                  <a:lnTo>
                    <a:pt x="520" y="842"/>
                  </a:lnTo>
                  <a:lnTo>
                    <a:pt x="535" y="839"/>
                  </a:lnTo>
                  <a:lnTo>
                    <a:pt x="550" y="836"/>
                  </a:lnTo>
                  <a:lnTo>
                    <a:pt x="564" y="832"/>
                  </a:lnTo>
                  <a:lnTo>
                    <a:pt x="674" y="993"/>
                  </a:lnTo>
                  <a:lnTo>
                    <a:pt x="543" y="1032"/>
                  </a:lnTo>
                  <a:lnTo>
                    <a:pt x="530" y="1039"/>
                  </a:lnTo>
                  <a:lnTo>
                    <a:pt x="519" y="1051"/>
                  </a:lnTo>
                  <a:lnTo>
                    <a:pt x="515" y="1066"/>
                  </a:lnTo>
                  <a:lnTo>
                    <a:pt x="516" y="1083"/>
                  </a:lnTo>
                  <a:lnTo>
                    <a:pt x="519" y="1091"/>
                  </a:lnTo>
                  <a:lnTo>
                    <a:pt x="524" y="1096"/>
                  </a:lnTo>
                  <a:lnTo>
                    <a:pt x="530" y="1102"/>
                  </a:lnTo>
                  <a:lnTo>
                    <a:pt x="535" y="1107"/>
                  </a:lnTo>
                  <a:lnTo>
                    <a:pt x="542" y="1110"/>
                  </a:lnTo>
                  <a:lnTo>
                    <a:pt x="550" y="1111"/>
                  </a:lnTo>
                  <a:lnTo>
                    <a:pt x="558" y="1111"/>
                  </a:lnTo>
                  <a:lnTo>
                    <a:pt x="566" y="1110"/>
                  </a:lnTo>
                  <a:lnTo>
                    <a:pt x="804" y="1040"/>
                  </a:lnTo>
                  <a:lnTo>
                    <a:pt x="641" y="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9" name="Freeform 559"/>
            <p:cNvSpPr>
              <a:spLocks/>
            </p:cNvSpPr>
            <p:nvPr/>
          </p:nvSpPr>
          <p:spPr bwMode="auto">
            <a:xfrm>
              <a:off x="4415" y="2776"/>
              <a:ext cx="344" cy="344"/>
            </a:xfrm>
            <a:custGeom>
              <a:avLst/>
              <a:gdLst>
                <a:gd name="T0" fmla="*/ 46 w 688"/>
                <a:gd name="T1" fmla="*/ 288 h 687"/>
                <a:gd name="T2" fmla="*/ 50 w 688"/>
                <a:gd name="T3" fmla="*/ 280 h 687"/>
                <a:gd name="T4" fmla="*/ 80 w 688"/>
                <a:gd name="T5" fmla="*/ 271 h 687"/>
                <a:gd name="T6" fmla="*/ 113 w 688"/>
                <a:gd name="T7" fmla="*/ 266 h 687"/>
                <a:gd name="T8" fmla="*/ 134 w 688"/>
                <a:gd name="T9" fmla="*/ 265 h 687"/>
                <a:gd name="T10" fmla="*/ 149 w 688"/>
                <a:gd name="T11" fmla="*/ 265 h 687"/>
                <a:gd name="T12" fmla="*/ 164 w 688"/>
                <a:gd name="T13" fmla="*/ 266 h 687"/>
                <a:gd name="T14" fmla="*/ 199 w 688"/>
                <a:gd name="T15" fmla="*/ 272 h 687"/>
                <a:gd name="T16" fmla="*/ 231 w 688"/>
                <a:gd name="T17" fmla="*/ 280 h 687"/>
                <a:gd name="T18" fmla="*/ 253 w 688"/>
                <a:gd name="T19" fmla="*/ 288 h 687"/>
                <a:gd name="T20" fmla="*/ 259 w 688"/>
                <a:gd name="T21" fmla="*/ 289 h 687"/>
                <a:gd name="T22" fmla="*/ 275 w 688"/>
                <a:gd name="T23" fmla="*/ 287 h 687"/>
                <a:gd name="T24" fmla="*/ 287 w 688"/>
                <a:gd name="T25" fmla="*/ 275 h 687"/>
                <a:gd name="T26" fmla="*/ 290 w 688"/>
                <a:gd name="T27" fmla="*/ 260 h 687"/>
                <a:gd name="T28" fmla="*/ 286 w 688"/>
                <a:gd name="T29" fmla="*/ 247 h 687"/>
                <a:gd name="T30" fmla="*/ 277 w 688"/>
                <a:gd name="T31" fmla="*/ 238 h 687"/>
                <a:gd name="T32" fmla="*/ 267 w 688"/>
                <a:gd name="T33" fmla="*/ 233 h 687"/>
                <a:gd name="T34" fmla="*/ 250 w 688"/>
                <a:gd name="T35" fmla="*/ 227 h 687"/>
                <a:gd name="T36" fmla="*/ 232 w 688"/>
                <a:gd name="T37" fmla="*/ 221 h 687"/>
                <a:gd name="T38" fmla="*/ 214 w 688"/>
                <a:gd name="T39" fmla="*/ 217 h 687"/>
                <a:gd name="T40" fmla="*/ 194 w 688"/>
                <a:gd name="T41" fmla="*/ 213 h 687"/>
                <a:gd name="T42" fmla="*/ 174 w 688"/>
                <a:gd name="T43" fmla="*/ 211 h 687"/>
                <a:gd name="T44" fmla="*/ 153 w 688"/>
                <a:gd name="T45" fmla="*/ 210 h 687"/>
                <a:gd name="T46" fmla="*/ 131 w 688"/>
                <a:gd name="T47" fmla="*/ 209 h 687"/>
                <a:gd name="T48" fmla="*/ 109 w 688"/>
                <a:gd name="T49" fmla="*/ 211 h 687"/>
                <a:gd name="T50" fmla="*/ 89 w 688"/>
                <a:gd name="T51" fmla="*/ 213 h 687"/>
                <a:gd name="T52" fmla="*/ 70 w 688"/>
                <a:gd name="T53" fmla="*/ 216 h 687"/>
                <a:gd name="T54" fmla="*/ 52 w 688"/>
                <a:gd name="T55" fmla="*/ 220 h 687"/>
                <a:gd name="T56" fmla="*/ 35 w 688"/>
                <a:gd name="T57" fmla="*/ 225 h 687"/>
                <a:gd name="T58" fmla="*/ 19 w 688"/>
                <a:gd name="T59" fmla="*/ 231 h 687"/>
                <a:gd name="T60" fmla="*/ 15 w 688"/>
                <a:gd name="T61" fmla="*/ 233 h 687"/>
                <a:gd name="T62" fmla="*/ 7 w 688"/>
                <a:gd name="T63" fmla="*/ 220 h 687"/>
                <a:gd name="T64" fmla="*/ 0 w 688"/>
                <a:gd name="T65" fmla="*/ 171 h 687"/>
                <a:gd name="T66" fmla="*/ 7 w 688"/>
                <a:gd name="T67" fmla="*/ 122 h 687"/>
                <a:gd name="T68" fmla="*/ 29 w 688"/>
                <a:gd name="T69" fmla="*/ 76 h 687"/>
                <a:gd name="T70" fmla="*/ 57 w 688"/>
                <a:gd name="T71" fmla="*/ 44 h 687"/>
                <a:gd name="T72" fmla="*/ 77 w 688"/>
                <a:gd name="T73" fmla="*/ 28 h 687"/>
                <a:gd name="T74" fmla="*/ 98 w 688"/>
                <a:gd name="T75" fmla="*/ 16 h 687"/>
                <a:gd name="T76" fmla="*/ 122 w 688"/>
                <a:gd name="T77" fmla="*/ 7 h 687"/>
                <a:gd name="T78" fmla="*/ 147 w 688"/>
                <a:gd name="T79" fmla="*/ 2 h 687"/>
                <a:gd name="T80" fmla="*/ 172 w 688"/>
                <a:gd name="T81" fmla="*/ 0 h 687"/>
                <a:gd name="T82" fmla="*/ 197 w 688"/>
                <a:gd name="T83" fmla="*/ 2 h 687"/>
                <a:gd name="T84" fmla="*/ 222 w 688"/>
                <a:gd name="T85" fmla="*/ 7 h 687"/>
                <a:gd name="T86" fmla="*/ 245 w 688"/>
                <a:gd name="T87" fmla="*/ 16 h 687"/>
                <a:gd name="T88" fmla="*/ 268 w 688"/>
                <a:gd name="T89" fmla="*/ 28 h 687"/>
                <a:gd name="T90" fmla="*/ 287 w 688"/>
                <a:gd name="T91" fmla="*/ 44 h 687"/>
                <a:gd name="T92" fmla="*/ 315 w 688"/>
                <a:gd name="T93" fmla="*/ 76 h 687"/>
                <a:gd name="T94" fmla="*/ 337 w 688"/>
                <a:gd name="T95" fmla="*/ 122 h 687"/>
                <a:gd name="T96" fmla="*/ 344 w 688"/>
                <a:gd name="T97" fmla="*/ 171 h 687"/>
                <a:gd name="T98" fmla="*/ 337 w 688"/>
                <a:gd name="T99" fmla="*/ 223 h 687"/>
                <a:gd name="T100" fmla="*/ 315 w 688"/>
                <a:gd name="T101" fmla="*/ 268 h 687"/>
                <a:gd name="T102" fmla="*/ 281 w 688"/>
                <a:gd name="T103" fmla="*/ 304 h 687"/>
                <a:gd name="T104" fmla="*/ 239 w 688"/>
                <a:gd name="T105" fmla="*/ 330 h 687"/>
                <a:gd name="T106" fmla="*/ 189 w 688"/>
                <a:gd name="T107" fmla="*/ 343 h 687"/>
                <a:gd name="T108" fmla="*/ 155 w 688"/>
                <a:gd name="T109" fmla="*/ 343 h 687"/>
                <a:gd name="T110" fmla="*/ 130 w 688"/>
                <a:gd name="T111" fmla="*/ 338 h 687"/>
                <a:gd name="T112" fmla="*/ 106 w 688"/>
                <a:gd name="T113" fmla="*/ 330 h 687"/>
                <a:gd name="T114" fmla="*/ 84 w 688"/>
                <a:gd name="T115" fmla="*/ 319 h 687"/>
                <a:gd name="T116" fmla="*/ 63 w 688"/>
                <a:gd name="T117" fmla="*/ 304 h 68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688"/>
                <a:gd name="T178" fmla="*/ 0 h 687"/>
                <a:gd name="T179" fmla="*/ 688 w 688"/>
                <a:gd name="T180" fmla="*/ 687 h 687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688" h="687">
                  <a:moveTo>
                    <a:pt x="101" y="585"/>
                  </a:moveTo>
                  <a:lnTo>
                    <a:pt x="97" y="581"/>
                  </a:lnTo>
                  <a:lnTo>
                    <a:pt x="92" y="576"/>
                  </a:lnTo>
                  <a:lnTo>
                    <a:pt x="87" y="570"/>
                  </a:lnTo>
                  <a:lnTo>
                    <a:pt x="83" y="565"/>
                  </a:lnTo>
                  <a:lnTo>
                    <a:pt x="100" y="559"/>
                  </a:lnTo>
                  <a:lnTo>
                    <a:pt x="120" y="552"/>
                  </a:lnTo>
                  <a:lnTo>
                    <a:pt x="139" y="547"/>
                  </a:lnTo>
                  <a:lnTo>
                    <a:pt x="160" y="542"/>
                  </a:lnTo>
                  <a:lnTo>
                    <a:pt x="181" y="538"/>
                  </a:lnTo>
                  <a:lnTo>
                    <a:pt x="203" y="533"/>
                  </a:lnTo>
                  <a:lnTo>
                    <a:pt x="226" y="531"/>
                  </a:lnTo>
                  <a:lnTo>
                    <a:pt x="248" y="529"/>
                  </a:lnTo>
                  <a:lnTo>
                    <a:pt x="257" y="529"/>
                  </a:lnTo>
                  <a:lnTo>
                    <a:pt x="267" y="529"/>
                  </a:lnTo>
                  <a:lnTo>
                    <a:pt x="276" y="529"/>
                  </a:lnTo>
                  <a:lnTo>
                    <a:pt x="287" y="529"/>
                  </a:lnTo>
                  <a:lnTo>
                    <a:pt x="297" y="530"/>
                  </a:lnTo>
                  <a:lnTo>
                    <a:pt x="308" y="530"/>
                  </a:lnTo>
                  <a:lnTo>
                    <a:pt x="317" y="531"/>
                  </a:lnTo>
                  <a:lnTo>
                    <a:pt x="327" y="532"/>
                  </a:lnTo>
                  <a:lnTo>
                    <a:pt x="351" y="535"/>
                  </a:lnTo>
                  <a:lnTo>
                    <a:pt x="376" y="538"/>
                  </a:lnTo>
                  <a:lnTo>
                    <a:pt x="399" y="543"/>
                  </a:lnTo>
                  <a:lnTo>
                    <a:pt x="420" y="547"/>
                  </a:lnTo>
                  <a:lnTo>
                    <a:pt x="442" y="553"/>
                  </a:lnTo>
                  <a:lnTo>
                    <a:pt x="463" y="560"/>
                  </a:lnTo>
                  <a:lnTo>
                    <a:pt x="483" y="567"/>
                  </a:lnTo>
                  <a:lnTo>
                    <a:pt x="502" y="575"/>
                  </a:lnTo>
                  <a:lnTo>
                    <a:pt x="506" y="576"/>
                  </a:lnTo>
                  <a:lnTo>
                    <a:pt x="510" y="577"/>
                  </a:lnTo>
                  <a:lnTo>
                    <a:pt x="514" y="578"/>
                  </a:lnTo>
                  <a:lnTo>
                    <a:pt x="518" y="578"/>
                  </a:lnTo>
                  <a:lnTo>
                    <a:pt x="530" y="578"/>
                  </a:lnTo>
                  <a:lnTo>
                    <a:pt x="540" y="576"/>
                  </a:lnTo>
                  <a:lnTo>
                    <a:pt x="550" y="573"/>
                  </a:lnTo>
                  <a:lnTo>
                    <a:pt x="559" y="566"/>
                  </a:lnTo>
                  <a:lnTo>
                    <a:pt x="567" y="559"/>
                  </a:lnTo>
                  <a:lnTo>
                    <a:pt x="573" y="550"/>
                  </a:lnTo>
                  <a:lnTo>
                    <a:pt x="577" y="539"/>
                  </a:lnTo>
                  <a:lnTo>
                    <a:pt x="579" y="529"/>
                  </a:lnTo>
                  <a:lnTo>
                    <a:pt x="579" y="520"/>
                  </a:lnTo>
                  <a:lnTo>
                    <a:pt x="578" y="510"/>
                  </a:lnTo>
                  <a:lnTo>
                    <a:pt x="576" y="502"/>
                  </a:lnTo>
                  <a:lnTo>
                    <a:pt x="571" y="494"/>
                  </a:lnTo>
                  <a:lnTo>
                    <a:pt x="567" y="487"/>
                  </a:lnTo>
                  <a:lnTo>
                    <a:pt x="561" y="482"/>
                  </a:lnTo>
                  <a:lnTo>
                    <a:pt x="554" y="476"/>
                  </a:lnTo>
                  <a:lnTo>
                    <a:pt x="546" y="471"/>
                  </a:lnTo>
                  <a:lnTo>
                    <a:pt x="544" y="470"/>
                  </a:lnTo>
                  <a:lnTo>
                    <a:pt x="533" y="465"/>
                  </a:lnTo>
                  <a:lnTo>
                    <a:pt x="523" y="461"/>
                  </a:lnTo>
                  <a:lnTo>
                    <a:pt x="512" y="457"/>
                  </a:lnTo>
                  <a:lnTo>
                    <a:pt x="501" y="453"/>
                  </a:lnTo>
                  <a:lnTo>
                    <a:pt x="490" y="449"/>
                  </a:lnTo>
                  <a:lnTo>
                    <a:pt x="477" y="446"/>
                  </a:lnTo>
                  <a:lnTo>
                    <a:pt x="465" y="442"/>
                  </a:lnTo>
                  <a:lnTo>
                    <a:pt x="454" y="439"/>
                  </a:lnTo>
                  <a:lnTo>
                    <a:pt x="441" y="437"/>
                  </a:lnTo>
                  <a:lnTo>
                    <a:pt x="429" y="433"/>
                  </a:lnTo>
                  <a:lnTo>
                    <a:pt x="416" y="431"/>
                  </a:lnTo>
                  <a:lnTo>
                    <a:pt x="402" y="429"/>
                  </a:lnTo>
                  <a:lnTo>
                    <a:pt x="389" y="426"/>
                  </a:lnTo>
                  <a:lnTo>
                    <a:pt x="376" y="425"/>
                  </a:lnTo>
                  <a:lnTo>
                    <a:pt x="363" y="423"/>
                  </a:lnTo>
                  <a:lnTo>
                    <a:pt x="349" y="422"/>
                  </a:lnTo>
                  <a:lnTo>
                    <a:pt x="335" y="421"/>
                  </a:lnTo>
                  <a:lnTo>
                    <a:pt x="320" y="419"/>
                  </a:lnTo>
                  <a:lnTo>
                    <a:pt x="306" y="419"/>
                  </a:lnTo>
                  <a:lnTo>
                    <a:pt x="291" y="418"/>
                  </a:lnTo>
                  <a:lnTo>
                    <a:pt x="276" y="418"/>
                  </a:lnTo>
                  <a:lnTo>
                    <a:pt x="261" y="418"/>
                  </a:lnTo>
                  <a:lnTo>
                    <a:pt x="246" y="418"/>
                  </a:lnTo>
                  <a:lnTo>
                    <a:pt x="232" y="419"/>
                  </a:lnTo>
                  <a:lnTo>
                    <a:pt x="218" y="421"/>
                  </a:lnTo>
                  <a:lnTo>
                    <a:pt x="205" y="422"/>
                  </a:lnTo>
                  <a:lnTo>
                    <a:pt x="191" y="423"/>
                  </a:lnTo>
                  <a:lnTo>
                    <a:pt x="179" y="425"/>
                  </a:lnTo>
                  <a:lnTo>
                    <a:pt x="166" y="426"/>
                  </a:lnTo>
                  <a:lnTo>
                    <a:pt x="153" y="429"/>
                  </a:lnTo>
                  <a:lnTo>
                    <a:pt x="140" y="431"/>
                  </a:lnTo>
                  <a:lnTo>
                    <a:pt x="128" y="433"/>
                  </a:lnTo>
                  <a:lnTo>
                    <a:pt x="116" y="437"/>
                  </a:lnTo>
                  <a:lnTo>
                    <a:pt x="104" y="439"/>
                  </a:lnTo>
                  <a:lnTo>
                    <a:pt x="92" y="442"/>
                  </a:lnTo>
                  <a:lnTo>
                    <a:pt x="81" y="446"/>
                  </a:lnTo>
                  <a:lnTo>
                    <a:pt x="70" y="449"/>
                  </a:lnTo>
                  <a:lnTo>
                    <a:pt x="59" y="453"/>
                  </a:lnTo>
                  <a:lnTo>
                    <a:pt x="48" y="457"/>
                  </a:lnTo>
                  <a:lnTo>
                    <a:pt x="38" y="461"/>
                  </a:lnTo>
                  <a:lnTo>
                    <a:pt x="36" y="463"/>
                  </a:lnTo>
                  <a:lnTo>
                    <a:pt x="33" y="464"/>
                  </a:lnTo>
                  <a:lnTo>
                    <a:pt x="30" y="465"/>
                  </a:lnTo>
                  <a:lnTo>
                    <a:pt x="26" y="468"/>
                  </a:lnTo>
                  <a:lnTo>
                    <a:pt x="24" y="469"/>
                  </a:lnTo>
                  <a:lnTo>
                    <a:pt x="14" y="439"/>
                  </a:lnTo>
                  <a:lnTo>
                    <a:pt x="7" y="408"/>
                  </a:lnTo>
                  <a:lnTo>
                    <a:pt x="1" y="376"/>
                  </a:lnTo>
                  <a:lnTo>
                    <a:pt x="0" y="342"/>
                  </a:lnTo>
                  <a:lnTo>
                    <a:pt x="1" y="309"/>
                  </a:lnTo>
                  <a:lnTo>
                    <a:pt x="7" y="275"/>
                  </a:lnTo>
                  <a:lnTo>
                    <a:pt x="15" y="243"/>
                  </a:lnTo>
                  <a:lnTo>
                    <a:pt x="26" y="211"/>
                  </a:lnTo>
                  <a:lnTo>
                    <a:pt x="40" y="181"/>
                  </a:lnTo>
                  <a:lnTo>
                    <a:pt x="58" y="152"/>
                  </a:lnTo>
                  <a:lnTo>
                    <a:pt x="78" y="125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7" y="77"/>
                  </a:lnTo>
                  <a:lnTo>
                    <a:pt x="139" y="67"/>
                  </a:lnTo>
                  <a:lnTo>
                    <a:pt x="153" y="56"/>
                  </a:lnTo>
                  <a:lnTo>
                    <a:pt x="168" y="48"/>
                  </a:lnTo>
                  <a:lnTo>
                    <a:pt x="182" y="39"/>
                  </a:lnTo>
                  <a:lnTo>
                    <a:pt x="197" y="32"/>
                  </a:lnTo>
                  <a:lnTo>
                    <a:pt x="213" y="25"/>
                  </a:lnTo>
                  <a:lnTo>
                    <a:pt x="228" y="19"/>
                  </a:lnTo>
                  <a:lnTo>
                    <a:pt x="244" y="14"/>
                  </a:lnTo>
                  <a:lnTo>
                    <a:pt x="260" y="10"/>
                  </a:lnTo>
                  <a:lnTo>
                    <a:pt x="276" y="7"/>
                  </a:lnTo>
                  <a:lnTo>
                    <a:pt x="294" y="3"/>
                  </a:lnTo>
                  <a:lnTo>
                    <a:pt x="310" y="1"/>
                  </a:lnTo>
                  <a:lnTo>
                    <a:pt x="327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1" y="7"/>
                  </a:lnTo>
                  <a:lnTo>
                    <a:pt x="427" y="10"/>
                  </a:lnTo>
                  <a:lnTo>
                    <a:pt x="444" y="14"/>
                  </a:lnTo>
                  <a:lnTo>
                    <a:pt x="460" y="19"/>
                  </a:lnTo>
                  <a:lnTo>
                    <a:pt x="476" y="25"/>
                  </a:lnTo>
                  <a:lnTo>
                    <a:pt x="491" y="32"/>
                  </a:lnTo>
                  <a:lnTo>
                    <a:pt x="506" y="39"/>
                  </a:lnTo>
                  <a:lnTo>
                    <a:pt x="520" y="48"/>
                  </a:lnTo>
                  <a:lnTo>
                    <a:pt x="535" y="56"/>
                  </a:lnTo>
                  <a:lnTo>
                    <a:pt x="548" y="67"/>
                  </a:lnTo>
                  <a:lnTo>
                    <a:pt x="561" y="77"/>
                  </a:lnTo>
                  <a:lnTo>
                    <a:pt x="574" y="88"/>
                  </a:lnTo>
                  <a:lnTo>
                    <a:pt x="586" y="100"/>
                  </a:lnTo>
                  <a:lnTo>
                    <a:pt x="609" y="125"/>
                  </a:lnTo>
                  <a:lnTo>
                    <a:pt x="630" y="152"/>
                  </a:lnTo>
                  <a:lnTo>
                    <a:pt x="647" y="181"/>
                  </a:lnTo>
                  <a:lnTo>
                    <a:pt x="661" y="211"/>
                  </a:lnTo>
                  <a:lnTo>
                    <a:pt x="673" y="243"/>
                  </a:lnTo>
                  <a:lnTo>
                    <a:pt x="681" y="275"/>
                  </a:lnTo>
                  <a:lnTo>
                    <a:pt x="687" y="309"/>
                  </a:lnTo>
                  <a:lnTo>
                    <a:pt x="688" y="342"/>
                  </a:lnTo>
                  <a:lnTo>
                    <a:pt x="685" y="378"/>
                  </a:lnTo>
                  <a:lnTo>
                    <a:pt x="681" y="411"/>
                  </a:lnTo>
                  <a:lnTo>
                    <a:pt x="673" y="445"/>
                  </a:lnTo>
                  <a:lnTo>
                    <a:pt x="661" y="476"/>
                  </a:lnTo>
                  <a:lnTo>
                    <a:pt x="646" y="506"/>
                  </a:lnTo>
                  <a:lnTo>
                    <a:pt x="629" y="535"/>
                  </a:lnTo>
                  <a:lnTo>
                    <a:pt x="609" y="561"/>
                  </a:lnTo>
                  <a:lnTo>
                    <a:pt x="588" y="585"/>
                  </a:lnTo>
                  <a:lnTo>
                    <a:pt x="562" y="608"/>
                  </a:lnTo>
                  <a:lnTo>
                    <a:pt x="536" y="628"/>
                  </a:lnTo>
                  <a:lnTo>
                    <a:pt x="508" y="645"/>
                  </a:lnTo>
                  <a:lnTo>
                    <a:pt x="478" y="659"/>
                  </a:lnTo>
                  <a:lnTo>
                    <a:pt x="446" y="672"/>
                  </a:lnTo>
                  <a:lnTo>
                    <a:pt x="414" y="680"/>
                  </a:lnTo>
                  <a:lnTo>
                    <a:pt x="379" y="685"/>
                  </a:lnTo>
                  <a:lnTo>
                    <a:pt x="344" y="687"/>
                  </a:lnTo>
                  <a:lnTo>
                    <a:pt x="327" y="687"/>
                  </a:lnTo>
                  <a:lnTo>
                    <a:pt x="310" y="686"/>
                  </a:lnTo>
                  <a:lnTo>
                    <a:pt x="294" y="683"/>
                  </a:lnTo>
                  <a:lnTo>
                    <a:pt x="276" y="680"/>
                  </a:lnTo>
                  <a:lnTo>
                    <a:pt x="260" y="676"/>
                  </a:lnTo>
                  <a:lnTo>
                    <a:pt x="244" y="672"/>
                  </a:lnTo>
                  <a:lnTo>
                    <a:pt x="228" y="667"/>
                  </a:lnTo>
                  <a:lnTo>
                    <a:pt x="213" y="660"/>
                  </a:lnTo>
                  <a:lnTo>
                    <a:pt x="197" y="653"/>
                  </a:lnTo>
                  <a:lnTo>
                    <a:pt x="182" y="646"/>
                  </a:lnTo>
                  <a:lnTo>
                    <a:pt x="168" y="638"/>
                  </a:lnTo>
                  <a:lnTo>
                    <a:pt x="153" y="629"/>
                  </a:lnTo>
                  <a:lnTo>
                    <a:pt x="139" y="619"/>
                  </a:lnTo>
                  <a:lnTo>
                    <a:pt x="127" y="608"/>
                  </a:lnTo>
                  <a:lnTo>
                    <a:pt x="114" y="597"/>
                  </a:lnTo>
                  <a:lnTo>
                    <a:pt x="101" y="585"/>
                  </a:lnTo>
                  <a:close/>
                </a:path>
              </a:pathLst>
            </a:custGeom>
            <a:solidFill>
              <a:srgbClr val="FF9E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Freeform 560"/>
            <p:cNvSpPr>
              <a:spLocks/>
            </p:cNvSpPr>
            <p:nvPr/>
          </p:nvSpPr>
          <p:spPr bwMode="auto">
            <a:xfrm>
              <a:off x="4584" y="2865"/>
              <a:ext cx="30" cy="30"/>
            </a:xfrm>
            <a:custGeom>
              <a:avLst/>
              <a:gdLst>
                <a:gd name="T0" fmla="*/ 15 w 59"/>
                <a:gd name="T1" fmla="*/ 0 h 60"/>
                <a:gd name="T2" fmla="*/ 9 w 59"/>
                <a:gd name="T3" fmla="*/ 1 h 60"/>
                <a:gd name="T4" fmla="*/ 5 w 59"/>
                <a:gd name="T5" fmla="*/ 5 h 60"/>
                <a:gd name="T6" fmla="*/ 1 w 59"/>
                <a:gd name="T7" fmla="*/ 10 h 60"/>
                <a:gd name="T8" fmla="*/ 0 w 59"/>
                <a:gd name="T9" fmla="*/ 15 h 60"/>
                <a:gd name="T10" fmla="*/ 1 w 59"/>
                <a:gd name="T11" fmla="*/ 21 h 60"/>
                <a:gd name="T12" fmla="*/ 5 w 59"/>
                <a:gd name="T13" fmla="*/ 26 h 60"/>
                <a:gd name="T14" fmla="*/ 9 w 59"/>
                <a:gd name="T15" fmla="*/ 29 h 60"/>
                <a:gd name="T16" fmla="*/ 15 w 59"/>
                <a:gd name="T17" fmla="*/ 30 h 60"/>
                <a:gd name="T18" fmla="*/ 21 w 59"/>
                <a:gd name="T19" fmla="*/ 29 h 60"/>
                <a:gd name="T20" fmla="*/ 25 w 59"/>
                <a:gd name="T21" fmla="*/ 26 h 60"/>
                <a:gd name="T22" fmla="*/ 29 w 59"/>
                <a:gd name="T23" fmla="*/ 21 h 60"/>
                <a:gd name="T24" fmla="*/ 30 w 59"/>
                <a:gd name="T25" fmla="*/ 15 h 60"/>
                <a:gd name="T26" fmla="*/ 29 w 59"/>
                <a:gd name="T27" fmla="*/ 10 h 60"/>
                <a:gd name="T28" fmla="*/ 25 w 59"/>
                <a:gd name="T29" fmla="*/ 5 h 60"/>
                <a:gd name="T30" fmla="*/ 21 w 59"/>
                <a:gd name="T31" fmla="*/ 1 h 60"/>
                <a:gd name="T32" fmla="*/ 15 w 59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9"/>
                <a:gd name="T52" fmla="*/ 0 h 60"/>
                <a:gd name="T53" fmla="*/ 59 w 59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9" h="60">
                  <a:moveTo>
                    <a:pt x="29" y="0"/>
                  </a:moveTo>
                  <a:lnTo>
                    <a:pt x="18" y="2"/>
                  </a:lnTo>
                  <a:lnTo>
                    <a:pt x="9" y="9"/>
                  </a:lnTo>
                  <a:lnTo>
                    <a:pt x="2" y="19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2"/>
                  </a:lnTo>
                  <a:lnTo>
                    <a:pt x="59" y="30"/>
                  </a:lnTo>
                  <a:lnTo>
                    <a:pt x="57" y="19"/>
                  </a:lnTo>
                  <a:lnTo>
                    <a:pt x="50" y="9"/>
                  </a:lnTo>
                  <a:lnTo>
                    <a:pt x="41" y="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Freeform 561"/>
            <p:cNvSpPr>
              <a:spLocks/>
            </p:cNvSpPr>
            <p:nvPr/>
          </p:nvSpPr>
          <p:spPr bwMode="auto">
            <a:xfrm>
              <a:off x="4423" y="2799"/>
              <a:ext cx="135" cy="131"/>
            </a:xfrm>
            <a:custGeom>
              <a:avLst/>
              <a:gdLst>
                <a:gd name="T0" fmla="*/ 68 w 270"/>
                <a:gd name="T1" fmla="*/ 131 h 263"/>
                <a:gd name="T2" fmla="*/ 74 w 270"/>
                <a:gd name="T3" fmla="*/ 130 h 263"/>
                <a:gd name="T4" fmla="*/ 80 w 270"/>
                <a:gd name="T5" fmla="*/ 130 h 263"/>
                <a:gd name="T6" fmla="*/ 87 w 270"/>
                <a:gd name="T7" fmla="*/ 128 h 263"/>
                <a:gd name="T8" fmla="*/ 93 w 270"/>
                <a:gd name="T9" fmla="*/ 126 h 263"/>
                <a:gd name="T10" fmla="*/ 99 w 270"/>
                <a:gd name="T11" fmla="*/ 123 h 263"/>
                <a:gd name="T12" fmla="*/ 105 w 270"/>
                <a:gd name="T13" fmla="*/ 119 h 263"/>
                <a:gd name="T14" fmla="*/ 110 w 270"/>
                <a:gd name="T15" fmla="*/ 115 h 263"/>
                <a:gd name="T16" fmla="*/ 115 w 270"/>
                <a:gd name="T17" fmla="*/ 111 h 263"/>
                <a:gd name="T18" fmla="*/ 120 w 270"/>
                <a:gd name="T19" fmla="*/ 106 h 263"/>
                <a:gd name="T20" fmla="*/ 124 w 270"/>
                <a:gd name="T21" fmla="*/ 101 h 263"/>
                <a:gd name="T22" fmla="*/ 127 w 270"/>
                <a:gd name="T23" fmla="*/ 96 h 263"/>
                <a:gd name="T24" fmla="*/ 130 w 270"/>
                <a:gd name="T25" fmla="*/ 90 h 263"/>
                <a:gd name="T26" fmla="*/ 132 w 270"/>
                <a:gd name="T27" fmla="*/ 84 h 263"/>
                <a:gd name="T28" fmla="*/ 134 w 270"/>
                <a:gd name="T29" fmla="*/ 78 h 263"/>
                <a:gd name="T30" fmla="*/ 134 w 270"/>
                <a:gd name="T31" fmla="*/ 72 h 263"/>
                <a:gd name="T32" fmla="*/ 135 w 270"/>
                <a:gd name="T33" fmla="*/ 65 h 263"/>
                <a:gd name="T34" fmla="*/ 134 w 270"/>
                <a:gd name="T35" fmla="*/ 59 h 263"/>
                <a:gd name="T36" fmla="*/ 134 w 270"/>
                <a:gd name="T37" fmla="*/ 53 h 263"/>
                <a:gd name="T38" fmla="*/ 132 w 270"/>
                <a:gd name="T39" fmla="*/ 46 h 263"/>
                <a:gd name="T40" fmla="*/ 130 w 270"/>
                <a:gd name="T41" fmla="*/ 41 h 263"/>
                <a:gd name="T42" fmla="*/ 127 w 270"/>
                <a:gd name="T43" fmla="*/ 35 h 263"/>
                <a:gd name="T44" fmla="*/ 124 w 270"/>
                <a:gd name="T45" fmla="*/ 30 h 263"/>
                <a:gd name="T46" fmla="*/ 120 w 270"/>
                <a:gd name="T47" fmla="*/ 24 h 263"/>
                <a:gd name="T48" fmla="*/ 115 w 270"/>
                <a:gd name="T49" fmla="*/ 20 h 263"/>
                <a:gd name="T50" fmla="*/ 110 w 270"/>
                <a:gd name="T51" fmla="*/ 15 h 263"/>
                <a:gd name="T52" fmla="*/ 105 w 270"/>
                <a:gd name="T53" fmla="*/ 11 h 263"/>
                <a:gd name="T54" fmla="*/ 99 w 270"/>
                <a:gd name="T55" fmla="*/ 8 h 263"/>
                <a:gd name="T56" fmla="*/ 93 w 270"/>
                <a:gd name="T57" fmla="*/ 5 h 263"/>
                <a:gd name="T58" fmla="*/ 87 w 270"/>
                <a:gd name="T59" fmla="*/ 2 h 263"/>
                <a:gd name="T60" fmla="*/ 80 w 270"/>
                <a:gd name="T61" fmla="*/ 1 h 263"/>
                <a:gd name="T62" fmla="*/ 74 w 270"/>
                <a:gd name="T63" fmla="*/ 0 h 263"/>
                <a:gd name="T64" fmla="*/ 68 w 270"/>
                <a:gd name="T65" fmla="*/ 0 h 263"/>
                <a:gd name="T66" fmla="*/ 53 w 270"/>
                <a:gd name="T67" fmla="*/ 1 h 263"/>
                <a:gd name="T68" fmla="*/ 41 w 270"/>
                <a:gd name="T69" fmla="*/ 5 h 263"/>
                <a:gd name="T70" fmla="*/ 29 w 270"/>
                <a:gd name="T71" fmla="*/ 11 h 263"/>
                <a:gd name="T72" fmla="*/ 19 w 270"/>
                <a:gd name="T73" fmla="*/ 19 h 263"/>
                <a:gd name="T74" fmla="*/ 11 w 270"/>
                <a:gd name="T75" fmla="*/ 28 h 263"/>
                <a:gd name="T76" fmla="*/ 5 w 270"/>
                <a:gd name="T77" fmla="*/ 40 h 263"/>
                <a:gd name="T78" fmla="*/ 1 w 270"/>
                <a:gd name="T79" fmla="*/ 52 h 263"/>
                <a:gd name="T80" fmla="*/ 0 w 270"/>
                <a:gd name="T81" fmla="*/ 65 h 263"/>
                <a:gd name="T82" fmla="*/ 1 w 270"/>
                <a:gd name="T83" fmla="*/ 72 h 263"/>
                <a:gd name="T84" fmla="*/ 1 w 270"/>
                <a:gd name="T85" fmla="*/ 78 h 263"/>
                <a:gd name="T86" fmla="*/ 3 w 270"/>
                <a:gd name="T87" fmla="*/ 84 h 263"/>
                <a:gd name="T88" fmla="*/ 5 w 270"/>
                <a:gd name="T89" fmla="*/ 90 h 263"/>
                <a:gd name="T90" fmla="*/ 7 w 270"/>
                <a:gd name="T91" fmla="*/ 96 h 263"/>
                <a:gd name="T92" fmla="*/ 11 w 270"/>
                <a:gd name="T93" fmla="*/ 101 h 263"/>
                <a:gd name="T94" fmla="*/ 15 w 270"/>
                <a:gd name="T95" fmla="*/ 106 h 263"/>
                <a:gd name="T96" fmla="*/ 19 w 270"/>
                <a:gd name="T97" fmla="*/ 111 h 263"/>
                <a:gd name="T98" fmla="*/ 24 w 270"/>
                <a:gd name="T99" fmla="*/ 115 h 263"/>
                <a:gd name="T100" fmla="*/ 29 w 270"/>
                <a:gd name="T101" fmla="*/ 119 h 263"/>
                <a:gd name="T102" fmla="*/ 35 w 270"/>
                <a:gd name="T103" fmla="*/ 123 h 263"/>
                <a:gd name="T104" fmla="*/ 41 w 270"/>
                <a:gd name="T105" fmla="*/ 126 h 263"/>
                <a:gd name="T106" fmla="*/ 47 w 270"/>
                <a:gd name="T107" fmla="*/ 128 h 263"/>
                <a:gd name="T108" fmla="*/ 53 w 270"/>
                <a:gd name="T109" fmla="*/ 130 h 263"/>
                <a:gd name="T110" fmla="*/ 60 w 270"/>
                <a:gd name="T111" fmla="*/ 130 h 263"/>
                <a:gd name="T112" fmla="*/ 68 w 270"/>
                <a:gd name="T113" fmla="*/ 131 h 26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0"/>
                <a:gd name="T172" fmla="*/ 0 h 263"/>
                <a:gd name="T173" fmla="*/ 270 w 270"/>
                <a:gd name="T174" fmla="*/ 263 h 26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0" h="263">
                  <a:moveTo>
                    <a:pt x="135" y="263"/>
                  </a:moveTo>
                  <a:lnTo>
                    <a:pt x="149" y="261"/>
                  </a:lnTo>
                  <a:lnTo>
                    <a:pt x="161" y="260"/>
                  </a:lnTo>
                  <a:lnTo>
                    <a:pt x="175" y="257"/>
                  </a:lnTo>
                  <a:lnTo>
                    <a:pt x="187" y="252"/>
                  </a:lnTo>
                  <a:lnTo>
                    <a:pt x="199" y="246"/>
                  </a:lnTo>
                  <a:lnTo>
                    <a:pt x="211" y="239"/>
                  </a:lnTo>
                  <a:lnTo>
                    <a:pt x="221" y="231"/>
                  </a:lnTo>
                  <a:lnTo>
                    <a:pt x="231" y="222"/>
                  </a:lnTo>
                  <a:lnTo>
                    <a:pt x="240" y="213"/>
                  </a:lnTo>
                  <a:lnTo>
                    <a:pt x="248" y="203"/>
                  </a:lnTo>
                  <a:lnTo>
                    <a:pt x="255" y="192"/>
                  </a:lnTo>
                  <a:lnTo>
                    <a:pt x="259" y="181"/>
                  </a:lnTo>
                  <a:lnTo>
                    <a:pt x="264" y="169"/>
                  </a:lnTo>
                  <a:lnTo>
                    <a:pt x="267" y="156"/>
                  </a:lnTo>
                  <a:lnTo>
                    <a:pt x="268" y="144"/>
                  </a:lnTo>
                  <a:lnTo>
                    <a:pt x="270" y="131"/>
                  </a:lnTo>
                  <a:lnTo>
                    <a:pt x="268" y="118"/>
                  </a:lnTo>
                  <a:lnTo>
                    <a:pt x="267" y="106"/>
                  </a:lnTo>
                  <a:lnTo>
                    <a:pt x="264" y="93"/>
                  </a:lnTo>
                  <a:lnTo>
                    <a:pt x="259" y="82"/>
                  </a:lnTo>
                  <a:lnTo>
                    <a:pt x="255" y="70"/>
                  </a:lnTo>
                  <a:lnTo>
                    <a:pt x="248" y="60"/>
                  </a:lnTo>
                  <a:lnTo>
                    <a:pt x="240" y="49"/>
                  </a:lnTo>
                  <a:lnTo>
                    <a:pt x="231" y="40"/>
                  </a:lnTo>
                  <a:lnTo>
                    <a:pt x="221" y="31"/>
                  </a:lnTo>
                  <a:lnTo>
                    <a:pt x="211" y="23"/>
                  </a:lnTo>
                  <a:lnTo>
                    <a:pt x="199" y="16"/>
                  </a:lnTo>
                  <a:lnTo>
                    <a:pt x="187" y="10"/>
                  </a:lnTo>
                  <a:lnTo>
                    <a:pt x="175" y="5"/>
                  </a:lnTo>
                  <a:lnTo>
                    <a:pt x="161" y="2"/>
                  </a:lnTo>
                  <a:lnTo>
                    <a:pt x="149" y="1"/>
                  </a:lnTo>
                  <a:lnTo>
                    <a:pt x="135" y="0"/>
                  </a:lnTo>
                  <a:lnTo>
                    <a:pt x="107" y="2"/>
                  </a:lnTo>
                  <a:lnTo>
                    <a:pt x="82" y="10"/>
                  </a:lnTo>
                  <a:lnTo>
                    <a:pt x="59" y="22"/>
                  </a:lnTo>
                  <a:lnTo>
                    <a:pt x="39" y="38"/>
                  </a:lnTo>
                  <a:lnTo>
                    <a:pt x="23" y="57"/>
                  </a:lnTo>
                  <a:lnTo>
                    <a:pt x="10" y="80"/>
                  </a:lnTo>
                  <a:lnTo>
                    <a:pt x="2" y="105"/>
                  </a:lnTo>
                  <a:lnTo>
                    <a:pt x="0" y="131"/>
                  </a:lnTo>
                  <a:lnTo>
                    <a:pt x="1" y="144"/>
                  </a:lnTo>
                  <a:lnTo>
                    <a:pt x="2" y="156"/>
                  </a:lnTo>
                  <a:lnTo>
                    <a:pt x="6" y="169"/>
                  </a:lnTo>
                  <a:lnTo>
                    <a:pt x="10" y="181"/>
                  </a:lnTo>
                  <a:lnTo>
                    <a:pt x="15" y="192"/>
                  </a:lnTo>
                  <a:lnTo>
                    <a:pt x="22" y="203"/>
                  </a:lnTo>
                  <a:lnTo>
                    <a:pt x="30" y="213"/>
                  </a:lnTo>
                  <a:lnTo>
                    <a:pt x="38" y="222"/>
                  </a:lnTo>
                  <a:lnTo>
                    <a:pt x="48" y="231"/>
                  </a:lnTo>
                  <a:lnTo>
                    <a:pt x="59" y="239"/>
                  </a:lnTo>
                  <a:lnTo>
                    <a:pt x="70" y="246"/>
                  </a:lnTo>
                  <a:lnTo>
                    <a:pt x="82" y="252"/>
                  </a:lnTo>
                  <a:lnTo>
                    <a:pt x="94" y="257"/>
                  </a:lnTo>
                  <a:lnTo>
                    <a:pt x="107" y="260"/>
                  </a:lnTo>
                  <a:lnTo>
                    <a:pt x="121" y="261"/>
                  </a:lnTo>
                  <a:lnTo>
                    <a:pt x="135" y="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Freeform 562"/>
            <p:cNvSpPr>
              <a:spLocks/>
            </p:cNvSpPr>
            <p:nvPr/>
          </p:nvSpPr>
          <p:spPr bwMode="auto">
            <a:xfrm>
              <a:off x="4448" y="2824"/>
              <a:ext cx="84" cy="81"/>
            </a:xfrm>
            <a:custGeom>
              <a:avLst/>
              <a:gdLst>
                <a:gd name="T0" fmla="*/ 0 w 168"/>
                <a:gd name="T1" fmla="*/ 41 h 162"/>
                <a:gd name="T2" fmla="*/ 1 w 168"/>
                <a:gd name="T3" fmla="*/ 33 h 162"/>
                <a:gd name="T4" fmla="*/ 3 w 168"/>
                <a:gd name="T5" fmla="*/ 25 h 162"/>
                <a:gd name="T6" fmla="*/ 6 w 168"/>
                <a:gd name="T7" fmla="*/ 19 h 162"/>
                <a:gd name="T8" fmla="*/ 11 w 168"/>
                <a:gd name="T9" fmla="*/ 13 h 162"/>
                <a:gd name="T10" fmla="*/ 14 w 168"/>
                <a:gd name="T11" fmla="*/ 10 h 162"/>
                <a:gd name="T12" fmla="*/ 18 w 168"/>
                <a:gd name="T13" fmla="*/ 7 h 162"/>
                <a:gd name="T14" fmla="*/ 21 w 168"/>
                <a:gd name="T15" fmla="*/ 5 h 162"/>
                <a:gd name="T16" fmla="*/ 25 w 168"/>
                <a:gd name="T17" fmla="*/ 3 h 162"/>
                <a:gd name="T18" fmla="*/ 29 w 168"/>
                <a:gd name="T19" fmla="*/ 2 h 162"/>
                <a:gd name="T20" fmla="*/ 33 w 168"/>
                <a:gd name="T21" fmla="*/ 1 h 162"/>
                <a:gd name="T22" fmla="*/ 38 w 168"/>
                <a:gd name="T23" fmla="*/ 0 h 162"/>
                <a:gd name="T24" fmla="*/ 42 w 168"/>
                <a:gd name="T25" fmla="*/ 0 h 162"/>
                <a:gd name="T26" fmla="*/ 46 w 168"/>
                <a:gd name="T27" fmla="*/ 0 h 162"/>
                <a:gd name="T28" fmla="*/ 50 w 168"/>
                <a:gd name="T29" fmla="*/ 1 h 162"/>
                <a:gd name="T30" fmla="*/ 54 w 168"/>
                <a:gd name="T31" fmla="*/ 2 h 162"/>
                <a:gd name="T32" fmla="*/ 58 w 168"/>
                <a:gd name="T33" fmla="*/ 3 h 162"/>
                <a:gd name="T34" fmla="*/ 62 w 168"/>
                <a:gd name="T35" fmla="*/ 5 h 162"/>
                <a:gd name="T36" fmla="*/ 66 w 168"/>
                <a:gd name="T37" fmla="*/ 7 h 162"/>
                <a:gd name="T38" fmla="*/ 69 w 168"/>
                <a:gd name="T39" fmla="*/ 10 h 162"/>
                <a:gd name="T40" fmla="*/ 72 w 168"/>
                <a:gd name="T41" fmla="*/ 13 h 162"/>
                <a:gd name="T42" fmla="*/ 77 w 168"/>
                <a:gd name="T43" fmla="*/ 19 h 162"/>
                <a:gd name="T44" fmla="*/ 81 w 168"/>
                <a:gd name="T45" fmla="*/ 25 h 162"/>
                <a:gd name="T46" fmla="*/ 84 w 168"/>
                <a:gd name="T47" fmla="*/ 33 h 162"/>
                <a:gd name="T48" fmla="*/ 84 w 168"/>
                <a:gd name="T49" fmla="*/ 41 h 162"/>
                <a:gd name="T50" fmla="*/ 84 w 168"/>
                <a:gd name="T51" fmla="*/ 48 h 162"/>
                <a:gd name="T52" fmla="*/ 81 w 168"/>
                <a:gd name="T53" fmla="*/ 56 h 162"/>
                <a:gd name="T54" fmla="*/ 77 w 168"/>
                <a:gd name="T55" fmla="*/ 63 h 162"/>
                <a:gd name="T56" fmla="*/ 72 w 168"/>
                <a:gd name="T57" fmla="*/ 69 h 162"/>
                <a:gd name="T58" fmla="*/ 66 w 168"/>
                <a:gd name="T59" fmla="*/ 74 h 162"/>
                <a:gd name="T60" fmla="*/ 58 w 168"/>
                <a:gd name="T61" fmla="*/ 78 h 162"/>
                <a:gd name="T62" fmla="*/ 50 w 168"/>
                <a:gd name="T63" fmla="*/ 81 h 162"/>
                <a:gd name="T64" fmla="*/ 42 w 168"/>
                <a:gd name="T65" fmla="*/ 81 h 162"/>
                <a:gd name="T66" fmla="*/ 38 w 168"/>
                <a:gd name="T67" fmla="*/ 81 h 162"/>
                <a:gd name="T68" fmla="*/ 33 w 168"/>
                <a:gd name="T69" fmla="*/ 81 h 162"/>
                <a:gd name="T70" fmla="*/ 29 w 168"/>
                <a:gd name="T71" fmla="*/ 79 h 162"/>
                <a:gd name="T72" fmla="*/ 25 w 168"/>
                <a:gd name="T73" fmla="*/ 78 h 162"/>
                <a:gd name="T74" fmla="*/ 21 w 168"/>
                <a:gd name="T75" fmla="*/ 76 h 162"/>
                <a:gd name="T76" fmla="*/ 18 w 168"/>
                <a:gd name="T77" fmla="*/ 74 h 162"/>
                <a:gd name="T78" fmla="*/ 14 w 168"/>
                <a:gd name="T79" fmla="*/ 71 h 162"/>
                <a:gd name="T80" fmla="*/ 11 w 168"/>
                <a:gd name="T81" fmla="*/ 68 h 162"/>
                <a:gd name="T82" fmla="*/ 6 w 168"/>
                <a:gd name="T83" fmla="*/ 62 h 162"/>
                <a:gd name="T84" fmla="*/ 3 w 168"/>
                <a:gd name="T85" fmla="*/ 55 h 162"/>
                <a:gd name="T86" fmla="*/ 1 w 168"/>
                <a:gd name="T87" fmla="*/ 48 h 162"/>
                <a:gd name="T88" fmla="*/ 0 w 168"/>
                <a:gd name="T89" fmla="*/ 41 h 16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8"/>
                <a:gd name="T136" fmla="*/ 0 h 162"/>
                <a:gd name="T137" fmla="*/ 168 w 168"/>
                <a:gd name="T138" fmla="*/ 162 h 16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8" h="162">
                  <a:moveTo>
                    <a:pt x="0" y="81"/>
                  </a:moveTo>
                  <a:lnTo>
                    <a:pt x="1" y="66"/>
                  </a:lnTo>
                  <a:lnTo>
                    <a:pt x="5" y="51"/>
                  </a:lnTo>
                  <a:lnTo>
                    <a:pt x="12" y="37"/>
                  </a:lnTo>
                  <a:lnTo>
                    <a:pt x="23" y="26"/>
                  </a:lnTo>
                  <a:lnTo>
                    <a:pt x="28" y="20"/>
                  </a:lnTo>
                  <a:lnTo>
                    <a:pt x="35" y="15"/>
                  </a:lnTo>
                  <a:lnTo>
                    <a:pt x="43" y="11"/>
                  </a:lnTo>
                  <a:lnTo>
                    <a:pt x="50" y="7"/>
                  </a:lnTo>
                  <a:lnTo>
                    <a:pt x="58" y="4"/>
                  </a:lnTo>
                  <a:lnTo>
                    <a:pt x="66" y="2"/>
                  </a:lnTo>
                  <a:lnTo>
                    <a:pt x="76" y="0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1" y="2"/>
                  </a:lnTo>
                  <a:lnTo>
                    <a:pt x="109" y="4"/>
                  </a:lnTo>
                  <a:lnTo>
                    <a:pt x="117" y="7"/>
                  </a:lnTo>
                  <a:lnTo>
                    <a:pt x="124" y="11"/>
                  </a:lnTo>
                  <a:lnTo>
                    <a:pt x="131" y="15"/>
                  </a:lnTo>
                  <a:lnTo>
                    <a:pt x="138" y="20"/>
                  </a:lnTo>
                  <a:lnTo>
                    <a:pt x="144" y="26"/>
                  </a:lnTo>
                  <a:lnTo>
                    <a:pt x="154" y="37"/>
                  </a:lnTo>
                  <a:lnTo>
                    <a:pt x="161" y="51"/>
                  </a:lnTo>
                  <a:lnTo>
                    <a:pt x="167" y="66"/>
                  </a:lnTo>
                  <a:lnTo>
                    <a:pt x="168" y="81"/>
                  </a:lnTo>
                  <a:lnTo>
                    <a:pt x="167" y="97"/>
                  </a:lnTo>
                  <a:lnTo>
                    <a:pt x="161" y="112"/>
                  </a:lnTo>
                  <a:lnTo>
                    <a:pt x="153" y="126"/>
                  </a:lnTo>
                  <a:lnTo>
                    <a:pt x="144" y="138"/>
                  </a:lnTo>
                  <a:lnTo>
                    <a:pt x="131" y="148"/>
                  </a:lnTo>
                  <a:lnTo>
                    <a:pt x="116" y="155"/>
                  </a:lnTo>
                  <a:lnTo>
                    <a:pt x="101" y="161"/>
                  </a:lnTo>
                  <a:lnTo>
                    <a:pt x="84" y="162"/>
                  </a:lnTo>
                  <a:lnTo>
                    <a:pt x="76" y="162"/>
                  </a:lnTo>
                  <a:lnTo>
                    <a:pt x="66" y="161"/>
                  </a:lnTo>
                  <a:lnTo>
                    <a:pt x="58" y="158"/>
                  </a:lnTo>
                  <a:lnTo>
                    <a:pt x="50" y="155"/>
                  </a:lnTo>
                  <a:lnTo>
                    <a:pt x="43" y="151"/>
                  </a:lnTo>
                  <a:lnTo>
                    <a:pt x="35" y="147"/>
                  </a:lnTo>
                  <a:lnTo>
                    <a:pt x="28" y="142"/>
                  </a:lnTo>
                  <a:lnTo>
                    <a:pt x="23" y="136"/>
                  </a:lnTo>
                  <a:lnTo>
                    <a:pt x="12" y="125"/>
                  </a:lnTo>
                  <a:lnTo>
                    <a:pt x="5" y="111"/>
                  </a:lnTo>
                  <a:lnTo>
                    <a:pt x="1" y="96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3" name="Freeform 563"/>
            <p:cNvSpPr>
              <a:spLocks/>
            </p:cNvSpPr>
            <p:nvPr/>
          </p:nvSpPr>
          <p:spPr bwMode="auto">
            <a:xfrm>
              <a:off x="4468" y="2864"/>
              <a:ext cx="30" cy="30"/>
            </a:xfrm>
            <a:custGeom>
              <a:avLst/>
              <a:gdLst>
                <a:gd name="T0" fmla="*/ 15 w 60"/>
                <a:gd name="T1" fmla="*/ 0 h 60"/>
                <a:gd name="T2" fmla="*/ 9 w 60"/>
                <a:gd name="T3" fmla="*/ 1 h 60"/>
                <a:gd name="T4" fmla="*/ 5 w 60"/>
                <a:gd name="T5" fmla="*/ 4 h 60"/>
                <a:gd name="T6" fmla="*/ 1 w 60"/>
                <a:gd name="T7" fmla="*/ 9 h 60"/>
                <a:gd name="T8" fmla="*/ 0 w 60"/>
                <a:gd name="T9" fmla="*/ 15 h 60"/>
                <a:gd name="T10" fmla="*/ 1 w 60"/>
                <a:gd name="T11" fmla="*/ 21 h 60"/>
                <a:gd name="T12" fmla="*/ 5 w 60"/>
                <a:gd name="T13" fmla="*/ 26 h 60"/>
                <a:gd name="T14" fmla="*/ 9 w 60"/>
                <a:gd name="T15" fmla="*/ 29 h 60"/>
                <a:gd name="T16" fmla="*/ 15 w 60"/>
                <a:gd name="T17" fmla="*/ 30 h 60"/>
                <a:gd name="T18" fmla="*/ 21 w 60"/>
                <a:gd name="T19" fmla="*/ 29 h 60"/>
                <a:gd name="T20" fmla="*/ 25 w 60"/>
                <a:gd name="T21" fmla="*/ 26 h 60"/>
                <a:gd name="T22" fmla="*/ 29 w 60"/>
                <a:gd name="T23" fmla="*/ 21 h 60"/>
                <a:gd name="T24" fmla="*/ 30 w 60"/>
                <a:gd name="T25" fmla="*/ 15 h 60"/>
                <a:gd name="T26" fmla="*/ 29 w 60"/>
                <a:gd name="T27" fmla="*/ 9 h 60"/>
                <a:gd name="T28" fmla="*/ 25 w 60"/>
                <a:gd name="T29" fmla="*/ 4 h 60"/>
                <a:gd name="T30" fmla="*/ 21 w 60"/>
                <a:gd name="T31" fmla="*/ 1 h 60"/>
                <a:gd name="T32" fmla="*/ 15 w 60"/>
                <a:gd name="T33" fmla="*/ 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0"/>
                <a:gd name="T53" fmla="*/ 60 w 60"/>
                <a:gd name="T54" fmla="*/ 60 h 6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0">
                  <a:moveTo>
                    <a:pt x="30" y="0"/>
                  </a:moveTo>
                  <a:lnTo>
                    <a:pt x="18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1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30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7" y="41"/>
                  </a:lnTo>
                  <a:lnTo>
                    <a:pt x="60" y="30"/>
                  </a:lnTo>
                  <a:lnTo>
                    <a:pt x="57" y="18"/>
                  </a:lnTo>
                  <a:lnTo>
                    <a:pt x="50" y="8"/>
                  </a:lnTo>
                  <a:lnTo>
                    <a:pt x="41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4883" name="Picture 565" descr="j03028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24000"/>
            <a:ext cx="38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526" name="Picture 566" descr="j025234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28800"/>
            <a:ext cx="6858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527" name="Text Box 567"/>
          <p:cNvSpPr txBox="1">
            <a:spLocks noChangeArrowheads="1"/>
          </p:cNvSpPr>
          <p:nvPr/>
        </p:nvSpPr>
        <p:spPr bwMode="auto">
          <a:xfrm>
            <a:off x="4572000" y="16002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</a:rPr>
              <a:t>Phòng vé</a:t>
            </a:r>
            <a:endParaRPr lang="en-GB"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9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3" dur="5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7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1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5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9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1" dur="500"/>
                                        <p:tgtEl>
                                          <p:spTgt spid="3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5" dur="500"/>
                                        <p:tgtEl>
                                          <p:spTgt spid="3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9" dur="500"/>
                                        <p:tgtEl>
                                          <p:spTgt spid="3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3" dur="500"/>
                                        <p:tgtEl>
                                          <p:spTgt spid="3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7" dur="500"/>
                                        <p:tgtEl>
                                          <p:spTgt spid="3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1" dur="500"/>
                                        <p:tgtEl>
                                          <p:spTgt spid="3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3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1" dur="500"/>
                                        <p:tgtEl>
                                          <p:spTgt spid="3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5" dur="500"/>
                                        <p:tgtEl>
                                          <p:spTgt spid="3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9" dur="500"/>
                                        <p:tgtEl>
                                          <p:spTgt spid="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3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7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1" dur="5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5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9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43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47" dur="500"/>
                                        <p:tgtEl>
                                          <p:spTgt spid="3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4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1" dur="500"/>
                                        <p:tgtEl>
                                          <p:spTgt spid="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5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5" dur="500"/>
                                        <p:tgtEl>
                                          <p:spTgt spid="3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5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2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Queue –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GB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“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” (</a:t>
            </a:r>
            <a:r>
              <a:rPr lang="en-US" dirty="0">
                <a:solidFill>
                  <a:srgbClr val="FF0000"/>
                </a:solidFill>
              </a:rPr>
              <a:t>FIFO</a:t>
            </a:r>
            <a:r>
              <a:rPr lang="en-US" dirty="0"/>
              <a:t> - First In First Out)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5844" name="Line 4"/>
          <p:cNvSpPr>
            <a:spLocks noChangeShapeType="1"/>
          </p:cNvSpPr>
          <p:nvPr/>
        </p:nvSpPr>
        <p:spPr bwMode="auto">
          <a:xfrm>
            <a:off x="2514600" y="6324600"/>
            <a:ext cx="3733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2514600" y="5029200"/>
            <a:ext cx="3733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6248400" y="48768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6248400" y="63246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2514600" y="48768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2514600" y="63246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AutoShape 10"/>
          <p:cNvSpPr>
            <a:spLocks noChangeArrowheads="1"/>
          </p:cNvSpPr>
          <p:nvPr/>
        </p:nvSpPr>
        <p:spPr bwMode="auto">
          <a:xfrm rot="-5400000">
            <a:off x="54483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1" name="AutoShape 11"/>
          <p:cNvSpPr>
            <a:spLocks noChangeArrowheads="1"/>
          </p:cNvSpPr>
          <p:nvPr/>
        </p:nvSpPr>
        <p:spPr bwMode="auto">
          <a:xfrm rot="-5400000">
            <a:off x="49911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2" name="AutoShape 12"/>
          <p:cNvSpPr>
            <a:spLocks noChangeArrowheads="1"/>
          </p:cNvSpPr>
          <p:nvPr/>
        </p:nvSpPr>
        <p:spPr bwMode="auto">
          <a:xfrm rot="-5400000">
            <a:off x="45339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3" name="AutoShape 13"/>
          <p:cNvSpPr>
            <a:spLocks noChangeArrowheads="1"/>
          </p:cNvSpPr>
          <p:nvPr/>
        </p:nvSpPr>
        <p:spPr bwMode="auto">
          <a:xfrm rot="-5400000">
            <a:off x="40767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4" name="AutoShape 14"/>
          <p:cNvSpPr>
            <a:spLocks noChangeArrowheads="1"/>
          </p:cNvSpPr>
          <p:nvPr/>
        </p:nvSpPr>
        <p:spPr bwMode="auto">
          <a:xfrm rot="-5400000">
            <a:off x="36195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5" name="AutoShape 15"/>
          <p:cNvSpPr>
            <a:spLocks noChangeArrowheads="1"/>
          </p:cNvSpPr>
          <p:nvPr/>
        </p:nvSpPr>
        <p:spPr bwMode="auto">
          <a:xfrm rot="-5400000">
            <a:off x="31623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6" name="AutoShape 16"/>
          <p:cNvSpPr>
            <a:spLocks noChangeArrowheads="1"/>
          </p:cNvSpPr>
          <p:nvPr/>
        </p:nvSpPr>
        <p:spPr bwMode="auto">
          <a:xfrm rot="-5400000">
            <a:off x="27051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7" name="AutoShape 17"/>
          <p:cNvSpPr>
            <a:spLocks noChangeArrowheads="1"/>
          </p:cNvSpPr>
          <p:nvPr/>
        </p:nvSpPr>
        <p:spPr bwMode="auto">
          <a:xfrm rot="-5400000">
            <a:off x="2247900" y="5524500"/>
            <a:ext cx="1143000" cy="304800"/>
          </a:xfrm>
          <a:prstGeom prst="flowChartPredefined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8" name="AutoShape 18"/>
          <p:cNvSpPr>
            <a:spLocks noChangeArrowheads="1"/>
          </p:cNvSpPr>
          <p:nvPr/>
        </p:nvSpPr>
        <p:spPr bwMode="auto">
          <a:xfrm>
            <a:off x="1371600" y="5562600"/>
            <a:ext cx="1143000" cy="3810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5859" name="AutoShape 19"/>
          <p:cNvSpPr>
            <a:spLocks noChangeArrowheads="1"/>
          </p:cNvSpPr>
          <p:nvPr/>
        </p:nvSpPr>
        <p:spPr bwMode="auto">
          <a:xfrm>
            <a:off x="6324600" y="5562600"/>
            <a:ext cx="1143000" cy="3810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Queue –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GB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720849"/>
            <a:ext cx="7886700" cy="49085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i="1" u="sng" dirty="0">
                <a:solidFill>
                  <a:srgbClr val="FF9933"/>
                </a:solidFill>
              </a:rPr>
              <a:t>Constructor</a:t>
            </a:r>
            <a:r>
              <a:rPr lang="en-GB" sz="3200" dirty="0"/>
              <a:t>: </a:t>
            </a:r>
            <a:r>
              <a:rPr lang="en-GB" sz="3200" dirty="0" err="1"/>
              <a:t>khởi</a:t>
            </a:r>
            <a:r>
              <a:rPr lang="en-GB" sz="3200" dirty="0"/>
              <a:t> </a:t>
            </a:r>
            <a:r>
              <a:rPr lang="en-GB" sz="3200" dirty="0" err="1"/>
              <a:t>tạo</a:t>
            </a:r>
            <a:r>
              <a:rPr lang="en-GB" sz="3200" dirty="0"/>
              <a:t> </a:t>
            </a:r>
            <a:r>
              <a:rPr lang="en-GB" sz="3200" dirty="0" err="1"/>
              <a:t>hàng</a:t>
            </a:r>
            <a:r>
              <a:rPr lang="en-GB" sz="3200" dirty="0"/>
              <a:t> </a:t>
            </a:r>
            <a:r>
              <a:rPr lang="en-GB" sz="3200" dirty="0" err="1"/>
              <a:t>đợi</a:t>
            </a:r>
            <a:r>
              <a:rPr lang="en-GB" sz="3200" dirty="0"/>
              <a:t> </a:t>
            </a:r>
            <a:r>
              <a:rPr lang="en-GB" sz="3200" dirty="0" err="1"/>
              <a:t>rỗng</a:t>
            </a: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i="1" u="sng" dirty="0" err="1">
                <a:solidFill>
                  <a:srgbClr val="FF9933"/>
                </a:solidFill>
              </a:rPr>
              <a:t>IsEmpty</a:t>
            </a:r>
            <a:r>
              <a:rPr lang="en-GB" sz="3200" dirty="0"/>
              <a:t>: </a:t>
            </a:r>
            <a:r>
              <a:rPr lang="en-GB" sz="3200" dirty="0" err="1"/>
              <a:t>kiểm</a:t>
            </a:r>
            <a:r>
              <a:rPr lang="en-GB" sz="3200" dirty="0"/>
              <a:t> </a:t>
            </a:r>
            <a:r>
              <a:rPr lang="en-GB" sz="3200" dirty="0" err="1"/>
              <a:t>tra</a:t>
            </a:r>
            <a:r>
              <a:rPr lang="en-GB" sz="3200" dirty="0"/>
              <a:t> </a:t>
            </a:r>
            <a:r>
              <a:rPr lang="en-GB" sz="3200" dirty="0" err="1"/>
              <a:t>hàng</a:t>
            </a:r>
            <a:r>
              <a:rPr lang="en-GB" sz="3200" dirty="0"/>
              <a:t> </a:t>
            </a:r>
            <a:r>
              <a:rPr lang="en-GB" sz="3200" dirty="0" err="1"/>
              <a:t>đợi</a:t>
            </a:r>
            <a:r>
              <a:rPr lang="en-GB" sz="3200" dirty="0"/>
              <a:t> </a:t>
            </a:r>
            <a:r>
              <a:rPr lang="en-GB" sz="3200" dirty="0" err="1"/>
              <a:t>rỗng</a:t>
            </a:r>
            <a:r>
              <a:rPr lang="en-GB" sz="3200" dirty="0"/>
              <a:t>?</a:t>
            </a:r>
          </a:p>
          <a:p>
            <a:pPr>
              <a:lnSpc>
                <a:spcPct val="90000"/>
              </a:lnSpc>
            </a:pPr>
            <a:r>
              <a:rPr lang="en-GB" sz="3200" i="1" u="sng" dirty="0" err="1">
                <a:solidFill>
                  <a:srgbClr val="FF9933"/>
                </a:solidFill>
              </a:rPr>
              <a:t>IsFull</a:t>
            </a:r>
            <a:r>
              <a:rPr lang="en-GB" sz="3200" dirty="0"/>
              <a:t>: </a:t>
            </a:r>
            <a:r>
              <a:rPr lang="en-GB" sz="3200" dirty="0" err="1"/>
              <a:t>kiểm</a:t>
            </a:r>
            <a:r>
              <a:rPr lang="en-GB" sz="3200" dirty="0"/>
              <a:t> </a:t>
            </a:r>
            <a:r>
              <a:rPr lang="en-GB" sz="3200" dirty="0" err="1"/>
              <a:t>tra</a:t>
            </a:r>
            <a:r>
              <a:rPr lang="en-GB" sz="3200" dirty="0"/>
              <a:t> </a:t>
            </a:r>
            <a:r>
              <a:rPr lang="en-GB" sz="3200" dirty="0" err="1"/>
              <a:t>hàng</a:t>
            </a:r>
            <a:r>
              <a:rPr lang="en-GB" sz="3200" dirty="0"/>
              <a:t> </a:t>
            </a:r>
            <a:r>
              <a:rPr lang="en-GB" sz="3200" dirty="0" err="1"/>
              <a:t>đợi</a:t>
            </a:r>
            <a:r>
              <a:rPr lang="en-GB" sz="3200" dirty="0"/>
              <a:t> </a:t>
            </a:r>
            <a:r>
              <a:rPr lang="en-GB" sz="3200" dirty="0" err="1"/>
              <a:t>đầy</a:t>
            </a:r>
            <a:r>
              <a:rPr lang="en-GB" sz="3200" dirty="0"/>
              <a:t>?</a:t>
            </a:r>
          </a:p>
          <a:p>
            <a:pPr>
              <a:lnSpc>
                <a:spcPct val="90000"/>
              </a:lnSpc>
            </a:pPr>
            <a:r>
              <a:rPr lang="en-GB" sz="3200" i="1" u="sng" dirty="0" err="1">
                <a:solidFill>
                  <a:srgbClr val="FF9933"/>
                </a:solidFill>
              </a:rPr>
              <a:t>EnQueue</a:t>
            </a:r>
            <a:r>
              <a:rPr lang="en-GB" sz="3200" dirty="0"/>
              <a:t>: </a:t>
            </a:r>
            <a:r>
              <a:rPr lang="en-GB" sz="3200" dirty="0" err="1"/>
              <a:t>thêm</a:t>
            </a:r>
            <a:r>
              <a:rPr lang="en-GB" sz="3200" dirty="0"/>
              <a:t> 1 </a:t>
            </a:r>
            <a:r>
              <a:rPr lang="en-GB" sz="3200" dirty="0" err="1"/>
              <a:t>phần</a:t>
            </a:r>
            <a:r>
              <a:rPr lang="en-GB" sz="3200" dirty="0"/>
              <a:t> </a:t>
            </a:r>
            <a:r>
              <a:rPr lang="en-GB" sz="3200" dirty="0" err="1"/>
              <a:t>tử</a:t>
            </a:r>
            <a:r>
              <a:rPr lang="en-GB" sz="3200" dirty="0"/>
              <a:t> </a:t>
            </a:r>
            <a:r>
              <a:rPr lang="en-GB" sz="3200" dirty="0" err="1"/>
              <a:t>vào</a:t>
            </a:r>
            <a:r>
              <a:rPr lang="en-GB" sz="3200" dirty="0"/>
              <a:t> </a:t>
            </a:r>
            <a:r>
              <a:rPr lang="en-GB" sz="3200" dirty="0" err="1"/>
              <a:t>cuối</a:t>
            </a:r>
            <a:r>
              <a:rPr lang="en-GB" sz="3200" dirty="0"/>
              <a:t> </a:t>
            </a:r>
            <a:r>
              <a:rPr lang="en-GB" sz="3200" dirty="0" err="1"/>
              <a:t>hàng</a:t>
            </a:r>
            <a:r>
              <a:rPr lang="en-GB" sz="3200" dirty="0"/>
              <a:t> </a:t>
            </a:r>
            <a:r>
              <a:rPr lang="en-GB" sz="3200" dirty="0" err="1"/>
              <a:t>đợi</a:t>
            </a:r>
            <a:r>
              <a:rPr lang="en-GB" sz="3200" dirty="0"/>
              <a:t>, </a:t>
            </a:r>
            <a:r>
              <a:rPr lang="en-GB" sz="3200" dirty="0" err="1"/>
              <a:t>có</a:t>
            </a:r>
            <a:r>
              <a:rPr lang="en-GB" sz="3200" dirty="0"/>
              <a:t> </a:t>
            </a:r>
            <a:r>
              <a:rPr lang="en-GB" sz="3200" dirty="0" err="1"/>
              <a:t>thể</a:t>
            </a:r>
            <a:r>
              <a:rPr lang="en-GB" sz="3200" dirty="0"/>
              <a:t> </a:t>
            </a:r>
            <a:r>
              <a:rPr lang="en-GB" sz="3200" dirty="0" err="1"/>
              <a:t>làm</a:t>
            </a:r>
            <a:r>
              <a:rPr lang="en-GB" sz="3200" dirty="0"/>
              <a:t> </a:t>
            </a:r>
            <a:r>
              <a:rPr lang="en-GB" sz="3200" dirty="0" err="1"/>
              <a:t>hàng</a:t>
            </a:r>
            <a:r>
              <a:rPr lang="en-GB" sz="3200" dirty="0"/>
              <a:t> </a:t>
            </a:r>
            <a:r>
              <a:rPr lang="en-GB" sz="3200" dirty="0" err="1"/>
              <a:t>đợi</a:t>
            </a:r>
            <a:r>
              <a:rPr lang="en-GB" sz="3200" dirty="0"/>
              <a:t> </a:t>
            </a:r>
            <a:r>
              <a:rPr lang="en-GB" sz="3200" dirty="0" err="1"/>
              <a:t>đầy</a:t>
            </a: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i="1" u="sng" dirty="0" err="1">
                <a:solidFill>
                  <a:srgbClr val="FF9933"/>
                </a:solidFill>
              </a:rPr>
              <a:t>DeQueue</a:t>
            </a:r>
            <a:r>
              <a:rPr lang="en-GB" sz="3200" dirty="0"/>
              <a:t>: </a:t>
            </a:r>
            <a:r>
              <a:rPr lang="en-GB" sz="3200" dirty="0" err="1"/>
              <a:t>lấy</a:t>
            </a:r>
            <a:r>
              <a:rPr lang="en-GB" sz="3200" dirty="0"/>
              <a:t> </a:t>
            </a:r>
            <a:r>
              <a:rPr lang="en-GB" sz="3200" dirty="0" err="1"/>
              <a:t>ra</a:t>
            </a:r>
            <a:r>
              <a:rPr lang="en-GB" sz="3200" dirty="0"/>
              <a:t> 1 </a:t>
            </a:r>
            <a:r>
              <a:rPr lang="en-GB" sz="3200" dirty="0" err="1"/>
              <a:t>phần</a:t>
            </a:r>
            <a:r>
              <a:rPr lang="en-GB" sz="3200" dirty="0"/>
              <a:t> </a:t>
            </a:r>
            <a:r>
              <a:rPr lang="en-GB" sz="3200" dirty="0" err="1"/>
              <a:t>tử</a:t>
            </a:r>
            <a:r>
              <a:rPr lang="en-GB" sz="3200" dirty="0"/>
              <a:t> </a:t>
            </a:r>
            <a:r>
              <a:rPr lang="en-GB" sz="3200" dirty="0" err="1"/>
              <a:t>từ</a:t>
            </a:r>
            <a:r>
              <a:rPr lang="en-GB" sz="3200" dirty="0"/>
              <a:t> </a:t>
            </a:r>
            <a:r>
              <a:rPr lang="en-GB" sz="3200" dirty="0" err="1"/>
              <a:t>đầu</a:t>
            </a:r>
            <a:r>
              <a:rPr lang="en-GB" sz="3200" dirty="0"/>
              <a:t> Queue, </a:t>
            </a:r>
            <a:r>
              <a:rPr lang="en-GB" sz="3200" dirty="0" err="1"/>
              <a:t>có</a:t>
            </a:r>
            <a:r>
              <a:rPr lang="en-GB" sz="3200" dirty="0"/>
              <a:t> </a:t>
            </a:r>
            <a:r>
              <a:rPr lang="en-GB" sz="3200" dirty="0" err="1"/>
              <a:t>thể</a:t>
            </a:r>
            <a:r>
              <a:rPr lang="en-GB" sz="3200" dirty="0"/>
              <a:t> </a:t>
            </a:r>
            <a:r>
              <a:rPr lang="en-GB" sz="3200" dirty="0" err="1"/>
              <a:t>làm</a:t>
            </a:r>
            <a:r>
              <a:rPr lang="en-GB" sz="3200" dirty="0"/>
              <a:t> Queue </a:t>
            </a:r>
            <a:r>
              <a:rPr lang="en-GB" sz="3200" dirty="0" err="1"/>
              <a:t>rỗng</a:t>
            </a: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i="1" u="sng" dirty="0">
                <a:solidFill>
                  <a:srgbClr val="FF9933"/>
                </a:solidFill>
              </a:rPr>
              <a:t>Top</a:t>
            </a:r>
            <a:r>
              <a:rPr lang="en-GB" sz="3200" dirty="0"/>
              <a:t>: </a:t>
            </a:r>
            <a:r>
              <a:rPr lang="en-GB" sz="3200" dirty="0" err="1"/>
              <a:t>xem</a:t>
            </a:r>
            <a:r>
              <a:rPr lang="en-GB" sz="3200" dirty="0"/>
              <a:t> </a:t>
            </a:r>
            <a:r>
              <a:rPr lang="en-GB" sz="3200" dirty="0" err="1"/>
              <a:t>phần</a:t>
            </a:r>
            <a:r>
              <a:rPr lang="en-GB" sz="3200" dirty="0"/>
              <a:t> </a:t>
            </a:r>
            <a:r>
              <a:rPr lang="en-GB" sz="3200" dirty="0" err="1"/>
              <a:t>tử</a:t>
            </a:r>
            <a:r>
              <a:rPr lang="en-GB" sz="3200" dirty="0"/>
              <a:t> </a:t>
            </a:r>
            <a:r>
              <a:rPr lang="en-GB" sz="3200" dirty="0" err="1"/>
              <a:t>đầu</a:t>
            </a:r>
            <a:r>
              <a:rPr lang="en-GB" sz="3200" dirty="0"/>
              <a:t> Queue</a:t>
            </a:r>
          </a:p>
          <a:p>
            <a:pPr>
              <a:lnSpc>
                <a:spcPct val="90000"/>
              </a:lnSpc>
            </a:pPr>
            <a:r>
              <a:rPr lang="en-GB" sz="3200" i="1" u="sng" dirty="0">
                <a:solidFill>
                  <a:srgbClr val="FF9933"/>
                </a:solidFill>
              </a:rPr>
              <a:t>Last</a:t>
            </a:r>
            <a:r>
              <a:rPr lang="en-GB" sz="3200" dirty="0"/>
              <a:t>: </a:t>
            </a:r>
            <a:r>
              <a:rPr lang="en-GB" sz="3200" dirty="0" err="1"/>
              <a:t>xem</a:t>
            </a:r>
            <a:r>
              <a:rPr lang="en-GB" sz="3200" dirty="0"/>
              <a:t> </a:t>
            </a:r>
            <a:r>
              <a:rPr lang="en-GB" sz="3200" dirty="0" err="1"/>
              <a:t>phần</a:t>
            </a:r>
            <a:r>
              <a:rPr lang="en-GB" sz="3200" dirty="0"/>
              <a:t> </a:t>
            </a:r>
            <a:r>
              <a:rPr lang="en-GB" sz="3200" dirty="0" err="1"/>
              <a:t>tử</a:t>
            </a:r>
            <a:r>
              <a:rPr lang="en-GB" sz="3200" dirty="0"/>
              <a:t> </a:t>
            </a:r>
            <a:r>
              <a:rPr lang="en-GB" sz="3200" dirty="0" err="1"/>
              <a:t>cuối</a:t>
            </a:r>
            <a:r>
              <a:rPr lang="en-GB" sz="3200" dirty="0"/>
              <a:t> Queue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Queue</a:t>
            </a:r>
            <a:endParaRPr lang="en-GB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47800"/>
            <a:ext cx="7886700" cy="4729163"/>
          </a:xfrm>
        </p:spPr>
        <p:txBody>
          <a:bodyPr/>
          <a:lstStyle/>
          <a:p>
            <a:pPr eaLnBrk="1" hangingPunct="1"/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EnQueue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DeQueue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2438400" y="4038600"/>
            <a:ext cx="3733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2438400" y="2743200"/>
            <a:ext cx="3733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>
            <a:off x="6172200" y="25908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6172200" y="40386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2438400" y="25908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2438400" y="40386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048000" y="2819400"/>
            <a:ext cx="3048000" cy="1143000"/>
            <a:chOff x="1968" y="2160"/>
            <a:chExt cx="1920" cy="720"/>
          </a:xfrm>
        </p:grpSpPr>
        <p:sp>
          <p:nvSpPr>
            <p:cNvPr id="37921" name="AutoShape 10"/>
            <p:cNvSpPr>
              <a:spLocks noChangeArrowheads="1"/>
            </p:cNvSpPr>
            <p:nvPr/>
          </p:nvSpPr>
          <p:spPr bwMode="auto">
            <a:xfrm rot="-5400000">
              <a:off x="3432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2" name="AutoShape 11"/>
            <p:cNvSpPr>
              <a:spLocks noChangeArrowheads="1"/>
            </p:cNvSpPr>
            <p:nvPr/>
          </p:nvSpPr>
          <p:spPr bwMode="auto">
            <a:xfrm rot="-5400000">
              <a:off x="3144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3" name="AutoShape 12"/>
            <p:cNvSpPr>
              <a:spLocks noChangeArrowheads="1"/>
            </p:cNvSpPr>
            <p:nvPr/>
          </p:nvSpPr>
          <p:spPr bwMode="auto">
            <a:xfrm rot="-5400000">
              <a:off x="2856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4" name="AutoShape 13"/>
            <p:cNvSpPr>
              <a:spLocks noChangeArrowheads="1"/>
            </p:cNvSpPr>
            <p:nvPr/>
          </p:nvSpPr>
          <p:spPr bwMode="auto">
            <a:xfrm rot="-5400000">
              <a:off x="2568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5" name="AutoShape 14"/>
            <p:cNvSpPr>
              <a:spLocks noChangeArrowheads="1"/>
            </p:cNvSpPr>
            <p:nvPr/>
          </p:nvSpPr>
          <p:spPr bwMode="auto">
            <a:xfrm rot="-5400000">
              <a:off x="2280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6" name="AutoShape 15"/>
            <p:cNvSpPr>
              <a:spLocks noChangeArrowheads="1"/>
            </p:cNvSpPr>
            <p:nvPr/>
          </p:nvSpPr>
          <p:spPr bwMode="auto">
            <a:xfrm rot="-5400000">
              <a:off x="1992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7" name="AutoShape 16"/>
            <p:cNvSpPr>
              <a:spLocks noChangeArrowheads="1"/>
            </p:cNvSpPr>
            <p:nvPr/>
          </p:nvSpPr>
          <p:spPr bwMode="auto">
            <a:xfrm rot="-5400000">
              <a:off x="1704" y="2424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37899" name="AutoShape 18"/>
          <p:cNvSpPr>
            <a:spLocks noChangeArrowheads="1"/>
          </p:cNvSpPr>
          <p:nvPr/>
        </p:nvSpPr>
        <p:spPr bwMode="auto">
          <a:xfrm>
            <a:off x="1295400" y="3276600"/>
            <a:ext cx="1143000" cy="3810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6705600" y="2819400"/>
            <a:ext cx="1524000" cy="1143000"/>
            <a:chOff x="4272" y="2160"/>
            <a:chExt cx="960" cy="720"/>
          </a:xfrm>
        </p:grpSpPr>
        <p:sp>
          <p:nvSpPr>
            <p:cNvPr id="37919" name="AutoShape 17"/>
            <p:cNvSpPr>
              <a:spLocks noChangeArrowheads="1"/>
            </p:cNvSpPr>
            <p:nvPr/>
          </p:nvSpPr>
          <p:spPr bwMode="auto">
            <a:xfrm rot="-5400000">
              <a:off x="4008" y="2424"/>
              <a:ext cx="720" cy="192"/>
            </a:xfrm>
            <a:prstGeom prst="flowChartPredefinedProcess">
              <a:avLst/>
            </a:prstGeom>
            <a:solidFill>
              <a:srgbClr val="FF0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20" name="AutoShape 19"/>
            <p:cNvSpPr>
              <a:spLocks noChangeArrowheads="1"/>
            </p:cNvSpPr>
            <p:nvPr/>
          </p:nvSpPr>
          <p:spPr bwMode="auto">
            <a:xfrm>
              <a:off x="4512" y="2400"/>
              <a:ext cx="720" cy="24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FF0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37901" name="Line 22"/>
          <p:cNvSpPr>
            <a:spLocks noChangeShapeType="1"/>
          </p:cNvSpPr>
          <p:nvPr/>
        </p:nvSpPr>
        <p:spPr bwMode="auto">
          <a:xfrm>
            <a:off x="2438400" y="6400800"/>
            <a:ext cx="3733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2" name="Line 23"/>
          <p:cNvSpPr>
            <a:spLocks noChangeShapeType="1"/>
          </p:cNvSpPr>
          <p:nvPr/>
        </p:nvSpPr>
        <p:spPr bwMode="auto">
          <a:xfrm>
            <a:off x="2438400" y="5105400"/>
            <a:ext cx="37338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3" name="Line 24"/>
          <p:cNvSpPr>
            <a:spLocks noChangeShapeType="1"/>
          </p:cNvSpPr>
          <p:nvPr/>
        </p:nvSpPr>
        <p:spPr bwMode="auto">
          <a:xfrm>
            <a:off x="6172200" y="49530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4" name="Line 25"/>
          <p:cNvSpPr>
            <a:spLocks noChangeShapeType="1"/>
          </p:cNvSpPr>
          <p:nvPr/>
        </p:nvSpPr>
        <p:spPr bwMode="auto">
          <a:xfrm>
            <a:off x="6172200" y="64008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5" name="Line 26"/>
          <p:cNvSpPr>
            <a:spLocks noChangeShapeType="1"/>
          </p:cNvSpPr>
          <p:nvPr/>
        </p:nvSpPr>
        <p:spPr bwMode="auto">
          <a:xfrm>
            <a:off x="2438400" y="49530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6" name="Line 27"/>
          <p:cNvSpPr>
            <a:spLocks noChangeShapeType="1"/>
          </p:cNvSpPr>
          <p:nvPr/>
        </p:nvSpPr>
        <p:spPr bwMode="auto">
          <a:xfrm>
            <a:off x="2438400" y="6400800"/>
            <a:ext cx="0" cy="1524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3048000" y="5181600"/>
            <a:ext cx="3048000" cy="1143000"/>
            <a:chOff x="1920" y="3168"/>
            <a:chExt cx="1920" cy="720"/>
          </a:xfrm>
        </p:grpSpPr>
        <p:sp>
          <p:nvSpPr>
            <p:cNvPr id="37912" name="AutoShape 28"/>
            <p:cNvSpPr>
              <a:spLocks noChangeArrowheads="1"/>
            </p:cNvSpPr>
            <p:nvPr/>
          </p:nvSpPr>
          <p:spPr bwMode="auto">
            <a:xfrm rot="-5400000">
              <a:off x="3384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3" name="AutoShape 29"/>
            <p:cNvSpPr>
              <a:spLocks noChangeArrowheads="1"/>
            </p:cNvSpPr>
            <p:nvPr/>
          </p:nvSpPr>
          <p:spPr bwMode="auto">
            <a:xfrm rot="-5400000">
              <a:off x="3096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4" name="AutoShape 30"/>
            <p:cNvSpPr>
              <a:spLocks noChangeArrowheads="1"/>
            </p:cNvSpPr>
            <p:nvPr/>
          </p:nvSpPr>
          <p:spPr bwMode="auto">
            <a:xfrm rot="-5400000">
              <a:off x="2808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5" name="AutoShape 31"/>
            <p:cNvSpPr>
              <a:spLocks noChangeArrowheads="1"/>
            </p:cNvSpPr>
            <p:nvPr/>
          </p:nvSpPr>
          <p:spPr bwMode="auto">
            <a:xfrm rot="-5400000">
              <a:off x="2520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6" name="AutoShape 32"/>
            <p:cNvSpPr>
              <a:spLocks noChangeArrowheads="1"/>
            </p:cNvSpPr>
            <p:nvPr/>
          </p:nvSpPr>
          <p:spPr bwMode="auto">
            <a:xfrm rot="-5400000">
              <a:off x="2232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7" name="AutoShape 33"/>
            <p:cNvSpPr>
              <a:spLocks noChangeArrowheads="1"/>
            </p:cNvSpPr>
            <p:nvPr/>
          </p:nvSpPr>
          <p:spPr bwMode="auto">
            <a:xfrm rot="-5400000">
              <a:off x="1944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8" name="AutoShape 34"/>
            <p:cNvSpPr>
              <a:spLocks noChangeArrowheads="1"/>
            </p:cNvSpPr>
            <p:nvPr/>
          </p:nvSpPr>
          <p:spPr bwMode="auto">
            <a:xfrm rot="-5400000">
              <a:off x="1656" y="3432"/>
              <a:ext cx="720" cy="192"/>
            </a:xfrm>
            <a:prstGeom prst="flowChartPredefined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1295400" y="5181600"/>
            <a:ext cx="1600200" cy="1143000"/>
            <a:chOff x="816" y="3168"/>
            <a:chExt cx="1008" cy="720"/>
          </a:xfrm>
        </p:grpSpPr>
        <p:sp>
          <p:nvSpPr>
            <p:cNvPr id="37910" name="AutoShape 35"/>
            <p:cNvSpPr>
              <a:spLocks noChangeArrowheads="1"/>
            </p:cNvSpPr>
            <p:nvPr/>
          </p:nvSpPr>
          <p:spPr bwMode="auto">
            <a:xfrm rot="-5400000">
              <a:off x="1368" y="3432"/>
              <a:ext cx="720" cy="192"/>
            </a:xfrm>
            <a:prstGeom prst="flowChartPredefinedProcess">
              <a:avLst/>
            </a:prstGeom>
            <a:solidFill>
              <a:srgbClr val="FF0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7911" name="AutoShape 36"/>
            <p:cNvSpPr>
              <a:spLocks noChangeArrowheads="1"/>
            </p:cNvSpPr>
            <p:nvPr/>
          </p:nvSpPr>
          <p:spPr bwMode="auto">
            <a:xfrm>
              <a:off x="816" y="3456"/>
              <a:ext cx="720" cy="24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FF0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37909" name="AutoShape 37"/>
          <p:cNvSpPr>
            <a:spLocks noChangeArrowheads="1"/>
          </p:cNvSpPr>
          <p:nvPr/>
        </p:nvSpPr>
        <p:spPr bwMode="auto">
          <a:xfrm>
            <a:off x="6248400" y="5638800"/>
            <a:ext cx="1143000" cy="3810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-0.05 -4.44444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1 -4.44444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10417 1.11111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05 1.11111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Queue</a:t>
            </a: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2097088"/>
            <a:ext cx="7886700" cy="4079875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GB" dirty="0"/>
              <a:t>Dùng 1 </a:t>
            </a:r>
            <a:r>
              <a:rPr lang="en-GB" dirty="0" err="1"/>
              <a:t>mảng</a:t>
            </a:r>
            <a:r>
              <a:rPr lang="en-GB" dirty="0"/>
              <a:t> (</a:t>
            </a:r>
            <a:r>
              <a:rPr lang="en-GB" dirty="0" err="1">
                <a:solidFill>
                  <a:srgbClr val="FF9933"/>
                </a:solidFill>
              </a:rPr>
              <a:t>qArray</a:t>
            </a:r>
            <a:r>
              <a:rPr lang="en-GB" dirty="0"/>
              <a:t>)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chứa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endParaRPr lang="en-GB" dirty="0"/>
          </a:p>
          <a:p>
            <a:pPr algn="just" eaLnBrk="1" hangingPunct="1"/>
            <a:r>
              <a:rPr lang="en-GB" dirty="0"/>
              <a:t>Dùng 1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(</a:t>
            </a:r>
            <a:r>
              <a:rPr lang="en-GB" dirty="0" err="1">
                <a:solidFill>
                  <a:srgbClr val="FF9933"/>
                </a:solidFill>
              </a:rPr>
              <a:t>qMax</a:t>
            </a:r>
            <a:r>
              <a:rPr lang="en-GB" dirty="0"/>
              <a:t>)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lưu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tối</a:t>
            </a:r>
            <a:r>
              <a:rPr lang="en-GB" dirty="0"/>
              <a:t> </a:t>
            </a:r>
            <a:r>
              <a:rPr lang="en-GB" dirty="0" err="1"/>
              <a:t>đa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hàng</a:t>
            </a:r>
            <a:r>
              <a:rPr lang="en-GB" dirty="0"/>
              <a:t> </a:t>
            </a:r>
            <a:r>
              <a:rPr lang="en-GB" dirty="0" err="1"/>
              <a:t>đợi</a:t>
            </a:r>
            <a:endParaRPr lang="en-GB" dirty="0"/>
          </a:p>
          <a:p>
            <a:pPr algn="just" eaLnBrk="1" hangingPunct="1"/>
            <a:r>
              <a:rPr lang="en-GB" dirty="0"/>
              <a:t>Dùng 2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(</a:t>
            </a:r>
            <a:r>
              <a:rPr lang="en-GB" dirty="0" err="1">
                <a:solidFill>
                  <a:srgbClr val="FF9933"/>
                </a:solidFill>
              </a:rPr>
              <a:t>qFront</a:t>
            </a:r>
            <a:r>
              <a:rPr lang="en-GB" dirty="0"/>
              <a:t>, </a:t>
            </a:r>
            <a:r>
              <a:rPr lang="en-GB" dirty="0" err="1">
                <a:solidFill>
                  <a:srgbClr val="FF9933"/>
                </a:solidFill>
              </a:rPr>
              <a:t>qRear</a:t>
            </a:r>
            <a:r>
              <a:rPr lang="en-GB" dirty="0"/>
              <a:t>)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xác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vị</a:t>
            </a:r>
            <a:r>
              <a:rPr lang="en-GB" dirty="0"/>
              <a:t> </a:t>
            </a:r>
            <a:r>
              <a:rPr lang="en-GB" dirty="0" err="1"/>
              <a:t>trí</a:t>
            </a:r>
            <a:r>
              <a:rPr lang="en-GB" dirty="0"/>
              <a:t> </a:t>
            </a:r>
            <a:r>
              <a:rPr lang="en-GB" dirty="0" err="1"/>
              <a:t>đầu</a:t>
            </a:r>
            <a:r>
              <a:rPr lang="en-GB" dirty="0"/>
              <a:t>, </a:t>
            </a:r>
            <a:r>
              <a:rPr lang="en-GB" dirty="0" err="1"/>
              <a:t>cuối</a:t>
            </a:r>
            <a:r>
              <a:rPr lang="en-GB" dirty="0"/>
              <a:t> </a:t>
            </a:r>
            <a:r>
              <a:rPr lang="en-GB" dirty="0" err="1"/>
              <a:t>hàng</a:t>
            </a:r>
            <a:r>
              <a:rPr lang="en-GB" dirty="0"/>
              <a:t> </a:t>
            </a:r>
            <a:r>
              <a:rPr lang="en-GB" dirty="0" err="1"/>
              <a:t>đợi</a:t>
            </a:r>
            <a:endParaRPr lang="en-GB" dirty="0"/>
          </a:p>
          <a:p>
            <a:pPr algn="just" eaLnBrk="1" hangingPunct="1"/>
            <a:r>
              <a:rPr lang="en-GB" dirty="0"/>
              <a:t>Dùng 1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(</a:t>
            </a:r>
            <a:r>
              <a:rPr lang="en-GB" dirty="0" err="1">
                <a:solidFill>
                  <a:srgbClr val="FF9933"/>
                </a:solidFill>
              </a:rPr>
              <a:t>qNumItems</a:t>
            </a:r>
            <a:r>
              <a:rPr lang="en-GB" dirty="0"/>
              <a:t>) </a:t>
            </a:r>
            <a:r>
              <a:rPr lang="en-GB" dirty="0" err="1"/>
              <a:t>để</a:t>
            </a:r>
            <a:r>
              <a:rPr lang="en-GB" dirty="0"/>
              <a:t> </a:t>
            </a:r>
            <a:r>
              <a:rPr lang="en-GB" dirty="0" err="1"/>
              <a:t>lưu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hàng</a:t>
            </a:r>
            <a:r>
              <a:rPr lang="en-GB" dirty="0"/>
              <a:t> </a:t>
            </a:r>
            <a:r>
              <a:rPr lang="en-GB" dirty="0" err="1"/>
              <a:t>đợi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GB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4"/>
            <a:ext cx="7886700" cy="480377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b="1" dirty="0">
                <a:solidFill>
                  <a:srgbClr val="FF9933"/>
                </a:solidFill>
              </a:rPr>
              <a:t>class</a:t>
            </a:r>
            <a:r>
              <a:rPr lang="en-US" sz="2800" dirty="0"/>
              <a:t> </a:t>
            </a:r>
            <a:r>
              <a:rPr lang="en-US" sz="2800" dirty="0" err="1"/>
              <a:t>MyQueue</a:t>
            </a:r>
            <a:endParaRPr lang="en-US" sz="2800" dirty="0"/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{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		</a:t>
            </a:r>
            <a:r>
              <a:rPr lang="en-US" sz="2800" b="1" dirty="0">
                <a:solidFill>
                  <a:srgbClr val="FF9933"/>
                </a:solidFill>
              </a:rPr>
              <a:t>int []</a:t>
            </a:r>
            <a:r>
              <a:rPr lang="en-US" sz="2800" dirty="0"/>
              <a:t> </a:t>
            </a:r>
            <a:r>
              <a:rPr lang="en-US" sz="2800" dirty="0" err="1"/>
              <a:t>qArray</a:t>
            </a:r>
            <a:r>
              <a:rPr lang="en-US" sz="2800" dirty="0"/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		</a:t>
            </a:r>
            <a:r>
              <a:rPr lang="en-US" sz="2800" b="1" dirty="0">
                <a:solidFill>
                  <a:srgbClr val="FF9933"/>
                </a:solidFill>
              </a:rPr>
              <a:t>int</a:t>
            </a:r>
            <a:r>
              <a:rPr lang="en-US" sz="2800" dirty="0"/>
              <a:t>	</a:t>
            </a:r>
            <a:r>
              <a:rPr lang="en-US" sz="2800" dirty="0" err="1"/>
              <a:t>qMax</a:t>
            </a:r>
            <a:r>
              <a:rPr lang="en-US" sz="2800" dirty="0"/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		</a:t>
            </a:r>
            <a:r>
              <a:rPr lang="en-US" sz="2800" b="1" dirty="0">
                <a:solidFill>
                  <a:srgbClr val="FF9933"/>
                </a:solidFill>
              </a:rPr>
              <a:t>int</a:t>
            </a:r>
            <a:r>
              <a:rPr lang="en-US" sz="2800" dirty="0"/>
              <a:t>	</a:t>
            </a:r>
            <a:r>
              <a:rPr lang="en-US" sz="2800" dirty="0" err="1"/>
              <a:t>qNumItems</a:t>
            </a:r>
            <a:r>
              <a:rPr lang="en-US" sz="2800" dirty="0"/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		</a:t>
            </a:r>
            <a:r>
              <a:rPr lang="en-US" sz="2800" b="1" dirty="0">
                <a:solidFill>
                  <a:srgbClr val="FF9933"/>
                </a:solidFill>
              </a:rPr>
              <a:t>int</a:t>
            </a:r>
            <a:r>
              <a:rPr lang="en-US" sz="2800" dirty="0"/>
              <a:t>	</a:t>
            </a:r>
            <a:r>
              <a:rPr lang="en-US" sz="2800" dirty="0" err="1"/>
              <a:t>qFront</a:t>
            </a:r>
            <a:r>
              <a:rPr lang="en-US" sz="2800" dirty="0"/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		</a:t>
            </a:r>
            <a:r>
              <a:rPr lang="en-US" sz="2800" b="1" dirty="0">
                <a:solidFill>
                  <a:srgbClr val="FF9933"/>
                </a:solidFill>
              </a:rPr>
              <a:t>int</a:t>
            </a:r>
            <a:r>
              <a:rPr lang="en-US" sz="2800" dirty="0"/>
              <a:t>	</a:t>
            </a:r>
            <a:r>
              <a:rPr lang="en-US" sz="2800" dirty="0" err="1"/>
              <a:t>qRear</a:t>
            </a:r>
            <a:r>
              <a:rPr lang="en-US" sz="2800" dirty="0"/>
              <a:t>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dirty="0"/>
              <a:t>		//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sz="2800" dirty="0"/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2800" dirty="0"/>
              <a:t>}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GB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47800"/>
            <a:ext cx="7981950" cy="5257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“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”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?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(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) hay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?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51</a:t>
            </a:fld>
            <a:endParaRPr lang="en-US"/>
          </a:p>
        </p:txBody>
      </p:sp>
      <p:graphicFrame>
        <p:nvGraphicFramePr>
          <p:cNvPr id="49244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929290"/>
              </p:ext>
            </p:extLst>
          </p:nvPr>
        </p:nvGraphicFramePr>
        <p:xfrm>
          <a:off x="1600200" y="2209800"/>
          <a:ext cx="6248400" cy="29260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qArray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37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qMax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7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qNumItems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6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qFront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1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qRear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6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076" name="Line 178"/>
          <p:cNvSpPr>
            <a:spLocks noChangeShapeType="1"/>
          </p:cNvSpPr>
          <p:nvPr/>
        </p:nvSpPr>
        <p:spPr bwMode="auto">
          <a:xfrm>
            <a:off x="4114800" y="4495800"/>
            <a:ext cx="838200" cy="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77" name="Line 179"/>
          <p:cNvSpPr>
            <a:spLocks noChangeShapeType="1"/>
          </p:cNvSpPr>
          <p:nvPr/>
        </p:nvSpPr>
        <p:spPr bwMode="auto">
          <a:xfrm flipV="1">
            <a:off x="4953000" y="3200400"/>
            <a:ext cx="0" cy="129540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78" name="Line 180"/>
          <p:cNvSpPr>
            <a:spLocks noChangeShapeType="1"/>
          </p:cNvSpPr>
          <p:nvPr/>
        </p:nvSpPr>
        <p:spPr bwMode="auto">
          <a:xfrm>
            <a:off x="4114800" y="5029200"/>
            <a:ext cx="3505200" cy="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79" name="Line 181"/>
          <p:cNvSpPr>
            <a:spLocks noChangeShapeType="1"/>
          </p:cNvSpPr>
          <p:nvPr/>
        </p:nvSpPr>
        <p:spPr bwMode="auto">
          <a:xfrm flipV="1">
            <a:off x="7620000" y="3200400"/>
            <a:ext cx="0" cy="1828800"/>
          </a:xfrm>
          <a:prstGeom prst="line">
            <a:avLst/>
          </a:prstGeom>
          <a:noFill/>
          <a:ln w="38100" cap="sq">
            <a:solidFill>
              <a:srgbClr val="FF9933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512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620564"/>
              </p:ext>
            </p:extLst>
          </p:nvPr>
        </p:nvGraphicFramePr>
        <p:xfrm>
          <a:off x="990600" y="1828800"/>
          <a:ext cx="6248400" cy="29260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5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qArray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37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qMax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 = 7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qNumItems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 = 6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qFront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 = 1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qRear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Times New Roman" pitchFamily="18" charset="0"/>
                        </a:rPr>
                        <a:t> = 6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4418013" y="2895600"/>
            <a:ext cx="3219450" cy="3200400"/>
            <a:chOff x="3167" y="2064"/>
            <a:chExt cx="2028" cy="2016"/>
          </a:xfrm>
        </p:grpSpPr>
        <p:sp>
          <p:nvSpPr>
            <p:cNvPr id="44111" name="Oval 90"/>
            <p:cNvSpPr>
              <a:spLocks noChangeArrowheads="1"/>
            </p:cNvSpPr>
            <p:nvPr/>
          </p:nvSpPr>
          <p:spPr bwMode="auto">
            <a:xfrm>
              <a:off x="3168" y="2064"/>
              <a:ext cx="2016" cy="2016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112" name="Oval 91"/>
            <p:cNvSpPr>
              <a:spLocks noChangeArrowheads="1"/>
            </p:cNvSpPr>
            <p:nvPr/>
          </p:nvSpPr>
          <p:spPr bwMode="auto">
            <a:xfrm>
              <a:off x="3408" y="2304"/>
              <a:ext cx="1536" cy="1536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4113" name="Line 92"/>
            <p:cNvSpPr>
              <a:spLocks noChangeShapeType="1"/>
            </p:cNvSpPr>
            <p:nvPr/>
          </p:nvSpPr>
          <p:spPr bwMode="auto">
            <a:xfrm>
              <a:off x="4176" y="2064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4" name="Line 94"/>
            <p:cNvSpPr>
              <a:spLocks noChangeShapeType="1"/>
            </p:cNvSpPr>
            <p:nvPr/>
          </p:nvSpPr>
          <p:spPr bwMode="auto">
            <a:xfrm>
              <a:off x="3888" y="2112"/>
              <a:ext cx="96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5" name="Line 95"/>
            <p:cNvSpPr>
              <a:spLocks noChangeShapeType="1"/>
            </p:cNvSpPr>
            <p:nvPr/>
          </p:nvSpPr>
          <p:spPr bwMode="auto">
            <a:xfrm>
              <a:off x="3696" y="2208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6" name="Line 96"/>
            <p:cNvSpPr>
              <a:spLocks noChangeShapeType="1"/>
            </p:cNvSpPr>
            <p:nvPr/>
          </p:nvSpPr>
          <p:spPr bwMode="auto">
            <a:xfrm>
              <a:off x="3513" y="2313"/>
              <a:ext cx="144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7" name="Line 97"/>
            <p:cNvSpPr>
              <a:spLocks noChangeShapeType="1"/>
            </p:cNvSpPr>
            <p:nvPr/>
          </p:nvSpPr>
          <p:spPr bwMode="auto">
            <a:xfrm>
              <a:off x="3378" y="2466"/>
              <a:ext cx="192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8" name="Line 98"/>
            <p:cNvSpPr>
              <a:spLocks noChangeShapeType="1"/>
            </p:cNvSpPr>
            <p:nvPr/>
          </p:nvSpPr>
          <p:spPr bwMode="auto">
            <a:xfrm>
              <a:off x="3264" y="2640"/>
              <a:ext cx="2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9" name="Line 99"/>
            <p:cNvSpPr>
              <a:spLocks noChangeShapeType="1"/>
            </p:cNvSpPr>
            <p:nvPr/>
          </p:nvSpPr>
          <p:spPr bwMode="auto">
            <a:xfrm>
              <a:off x="3198" y="2832"/>
              <a:ext cx="240" cy="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0" name="Line 102"/>
            <p:cNvSpPr>
              <a:spLocks noChangeShapeType="1"/>
            </p:cNvSpPr>
            <p:nvPr/>
          </p:nvSpPr>
          <p:spPr bwMode="auto">
            <a:xfrm rot="5843498">
              <a:off x="5027" y="2845"/>
              <a:ext cx="96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1" name="Line 103"/>
            <p:cNvSpPr>
              <a:spLocks noChangeShapeType="1"/>
            </p:cNvSpPr>
            <p:nvPr/>
          </p:nvSpPr>
          <p:spPr bwMode="auto">
            <a:xfrm rot="5843498">
              <a:off x="4980" y="2670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2" name="Line 104"/>
            <p:cNvSpPr>
              <a:spLocks noChangeShapeType="1"/>
            </p:cNvSpPr>
            <p:nvPr/>
          </p:nvSpPr>
          <p:spPr bwMode="auto">
            <a:xfrm rot="5843498">
              <a:off x="4873" y="2499"/>
              <a:ext cx="144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3" name="Line 105"/>
            <p:cNvSpPr>
              <a:spLocks noChangeShapeType="1"/>
            </p:cNvSpPr>
            <p:nvPr/>
          </p:nvSpPr>
          <p:spPr bwMode="auto">
            <a:xfrm rot="5843498">
              <a:off x="4735" y="2396"/>
              <a:ext cx="192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4" name="Line 106"/>
            <p:cNvSpPr>
              <a:spLocks noChangeShapeType="1"/>
            </p:cNvSpPr>
            <p:nvPr/>
          </p:nvSpPr>
          <p:spPr bwMode="auto">
            <a:xfrm rot="5843498">
              <a:off x="4574" y="2311"/>
              <a:ext cx="2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5" name="Line 107"/>
            <p:cNvSpPr>
              <a:spLocks noChangeShapeType="1"/>
            </p:cNvSpPr>
            <p:nvPr/>
          </p:nvSpPr>
          <p:spPr bwMode="auto">
            <a:xfrm rot="5843498">
              <a:off x="4416" y="2248"/>
              <a:ext cx="240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6" name="Line 108"/>
            <p:cNvSpPr>
              <a:spLocks noChangeShapeType="1"/>
            </p:cNvSpPr>
            <p:nvPr/>
          </p:nvSpPr>
          <p:spPr bwMode="auto">
            <a:xfrm rot="5843498">
              <a:off x="4253" y="2221"/>
              <a:ext cx="24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7" name="Line 111"/>
            <p:cNvSpPr>
              <a:spLocks noChangeShapeType="1"/>
            </p:cNvSpPr>
            <p:nvPr/>
          </p:nvSpPr>
          <p:spPr bwMode="auto">
            <a:xfrm rot="-5400000">
              <a:off x="3287" y="2951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8" name="Line 112"/>
            <p:cNvSpPr>
              <a:spLocks noChangeShapeType="1"/>
            </p:cNvSpPr>
            <p:nvPr/>
          </p:nvSpPr>
          <p:spPr bwMode="auto">
            <a:xfrm rot="-5400000">
              <a:off x="3287" y="3191"/>
              <a:ext cx="96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9" name="Line 113"/>
            <p:cNvSpPr>
              <a:spLocks noChangeShapeType="1"/>
            </p:cNvSpPr>
            <p:nvPr/>
          </p:nvSpPr>
          <p:spPr bwMode="auto">
            <a:xfrm rot="-5400000">
              <a:off x="3359" y="3407"/>
              <a:ext cx="96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0" name="Line 114"/>
            <p:cNvSpPr>
              <a:spLocks noChangeShapeType="1"/>
            </p:cNvSpPr>
            <p:nvPr/>
          </p:nvSpPr>
          <p:spPr bwMode="auto">
            <a:xfrm rot="-5400000">
              <a:off x="3441" y="3566"/>
              <a:ext cx="144" cy="1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1" name="Line 115"/>
            <p:cNvSpPr>
              <a:spLocks noChangeShapeType="1"/>
            </p:cNvSpPr>
            <p:nvPr/>
          </p:nvSpPr>
          <p:spPr bwMode="auto">
            <a:xfrm rot="-5400000">
              <a:off x="3546" y="3701"/>
              <a:ext cx="192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2" name="Line 116"/>
            <p:cNvSpPr>
              <a:spLocks noChangeShapeType="1"/>
            </p:cNvSpPr>
            <p:nvPr/>
          </p:nvSpPr>
          <p:spPr bwMode="auto">
            <a:xfrm rot="-5400000">
              <a:off x="3672" y="3815"/>
              <a:ext cx="24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3" name="Line 117"/>
            <p:cNvSpPr>
              <a:spLocks noChangeShapeType="1"/>
            </p:cNvSpPr>
            <p:nvPr/>
          </p:nvSpPr>
          <p:spPr bwMode="auto">
            <a:xfrm rot="-5400000">
              <a:off x="3840" y="3905"/>
              <a:ext cx="240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4" name="Line 120"/>
            <p:cNvSpPr>
              <a:spLocks noChangeShapeType="1"/>
            </p:cNvSpPr>
            <p:nvPr/>
          </p:nvSpPr>
          <p:spPr bwMode="auto">
            <a:xfrm rot="10800000">
              <a:off x="4176" y="3840"/>
              <a:ext cx="0" cy="2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5" name="Line 121"/>
            <p:cNvSpPr>
              <a:spLocks noChangeShapeType="1"/>
            </p:cNvSpPr>
            <p:nvPr/>
          </p:nvSpPr>
          <p:spPr bwMode="auto">
            <a:xfrm rot="10800000">
              <a:off x="4358" y="3821"/>
              <a:ext cx="91" cy="2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6" name="Line 122"/>
            <p:cNvSpPr>
              <a:spLocks noChangeShapeType="1"/>
            </p:cNvSpPr>
            <p:nvPr/>
          </p:nvSpPr>
          <p:spPr bwMode="auto">
            <a:xfrm rot="10800000">
              <a:off x="4541" y="3778"/>
              <a:ext cx="91" cy="17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7" name="Line 123"/>
            <p:cNvSpPr>
              <a:spLocks noChangeShapeType="1"/>
            </p:cNvSpPr>
            <p:nvPr/>
          </p:nvSpPr>
          <p:spPr bwMode="auto">
            <a:xfrm rot="10800000">
              <a:off x="4669" y="3682"/>
              <a:ext cx="137" cy="17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8" name="Line 124"/>
            <p:cNvSpPr>
              <a:spLocks noChangeShapeType="1"/>
            </p:cNvSpPr>
            <p:nvPr/>
          </p:nvSpPr>
          <p:spPr bwMode="auto">
            <a:xfrm rot="10800000">
              <a:off x="4752" y="3588"/>
              <a:ext cx="183" cy="12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9" name="Line 125"/>
            <p:cNvSpPr>
              <a:spLocks noChangeShapeType="1"/>
            </p:cNvSpPr>
            <p:nvPr/>
          </p:nvSpPr>
          <p:spPr bwMode="auto">
            <a:xfrm rot="10800000">
              <a:off x="4814" y="3474"/>
              <a:ext cx="229" cy="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0" name="Line 126"/>
            <p:cNvSpPr>
              <a:spLocks noChangeShapeType="1"/>
            </p:cNvSpPr>
            <p:nvPr/>
          </p:nvSpPr>
          <p:spPr bwMode="auto">
            <a:xfrm rot="10800000">
              <a:off x="4878" y="3345"/>
              <a:ext cx="228" cy="4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1" name="Line 127"/>
            <p:cNvSpPr>
              <a:spLocks noChangeShapeType="1"/>
            </p:cNvSpPr>
            <p:nvPr/>
          </p:nvSpPr>
          <p:spPr bwMode="auto">
            <a:xfrm rot="10800000">
              <a:off x="4955" y="3168"/>
              <a:ext cx="22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37"/>
          <p:cNvGrpSpPr>
            <a:grpSpLocks/>
          </p:cNvGrpSpPr>
          <p:nvPr/>
        </p:nvGrpSpPr>
        <p:grpSpPr bwMode="auto">
          <a:xfrm>
            <a:off x="3505200" y="3962400"/>
            <a:ext cx="1295400" cy="1447800"/>
            <a:chOff x="2592" y="2736"/>
            <a:chExt cx="816" cy="912"/>
          </a:xfrm>
        </p:grpSpPr>
        <p:sp>
          <p:nvSpPr>
            <p:cNvPr id="44108" name="Line 128"/>
            <p:cNvSpPr>
              <a:spLocks noChangeShapeType="1"/>
            </p:cNvSpPr>
            <p:nvPr/>
          </p:nvSpPr>
          <p:spPr bwMode="auto">
            <a:xfrm>
              <a:off x="2592" y="2736"/>
              <a:ext cx="240" cy="0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9" name="Line 129"/>
            <p:cNvSpPr>
              <a:spLocks noChangeShapeType="1"/>
            </p:cNvSpPr>
            <p:nvPr/>
          </p:nvSpPr>
          <p:spPr bwMode="auto">
            <a:xfrm>
              <a:off x="2832" y="2736"/>
              <a:ext cx="0" cy="912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0" name="Line 130"/>
            <p:cNvSpPr>
              <a:spLocks noChangeShapeType="1"/>
            </p:cNvSpPr>
            <p:nvPr/>
          </p:nvSpPr>
          <p:spPr bwMode="auto">
            <a:xfrm>
              <a:off x="2832" y="3648"/>
              <a:ext cx="576" cy="0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38"/>
          <p:cNvGrpSpPr>
            <a:grpSpLocks/>
          </p:cNvGrpSpPr>
          <p:nvPr/>
        </p:nvGrpSpPr>
        <p:grpSpPr bwMode="auto">
          <a:xfrm>
            <a:off x="3505200" y="4495800"/>
            <a:ext cx="4495800" cy="1828800"/>
            <a:chOff x="2592" y="3072"/>
            <a:chExt cx="2832" cy="1152"/>
          </a:xfrm>
        </p:grpSpPr>
        <p:sp>
          <p:nvSpPr>
            <p:cNvPr id="44103" name="Line 131"/>
            <p:cNvSpPr>
              <a:spLocks noChangeShapeType="1"/>
            </p:cNvSpPr>
            <p:nvPr/>
          </p:nvSpPr>
          <p:spPr bwMode="auto">
            <a:xfrm>
              <a:off x="2592" y="3072"/>
              <a:ext cx="96" cy="0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4" name="Line 132"/>
            <p:cNvSpPr>
              <a:spLocks noChangeShapeType="1"/>
            </p:cNvSpPr>
            <p:nvPr/>
          </p:nvSpPr>
          <p:spPr bwMode="auto">
            <a:xfrm>
              <a:off x="2688" y="3072"/>
              <a:ext cx="0" cy="1152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5" name="Line 133"/>
            <p:cNvSpPr>
              <a:spLocks noChangeShapeType="1"/>
            </p:cNvSpPr>
            <p:nvPr/>
          </p:nvSpPr>
          <p:spPr bwMode="auto">
            <a:xfrm>
              <a:off x="2688" y="4224"/>
              <a:ext cx="2736" cy="0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6" name="Line 134"/>
            <p:cNvSpPr>
              <a:spLocks noChangeShapeType="1"/>
            </p:cNvSpPr>
            <p:nvPr/>
          </p:nvSpPr>
          <p:spPr bwMode="auto">
            <a:xfrm flipV="1">
              <a:off x="5424" y="3504"/>
              <a:ext cx="0" cy="720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7" name="Line 135"/>
            <p:cNvSpPr>
              <a:spLocks noChangeShapeType="1"/>
            </p:cNvSpPr>
            <p:nvPr/>
          </p:nvSpPr>
          <p:spPr bwMode="auto">
            <a:xfrm flipH="1">
              <a:off x="4992" y="3504"/>
              <a:ext cx="432" cy="0"/>
            </a:xfrm>
            <a:prstGeom prst="line">
              <a:avLst/>
            </a:prstGeom>
            <a:noFill/>
            <a:ln w="28575" cap="sq">
              <a:solidFill>
                <a:srgbClr val="FF9933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86700" cy="6096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47700" y="759474"/>
          <a:ext cx="5184584" cy="28219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8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qArray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35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qMax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grid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35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qNumItems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35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qFront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35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qRear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EB840-0166-DB4A-8E98-7C82748D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D70F804-5935-42E1-9939-82D5DED08D73}"/>
              </a:ext>
            </a:extLst>
          </p:cNvPr>
          <p:cNvGraphicFramePr>
            <a:graphicFrameLocks/>
          </p:cNvGraphicFramePr>
          <p:nvPr/>
        </p:nvGraphicFramePr>
        <p:xfrm>
          <a:off x="609600" y="3810000"/>
          <a:ext cx="5714999" cy="2708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5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qArray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qMax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grid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qNumItems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qFront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qRear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995EF3C2-C7F8-4E78-A50D-C74F90BADCCB}"/>
              </a:ext>
            </a:extLst>
          </p:cNvPr>
          <p:cNvSpPr/>
          <p:nvPr/>
        </p:nvSpPr>
        <p:spPr>
          <a:xfrm>
            <a:off x="6934200" y="3581400"/>
            <a:ext cx="2057400" cy="60960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Thêm</a:t>
            </a:r>
            <a:r>
              <a:rPr lang="en-US" dirty="0"/>
              <a:t> 123</a:t>
            </a:r>
          </a:p>
        </p:txBody>
      </p:sp>
    </p:spTree>
    <p:extLst>
      <p:ext uri="{BB962C8B-B14F-4D97-AF65-F5344CB8AC3E}">
        <p14:creationId xmlns:p14="http://schemas.microsoft.com/office/powerpoint/2010/main" val="34300120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86700" cy="6096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DAFFFA-DD28-1C42-9BEB-4FBD1C0C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D70F804-5935-42E1-9939-82D5DED08D73}"/>
              </a:ext>
            </a:extLst>
          </p:cNvPr>
          <p:cNvGraphicFramePr>
            <a:graphicFrameLocks/>
          </p:cNvGraphicFramePr>
          <p:nvPr/>
        </p:nvGraphicFramePr>
        <p:xfrm>
          <a:off x="3124201" y="762000"/>
          <a:ext cx="5714999" cy="2708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5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qArray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qMax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grid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qNumItems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qFront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qRear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995EF3C2-C7F8-4E78-A50D-C74F90BADCCB}"/>
              </a:ext>
            </a:extLst>
          </p:cNvPr>
          <p:cNvSpPr/>
          <p:nvPr/>
        </p:nvSpPr>
        <p:spPr>
          <a:xfrm>
            <a:off x="762000" y="990600"/>
            <a:ext cx="2057400" cy="609600"/>
          </a:xfrm>
          <a:prstGeom prst="borderCallout1">
            <a:avLst>
              <a:gd name="adj1" fmla="val 16750"/>
              <a:gd name="adj2" fmla="val 91815"/>
              <a:gd name="adj3" fmla="val 72500"/>
              <a:gd name="adj4" fmla="val 2218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Lấy</a:t>
            </a:r>
            <a:r>
              <a:rPr lang="en-US" dirty="0"/>
              <a:t> 4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E4B7240-4A02-44AC-A769-F395D16CF1A9}"/>
              </a:ext>
            </a:extLst>
          </p:cNvPr>
          <p:cNvGraphicFramePr>
            <a:graphicFrameLocks/>
          </p:cNvGraphicFramePr>
          <p:nvPr/>
        </p:nvGraphicFramePr>
        <p:xfrm>
          <a:off x="3124201" y="3921252"/>
          <a:ext cx="5714999" cy="2708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5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qArray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qMax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grid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qNumItems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qFront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qRear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llout: Line 8">
            <a:extLst>
              <a:ext uri="{FF2B5EF4-FFF2-40B4-BE49-F238E27FC236}">
                <a16:creationId xmlns:a16="http://schemas.microsoft.com/office/drawing/2014/main" id="{BDA121A3-5B1F-4D93-8082-7EE3BAAE898E}"/>
              </a:ext>
            </a:extLst>
          </p:cNvPr>
          <p:cNvSpPr/>
          <p:nvPr/>
        </p:nvSpPr>
        <p:spPr>
          <a:xfrm>
            <a:off x="762000" y="4149852"/>
            <a:ext cx="2057400" cy="609600"/>
          </a:xfrm>
          <a:prstGeom prst="borderCallout1">
            <a:avLst>
              <a:gd name="adj1" fmla="val 16750"/>
              <a:gd name="adj2" fmla="val 91815"/>
              <a:gd name="adj3" fmla="val 78500"/>
              <a:gd name="adj4" fmla="val 249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Lấy</a:t>
            </a:r>
            <a:r>
              <a:rPr lang="en-US" dirty="0"/>
              <a:t> 11</a:t>
            </a:r>
          </a:p>
        </p:txBody>
      </p:sp>
    </p:spTree>
    <p:extLst>
      <p:ext uri="{BB962C8B-B14F-4D97-AF65-F5344CB8AC3E}">
        <p14:creationId xmlns:p14="http://schemas.microsoft.com/office/powerpoint/2010/main" val="13057226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86700" cy="6096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14B66C-7778-4546-B686-38A70691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57F7B-2019-4069-8198-EFE0C5B7313D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D70F804-5935-42E1-9939-82D5DED08D73}"/>
              </a:ext>
            </a:extLst>
          </p:cNvPr>
          <p:cNvGraphicFramePr>
            <a:graphicFrameLocks/>
          </p:cNvGraphicFramePr>
          <p:nvPr/>
        </p:nvGraphicFramePr>
        <p:xfrm>
          <a:off x="3124201" y="762000"/>
          <a:ext cx="5714999" cy="2708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5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qArray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qMax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grid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qNumItems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qFront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qRear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995EF3C2-C7F8-4E78-A50D-C74F90BADCCB}"/>
              </a:ext>
            </a:extLst>
          </p:cNvPr>
          <p:cNvSpPr/>
          <p:nvPr/>
        </p:nvSpPr>
        <p:spPr>
          <a:xfrm>
            <a:off x="762000" y="990600"/>
            <a:ext cx="2057400" cy="609600"/>
          </a:xfrm>
          <a:prstGeom prst="borderCallout1">
            <a:avLst>
              <a:gd name="adj1" fmla="val 16750"/>
              <a:gd name="adj2" fmla="val 91815"/>
              <a:gd name="adj3" fmla="val 74500"/>
              <a:gd name="adj4" fmla="val 2674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Lấy</a:t>
            </a:r>
            <a:r>
              <a:rPr lang="en-US" dirty="0"/>
              <a:t> 7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E4B7240-4A02-44AC-A769-F395D16CF1A9}"/>
              </a:ext>
            </a:extLst>
          </p:cNvPr>
          <p:cNvGraphicFramePr>
            <a:graphicFrameLocks/>
          </p:cNvGraphicFramePr>
          <p:nvPr/>
        </p:nvGraphicFramePr>
        <p:xfrm>
          <a:off x="2971800" y="3921252"/>
          <a:ext cx="6083423" cy="2708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5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2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qArray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qMax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gridSpan="6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qNumItems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qFront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qRear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51435" marR="51435" marT="0" marB="0"/>
                </a:tc>
                <a:tc gridSpan="6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allout: Line 8">
            <a:extLst>
              <a:ext uri="{FF2B5EF4-FFF2-40B4-BE49-F238E27FC236}">
                <a16:creationId xmlns:a16="http://schemas.microsoft.com/office/drawing/2014/main" id="{BDA121A3-5B1F-4D93-8082-7EE3BAAE898E}"/>
              </a:ext>
            </a:extLst>
          </p:cNvPr>
          <p:cNvSpPr/>
          <p:nvPr/>
        </p:nvSpPr>
        <p:spPr>
          <a:xfrm>
            <a:off x="533400" y="4149852"/>
            <a:ext cx="2057400" cy="609600"/>
          </a:xfrm>
          <a:prstGeom prst="borderCallout1">
            <a:avLst>
              <a:gd name="adj1" fmla="val 16750"/>
              <a:gd name="adj2" fmla="val 91815"/>
              <a:gd name="adj3" fmla="val 78500"/>
              <a:gd name="adj4" fmla="val 2224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Thêm</a:t>
            </a:r>
            <a:r>
              <a:rPr lang="en-US" dirty="0"/>
              <a:t> 200</a:t>
            </a:r>
          </a:p>
        </p:txBody>
      </p:sp>
    </p:spTree>
    <p:extLst>
      <p:ext uri="{BB962C8B-B14F-4D97-AF65-F5344CB8AC3E}">
        <p14:creationId xmlns:p14="http://schemas.microsoft.com/office/powerpoint/2010/main" val="14153571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GB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81200"/>
            <a:ext cx="8286750" cy="39020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rgbClr val="FF9933"/>
                </a:solidFill>
              </a:rPr>
              <a:t>public </a:t>
            </a:r>
            <a:r>
              <a:rPr lang="en-US" sz="2800" dirty="0" err="1"/>
              <a:t>MyQueue</a:t>
            </a:r>
            <a:r>
              <a:rPr lang="en-US" dirty="0"/>
              <a:t> (</a:t>
            </a:r>
            <a:r>
              <a:rPr lang="en-US" sz="2800" b="1" dirty="0">
                <a:solidFill>
                  <a:srgbClr val="FF9933"/>
                </a:solidFill>
              </a:rPr>
              <a:t>int </a:t>
            </a:r>
            <a:r>
              <a:rPr lang="en-US" sz="2800" dirty="0" err="1"/>
              <a:t>MaxItem</a:t>
            </a:r>
            <a:r>
              <a:rPr lang="en-US" sz="2800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{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dirty="0" err="1"/>
              <a:t>qArray</a:t>
            </a:r>
            <a:r>
              <a:rPr lang="en-US" sz="2800" dirty="0"/>
              <a:t> = </a:t>
            </a:r>
            <a:r>
              <a:rPr lang="en-US" sz="2800" b="1" dirty="0">
                <a:solidFill>
                  <a:srgbClr val="FF9933"/>
                </a:solidFill>
              </a:rPr>
              <a:t>new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9933"/>
                </a:solidFill>
              </a:rPr>
              <a:t>int</a:t>
            </a:r>
            <a:r>
              <a:rPr lang="en-US" sz="2800" dirty="0"/>
              <a:t>[</a:t>
            </a:r>
            <a:r>
              <a:rPr lang="en-US" sz="2800" dirty="0" err="1"/>
              <a:t>MaxItem</a:t>
            </a:r>
            <a:r>
              <a:rPr lang="en-US" sz="2800" dirty="0"/>
              <a:t>];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dirty="0" err="1"/>
              <a:t>qMax</a:t>
            </a:r>
            <a:r>
              <a:rPr lang="en-US" sz="2800" dirty="0"/>
              <a:t> = </a:t>
            </a:r>
            <a:r>
              <a:rPr lang="en-US" sz="2800" dirty="0" err="1"/>
              <a:t>MaxItem</a:t>
            </a:r>
            <a:r>
              <a:rPr lang="en-US" sz="2800" dirty="0"/>
              <a:t>;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dirty="0" err="1"/>
              <a:t>qNumItems</a:t>
            </a:r>
            <a:r>
              <a:rPr lang="en-US" sz="2800" dirty="0"/>
              <a:t> = 0;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800" dirty="0" err="1"/>
              <a:t>qFront</a:t>
            </a:r>
            <a:r>
              <a:rPr lang="en-US" sz="2800" dirty="0"/>
              <a:t> = </a:t>
            </a:r>
            <a:r>
              <a:rPr lang="en-US" sz="2800" dirty="0" err="1"/>
              <a:t>qRear</a:t>
            </a:r>
            <a:r>
              <a:rPr lang="en-US" sz="2800" dirty="0"/>
              <a:t> = -1;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}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618518"/>
            <a:ext cx="805934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GB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public bool </a:t>
            </a:r>
            <a:r>
              <a:rPr lang="en-US" dirty="0" err="1"/>
              <a:t>IsEmpty</a:t>
            </a:r>
            <a:r>
              <a:rPr lang="en-US" dirty="0"/>
              <a:t>()</a:t>
            </a:r>
          </a:p>
          <a:p>
            <a:pPr eaLnBrk="1" hangingPunct="1">
              <a:buFontTx/>
              <a:buNone/>
            </a:pPr>
            <a:r>
              <a:rPr lang="en-US" dirty="0"/>
              <a:t>{</a:t>
            </a:r>
          </a:p>
          <a:p>
            <a:pPr eaLnBrk="1" hangingPunct="1">
              <a:buFontTx/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FF9933"/>
                </a:solidFill>
              </a:rPr>
              <a:t>if </a:t>
            </a:r>
            <a:r>
              <a:rPr lang="en-US" dirty="0"/>
              <a:t>(</a:t>
            </a:r>
            <a:r>
              <a:rPr lang="en-US" dirty="0" err="1"/>
              <a:t>qNumItems</a:t>
            </a:r>
            <a:r>
              <a:rPr lang="en-US" dirty="0"/>
              <a:t> == 0)</a:t>
            </a:r>
          </a:p>
          <a:p>
            <a:pPr eaLnBrk="1" hangingPunct="1">
              <a:buFontTx/>
              <a:buNone/>
            </a:pPr>
            <a:r>
              <a:rPr lang="en-US" dirty="0"/>
              <a:t>			return true;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dirty="0"/>
              <a:t>		return false;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dirty="0"/>
              <a:t>}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1CEBD5C-B6DF-6B45-9E1A-D30EF6A6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68" y="0"/>
            <a:ext cx="85550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618518"/>
            <a:ext cx="798314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đầy</a:t>
            </a:r>
            <a:endParaRPr lang="en-GB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b="1" dirty="0">
                <a:solidFill>
                  <a:srgbClr val="FF9933"/>
                </a:solidFill>
              </a:rPr>
              <a:t>public bool </a:t>
            </a:r>
            <a:r>
              <a:rPr lang="en-US" dirty="0" err="1"/>
              <a:t>IsFull</a:t>
            </a:r>
            <a:r>
              <a:rPr lang="en-US" dirty="0"/>
              <a:t>()</a:t>
            </a:r>
          </a:p>
          <a:p>
            <a:pPr eaLnBrk="1" hangingPunct="1">
              <a:buFontTx/>
              <a:buNone/>
            </a:pPr>
            <a:r>
              <a:rPr lang="en-US" dirty="0"/>
              <a:t>{</a:t>
            </a:r>
          </a:p>
          <a:p>
            <a:pPr eaLnBrk="1" hangingPunct="1">
              <a:buFontTx/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FF9933"/>
                </a:solidFill>
              </a:rPr>
              <a:t>if </a:t>
            </a:r>
            <a:r>
              <a:rPr lang="en-US" dirty="0"/>
              <a:t>(</a:t>
            </a:r>
            <a:r>
              <a:rPr lang="en-US" dirty="0" err="1"/>
              <a:t>qMax</a:t>
            </a:r>
            <a:r>
              <a:rPr lang="en-US" dirty="0"/>
              <a:t> == </a:t>
            </a:r>
            <a:r>
              <a:rPr lang="en-US" dirty="0" err="1"/>
              <a:t>qNumItems</a:t>
            </a:r>
            <a:r>
              <a:rPr lang="en-US" dirty="0"/>
              <a:t>)</a:t>
            </a:r>
          </a:p>
          <a:p>
            <a:pPr eaLnBrk="1" hangingPunct="1">
              <a:buFontTx/>
              <a:buNone/>
            </a:pPr>
            <a:r>
              <a:rPr lang="en-US" dirty="0"/>
              <a:t>			return true;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dirty="0"/>
              <a:t>		return false;</a:t>
            </a:r>
            <a:endParaRPr lang="en-US" i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dirty="0"/>
              <a:t>}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"/>
            <a:ext cx="8439150" cy="914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queue</a:t>
            </a:r>
            <a:endParaRPr lang="en-GB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143000"/>
            <a:ext cx="7886700" cy="57150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public bool </a:t>
            </a:r>
            <a:r>
              <a:rPr lang="en-GB" dirty="0" err="1"/>
              <a:t>EnQueue</a:t>
            </a:r>
            <a:r>
              <a:rPr lang="en-GB" dirty="0"/>
              <a:t>(</a:t>
            </a:r>
            <a:r>
              <a:rPr lang="en-GB" b="1" dirty="0" err="1">
                <a:solidFill>
                  <a:srgbClr val="FF9933"/>
                </a:solidFill>
              </a:rPr>
              <a:t>int</a:t>
            </a:r>
            <a:r>
              <a:rPr lang="en-GB" b="1" dirty="0">
                <a:solidFill>
                  <a:srgbClr val="FF9933"/>
                </a:solidFill>
              </a:rPr>
              <a:t> </a:t>
            </a:r>
            <a:r>
              <a:rPr lang="en-GB" dirty="0" err="1"/>
              <a:t>newitem</a:t>
            </a:r>
            <a:r>
              <a:rPr lang="en-GB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b="1" dirty="0">
                <a:solidFill>
                  <a:srgbClr val="FF9933"/>
                </a:solidFill>
              </a:rPr>
              <a:t>if </a:t>
            </a:r>
            <a:r>
              <a:rPr lang="en-GB" dirty="0"/>
              <a:t>(</a:t>
            </a:r>
            <a:r>
              <a:rPr lang="en-GB" dirty="0" err="1"/>
              <a:t>IsFull</a:t>
            </a:r>
            <a:r>
              <a:rPr lang="en-GB" dirty="0"/>
              <a:t>())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	return false;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dirty="0" err="1"/>
              <a:t>qRear</a:t>
            </a:r>
            <a:r>
              <a:rPr lang="en-GB" dirty="0"/>
              <a:t>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b="1" dirty="0">
                <a:solidFill>
                  <a:srgbClr val="FF9933"/>
                </a:solidFill>
              </a:rPr>
              <a:t>if </a:t>
            </a:r>
            <a:r>
              <a:rPr lang="en-GB" dirty="0"/>
              <a:t>(</a:t>
            </a:r>
            <a:r>
              <a:rPr lang="en-GB" dirty="0" err="1"/>
              <a:t>qRear</a:t>
            </a:r>
            <a:r>
              <a:rPr lang="en-GB" dirty="0"/>
              <a:t>==</a:t>
            </a:r>
            <a:r>
              <a:rPr lang="en-GB" dirty="0" err="1"/>
              <a:t>qMax</a:t>
            </a:r>
            <a:r>
              <a:rPr lang="en-GB" dirty="0"/>
              <a:t>)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	</a:t>
            </a:r>
            <a:r>
              <a:rPr lang="en-GB" dirty="0" err="1"/>
              <a:t>qRear</a:t>
            </a:r>
            <a:r>
              <a:rPr lang="en-GB" dirty="0"/>
              <a:t> = 0;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dirty="0" err="1"/>
              <a:t>qArray</a:t>
            </a:r>
            <a:r>
              <a:rPr lang="en-GB" dirty="0"/>
              <a:t>[</a:t>
            </a:r>
            <a:r>
              <a:rPr lang="en-GB" dirty="0" err="1"/>
              <a:t>qRear</a:t>
            </a:r>
            <a:r>
              <a:rPr lang="en-GB" dirty="0"/>
              <a:t>] = </a:t>
            </a:r>
            <a:r>
              <a:rPr lang="en-GB" dirty="0" err="1"/>
              <a:t>newitem</a:t>
            </a:r>
            <a:r>
              <a:rPr lang="en-GB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i="1" dirty="0">
                <a:solidFill>
                  <a:schemeClr val="accent2"/>
                </a:solidFill>
              </a:rPr>
              <a:t>	</a:t>
            </a:r>
            <a:r>
              <a:rPr lang="en-GB" dirty="0"/>
              <a:t>	</a:t>
            </a:r>
            <a:r>
              <a:rPr lang="en-GB" b="1" dirty="0">
                <a:solidFill>
                  <a:srgbClr val="FF9933"/>
                </a:solidFill>
              </a:rPr>
              <a:t>if </a:t>
            </a:r>
            <a:r>
              <a:rPr lang="en-GB" dirty="0"/>
              <a:t>(</a:t>
            </a:r>
            <a:r>
              <a:rPr lang="en-GB" dirty="0" err="1"/>
              <a:t>qNumItems</a:t>
            </a:r>
            <a:r>
              <a:rPr lang="en-GB" dirty="0"/>
              <a:t>==0)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	</a:t>
            </a:r>
            <a:r>
              <a:rPr lang="en-GB" dirty="0" err="1"/>
              <a:t>qFront</a:t>
            </a:r>
            <a:r>
              <a:rPr lang="en-GB" dirty="0"/>
              <a:t>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dirty="0" err="1"/>
              <a:t>qNumItems</a:t>
            </a:r>
            <a:r>
              <a:rPr lang="en-GB" dirty="0"/>
              <a:t>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return true;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"/>
            <a:ext cx="8286750" cy="838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queue</a:t>
            </a:r>
            <a:endParaRPr lang="en-GB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838201"/>
            <a:ext cx="8286750" cy="5867399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public bool </a:t>
            </a:r>
            <a:r>
              <a:rPr lang="en-GB" dirty="0" err="1"/>
              <a:t>DeQueue</a:t>
            </a:r>
            <a:r>
              <a:rPr lang="en-GB" dirty="0"/>
              <a:t>(out int </a:t>
            </a:r>
            <a:r>
              <a:rPr lang="en-GB" dirty="0" err="1"/>
              <a:t>itemout</a:t>
            </a:r>
            <a:r>
              <a:rPr lang="en-GB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 </a:t>
            </a:r>
            <a:r>
              <a:rPr lang="en-GB" dirty="0" err="1"/>
              <a:t>itemout</a:t>
            </a:r>
            <a:r>
              <a:rPr lang="en-GB" dirty="0"/>
              <a:t>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		if </a:t>
            </a:r>
            <a:r>
              <a:rPr lang="en-GB" dirty="0"/>
              <a:t>(</a:t>
            </a:r>
            <a:r>
              <a:rPr lang="en-GB" dirty="0" err="1"/>
              <a:t>IsEmpty</a:t>
            </a:r>
            <a:r>
              <a:rPr lang="en-GB" dirty="0"/>
              <a:t>())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	return false;</a:t>
            </a:r>
            <a:endParaRPr lang="en-GB" i="1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GB" dirty="0"/>
              <a:t>		</a:t>
            </a:r>
            <a:r>
              <a:rPr lang="en-GB" dirty="0" err="1"/>
              <a:t>itemout</a:t>
            </a:r>
            <a:r>
              <a:rPr lang="en-GB" dirty="0"/>
              <a:t> = </a:t>
            </a:r>
            <a:r>
              <a:rPr lang="en-GB" dirty="0" err="1"/>
              <a:t>qArray</a:t>
            </a:r>
            <a:r>
              <a:rPr lang="en-GB" dirty="0"/>
              <a:t>[</a:t>
            </a:r>
            <a:r>
              <a:rPr lang="en-GB" dirty="0" err="1"/>
              <a:t>qFront</a:t>
            </a:r>
            <a:r>
              <a:rPr lang="en-GB" dirty="0"/>
              <a:t>];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dirty="0" err="1"/>
              <a:t>qFront</a:t>
            </a:r>
            <a:r>
              <a:rPr lang="en-GB" dirty="0"/>
              <a:t>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</a:t>
            </a:r>
            <a:r>
              <a:rPr lang="en-GB" dirty="0" err="1"/>
              <a:t>qNumItems</a:t>
            </a:r>
            <a:r>
              <a:rPr lang="en-GB" dirty="0"/>
              <a:t>--;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		if </a:t>
            </a:r>
            <a:r>
              <a:rPr lang="en-GB" dirty="0"/>
              <a:t>(</a:t>
            </a:r>
            <a:r>
              <a:rPr lang="en-GB" dirty="0" err="1"/>
              <a:t>qFront</a:t>
            </a:r>
            <a:r>
              <a:rPr lang="en-GB" dirty="0"/>
              <a:t>==</a:t>
            </a:r>
            <a:r>
              <a:rPr lang="en-GB" dirty="0" err="1"/>
              <a:t>qMax</a:t>
            </a:r>
            <a:r>
              <a:rPr lang="en-GB" dirty="0"/>
              <a:t>)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	</a:t>
            </a:r>
            <a:r>
              <a:rPr lang="en-GB" dirty="0" err="1"/>
              <a:t>qFront</a:t>
            </a:r>
            <a:r>
              <a:rPr lang="en-GB" dirty="0"/>
              <a:t> = 0;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		if </a:t>
            </a:r>
            <a:r>
              <a:rPr lang="en-GB" dirty="0"/>
              <a:t>(</a:t>
            </a:r>
            <a:r>
              <a:rPr lang="en-GB" dirty="0" err="1"/>
              <a:t>qNumItems</a:t>
            </a:r>
            <a:r>
              <a:rPr lang="en-GB" dirty="0"/>
              <a:t>==0)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	</a:t>
            </a:r>
            <a:r>
              <a:rPr lang="en-GB" dirty="0" err="1"/>
              <a:t>qFront</a:t>
            </a:r>
            <a:r>
              <a:rPr lang="en-GB" dirty="0"/>
              <a:t> = </a:t>
            </a:r>
            <a:r>
              <a:rPr lang="en-GB" dirty="0" err="1"/>
              <a:t>qRear</a:t>
            </a:r>
            <a:r>
              <a:rPr lang="en-GB" dirty="0"/>
              <a:t> = -1;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		return true;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6060" y="618518"/>
            <a:ext cx="813554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GB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856060" y="1752600"/>
            <a:ext cx="7659290" cy="4424363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public</a:t>
            </a:r>
            <a:r>
              <a:rPr lang="en-GB" sz="2800" b="1" dirty="0">
                <a:solidFill>
                  <a:srgbClr val="FF9933"/>
                </a:solidFill>
              </a:rPr>
              <a:t> bool </a:t>
            </a:r>
            <a:r>
              <a:rPr lang="en-GB" sz="2800" dirty="0"/>
              <a:t>Top(out int item)</a:t>
            </a:r>
          </a:p>
          <a:p>
            <a:pPr eaLnBrk="1" hangingPunct="1">
              <a:buFontTx/>
              <a:buNone/>
            </a:pPr>
            <a:r>
              <a:rPr lang="en-GB" sz="2800" dirty="0"/>
              <a:t>{</a:t>
            </a:r>
          </a:p>
          <a:p>
            <a:pPr eaLnBrk="1" hangingPunct="1">
              <a:buFontTx/>
              <a:buNone/>
            </a:pPr>
            <a:r>
              <a:rPr lang="en-GB" sz="2800" b="1" dirty="0">
                <a:solidFill>
                  <a:srgbClr val="FF9933"/>
                </a:solidFill>
              </a:rPr>
              <a:t>		if </a:t>
            </a:r>
            <a:r>
              <a:rPr lang="en-GB" sz="2800" dirty="0"/>
              <a:t>(</a:t>
            </a:r>
            <a:r>
              <a:rPr lang="en-GB" sz="2800" dirty="0" err="1"/>
              <a:t>IsEmpty</a:t>
            </a:r>
            <a:r>
              <a:rPr lang="en-GB" sz="2800" dirty="0"/>
              <a:t>())</a:t>
            </a:r>
          </a:p>
          <a:p>
            <a:pPr eaLnBrk="1" hangingPunct="1">
              <a:buFontTx/>
              <a:buNone/>
            </a:pPr>
            <a:r>
              <a:rPr lang="en-GB" sz="2800" dirty="0"/>
              <a:t>			return false;</a:t>
            </a:r>
            <a:endParaRPr lang="en-GB" sz="2800" i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GB" sz="2800" dirty="0"/>
              <a:t>		item = </a:t>
            </a:r>
            <a:r>
              <a:rPr lang="en-GB" sz="2800" dirty="0" err="1"/>
              <a:t>qArray</a:t>
            </a:r>
            <a:r>
              <a:rPr lang="en-GB" sz="2800" dirty="0"/>
              <a:t>[</a:t>
            </a:r>
            <a:r>
              <a:rPr lang="en-GB" sz="2800" dirty="0" err="1"/>
              <a:t>qFront</a:t>
            </a:r>
            <a:r>
              <a:rPr lang="en-GB" sz="2800" dirty="0"/>
              <a:t>];</a:t>
            </a:r>
          </a:p>
          <a:p>
            <a:pPr eaLnBrk="1" hangingPunct="1">
              <a:buFontTx/>
              <a:buNone/>
            </a:pPr>
            <a:r>
              <a:rPr lang="en-GB" sz="2800" dirty="0"/>
              <a:t>		return true;</a:t>
            </a:r>
          </a:p>
          <a:p>
            <a:pPr eaLnBrk="1" hangingPunct="1">
              <a:buFontTx/>
              <a:buNone/>
            </a:pPr>
            <a:r>
              <a:rPr lang="en-GB" sz="2800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18518"/>
            <a:ext cx="8305800" cy="1478570"/>
          </a:xfrm>
        </p:spPr>
        <p:txBody>
          <a:bodyPr/>
          <a:lstStyle/>
          <a:p>
            <a:pPr>
              <a:defRPr/>
            </a:pPr>
            <a:r>
              <a:rPr lang="en-US" dirty="0"/>
              <a:t>Queue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–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cuối</a:t>
            </a:r>
            <a:endParaRPr lang="en-GB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97089"/>
            <a:ext cx="8610600" cy="4142394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public int </a:t>
            </a:r>
            <a:r>
              <a:rPr lang="en-GB" dirty="0"/>
              <a:t>Last(out int item)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{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b="1" dirty="0">
                <a:solidFill>
                  <a:srgbClr val="FF9933"/>
                </a:solidFill>
              </a:rPr>
              <a:t>		if </a:t>
            </a:r>
            <a:r>
              <a:rPr lang="en-GB" dirty="0"/>
              <a:t>(</a:t>
            </a:r>
            <a:r>
              <a:rPr lang="en-GB" dirty="0" err="1"/>
              <a:t>IsEmpty</a:t>
            </a:r>
            <a:r>
              <a:rPr lang="en-GB" dirty="0"/>
              <a:t>())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			return false;</a:t>
            </a:r>
            <a:endParaRPr lang="en-GB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		item = </a:t>
            </a:r>
            <a:r>
              <a:rPr lang="en-GB" dirty="0" err="1"/>
              <a:t>qArray</a:t>
            </a:r>
            <a:r>
              <a:rPr lang="en-GB" dirty="0"/>
              <a:t>[</a:t>
            </a:r>
            <a:r>
              <a:rPr lang="en-GB" dirty="0" err="1"/>
              <a:t>qRear</a:t>
            </a:r>
            <a:r>
              <a:rPr lang="en-GB" dirty="0"/>
              <a:t>];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		return true;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GB"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525940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Cho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.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bản,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10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Queue –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GB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2097089"/>
            <a:ext cx="7886700" cy="3236912"/>
          </a:xfrm>
        </p:spPr>
        <p:txBody>
          <a:bodyPr>
            <a:noAutofit/>
          </a:bodyPr>
          <a:lstStyle/>
          <a:p>
            <a:pPr eaLnBrk="1" hangingPunct="1"/>
            <a:r>
              <a:rPr lang="en-GB" sz="2800" dirty="0" err="1"/>
              <a:t>Quản</a:t>
            </a:r>
            <a:r>
              <a:rPr lang="en-GB" sz="2800" dirty="0"/>
              <a:t> </a:t>
            </a:r>
            <a:r>
              <a:rPr lang="en-GB" sz="2800" dirty="0" err="1"/>
              <a:t>lý</a:t>
            </a:r>
            <a:r>
              <a:rPr lang="en-GB" sz="2800" dirty="0"/>
              <a:t> </a:t>
            </a:r>
            <a:r>
              <a:rPr lang="en-GB" sz="2800" dirty="0" err="1"/>
              <a:t>việc</a:t>
            </a:r>
            <a:r>
              <a:rPr lang="en-GB" sz="2800" dirty="0"/>
              <a:t> </a:t>
            </a:r>
            <a:r>
              <a:rPr lang="en-GB" sz="2800" dirty="0" err="1"/>
              <a:t>thực</a:t>
            </a:r>
            <a:r>
              <a:rPr lang="en-GB" sz="2800" dirty="0"/>
              <a:t> </a:t>
            </a:r>
            <a:r>
              <a:rPr lang="en-GB" sz="2800" dirty="0" err="1"/>
              <a:t>hiện</a:t>
            </a:r>
            <a:r>
              <a:rPr lang="en-GB" sz="2800" dirty="0"/>
              <a:t> </a:t>
            </a:r>
            <a:r>
              <a:rPr lang="en-GB" sz="2800" dirty="0" err="1"/>
              <a:t>các</a:t>
            </a:r>
            <a:r>
              <a:rPr lang="en-GB" sz="2800" dirty="0"/>
              <a:t> </a:t>
            </a:r>
            <a:r>
              <a:rPr lang="en-GB" sz="2800" dirty="0" err="1"/>
              <a:t>tác</a:t>
            </a:r>
            <a:r>
              <a:rPr lang="en-GB" sz="2800" dirty="0"/>
              <a:t> </a:t>
            </a:r>
            <a:r>
              <a:rPr lang="en-GB" sz="2800" dirty="0" err="1"/>
              <a:t>vụ</a:t>
            </a:r>
            <a:r>
              <a:rPr lang="en-GB" sz="2800" dirty="0"/>
              <a:t> (task) </a:t>
            </a:r>
            <a:r>
              <a:rPr lang="en-GB" sz="2800" dirty="0" err="1"/>
              <a:t>trong</a:t>
            </a:r>
            <a:r>
              <a:rPr lang="en-GB" sz="2800" dirty="0"/>
              <a:t> </a:t>
            </a:r>
            <a:r>
              <a:rPr lang="en-GB" sz="2800" dirty="0" err="1"/>
              <a:t>môi</a:t>
            </a:r>
            <a:r>
              <a:rPr lang="en-GB" sz="2800" dirty="0"/>
              <a:t> </a:t>
            </a:r>
            <a:r>
              <a:rPr lang="en-GB" sz="2800" dirty="0" err="1"/>
              <a:t>trường</a:t>
            </a:r>
            <a:r>
              <a:rPr lang="en-GB" sz="2800" dirty="0"/>
              <a:t> </a:t>
            </a:r>
            <a:r>
              <a:rPr lang="en-GB" sz="2800" dirty="0" err="1"/>
              <a:t>xử</a:t>
            </a:r>
            <a:r>
              <a:rPr lang="en-GB" sz="2800" dirty="0"/>
              <a:t> </a:t>
            </a:r>
            <a:r>
              <a:rPr lang="en-GB" sz="2800" dirty="0" err="1"/>
              <a:t>lý</a:t>
            </a:r>
            <a:r>
              <a:rPr lang="en-GB" sz="2800" dirty="0"/>
              <a:t> song </a:t>
            </a:r>
            <a:r>
              <a:rPr lang="en-GB" sz="2800" dirty="0" err="1"/>
              <a:t>song</a:t>
            </a:r>
            <a:endParaRPr lang="en-GB" sz="2800" dirty="0"/>
          </a:p>
          <a:p>
            <a:pPr eaLnBrk="1" hangingPunct="1"/>
            <a:r>
              <a:rPr lang="en-GB" sz="2800" dirty="0" err="1"/>
              <a:t>Hàng</a:t>
            </a:r>
            <a:r>
              <a:rPr lang="en-GB" sz="2800" dirty="0"/>
              <a:t> </a:t>
            </a:r>
            <a:r>
              <a:rPr lang="en-GB" sz="2800" dirty="0" err="1"/>
              <a:t>đợi</a:t>
            </a:r>
            <a:r>
              <a:rPr lang="en-GB" sz="2800" dirty="0"/>
              <a:t> in </a:t>
            </a:r>
            <a:r>
              <a:rPr lang="en-GB" sz="2800" dirty="0" err="1"/>
              <a:t>ấn</a:t>
            </a:r>
            <a:r>
              <a:rPr lang="en-GB" sz="2800" dirty="0"/>
              <a:t> </a:t>
            </a:r>
            <a:r>
              <a:rPr lang="en-GB" sz="2800" dirty="0" err="1"/>
              <a:t>các</a:t>
            </a:r>
            <a:r>
              <a:rPr lang="en-GB" sz="2800" dirty="0"/>
              <a:t> </a:t>
            </a:r>
            <a:r>
              <a:rPr lang="en-GB" sz="2800" dirty="0" err="1"/>
              <a:t>tài</a:t>
            </a:r>
            <a:r>
              <a:rPr lang="en-GB" sz="2800" dirty="0"/>
              <a:t> </a:t>
            </a:r>
            <a:r>
              <a:rPr lang="en-GB" sz="2800" dirty="0" err="1"/>
              <a:t>liệu</a:t>
            </a:r>
            <a:endParaRPr lang="en-GB" sz="2800" dirty="0"/>
          </a:p>
          <a:p>
            <a:pPr eaLnBrk="1" hangingPunct="1"/>
            <a:r>
              <a:rPr lang="en-GB" sz="2800" dirty="0" err="1"/>
              <a:t>Vùng</a:t>
            </a:r>
            <a:r>
              <a:rPr lang="en-GB" sz="2800" dirty="0"/>
              <a:t> </a:t>
            </a:r>
            <a:r>
              <a:rPr lang="en-GB" sz="2800" dirty="0" err="1"/>
              <a:t>nhớ</a:t>
            </a:r>
            <a:r>
              <a:rPr lang="en-GB" sz="2800" dirty="0"/>
              <a:t> </a:t>
            </a:r>
            <a:r>
              <a:rPr lang="en-GB" sz="2800" dirty="0" err="1"/>
              <a:t>đệm</a:t>
            </a:r>
            <a:r>
              <a:rPr lang="en-GB" sz="2800" dirty="0"/>
              <a:t> (buffer) </a:t>
            </a:r>
            <a:r>
              <a:rPr lang="en-GB" sz="2800" dirty="0" err="1"/>
              <a:t>dùng</a:t>
            </a:r>
            <a:r>
              <a:rPr lang="en-GB" sz="2800" dirty="0"/>
              <a:t> </a:t>
            </a:r>
            <a:r>
              <a:rPr lang="en-GB" sz="2800" dirty="0" err="1"/>
              <a:t>cho</a:t>
            </a:r>
            <a:r>
              <a:rPr lang="en-GB" sz="2800" dirty="0"/>
              <a:t> </a:t>
            </a:r>
            <a:r>
              <a:rPr lang="en-GB" sz="2800" dirty="0" err="1"/>
              <a:t>bàn</a:t>
            </a:r>
            <a:r>
              <a:rPr lang="en-GB" sz="2800" dirty="0"/>
              <a:t> </a:t>
            </a:r>
            <a:r>
              <a:rPr lang="en-GB" sz="2800" dirty="0" err="1"/>
              <a:t>phím</a:t>
            </a:r>
            <a:endParaRPr lang="en-GB" sz="2800" dirty="0"/>
          </a:p>
          <a:p>
            <a:pPr eaLnBrk="1" hangingPunct="1"/>
            <a:r>
              <a:rPr lang="en-GB" sz="2800" dirty="0" err="1"/>
              <a:t>Quản</a:t>
            </a:r>
            <a:r>
              <a:rPr lang="en-GB" sz="2800" dirty="0"/>
              <a:t> </a:t>
            </a:r>
            <a:r>
              <a:rPr lang="en-GB" sz="2800" dirty="0" err="1"/>
              <a:t>lý</a:t>
            </a:r>
            <a:r>
              <a:rPr lang="en-GB" sz="2800" dirty="0"/>
              <a:t> thang </a:t>
            </a:r>
            <a:r>
              <a:rPr lang="en-GB" sz="2800" dirty="0" err="1"/>
              <a:t>máy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2EC19-0896-4F10-AB6A-E8256D7366E4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94" y="1371600"/>
            <a:ext cx="3656012" cy="432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39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ECC68E-4C68-4FA6-A053-AC1AF5CC9D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B94C59-5B50-4CF5-80A2-EC98B542CB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B2E3E0-A1CA-4544-845F-086C78725FB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{2B94E141-4D87-FB43-9172-BF3243D5CA7A}tf10001122</Template>
  <TotalTime>7824</TotalTime>
  <Words>2775</Words>
  <Application>Microsoft Macintosh PowerPoint</Application>
  <PresentationFormat>On-screen Show (4:3)</PresentationFormat>
  <Paragraphs>690</Paragraphs>
  <Slides>65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76" baseType="lpstr">
      <vt:lpstr>新細明體</vt:lpstr>
      <vt:lpstr>Arial</vt:lpstr>
      <vt:lpstr>Calibri</vt:lpstr>
      <vt:lpstr>Tahoma</vt:lpstr>
      <vt:lpstr>Times New Roman</vt:lpstr>
      <vt:lpstr>Tw Cen MT</vt:lpstr>
      <vt:lpstr>Wingdings</vt:lpstr>
      <vt:lpstr>Circuit</vt:lpstr>
      <vt:lpstr>Microsoft Word 97 - 2004 Document</vt:lpstr>
      <vt:lpstr>Document</vt:lpstr>
      <vt:lpstr>文件</vt:lpstr>
      <vt:lpstr>PowerPoint Presentation</vt:lpstr>
      <vt:lpstr>Mục tiêu</vt:lpstr>
      <vt:lpstr>Stack</vt:lpstr>
      <vt:lpstr>Ví dụ về Stack</vt:lpstr>
      <vt:lpstr>Khái niệm Stack</vt:lpstr>
      <vt:lpstr>Thao tác cơ bản trên Stack</vt:lpstr>
      <vt:lpstr>Thao tác Push</vt:lpstr>
      <vt:lpstr>Thao tác Pop</vt:lpstr>
      <vt:lpstr>Stack – Ứng dụng</vt:lpstr>
      <vt:lpstr>Stack – Ứng dụng</vt:lpstr>
      <vt:lpstr>Bài toán tháp HaNoi</vt:lpstr>
      <vt:lpstr>Bài toán tháp hà nội</vt:lpstr>
      <vt:lpstr>Bài toán tháp hà nội</vt:lpstr>
      <vt:lpstr>Bài toán tháp hà nội</vt:lpstr>
      <vt:lpstr>Bài toán tháp hà nội</vt:lpstr>
      <vt:lpstr>Bài toán tháp hà nội</vt:lpstr>
      <vt:lpstr>Bài toán tháp hà nội</vt:lpstr>
      <vt:lpstr>Bài toán tháp hà nội</vt:lpstr>
      <vt:lpstr>Bài toán tháp hà nội</vt:lpstr>
      <vt:lpstr>Stack – Quick Sort</vt:lpstr>
      <vt:lpstr>Stack – Quick Sort</vt:lpstr>
      <vt:lpstr>Thực thi biểu thức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Cách kiểm tra xem chuyển Infix  Postfix?</vt:lpstr>
      <vt:lpstr>Stack – Sử dụng mảng</vt:lpstr>
      <vt:lpstr>stack – Sử dụng mảng</vt:lpstr>
      <vt:lpstr>Ví dụ stack số nguyên</vt:lpstr>
      <vt:lpstr>Stack số nguyên – Constructor</vt:lpstr>
      <vt:lpstr>Stack số nguyên – Kiểm tra rỗng</vt:lpstr>
      <vt:lpstr>Stack số nguyên – Kiểm tra đầy</vt:lpstr>
      <vt:lpstr>Stack số nguyên – Thêm vào stack</vt:lpstr>
      <vt:lpstr>Stack số nguyên – Lấy phần tử khỏi stack</vt:lpstr>
      <vt:lpstr>Bài tập</vt:lpstr>
      <vt:lpstr>Bài tập về nhà</vt:lpstr>
      <vt:lpstr>Q &amp; A</vt:lpstr>
      <vt:lpstr>Queue</vt:lpstr>
      <vt:lpstr>Queue – khái niệm</vt:lpstr>
      <vt:lpstr>Queue – các thao tác</vt:lpstr>
      <vt:lpstr>Queue</vt:lpstr>
      <vt:lpstr>Queue</vt:lpstr>
      <vt:lpstr>Ví dụ queue số nguyên</vt:lpstr>
      <vt:lpstr>Queue số nguyên</vt:lpstr>
      <vt:lpstr>Queue số nguyên – giải pháp</vt:lpstr>
      <vt:lpstr>Ví dụ Queue số nguyên</vt:lpstr>
      <vt:lpstr>Ví dụ Queue số nguyên</vt:lpstr>
      <vt:lpstr>Ví dụ Queue số nguyên</vt:lpstr>
      <vt:lpstr>Queue số nguyên – Khởi tạo</vt:lpstr>
      <vt:lpstr>Queue số nguyên – Kiểm tra rỗng</vt:lpstr>
      <vt:lpstr>Queue số nguyên – Kiểm tra đầy</vt:lpstr>
      <vt:lpstr>Queue số nguyên – Thêm phần tử vào queue</vt:lpstr>
      <vt:lpstr>Queue số nguyên – Lấy phần tử khỏi queue</vt:lpstr>
      <vt:lpstr>Queue số nguyên – Xem giá trị đầu</vt:lpstr>
      <vt:lpstr>Queue số nguyên – Xem giá trị cuối</vt:lpstr>
      <vt:lpstr>Bài tập áp dụng</vt:lpstr>
      <vt:lpstr>Queue – ứng dụng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Minh Thai</dc:creator>
  <cp:lastModifiedBy>Huỳnh Thành Lộc</cp:lastModifiedBy>
  <cp:revision>359</cp:revision>
  <dcterms:created xsi:type="dcterms:W3CDTF">2007-08-28T06:01:43Z</dcterms:created>
  <dcterms:modified xsi:type="dcterms:W3CDTF">2025-10-17T01:23:51Z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