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3" r:id="rId4"/>
  </p:sldMasterIdLst>
  <p:notesMasterIdLst>
    <p:notesMasterId r:id="rId30"/>
  </p:notesMasterIdLst>
  <p:handoutMasterIdLst>
    <p:handoutMasterId r:id="rId31"/>
  </p:handoutMasterIdLst>
  <p:sldIdLst>
    <p:sldId id="281" r:id="rId5"/>
    <p:sldId id="309" r:id="rId6"/>
    <p:sldId id="257" r:id="rId7"/>
    <p:sldId id="301" r:id="rId8"/>
    <p:sldId id="302" r:id="rId9"/>
    <p:sldId id="303" r:id="rId10"/>
    <p:sldId id="310" r:id="rId11"/>
    <p:sldId id="258" r:id="rId12"/>
    <p:sldId id="311" r:id="rId13"/>
    <p:sldId id="312" r:id="rId14"/>
    <p:sldId id="260" r:id="rId15"/>
    <p:sldId id="321" r:id="rId16"/>
    <p:sldId id="286" r:id="rId17"/>
    <p:sldId id="307" r:id="rId18"/>
    <p:sldId id="290" r:id="rId19"/>
    <p:sldId id="264" r:id="rId20"/>
    <p:sldId id="287" r:id="rId21"/>
    <p:sldId id="288" r:id="rId22"/>
    <p:sldId id="313" r:id="rId23"/>
    <p:sldId id="320" r:id="rId24"/>
    <p:sldId id="314" r:id="rId25"/>
    <p:sldId id="291" r:id="rId26"/>
    <p:sldId id="304" r:id="rId27"/>
    <p:sldId id="292" r:id="rId28"/>
    <p:sldId id="30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7" autoAdjust="0"/>
  </p:normalViewPr>
  <p:slideViewPr>
    <p:cSldViewPr>
      <p:cViewPr varScale="1">
        <p:scale>
          <a:sx n="109" d="100"/>
          <a:sy n="109" d="100"/>
        </p:scale>
        <p:origin x="19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F85CA1FC-A879-7C44-88EA-F6C078F1E139}"/>
    <pc:docChg chg="undo custSel modSld">
      <pc:chgData name="Loc Huynh" userId="80c0383e323bd6ea" providerId="LiveId" clId="{F85CA1FC-A879-7C44-88EA-F6C078F1E139}" dt="2021-09-14T01:59:21.176" v="5" actId="20577"/>
      <pc:docMkLst>
        <pc:docMk/>
      </pc:docMkLst>
      <pc:sldChg chg="modSp mod">
        <pc:chgData name="Loc Huynh" userId="80c0383e323bd6ea" providerId="LiveId" clId="{F85CA1FC-A879-7C44-88EA-F6C078F1E139}" dt="2021-09-14T01:59:09.945" v="3" actId="20577"/>
        <pc:sldMkLst>
          <pc:docMk/>
          <pc:sldMk cId="4027742155" sldId="320"/>
        </pc:sldMkLst>
        <pc:graphicFrameChg chg="modGraphic">
          <ac:chgData name="Loc Huynh" userId="80c0383e323bd6ea" providerId="LiveId" clId="{F85CA1FC-A879-7C44-88EA-F6C078F1E139}" dt="2021-09-14T01:59:09.945" v="3" actId="20577"/>
          <ac:graphicFrameMkLst>
            <pc:docMk/>
            <pc:sldMk cId="4027742155" sldId="320"/>
            <ac:graphicFrameMk id="6" creationId="{6CA41E2D-779F-E847-A4FD-1373CD32A4A0}"/>
          </ac:graphicFrameMkLst>
        </pc:graphicFrameChg>
      </pc:sldChg>
      <pc:sldChg chg="modSp mod">
        <pc:chgData name="Loc Huynh" userId="80c0383e323bd6ea" providerId="LiveId" clId="{F85CA1FC-A879-7C44-88EA-F6C078F1E139}" dt="2021-09-14T01:59:21.176" v="5" actId="20577"/>
        <pc:sldMkLst>
          <pc:docMk/>
          <pc:sldMk cId="607600498" sldId="321"/>
        </pc:sldMkLst>
        <pc:graphicFrameChg chg="modGraphic">
          <ac:chgData name="Loc Huynh" userId="80c0383e323bd6ea" providerId="LiveId" clId="{F85CA1FC-A879-7C44-88EA-F6C078F1E139}" dt="2021-09-14T01:59:21.176" v="5" actId="20577"/>
          <ac:graphicFrameMkLst>
            <pc:docMk/>
            <pc:sldMk cId="607600498" sldId="321"/>
            <ac:graphicFrameMk id="6" creationId="{BED986FC-C17B-764E-8BBE-CC6977A1B47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60F145-67B7-45DE-9BCB-C473C3BF630F}" type="datetimeFigureOut">
              <a:rPr lang="en-US"/>
              <a:pPr>
                <a:defRPr/>
              </a:pPr>
              <a:t>9/14/21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ACFEF89-4FC4-4778-A685-CB6EE9644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5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F18EEA4-A50C-4E27-8CC5-C86A724164D8}" type="datetimeFigureOut">
              <a:rPr lang="en-US"/>
              <a:pPr>
                <a:defRPr/>
              </a:pPr>
              <a:t>9/14/21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E6989F5-0928-4F14-9743-07BB8DCBF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CF9BC4-C3B2-43AE-8D0A-73FD4E765C0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C9E34D-DBC6-4603-9FF3-88D425ED668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3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fld id="{37D5896D-42FD-4845-A483-DDECC4E847E3}" type="datetime1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pPr>
              <a:defRPr/>
            </a:pPr>
            <a:fld id="{97A37FAC-A342-4278-9703-0CB90D5192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9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fld id="{57F1C4FE-4508-DD48-ACCB-3D75D96EF373}" type="datetime1">
              <a:rPr lang="en-US" smtClean="0"/>
              <a:t>9/14/21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0" y="6269737"/>
            <a:ext cx="578317" cy="365125"/>
          </a:xfrm>
        </p:spPr>
        <p:txBody>
          <a:bodyPr/>
          <a:lstStyle>
            <a:lvl1pPr>
              <a:defRPr sz="1200" b="1"/>
            </a:lvl1pPr>
          </a:lstStyle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87863B-7704-034B-9501-6CB320C05C0A}" type="datetime1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9CABB7-BCC1-4316-9022-CC5382FD31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2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EAAD63-9C17-D54A-B91E-9608AA170FC7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ACCF1-02A4-4F4A-BE77-8923DD327B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31D488-DC57-EE4D-872C-A800C84642AC}" type="datetime1">
              <a:rPr lang="en-US" smtClean="0"/>
              <a:t>9/14/21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3CEF60-1181-4889-A1F6-32EB69978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0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FA0EEA-F410-2B44-BF65-765584910CC8}" type="datetime1">
              <a:rPr lang="en-US" smtClean="0"/>
              <a:t>9/14/21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2AB19A-EB44-4090-B043-DF4E2D2223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DBF9EC-12C9-DE45-9BF5-25841FAC3F40}" type="datetime1">
              <a:rPr lang="en-US" smtClean="0"/>
              <a:t>9/14/21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0E8FE1-2FBA-4DD8-9E09-0439CB59CB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4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6B1831-0B34-6F40-AE32-344090F4A88A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D3FFB7-C0EE-4475-BBA6-8ED833A1E1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8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273BC3-0104-DF4B-B63D-B4FED750A1AF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CA116-3641-4B07-9485-E3ACF43B13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2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54100E-5EB8-A64B-BEB0-D31A728C1A18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B909EE-181D-7F46-9E11-532FD177C5C2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93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1CE864-A322-DA44-9E3F-8DF858FBF929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0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4EA5A-9445-AD45-B2A0-B3629F2DD812}" type="datetime1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41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385BE-00CB-1142-BF34-53ADC752063E}" type="datetime1">
              <a:rPr lang="en-US" smtClean="0"/>
              <a:t>9/14/21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8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2F40C8-02AB-A54F-AEFB-0790FD7D6D69}" type="datetime1">
              <a:rPr lang="en-US" smtClean="0"/>
              <a:t>9/14/21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99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8B803A-50C8-7F4B-8311-9881E78344F7}" type="datetime1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2F56D-23D5-46E3-967F-A3339CEC69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52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D93C37-9BE4-0E42-9AD2-1E6E44F7CD9F}" type="datetime1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210B88-58CA-42CC-AAC5-597A0697FC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6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55F4A1-535F-E74B-9326-2190919F7AF6}" type="datetime1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4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7" r:id="rId14"/>
    <p:sldLayoutId id="2147484058" r:id="rId15"/>
    <p:sldLayoutId id="2147484059" r:id="rId16"/>
    <p:sldLayoutId id="214748406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828800"/>
            <a:ext cx="7239000" cy="2047874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b="1" dirty="0" err="1">
                <a:cs typeface="Arial" panose="020B0604020202020204" pitchFamily="34" charset="0"/>
              </a:rPr>
              <a:t>Bài</a:t>
            </a:r>
            <a:r>
              <a:rPr lang="en-US" b="1" dirty="0">
                <a:cs typeface="Arial" panose="020B0604020202020204" pitchFamily="34" charset="0"/>
              </a:rPr>
              <a:t> 2</a:t>
            </a:r>
            <a:br>
              <a:rPr lang="en-US" b="1" dirty="0">
                <a:cs typeface="Arial" panose="020B0604020202020204" pitchFamily="34" charset="0"/>
              </a:rPr>
            </a:br>
            <a:r>
              <a:rPr lang="en-US" b="1" dirty="0" err="1">
                <a:cs typeface="Arial" panose="020B0604020202020204" pitchFamily="34" charset="0"/>
              </a:rPr>
              <a:t>Giải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thuật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tìm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kiếm</a:t>
            </a:r>
            <a:endParaRPr lang="en-US" b="1" dirty="0">
              <a:cs typeface="Arial" panose="020B0604020202020204" pitchFamily="34" charset="0"/>
            </a:endParaRP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990600" y="4191000"/>
            <a:ext cx="8001000" cy="21844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>
                <a:cs typeface="Arial" panose="020B0604020202020204" pitchFamily="34" charset="0"/>
              </a:rPr>
              <a:t>TS. Trần Minh Thái –  </a:t>
            </a:r>
            <a:r>
              <a:rPr lang="en-US" sz="2400" cap="none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minhthai@huflit.edu.vn</a:t>
            </a:r>
            <a:endParaRPr lang="en-US" sz="2400" dirty="0">
              <a:cs typeface="Arial" panose="020B0604020202020204" pitchFamily="34" charset="0"/>
            </a:endParaRPr>
          </a:p>
          <a:p>
            <a:pPr algn="l" eaLnBrk="1" hangingPunct="1"/>
            <a:r>
              <a:rPr lang="en-US" sz="2400" dirty="0" err="1">
                <a:cs typeface="Arial" panose="020B0604020202020204" pitchFamily="34" charset="0"/>
              </a:rPr>
              <a:t>Cập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nhật</a:t>
            </a:r>
            <a:r>
              <a:rPr lang="en-US" sz="2400" dirty="0">
                <a:cs typeface="Arial" panose="020B0604020202020204" pitchFamily="34" charset="0"/>
              </a:rPr>
              <a:t>: July 22, 2021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4A07C41-2634-4AA1-AC31-080EE886FF7D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44A-02FC-E54A-8A90-1C6202DA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889F8-F2C4-664F-A989-9323A0502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398999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endParaRPr lang="en-US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C#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BEABF-1825-904B-A9C5-ACCC073B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6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/>
              <a:t>Nhu cầu tìm kiếm và sắp xếp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indent="-182880" algn="just" eaLnBrk="1" fontAlgn="auto" hangingPunct="1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HTTT</a:t>
            </a:r>
          </a:p>
          <a:p>
            <a:pPr indent="-182880" algn="just" eaLnBrk="1" fontAlgn="auto" hangingPunct="1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dữ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liệu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có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thứ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tự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sắp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xếp</a:t>
            </a:r>
            <a:endParaRPr 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EC634AE-FD0E-40A8-87B2-F920A89D982A}" type="slidenum">
              <a:rPr lang="en-US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</a:t>
            </a:r>
            <a:r>
              <a:rPr lang="vi-VN" dirty="0"/>
              <a:t>ựa vào một phần thông tin được gọi là khoá (</a:t>
            </a:r>
            <a:r>
              <a:rPr lang="vi-VN" i="1" dirty="0"/>
              <a:t>key</a:t>
            </a:r>
            <a:r>
              <a:rPr lang="vi-VN" dirty="0"/>
              <a:t>)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tin (</a:t>
            </a:r>
            <a:r>
              <a:rPr lang="en-US" i="1" dirty="0"/>
              <a:t>record</a:t>
            </a:r>
            <a:r>
              <a:rPr lang="en-US" dirty="0"/>
              <a:t>)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b="1" dirty="0" err="1">
                <a:solidFill>
                  <a:srgbClr val="FFFF00"/>
                </a:solidFill>
              </a:rPr>
              <a:t>có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nhiều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mẫu</a:t>
            </a:r>
            <a:r>
              <a:rPr lang="en-US" b="1" dirty="0">
                <a:solidFill>
                  <a:srgbClr val="FFFF00"/>
                </a:solidFill>
              </a:rPr>
              <a:t> tin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 err="1">
                <a:solidFill>
                  <a:srgbClr val="FFFF00"/>
                </a:solidFill>
              </a:rPr>
              <a:t>không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có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tin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6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dirty="0"/>
              <a:t>Tìm kiếm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vi-VN" dirty="0"/>
              <a:t>là tác vụ tốn nhiều thời gian trong một chương trình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vi-VN" dirty="0"/>
              <a:t>ảnh hưởng lớn đến hiệu suất hoạt động của chương trình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tin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ngoại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D</a:t>
            </a:r>
            <a:r>
              <a:rPr lang="vi-VN" dirty="0"/>
              <a:t>ữ liệu lưu trên thiết bị lưu trữ ngoài như đĩa hay băng từ</a:t>
            </a:r>
            <a:r>
              <a:rPr lang="en-US" dirty="0"/>
              <a:t>: </a:t>
            </a:r>
            <a:r>
              <a:rPr lang="vi-VN" dirty="0"/>
              <a:t>tìm kiếm ngoại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D</a:t>
            </a:r>
            <a:r>
              <a:rPr lang="vi-VN" dirty="0"/>
              <a:t>ữ liệu được lưu trữ trên</a:t>
            </a:r>
            <a:r>
              <a:rPr lang="en-US" dirty="0"/>
              <a:t> </a:t>
            </a:r>
            <a:r>
              <a:rPr lang="vi-VN" dirty="0"/>
              <a:t>bộ nhớ chính</a:t>
            </a:r>
            <a:r>
              <a:rPr lang="en-US" dirty="0"/>
              <a:t>: </a:t>
            </a:r>
            <a:r>
              <a:rPr lang="vi-VN" dirty="0"/>
              <a:t>tìm kiếm nội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4B77-5FCB-D94A-AF65-4A3D1B28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Các giải thuật tìm kiếm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C8E0-01DA-EA4C-BD13-430B51795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87"/>
            <a:ext cx="3715940" cy="3541714"/>
          </a:xfrm>
        </p:spPr>
        <p:txBody>
          <a:bodyPr>
            <a:normAutofit/>
          </a:bodyPr>
          <a:lstStyle/>
          <a:p>
            <a:r>
              <a:rPr lang="en-VN" dirty="0"/>
              <a:t>Tìm kiếm phần tử</a:t>
            </a:r>
          </a:p>
          <a:p>
            <a:pPr lvl="1"/>
            <a:r>
              <a:rPr lang="en-US" dirty="0"/>
              <a:t>Linear Search</a:t>
            </a:r>
          </a:p>
          <a:p>
            <a:pPr lvl="1"/>
            <a:r>
              <a:rPr lang="en-US" dirty="0"/>
              <a:t>Binary Search</a:t>
            </a:r>
          </a:p>
          <a:p>
            <a:pPr lvl="1"/>
            <a:r>
              <a:rPr lang="en-US" dirty="0"/>
              <a:t>Jump Search</a:t>
            </a:r>
          </a:p>
          <a:p>
            <a:pPr lvl="1"/>
            <a:r>
              <a:rPr lang="en-US" dirty="0"/>
              <a:t>Interpolation Search</a:t>
            </a:r>
          </a:p>
          <a:p>
            <a:pPr lvl="1"/>
            <a:r>
              <a:rPr lang="en-US" dirty="0"/>
              <a:t>…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52EE-A267-2949-A309-27357BE5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6F6DF8-60E6-E44E-B34C-6F5E00CA0BDB}"/>
              </a:ext>
            </a:extLst>
          </p:cNvPr>
          <p:cNvSpPr txBox="1">
            <a:spLocks/>
          </p:cNvSpPr>
          <p:nvPr/>
        </p:nvSpPr>
        <p:spPr>
          <a:xfrm>
            <a:off x="4495800" y="2295524"/>
            <a:ext cx="4100351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effectLst>
                  <a:outerShdw blurRad="127000" dist="38100" dir="2700000" algn="tl">
                    <a:srgbClr val="000000">
                      <a:alpha val="33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N" dirty="0"/>
              <a:t>Tìm kiếm mẫu</a:t>
            </a:r>
          </a:p>
          <a:p>
            <a:pPr lvl="1"/>
            <a:r>
              <a:rPr lang="en-US" dirty="0"/>
              <a:t>Naive Pattern Searching</a:t>
            </a:r>
          </a:p>
          <a:p>
            <a:pPr lvl="1"/>
            <a:r>
              <a:rPr lang="en-US" dirty="0"/>
              <a:t>KMP Algorithm</a:t>
            </a:r>
          </a:p>
          <a:p>
            <a:pPr lvl="1"/>
            <a:r>
              <a:rPr lang="en-US" dirty="0"/>
              <a:t>Rabin-Karp Algorithm</a:t>
            </a:r>
          </a:p>
          <a:p>
            <a:pPr lvl="1"/>
            <a:r>
              <a:rPr lang="en-US" dirty="0"/>
              <a:t>Suffix Array</a:t>
            </a:r>
          </a:p>
          <a:p>
            <a:pPr lvl="1"/>
            <a:r>
              <a:rPr lang="en-US" dirty="0"/>
              <a:t>…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1575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dãy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3846513"/>
          </a:xfrm>
        </p:spPr>
        <p:txBody>
          <a:bodyPr rtlCol="0">
            <a:normAutofit lnSpcReduction="10000"/>
          </a:bodyPr>
          <a:lstStyle/>
          <a:p>
            <a:pPr indent="-182880" algn="just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: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  <a:p>
            <a:pPr marL="548640" lvl="1"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/>
          </a:p>
          <a:p>
            <a:pPr marL="548640" lvl="1"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b="1" dirty="0"/>
              <a:t> a</a:t>
            </a:r>
            <a:r>
              <a:rPr lang="en-US" b="1" baseline="-25000" dirty="0"/>
              <a:t>1</a:t>
            </a:r>
            <a:r>
              <a:rPr lang="en-US" b="1" dirty="0"/>
              <a:t>, a</a:t>
            </a:r>
            <a:r>
              <a:rPr lang="en-US" b="1" baseline="-25000" dirty="0"/>
              <a:t>2</a:t>
            </a:r>
            <a:r>
              <a:rPr lang="en-US" b="1" dirty="0"/>
              <a:t>, ... ,</a:t>
            </a:r>
            <a:r>
              <a:rPr lang="en-US" b="1" dirty="0" err="1"/>
              <a:t>a</a:t>
            </a:r>
            <a:r>
              <a:rPr lang="en-US" b="1" baseline="-25000" dirty="0" err="1"/>
              <a:t>N</a:t>
            </a:r>
            <a:endParaRPr lang="en-US" dirty="0"/>
          </a:p>
          <a:p>
            <a:pPr marL="548640" lvl="1" indent="-182880" algn="just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: </a:t>
            </a:r>
            <a:r>
              <a:rPr lang="en-US" b="1" dirty="0"/>
              <a:t>int []a = new int[N]</a:t>
            </a:r>
            <a:endParaRPr lang="en-US" dirty="0"/>
          </a:p>
          <a:p>
            <a:pPr marL="548640" lvl="1"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: </a:t>
            </a:r>
            <a:r>
              <a:rPr lang="en-US" b="1" dirty="0"/>
              <a:t>int x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781CEED-1CF2-4010-A5CC-3799D876D1A1}" type="slidenum">
              <a:rPr lang="en-US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527"/>
              </p:ext>
            </p:extLst>
          </p:nvPr>
        </p:nvGraphicFramePr>
        <p:xfrm>
          <a:off x="1179909" y="3504359"/>
          <a:ext cx="678180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0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1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2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3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4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…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N-2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</a:t>
                      </a:r>
                      <a:r>
                        <a:rPr lang="en-US" sz="2400" b="1" baseline="-25000" dirty="0"/>
                        <a:t>N-1</a:t>
                      </a:r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7B25-1575-9849-99D7-776765202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(Linear Search)</a:t>
            </a:r>
            <a:endParaRPr lang="en-VN" dirty="0"/>
          </a:p>
        </p:txBody>
      </p:sp>
      <p:pic>
        <p:nvPicPr>
          <p:cNvPr id="6" name="Picture 5" descr="A picture containing text, green&#10;&#10;Description automatically generated">
            <a:extLst>
              <a:ext uri="{FF2B5EF4-FFF2-40B4-BE49-F238E27FC236}">
                <a16:creationId xmlns:a16="http://schemas.microsoft.com/office/drawing/2014/main" id="{681F25E3-D8AB-1A4B-8812-640C9B666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992840"/>
            <a:ext cx="5450326" cy="252077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65D6F-BDD7-1641-A6FE-8FC7DDB4E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2249486"/>
            <a:ext cx="3428999" cy="4059873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 err="1"/>
              <a:t>Ý</a:t>
            </a:r>
            <a:r>
              <a:rPr lang="en-US" b="1" dirty="0"/>
              <a:t> </a:t>
            </a:r>
            <a:r>
              <a:rPr lang="en-US" b="1" dirty="0" err="1"/>
              <a:t>tưởng</a:t>
            </a:r>
            <a:r>
              <a:rPr lang="en-US" b="1" dirty="0"/>
              <a:t> </a:t>
            </a:r>
            <a:endParaRPr lang="en-US" dirty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/>
              <a:t>	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...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F71F3-EFD2-E549-A72E-835D2FE8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7240" y="6309360"/>
            <a:ext cx="57831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62AC803A-1B25-4D7C-8D52-15653B907192}" type="slidenum">
              <a:rPr lang="en-US" smtClean="0"/>
              <a:pPr>
                <a:spcAft>
                  <a:spcPts val="600"/>
                </a:spcAft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9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82000" cy="4343399"/>
          </a:xfrm>
        </p:spPr>
        <p:txBody>
          <a:bodyPr rtlCol="0">
            <a:normAutofit/>
          </a:bodyPr>
          <a:lstStyle/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x =10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x =25</a:t>
            </a:r>
          </a:p>
          <a:p>
            <a:pPr marL="548640" lvl="1" indent="-182880" eaLnBrk="1" fontAlgn="auto" hangingPunct="1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6602F15-04F7-4F71-8D61-61855287BEAC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6" name="Cloud 15"/>
          <p:cNvSpPr/>
          <p:nvPr/>
        </p:nvSpPr>
        <p:spPr>
          <a:xfrm>
            <a:off x="7086600" y="4525962"/>
            <a:ext cx="1600200" cy="8382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Chưa hết mảng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2916238"/>
          <a:ext cx="6096000" cy="7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5232400"/>
          <a:ext cx="6096000" cy="7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38200" y="2459038"/>
            <a:ext cx="609600" cy="838200"/>
            <a:chOff x="838200" y="3657600"/>
            <a:chExt cx="609600" cy="838200"/>
          </a:xfrm>
        </p:grpSpPr>
        <p:sp>
          <p:nvSpPr>
            <p:cNvPr id="6" name="Down Arrow Callout 5"/>
            <p:cNvSpPr/>
            <p:nvPr/>
          </p:nvSpPr>
          <p:spPr>
            <a:xfrm>
              <a:off x="838200" y="36576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/>
                <a:t>10</a:t>
              </a:r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838200" y="4114800"/>
              <a:ext cx="609600" cy="381000"/>
            </a:xfrm>
            <a:prstGeom prst="flowChartProcess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b="1"/>
            </a:p>
          </p:txBody>
        </p:sp>
      </p:grpSp>
      <p:sp>
        <p:nvSpPr>
          <p:cNvPr id="11" name="Flowchart: Process 10"/>
          <p:cNvSpPr/>
          <p:nvPr/>
        </p:nvSpPr>
        <p:spPr>
          <a:xfrm>
            <a:off x="3276600" y="2895600"/>
            <a:ext cx="609600" cy="38100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10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838200" y="4775200"/>
            <a:ext cx="609600" cy="787400"/>
            <a:chOff x="838200" y="5384800"/>
            <a:chExt cx="609600" cy="787400"/>
          </a:xfrm>
        </p:grpSpPr>
        <p:sp>
          <p:nvSpPr>
            <p:cNvPr id="8" name="Down Arrow Callout 7"/>
            <p:cNvSpPr/>
            <p:nvPr/>
          </p:nvSpPr>
          <p:spPr>
            <a:xfrm>
              <a:off x="838200" y="53848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/>
                <a:t>25</a:t>
              </a: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838200" y="5867400"/>
              <a:ext cx="609600" cy="304800"/>
            </a:xfrm>
            <a:prstGeom prst="flowChartProcess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b="1"/>
            </a:p>
          </p:txBody>
        </p:sp>
      </p:grpSp>
      <p:sp>
        <p:nvSpPr>
          <p:cNvPr id="14" name="Cloud 13"/>
          <p:cNvSpPr/>
          <p:nvPr/>
        </p:nvSpPr>
        <p:spPr>
          <a:xfrm>
            <a:off x="7086600" y="2362200"/>
            <a:ext cx="1524000" cy="10668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Chưa hết mảng</a:t>
            </a:r>
          </a:p>
        </p:txBody>
      </p:sp>
      <p:sp>
        <p:nvSpPr>
          <p:cNvPr id="15" name="Cloud 14"/>
          <p:cNvSpPr/>
          <p:nvPr/>
        </p:nvSpPr>
        <p:spPr>
          <a:xfrm>
            <a:off x="6934200" y="2286000"/>
            <a:ext cx="1752600" cy="1163638"/>
          </a:xfrm>
          <a:prstGeom prst="cloud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thấy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4</a:t>
            </a:r>
          </a:p>
        </p:txBody>
      </p:sp>
      <p:sp>
        <p:nvSpPr>
          <p:cNvPr id="17" name="Cloud 16"/>
          <p:cNvSpPr/>
          <p:nvPr/>
        </p:nvSpPr>
        <p:spPr>
          <a:xfrm>
            <a:off x="7086600" y="4495800"/>
            <a:ext cx="1752600" cy="1066800"/>
          </a:xfrm>
          <a:prstGeom prst="cloud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hết</a:t>
            </a:r>
            <a:r>
              <a:rPr lang="en-US" sz="2000" dirty="0"/>
              <a:t> </a:t>
            </a:r>
            <a:r>
              <a:rPr lang="en-US" sz="2000" dirty="0" err="1"/>
              <a:t>mảng</a:t>
            </a:r>
            <a:endParaRPr lang="en-US" sz="200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C331A6C-8025-3349-A2A2-E995605B9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VN" dirty="0"/>
              <a:t>ìm tuần tự</a:t>
            </a:r>
          </a:p>
        </p:txBody>
      </p:sp>
    </p:spTree>
    <p:extLst>
      <p:ext uri="{BB962C8B-B14F-4D97-AF65-F5344CB8AC3E}">
        <p14:creationId xmlns:p14="http://schemas.microsoft.com/office/powerpoint/2010/main" val="440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07083 -0.0018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-0.00185 L 0.1375 -4.44444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5 -4.44444E-6 L 0.19861 -4.44444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61 -4.44444E-6 L 0.26806 -0.0018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7" presetID="3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10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6806 -0.00185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06 -2.59259E-6 L 0.13472 -2.59259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72 0.00185 L 0.20139 -2.59259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39 -2.59259E-6 L 0.27639 -2.59259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639 -2.59259E-6 L 0.34306 -2.59259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306 -2.59259E-6 L 0.40139 -2.59259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7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139 -2.59259E-6 L 0.46806 -2.59259E-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7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06 -2.59259E-6 L 0.53472 -2.59259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8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472 -2.59259E-6 L 0.60139 -0.00185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39 -0.00185 L 0.66806 -0.0018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1" grpId="0" animBg="1"/>
      <p:bldP spid="14" grpId="0" animBg="1"/>
      <p:bldP spid="14" grpId="1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14400" y="1603375"/>
            <a:ext cx="7924800" cy="5102225"/>
          </a:xfrm>
        </p:spPr>
        <p:txBody>
          <a:bodyPr rtlCol="0">
            <a:normAutofit/>
          </a:bodyPr>
          <a:lstStyle/>
          <a:p>
            <a:pPr marL="205740" indent="-182880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r>
              <a:rPr lang="en-US" sz="2400" b="1" i="1" u="sng" dirty="0" err="1"/>
              <a:t>Bước</a:t>
            </a:r>
            <a:r>
              <a:rPr lang="en-US" sz="2400" b="1" i="1" u="sng" dirty="0"/>
              <a:t> 1:</a:t>
            </a:r>
            <a:r>
              <a:rPr lang="en-US" sz="2400" b="1" i="1" dirty="0"/>
              <a:t> </a:t>
            </a:r>
            <a:endParaRPr lang="en-US" sz="2400" b="1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r>
              <a:rPr lang="en-US" sz="2400" i="1" dirty="0"/>
              <a:t> 	</a:t>
            </a:r>
            <a:r>
              <a:rPr lang="en-US" sz="2400" i="1" dirty="0" err="1"/>
              <a:t>i</a:t>
            </a:r>
            <a:r>
              <a:rPr lang="en-US" sz="2400" i="1" dirty="0"/>
              <a:t> = 0;         //</a:t>
            </a:r>
            <a:r>
              <a:rPr lang="en-US" sz="2400" i="1" dirty="0" err="1"/>
              <a:t>bắt</a:t>
            </a:r>
            <a:r>
              <a:rPr lang="en-US" sz="2400" i="1" dirty="0"/>
              <a:t> </a:t>
            </a:r>
            <a:r>
              <a:rPr lang="en-US" sz="2400" i="1" dirty="0" err="1"/>
              <a:t>đầu</a:t>
            </a:r>
            <a:r>
              <a:rPr lang="en-US" sz="2400" i="1" dirty="0"/>
              <a:t> </a:t>
            </a:r>
            <a:r>
              <a:rPr lang="en-US" sz="2400" i="1" dirty="0" err="1"/>
              <a:t>từ</a:t>
            </a:r>
            <a:r>
              <a:rPr lang="en-US" sz="2400" i="1" dirty="0"/>
              <a:t> </a:t>
            </a:r>
            <a:r>
              <a:rPr lang="en-US" sz="2400" i="1" dirty="0" err="1"/>
              <a:t>phần</a:t>
            </a:r>
            <a:r>
              <a:rPr lang="en-US" sz="2400" i="1" dirty="0"/>
              <a:t> </a:t>
            </a:r>
            <a:r>
              <a:rPr lang="en-US" sz="2400" i="1" dirty="0" err="1"/>
              <a:t>tử</a:t>
            </a:r>
            <a:r>
              <a:rPr lang="en-US" sz="2400" i="1" dirty="0"/>
              <a:t> </a:t>
            </a:r>
            <a:r>
              <a:rPr lang="en-US" sz="2400" i="1" dirty="0" err="1"/>
              <a:t>đầu</a:t>
            </a:r>
            <a:r>
              <a:rPr lang="en-US" sz="2400" i="1" dirty="0"/>
              <a:t> </a:t>
            </a:r>
            <a:r>
              <a:rPr lang="en-US" sz="2400" i="1" dirty="0" err="1"/>
              <a:t>tiên</a:t>
            </a:r>
            <a:r>
              <a:rPr lang="en-US" sz="2400" i="1" dirty="0"/>
              <a:t> </a:t>
            </a:r>
            <a:r>
              <a:rPr lang="en-US" sz="2400" i="1" dirty="0" err="1"/>
              <a:t>của</a:t>
            </a:r>
            <a:r>
              <a:rPr lang="en-US" sz="2400" i="1" dirty="0"/>
              <a:t> </a:t>
            </a:r>
            <a:r>
              <a:rPr lang="en-US" sz="2400" i="1" dirty="0" err="1"/>
              <a:t>dãy</a:t>
            </a:r>
            <a:r>
              <a:rPr lang="en-US" sz="2400" i="1" dirty="0"/>
              <a:t> </a:t>
            </a:r>
            <a:endParaRPr lang="en-US" sz="2400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r>
              <a:rPr lang="en-US" sz="2400" b="1" i="1" u="sng" dirty="0" err="1"/>
              <a:t>Bước</a:t>
            </a:r>
            <a:r>
              <a:rPr lang="en-US" sz="2400" b="1" i="1" u="sng" dirty="0"/>
              <a:t> 2:</a:t>
            </a:r>
            <a:r>
              <a:rPr lang="en-US" sz="2400" b="1" i="1" dirty="0"/>
              <a:t> </a:t>
            </a:r>
            <a:r>
              <a:rPr lang="en-US" sz="2400" i="1" dirty="0"/>
              <a:t>So </a:t>
            </a:r>
            <a:r>
              <a:rPr lang="en-US" sz="2400" i="1" dirty="0" err="1"/>
              <a:t>sánh</a:t>
            </a:r>
            <a:r>
              <a:rPr lang="en-US" sz="2400" i="1" dirty="0"/>
              <a:t> a[</a:t>
            </a:r>
            <a:r>
              <a:rPr lang="en-US" sz="2400" i="1" dirty="0" err="1"/>
              <a:t>i</a:t>
            </a:r>
            <a:r>
              <a:rPr lang="en-US" sz="2400" i="1" dirty="0"/>
              <a:t>] </a:t>
            </a:r>
            <a:r>
              <a:rPr lang="en-US" sz="2400" i="1" dirty="0" err="1"/>
              <a:t>với</a:t>
            </a:r>
            <a:r>
              <a:rPr lang="en-US" sz="2400" i="1" dirty="0"/>
              <a:t> x, </a:t>
            </a:r>
            <a:r>
              <a:rPr lang="en-US" sz="2400" i="1" dirty="0" err="1"/>
              <a:t>có</a:t>
            </a:r>
            <a:r>
              <a:rPr lang="en-US" sz="2400" i="1" dirty="0"/>
              <a:t>  2 </a:t>
            </a:r>
            <a:r>
              <a:rPr lang="en-US" sz="2400" i="1" dirty="0" err="1"/>
              <a:t>khả</a:t>
            </a:r>
            <a:r>
              <a:rPr lang="en-US" sz="2400" i="1" dirty="0"/>
              <a:t> </a:t>
            </a:r>
            <a:r>
              <a:rPr lang="en-US" sz="2400" i="1" dirty="0" err="1"/>
              <a:t>năng</a:t>
            </a:r>
            <a:r>
              <a:rPr lang="en-US" sz="2400" i="1" dirty="0"/>
              <a:t>: </a:t>
            </a:r>
            <a:endParaRPr lang="en-US" sz="2400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2400" i="1" dirty="0"/>
              <a:t>a[</a:t>
            </a:r>
            <a:r>
              <a:rPr lang="en-US" sz="2400" i="1" dirty="0" err="1"/>
              <a:t>i</a:t>
            </a:r>
            <a:r>
              <a:rPr lang="en-US" sz="2400" i="1" dirty="0"/>
              <a:t>] = x : </a:t>
            </a:r>
            <a:r>
              <a:rPr lang="en-US" sz="2400" i="1" dirty="0" err="1"/>
              <a:t>Tìm</a:t>
            </a:r>
            <a:r>
              <a:rPr lang="en-US" sz="2400" i="1" dirty="0"/>
              <a:t> </a:t>
            </a:r>
            <a:r>
              <a:rPr lang="en-US" sz="2400" i="1" dirty="0" err="1"/>
              <a:t>thấy</a:t>
            </a:r>
            <a:r>
              <a:rPr lang="en-US" sz="2400" i="1" dirty="0"/>
              <a:t>, </a:t>
            </a:r>
            <a:r>
              <a:rPr lang="en-US" sz="2400" b="1" i="1" dirty="0" err="1">
                <a:solidFill>
                  <a:srgbClr val="FF0000"/>
                </a:solidFill>
              </a:rPr>
              <a:t>trả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về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vị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trí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i</a:t>
            </a:r>
            <a:r>
              <a:rPr lang="en-US" sz="2400" b="1" i="1" dirty="0">
                <a:solidFill>
                  <a:srgbClr val="FF0000"/>
                </a:solidFill>
              </a:rPr>
              <a:t>, </a:t>
            </a:r>
            <a:r>
              <a:rPr lang="en-US" sz="2400" b="1" i="1" dirty="0" err="1">
                <a:solidFill>
                  <a:srgbClr val="FF0000"/>
                </a:solidFill>
              </a:rPr>
              <a:t>kết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thúc</a:t>
            </a:r>
            <a:endParaRPr lang="en-US" sz="2400" b="1" dirty="0">
              <a:solidFill>
                <a:srgbClr val="FF0000"/>
              </a:solidFill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2400" i="1" dirty="0"/>
              <a:t>a[</a:t>
            </a:r>
            <a:r>
              <a:rPr lang="en-US" sz="2400" i="1" dirty="0" err="1"/>
              <a:t>i</a:t>
            </a:r>
            <a:r>
              <a:rPr lang="en-US" sz="2400" i="1" dirty="0"/>
              <a:t>] != x :  Sang </a:t>
            </a:r>
            <a:r>
              <a:rPr lang="en-US" sz="2400" i="1" dirty="0" err="1"/>
              <a:t>Bước</a:t>
            </a:r>
            <a:r>
              <a:rPr lang="en-US" sz="2400" i="1" dirty="0"/>
              <a:t> 3. </a:t>
            </a:r>
            <a:endParaRPr lang="en-US" sz="2400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r>
              <a:rPr lang="en-US" sz="2400" b="1" i="1" u="sng" dirty="0" err="1"/>
              <a:t>Bước</a:t>
            </a:r>
            <a:r>
              <a:rPr lang="en-US" sz="2400" b="1" i="1" u="sng" dirty="0"/>
              <a:t> 3</a:t>
            </a:r>
            <a:r>
              <a:rPr lang="en-US" sz="2400" b="1" i="1" dirty="0"/>
              <a:t>: </a:t>
            </a:r>
            <a:endParaRPr lang="en-US" sz="2400" b="1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2400" i="1" dirty="0"/>
              <a:t> </a:t>
            </a:r>
            <a:r>
              <a:rPr lang="en-US" sz="2400" i="1" dirty="0" err="1"/>
              <a:t>i</a:t>
            </a:r>
            <a:r>
              <a:rPr lang="en-US" sz="2400" i="1" dirty="0"/>
              <a:t> = i+1;      //</a:t>
            </a:r>
            <a:r>
              <a:rPr lang="en-US" sz="2400" i="1" dirty="0" err="1"/>
              <a:t>xét</a:t>
            </a:r>
            <a:r>
              <a:rPr lang="en-US" sz="2400" i="1" dirty="0"/>
              <a:t> </a:t>
            </a:r>
            <a:r>
              <a:rPr lang="en-US" sz="2400" i="1" dirty="0" err="1"/>
              <a:t>phần</a:t>
            </a:r>
            <a:r>
              <a:rPr lang="en-US" sz="2400" i="1" dirty="0"/>
              <a:t> </a:t>
            </a:r>
            <a:r>
              <a:rPr lang="en-US" sz="2400" i="1" dirty="0" err="1"/>
              <a:t>tử</a:t>
            </a:r>
            <a:r>
              <a:rPr lang="en-US" sz="2400" i="1" dirty="0"/>
              <a:t> </a:t>
            </a:r>
            <a:r>
              <a:rPr lang="en-US" sz="2400" i="1" dirty="0" err="1"/>
              <a:t>kế</a:t>
            </a:r>
            <a:r>
              <a:rPr lang="en-US" sz="2400" i="1" dirty="0"/>
              <a:t> </a:t>
            </a:r>
            <a:r>
              <a:rPr lang="en-US" sz="2400" i="1" dirty="0" err="1"/>
              <a:t>tiếp</a:t>
            </a:r>
            <a:r>
              <a:rPr lang="en-US" sz="2400" i="1" dirty="0"/>
              <a:t>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mảng</a:t>
            </a:r>
            <a:r>
              <a:rPr lang="en-US" sz="2400" i="1" dirty="0"/>
              <a:t> </a:t>
            </a:r>
            <a:endParaRPr lang="en-US" sz="2400" dirty="0"/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2400" i="1" dirty="0"/>
              <a:t> </a:t>
            </a:r>
            <a:r>
              <a:rPr lang="en-US" sz="2400" i="1" dirty="0" err="1"/>
              <a:t>Nếu</a:t>
            </a:r>
            <a:r>
              <a:rPr lang="en-US" sz="2400" i="1" dirty="0"/>
              <a:t> </a:t>
            </a:r>
            <a:r>
              <a:rPr lang="en-US" sz="2400" i="1" dirty="0" err="1"/>
              <a:t>i</a:t>
            </a:r>
            <a:r>
              <a:rPr lang="en-US" sz="2400" i="1" dirty="0"/>
              <a:t> &gt;N-1: </a:t>
            </a:r>
            <a:r>
              <a:rPr lang="en-US" sz="2400" i="1" dirty="0" err="1"/>
              <a:t>Hết</a:t>
            </a:r>
            <a:r>
              <a:rPr lang="en-US" sz="2400" i="1" dirty="0"/>
              <a:t> </a:t>
            </a:r>
            <a:r>
              <a:rPr lang="en-US" sz="2400" i="1" dirty="0" err="1"/>
              <a:t>mảng</a:t>
            </a:r>
            <a:r>
              <a:rPr lang="en-US" sz="2400" i="1" dirty="0"/>
              <a:t>, </a:t>
            </a:r>
            <a:r>
              <a:rPr lang="en-US" sz="2400" i="1" dirty="0" err="1"/>
              <a:t>không</a:t>
            </a:r>
            <a:r>
              <a:rPr lang="en-US" sz="2400" i="1" dirty="0"/>
              <a:t> </a:t>
            </a:r>
            <a:r>
              <a:rPr lang="en-US" sz="2400" i="1" dirty="0" err="1"/>
              <a:t>tìm</a:t>
            </a:r>
            <a:r>
              <a:rPr lang="en-US" sz="2400" i="1" dirty="0"/>
              <a:t> </a:t>
            </a:r>
            <a:r>
              <a:rPr lang="en-US" sz="2400" i="1" dirty="0" err="1"/>
              <a:t>thấy</a:t>
            </a:r>
            <a:r>
              <a:rPr lang="en-US" sz="2400" i="1" dirty="0"/>
              <a:t>, </a:t>
            </a:r>
            <a:r>
              <a:rPr lang="en-US" sz="2400" b="1" i="1" dirty="0" err="1">
                <a:solidFill>
                  <a:srgbClr val="FF0000"/>
                </a:solidFill>
              </a:rPr>
              <a:t>trả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về</a:t>
            </a:r>
            <a:r>
              <a:rPr lang="en-US" sz="2400" b="1" i="1" dirty="0">
                <a:solidFill>
                  <a:srgbClr val="FF0000"/>
                </a:solidFill>
              </a:rPr>
              <a:t> -1, </a:t>
            </a:r>
            <a:r>
              <a:rPr lang="en-US" sz="2400" b="1" i="1" dirty="0" err="1">
                <a:solidFill>
                  <a:srgbClr val="FF0000"/>
                </a:solidFill>
              </a:rPr>
              <a:t>kết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thúc</a:t>
            </a:r>
            <a:endParaRPr lang="en-US" sz="2400" b="1" dirty="0">
              <a:solidFill>
                <a:srgbClr val="FF0000"/>
              </a:solidFill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buFont typeface="Wingdings 2" pitchFamily="18" charset="2"/>
              <a:buNone/>
              <a:defRPr/>
            </a:pPr>
            <a:r>
              <a:rPr lang="en-US" sz="2400" i="1" dirty="0"/>
              <a:t>	 </a:t>
            </a:r>
            <a:r>
              <a:rPr lang="en-US" sz="2400" i="1" dirty="0" err="1"/>
              <a:t>Ngược</a:t>
            </a:r>
            <a:r>
              <a:rPr lang="en-US" sz="2400" i="1" dirty="0"/>
              <a:t> </a:t>
            </a:r>
            <a:r>
              <a:rPr lang="en-US" sz="2400" i="1" dirty="0" err="1"/>
              <a:t>lại</a:t>
            </a:r>
            <a:r>
              <a:rPr lang="en-US" sz="2400" i="1" dirty="0"/>
              <a:t>: </a:t>
            </a:r>
            <a:r>
              <a:rPr lang="en-US" sz="2400" i="1" dirty="0" err="1"/>
              <a:t>Lặp</a:t>
            </a:r>
            <a:r>
              <a:rPr lang="en-US" sz="2400" i="1" dirty="0"/>
              <a:t> </a:t>
            </a:r>
            <a:r>
              <a:rPr lang="en-US" sz="2400" i="1" dirty="0" err="1"/>
              <a:t>lại</a:t>
            </a:r>
            <a:r>
              <a:rPr lang="en-US" sz="2400" i="1" dirty="0"/>
              <a:t> </a:t>
            </a:r>
            <a:r>
              <a:rPr lang="en-US" sz="2400" i="1" dirty="0" err="1"/>
              <a:t>Bước</a:t>
            </a:r>
            <a:r>
              <a:rPr lang="en-US" sz="2400" i="1" dirty="0"/>
              <a:t> 2. </a:t>
            </a:r>
            <a:endParaRPr lang="en-US" sz="2400" dirty="0"/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sz="2400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0E49961-A1D0-471A-96C2-95D0BF10C562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8A499077-63EB-C449-B376-ECC247E8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VN" dirty="0"/>
              <a:t>ìm tuần tự - giải thuật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0CF42E-7B82-CE4E-94C7-C717CB5A00B2}"/>
              </a:ext>
            </a:extLst>
          </p:cNvPr>
          <p:cNvSpPr/>
          <p:nvPr/>
        </p:nvSpPr>
        <p:spPr>
          <a:xfrm>
            <a:off x="4419600" y="145869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lvl="1" indent="-463550" algn="ctr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Độ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phức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tạp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tính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toán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T(N)=O(N)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38A8-8097-410A-B08D-1798E770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-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DAFE-18B2-47A7-BCF1-425AE8622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1"/>
            <a:ext cx="8534400" cy="144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b="1" dirty="0"/>
              <a:t>x = 42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69AA6-FA1F-41A6-B9F9-1025D9A4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986FC-C17B-764E-8BBE-CC6977A1B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183537"/>
              </p:ext>
            </p:extLst>
          </p:nvPr>
        </p:nvGraphicFramePr>
        <p:xfrm>
          <a:off x="76200" y="3352800"/>
          <a:ext cx="8991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100616952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6984867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94191326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26625569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3136412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89584915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0207018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8089225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5454530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519558971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35111933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285853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48478661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78231915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82116341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7230319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476212500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5653237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9088481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236347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01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600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PHƯƠNG THỨC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-1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EAFA2-0176-8147-A9C3-4ADCD8D69330}"/>
              </a:ext>
            </a:extLst>
          </p:cNvPr>
          <p:cNvSpPr/>
          <p:nvPr/>
        </p:nvSpPr>
        <p:spPr>
          <a:xfrm>
            <a:off x="379809" y="4760913"/>
            <a:ext cx="8382000" cy="14465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b="1" i="1" dirty="0"/>
              <a:t>Input :</a:t>
            </a:r>
            <a:r>
              <a:rPr lang="en-US" sz="2200" i="1" dirty="0"/>
              <a:t> a[] = {10, 20, 80, 30, 60, 50, 110, 100, 130, 170} x = 110; </a:t>
            </a:r>
          </a:p>
          <a:p>
            <a:r>
              <a:rPr lang="en-US" sz="2200" b="1" i="1" dirty="0"/>
              <a:t>Output :</a:t>
            </a:r>
            <a:r>
              <a:rPr lang="en-US" sz="2200" i="1" dirty="0"/>
              <a:t> 6 Element x is present at index 6 </a:t>
            </a:r>
          </a:p>
          <a:p>
            <a:r>
              <a:rPr lang="en-US" sz="2200" b="1" i="1" dirty="0"/>
              <a:t>Input :</a:t>
            </a:r>
            <a:r>
              <a:rPr lang="en-US" sz="2200" i="1" dirty="0"/>
              <a:t> a[] = {10, 20, 80, 30, 60, 50, 110, 100, 130, 170} x = 175; </a:t>
            </a:r>
          </a:p>
          <a:p>
            <a:r>
              <a:rPr lang="en-US" sz="2200" b="1" i="1" dirty="0"/>
              <a:t>Output :</a:t>
            </a:r>
            <a:r>
              <a:rPr lang="en-US" sz="2200" i="1" dirty="0"/>
              <a:t> -1 Element x is not present in a[].</a:t>
            </a:r>
            <a:endParaRPr lang="en-VN" sz="2200" i="1" dirty="0"/>
          </a:p>
        </p:txBody>
      </p:sp>
    </p:spTree>
    <p:extLst>
      <p:ext uri="{BB962C8B-B14F-4D97-AF65-F5344CB8AC3E}">
        <p14:creationId xmlns:p14="http://schemas.microsoft.com/office/powerpoint/2010/main" val="1349728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int </a:t>
            </a:r>
            <a:r>
              <a:rPr lang="en-US" sz="2400" dirty="0" err="1">
                <a:latin typeface="Consolas" panose="020B0609020204030204" pitchFamily="49" charset="0"/>
              </a:rPr>
              <a:t>LinearSearch</a:t>
            </a:r>
            <a:r>
              <a:rPr lang="en-US" sz="2400" dirty="0">
                <a:latin typeface="Consolas" panose="020B0609020204030204" pitchFamily="49" charset="0"/>
              </a:rPr>
              <a:t>(int x)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dirty="0"/>
              <a:t>PHƯƠNG THỨC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762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4" y="1371600"/>
            <a:ext cx="3656012" cy="43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29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(Binary Search)</a:t>
            </a:r>
          </a:p>
        </p:txBody>
      </p:sp>
      <p:pic>
        <p:nvPicPr>
          <p:cNvPr id="4" name="Picture 3" descr="A picture containing text, green&#10;&#10;Description automatically generated">
            <a:extLst>
              <a:ext uri="{FF2B5EF4-FFF2-40B4-BE49-F238E27FC236}">
                <a16:creationId xmlns:a16="http://schemas.microsoft.com/office/drawing/2014/main" id="{9C41C104-BFEB-7849-A0B3-C8564A2B1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0" y="2590800"/>
            <a:ext cx="5519400" cy="307706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638800" y="1905000"/>
            <a:ext cx="3276599" cy="4404360"/>
          </a:xfrm>
        </p:spPr>
        <p:txBody>
          <a:bodyPr rtlCol="0">
            <a:normAutofit/>
          </a:bodyPr>
          <a:lstStyle/>
          <a:p>
            <a:pPr indent="-182880" eaLnBrk="1" fontAlgn="auto" hangingPunct="1">
              <a:lnSpc>
                <a:spcPct val="11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US" b="1" dirty="0" err="1"/>
              <a:t>Ý</a:t>
            </a:r>
            <a:r>
              <a:rPr lang="en-US" b="1" dirty="0"/>
              <a:t> </a:t>
            </a:r>
            <a:r>
              <a:rPr lang="en-US" b="1" dirty="0" err="1"/>
              <a:t>tưởng</a:t>
            </a:r>
            <a:r>
              <a:rPr lang="en-US" b="1" dirty="0"/>
              <a:t> </a:t>
            </a:r>
          </a:p>
          <a:p>
            <a:pPr indent="-182880" algn="just" eaLnBrk="1" fontAlgn="auto" hangingPunct="1">
              <a:lnSpc>
                <a:spcPct val="11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 indent="-182880" algn="just" eaLnBrk="1" fontAlgn="auto" hangingPunct="1">
              <a:lnSpc>
                <a:spcPct val="11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707240" y="6309360"/>
            <a:ext cx="578317" cy="365125"/>
          </a:xfrm>
        </p:spPr>
        <p:txBody>
          <a:bodyPr numCol="1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defRPr/>
            </a:pPr>
            <a:fld id="{223D7235-1B67-4358-B43B-B124376F82FB}" type="slidenum">
              <a:rPr lang="en-US"/>
              <a:pPr>
                <a:spcAft>
                  <a:spcPts val="600"/>
                </a:spcAft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 rtlCol="0"/>
          <a:lstStyle/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US" b="1" dirty="0"/>
              <a:t>Minh </a:t>
            </a:r>
            <a:r>
              <a:rPr lang="en-US" b="1" dirty="0" err="1"/>
              <a:t>họa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x = 41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6B6729B-5AEE-49CE-8922-B65D9483D64D}" type="slidenum">
              <a:rPr lang="en-US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3221036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own Arrow Callout 5"/>
          <p:cNvSpPr/>
          <p:nvPr/>
        </p:nvSpPr>
        <p:spPr>
          <a:xfrm>
            <a:off x="35814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3" name="Up Arrow 12"/>
          <p:cNvSpPr/>
          <p:nvPr/>
        </p:nvSpPr>
        <p:spPr>
          <a:xfrm>
            <a:off x="35814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143000" y="3221036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19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Up Arrow 10"/>
          <p:cNvSpPr/>
          <p:nvPr/>
        </p:nvSpPr>
        <p:spPr>
          <a:xfrm>
            <a:off x="11430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15" name="Up Arrow 14"/>
          <p:cNvSpPr/>
          <p:nvPr/>
        </p:nvSpPr>
        <p:spPr>
          <a:xfrm>
            <a:off x="54102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6" name="Down Arrow Callout 15"/>
          <p:cNvSpPr/>
          <p:nvPr/>
        </p:nvSpPr>
        <p:spPr>
          <a:xfrm>
            <a:off x="54102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143000" y="3221036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Up Arrow 11"/>
          <p:cNvSpPr/>
          <p:nvPr/>
        </p:nvSpPr>
        <p:spPr>
          <a:xfrm>
            <a:off x="66294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18" name="Up Arrow 17"/>
          <p:cNvSpPr/>
          <p:nvPr/>
        </p:nvSpPr>
        <p:spPr>
          <a:xfrm>
            <a:off x="4191000" y="48006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9" name="Down Arrow Callout 18"/>
          <p:cNvSpPr/>
          <p:nvPr/>
        </p:nvSpPr>
        <p:spPr>
          <a:xfrm>
            <a:off x="41910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831195"/>
              </p:ext>
            </p:extLst>
          </p:nvPr>
        </p:nvGraphicFramePr>
        <p:xfrm>
          <a:off x="1143000" y="3221036"/>
          <a:ext cx="6096000" cy="741364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Cloud 20"/>
          <p:cNvSpPr/>
          <p:nvPr/>
        </p:nvSpPr>
        <p:spPr>
          <a:xfrm>
            <a:off x="5410200" y="3581400"/>
            <a:ext cx="2438400" cy="1143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thấy</a:t>
            </a:r>
            <a:r>
              <a:rPr lang="en-US" b="1" dirty="0"/>
              <a:t> x </a:t>
            </a:r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r>
              <a:rPr lang="en-US" b="1" dirty="0"/>
              <a:t> </a:t>
            </a:r>
            <a:r>
              <a:rPr lang="en-US" b="1" dirty="0" err="1"/>
              <a:t>trí</a:t>
            </a:r>
            <a:r>
              <a:rPr lang="en-US" b="1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147137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33333 3.33333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2 3.33333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 animBg="1"/>
      <p:bldP spid="13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2" grpId="0" animBg="1"/>
      <p:bldP spid="12" grpId="1" animBg="1"/>
      <p:bldP spid="18" grpId="0" animBg="1"/>
      <p:bldP spid="19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 rtlCol="0"/>
          <a:lstStyle/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US" b="1" dirty="0"/>
              <a:t>Minh </a:t>
            </a:r>
            <a:r>
              <a:rPr lang="en-US" b="1" dirty="0" err="1"/>
              <a:t>họa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x = 45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377658C-3F33-4C68-B1B5-EF2D1D11E44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own Arrow Callout 5"/>
          <p:cNvSpPr/>
          <p:nvPr/>
        </p:nvSpPr>
        <p:spPr>
          <a:xfrm>
            <a:off x="35052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3" name="Up Arrow 12"/>
          <p:cNvSpPr/>
          <p:nvPr/>
        </p:nvSpPr>
        <p:spPr>
          <a:xfrm>
            <a:off x="35052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66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Up Arrow 14"/>
          <p:cNvSpPr/>
          <p:nvPr/>
        </p:nvSpPr>
        <p:spPr>
          <a:xfrm>
            <a:off x="53340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6" name="Down Arrow Callout 15"/>
          <p:cNvSpPr/>
          <p:nvPr/>
        </p:nvSpPr>
        <p:spPr>
          <a:xfrm>
            <a:off x="53340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66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14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Up Arrow 11"/>
          <p:cNvSpPr/>
          <p:nvPr/>
        </p:nvSpPr>
        <p:spPr>
          <a:xfrm>
            <a:off x="65532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18" name="Up Arrow 17"/>
          <p:cNvSpPr/>
          <p:nvPr/>
        </p:nvSpPr>
        <p:spPr>
          <a:xfrm>
            <a:off x="4114800" y="44958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9" name="Down Arrow Callout 18"/>
          <p:cNvSpPr/>
          <p:nvPr/>
        </p:nvSpPr>
        <p:spPr>
          <a:xfrm>
            <a:off x="41148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1" name="Up Arrow 10"/>
          <p:cNvSpPr/>
          <p:nvPr/>
        </p:nvSpPr>
        <p:spPr>
          <a:xfrm>
            <a:off x="10668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66800" y="2819400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16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19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22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63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71</a:t>
                      </a:r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Up Arrow 21"/>
          <p:cNvSpPr/>
          <p:nvPr/>
        </p:nvSpPr>
        <p:spPr>
          <a:xfrm>
            <a:off x="4724400" y="5410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23" name="Down Arrow Callout 22"/>
          <p:cNvSpPr/>
          <p:nvPr/>
        </p:nvSpPr>
        <p:spPr>
          <a:xfrm>
            <a:off x="47244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04738"/>
              </p:ext>
            </p:extLst>
          </p:nvPr>
        </p:nvGraphicFramePr>
        <p:xfrm>
          <a:off x="1066800" y="2819400"/>
          <a:ext cx="6096000" cy="741362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41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46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51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63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71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Cloud 24"/>
          <p:cNvSpPr/>
          <p:nvPr/>
        </p:nvSpPr>
        <p:spPr>
          <a:xfrm>
            <a:off x="5410200" y="4191000"/>
            <a:ext cx="2743200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 &gt; r: Kết thúc: Không tìm thấy</a:t>
            </a:r>
          </a:p>
        </p:txBody>
      </p:sp>
    </p:spTree>
    <p:extLst>
      <p:ext uri="{BB962C8B-B14F-4D97-AF65-F5344CB8AC3E}">
        <p14:creationId xmlns:p14="http://schemas.microsoft.com/office/powerpoint/2010/main" val="3133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33333 3.33333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2 3.33333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333 3.33333E-6 L 0.4 0.13333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 3.33333E-6 L -0.26667 3.33333E-6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2" grpId="0" animBg="1"/>
      <p:bldP spid="12" grpId="1" animBg="1"/>
      <p:bldP spid="12" grpId="2" animBg="1"/>
      <p:bldP spid="18" grpId="0" animBg="1"/>
      <p:bldP spid="18" grpId="1" animBg="1"/>
      <p:bldP spid="19" grpId="0" animBg="1"/>
      <p:bldP spid="19" grpId="1" animBg="1"/>
      <p:bldP spid="11" grpId="0" animBg="1"/>
      <p:bldP spid="11" grpId="1" animBg="1"/>
      <p:bldP spid="11" grpId="2" animBg="1"/>
      <p:bldP spid="22" grpId="0" animBg="1"/>
      <p:bldP spid="22" grpId="1" animBg="1"/>
      <p:bldP spid="23" grpId="0" animBg="1"/>
      <p:bldP spid="23" grpId="1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6524"/>
            <a:ext cx="8610600" cy="6721476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None/>
              <a:defRPr/>
            </a:pPr>
            <a:r>
              <a:rPr lang="en-US" sz="2400" b="1" dirty="0" err="1"/>
              <a:t>Giải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endParaRPr lang="en-US" sz="2400" b="1" dirty="0"/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b="1" u="sng" dirty="0" err="1"/>
              <a:t>Bước</a:t>
            </a:r>
            <a:r>
              <a:rPr lang="en-US" sz="2400" b="1" u="sng" dirty="0"/>
              <a:t> 1:</a:t>
            </a:r>
            <a:r>
              <a:rPr lang="en-US" sz="2400" b="1" dirty="0"/>
              <a:t> </a:t>
            </a:r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dirty="0">
                <a:solidFill>
                  <a:srgbClr val="FF0000"/>
                </a:solidFill>
              </a:rPr>
              <a:t>left = 0; right = N-1</a:t>
            </a:r>
            <a:r>
              <a:rPr lang="en-US" sz="2400" dirty="0"/>
              <a:t>; //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b="1" u="sng" dirty="0" err="1"/>
              <a:t>Bước</a:t>
            </a:r>
            <a:r>
              <a:rPr lang="en-US" sz="2400" b="1" u="sng" dirty="0"/>
              <a:t> 2:</a:t>
            </a:r>
            <a:r>
              <a:rPr lang="en-US" sz="2400" b="1" dirty="0"/>
              <a:t> </a:t>
            </a:r>
          </a:p>
          <a:p>
            <a:pPr marL="463550" lvl="2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/>
              <a:buNone/>
              <a:defRPr/>
            </a:pPr>
            <a:r>
              <a:rPr lang="en-US" sz="2400" dirty="0"/>
              <a:t>mid = (</a:t>
            </a:r>
            <a:r>
              <a:rPr lang="en-US" sz="2400" dirty="0" err="1"/>
              <a:t>left+right</a:t>
            </a:r>
            <a:r>
              <a:rPr lang="en-US" sz="2400" dirty="0"/>
              <a:t>)/2; //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trí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endParaRPr lang="en-US" sz="2400" dirty="0"/>
          </a:p>
          <a:p>
            <a:pPr marL="463550" lvl="2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/>
              <a:buNone/>
              <a:defRPr/>
            </a:pPr>
            <a:r>
              <a:rPr lang="en-US" sz="2400" dirty="0"/>
              <a:t>So </a:t>
            </a:r>
            <a:r>
              <a:rPr lang="en-US" sz="2400" dirty="0" err="1"/>
              <a:t>sánh</a:t>
            </a:r>
            <a:r>
              <a:rPr lang="en-US" sz="2400" dirty="0"/>
              <a:t> a[mid] </a:t>
            </a:r>
            <a:r>
              <a:rPr lang="en-US" sz="2400" dirty="0" err="1"/>
              <a:t>với</a:t>
            </a:r>
            <a:r>
              <a:rPr lang="en-US" sz="2400" dirty="0"/>
              <a:t> x, </a:t>
            </a:r>
            <a:r>
              <a:rPr lang="en-US" sz="2400" dirty="0" err="1"/>
              <a:t>có</a:t>
            </a:r>
            <a:r>
              <a:rPr lang="en-US" sz="2400" dirty="0"/>
              <a:t>  3 </a:t>
            </a: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: </a:t>
            </a:r>
          </a:p>
          <a:p>
            <a:pPr marL="342900" lvl="2" indent="-342900">
              <a:lnSpc>
                <a:spcPct val="100000"/>
              </a:lnSpc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/>
              <a:t>a[mid] = x: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thấy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trả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về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vị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trí</a:t>
            </a:r>
            <a:r>
              <a:rPr lang="en-US" sz="2400" b="1" dirty="0">
                <a:solidFill>
                  <a:srgbClr val="FF0000"/>
                </a:solidFill>
              </a:rPr>
              <a:t> mid, </a:t>
            </a:r>
            <a:r>
              <a:rPr lang="en-US" sz="2400" b="1" dirty="0" err="1">
                <a:solidFill>
                  <a:srgbClr val="FF0000"/>
                </a:solidFill>
              </a:rPr>
              <a:t>kết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thúc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lvl="2" indent="-342900">
              <a:lnSpc>
                <a:spcPct val="100000"/>
              </a:lnSpc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/>
              <a:t>a[mid] &gt; x: 	//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x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dãy</a:t>
            </a:r>
            <a:r>
              <a:rPr lang="en-US" sz="2400" dirty="0"/>
              <a:t> con </a:t>
            </a:r>
            <a:r>
              <a:rPr lang="en-US" sz="2400" dirty="0" err="1"/>
              <a:t>a</a:t>
            </a:r>
            <a:r>
              <a:rPr lang="en-US" sz="2400" baseline="-25000" dirty="0" err="1"/>
              <a:t>left</a:t>
            </a:r>
            <a:r>
              <a:rPr lang="en-US" sz="2400" baseline="-25000" dirty="0"/>
              <a:t> </a:t>
            </a:r>
            <a:r>
              <a:rPr lang="en-US" sz="2400" dirty="0"/>
              <a:t>.. a</a:t>
            </a:r>
            <a:r>
              <a:rPr lang="en-US" sz="2400" baseline="-25000" dirty="0"/>
              <a:t>mid -1</a:t>
            </a:r>
            <a:endParaRPr lang="en-US" sz="2400" dirty="0"/>
          </a:p>
          <a:p>
            <a:pPr marL="0" lvl="2" indent="0">
              <a:lnSpc>
                <a:spcPct val="100000"/>
              </a:lnSpc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dirty="0"/>
              <a:t>	right = mid - 1;</a:t>
            </a:r>
          </a:p>
          <a:p>
            <a:pPr marL="342900" lvl="2" indent="-342900">
              <a:lnSpc>
                <a:spcPct val="100000"/>
              </a:lnSpc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/>
              <a:t>a[mid] &lt; x: 	//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x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dãy</a:t>
            </a:r>
            <a:r>
              <a:rPr lang="en-US" sz="2400" dirty="0"/>
              <a:t> con a</a:t>
            </a:r>
            <a:r>
              <a:rPr lang="en-US" sz="2400" baseline="-25000" dirty="0"/>
              <a:t>mid +1</a:t>
            </a:r>
            <a:r>
              <a:rPr lang="en-US" sz="2400" dirty="0"/>
              <a:t> .. a</a:t>
            </a:r>
            <a:r>
              <a:rPr lang="en-US" sz="2400" baseline="-25000" dirty="0"/>
              <a:t>right</a:t>
            </a:r>
            <a:r>
              <a:rPr lang="en-US" sz="2400" dirty="0"/>
              <a:t> </a:t>
            </a:r>
          </a:p>
          <a:p>
            <a:pPr marL="0" lvl="2" indent="0">
              <a:lnSpc>
                <a:spcPct val="100000"/>
              </a:lnSpc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dirty="0"/>
              <a:t>	left = mid + 1; </a:t>
            </a:r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b="1" u="sng" dirty="0" err="1"/>
              <a:t>Bước</a:t>
            </a:r>
            <a:r>
              <a:rPr lang="en-US" sz="2400" b="1" u="sng" dirty="0"/>
              <a:t> 3:</a:t>
            </a:r>
            <a:r>
              <a:rPr lang="en-US" sz="2400" dirty="0"/>
              <a:t> </a:t>
            </a:r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dirty="0"/>
              <a:t>	</a:t>
            </a:r>
            <a:r>
              <a:rPr lang="en-US" sz="2400" dirty="0" err="1"/>
              <a:t>Nếu</a:t>
            </a:r>
            <a:r>
              <a:rPr lang="en-US" sz="2400" dirty="0"/>
              <a:t> left &lt;= right //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xét</a:t>
            </a:r>
            <a:endParaRPr lang="en-US" sz="2400" dirty="0"/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dirty="0"/>
              <a:t>			</a:t>
            </a:r>
            <a:r>
              <a:rPr lang="en-US" sz="2400" dirty="0" err="1"/>
              <a:t>Lặp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 2.</a:t>
            </a:r>
          </a:p>
          <a:p>
            <a:pPr marL="463550" lvl="1" indent="-463550" eaLnBrk="1" fontAlgn="auto" hangingPunct="1">
              <a:lnSpc>
                <a:spcPct val="100000"/>
              </a:lnSpc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 2"/>
              <a:buNone/>
              <a:defRPr/>
            </a:pPr>
            <a:r>
              <a:rPr lang="en-US" sz="2400" dirty="0"/>
              <a:t>	</a:t>
            </a:r>
            <a:r>
              <a:rPr lang="en-US" sz="2400" dirty="0" err="1"/>
              <a:t>Ngược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: </a:t>
            </a:r>
            <a:r>
              <a:rPr lang="en-US" sz="2400" b="1" dirty="0" err="1">
                <a:solidFill>
                  <a:srgbClr val="FF0000"/>
                </a:solidFill>
              </a:rPr>
              <a:t>trả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về</a:t>
            </a:r>
            <a:r>
              <a:rPr lang="en-US" sz="2400" b="1" dirty="0">
                <a:solidFill>
                  <a:srgbClr val="FF0000"/>
                </a:solidFill>
              </a:rPr>
              <a:t> -1, </a:t>
            </a:r>
            <a:r>
              <a:rPr lang="en-US" sz="2400" b="1" dirty="0" err="1">
                <a:solidFill>
                  <a:srgbClr val="FF0000"/>
                </a:solidFill>
              </a:rPr>
              <a:t>kết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thúc</a:t>
            </a:r>
            <a:r>
              <a:rPr lang="en-US" sz="2400" dirty="0"/>
              <a:t> //</a:t>
            </a:r>
            <a:r>
              <a:rPr lang="en-US" sz="2400" dirty="0" err="1"/>
              <a:t>Ðã</a:t>
            </a:r>
            <a:r>
              <a:rPr lang="en-US" sz="2400" dirty="0"/>
              <a:t>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hết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endParaRPr lang="en-US" sz="2400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3D92E20-66BE-4A6C-90A4-95FC9F128508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2C1AD-7363-DE41-8418-8EDEE8B6FF37}"/>
              </a:ext>
            </a:extLst>
          </p:cNvPr>
          <p:cNvSpPr/>
          <p:nvPr/>
        </p:nvSpPr>
        <p:spPr>
          <a:xfrm>
            <a:off x="4495800" y="762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3550" lvl="1" indent="-463550" algn="ctr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Độ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phức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tạp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tính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toán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T(N)=O(log</a:t>
            </a:r>
            <a:r>
              <a:rPr lang="en-US" sz="2400" b="1" baseline="-25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38A8-8097-410A-B08D-1798E770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-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DAFE-18B2-47A7-BCF1-425AE8622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1"/>
            <a:ext cx="8534400" cy="160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b="1" dirty="0"/>
              <a:t>x = 42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69AA6-FA1F-41A6-B9F9-1025D9A4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A41E2D-779F-E847-A4FD-1373CD32A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714795"/>
              </p:ext>
            </p:extLst>
          </p:nvPr>
        </p:nvGraphicFramePr>
        <p:xfrm>
          <a:off x="76200" y="3352800"/>
          <a:ext cx="8991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100616952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6984867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94191326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26625569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3136412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89584915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0207018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8089225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5454530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519558971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35111933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285853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48478661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78231915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82116341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72303198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3476212500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15653237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79088481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236347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01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u="none" dirty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742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BD43-1B8A-4E45-B1F5-7838CC76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2288-071D-44FE-B4DA-D725BDC059BE}"/>
              </a:ext>
            </a:extLst>
          </p:cNvPr>
          <p:cNvSpPr/>
          <p:nvPr/>
        </p:nvSpPr>
        <p:spPr>
          <a:xfrm>
            <a:off x="856060" y="2057400"/>
            <a:ext cx="74294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public class </a:t>
            </a:r>
            <a:r>
              <a:rPr lang="en-US" sz="2400" dirty="0" err="1">
                <a:latin typeface="Consolas" panose="020B0609020204030204" pitchFamily="49" charset="0"/>
              </a:rPr>
              <a:t>MyIntArray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int[] a; //</a:t>
            </a:r>
            <a:r>
              <a:rPr lang="en-US" sz="2400" dirty="0" err="1">
                <a:latin typeface="Consolas" panose="020B0609020204030204" pitchFamily="49" charset="0"/>
              </a:rPr>
              <a:t>Mảng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số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nguyên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 	//</a:t>
            </a:r>
            <a:r>
              <a:rPr lang="en-US" sz="2400" dirty="0" err="1">
                <a:latin typeface="Consolas" panose="020B0609020204030204" pitchFamily="49" charset="0"/>
              </a:rPr>
              <a:t>Các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public int </a:t>
            </a:r>
            <a:r>
              <a:rPr lang="en-US" sz="2400" dirty="0" err="1">
                <a:latin typeface="Consolas" panose="020B0609020204030204" pitchFamily="49" charset="0"/>
              </a:rPr>
              <a:t>BinarySearch</a:t>
            </a:r>
            <a:r>
              <a:rPr lang="en-US" sz="2400" dirty="0">
                <a:latin typeface="Consolas" panose="020B0609020204030204" pitchFamily="49" charset="0"/>
              </a:rPr>
              <a:t>(int x)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	//</a:t>
            </a:r>
            <a:r>
              <a:rPr lang="en-US" sz="2400" dirty="0" err="1">
                <a:latin typeface="Consolas" panose="020B0609020204030204" pitchFamily="49" charset="0"/>
              </a:rPr>
              <a:t>Định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nghĩa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phương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thức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0B7212-2243-B947-BC3B-15635497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dirty="0"/>
              <a:t>PHƯƠNG THỨC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–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79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4" y="1371600"/>
            <a:ext cx="3656012" cy="43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54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MyIntArray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.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,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8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001000" cy="487362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MyIntArray</a:t>
            </a:r>
            <a:r>
              <a:rPr lang="en-US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phát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dãy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số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tăng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dần</a:t>
            </a:r>
            <a:r>
              <a:rPr lang="en-US" dirty="0"/>
              <a:t>,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(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kiểm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xem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dãy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số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thứ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tăng</a:t>
            </a:r>
            <a:r>
              <a:rPr lang="en-US" dirty="0">
                <a:solidFill>
                  <a:srgbClr val="FF0000"/>
                </a:solidFill>
              </a:rPr>
              <a:t>/ </a:t>
            </a:r>
            <a:r>
              <a:rPr lang="en-US" dirty="0" err="1">
                <a:solidFill>
                  <a:srgbClr val="FF0000"/>
                </a:solidFill>
              </a:rPr>
              <a:t>giảm</a:t>
            </a:r>
            <a:r>
              <a:rPr lang="en-US" dirty="0">
                <a:solidFill>
                  <a:srgbClr val="FF0000"/>
                </a:solidFill>
              </a:rPr>
              <a:t>/ </a:t>
            </a:r>
            <a:r>
              <a:rPr lang="en-US" dirty="0" err="1">
                <a:solidFill>
                  <a:srgbClr val="FF0000"/>
                </a:solidFill>
              </a:rPr>
              <a:t>không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thứ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hay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CDE5C3-4A9F-1648-BE74-A3ACD8E7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VN" dirty="0"/>
              <a:t>ài tập về nhà</a:t>
            </a:r>
          </a:p>
        </p:txBody>
      </p:sp>
    </p:spTree>
    <p:extLst>
      <p:ext uri="{BB962C8B-B14F-4D97-AF65-F5344CB8AC3E}">
        <p14:creationId xmlns:p14="http://schemas.microsoft.com/office/powerpoint/2010/main" val="556358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4" y="1371600"/>
            <a:ext cx="3656012" cy="43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39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24A1B0-1B29-4E54-A0E9-0F2280BE2E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40393-DB55-4ED3-BAA3-303A9078D9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C1871B-3C34-49C2-9BF0-4CAE7B663BD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{2B94E141-4D87-FB43-9172-BF3243D5CA7A}tf10001122</Template>
  <TotalTime>1978</TotalTime>
  <Words>1607</Words>
  <Application>Microsoft Macintosh PowerPoint</Application>
  <PresentationFormat>On-screen Show (4:3)</PresentationFormat>
  <Paragraphs>488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Consolas</vt:lpstr>
      <vt:lpstr>Courier New</vt:lpstr>
      <vt:lpstr>Georgia</vt:lpstr>
      <vt:lpstr>Tw Cen MT</vt:lpstr>
      <vt:lpstr>Wingdings</vt:lpstr>
      <vt:lpstr>Wingdings 2</vt:lpstr>
      <vt:lpstr>Circuit</vt:lpstr>
      <vt:lpstr>Bài 2 Giải thuật tìm kiếm</vt:lpstr>
      <vt:lpstr>Mục tiêu</vt:lpstr>
      <vt:lpstr>Nhu cầu tìm kiếm và sắp xếp</vt:lpstr>
      <vt:lpstr>Vấn đề tìm kiếm</vt:lpstr>
      <vt:lpstr>Đánh giá giải thuật tìm kiếm</vt:lpstr>
      <vt:lpstr>Phân loại</vt:lpstr>
      <vt:lpstr>Các giải thuật tìm kiếm</vt:lpstr>
      <vt:lpstr>tìm kiếm phần tử trên dãy</vt:lpstr>
      <vt:lpstr>Tìm kiếm tuần tự (Linear Search)</vt:lpstr>
      <vt:lpstr>Tìm tuần tự</vt:lpstr>
      <vt:lpstr>Tìm tuần tự - giải thuật</vt:lpstr>
      <vt:lpstr>Tìm tuần tự - Bài tập</vt:lpstr>
      <vt:lpstr>PHƯƠNG THỨC tìm kiếm</vt:lpstr>
      <vt:lpstr>PHƯƠNG THỨC tìm kiếm – bài tập</vt:lpstr>
      <vt:lpstr>Q &amp; A</vt:lpstr>
      <vt:lpstr>Tìm kiếm nhị phân (Binary Search)</vt:lpstr>
      <vt:lpstr>PowerPoint Presentation</vt:lpstr>
      <vt:lpstr>PowerPoint Presentation</vt:lpstr>
      <vt:lpstr>PowerPoint Presentation</vt:lpstr>
      <vt:lpstr>Tìm kiếm nhị phân - Bài tập</vt:lpstr>
      <vt:lpstr>PHƯƠNG THỨC tìm kiếm – bài tập</vt:lpstr>
      <vt:lpstr>Q &amp; A</vt:lpstr>
      <vt:lpstr>Bài tập về nhà</vt:lpstr>
      <vt:lpstr>Bài tập về nhà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Huỳnh Thành Lộc</cp:lastModifiedBy>
  <cp:revision>150</cp:revision>
  <dcterms:created xsi:type="dcterms:W3CDTF">2007-08-28T06:01:43Z</dcterms:created>
  <dcterms:modified xsi:type="dcterms:W3CDTF">2021-09-14T01:59:39Z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