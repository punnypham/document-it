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1"/>
  </p:sldMasterIdLst>
  <p:notesMasterIdLst>
    <p:notesMasterId r:id="rId54"/>
  </p:notesMasterIdLst>
  <p:sldIdLst>
    <p:sldId id="256" r:id="rId2"/>
    <p:sldId id="257" r:id="rId3"/>
    <p:sldId id="258" r:id="rId4"/>
    <p:sldId id="266" r:id="rId5"/>
    <p:sldId id="334" r:id="rId6"/>
    <p:sldId id="335" r:id="rId7"/>
    <p:sldId id="327" r:id="rId8"/>
    <p:sldId id="315" r:id="rId9"/>
    <p:sldId id="259" r:id="rId10"/>
    <p:sldId id="270" r:id="rId11"/>
    <p:sldId id="328" r:id="rId12"/>
    <p:sldId id="367" r:id="rId13"/>
    <p:sldId id="346" r:id="rId14"/>
    <p:sldId id="347" r:id="rId15"/>
    <p:sldId id="349" r:id="rId16"/>
    <p:sldId id="348" r:id="rId17"/>
    <p:sldId id="350" r:id="rId18"/>
    <p:sldId id="336" r:id="rId19"/>
    <p:sldId id="273" r:id="rId20"/>
    <p:sldId id="274" r:id="rId21"/>
    <p:sldId id="277" r:id="rId22"/>
    <p:sldId id="322" r:id="rId23"/>
    <p:sldId id="353" r:id="rId24"/>
    <p:sldId id="329" r:id="rId25"/>
    <p:sldId id="278" r:id="rId26"/>
    <p:sldId id="330" r:id="rId27"/>
    <p:sldId id="279" r:id="rId28"/>
    <p:sldId id="323" r:id="rId29"/>
    <p:sldId id="280" r:id="rId30"/>
    <p:sldId id="351" r:id="rId31"/>
    <p:sldId id="297" r:id="rId32"/>
    <p:sldId id="318" r:id="rId33"/>
    <p:sldId id="342" r:id="rId34"/>
    <p:sldId id="357" r:id="rId35"/>
    <p:sldId id="358" r:id="rId36"/>
    <p:sldId id="359" r:id="rId37"/>
    <p:sldId id="360" r:id="rId38"/>
    <p:sldId id="309" r:id="rId39"/>
    <p:sldId id="310" r:id="rId40"/>
    <p:sldId id="311" r:id="rId41"/>
    <p:sldId id="362" r:id="rId42"/>
    <p:sldId id="363" r:id="rId43"/>
    <p:sldId id="312" r:id="rId44"/>
    <p:sldId id="364" r:id="rId45"/>
    <p:sldId id="365" r:id="rId46"/>
    <p:sldId id="366" r:id="rId47"/>
    <p:sldId id="354" r:id="rId48"/>
    <p:sldId id="355" r:id="rId49"/>
    <p:sldId id="356" r:id="rId50"/>
    <p:sldId id="326" r:id="rId51"/>
    <p:sldId id="352" r:id="rId52"/>
    <p:sldId id="337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5B9BD5"/>
    <a:srgbClr val="D2DEEF"/>
    <a:srgbClr val="EAEFF7"/>
    <a:srgbClr val="FFFFFF"/>
    <a:srgbClr val="FF3300"/>
    <a:srgbClr val="000000"/>
    <a:srgbClr val="FF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4677" autoAdjust="0"/>
  </p:normalViewPr>
  <p:slideViewPr>
    <p:cSldViewPr>
      <p:cViewPr varScale="1">
        <p:scale>
          <a:sx n="81" d="100"/>
          <a:sy n="81" d="100"/>
        </p:scale>
        <p:origin x="76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2D0D082E-E09E-4D11-8421-E55CA5006449}" type="datetimeFigureOut">
              <a:rPr lang="en-US"/>
              <a:pPr>
                <a:defRPr/>
              </a:pPr>
              <a:t>7/29/21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89FD7609-25D3-4C6C-B17C-57FF32D7B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96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FD7609-25D3-4C6C-B17C-57FF32D7BB3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08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FD7609-25D3-4C6C-B17C-57FF32D7BB3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6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F8F0CC80-1584-4577-A46B-B3805A5607AA}" type="slidenum">
              <a:rPr lang="en-US" smtClean="0"/>
              <a:pPr eaLnBrk="1" hangingPunct="1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01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F8F0CC80-1584-4577-A46B-B3805A5607AA}" type="slidenum">
              <a:rPr lang="en-US" smtClean="0"/>
              <a:pPr eaLnBrk="1" hangingPunct="1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64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F8F0CC80-1584-4577-A46B-B3805A5607AA}" type="slidenum">
              <a:rPr lang="en-US" smtClean="0"/>
              <a:pPr eaLnBrk="1" hangingPunct="1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11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F8F0CC80-1584-4577-A46B-B3805A5607AA}" type="slidenum">
              <a:rPr lang="en-US" smtClean="0"/>
              <a:pPr eaLnBrk="1" hangingPunct="1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478318E-C07A-4D3D-A6A3-43CD8CE59C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2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857250" indent="-171450">
              <a:buFont typeface="Wingdings" panose="05000000000000000000" pitchFamily="2" charset="2"/>
              <a:buChar char="§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81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6226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47116F-A5C4-45A3-BD27-A8CEE0B05D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5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3F9D67-DFB9-4A21-B59E-0172C59F1F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489075"/>
            <a:ext cx="3867150" cy="6413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93926"/>
            <a:ext cx="3867150" cy="3978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489075"/>
            <a:ext cx="3868340" cy="6413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93926"/>
            <a:ext cx="3868340" cy="3978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78B196-89C0-45B9-8946-214AAE2387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4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786728-FBBD-46A5-9CFF-84AC8AD4A5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0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866C1C-1123-493F-8A2A-56B83D7EB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01850"/>
            <a:ext cx="2949178" cy="37592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DE3A1-4119-42C5-919B-05966368E7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6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01850"/>
            <a:ext cx="2949178" cy="37592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232D45-71C3-4BF0-8655-3A2FAEA407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3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5E43F1-39FF-4327-A688-D716E00EA0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3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01C286-E41F-4F94-B4E8-878B1D61A4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2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2EC0F2-6636-4CB3-9369-07758DB7F8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7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thai@huflit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1601" y="1628800"/>
            <a:ext cx="7128792" cy="172082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6: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nhị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en-US" sz="4000" dirty="0">
              <a:latin typeface="Arial Unicode MS" pitchFamily="34" charset="-128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4077072"/>
            <a:ext cx="7355243" cy="1800199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TS.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minhthai@huflit.edu.vn</a:t>
            </a:r>
            <a:r>
              <a:rPr lang="en-US" sz="28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37A5C889-6979-4D15-B5BC-BE4B6BE124D2}" type="slidenum">
              <a:rPr lang="en-US" smtClean="0">
                <a:solidFill>
                  <a:srgbClr val="FFFFFF"/>
                </a:solidFill>
              </a:rPr>
              <a:pPr eaLnBrk="1" hangingPunct="1"/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365126"/>
            <a:ext cx="7615758" cy="132556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981200"/>
            <a:ext cx="7558607" cy="4267200"/>
          </a:xfrm>
        </p:spPr>
        <p:txBody>
          <a:bodyPr>
            <a:normAutofit/>
          </a:bodyPr>
          <a:lstStyle/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ý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7840E616-C602-4341-8619-6D3AB15B6BAE}" type="slidenum">
              <a:rPr lang="en-US" smtClean="0"/>
              <a:pPr eaLnBrk="1" hangingPunct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425951" y="1676400"/>
            <a:ext cx="4521200" cy="4848225"/>
          </a:xfrm>
        </p:spPr>
        <p:txBody>
          <a:bodyPr>
            <a:normAutofit/>
          </a:bodyPr>
          <a:lstStyle/>
          <a:p>
            <a:pPr algn="just"/>
            <a:r>
              <a:rPr lang="vi-VN" sz="2600" dirty="0">
                <a:solidFill>
                  <a:srgbClr val="0070C0"/>
                </a:solidFill>
              </a:rPr>
              <a:t>Bậc của một nút: </a:t>
            </a:r>
            <a:r>
              <a:rPr lang="vi-VN" sz="2600" dirty="0"/>
              <a:t>là số cây con của nút đó </a:t>
            </a:r>
            <a:endParaRPr lang="en-US" sz="2600" dirty="0"/>
          </a:p>
          <a:p>
            <a:pPr algn="just"/>
            <a:r>
              <a:rPr lang="en-US" sz="2600" dirty="0" err="1">
                <a:solidFill>
                  <a:schemeClr val="accent5"/>
                </a:solidFill>
              </a:rPr>
              <a:t>Bậc</a:t>
            </a:r>
            <a:r>
              <a:rPr lang="en-US" sz="2600" dirty="0">
                <a:solidFill>
                  <a:schemeClr val="accent5"/>
                </a:solidFill>
              </a:rPr>
              <a:t> </a:t>
            </a:r>
            <a:r>
              <a:rPr lang="en-US" sz="2600" dirty="0" err="1">
                <a:solidFill>
                  <a:schemeClr val="accent5"/>
                </a:solidFill>
              </a:rPr>
              <a:t>của</a:t>
            </a:r>
            <a:r>
              <a:rPr lang="en-US" sz="2600" dirty="0">
                <a:solidFill>
                  <a:schemeClr val="accent5"/>
                </a:solidFill>
              </a:rPr>
              <a:t> </a:t>
            </a:r>
            <a:r>
              <a:rPr lang="en-US" sz="2600" dirty="0" err="1">
                <a:solidFill>
                  <a:schemeClr val="accent5"/>
                </a:solidFill>
              </a:rPr>
              <a:t>cây</a:t>
            </a:r>
            <a:r>
              <a:rPr lang="en-US" sz="2600" dirty="0">
                <a:solidFill>
                  <a:schemeClr val="accent5"/>
                </a:solidFill>
              </a:rPr>
              <a:t>: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bậc</a:t>
            </a:r>
            <a:r>
              <a:rPr lang="en-US" sz="2600" dirty="0"/>
              <a:t> </a:t>
            </a:r>
            <a:r>
              <a:rPr lang="en-US" sz="2600" dirty="0" err="1"/>
              <a:t>lớn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.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bậc</a:t>
            </a:r>
            <a:r>
              <a:rPr lang="en-US" sz="2600" dirty="0"/>
              <a:t> n </a:t>
            </a: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/>
              <a:t>gọi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n-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endParaRPr lang="en-US" sz="2600" dirty="0">
              <a:solidFill>
                <a:srgbClr val="0070C0"/>
              </a:solidFill>
            </a:endParaRPr>
          </a:p>
          <a:p>
            <a:pPr algn="just" eaLnBrk="1" hangingPunct="1"/>
            <a:r>
              <a:rPr lang="en-US" sz="2600" dirty="0" err="1">
                <a:solidFill>
                  <a:srgbClr val="0070C0"/>
                </a:solidFill>
              </a:rPr>
              <a:t>Nút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 err="1">
                <a:solidFill>
                  <a:srgbClr val="0070C0"/>
                </a:solidFill>
              </a:rPr>
              <a:t>gốc</a:t>
            </a:r>
            <a:r>
              <a:rPr lang="en-US" sz="2600" dirty="0">
                <a:solidFill>
                  <a:srgbClr val="0070C0"/>
                </a:solidFill>
              </a:rPr>
              <a:t>: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cha</a:t>
            </a:r>
          </a:p>
          <a:p>
            <a:pPr algn="just" eaLnBrk="1" hangingPunct="1"/>
            <a:r>
              <a:rPr lang="en-US" sz="2600" dirty="0" err="1">
                <a:solidFill>
                  <a:srgbClr val="0070C0"/>
                </a:solidFill>
              </a:rPr>
              <a:t>Nút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 err="1">
                <a:solidFill>
                  <a:srgbClr val="0070C0"/>
                </a:solidFill>
              </a:rPr>
              <a:t>lá</a:t>
            </a:r>
            <a:r>
              <a:rPr lang="en-US" sz="2600" dirty="0">
                <a:solidFill>
                  <a:srgbClr val="0070C0"/>
                </a:solidFill>
              </a:rPr>
              <a:t>: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bậc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0 </a:t>
            </a:r>
          </a:p>
          <a:p>
            <a:pPr algn="just" eaLnBrk="1" hangingPunct="1"/>
            <a:r>
              <a:rPr lang="en-US" sz="2600" dirty="0" err="1">
                <a:solidFill>
                  <a:srgbClr val="0070C0"/>
                </a:solidFill>
              </a:rPr>
              <a:t>Nút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 err="1">
                <a:solidFill>
                  <a:srgbClr val="0070C0"/>
                </a:solidFill>
              </a:rPr>
              <a:t>nhánh</a:t>
            </a:r>
            <a:r>
              <a:rPr lang="en-US" sz="2600" dirty="0">
                <a:solidFill>
                  <a:srgbClr val="0070C0"/>
                </a:solidFill>
              </a:rPr>
              <a:t>: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bậc</a:t>
            </a:r>
            <a:r>
              <a:rPr lang="en-US" sz="2600" dirty="0"/>
              <a:t> </a:t>
            </a:r>
            <a:r>
              <a:rPr lang="en-US" sz="2600" dirty="0" err="1"/>
              <a:t>khác</a:t>
            </a:r>
            <a:r>
              <a:rPr lang="en-US" sz="2600" dirty="0"/>
              <a:t> 0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gốc</a:t>
            </a:r>
            <a:endParaRPr lang="en-US" sz="2600" dirty="0"/>
          </a:p>
        </p:txBody>
      </p:sp>
      <p:sp>
        <p:nvSpPr>
          <p:cNvPr id="12310" name="Slide Number Placeholder 3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4CC1BAA8-AC6A-4720-9B49-1C919E42A36C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4119" name="Oval 23"/>
          <p:cNvSpPr>
            <a:spLocks noChangeArrowheads="1"/>
          </p:cNvSpPr>
          <p:nvPr/>
        </p:nvSpPr>
        <p:spPr bwMode="auto">
          <a:xfrm>
            <a:off x="1979613" y="249078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20" name="Oval 24"/>
          <p:cNvSpPr>
            <a:spLocks noChangeArrowheads="1"/>
          </p:cNvSpPr>
          <p:nvPr/>
        </p:nvSpPr>
        <p:spPr bwMode="auto">
          <a:xfrm>
            <a:off x="827088" y="32829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21" name="Oval 25"/>
          <p:cNvSpPr>
            <a:spLocks noChangeArrowheads="1"/>
          </p:cNvSpPr>
          <p:nvPr/>
        </p:nvSpPr>
        <p:spPr bwMode="auto">
          <a:xfrm>
            <a:off x="3203575" y="32829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22" name="Oval 26"/>
          <p:cNvSpPr>
            <a:spLocks noChangeArrowheads="1"/>
          </p:cNvSpPr>
          <p:nvPr/>
        </p:nvSpPr>
        <p:spPr bwMode="auto">
          <a:xfrm>
            <a:off x="107950" y="41481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23" name="Oval 27"/>
          <p:cNvSpPr>
            <a:spLocks noChangeArrowheads="1"/>
          </p:cNvSpPr>
          <p:nvPr/>
        </p:nvSpPr>
        <p:spPr bwMode="auto">
          <a:xfrm>
            <a:off x="1690688" y="41481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24" name="Oval 28"/>
          <p:cNvSpPr>
            <a:spLocks noChangeArrowheads="1"/>
          </p:cNvSpPr>
          <p:nvPr/>
        </p:nvSpPr>
        <p:spPr bwMode="auto">
          <a:xfrm>
            <a:off x="2482850" y="41481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25" name="Oval 29"/>
          <p:cNvSpPr>
            <a:spLocks noChangeArrowheads="1"/>
          </p:cNvSpPr>
          <p:nvPr/>
        </p:nvSpPr>
        <p:spPr bwMode="auto">
          <a:xfrm>
            <a:off x="3922713" y="41481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26" name="Oval 30"/>
          <p:cNvSpPr>
            <a:spLocks noChangeArrowheads="1"/>
          </p:cNvSpPr>
          <p:nvPr/>
        </p:nvSpPr>
        <p:spPr bwMode="auto">
          <a:xfrm>
            <a:off x="2916238" y="50117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27" name="Oval 31"/>
          <p:cNvSpPr>
            <a:spLocks noChangeArrowheads="1"/>
          </p:cNvSpPr>
          <p:nvPr/>
        </p:nvSpPr>
        <p:spPr bwMode="auto">
          <a:xfrm>
            <a:off x="1258888" y="50117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301" name="Line 32"/>
          <p:cNvSpPr>
            <a:spLocks noChangeShapeType="1"/>
          </p:cNvSpPr>
          <p:nvPr/>
        </p:nvSpPr>
        <p:spPr bwMode="auto">
          <a:xfrm flipH="1">
            <a:off x="1258888" y="2852738"/>
            <a:ext cx="792162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Line 33"/>
          <p:cNvSpPr>
            <a:spLocks noChangeShapeType="1"/>
          </p:cNvSpPr>
          <p:nvPr/>
        </p:nvSpPr>
        <p:spPr bwMode="auto">
          <a:xfrm>
            <a:off x="2436813" y="2865438"/>
            <a:ext cx="838200" cy="4905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Line 34"/>
          <p:cNvSpPr>
            <a:spLocks noChangeShapeType="1"/>
          </p:cNvSpPr>
          <p:nvPr/>
        </p:nvSpPr>
        <p:spPr bwMode="auto">
          <a:xfrm flipH="1">
            <a:off x="466725" y="3716338"/>
            <a:ext cx="433388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Line 35"/>
          <p:cNvSpPr>
            <a:spLocks noChangeShapeType="1"/>
          </p:cNvSpPr>
          <p:nvPr/>
        </p:nvSpPr>
        <p:spPr bwMode="auto">
          <a:xfrm>
            <a:off x="1258888" y="3716338"/>
            <a:ext cx="504825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Line 36"/>
          <p:cNvSpPr>
            <a:spLocks noChangeShapeType="1"/>
          </p:cNvSpPr>
          <p:nvPr/>
        </p:nvSpPr>
        <p:spPr bwMode="auto">
          <a:xfrm flipH="1">
            <a:off x="1619250" y="4652963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6" name="Line 37"/>
          <p:cNvSpPr>
            <a:spLocks noChangeShapeType="1"/>
          </p:cNvSpPr>
          <p:nvPr/>
        </p:nvSpPr>
        <p:spPr bwMode="auto">
          <a:xfrm flipH="1">
            <a:off x="2916238" y="3716338"/>
            <a:ext cx="431800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7" name="Line 38"/>
          <p:cNvSpPr>
            <a:spLocks noChangeShapeType="1"/>
          </p:cNvSpPr>
          <p:nvPr/>
        </p:nvSpPr>
        <p:spPr bwMode="auto">
          <a:xfrm>
            <a:off x="3635375" y="3716338"/>
            <a:ext cx="431800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8" name="Line 39"/>
          <p:cNvSpPr>
            <a:spLocks noChangeShapeType="1"/>
          </p:cNvSpPr>
          <p:nvPr/>
        </p:nvSpPr>
        <p:spPr bwMode="auto">
          <a:xfrm>
            <a:off x="2843213" y="4579938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11188" y="2486025"/>
            <a:ext cx="3395662" cy="2965450"/>
            <a:chOff x="385" y="1566"/>
            <a:chExt cx="2139" cy="1868"/>
          </a:xfrm>
        </p:grpSpPr>
        <p:sp>
          <p:nvSpPr>
            <p:cNvPr id="12311" name="Text Box 40"/>
            <p:cNvSpPr txBox="1">
              <a:spLocks noChangeArrowheads="1"/>
            </p:cNvSpPr>
            <p:nvPr/>
          </p:nvSpPr>
          <p:spPr bwMode="auto">
            <a:xfrm>
              <a:off x="1565" y="1566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2312" name="Text Box 41"/>
            <p:cNvSpPr txBox="1">
              <a:spLocks noChangeArrowheads="1"/>
            </p:cNvSpPr>
            <p:nvPr/>
          </p:nvSpPr>
          <p:spPr bwMode="auto">
            <a:xfrm>
              <a:off x="2336" y="206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2313" name="Text Box 42"/>
            <p:cNvSpPr txBox="1">
              <a:spLocks noChangeArrowheads="1"/>
            </p:cNvSpPr>
            <p:nvPr/>
          </p:nvSpPr>
          <p:spPr bwMode="auto">
            <a:xfrm>
              <a:off x="839" y="211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2314" name="Text Box 43"/>
            <p:cNvSpPr txBox="1">
              <a:spLocks noChangeArrowheads="1"/>
            </p:cNvSpPr>
            <p:nvPr/>
          </p:nvSpPr>
          <p:spPr bwMode="auto">
            <a:xfrm>
              <a:off x="1876" y="265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2315" name="Text Box 44"/>
            <p:cNvSpPr txBox="1">
              <a:spLocks noChangeArrowheads="1"/>
            </p:cNvSpPr>
            <p:nvPr/>
          </p:nvSpPr>
          <p:spPr bwMode="auto">
            <a:xfrm>
              <a:off x="884" y="265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2316" name="Text Box 45"/>
            <p:cNvSpPr txBox="1">
              <a:spLocks noChangeArrowheads="1"/>
            </p:cNvSpPr>
            <p:nvPr/>
          </p:nvSpPr>
          <p:spPr bwMode="auto">
            <a:xfrm>
              <a:off x="385" y="265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317" name="Text Box 46"/>
            <p:cNvSpPr txBox="1">
              <a:spLocks noChangeArrowheads="1"/>
            </p:cNvSpPr>
            <p:nvPr/>
          </p:nvSpPr>
          <p:spPr bwMode="auto">
            <a:xfrm>
              <a:off x="1104" y="320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318" name="Text Box 47"/>
            <p:cNvSpPr txBox="1">
              <a:spLocks noChangeArrowheads="1"/>
            </p:cNvSpPr>
            <p:nvPr/>
          </p:nvSpPr>
          <p:spPr bwMode="auto">
            <a:xfrm>
              <a:off x="2290" y="265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319" name="Text Box 48"/>
            <p:cNvSpPr txBox="1">
              <a:spLocks noChangeArrowheads="1"/>
            </p:cNvSpPr>
            <p:nvPr/>
          </p:nvSpPr>
          <p:spPr bwMode="auto">
            <a:xfrm>
              <a:off x="2154" y="319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4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4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4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44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9" grpId="0" animBg="1"/>
      <p:bldP spid="411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0" y="4502158"/>
            <a:ext cx="5221288" cy="461964"/>
            <a:chOff x="0" y="2791"/>
            <a:chExt cx="3289" cy="291"/>
          </a:xfrm>
        </p:grpSpPr>
        <p:sp>
          <p:nvSpPr>
            <p:cNvPr id="13348" name="Line 36"/>
            <p:cNvSpPr>
              <a:spLocks noChangeShapeType="1"/>
            </p:cNvSpPr>
            <p:nvPr/>
          </p:nvSpPr>
          <p:spPr bwMode="auto">
            <a:xfrm>
              <a:off x="0" y="3002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349" name="Text Box 37"/>
            <p:cNvSpPr txBox="1">
              <a:spLocks noChangeArrowheads="1"/>
            </p:cNvSpPr>
            <p:nvPr/>
          </p:nvSpPr>
          <p:spPr bwMode="auto">
            <a:xfrm>
              <a:off x="0" y="2791"/>
              <a:ext cx="9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 err="1">
                  <a:latin typeface="Arial Unicode MS" pitchFamily="34" charset="-128"/>
                </a:rPr>
                <a:t>Mức</a:t>
              </a:r>
              <a:r>
                <a:rPr lang="en-US" sz="2400" dirty="0">
                  <a:latin typeface="Arial Unicode MS" pitchFamily="34" charset="-128"/>
                </a:rPr>
                <a:t> 4</a:t>
              </a:r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0" y="3600457"/>
            <a:ext cx="5221288" cy="461964"/>
            <a:chOff x="0" y="2223"/>
            <a:chExt cx="3289" cy="291"/>
          </a:xfrm>
        </p:grpSpPr>
        <p:sp>
          <p:nvSpPr>
            <p:cNvPr id="13346" name="Line 34"/>
            <p:cNvSpPr>
              <a:spLocks noChangeShapeType="1"/>
            </p:cNvSpPr>
            <p:nvPr/>
          </p:nvSpPr>
          <p:spPr bwMode="auto">
            <a:xfrm>
              <a:off x="0" y="245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347" name="Text Box 35"/>
            <p:cNvSpPr txBox="1">
              <a:spLocks noChangeArrowheads="1"/>
            </p:cNvSpPr>
            <p:nvPr/>
          </p:nvSpPr>
          <p:spPr bwMode="auto">
            <a:xfrm>
              <a:off x="0" y="2223"/>
              <a:ext cx="9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 err="1">
                  <a:latin typeface="Arial Unicode MS" pitchFamily="34" charset="-128"/>
                </a:rPr>
                <a:t>Mức</a:t>
              </a:r>
              <a:r>
                <a:rPr lang="en-US" sz="2400" dirty="0">
                  <a:latin typeface="Arial Unicode MS" pitchFamily="34" charset="-128"/>
                </a:rPr>
                <a:t> 3</a:t>
              </a:r>
            </a:p>
          </p:txBody>
        </p:sp>
      </p:grp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0" y="2773358"/>
            <a:ext cx="5221288" cy="461961"/>
            <a:chOff x="0" y="1702"/>
            <a:chExt cx="3289" cy="291"/>
          </a:xfrm>
        </p:grpSpPr>
        <p:sp>
          <p:nvSpPr>
            <p:cNvPr id="13344" name="Line 32"/>
            <p:cNvSpPr>
              <a:spLocks noChangeShapeType="1"/>
            </p:cNvSpPr>
            <p:nvPr/>
          </p:nvSpPr>
          <p:spPr bwMode="auto">
            <a:xfrm>
              <a:off x="0" y="1909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345" name="Text Box 33"/>
            <p:cNvSpPr txBox="1">
              <a:spLocks noChangeArrowheads="1"/>
            </p:cNvSpPr>
            <p:nvPr/>
          </p:nvSpPr>
          <p:spPr bwMode="auto">
            <a:xfrm>
              <a:off x="0" y="1702"/>
              <a:ext cx="9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 err="1">
                  <a:latin typeface="Arial Unicode MS" pitchFamily="34" charset="-128"/>
                </a:rPr>
                <a:t>Mức</a:t>
              </a:r>
              <a:r>
                <a:rPr lang="en-US" sz="2400" dirty="0">
                  <a:latin typeface="Arial Unicode MS" pitchFamily="34" charset="-128"/>
                </a:rPr>
                <a:t> 2</a:t>
              </a:r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0" y="1970090"/>
            <a:ext cx="5221288" cy="461964"/>
            <a:chOff x="0" y="1196"/>
            <a:chExt cx="3289" cy="291"/>
          </a:xfrm>
        </p:grpSpPr>
        <p:sp>
          <p:nvSpPr>
            <p:cNvPr id="13342" name="Line 17"/>
            <p:cNvSpPr>
              <a:spLocks noChangeShapeType="1"/>
            </p:cNvSpPr>
            <p:nvPr/>
          </p:nvSpPr>
          <p:spPr bwMode="auto">
            <a:xfrm>
              <a:off x="0" y="1410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343" name="Text Box 31"/>
            <p:cNvSpPr txBox="1">
              <a:spLocks noChangeArrowheads="1"/>
            </p:cNvSpPr>
            <p:nvPr/>
          </p:nvSpPr>
          <p:spPr bwMode="auto">
            <a:xfrm>
              <a:off x="0" y="1196"/>
              <a:ext cx="9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 err="1">
                  <a:latin typeface="Arial Unicode MS" pitchFamily="34" charset="-128"/>
                </a:rPr>
                <a:t>Mức</a:t>
              </a:r>
              <a:r>
                <a:rPr lang="en-US" sz="2400" dirty="0">
                  <a:latin typeface="Arial Unicode MS" pitchFamily="34" charset="-128"/>
                </a:rPr>
                <a:t> 1</a:t>
              </a:r>
            </a:p>
          </p:txBody>
        </p:sp>
      </p:grp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5611814" y="1484313"/>
            <a:ext cx="3424236" cy="4968875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dirty="0" err="1">
                <a:solidFill>
                  <a:srgbClr val="0070C0"/>
                </a:solidFill>
              </a:rPr>
              <a:t>Chiều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đường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đến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nút</a:t>
            </a:r>
            <a:r>
              <a:rPr lang="en-US" dirty="0">
                <a:solidFill>
                  <a:srgbClr val="0070C0"/>
                </a:solidFill>
              </a:rPr>
              <a:t> x: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qua </a:t>
            </a:r>
            <a:r>
              <a:rPr lang="en-US" dirty="0" err="1"/>
              <a:t>kể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x</a:t>
            </a:r>
          </a:p>
          <a:p>
            <a:pPr algn="just" eaLnBrk="1" hangingPunct="1"/>
            <a:r>
              <a:rPr lang="en-US" dirty="0" err="1">
                <a:solidFill>
                  <a:srgbClr val="0070C0"/>
                </a:solidFill>
              </a:rPr>
              <a:t>Chiều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cao</a:t>
            </a:r>
            <a:r>
              <a:rPr lang="en-US" dirty="0">
                <a:solidFill>
                  <a:srgbClr val="0070C0"/>
                </a:solidFill>
              </a:rPr>
              <a:t> h </a:t>
            </a:r>
            <a:r>
              <a:rPr lang="en-US" dirty="0" err="1">
                <a:solidFill>
                  <a:srgbClr val="0070C0"/>
                </a:solidFill>
              </a:rPr>
              <a:t>của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cây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endParaRPr lang="en-US" dirty="0"/>
          </a:p>
        </p:txBody>
      </p:sp>
      <p:sp>
        <p:nvSpPr>
          <p:cNvPr id="13338" name="Slide Number Placeholder 3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6B7B58F2-8045-472C-9BD9-042D40FBC4ED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3059113" y="205898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462" name="Oval 6"/>
          <p:cNvSpPr>
            <a:spLocks noChangeArrowheads="1"/>
          </p:cNvSpPr>
          <p:nvPr/>
        </p:nvSpPr>
        <p:spPr bwMode="auto">
          <a:xfrm>
            <a:off x="1906588" y="28511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4283075" y="28511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464" name="Oval 8"/>
          <p:cNvSpPr>
            <a:spLocks noChangeArrowheads="1"/>
          </p:cNvSpPr>
          <p:nvPr/>
        </p:nvSpPr>
        <p:spPr bwMode="auto">
          <a:xfrm>
            <a:off x="1187450" y="37163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465" name="Oval 9"/>
          <p:cNvSpPr>
            <a:spLocks noChangeArrowheads="1"/>
          </p:cNvSpPr>
          <p:nvPr/>
        </p:nvSpPr>
        <p:spPr bwMode="auto">
          <a:xfrm>
            <a:off x="2770188" y="37163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3562350" y="37163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472" name="Oval 16"/>
          <p:cNvSpPr>
            <a:spLocks noChangeArrowheads="1"/>
          </p:cNvSpPr>
          <p:nvPr/>
        </p:nvSpPr>
        <p:spPr bwMode="auto">
          <a:xfrm>
            <a:off x="5002213" y="37163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475" name="Oval 19"/>
          <p:cNvSpPr>
            <a:spLocks noChangeArrowheads="1"/>
          </p:cNvSpPr>
          <p:nvPr/>
        </p:nvSpPr>
        <p:spPr bwMode="auto">
          <a:xfrm>
            <a:off x="3995738" y="45799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329" name="Line 23"/>
          <p:cNvSpPr>
            <a:spLocks noChangeShapeType="1"/>
          </p:cNvSpPr>
          <p:nvPr/>
        </p:nvSpPr>
        <p:spPr bwMode="auto">
          <a:xfrm flipH="1">
            <a:off x="2338388" y="2420938"/>
            <a:ext cx="792162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0" name="Line 24"/>
          <p:cNvSpPr>
            <a:spLocks noChangeShapeType="1"/>
          </p:cNvSpPr>
          <p:nvPr/>
        </p:nvSpPr>
        <p:spPr bwMode="auto">
          <a:xfrm>
            <a:off x="3516313" y="2433638"/>
            <a:ext cx="838200" cy="4905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1" name="Line 25"/>
          <p:cNvSpPr>
            <a:spLocks noChangeShapeType="1"/>
          </p:cNvSpPr>
          <p:nvPr/>
        </p:nvSpPr>
        <p:spPr bwMode="auto">
          <a:xfrm flipH="1">
            <a:off x="1546225" y="3284538"/>
            <a:ext cx="433388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Line 26"/>
          <p:cNvSpPr>
            <a:spLocks noChangeShapeType="1"/>
          </p:cNvSpPr>
          <p:nvPr/>
        </p:nvSpPr>
        <p:spPr bwMode="auto">
          <a:xfrm>
            <a:off x="2338388" y="3284538"/>
            <a:ext cx="504825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3" name="Line 27"/>
          <p:cNvSpPr>
            <a:spLocks noChangeShapeType="1"/>
          </p:cNvSpPr>
          <p:nvPr/>
        </p:nvSpPr>
        <p:spPr bwMode="auto">
          <a:xfrm flipH="1">
            <a:off x="2698750" y="4221163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4" name="Line 28"/>
          <p:cNvSpPr>
            <a:spLocks noChangeShapeType="1"/>
          </p:cNvSpPr>
          <p:nvPr/>
        </p:nvSpPr>
        <p:spPr bwMode="auto">
          <a:xfrm flipH="1">
            <a:off x="3995738" y="3284538"/>
            <a:ext cx="431800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Line 29"/>
          <p:cNvSpPr>
            <a:spLocks noChangeShapeType="1"/>
          </p:cNvSpPr>
          <p:nvPr/>
        </p:nvSpPr>
        <p:spPr bwMode="auto">
          <a:xfrm>
            <a:off x="4714875" y="3284538"/>
            <a:ext cx="431800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Line 30"/>
          <p:cNvSpPr>
            <a:spLocks noChangeShapeType="1"/>
          </p:cNvSpPr>
          <p:nvPr/>
        </p:nvSpPr>
        <p:spPr bwMode="auto">
          <a:xfrm>
            <a:off x="3922713" y="4148138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2124075" y="2276475"/>
            <a:ext cx="1223963" cy="2592388"/>
            <a:chOff x="1338" y="1434"/>
            <a:chExt cx="771" cy="1633"/>
          </a:xfrm>
        </p:grpSpPr>
        <p:sp>
          <p:nvSpPr>
            <p:cNvPr id="13339" name="Line 42"/>
            <p:cNvSpPr>
              <a:spLocks noChangeShapeType="1"/>
            </p:cNvSpPr>
            <p:nvPr/>
          </p:nvSpPr>
          <p:spPr bwMode="auto">
            <a:xfrm flipH="1">
              <a:off x="1338" y="1434"/>
              <a:ext cx="771" cy="499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Line 43"/>
            <p:cNvSpPr>
              <a:spLocks noChangeShapeType="1"/>
            </p:cNvSpPr>
            <p:nvPr/>
          </p:nvSpPr>
          <p:spPr bwMode="auto">
            <a:xfrm>
              <a:off x="1338" y="1933"/>
              <a:ext cx="589" cy="59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Line 44"/>
            <p:cNvSpPr>
              <a:spLocks noChangeShapeType="1"/>
            </p:cNvSpPr>
            <p:nvPr/>
          </p:nvSpPr>
          <p:spPr bwMode="auto">
            <a:xfrm flipH="1">
              <a:off x="1610" y="2523"/>
              <a:ext cx="317" cy="544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77" name="Oval 21"/>
          <p:cNvSpPr>
            <a:spLocks noChangeArrowheads="1"/>
          </p:cNvSpPr>
          <p:nvPr/>
        </p:nvSpPr>
        <p:spPr bwMode="auto">
          <a:xfrm>
            <a:off x="2338388" y="45799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800" b="1" dirty="0">
                <a:solidFill>
                  <a:srgbClr val="FF0000"/>
                </a:solidFill>
              </a:rPr>
              <a:t>x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I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2</a:t>
            </a:r>
            <a:r>
              <a:rPr lang="en-US" baseline="30000" dirty="0"/>
              <a:t>I-1</a:t>
            </a:r>
            <a:endParaRPr lang="en-US" dirty="0"/>
          </a:p>
          <a:p>
            <a:pPr algn="just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2</a:t>
            </a:r>
            <a:r>
              <a:rPr lang="en-US" baseline="30000" dirty="0"/>
              <a:t>h-1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h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algn="just"/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h </a:t>
            </a:r>
            <a:r>
              <a:rPr lang="en-US" dirty="0">
                <a:sym typeface="Symbol" panose="05050102010706020507" pitchFamily="18" charset="2"/>
              </a:rPr>
              <a:t></a:t>
            </a:r>
            <a:r>
              <a:rPr lang="en-US" dirty="0"/>
              <a:t> log</a:t>
            </a:r>
            <a:r>
              <a:rPr lang="en-US" baseline="-25000" dirty="0"/>
              <a:t>2</a:t>
            </a:r>
            <a:r>
              <a:rPr lang="en-US" baseline="30000" dirty="0"/>
              <a:t>N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524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(node)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“cha-con”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cha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2 con. </a:t>
            </a:r>
          </a:p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tin: </a:t>
            </a:r>
          </a:p>
          <a:p>
            <a:pPr lvl="1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: </a:t>
            </a:r>
            <a:r>
              <a:rPr lang="en-US" i="1" dirty="0">
                <a:solidFill>
                  <a:srgbClr val="FF0000"/>
                </a:solidFill>
              </a:rPr>
              <a:t>data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: </a:t>
            </a:r>
            <a:r>
              <a:rPr lang="en-US" i="1" dirty="0">
                <a:solidFill>
                  <a:srgbClr val="FF0000"/>
                </a:solidFill>
              </a:rPr>
              <a:t>left</a:t>
            </a:r>
          </a:p>
          <a:p>
            <a:pPr lvl="1"/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: </a:t>
            </a:r>
            <a:r>
              <a:rPr lang="en-US" i="1" dirty="0">
                <a:solidFill>
                  <a:srgbClr val="FF0000"/>
                </a:solidFill>
              </a:rPr>
              <a:t>right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4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624"/>
            <a:ext cx="7886700" cy="1325563"/>
          </a:xfrm>
        </p:spPr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468313" y="1054323"/>
            <a:ext cx="3311525" cy="25193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itchFamily="18" charset="0"/>
              </a:rPr>
              <a:t>Nút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1531938" y="1338486"/>
            <a:ext cx="1371600" cy="1371600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2400" b="1" dirty="0" err="1">
                <a:solidFill>
                  <a:srgbClr val="000099"/>
                </a:solidFill>
                <a:latin typeface="Times New Roman" pitchFamily="18" charset="0"/>
              </a:rPr>
              <a:t>Giá</a:t>
            </a: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lang="en-US" sz="2400" b="1" dirty="0" err="1">
                <a:solidFill>
                  <a:srgbClr val="000099"/>
                </a:solidFill>
                <a:latin typeface="Times New Roman" pitchFamily="18" charset="0"/>
              </a:rPr>
              <a:t>trị</a:t>
            </a:r>
            <a:endParaRPr lang="en-US" sz="2400" b="1" dirty="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1608138" y="2329086"/>
            <a:ext cx="12192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2217738" y="2329086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1379538" y="2481486"/>
            <a:ext cx="685800" cy="685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2370138" y="2481486"/>
            <a:ext cx="685800" cy="685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898525" y="3070448"/>
            <a:ext cx="908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>
                <a:solidFill>
                  <a:schemeClr val="bg1"/>
                </a:solidFill>
                <a:latin typeface="Arial Unicode MS" pitchFamily="34" charset="-128"/>
              </a:rPr>
              <a:t>Trỏ trái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2570163" y="3070448"/>
            <a:ext cx="102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dirty="0" err="1">
                <a:solidFill>
                  <a:schemeClr val="bg1"/>
                </a:solidFill>
                <a:latin typeface="Arial Unicode MS" pitchFamily="34" charset="-128"/>
              </a:rPr>
              <a:t>Trỏ</a:t>
            </a:r>
            <a:r>
              <a:rPr lang="en-US" dirty="0">
                <a:solidFill>
                  <a:schemeClr val="bg1"/>
                </a:solidFill>
                <a:latin typeface="Arial Unicode MS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Unicode MS" pitchFamily="34" charset="-128"/>
              </a:rPr>
              <a:t>phải</a:t>
            </a:r>
            <a:endParaRPr lang="en-US" dirty="0">
              <a:solidFill>
                <a:schemeClr val="bg1"/>
              </a:solidFill>
              <a:latin typeface="Arial Unicode MS" pitchFamily="34" charset="-128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5218113" y="1052736"/>
            <a:ext cx="3457575" cy="25193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itchFamily="18" charset="0"/>
              </a:rPr>
              <a:t>TNode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6715125" y="1336898"/>
            <a:ext cx="1371600" cy="1371600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data</a:t>
            </a: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6791325" y="2327498"/>
            <a:ext cx="12192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7400925" y="2327498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 flipH="1">
            <a:off x="6562725" y="2479898"/>
            <a:ext cx="685800" cy="685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>
            <a:off x="7553325" y="2479898"/>
            <a:ext cx="685800" cy="685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6254750" y="3068861"/>
            <a:ext cx="4924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chemeClr val="bg1"/>
                </a:solidFill>
                <a:latin typeface="Arial Unicode MS" pitchFamily="34" charset="-128"/>
              </a:rPr>
              <a:t>left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7753350" y="3068861"/>
            <a:ext cx="6335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chemeClr val="bg1"/>
                </a:solidFill>
                <a:latin typeface="Arial Unicode MS" pitchFamily="34" charset="-128"/>
              </a:rPr>
              <a:t>right</a:t>
            </a:r>
          </a:p>
        </p:txBody>
      </p:sp>
      <p:sp>
        <p:nvSpPr>
          <p:cNvPr id="22" name="Line 25"/>
          <p:cNvSpPr>
            <a:spLocks noChangeShapeType="1"/>
          </p:cNvSpPr>
          <p:nvPr/>
        </p:nvSpPr>
        <p:spPr bwMode="auto">
          <a:xfrm>
            <a:off x="3805238" y="2276698"/>
            <a:ext cx="13684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38994" y="3645024"/>
            <a:ext cx="62293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&lt;T&gt;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left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right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//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phương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thức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79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8335838" cy="1325563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node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D677261A-65E5-455D-991A-BD1D9C949317}" type="slidenum">
              <a:rPr lang="en-US" smtClean="0"/>
              <a:pPr eaLnBrk="1" hangingPunct="1"/>
              <a:t>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28650" y="2276872"/>
            <a:ext cx="775822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left =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right =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//</a:t>
            </a:r>
            <a:r>
              <a:rPr lang="en-US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Các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phương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thức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3" name="Freeform 33"/>
          <p:cNvSpPr>
            <a:spLocks/>
          </p:cNvSpPr>
          <p:nvPr/>
        </p:nvSpPr>
        <p:spPr bwMode="auto">
          <a:xfrm>
            <a:off x="35496" y="2681511"/>
            <a:ext cx="2335213" cy="2771775"/>
          </a:xfrm>
          <a:custGeom>
            <a:avLst/>
            <a:gdLst>
              <a:gd name="T0" fmla="*/ 2147483647 w 1471"/>
              <a:gd name="T1" fmla="*/ 2147483647 h 1746"/>
              <a:gd name="T2" fmla="*/ 2147483647 w 1471"/>
              <a:gd name="T3" fmla="*/ 2147483647 h 1746"/>
              <a:gd name="T4" fmla="*/ 2147483647 w 1471"/>
              <a:gd name="T5" fmla="*/ 2147483647 h 1746"/>
              <a:gd name="T6" fmla="*/ 2147483647 w 1471"/>
              <a:gd name="T7" fmla="*/ 2147483647 h 1746"/>
              <a:gd name="T8" fmla="*/ 2147483647 w 1471"/>
              <a:gd name="T9" fmla="*/ 2147483647 h 1746"/>
              <a:gd name="T10" fmla="*/ 2147483647 w 1471"/>
              <a:gd name="T11" fmla="*/ 2147483647 h 1746"/>
              <a:gd name="T12" fmla="*/ 2147483647 w 1471"/>
              <a:gd name="T13" fmla="*/ 2147483647 h 1746"/>
              <a:gd name="T14" fmla="*/ 2147483647 w 1471"/>
              <a:gd name="T15" fmla="*/ 2147483647 h 1746"/>
              <a:gd name="T16" fmla="*/ 2147483647 w 1471"/>
              <a:gd name="T17" fmla="*/ 2147483647 h 1746"/>
              <a:gd name="T18" fmla="*/ 2147483647 w 1471"/>
              <a:gd name="T19" fmla="*/ 2147483647 h 1746"/>
              <a:gd name="T20" fmla="*/ 2147483647 w 1471"/>
              <a:gd name="T21" fmla="*/ 2147483647 h 1746"/>
              <a:gd name="T22" fmla="*/ 2147483647 w 1471"/>
              <a:gd name="T23" fmla="*/ 2147483647 h 1746"/>
              <a:gd name="T24" fmla="*/ 2147483647 w 1471"/>
              <a:gd name="T25" fmla="*/ 2147483647 h 1746"/>
              <a:gd name="T26" fmla="*/ 2147483647 w 1471"/>
              <a:gd name="T27" fmla="*/ 2147483647 h 1746"/>
              <a:gd name="T28" fmla="*/ 2147483647 w 1471"/>
              <a:gd name="T29" fmla="*/ 2147483647 h 1746"/>
              <a:gd name="T30" fmla="*/ 2147483647 w 1471"/>
              <a:gd name="T31" fmla="*/ 2147483647 h 1746"/>
              <a:gd name="T32" fmla="*/ 2147483647 w 1471"/>
              <a:gd name="T33" fmla="*/ 2147483647 h 1746"/>
              <a:gd name="T34" fmla="*/ 2147483647 w 1471"/>
              <a:gd name="T35" fmla="*/ 2147483647 h 1746"/>
              <a:gd name="T36" fmla="*/ 2147483647 w 1471"/>
              <a:gd name="T37" fmla="*/ 2147483647 h 1746"/>
              <a:gd name="T38" fmla="*/ 2147483647 w 1471"/>
              <a:gd name="T39" fmla="*/ 2147483647 h 1746"/>
              <a:gd name="T40" fmla="*/ 2147483647 w 1471"/>
              <a:gd name="T41" fmla="*/ 2147483647 h 1746"/>
              <a:gd name="T42" fmla="*/ 2147483647 w 1471"/>
              <a:gd name="T43" fmla="*/ 2147483647 h 1746"/>
              <a:gd name="T44" fmla="*/ 2147483647 w 1471"/>
              <a:gd name="T45" fmla="*/ 2147483647 h 1746"/>
              <a:gd name="T46" fmla="*/ 2147483647 w 1471"/>
              <a:gd name="T47" fmla="*/ 2147483647 h 1746"/>
              <a:gd name="T48" fmla="*/ 2147483647 w 1471"/>
              <a:gd name="T49" fmla="*/ 2147483647 h 1746"/>
              <a:gd name="T50" fmla="*/ 2147483647 w 1471"/>
              <a:gd name="T51" fmla="*/ 2147483647 h 174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471"/>
              <a:gd name="T79" fmla="*/ 0 h 1746"/>
              <a:gd name="T80" fmla="*/ 1471 w 1471"/>
              <a:gd name="T81" fmla="*/ 1746 h 174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471" h="1746">
                <a:moveTo>
                  <a:pt x="575" y="13"/>
                </a:moveTo>
                <a:cubicBezTo>
                  <a:pt x="650" y="20"/>
                  <a:pt x="725" y="18"/>
                  <a:pt x="800" y="21"/>
                </a:cubicBezTo>
                <a:cubicBezTo>
                  <a:pt x="864" y="39"/>
                  <a:pt x="893" y="86"/>
                  <a:pt x="944" y="128"/>
                </a:cubicBezTo>
                <a:cubicBezTo>
                  <a:pt x="1006" y="178"/>
                  <a:pt x="1066" y="200"/>
                  <a:pt x="1119" y="268"/>
                </a:cubicBezTo>
                <a:cubicBezTo>
                  <a:pt x="1180" y="347"/>
                  <a:pt x="1220" y="438"/>
                  <a:pt x="1299" y="498"/>
                </a:cubicBezTo>
                <a:cubicBezTo>
                  <a:pt x="1324" y="537"/>
                  <a:pt x="1348" y="575"/>
                  <a:pt x="1372" y="614"/>
                </a:cubicBezTo>
                <a:cubicBezTo>
                  <a:pt x="1382" y="629"/>
                  <a:pt x="1387" y="646"/>
                  <a:pt x="1393" y="663"/>
                </a:cubicBezTo>
                <a:cubicBezTo>
                  <a:pt x="1398" y="688"/>
                  <a:pt x="1402" y="742"/>
                  <a:pt x="1401" y="762"/>
                </a:cubicBezTo>
                <a:cubicBezTo>
                  <a:pt x="1410" y="817"/>
                  <a:pt x="1471" y="914"/>
                  <a:pt x="1446" y="993"/>
                </a:cubicBezTo>
                <a:cubicBezTo>
                  <a:pt x="1408" y="1105"/>
                  <a:pt x="1291" y="1129"/>
                  <a:pt x="1249" y="1239"/>
                </a:cubicBezTo>
                <a:cubicBezTo>
                  <a:pt x="1236" y="1273"/>
                  <a:pt x="1217" y="1304"/>
                  <a:pt x="1205" y="1338"/>
                </a:cubicBezTo>
                <a:cubicBezTo>
                  <a:pt x="1184" y="1397"/>
                  <a:pt x="1173" y="1462"/>
                  <a:pt x="1148" y="1519"/>
                </a:cubicBezTo>
                <a:cubicBezTo>
                  <a:pt x="1131" y="1556"/>
                  <a:pt x="1112" y="1596"/>
                  <a:pt x="1097" y="1634"/>
                </a:cubicBezTo>
                <a:cubicBezTo>
                  <a:pt x="1092" y="1645"/>
                  <a:pt x="1076" y="1712"/>
                  <a:pt x="1067" y="1724"/>
                </a:cubicBezTo>
                <a:cubicBezTo>
                  <a:pt x="1053" y="1743"/>
                  <a:pt x="1024" y="1737"/>
                  <a:pt x="1002" y="1741"/>
                </a:cubicBezTo>
                <a:cubicBezTo>
                  <a:pt x="908" y="1735"/>
                  <a:pt x="812" y="1746"/>
                  <a:pt x="720" y="1724"/>
                </a:cubicBezTo>
                <a:cubicBezTo>
                  <a:pt x="701" y="1720"/>
                  <a:pt x="704" y="1683"/>
                  <a:pt x="691" y="1667"/>
                </a:cubicBezTo>
                <a:cubicBezTo>
                  <a:pt x="626" y="1590"/>
                  <a:pt x="546" y="1543"/>
                  <a:pt x="481" y="1469"/>
                </a:cubicBezTo>
                <a:cubicBezTo>
                  <a:pt x="448" y="1432"/>
                  <a:pt x="446" y="1407"/>
                  <a:pt x="401" y="1395"/>
                </a:cubicBezTo>
                <a:cubicBezTo>
                  <a:pt x="357" y="1345"/>
                  <a:pt x="311" y="1308"/>
                  <a:pt x="278" y="1247"/>
                </a:cubicBezTo>
                <a:cubicBezTo>
                  <a:pt x="262" y="1218"/>
                  <a:pt x="175" y="1208"/>
                  <a:pt x="154" y="1182"/>
                </a:cubicBezTo>
                <a:cubicBezTo>
                  <a:pt x="85" y="1092"/>
                  <a:pt x="88" y="1101"/>
                  <a:pt x="22" y="1051"/>
                </a:cubicBezTo>
                <a:cubicBezTo>
                  <a:pt x="0" y="1006"/>
                  <a:pt x="27" y="954"/>
                  <a:pt x="24" y="910"/>
                </a:cubicBezTo>
                <a:cubicBezTo>
                  <a:pt x="15" y="869"/>
                  <a:pt x="10" y="827"/>
                  <a:pt x="2" y="786"/>
                </a:cubicBezTo>
                <a:cubicBezTo>
                  <a:pt x="72" y="656"/>
                  <a:pt x="420" y="277"/>
                  <a:pt x="442" y="129"/>
                </a:cubicBezTo>
                <a:cubicBezTo>
                  <a:pt x="537" y="0"/>
                  <a:pt x="515" y="31"/>
                  <a:pt x="575" y="13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54" name="Freeform 34"/>
          <p:cNvSpPr>
            <a:spLocks/>
          </p:cNvSpPr>
          <p:nvPr/>
        </p:nvSpPr>
        <p:spPr bwMode="auto">
          <a:xfrm>
            <a:off x="2421509" y="2897411"/>
            <a:ext cx="2103438" cy="2763837"/>
          </a:xfrm>
          <a:custGeom>
            <a:avLst/>
            <a:gdLst>
              <a:gd name="T0" fmla="*/ 2147483647 w 1325"/>
              <a:gd name="T1" fmla="*/ 2147483647 h 1741"/>
              <a:gd name="T2" fmla="*/ 2147483647 w 1325"/>
              <a:gd name="T3" fmla="*/ 2147483647 h 1741"/>
              <a:gd name="T4" fmla="*/ 2147483647 w 1325"/>
              <a:gd name="T5" fmla="*/ 2147483647 h 1741"/>
              <a:gd name="T6" fmla="*/ 2147483647 w 1325"/>
              <a:gd name="T7" fmla="*/ 2147483647 h 1741"/>
              <a:gd name="T8" fmla="*/ 2147483647 w 1325"/>
              <a:gd name="T9" fmla="*/ 2147483647 h 1741"/>
              <a:gd name="T10" fmla="*/ 2147483647 w 1325"/>
              <a:gd name="T11" fmla="*/ 2147483647 h 1741"/>
              <a:gd name="T12" fmla="*/ 2147483647 w 1325"/>
              <a:gd name="T13" fmla="*/ 2147483647 h 1741"/>
              <a:gd name="T14" fmla="*/ 2147483647 w 1325"/>
              <a:gd name="T15" fmla="*/ 2147483647 h 1741"/>
              <a:gd name="T16" fmla="*/ 2147483647 w 1325"/>
              <a:gd name="T17" fmla="*/ 2147483647 h 1741"/>
              <a:gd name="T18" fmla="*/ 2147483647 w 1325"/>
              <a:gd name="T19" fmla="*/ 2147483647 h 1741"/>
              <a:gd name="T20" fmla="*/ 2147483647 w 1325"/>
              <a:gd name="T21" fmla="*/ 2147483647 h 1741"/>
              <a:gd name="T22" fmla="*/ 2147483647 w 1325"/>
              <a:gd name="T23" fmla="*/ 2147483647 h 1741"/>
              <a:gd name="T24" fmla="*/ 2147483647 w 1325"/>
              <a:gd name="T25" fmla="*/ 2147483647 h 1741"/>
              <a:gd name="T26" fmla="*/ 2147483647 w 1325"/>
              <a:gd name="T27" fmla="*/ 2147483647 h 1741"/>
              <a:gd name="T28" fmla="*/ 2147483647 w 1325"/>
              <a:gd name="T29" fmla="*/ 2147483647 h 1741"/>
              <a:gd name="T30" fmla="*/ 2147483647 w 1325"/>
              <a:gd name="T31" fmla="*/ 2147483647 h 1741"/>
              <a:gd name="T32" fmla="*/ 2147483647 w 1325"/>
              <a:gd name="T33" fmla="*/ 2147483647 h 1741"/>
              <a:gd name="T34" fmla="*/ 2147483647 w 1325"/>
              <a:gd name="T35" fmla="*/ 2147483647 h 1741"/>
              <a:gd name="T36" fmla="*/ 2147483647 w 1325"/>
              <a:gd name="T37" fmla="*/ 2147483647 h 1741"/>
              <a:gd name="T38" fmla="*/ 2147483647 w 1325"/>
              <a:gd name="T39" fmla="*/ 2147483647 h 1741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325"/>
              <a:gd name="T61" fmla="*/ 0 h 1741"/>
              <a:gd name="T62" fmla="*/ 1325 w 1325"/>
              <a:gd name="T63" fmla="*/ 1741 h 1741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325" h="1741">
                <a:moveTo>
                  <a:pt x="483" y="13"/>
                </a:moveTo>
                <a:cubicBezTo>
                  <a:pt x="558" y="20"/>
                  <a:pt x="633" y="18"/>
                  <a:pt x="708" y="21"/>
                </a:cubicBezTo>
                <a:cubicBezTo>
                  <a:pt x="772" y="39"/>
                  <a:pt x="801" y="86"/>
                  <a:pt x="852" y="128"/>
                </a:cubicBezTo>
                <a:cubicBezTo>
                  <a:pt x="914" y="178"/>
                  <a:pt x="974" y="200"/>
                  <a:pt x="1027" y="268"/>
                </a:cubicBezTo>
                <a:cubicBezTo>
                  <a:pt x="1088" y="347"/>
                  <a:pt x="1128" y="438"/>
                  <a:pt x="1207" y="498"/>
                </a:cubicBezTo>
                <a:cubicBezTo>
                  <a:pt x="1253" y="564"/>
                  <a:pt x="1276" y="581"/>
                  <a:pt x="1301" y="663"/>
                </a:cubicBezTo>
                <a:cubicBezTo>
                  <a:pt x="1309" y="727"/>
                  <a:pt x="1325" y="794"/>
                  <a:pt x="1301" y="890"/>
                </a:cubicBezTo>
                <a:cubicBezTo>
                  <a:pt x="1277" y="986"/>
                  <a:pt x="1188" y="1164"/>
                  <a:pt x="1157" y="1239"/>
                </a:cubicBezTo>
                <a:cubicBezTo>
                  <a:pt x="1144" y="1273"/>
                  <a:pt x="1125" y="1304"/>
                  <a:pt x="1113" y="1338"/>
                </a:cubicBezTo>
                <a:cubicBezTo>
                  <a:pt x="1092" y="1397"/>
                  <a:pt x="1081" y="1462"/>
                  <a:pt x="1056" y="1519"/>
                </a:cubicBezTo>
                <a:cubicBezTo>
                  <a:pt x="1039" y="1556"/>
                  <a:pt x="1020" y="1596"/>
                  <a:pt x="1005" y="1634"/>
                </a:cubicBezTo>
                <a:cubicBezTo>
                  <a:pt x="981" y="1671"/>
                  <a:pt x="978" y="1736"/>
                  <a:pt x="910" y="1741"/>
                </a:cubicBezTo>
                <a:cubicBezTo>
                  <a:pt x="847" y="1731"/>
                  <a:pt x="697" y="1700"/>
                  <a:pt x="599" y="1667"/>
                </a:cubicBezTo>
                <a:cubicBezTo>
                  <a:pt x="534" y="1590"/>
                  <a:pt x="386" y="1614"/>
                  <a:pt x="321" y="1540"/>
                </a:cubicBezTo>
                <a:cubicBezTo>
                  <a:pt x="252" y="1470"/>
                  <a:pt x="226" y="1326"/>
                  <a:pt x="186" y="1247"/>
                </a:cubicBezTo>
                <a:cubicBezTo>
                  <a:pt x="148" y="1192"/>
                  <a:pt x="112" y="1118"/>
                  <a:pt x="83" y="1063"/>
                </a:cubicBezTo>
                <a:cubicBezTo>
                  <a:pt x="61" y="1018"/>
                  <a:pt x="12" y="959"/>
                  <a:pt x="9" y="915"/>
                </a:cubicBezTo>
                <a:cubicBezTo>
                  <a:pt x="0" y="874"/>
                  <a:pt x="17" y="799"/>
                  <a:pt x="9" y="758"/>
                </a:cubicBezTo>
                <a:cubicBezTo>
                  <a:pt x="79" y="628"/>
                  <a:pt x="328" y="277"/>
                  <a:pt x="350" y="129"/>
                </a:cubicBezTo>
                <a:cubicBezTo>
                  <a:pt x="445" y="0"/>
                  <a:pt x="423" y="31"/>
                  <a:pt x="483" y="13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51447" y="188640"/>
            <a:ext cx="8241033" cy="128089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4514851" y="1224235"/>
            <a:ext cx="4477642" cy="54451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600" dirty="0" err="1"/>
              <a:t>Là</a:t>
            </a:r>
            <a:r>
              <a:rPr lang="en-US" sz="2600" dirty="0"/>
              <a:t> 1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0000"/>
                </a:solidFill>
              </a:rPr>
              <a:t>nhị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phân</a:t>
            </a:r>
            <a:endParaRPr lang="en-US" sz="26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node </a:t>
            </a:r>
            <a:r>
              <a:rPr lang="en-US" sz="2600" dirty="0" err="1"/>
              <a:t>luôn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lớn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hơn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giá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trị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của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các</a:t>
            </a:r>
            <a:r>
              <a:rPr lang="en-US" sz="2600" dirty="0">
                <a:solidFill>
                  <a:srgbClr val="FF0000"/>
                </a:solidFill>
              </a:rPr>
              <a:t> node </a:t>
            </a:r>
            <a:r>
              <a:rPr lang="en-US" sz="2600" dirty="0" err="1">
                <a:solidFill>
                  <a:srgbClr val="FF0000"/>
                </a:solidFill>
              </a:rPr>
              <a:t>nhánh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trái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và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nhỏ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hơn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giá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trị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các</a:t>
            </a:r>
            <a:r>
              <a:rPr lang="en-US" sz="2600" dirty="0">
                <a:solidFill>
                  <a:srgbClr val="FF0000"/>
                </a:solidFill>
              </a:rPr>
              <a:t> node </a:t>
            </a:r>
            <a:r>
              <a:rPr lang="en-US" sz="2600" dirty="0" err="1">
                <a:solidFill>
                  <a:srgbClr val="FF0000"/>
                </a:solidFill>
              </a:rPr>
              <a:t>nhánh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phải</a:t>
            </a:r>
            <a:endParaRPr lang="en-US" sz="26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600" dirty="0">
                <a:sym typeface="Wingdings" pitchFamily="2" charset="2"/>
              </a:rPr>
              <a:t></a:t>
            </a:r>
            <a:r>
              <a:rPr lang="en-US" sz="2600" dirty="0" err="1">
                <a:sym typeface="Wingdings" pitchFamily="2" charset="2"/>
              </a:rPr>
              <a:t>Nút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có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giá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trị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nhỏ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nhất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nằm</a:t>
            </a:r>
            <a:r>
              <a:rPr lang="en-US" sz="2600" dirty="0">
                <a:sym typeface="Wingdings" pitchFamily="2" charset="2"/>
              </a:rPr>
              <a:t> ở </a:t>
            </a:r>
            <a:r>
              <a:rPr lang="en-US" sz="2600" dirty="0" err="1">
                <a:sym typeface="Wingdings" pitchFamily="2" charset="2"/>
              </a:rPr>
              <a:t>nút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trái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nhất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của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cây</a:t>
            </a:r>
            <a:r>
              <a:rPr lang="en-US" sz="2600" dirty="0">
                <a:sym typeface="Wingdings" pitchFamily="2" charset="2"/>
              </a:rPr>
              <a:t>  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600" dirty="0">
                <a:sym typeface="Wingdings" pitchFamily="2" charset="2"/>
              </a:rPr>
              <a:t></a:t>
            </a:r>
            <a:r>
              <a:rPr lang="en-US" sz="2600" dirty="0" err="1">
                <a:sym typeface="Wingdings" pitchFamily="2" charset="2"/>
              </a:rPr>
              <a:t>Nút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có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giá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trị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lớn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nhất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nằm</a:t>
            </a:r>
            <a:r>
              <a:rPr lang="en-US" sz="2600" dirty="0">
                <a:sym typeface="Wingdings" pitchFamily="2" charset="2"/>
              </a:rPr>
              <a:t> ở </a:t>
            </a:r>
            <a:r>
              <a:rPr lang="en-US" sz="2600" dirty="0" err="1">
                <a:sym typeface="Wingdings" pitchFamily="2" charset="2"/>
              </a:rPr>
              <a:t>nút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phải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nhất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của</a:t>
            </a:r>
            <a:r>
              <a:rPr lang="en-US" sz="2600" dirty="0">
                <a:sym typeface="Wingdings" pitchFamily="2" charset="2"/>
              </a:rPr>
              <a:t> </a:t>
            </a:r>
            <a:r>
              <a:rPr lang="en-US" sz="2600" dirty="0" err="1">
                <a:sym typeface="Wingdings" pitchFamily="2" charset="2"/>
              </a:rPr>
              <a:t>cây</a:t>
            </a:r>
            <a:endParaRPr lang="en-US" sz="2600" dirty="0"/>
          </a:p>
        </p:txBody>
      </p:sp>
      <p:sp>
        <p:nvSpPr>
          <p:cNvPr id="14359" name="Slide Number Placeholder 2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3F298A7D-B445-495A-A0BB-8F21B3EE79EB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5124" name="Oval 4"/>
          <p:cNvSpPr>
            <a:spLocks noChangeArrowheads="1"/>
          </p:cNvSpPr>
          <p:nvPr/>
        </p:nvSpPr>
        <p:spPr bwMode="auto">
          <a:xfrm>
            <a:off x="2018284" y="225447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5125" name="Oval 5"/>
          <p:cNvSpPr>
            <a:spLocks noChangeArrowheads="1"/>
          </p:cNvSpPr>
          <p:nvPr/>
        </p:nvSpPr>
        <p:spPr bwMode="auto">
          <a:xfrm>
            <a:off x="865759" y="3046636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5126" name="Oval 6"/>
          <p:cNvSpPr>
            <a:spLocks noChangeArrowheads="1"/>
          </p:cNvSpPr>
          <p:nvPr/>
        </p:nvSpPr>
        <p:spPr bwMode="auto">
          <a:xfrm>
            <a:off x="3242247" y="3046636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5127" name="Oval 7"/>
          <p:cNvSpPr>
            <a:spLocks noChangeArrowheads="1"/>
          </p:cNvSpPr>
          <p:nvPr/>
        </p:nvSpPr>
        <p:spPr bwMode="auto">
          <a:xfrm>
            <a:off x="146622" y="39118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5128" name="Oval 8"/>
          <p:cNvSpPr>
            <a:spLocks noChangeArrowheads="1"/>
          </p:cNvSpPr>
          <p:nvPr/>
        </p:nvSpPr>
        <p:spPr bwMode="auto">
          <a:xfrm>
            <a:off x="1729359" y="39118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5129" name="Oval 9"/>
          <p:cNvSpPr>
            <a:spLocks noChangeArrowheads="1"/>
          </p:cNvSpPr>
          <p:nvPr/>
        </p:nvSpPr>
        <p:spPr bwMode="auto">
          <a:xfrm>
            <a:off x="2521522" y="39118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5130" name="Oval 10"/>
          <p:cNvSpPr>
            <a:spLocks noChangeArrowheads="1"/>
          </p:cNvSpPr>
          <p:nvPr/>
        </p:nvSpPr>
        <p:spPr bwMode="auto">
          <a:xfrm>
            <a:off x="3961384" y="39118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5131" name="Oval 11"/>
          <p:cNvSpPr>
            <a:spLocks noChangeArrowheads="1"/>
          </p:cNvSpPr>
          <p:nvPr/>
        </p:nvSpPr>
        <p:spPr bwMode="auto">
          <a:xfrm>
            <a:off x="2954909" y="47754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5132" name="Oval 12"/>
          <p:cNvSpPr>
            <a:spLocks noChangeArrowheads="1"/>
          </p:cNvSpPr>
          <p:nvPr/>
        </p:nvSpPr>
        <p:spPr bwMode="auto">
          <a:xfrm>
            <a:off x="1297559" y="47754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14351" name="Line 13"/>
          <p:cNvSpPr>
            <a:spLocks noChangeShapeType="1"/>
          </p:cNvSpPr>
          <p:nvPr/>
        </p:nvSpPr>
        <p:spPr bwMode="auto">
          <a:xfrm flipH="1">
            <a:off x="1297559" y="2616423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2" name="Line 14"/>
          <p:cNvSpPr>
            <a:spLocks noChangeShapeType="1"/>
          </p:cNvSpPr>
          <p:nvPr/>
        </p:nvSpPr>
        <p:spPr bwMode="auto">
          <a:xfrm>
            <a:off x="2475484" y="2629123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Line 15"/>
          <p:cNvSpPr>
            <a:spLocks noChangeShapeType="1"/>
          </p:cNvSpPr>
          <p:nvPr/>
        </p:nvSpPr>
        <p:spPr bwMode="auto">
          <a:xfrm flipH="1">
            <a:off x="505397" y="3480023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16"/>
          <p:cNvSpPr>
            <a:spLocks noChangeShapeType="1"/>
          </p:cNvSpPr>
          <p:nvPr/>
        </p:nvSpPr>
        <p:spPr bwMode="auto">
          <a:xfrm>
            <a:off x="1297559" y="3480023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Line 17"/>
          <p:cNvSpPr>
            <a:spLocks noChangeShapeType="1"/>
          </p:cNvSpPr>
          <p:nvPr/>
        </p:nvSpPr>
        <p:spPr bwMode="auto">
          <a:xfrm flipH="1">
            <a:off x="1657922" y="4416648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6" name="Line 18"/>
          <p:cNvSpPr>
            <a:spLocks noChangeShapeType="1"/>
          </p:cNvSpPr>
          <p:nvPr/>
        </p:nvSpPr>
        <p:spPr bwMode="auto">
          <a:xfrm flipH="1">
            <a:off x="2954909" y="3480023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7" name="Line 19"/>
          <p:cNvSpPr>
            <a:spLocks noChangeShapeType="1"/>
          </p:cNvSpPr>
          <p:nvPr/>
        </p:nvSpPr>
        <p:spPr bwMode="auto">
          <a:xfrm>
            <a:off x="3674047" y="3480023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Line 20"/>
          <p:cNvSpPr>
            <a:spLocks noChangeShapeType="1"/>
          </p:cNvSpPr>
          <p:nvPr/>
        </p:nvSpPr>
        <p:spPr bwMode="auto">
          <a:xfrm>
            <a:off x="2881884" y="4343623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1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5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5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51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28651" y="2471738"/>
            <a:ext cx="8058150" cy="36242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/>
              <a:t>1.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2.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3. 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4.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5. </a:t>
            </a:r>
            <a:r>
              <a:rPr lang="en-US" dirty="0" err="1"/>
              <a:t>Xoá</a:t>
            </a:r>
            <a:r>
              <a:rPr lang="en-US" dirty="0"/>
              <a:t> node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 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C3EFC95A-99E9-4F48-B01E-8B50C08DDC7E}" type="slidenum">
              <a:rPr lang="en-US" smtClean="0"/>
              <a:pPr eaLnBrk="1" hangingPunct="1"/>
              <a:t>10</a:t>
            </a:fld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Oval 13"/>
          <p:cNvSpPr>
            <a:spLocks noChangeArrowheads="1"/>
          </p:cNvSpPr>
          <p:nvPr/>
        </p:nvSpPr>
        <p:spPr bwMode="auto">
          <a:xfrm>
            <a:off x="2230438" y="25590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6" name="Oval 12"/>
          <p:cNvSpPr>
            <a:spLocks noChangeArrowheads="1"/>
          </p:cNvSpPr>
          <p:nvPr/>
        </p:nvSpPr>
        <p:spPr bwMode="auto">
          <a:xfrm>
            <a:off x="2230438" y="25590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" name="Oval 15"/>
          <p:cNvSpPr>
            <a:spLocks noChangeArrowheads="1"/>
          </p:cNvSpPr>
          <p:nvPr/>
        </p:nvSpPr>
        <p:spPr bwMode="auto">
          <a:xfrm>
            <a:off x="2301875" y="255746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8" name="Oval 11"/>
          <p:cNvSpPr>
            <a:spLocks noChangeArrowheads="1"/>
          </p:cNvSpPr>
          <p:nvPr/>
        </p:nvSpPr>
        <p:spPr bwMode="auto">
          <a:xfrm>
            <a:off x="2301875" y="255746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9" name="Oval 10"/>
          <p:cNvSpPr>
            <a:spLocks noChangeArrowheads="1"/>
          </p:cNvSpPr>
          <p:nvPr/>
        </p:nvSpPr>
        <p:spPr bwMode="auto">
          <a:xfrm>
            <a:off x="2230438" y="25590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2301875" y="255746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11" name="Oval 8"/>
          <p:cNvSpPr>
            <a:spLocks noChangeArrowheads="1"/>
          </p:cNvSpPr>
          <p:nvPr/>
        </p:nvSpPr>
        <p:spPr bwMode="auto">
          <a:xfrm>
            <a:off x="2230438" y="25590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graphicFrame>
        <p:nvGraphicFramePr>
          <p:cNvPr id="12" name="Group 49"/>
          <p:cNvGraphicFramePr>
            <a:graphicFrameLocks/>
          </p:cNvGraphicFramePr>
          <p:nvPr/>
        </p:nvGraphicFramePr>
        <p:xfrm>
          <a:off x="725488" y="1471613"/>
          <a:ext cx="7591425" cy="518048"/>
        </p:xfrm>
        <a:graphic>
          <a:graphicData uri="http://schemas.openxmlformats.org/drawingml/2006/table">
            <a:tbl>
              <a:tblPr/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9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7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7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6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4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15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2268538" y="255746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 flipH="1">
            <a:off x="1547813" y="2925763"/>
            <a:ext cx="792162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2725738" y="2938463"/>
            <a:ext cx="838200" cy="4905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 flipH="1">
            <a:off x="755650" y="3789363"/>
            <a:ext cx="433388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1547813" y="3789363"/>
            <a:ext cx="504825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1908175" y="4725988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 flipH="1">
            <a:off x="3205163" y="3789363"/>
            <a:ext cx="431800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3924300" y="3789363"/>
            <a:ext cx="431800" cy="503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50"/>
          <p:cNvSpPr>
            <a:spLocks noChangeShapeType="1"/>
          </p:cNvSpPr>
          <p:nvPr/>
        </p:nvSpPr>
        <p:spPr bwMode="auto">
          <a:xfrm flipV="1">
            <a:off x="1187450" y="1989138"/>
            <a:ext cx="0" cy="360362"/>
          </a:xfrm>
          <a:prstGeom prst="line">
            <a:avLst/>
          </a:prstGeom>
          <a:noFill/>
          <a:ln w="76200" cmpd="tri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58"/>
          <p:cNvSpPr>
            <a:spLocks noRot="1" noChangeArrowheads="1"/>
          </p:cNvSpPr>
          <p:nvPr/>
        </p:nvSpPr>
        <p:spPr bwMode="auto">
          <a:xfrm>
            <a:off x="4859338" y="2606675"/>
            <a:ext cx="3983037" cy="391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/>
            </a:pPr>
            <a:r>
              <a:rPr lang="en-US" sz="2600" dirty="0" err="1"/>
              <a:t>Nếu</a:t>
            </a:r>
            <a:r>
              <a:rPr lang="en-US" sz="2600" dirty="0"/>
              <a:t> node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thêm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3300"/>
                </a:solidFill>
              </a:rPr>
              <a:t>nhỏ</a:t>
            </a:r>
            <a:r>
              <a:rPr lang="en-US" sz="2600" dirty="0">
                <a:solidFill>
                  <a:srgbClr val="FF3300"/>
                </a:solidFill>
              </a:rPr>
              <a:t> </a:t>
            </a:r>
            <a:r>
              <a:rPr lang="en-US" sz="2600" dirty="0" err="1">
                <a:solidFill>
                  <a:srgbClr val="FF3300"/>
                </a:solidFill>
              </a:rPr>
              <a:t>hơn</a:t>
            </a:r>
            <a:r>
              <a:rPr lang="en-US" sz="2600" dirty="0"/>
              <a:t> node </a:t>
            </a:r>
            <a:r>
              <a:rPr lang="en-US" sz="2600" dirty="0" err="1"/>
              <a:t>đang</a:t>
            </a:r>
            <a:r>
              <a:rPr lang="en-US" sz="2600" dirty="0"/>
              <a:t> </a:t>
            </a:r>
            <a:r>
              <a:rPr lang="en-US" sz="2600" dirty="0" err="1"/>
              <a:t>xét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/>
              <a:t>thêm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3300"/>
                </a:solidFill>
              </a:rPr>
              <a:t>bên</a:t>
            </a:r>
            <a:r>
              <a:rPr lang="en-US" sz="2600" dirty="0">
                <a:solidFill>
                  <a:srgbClr val="FF3300"/>
                </a:solidFill>
              </a:rPr>
              <a:t> </a:t>
            </a:r>
            <a:r>
              <a:rPr lang="en-US" sz="2600" dirty="0" err="1">
                <a:solidFill>
                  <a:srgbClr val="FF3300"/>
                </a:solidFill>
              </a:rPr>
              <a:t>trái</a:t>
            </a:r>
            <a:endParaRPr lang="en-US" sz="2600" dirty="0"/>
          </a:p>
          <a:p>
            <a:pPr marL="457200" indent="-457200"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/>
            </a:pPr>
            <a:r>
              <a:rPr lang="en-US" sz="2600" dirty="0" err="1"/>
              <a:t>Ngược</a:t>
            </a:r>
            <a:r>
              <a:rPr lang="en-US" sz="2600" dirty="0"/>
              <a:t> </a:t>
            </a:r>
            <a:r>
              <a:rPr lang="en-US" sz="2600" dirty="0" err="1"/>
              <a:t>lại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/>
              <a:t>thêm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3300"/>
                </a:solidFill>
              </a:rPr>
              <a:t>bên</a:t>
            </a:r>
            <a:r>
              <a:rPr lang="en-US" sz="2600" dirty="0">
                <a:solidFill>
                  <a:srgbClr val="FF3300"/>
                </a:solidFill>
              </a:rPr>
              <a:t> </a:t>
            </a:r>
            <a:r>
              <a:rPr lang="en-US" sz="2600" dirty="0" err="1">
                <a:solidFill>
                  <a:srgbClr val="FF3300"/>
                </a:solidFill>
              </a:rPr>
              <a:t>phải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107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7037E-6 L 0.10295 -3.7037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386 0.11551 " pathEditMode="relative" ptsTypes="AA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95 -3.7037E-6 L 0.2073 0.0011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1 0.00371 L -0.12031 0.11574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4" y="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729 0.00116 L 0.30868 0.0018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12205 0.11019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11" y="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893 0.11389 L -0.20729 0.24491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868 0.00185 L 0.41528 0.0011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3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3385 0.11551 " pathEditMode="relative" ptsTypes="AA">
                                      <p:cBhvr>
                                        <p:cTn id="7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785 0.12083 L -0.03542 0.24699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22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528 0.00115 L 0.52396 0.0004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3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-0.14185 0.12593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1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812 0.11597 L -0.02569 0.24213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22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542 0.24699 L -0.08264 0.37292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3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396 0.00047 L 0.62517 -0.00023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84 0.11551 " pathEditMode="relative" ptsTypes="AA">
                                      <p:cBhvr>
                                        <p:cTn id="1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2 0.11713 L 0.06319 0.2430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9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3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2517 -0.00024 L 0.72951 -0.00093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386 0.11551 " pathEditMode="relative" ptsTypes="AA">
                                      <p:cBhvr>
                                        <p:cTn id="13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67 0.1206 L 0.21649 0.24144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3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1" grpId="0" animBg="1"/>
      <p:bldP spid="11" grpId="1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79E5-CC46-4E46-9BFB-2F90143E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Vẽ cây nhị phân tìm kiếm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1555D-2AF1-5245-80D3-182F6EB8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47806" cy="4351338"/>
          </a:xfrm>
        </p:spPr>
        <p:txBody>
          <a:bodyPr/>
          <a:lstStyle/>
          <a:p>
            <a:pPr marL="0" indent="0">
              <a:buNone/>
            </a:pPr>
            <a:r>
              <a:rPr lang="en-VN" dirty="0"/>
              <a:t>Cho dãy số:</a:t>
            </a:r>
          </a:p>
          <a:p>
            <a:pPr marL="0" indent="0">
              <a:buNone/>
            </a:pPr>
            <a:r>
              <a:rPr lang="en-VN" dirty="0"/>
              <a:t>29, 10, 6, 7, 21, 40, 45, 71, 23, 18, 10, 35, 3, 11</a:t>
            </a:r>
          </a:p>
          <a:p>
            <a:pPr marL="0" indent="0">
              <a:buNone/>
            </a:pPr>
            <a:r>
              <a:rPr lang="en-VN"/>
              <a:t>Vẽ cây nhị phân tìm kiếm theo thứ tự từ trái sang phải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BD783-5190-F744-85ED-641BCE52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121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8650" y="2132856"/>
            <a:ext cx="78867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public class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MyBinaryTree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 &lt;T&gt;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root; //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gốc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//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Các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phương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thức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369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: </a:t>
            </a:r>
            <a:r>
              <a:rPr lang="en-US" dirty="0" err="1"/>
              <a:t>TNode</a:t>
            </a:r>
            <a:r>
              <a:rPr lang="en-US" dirty="0"/>
              <a:t>(x)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8650" y="2208346"/>
            <a:ext cx="725571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root =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TNode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 &lt; x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TNode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 &gt; x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TNode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Kết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thúc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823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TNode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8650" y="1412776"/>
            <a:ext cx="622935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left;</a:t>
            </a:r>
          </a:p>
          <a:p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right;</a:t>
            </a:r>
          </a:p>
          <a:p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MyTNode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x)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{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data = x;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left =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right =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2117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9512" y="188640"/>
            <a:ext cx="8784976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InsertData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x){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x.CompareTo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(data) == 0)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x.CompareTo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(data) &lt; 0)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(left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left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else return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left.InsertData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(right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right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else 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right.InsertData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00314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1560" y="1124744"/>
            <a:ext cx="81369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public class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MyBinaryTree</a:t>
            </a:r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root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Insert(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	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(root ==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root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MyTNode</a:t>
            </a:r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	   return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	      return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root.InsertData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7939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.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trùng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trước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44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28651" y="2471738"/>
            <a:ext cx="8058150" cy="3624262"/>
          </a:xfrm>
        </p:spPr>
        <p:txBody>
          <a:bodyPr>
            <a:normAutofit/>
          </a:bodyPr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(</a:t>
            </a:r>
            <a:r>
              <a:rPr lang="en-US" i="1" dirty="0" err="1"/>
              <a:t>PreOrder</a:t>
            </a:r>
            <a:r>
              <a:rPr lang="en-US" dirty="0"/>
              <a:t>) 		(</a:t>
            </a:r>
            <a:r>
              <a:rPr lang="en-US" b="1" dirty="0">
                <a:solidFill>
                  <a:srgbClr val="FF3300"/>
                </a:solidFill>
              </a:rPr>
              <a:t>N</a:t>
            </a:r>
            <a:r>
              <a:rPr lang="en-US" dirty="0"/>
              <a:t>LR)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(</a:t>
            </a:r>
            <a:r>
              <a:rPr lang="en-US" i="1" dirty="0" err="1"/>
              <a:t>InOrder</a:t>
            </a:r>
            <a:r>
              <a:rPr lang="en-US" dirty="0"/>
              <a:t>)		(L</a:t>
            </a:r>
            <a:r>
              <a:rPr lang="en-US" b="1" dirty="0">
                <a:solidFill>
                  <a:srgbClr val="FF3300"/>
                </a:solidFill>
              </a:rPr>
              <a:t>N</a:t>
            </a:r>
            <a:r>
              <a:rPr lang="en-US" dirty="0"/>
              <a:t>R)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(</a:t>
            </a:r>
            <a:r>
              <a:rPr lang="en-US" i="1" dirty="0" err="1"/>
              <a:t>PostOrder</a:t>
            </a:r>
            <a:r>
              <a:rPr lang="en-US" dirty="0"/>
              <a:t>)		(LR</a:t>
            </a:r>
            <a:r>
              <a:rPr lang="en-US" b="1" dirty="0">
                <a:solidFill>
                  <a:srgbClr val="FF3300"/>
                </a:solidFill>
              </a:rPr>
              <a:t>N</a:t>
            </a:r>
            <a:r>
              <a:rPr lang="en-US" dirty="0"/>
              <a:t>)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1F3BD1BF-1C44-4AA4-8772-B06514160A18}" type="slidenum">
              <a:rPr lang="en-US" smtClean="0"/>
              <a:pPr eaLnBrk="1" hangingPunct="1"/>
              <a:t>19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5" name="Slide Number Placeholder 2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9AA04B28-5E31-41E3-A2F3-ADA14801A140}" type="slidenum">
              <a:rPr lang="en-US" smtClean="0"/>
              <a:pPr eaLnBrk="1" hangingPunct="1"/>
              <a:t>20</a:t>
            </a:fld>
            <a:endParaRPr lang="en-US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77309"/>
              </p:ext>
            </p:extLst>
          </p:nvPr>
        </p:nvGraphicFramePr>
        <p:xfrm>
          <a:off x="14007" y="404664"/>
          <a:ext cx="8329616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85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23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23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1934">
                <a:tc>
                  <a:txBody>
                    <a:bodyPr/>
                    <a:lstStyle/>
                    <a:p>
                      <a:pPr algn="l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Bước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 gridSpan="9">
                  <a:txBody>
                    <a:bodyPr/>
                    <a:lstStyle/>
                    <a:p>
                      <a:pPr algn="l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3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3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3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3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</a:t>
                      </a:r>
                      <a:r>
                        <a:rPr lang="en-US" sz="3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3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NLR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R15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32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1934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KQ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4788916" y="43185"/>
            <a:ext cx="4319588" cy="3025775"/>
            <a:chOff x="4716908" y="44624"/>
            <a:chExt cx="4319588" cy="3025775"/>
          </a:xfrm>
        </p:grpSpPr>
        <p:sp>
          <p:nvSpPr>
            <p:cNvPr id="35846" name="Oval 6"/>
            <p:cNvSpPr>
              <a:spLocks noChangeArrowheads="1"/>
            </p:cNvSpPr>
            <p:nvPr/>
          </p:nvSpPr>
          <p:spPr bwMode="auto">
            <a:xfrm>
              <a:off x="6588571" y="4462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5847" name="Oval 7"/>
            <p:cNvSpPr>
              <a:spLocks noChangeArrowheads="1"/>
            </p:cNvSpPr>
            <p:nvPr/>
          </p:nvSpPr>
          <p:spPr bwMode="auto">
            <a:xfrm>
              <a:off x="5436046" y="836786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000099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5848" name="Oval 8"/>
            <p:cNvSpPr>
              <a:spLocks noChangeArrowheads="1"/>
            </p:cNvSpPr>
            <p:nvPr/>
          </p:nvSpPr>
          <p:spPr bwMode="auto">
            <a:xfrm>
              <a:off x="7812533" y="836786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36</a:t>
              </a:r>
            </a:p>
          </p:txBody>
        </p:sp>
        <p:sp>
          <p:nvSpPr>
            <p:cNvPr id="35849" name="Oval 9"/>
            <p:cNvSpPr>
              <a:spLocks noChangeArrowheads="1"/>
            </p:cNvSpPr>
            <p:nvPr/>
          </p:nvSpPr>
          <p:spPr bwMode="auto">
            <a:xfrm>
              <a:off x="4716908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5850" name="Oval 10"/>
            <p:cNvSpPr>
              <a:spLocks noChangeArrowheads="1"/>
            </p:cNvSpPr>
            <p:nvPr/>
          </p:nvSpPr>
          <p:spPr bwMode="auto">
            <a:xfrm>
              <a:off x="6299646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000099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5851" name="Oval 11"/>
            <p:cNvSpPr>
              <a:spLocks noChangeArrowheads="1"/>
            </p:cNvSpPr>
            <p:nvPr/>
          </p:nvSpPr>
          <p:spPr bwMode="auto">
            <a:xfrm>
              <a:off x="7091808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35852" name="Oval 12"/>
            <p:cNvSpPr>
              <a:spLocks noChangeArrowheads="1"/>
            </p:cNvSpPr>
            <p:nvPr/>
          </p:nvSpPr>
          <p:spPr bwMode="auto">
            <a:xfrm>
              <a:off x="8531671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35853" name="Oval 13"/>
            <p:cNvSpPr>
              <a:spLocks noChangeArrowheads="1"/>
            </p:cNvSpPr>
            <p:nvPr/>
          </p:nvSpPr>
          <p:spPr bwMode="auto">
            <a:xfrm>
              <a:off x="7525196" y="25655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23</a:t>
              </a:r>
            </a:p>
          </p:txBody>
        </p:sp>
        <p:sp>
          <p:nvSpPr>
            <p:cNvPr id="35854" name="Oval 14"/>
            <p:cNvSpPr>
              <a:spLocks noChangeArrowheads="1"/>
            </p:cNvSpPr>
            <p:nvPr/>
          </p:nvSpPr>
          <p:spPr bwMode="auto">
            <a:xfrm>
              <a:off x="5867846" y="25655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6637" name="Line 15"/>
            <p:cNvSpPr>
              <a:spLocks noChangeShapeType="1"/>
            </p:cNvSpPr>
            <p:nvPr/>
          </p:nvSpPr>
          <p:spPr bwMode="auto">
            <a:xfrm flipH="1">
              <a:off x="5867846" y="406574"/>
              <a:ext cx="792162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Line 16"/>
            <p:cNvSpPr>
              <a:spLocks noChangeShapeType="1"/>
            </p:cNvSpPr>
            <p:nvPr/>
          </p:nvSpPr>
          <p:spPr bwMode="auto">
            <a:xfrm>
              <a:off x="7045771" y="419274"/>
              <a:ext cx="838200" cy="4905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17"/>
            <p:cNvSpPr>
              <a:spLocks noChangeShapeType="1"/>
            </p:cNvSpPr>
            <p:nvPr/>
          </p:nvSpPr>
          <p:spPr bwMode="auto">
            <a:xfrm flipH="1">
              <a:off x="5075683" y="1270174"/>
              <a:ext cx="433388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18"/>
            <p:cNvSpPr>
              <a:spLocks noChangeShapeType="1"/>
            </p:cNvSpPr>
            <p:nvPr/>
          </p:nvSpPr>
          <p:spPr bwMode="auto">
            <a:xfrm>
              <a:off x="5867846" y="1270174"/>
              <a:ext cx="504825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Line 19"/>
            <p:cNvSpPr>
              <a:spLocks noChangeShapeType="1"/>
            </p:cNvSpPr>
            <p:nvPr/>
          </p:nvSpPr>
          <p:spPr bwMode="auto">
            <a:xfrm flipH="1">
              <a:off x="6228208" y="2206799"/>
              <a:ext cx="215900" cy="4318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2" name="Line 20"/>
            <p:cNvSpPr>
              <a:spLocks noChangeShapeType="1"/>
            </p:cNvSpPr>
            <p:nvPr/>
          </p:nvSpPr>
          <p:spPr bwMode="auto">
            <a:xfrm flipH="1">
              <a:off x="7525196" y="1270174"/>
              <a:ext cx="431800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Line 21"/>
            <p:cNvSpPr>
              <a:spLocks noChangeShapeType="1"/>
            </p:cNvSpPr>
            <p:nvPr/>
          </p:nvSpPr>
          <p:spPr bwMode="auto">
            <a:xfrm>
              <a:off x="8244333" y="1270174"/>
              <a:ext cx="431800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Line 22"/>
            <p:cNvSpPr>
              <a:spLocks noChangeShapeType="1"/>
            </p:cNvSpPr>
            <p:nvPr/>
          </p:nvSpPr>
          <p:spPr bwMode="auto">
            <a:xfrm>
              <a:off x="7452171" y="2133774"/>
              <a:ext cx="215900" cy="50482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NLR</a:t>
            </a:r>
          </a:p>
        </p:txBody>
      </p:sp>
      <p:sp>
        <p:nvSpPr>
          <p:cNvPr id="27651" name="Rectangle 21"/>
          <p:cNvSpPr>
            <a:spLocks noGrp="1" noChangeArrowheads="1"/>
          </p:cNvSpPr>
          <p:nvPr>
            <p:ph idx="1"/>
          </p:nvPr>
        </p:nvSpPr>
        <p:spPr>
          <a:xfrm>
            <a:off x="511227" y="1484784"/>
            <a:ext cx="4204789" cy="5112568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600" dirty="0" err="1"/>
              <a:t>Tại</a:t>
            </a:r>
            <a:r>
              <a:rPr lang="en-US" sz="2600" dirty="0"/>
              <a:t> node t </a:t>
            </a:r>
            <a:r>
              <a:rPr lang="en-US" sz="2600" dirty="0" err="1"/>
              <a:t>đang</a:t>
            </a:r>
            <a:r>
              <a:rPr lang="en-US" sz="2600" dirty="0"/>
              <a:t> </a:t>
            </a:r>
            <a:r>
              <a:rPr lang="en-US" sz="2600" dirty="0" err="1"/>
              <a:t>xét</a:t>
            </a:r>
            <a:r>
              <a:rPr lang="en-US" sz="2600" dirty="0"/>
              <a:t>, </a:t>
            </a: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khác</a:t>
            </a:r>
            <a:r>
              <a:rPr lang="en-US" sz="2600" dirty="0"/>
              <a:t> </a:t>
            </a:r>
            <a:r>
              <a:rPr lang="en-US" sz="2600" dirty="0" err="1"/>
              <a:t>rỗng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/>
              <a:t>In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t</a:t>
            </a: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Duyệt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trái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t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NLR</a:t>
            </a: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Duyệt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t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NLR </a:t>
            </a:r>
          </a:p>
        </p:txBody>
      </p:sp>
      <p:sp>
        <p:nvSpPr>
          <p:cNvPr id="2765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091F28FD-7055-4E6A-9567-4E18D449FA48}" type="slidenum">
              <a:rPr lang="en-US" smtClean="0"/>
              <a:pPr eaLnBrk="1" hangingPunct="1"/>
              <a:t>21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932040" y="2348880"/>
            <a:ext cx="4104456" cy="2800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NLR()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Xuất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data;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(left!=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left.NLR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(right !=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right.NLR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535781"/>
            <a:ext cx="7704856" cy="928688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628800"/>
            <a:ext cx="7687766" cy="5229200"/>
          </a:xfrm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sang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:</a:t>
            </a:r>
          </a:p>
          <a:p>
            <a:pPr algn="just">
              <a:defRPr/>
            </a:pPr>
            <a:r>
              <a:rPr lang="en-US" dirty="0"/>
              <a:t>27; 19; 10; 21; 35; 25; 41; 12; 46; 7</a:t>
            </a:r>
          </a:p>
          <a:p>
            <a:pPr algn="just">
              <a:defRPr/>
            </a:pPr>
            <a:r>
              <a:rPr lang="en-US" dirty="0"/>
              <a:t>H; B; C; A; E; D; Z; M; P; T</a:t>
            </a:r>
          </a:p>
          <a:p>
            <a:pPr algn="just">
              <a:defRPr/>
            </a:pPr>
            <a:r>
              <a:rPr lang="en-US" dirty="0" err="1"/>
              <a:t>Huế</a:t>
            </a:r>
            <a:r>
              <a:rPr lang="en-US" dirty="0"/>
              <a:t>; </a:t>
            </a:r>
            <a:r>
              <a:rPr lang="en-US" dirty="0" err="1"/>
              <a:t>Đà</a:t>
            </a:r>
            <a:r>
              <a:rPr lang="en-US" dirty="0"/>
              <a:t> </a:t>
            </a:r>
            <a:r>
              <a:rPr lang="en-US" dirty="0" err="1"/>
              <a:t>Nẵng</a:t>
            </a:r>
            <a:r>
              <a:rPr lang="en-US" dirty="0"/>
              <a:t>; </a:t>
            </a:r>
            <a:r>
              <a:rPr lang="en-US" dirty="0" err="1"/>
              <a:t>Hà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; </a:t>
            </a:r>
            <a:r>
              <a:rPr lang="en-US" dirty="0" err="1"/>
              <a:t>Vĩnh</a:t>
            </a:r>
            <a:r>
              <a:rPr lang="en-US" dirty="0"/>
              <a:t> Long;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Thơ</a:t>
            </a:r>
            <a:r>
              <a:rPr lang="en-US" dirty="0"/>
              <a:t>; </a:t>
            </a:r>
            <a:r>
              <a:rPr lang="en-US" dirty="0" err="1"/>
              <a:t>Sóc</a:t>
            </a:r>
            <a:r>
              <a:rPr lang="en-US" dirty="0"/>
              <a:t> </a:t>
            </a:r>
            <a:r>
              <a:rPr lang="en-US" dirty="0" err="1"/>
              <a:t>Trăng</a:t>
            </a:r>
            <a:r>
              <a:rPr lang="en-US" dirty="0"/>
              <a:t>; </a:t>
            </a:r>
            <a:r>
              <a:rPr lang="en-US" dirty="0" err="1"/>
              <a:t>Nha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;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Nai</a:t>
            </a:r>
            <a:r>
              <a:rPr lang="en-US" dirty="0"/>
              <a:t>; </a:t>
            </a:r>
            <a:r>
              <a:rPr lang="en-US" dirty="0" err="1"/>
              <a:t>Vũng</a:t>
            </a:r>
            <a:r>
              <a:rPr lang="en-US" dirty="0"/>
              <a:t> </a:t>
            </a:r>
            <a:r>
              <a:rPr lang="en-US" dirty="0" err="1"/>
              <a:t>Tàu</a:t>
            </a:r>
            <a:r>
              <a:rPr lang="en-US" dirty="0"/>
              <a:t>; An </a:t>
            </a:r>
            <a:r>
              <a:rPr lang="en-US" dirty="0" err="1"/>
              <a:t>Giang</a:t>
            </a:r>
            <a:r>
              <a:rPr lang="en-US" dirty="0"/>
              <a:t>;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Giang</a:t>
            </a:r>
            <a:r>
              <a:rPr lang="en-US" dirty="0"/>
              <a:t>;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; </a:t>
            </a:r>
            <a:r>
              <a:rPr lang="en-US" dirty="0" err="1"/>
              <a:t>Hải</a:t>
            </a:r>
            <a:r>
              <a:rPr lang="en-US" dirty="0"/>
              <a:t> </a:t>
            </a:r>
            <a:r>
              <a:rPr lang="en-US" dirty="0" err="1"/>
              <a:t>Dương</a:t>
            </a:r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60639889-6A46-4D9D-B2D9-8DCDEDE81D90}" type="slidenum">
              <a:rPr lang="en-US" smtClean="0">
                <a:solidFill>
                  <a:srgbClr val="FFFFFF"/>
                </a:solidFill>
              </a:rPr>
              <a:pPr eaLnBrk="1" hangingPunct="1"/>
              <a:t>22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625"/>
            <a:ext cx="7886700" cy="792088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VD </a:t>
            </a:r>
            <a:r>
              <a:rPr lang="en-US" sz="3200" dirty="0" err="1"/>
              <a:t>duyệt</a:t>
            </a:r>
            <a:r>
              <a:rPr lang="en-US" sz="3200" dirty="0"/>
              <a:t> NLR </a:t>
            </a:r>
            <a:r>
              <a:rPr lang="en-US" sz="3200" dirty="0" err="1"/>
              <a:t>cây</a:t>
            </a:r>
            <a:r>
              <a:rPr lang="en-US" sz="3200" dirty="0"/>
              <a:t> NPTK </a:t>
            </a:r>
            <a:r>
              <a:rPr lang="en-US" sz="3200" dirty="0" err="1"/>
              <a:t>số</a:t>
            </a:r>
            <a:r>
              <a:rPr lang="en-US" sz="3200" dirty="0"/>
              <a:t> </a:t>
            </a:r>
            <a:r>
              <a:rPr lang="en-US" sz="3200" dirty="0" err="1"/>
              <a:t>nguyên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520" y="732760"/>
            <a:ext cx="5429250" cy="34163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...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NLR()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{</a:t>
            </a: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(Data +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";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	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(left!=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left.NLR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	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(right !=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right.NLR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28392" y="3861048"/>
            <a:ext cx="4572000" cy="28623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MyIntBinaryTree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...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	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PreOrder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	{</a:t>
            </a:r>
          </a:p>
          <a:p>
            <a:r>
              <a:rPr lang="en-US" dirty="0"/>
              <a:t>		if (root == null)</a:t>
            </a:r>
          </a:p>
          <a:p>
            <a:r>
              <a:rPr lang="en-US" dirty="0"/>
              <a:t>                		return;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root.NLR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04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5" name="Slide Number Placeholder 2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9AA04B28-5E31-41E3-A2F3-ADA14801A140}" type="slidenum">
              <a:rPr lang="en-US" smtClean="0"/>
              <a:pPr eaLnBrk="1" hangingPunct="1"/>
              <a:t>24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314918"/>
              </p:ext>
            </p:extLst>
          </p:nvPr>
        </p:nvGraphicFramePr>
        <p:xfrm>
          <a:off x="-36512" y="-27384"/>
          <a:ext cx="7392874" cy="6694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Bước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 gridSpan="9"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LNR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R15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4627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KQ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4788916" y="43185"/>
            <a:ext cx="4319588" cy="3025775"/>
            <a:chOff x="4716908" y="44624"/>
            <a:chExt cx="4319588" cy="3025775"/>
          </a:xfrm>
        </p:grpSpPr>
        <p:sp>
          <p:nvSpPr>
            <p:cNvPr id="35846" name="Oval 6"/>
            <p:cNvSpPr>
              <a:spLocks noChangeArrowheads="1"/>
            </p:cNvSpPr>
            <p:nvPr/>
          </p:nvSpPr>
          <p:spPr bwMode="auto">
            <a:xfrm>
              <a:off x="6588571" y="4462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5847" name="Oval 7"/>
            <p:cNvSpPr>
              <a:spLocks noChangeArrowheads="1"/>
            </p:cNvSpPr>
            <p:nvPr/>
          </p:nvSpPr>
          <p:spPr bwMode="auto">
            <a:xfrm>
              <a:off x="5436046" y="836786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5848" name="Oval 8"/>
            <p:cNvSpPr>
              <a:spLocks noChangeArrowheads="1"/>
            </p:cNvSpPr>
            <p:nvPr/>
          </p:nvSpPr>
          <p:spPr bwMode="auto">
            <a:xfrm>
              <a:off x="7812533" y="836786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36</a:t>
              </a:r>
            </a:p>
          </p:txBody>
        </p:sp>
        <p:sp>
          <p:nvSpPr>
            <p:cNvPr id="35849" name="Oval 9"/>
            <p:cNvSpPr>
              <a:spLocks noChangeArrowheads="1"/>
            </p:cNvSpPr>
            <p:nvPr/>
          </p:nvSpPr>
          <p:spPr bwMode="auto">
            <a:xfrm>
              <a:off x="4716908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5850" name="Oval 10"/>
            <p:cNvSpPr>
              <a:spLocks noChangeArrowheads="1"/>
            </p:cNvSpPr>
            <p:nvPr/>
          </p:nvSpPr>
          <p:spPr bwMode="auto">
            <a:xfrm>
              <a:off x="6299646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000099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5851" name="Oval 11"/>
            <p:cNvSpPr>
              <a:spLocks noChangeArrowheads="1"/>
            </p:cNvSpPr>
            <p:nvPr/>
          </p:nvSpPr>
          <p:spPr bwMode="auto">
            <a:xfrm>
              <a:off x="7091808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35852" name="Oval 12"/>
            <p:cNvSpPr>
              <a:spLocks noChangeArrowheads="1"/>
            </p:cNvSpPr>
            <p:nvPr/>
          </p:nvSpPr>
          <p:spPr bwMode="auto">
            <a:xfrm>
              <a:off x="8531671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35853" name="Oval 13"/>
            <p:cNvSpPr>
              <a:spLocks noChangeArrowheads="1"/>
            </p:cNvSpPr>
            <p:nvPr/>
          </p:nvSpPr>
          <p:spPr bwMode="auto">
            <a:xfrm>
              <a:off x="7525196" y="25655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23</a:t>
              </a:r>
            </a:p>
          </p:txBody>
        </p:sp>
        <p:sp>
          <p:nvSpPr>
            <p:cNvPr id="35854" name="Oval 14"/>
            <p:cNvSpPr>
              <a:spLocks noChangeArrowheads="1"/>
            </p:cNvSpPr>
            <p:nvPr/>
          </p:nvSpPr>
          <p:spPr bwMode="auto">
            <a:xfrm>
              <a:off x="5867846" y="25655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6637" name="Line 15"/>
            <p:cNvSpPr>
              <a:spLocks noChangeShapeType="1"/>
            </p:cNvSpPr>
            <p:nvPr/>
          </p:nvSpPr>
          <p:spPr bwMode="auto">
            <a:xfrm flipH="1">
              <a:off x="5867846" y="406574"/>
              <a:ext cx="792162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Line 16"/>
            <p:cNvSpPr>
              <a:spLocks noChangeShapeType="1"/>
            </p:cNvSpPr>
            <p:nvPr/>
          </p:nvSpPr>
          <p:spPr bwMode="auto">
            <a:xfrm>
              <a:off x="7045771" y="419274"/>
              <a:ext cx="838200" cy="4905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17"/>
            <p:cNvSpPr>
              <a:spLocks noChangeShapeType="1"/>
            </p:cNvSpPr>
            <p:nvPr/>
          </p:nvSpPr>
          <p:spPr bwMode="auto">
            <a:xfrm flipH="1">
              <a:off x="5075683" y="1270174"/>
              <a:ext cx="433388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18"/>
            <p:cNvSpPr>
              <a:spLocks noChangeShapeType="1"/>
            </p:cNvSpPr>
            <p:nvPr/>
          </p:nvSpPr>
          <p:spPr bwMode="auto">
            <a:xfrm>
              <a:off x="5867846" y="1270174"/>
              <a:ext cx="504825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Line 19"/>
            <p:cNvSpPr>
              <a:spLocks noChangeShapeType="1"/>
            </p:cNvSpPr>
            <p:nvPr/>
          </p:nvSpPr>
          <p:spPr bwMode="auto">
            <a:xfrm flipH="1">
              <a:off x="6228208" y="2206799"/>
              <a:ext cx="215900" cy="4318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2" name="Line 20"/>
            <p:cNvSpPr>
              <a:spLocks noChangeShapeType="1"/>
            </p:cNvSpPr>
            <p:nvPr/>
          </p:nvSpPr>
          <p:spPr bwMode="auto">
            <a:xfrm flipH="1">
              <a:off x="7525196" y="1270174"/>
              <a:ext cx="431800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Line 21"/>
            <p:cNvSpPr>
              <a:spLocks noChangeShapeType="1"/>
            </p:cNvSpPr>
            <p:nvPr/>
          </p:nvSpPr>
          <p:spPr bwMode="auto">
            <a:xfrm>
              <a:off x="8244333" y="1270174"/>
              <a:ext cx="431800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Line 22"/>
            <p:cNvSpPr>
              <a:spLocks noChangeShapeType="1"/>
            </p:cNvSpPr>
            <p:nvPr/>
          </p:nvSpPr>
          <p:spPr bwMode="auto">
            <a:xfrm>
              <a:off x="7452171" y="2133774"/>
              <a:ext cx="215900" cy="50482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3729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620688"/>
            <a:ext cx="7859216" cy="72392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LNR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4613"/>
            <a:ext cx="4176464" cy="50117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600" dirty="0" err="1"/>
              <a:t>Tại</a:t>
            </a:r>
            <a:r>
              <a:rPr lang="en-US" sz="2600" dirty="0"/>
              <a:t> node t </a:t>
            </a:r>
            <a:r>
              <a:rPr lang="en-US" sz="2600" dirty="0" err="1"/>
              <a:t>đang</a:t>
            </a:r>
            <a:r>
              <a:rPr lang="en-US" sz="2600" dirty="0"/>
              <a:t> </a:t>
            </a:r>
            <a:r>
              <a:rPr lang="en-US" sz="2600" dirty="0" err="1"/>
              <a:t>xét</a:t>
            </a:r>
            <a:r>
              <a:rPr lang="en-US" sz="2600" dirty="0"/>
              <a:t>, </a:t>
            </a: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khác</a:t>
            </a:r>
            <a:r>
              <a:rPr lang="en-US" sz="2600" dirty="0"/>
              <a:t> </a:t>
            </a:r>
            <a:r>
              <a:rPr lang="en-US" sz="2600" dirty="0" err="1"/>
              <a:t>rỗng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 err="1"/>
              <a:t>Duyệt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trái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t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LNR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In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t</a:t>
            </a: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Duyệt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t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LNR                </a:t>
            </a:r>
          </a:p>
        </p:txBody>
      </p:sp>
      <p:sp>
        <p:nvSpPr>
          <p:cNvPr id="30725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0F900E37-1063-41A5-8B01-7649129F101F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32040" y="2348880"/>
            <a:ext cx="4104456" cy="2800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LNR()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(left!=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left. LNR();</a:t>
            </a:r>
          </a:p>
          <a:p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Xuất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data;</a:t>
            </a:r>
            <a:endParaRPr lang="en-US" sz="2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(right !=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right.LNR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5" name="Slide Number Placeholder 2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9AA04B28-5E31-41E3-A2F3-ADA14801A140}" type="slidenum">
              <a:rPr lang="en-US" smtClean="0"/>
              <a:pPr eaLnBrk="1" hangingPunct="1"/>
              <a:t>26</a:t>
            </a:fld>
            <a:endParaRPr lang="en-US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4265613"/>
              </p:ext>
            </p:extLst>
          </p:nvPr>
        </p:nvGraphicFramePr>
        <p:xfrm>
          <a:off x="-36512" y="-27384"/>
          <a:ext cx="7232653" cy="68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9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9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39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Bướ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0" marB="0"/>
                </a:tc>
                <a:tc gridSpan="9">
                  <a:txBody>
                    <a:bodyPr/>
                    <a:lstStyle/>
                    <a:p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LRN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 hMerge="1">
                  <a:txBody>
                    <a:bodyPr/>
                    <a:lstStyle/>
                    <a:p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R15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T="0" marB="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KQ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4788916" y="43185"/>
            <a:ext cx="4319588" cy="3025775"/>
            <a:chOff x="4716908" y="44624"/>
            <a:chExt cx="4319588" cy="3025775"/>
          </a:xfrm>
        </p:grpSpPr>
        <p:sp>
          <p:nvSpPr>
            <p:cNvPr id="35846" name="Oval 6"/>
            <p:cNvSpPr>
              <a:spLocks noChangeArrowheads="1"/>
            </p:cNvSpPr>
            <p:nvPr/>
          </p:nvSpPr>
          <p:spPr bwMode="auto">
            <a:xfrm>
              <a:off x="6588571" y="4462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5847" name="Oval 7"/>
            <p:cNvSpPr>
              <a:spLocks noChangeArrowheads="1"/>
            </p:cNvSpPr>
            <p:nvPr/>
          </p:nvSpPr>
          <p:spPr bwMode="auto">
            <a:xfrm>
              <a:off x="5436046" y="836786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5848" name="Oval 8"/>
            <p:cNvSpPr>
              <a:spLocks noChangeArrowheads="1"/>
            </p:cNvSpPr>
            <p:nvPr/>
          </p:nvSpPr>
          <p:spPr bwMode="auto">
            <a:xfrm>
              <a:off x="7812533" y="836786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36</a:t>
              </a:r>
            </a:p>
          </p:txBody>
        </p:sp>
        <p:sp>
          <p:nvSpPr>
            <p:cNvPr id="35849" name="Oval 9"/>
            <p:cNvSpPr>
              <a:spLocks noChangeArrowheads="1"/>
            </p:cNvSpPr>
            <p:nvPr/>
          </p:nvSpPr>
          <p:spPr bwMode="auto">
            <a:xfrm>
              <a:off x="4716908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5850" name="Oval 10"/>
            <p:cNvSpPr>
              <a:spLocks noChangeArrowheads="1"/>
            </p:cNvSpPr>
            <p:nvPr/>
          </p:nvSpPr>
          <p:spPr bwMode="auto">
            <a:xfrm>
              <a:off x="6299646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000099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5851" name="Oval 11"/>
            <p:cNvSpPr>
              <a:spLocks noChangeArrowheads="1"/>
            </p:cNvSpPr>
            <p:nvPr/>
          </p:nvSpPr>
          <p:spPr bwMode="auto">
            <a:xfrm>
              <a:off x="7091808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35852" name="Oval 12"/>
            <p:cNvSpPr>
              <a:spLocks noChangeArrowheads="1"/>
            </p:cNvSpPr>
            <p:nvPr/>
          </p:nvSpPr>
          <p:spPr bwMode="auto">
            <a:xfrm>
              <a:off x="8531671" y="17019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000099"/>
                  </a:solidFill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35853" name="Oval 13"/>
            <p:cNvSpPr>
              <a:spLocks noChangeArrowheads="1"/>
            </p:cNvSpPr>
            <p:nvPr/>
          </p:nvSpPr>
          <p:spPr bwMode="auto">
            <a:xfrm>
              <a:off x="7525196" y="25655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23</a:t>
              </a:r>
            </a:p>
          </p:txBody>
        </p:sp>
        <p:sp>
          <p:nvSpPr>
            <p:cNvPr id="35854" name="Oval 14"/>
            <p:cNvSpPr>
              <a:spLocks noChangeArrowheads="1"/>
            </p:cNvSpPr>
            <p:nvPr/>
          </p:nvSpPr>
          <p:spPr bwMode="auto">
            <a:xfrm>
              <a:off x="5867846" y="2565574"/>
              <a:ext cx="504825" cy="504825"/>
            </a:xfrm>
            <a:prstGeom prst="ellipse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6637" name="Line 15"/>
            <p:cNvSpPr>
              <a:spLocks noChangeShapeType="1"/>
            </p:cNvSpPr>
            <p:nvPr/>
          </p:nvSpPr>
          <p:spPr bwMode="auto">
            <a:xfrm flipH="1">
              <a:off x="5867846" y="406574"/>
              <a:ext cx="792162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Line 16"/>
            <p:cNvSpPr>
              <a:spLocks noChangeShapeType="1"/>
            </p:cNvSpPr>
            <p:nvPr/>
          </p:nvSpPr>
          <p:spPr bwMode="auto">
            <a:xfrm>
              <a:off x="7045771" y="419274"/>
              <a:ext cx="838200" cy="4905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17"/>
            <p:cNvSpPr>
              <a:spLocks noChangeShapeType="1"/>
            </p:cNvSpPr>
            <p:nvPr/>
          </p:nvSpPr>
          <p:spPr bwMode="auto">
            <a:xfrm flipH="1">
              <a:off x="5075683" y="1270174"/>
              <a:ext cx="433388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18"/>
            <p:cNvSpPr>
              <a:spLocks noChangeShapeType="1"/>
            </p:cNvSpPr>
            <p:nvPr/>
          </p:nvSpPr>
          <p:spPr bwMode="auto">
            <a:xfrm>
              <a:off x="5867846" y="1270174"/>
              <a:ext cx="504825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Line 19"/>
            <p:cNvSpPr>
              <a:spLocks noChangeShapeType="1"/>
            </p:cNvSpPr>
            <p:nvPr/>
          </p:nvSpPr>
          <p:spPr bwMode="auto">
            <a:xfrm flipH="1">
              <a:off x="6228208" y="2206799"/>
              <a:ext cx="215900" cy="4318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2" name="Line 20"/>
            <p:cNvSpPr>
              <a:spLocks noChangeShapeType="1"/>
            </p:cNvSpPr>
            <p:nvPr/>
          </p:nvSpPr>
          <p:spPr bwMode="auto">
            <a:xfrm flipH="1">
              <a:off x="7525196" y="1270174"/>
              <a:ext cx="431800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Line 21"/>
            <p:cNvSpPr>
              <a:spLocks noChangeShapeType="1"/>
            </p:cNvSpPr>
            <p:nvPr/>
          </p:nvSpPr>
          <p:spPr bwMode="auto">
            <a:xfrm>
              <a:off x="8244333" y="1270174"/>
              <a:ext cx="431800" cy="5032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Line 22"/>
            <p:cNvSpPr>
              <a:spLocks noChangeShapeType="1"/>
            </p:cNvSpPr>
            <p:nvPr/>
          </p:nvSpPr>
          <p:spPr bwMode="auto">
            <a:xfrm>
              <a:off x="7452171" y="2133774"/>
              <a:ext cx="215900" cy="50482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410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620688"/>
            <a:ext cx="8075240" cy="72392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LRN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511228" y="1412776"/>
            <a:ext cx="4348803" cy="47245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err="1"/>
              <a:t>Tại</a:t>
            </a:r>
            <a:r>
              <a:rPr lang="en-US" sz="2800" dirty="0"/>
              <a:t> node t </a:t>
            </a:r>
            <a:r>
              <a:rPr lang="en-US" sz="2800" dirty="0" err="1"/>
              <a:t>đang</a:t>
            </a:r>
            <a:r>
              <a:rPr lang="en-US" sz="2800" dirty="0"/>
              <a:t> </a:t>
            </a:r>
            <a:r>
              <a:rPr lang="en-US" sz="2800" dirty="0" err="1"/>
              <a:t>xét</a:t>
            </a:r>
            <a:r>
              <a:rPr lang="en-US" sz="2800" dirty="0"/>
              <a:t>,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 </a:t>
            </a:r>
            <a:r>
              <a:rPr lang="en-US" sz="2800" dirty="0" err="1"/>
              <a:t>rỗng</a:t>
            </a:r>
            <a:r>
              <a:rPr lang="en-US" sz="2800" dirty="0"/>
              <a:t> </a:t>
            </a:r>
            <a:r>
              <a:rPr lang="en-US" sz="2800" dirty="0" err="1"/>
              <a:t>thì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Duyệt</a:t>
            </a:r>
            <a:r>
              <a:rPr lang="en-US" sz="2800" dirty="0"/>
              <a:t> </a:t>
            </a:r>
            <a:r>
              <a:rPr lang="en-US" sz="2800" dirty="0" err="1"/>
              <a:t>cây</a:t>
            </a:r>
            <a:r>
              <a:rPr lang="en-US" sz="2800" dirty="0"/>
              <a:t> con </a:t>
            </a:r>
            <a:r>
              <a:rPr lang="en-US" sz="2800" dirty="0" err="1"/>
              <a:t>bên</a:t>
            </a:r>
            <a:r>
              <a:rPr lang="en-US" sz="2800" dirty="0"/>
              <a:t> </a:t>
            </a:r>
            <a:r>
              <a:rPr lang="en-US" sz="2800" dirty="0" err="1"/>
              <a:t>trái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t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LRN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Duyệt</a:t>
            </a:r>
            <a:r>
              <a:rPr lang="en-US" sz="2800" dirty="0"/>
              <a:t> </a:t>
            </a:r>
            <a:r>
              <a:rPr lang="en-US" sz="2800" dirty="0" err="1"/>
              <a:t>cây</a:t>
            </a:r>
            <a:r>
              <a:rPr lang="en-US" sz="2800" dirty="0"/>
              <a:t> con </a:t>
            </a:r>
            <a:r>
              <a:rPr lang="en-US" sz="2800" dirty="0" err="1"/>
              <a:t>bên</a:t>
            </a:r>
            <a:r>
              <a:rPr lang="en-US" sz="2800" dirty="0"/>
              <a:t> </a:t>
            </a:r>
            <a:r>
              <a:rPr lang="en-US" sz="2800" dirty="0" err="1"/>
              <a:t>phải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t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LRN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In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t                 </a:t>
            </a:r>
          </a:p>
        </p:txBody>
      </p:sp>
      <p:sp>
        <p:nvSpPr>
          <p:cNvPr id="3277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DE6C0F7C-A5F3-4F79-86C1-E30CC7C43925}" type="slidenum">
              <a:rPr lang="en-US" smtClean="0">
                <a:solidFill>
                  <a:srgbClr val="FFFFFF"/>
                </a:solidFill>
              </a:rPr>
              <a:pPr eaLnBrk="1" hangingPunct="1"/>
              <a:t>27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32040" y="2348880"/>
            <a:ext cx="4104456" cy="2800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LRN()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(left!=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left.LRN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(right !=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right.LRN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Xuất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data;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620688"/>
            <a:ext cx="6953200" cy="72008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971600" y="1556792"/>
            <a:ext cx="7920880" cy="5301208"/>
          </a:xfrm>
        </p:spPr>
        <p:txBody>
          <a:bodyPr>
            <a:normAutofit/>
          </a:bodyPr>
          <a:lstStyle/>
          <a:p>
            <a:r>
              <a:rPr lang="en-US" dirty="0" err="1"/>
              <a:t>V</a:t>
            </a:r>
            <a:r>
              <a:rPr lang="en-US" sz="3200" dirty="0" err="1"/>
              <a:t>ẽ</a:t>
            </a:r>
            <a:r>
              <a:rPr lang="en-US" sz="3200" dirty="0"/>
              <a:t> </a:t>
            </a:r>
            <a:r>
              <a:rPr lang="en-US" sz="3200" dirty="0" err="1"/>
              <a:t>cây</a:t>
            </a:r>
            <a:r>
              <a:rPr lang="en-US" sz="3200" dirty="0"/>
              <a:t> </a:t>
            </a:r>
            <a:r>
              <a:rPr lang="en-US" sz="3200" dirty="0" err="1"/>
              <a:t>nhị</a:t>
            </a:r>
            <a:r>
              <a:rPr lang="en-US" sz="3200" dirty="0"/>
              <a:t> </a:t>
            </a: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tìm</a:t>
            </a:r>
            <a:r>
              <a:rPr lang="en-US" sz="3200" dirty="0"/>
              <a:t> </a:t>
            </a:r>
            <a:r>
              <a:rPr lang="en-US" sz="3200" dirty="0" err="1"/>
              <a:t>kiếm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thứ</a:t>
            </a:r>
            <a:r>
              <a:rPr lang="en-US" sz="3200" dirty="0"/>
              <a:t> </a:t>
            </a:r>
            <a:r>
              <a:rPr lang="en-US" sz="3200" dirty="0" err="1"/>
              <a:t>tự</a:t>
            </a:r>
            <a:r>
              <a:rPr lang="en-US" sz="3200" dirty="0"/>
              <a:t> </a:t>
            </a:r>
            <a:r>
              <a:rPr lang="en-US" sz="3200" dirty="0" err="1"/>
              <a:t>nhập</a:t>
            </a:r>
            <a:r>
              <a:rPr lang="en-US" dirty="0"/>
              <a:t>:</a:t>
            </a:r>
            <a:endParaRPr lang="en-US" sz="3200" dirty="0"/>
          </a:p>
          <a:p>
            <a:pPr>
              <a:buFont typeface="Wingdings" pitchFamily="2" charset="2"/>
              <a:buNone/>
            </a:pPr>
            <a:r>
              <a:rPr lang="en-US" sz="3200" dirty="0"/>
              <a:t>	27,  19,  10,  21,  3,  5,  41,  8, 15,  61, 13,  17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sz="3200" dirty="0" err="1"/>
              <a:t>Hãy</a:t>
            </a:r>
            <a:r>
              <a:rPr lang="en-US" sz="3200" dirty="0"/>
              <a:t> </a:t>
            </a:r>
            <a:r>
              <a:rPr lang="en-US" sz="3200" dirty="0" err="1"/>
              <a:t>duyệt</a:t>
            </a:r>
            <a:r>
              <a:rPr lang="en-US" sz="3200" dirty="0"/>
              <a:t> </a:t>
            </a:r>
            <a:r>
              <a:rPr lang="en-US" sz="3200" dirty="0" err="1"/>
              <a:t>cây</a:t>
            </a:r>
            <a:r>
              <a:rPr lang="en-US" sz="3200" dirty="0"/>
              <a:t> </a:t>
            </a:r>
            <a:r>
              <a:rPr lang="en-US" sz="3200" dirty="0" err="1"/>
              <a:t>trên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thứ</a:t>
            </a:r>
            <a:r>
              <a:rPr lang="en-US" sz="3200" dirty="0"/>
              <a:t> </a:t>
            </a:r>
            <a:r>
              <a:rPr lang="en-US" sz="3200" dirty="0" err="1"/>
              <a:t>tự</a:t>
            </a:r>
            <a:r>
              <a:rPr lang="en-US" sz="3200" dirty="0"/>
              <a:t> </a:t>
            </a:r>
            <a:r>
              <a:rPr lang="en-US" sz="3200" dirty="0" err="1"/>
              <a:t>giữa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sau</a:t>
            </a:r>
            <a:endParaRPr lang="en-US" sz="3200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7375DABC-D36E-489D-AB65-A5DCD30E9A09}" type="slidenum">
              <a:rPr lang="en-US" smtClean="0">
                <a:solidFill>
                  <a:srgbClr val="FFFFFF"/>
                </a:solidFill>
              </a:rPr>
              <a:pPr eaLnBrk="1" hangingPunct="1"/>
              <a:t>28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620688"/>
            <a:ext cx="8259688" cy="92868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duyệt</a:t>
            </a: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716471"/>
            <a:ext cx="8136904" cy="5141529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err="1">
                <a:solidFill>
                  <a:srgbClr val="FF3300"/>
                </a:solidFill>
              </a:rPr>
              <a:t>Tạo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cây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từ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kết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quả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duyệt</a:t>
            </a:r>
            <a:r>
              <a:rPr lang="en-US" dirty="0">
                <a:solidFill>
                  <a:srgbClr val="FF3300"/>
                </a:solidFill>
              </a:rPr>
              <a:t> NLR</a:t>
            </a:r>
          </a:p>
          <a:p>
            <a:pPr marL="371475" lvl="2" indent="12700" algn="just" eaLnBrk="1" hangingPunct="1">
              <a:lnSpc>
                <a:spcPct val="90000"/>
              </a:lnSpc>
            </a:pP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u="sng" dirty="0" err="1"/>
              <a:t>đầu</a:t>
            </a:r>
            <a:r>
              <a:rPr lang="en-US" sz="3200" u="sng" dirty="0"/>
              <a:t> </a:t>
            </a:r>
            <a:r>
              <a:rPr lang="en-US" sz="3200" u="sng" dirty="0" err="1"/>
              <a:t>tiên</a:t>
            </a:r>
            <a:r>
              <a:rPr lang="en-US" sz="3200" u="sng" dirty="0"/>
              <a:t> </a:t>
            </a:r>
            <a:r>
              <a:rPr lang="en-US" sz="3200" u="sng" dirty="0" err="1"/>
              <a:t>làm</a:t>
            </a:r>
            <a:r>
              <a:rPr lang="en-US" sz="3200" u="sng" dirty="0"/>
              <a:t> node </a:t>
            </a:r>
            <a:r>
              <a:rPr lang="en-US" sz="3200" u="sng" dirty="0" err="1"/>
              <a:t>gốc</a:t>
            </a:r>
            <a:endParaRPr lang="en-US" sz="3200" dirty="0"/>
          </a:p>
          <a:p>
            <a:pPr marL="371475" lvl="2" indent="12700" algn="just" eaLnBrk="1" hangingPunct="1">
              <a:lnSpc>
                <a:spcPct val="90000"/>
              </a:lnSpc>
            </a:pPr>
            <a:r>
              <a:rPr lang="en-US" sz="3200" dirty="0" err="1"/>
              <a:t>Lần</a:t>
            </a:r>
            <a:r>
              <a:rPr lang="en-US" sz="3200" dirty="0"/>
              <a:t> </a:t>
            </a:r>
            <a:r>
              <a:rPr lang="en-US" sz="3200" dirty="0" err="1"/>
              <a:t>lượt</a:t>
            </a:r>
            <a:r>
              <a:rPr lang="en-US" sz="3200" dirty="0"/>
              <a:t> </a:t>
            </a:r>
            <a:r>
              <a:rPr lang="en-US" sz="3200" dirty="0" err="1"/>
              <a:t>đưa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còn</a:t>
            </a:r>
            <a:r>
              <a:rPr lang="en-US" sz="3200" dirty="0"/>
              <a:t> </a:t>
            </a:r>
            <a:r>
              <a:rPr lang="en-US" sz="3200" dirty="0" err="1"/>
              <a:t>lại</a:t>
            </a:r>
            <a:r>
              <a:rPr lang="en-US" sz="3200" dirty="0"/>
              <a:t> </a:t>
            </a:r>
            <a:r>
              <a:rPr lang="en-US" sz="3200" u="sng" dirty="0" err="1"/>
              <a:t>từ</a:t>
            </a:r>
            <a:r>
              <a:rPr lang="en-US" sz="3200" u="sng" dirty="0"/>
              <a:t> </a:t>
            </a:r>
            <a:r>
              <a:rPr lang="en-US" sz="3200" u="sng" dirty="0" err="1"/>
              <a:t>trái</a:t>
            </a:r>
            <a:r>
              <a:rPr lang="en-US" sz="3200" u="sng" dirty="0"/>
              <a:t> sang </a:t>
            </a:r>
            <a:r>
              <a:rPr lang="en-US" sz="3200" u="sng" dirty="0" err="1"/>
              <a:t>phải</a:t>
            </a:r>
            <a:r>
              <a:rPr lang="en-US" sz="3200" u="sng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cây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nguyên</a:t>
            </a:r>
            <a:r>
              <a:rPr lang="en-US" sz="3200" dirty="0"/>
              <a:t> </a:t>
            </a:r>
            <a:r>
              <a:rPr lang="en-US" sz="3200" dirty="0" err="1"/>
              <a:t>tắc</a:t>
            </a:r>
            <a:r>
              <a:rPr lang="en-US" sz="3200" dirty="0"/>
              <a:t> </a:t>
            </a:r>
            <a:r>
              <a:rPr lang="en-US" sz="3200" dirty="0" err="1"/>
              <a:t>tạo</a:t>
            </a:r>
            <a:r>
              <a:rPr lang="en-US" sz="3200" dirty="0"/>
              <a:t> </a:t>
            </a:r>
            <a:r>
              <a:rPr lang="en-US" sz="3200" dirty="0" err="1"/>
              <a:t>cây</a:t>
            </a:r>
            <a:endParaRPr lang="en-US" sz="3200" dirty="0"/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err="1">
                <a:solidFill>
                  <a:srgbClr val="FF3300"/>
                </a:solidFill>
              </a:rPr>
              <a:t>Tạo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cây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từ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kết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quả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duyệt</a:t>
            </a:r>
            <a:r>
              <a:rPr lang="en-US" dirty="0">
                <a:solidFill>
                  <a:srgbClr val="FF3300"/>
                </a:solidFill>
              </a:rPr>
              <a:t> LRN</a:t>
            </a:r>
          </a:p>
          <a:p>
            <a:pPr marL="371475" lvl="2" indent="12700" algn="just" eaLnBrk="1" hangingPunct="1">
              <a:lnSpc>
                <a:spcPct val="90000"/>
              </a:lnSpc>
            </a:pP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u="sng" dirty="0" err="1"/>
              <a:t>cuối</a:t>
            </a:r>
            <a:r>
              <a:rPr lang="en-US" sz="3200" u="sng" dirty="0"/>
              <a:t> </a:t>
            </a:r>
            <a:r>
              <a:rPr lang="en-US" sz="3200" u="sng" dirty="0" err="1"/>
              <a:t>cùng</a:t>
            </a:r>
            <a:r>
              <a:rPr lang="en-US" sz="3200" u="sng" dirty="0"/>
              <a:t> </a:t>
            </a:r>
            <a:r>
              <a:rPr lang="en-US" sz="3200" u="sng" dirty="0" err="1"/>
              <a:t>làm</a:t>
            </a:r>
            <a:r>
              <a:rPr lang="en-US" sz="3200" u="sng" dirty="0"/>
              <a:t> node </a:t>
            </a:r>
            <a:r>
              <a:rPr lang="en-US" sz="3200" u="sng" dirty="0" err="1"/>
              <a:t>gốc</a:t>
            </a:r>
            <a:endParaRPr lang="en-US" sz="3200" dirty="0"/>
          </a:p>
          <a:p>
            <a:pPr marL="371475" lvl="2" indent="12700" algn="just" eaLnBrk="1" hangingPunct="1">
              <a:lnSpc>
                <a:spcPct val="90000"/>
              </a:lnSpc>
            </a:pPr>
            <a:r>
              <a:rPr lang="en-US" sz="3200" dirty="0" err="1"/>
              <a:t>Lần</a:t>
            </a:r>
            <a:r>
              <a:rPr lang="en-US" sz="3200" dirty="0"/>
              <a:t> </a:t>
            </a:r>
            <a:r>
              <a:rPr lang="en-US" sz="3200" dirty="0" err="1"/>
              <a:t>lượt</a:t>
            </a:r>
            <a:r>
              <a:rPr lang="en-US" sz="3200" dirty="0"/>
              <a:t> </a:t>
            </a:r>
            <a:r>
              <a:rPr lang="en-US" sz="3200" dirty="0" err="1"/>
              <a:t>đưa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còn</a:t>
            </a:r>
            <a:r>
              <a:rPr lang="en-US" sz="3200" dirty="0"/>
              <a:t> </a:t>
            </a:r>
            <a:r>
              <a:rPr lang="en-US" sz="3200" dirty="0" err="1"/>
              <a:t>lại</a:t>
            </a:r>
            <a:r>
              <a:rPr lang="en-US" sz="3200" dirty="0"/>
              <a:t> </a:t>
            </a:r>
            <a:r>
              <a:rPr lang="en-US" sz="3200" u="sng" dirty="0" err="1"/>
              <a:t>từ</a:t>
            </a:r>
            <a:r>
              <a:rPr lang="en-US" sz="3200" u="sng" dirty="0"/>
              <a:t> </a:t>
            </a:r>
            <a:r>
              <a:rPr lang="en-US" sz="3200" u="sng" dirty="0" err="1"/>
              <a:t>phải</a:t>
            </a:r>
            <a:r>
              <a:rPr lang="en-US" sz="3200" u="sng" dirty="0"/>
              <a:t> sang </a:t>
            </a:r>
            <a:r>
              <a:rPr lang="en-US" sz="3200" u="sng" dirty="0" err="1"/>
              <a:t>trái</a:t>
            </a:r>
            <a:r>
              <a:rPr lang="en-US" sz="3200" u="sng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cây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nguyên</a:t>
            </a:r>
            <a:r>
              <a:rPr lang="en-US" sz="3200" dirty="0"/>
              <a:t> </a:t>
            </a:r>
            <a:r>
              <a:rPr lang="en-US" sz="3200" dirty="0" err="1"/>
              <a:t>tắc</a:t>
            </a:r>
            <a:r>
              <a:rPr lang="en-US" sz="3200" dirty="0"/>
              <a:t> </a:t>
            </a:r>
            <a:r>
              <a:rPr lang="en-US" sz="3200" dirty="0" err="1"/>
              <a:t>tạo</a:t>
            </a:r>
            <a:r>
              <a:rPr lang="en-US" sz="3200" dirty="0"/>
              <a:t> </a:t>
            </a:r>
            <a:r>
              <a:rPr lang="en-US" sz="3200" dirty="0" err="1"/>
              <a:t>cây</a:t>
            </a:r>
            <a:endParaRPr lang="en-US" sz="3200" dirty="0"/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61086E02-9595-4763-9785-BEB6FFF37117}" type="slidenum">
              <a:rPr lang="en-US" smtClean="0">
                <a:solidFill>
                  <a:srgbClr val="FFFFFF"/>
                </a:solidFill>
              </a:rPr>
              <a:pPr eaLnBrk="1" hangingPunct="1"/>
              <a:t>29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  <a:p>
            <a:pPr algn="just"/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20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/>
              <a:t>Tìm x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/>
              <a:t>Tìm min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/>
              <a:t>Tìm min của cây con bên phải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/>
              <a:t>Tìm max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/>
              <a:t>Tìm max của cây con bên trái</a:t>
            </a:r>
          </a:p>
        </p:txBody>
      </p:sp>
      <p:sp>
        <p:nvSpPr>
          <p:cNvPr id="6042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8B781DB2-E851-4C41-AB29-108E40C5CE3A}" type="slidenum">
              <a:rPr lang="en-US" smtClean="0">
                <a:solidFill>
                  <a:srgbClr val="FFFFFF"/>
                </a:solidFill>
              </a:rPr>
              <a:pPr eaLnBrk="1" hangingPunct="1"/>
              <a:t>31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1" name="Oval 21"/>
          <p:cNvSpPr>
            <a:spLocks noChangeArrowheads="1"/>
          </p:cNvSpPr>
          <p:nvPr/>
        </p:nvSpPr>
        <p:spPr bwMode="auto">
          <a:xfrm>
            <a:off x="3995738" y="2060575"/>
            <a:ext cx="936625" cy="1008063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1"/>
                </a:solidFill>
              </a:rPr>
              <a:t>Ví dụ tìm x = 23</a:t>
            </a:r>
          </a:p>
        </p:txBody>
      </p:sp>
      <p:sp>
        <p:nvSpPr>
          <p:cNvPr id="61461" name="Slide Number Placeholder 2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A2A9E68F-AE0E-4181-BEA8-959A2458F3EC}" type="slidenum">
              <a:rPr lang="en-US" smtClean="0">
                <a:solidFill>
                  <a:srgbClr val="FFFFFF"/>
                </a:solidFill>
              </a:rPr>
              <a:pPr eaLnBrk="1" hangingPunct="1"/>
              <a:t>32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1924" name="Oval 4"/>
          <p:cNvSpPr>
            <a:spLocks noChangeArrowheads="1"/>
          </p:cNvSpPr>
          <p:nvPr/>
        </p:nvSpPr>
        <p:spPr bwMode="auto">
          <a:xfrm>
            <a:off x="4211638" y="227647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81925" name="Oval 5"/>
          <p:cNvSpPr>
            <a:spLocks noChangeArrowheads="1"/>
          </p:cNvSpPr>
          <p:nvPr/>
        </p:nvSpPr>
        <p:spPr bwMode="auto">
          <a:xfrm>
            <a:off x="3059113" y="30686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81926" name="Oval 6"/>
          <p:cNvSpPr>
            <a:spLocks noChangeArrowheads="1"/>
          </p:cNvSpPr>
          <p:nvPr/>
        </p:nvSpPr>
        <p:spPr bwMode="auto">
          <a:xfrm>
            <a:off x="5435600" y="3068638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81927" name="Oval 7"/>
          <p:cNvSpPr>
            <a:spLocks noChangeArrowheads="1"/>
          </p:cNvSpPr>
          <p:nvPr/>
        </p:nvSpPr>
        <p:spPr bwMode="auto">
          <a:xfrm>
            <a:off x="2339975" y="39338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81928" name="Oval 8"/>
          <p:cNvSpPr>
            <a:spLocks noChangeArrowheads="1"/>
          </p:cNvSpPr>
          <p:nvPr/>
        </p:nvSpPr>
        <p:spPr bwMode="auto">
          <a:xfrm>
            <a:off x="3922713" y="39338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81929" name="Oval 9"/>
          <p:cNvSpPr>
            <a:spLocks noChangeArrowheads="1"/>
          </p:cNvSpPr>
          <p:nvPr/>
        </p:nvSpPr>
        <p:spPr bwMode="auto">
          <a:xfrm>
            <a:off x="4714875" y="39338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81930" name="Oval 10"/>
          <p:cNvSpPr>
            <a:spLocks noChangeArrowheads="1"/>
          </p:cNvSpPr>
          <p:nvPr/>
        </p:nvSpPr>
        <p:spPr bwMode="auto">
          <a:xfrm>
            <a:off x="6154738" y="39338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81931" name="Oval 11"/>
          <p:cNvSpPr>
            <a:spLocks noChangeArrowheads="1"/>
          </p:cNvSpPr>
          <p:nvPr/>
        </p:nvSpPr>
        <p:spPr bwMode="auto">
          <a:xfrm>
            <a:off x="5148263" y="47974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81932" name="Oval 12"/>
          <p:cNvSpPr>
            <a:spLocks noChangeArrowheads="1"/>
          </p:cNvSpPr>
          <p:nvPr/>
        </p:nvSpPr>
        <p:spPr bwMode="auto">
          <a:xfrm>
            <a:off x="3490913" y="47974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 flipH="1">
            <a:off x="3490913" y="2638425"/>
            <a:ext cx="792162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4" name="Line 14"/>
          <p:cNvSpPr>
            <a:spLocks noChangeShapeType="1"/>
          </p:cNvSpPr>
          <p:nvPr/>
        </p:nvSpPr>
        <p:spPr bwMode="auto">
          <a:xfrm>
            <a:off x="4668838" y="2651125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 flipH="1">
            <a:off x="2698750" y="3502025"/>
            <a:ext cx="433388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6" name="Line 16"/>
          <p:cNvSpPr>
            <a:spLocks noChangeShapeType="1"/>
          </p:cNvSpPr>
          <p:nvPr/>
        </p:nvSpPr>
        <p:spPr bwMode="auto">
          <a:xfrm>
            <a:off x="3490913" y="3502025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7" name="Line 17"/>
          <p:cNvSpPr>
            <a:spLocks noChangeShapeType="1"/>
          </p:cNvSpPr>
          <p:nvPr/>
        </p:nvSpPr>
        <p:spPr bwMode="auto">
          <a:xfrm flipH="1">
            <a:off x="3851275" y="4438650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8" name="Line 18"/>
          <p:cNvSpPr>
            <a:spLocks noChangeShapeType="1"/>
          </p:cNvSpPr>
          <p:nvPr/>
        </p:nvSpPr>
        <p:spPr bwMode="auto">
          <a:xfrm flipH="1">
            <a:off x="5148263" y="3502025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9" name="Line 19"/>
          <p:cNvSpPr>
            <a:spLocks noChangeShapeType="1"/>
          </p:cNvSpPr>
          <p:nvPr/>
        </p:nvSpPr>
        <p:spPr bwMode="auto">
          <a:xfrm>
            <a:off x="5867400" y="3502025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60" name="Line 20"/>
          <p:cNvSpPr>
            <a:spLocks noChangeShapeType="1"/>
          </p:cNvSpPr>
          <p:nvPr/>
        </p:nvSpPr>
        <p:spPr bwMode="auto">
          <a:xfrm>
            <a:off x="5075238" y="4365625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6.66667E-6 L 0.13386 0.11552 " pathEditMode="relative" ptsTypes="AA">
                                      <p:cBhvr>
                                        <p:cTn id="6" dur="2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86 0.11552 L 0.05504 0.24167 " pathEditMode="relative" ptsTypes="AA">
                                      <p:cBhvr>
                                        <p:cTn id="9" dur="2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04 0.24167 L 0.09844 0.3571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0" y="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4" presetID="1" presetClass="emph" presetSubtype="2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1" grpId="0" animBg="1"/>
      <p:bldP spid="81941" grpId="1" animBg="1"/>
      <p:bldP spid="81941" grpId="2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Cho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nhị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kiếm</a:t>
            </a:r>
            <a:r>
              <a:rPr lang="en-US" sz="2600" dirty="0"/>
              <a:t>, </a:t>
            </a:r>
            <a:r>
              <a:rPr lang="en-US" sz="2600" dirty="0" err="1"/>
              <a:t>mỗi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nguyên</a:t>
            </a:r>
            <a:r>
              <a:rPr lang="en-US" sz="2600" dirty="0"/>
              <a:t>, </a:t>
            </a:r>
            <a:r>
              <a:rPr lang="en-US" sz="2600" dirty="0" err="1"/>
              <a:t>hãy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nghĩa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phương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 err="1"/>
              <a:t>Tìm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 err="1"/>
              <a:t>Tìm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lớn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en-US" sz="2600" dirty="0" err="1"/>
              <a:t>Tìm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nhỏ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phải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en-US" sz="2600" dirty="0" err="1"/>
              <a:t>Tính</a:t>
            </a:r>
            <a:r>
              <a:rPr lang="en-US" sz="2600" dirty="0"/>
              <a:t> </a:t>
            </a:r>
            <a:r>
              <a:rPr lang="en-US" sz="2600" dirty="0" err="1"/>
              <a:t>độ</a:t>
            </a:r>
            <a:r>
              <a:rPr lang="en-US" sz="2600" dirty="0"/>
              <a:t> </a:t>
            </a:r>
            <a:r>
              <a:rPr lang="en-US" sz="2600" dirty="0" err="1"/>
              <a:t>cao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en-US" sz="2600" dirty="0" err="1"/>
              <a:t>Đếm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node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87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node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8650" y="2929703"/>
            <a:ext cx="622935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x)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(root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root.SearchX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609228" y="1706693"/>
            <a:ext cx="3449983" cy="430887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MyIntBinaryTree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97664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520" y="980728"/>
            <a:ext cx="8568952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	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SearchX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x)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(data == x)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(x &lt; data)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(left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left.SearchX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(right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right.SearchX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  }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1547664" y="404664"/>
            <a:ext cx="2672526" cy="430887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87338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node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228" y="1706693"/>
            <a:ext cx="3449983" cy="430887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MyIntBinaryTree</a:t>
            </a:r>
            <a:endParaRPr lang="en-US" sz="2200" dirty="0"/>
          </a:p>
        </p:txBody>
      </p:sp>
      <p:sp>
        <p:nvSpPr>
          <p:cNvPr id="7" name="Rectangle 6"/>
          <p:cNvSpPr/>
          <p:nvPr/>
        </p:nvSpPr>
        <p:spPr>
          <a:xfrm>
            <a:off x="609228" y="2413338"/>
            <a:ext cx="624877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Max()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(root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root.RightMost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77264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47664" y="404664"/>
            <a:ext cx="2672526" cy="430887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endParaRPr lang="en-US" sz="2200" dirty="0"/>
          </a:p>
        </p:txBody>
      </p:sp>
      <p:sp>
        <p:nvSpPr>
          <p:cNvPr id="2" name="Rectangle 1"/>
          <p:cNvSpPr/>
          <p:nvPr/>
        </p:nvSpPr>
        <p:spPr>
          <a:xfrm>
            <a:off x="1475656" y="2413338"/>
            <a:ext cx="538234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RightMost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(right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right.RightMost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16692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Xóa</a:t>
            </a:r>
            <a:r>
              <a:rPr lang="en-US" dirty="0"/>
              <a:t> node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5003801" y="2986088"/>
            <a:ext cx="3889374" cy="2099096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dirty="0"/>
              <a:t>Node </a:t>
            </a:r>
            <a:r>
              <a:rPr lang="en-US" dirty="0" err="1"/>
              <a:t>lá</a:t>
            </a:r>
            <a:endParaRPr lang="en-US" dirty="0"/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dirty="0"/>
              <a:t>Node </a:t>
            </a:r>
            <a:r>
              <a:rPr lang="en-US" dirty="0" err="1"/>
              <a:t>có</a:t>
            </a:r>
            <a:r>
              <a:rPr lang="en-US" dirty="0"/>
              <a:t> 1 </a:t>
            </a:r>
            <a:r>
              <a:rPr lang="en-US" dirty="0" err="1"/>
              <a:t>cây</a:t>
            </a:r>
            <a:r>
              <a:rPr lang="en-US" dirty="0"/>
              <a:t> con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dirty="0"/>
              <a:t>Node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cây</a:t>
            </a:r>
            <a:r>
              <a:rPr lang="en-US" dirty="0"/>
              <a:t> con </a:t>
            </a:r>
          </a:p>
        </p:txBody>
      </p:sp>
      <p:sp>
        <p:nvSpPr>
          <p:cNvPr id="69653" name="Slide Number Placeholder 2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E0E47A21-31B7-478F-ABF1-B964055996EB}" type="slidenum">
              <a:rPr lang="en-US" smtClean="0">
                <a:solidFill>
                  <a:srgbClr val="FFFFFF"/>
                </a:solidFill>
              </a:rPr>
              <a:pPr eaLnBrk="1" hangingPunct="1"/>
              <a:t>38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2708" name="Oval 4"/>
          <p:cNvSpPr>
            <a:spLocks noChangeArrowheads="1"/>
          </p:cNvSpPr>
          <p:nvPr/>
        </p:nvSpPr>
        <p:spPr bwMode="auto">
          <a:xfrm>
            <a:off x="2124075" y="22034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2709" name="Oval 5"/>
          <p:cNvSpPr>
            <a:spLocks noChangeArrowheads="1"/>
          </p:cNvSpPr>
          <p:nvPr/>
        </p:nvSpPr>
        <p:spPr bwMode="auto">
          <a:xfrm>
            <a:off x="971550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2710" name="Oval 6"/>
          <p:cNvSpPr>
            <a:spLocks noChangeArrowheads="1"/>
          </p:cNvSpPr>
          <p:nvPr/>
        </p:nvSpPr>
        <p:spPr bwMode="auto">
          <a:xfrm>
            <a:off x="3348038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72711" name="Oval 7"/>
          <p:cNvSpPr>
            <a:spLocks noChangeArrowheads="1"/>
          </p:cNvSpPr>
          <p:nvPr/>
        </p:nvSpPr>
        <p:spPr bwMode="auto">
          <a:xfrm>
            <a:off x="2524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72712" name="Oval 8"/>
          <p:cNvSpPr>
            <a:spLocks noChangeArrowheads="1"/>
          </p:cNvSpPr>
          <p:nvPr/>
        </p:nvSpPr>
        <p:spPr bwMode="auto">
          <a:xfrm>
            <a:off x="1835150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2713" name="Oval 9"/>
          <p:cNvSpPr>
            <a:spLocks noChangeArrowheads="1"/>
          </p:cNvSpPr>
          <p:nvPr/>
        </p:nvSpPr>
        <p:spPr bwMode="auto">
          <a:xfrm>
            <a:off x="26273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2714" name="Oval 10"/>
          <p:cNvSpPr>
            <a:spLocks noChangeArrowheads="1"/>
          </p:cNvSpPr>
          <p:nvPr/>
        </p:nvSpPr>
        <p:spPr bwMode="auto">
          <a:xfrm>
            <a:off x="4067175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72715" name="Oval 11"/>
          <p:cNvSpPr>
            <a:spLocks noChangeArrowheads="1"/>
          </p:cNvSpPr>
          <p:nvPr/>
        </p:nvSpPr>
        <p:spPr bwMode="auto">
          <a:xfrm>
            <a:off x="3060700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2716" name="Oval 12"/>
          <p:cNvSpPr>
            <a:spLocks noChangeArrowheads="1"/>
          </p:cNvSpPr>
          <p:nvPr/>
        </p:nvSpPr>
        <p:spPr bwMode="auto">
          <a:xfrm>
            <a:off x="1403350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 flipH="1">
            <a:off x="1403350" y="2565400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6" name="Line 14"/>
          <p:cNvSpPr>
            <a:spLocks noChangeShapeType="1"/>
          </p:cNvSpPr>
          <p:nvPr/>
        </p:nvSpPr>
        <p:spPr bwMode="auto">
          <a:xfrm>
            <a:off x="2581275" y="2578100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7" name="Line 15"/>
          <p:cNvSpPr>
            <a:spLocks noChangeShapeType="1"/>
          </p:cNvSpPr>
          <p:nvPr/>
        </p:nvSpPr>
        <p:spPr bwMode="auto">
          <a:xfrm flipH="1">
            <a:off x="611188" y="3429000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8" name="Line 16"/>
          <p:cNvSpPr>
            <a:spLocks noChangeShapeType="1"/>
          </p:cNvSpPr>
          <p:nvPr/>
        </p:nvSpPr>
        <p:spPr bwMode="auto">
          <a:xfrm>
            <a:off x="1403350" y="3429000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9" name="Line 17"/>
          <p:cNvSpPr>
            <a:spLocks noChangeShapeType="1"/>
          </p:cNvSpPr>
          <p:nvPr/>
        </p:nvSpPr>
        <p:spPr bwMode="auto">
          <a:xfrm flipH="1">
            <a:off x="1763713" y="4365625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0" name="Line 18"/>
          <p:cNvSpPr>
            <a:spLocks noChangeShapeType="1"/>
          </p:cNvSpPr>
          <p:nvPr/>
        </p:nvSpPr>
        <p:spPr bwMode="auto">
          <a:xfrm flipH="1">
            <a:off x="3060700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1" name="Line 19"/>
          <p:cNvSpPr>
            <a:spLocks noChangeShapeType="1"/>
          </p:cNvSpPr>
          <p:nvPr/>
        </p:nvSpPr>
        <p:spPr bwMode="auto">
          <a:xfrm>
            <a:off x="3779838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2" name="Line 20"/>
          <p:cNvSpPr>
            <a:spLocks noChangeShapeType="1"/>
          </p:cNvSpPr>
          <p:nvPr/>
        </p:nvSpPr>
        <p:spPr bwMode="auto">
          <a:xfrm>
            <a:off x="2987675" y="4292600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Xóa</a:t>
            </a:r>
            <a:r>
              <a:rPr lang="en-US" dirty="0"/>
              <a:t> node </a:t>
            </a:r>
            <a:r>
              <a:rPr lang="en-US" dirty="0" err="1"/>
              <a:t>lá</a:t>
            </a:r>
            <a:endParaRPr 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6372523" y="3141389"/>
            <a:ext cx="2663527" cy="1655763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 err="1"/>
              <a:t>Xóa</a:t>
            </a:r>
            <a:r>
              <a:rPr lang="en-US" dirty="0"/>
              <a:t> 1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 err="1"/>
              <a:t>Xóa</a:t>
            </a:r>
            <a:r>
              <a:rPr lang="en-US" dirty="0"/>
              <a:t> 23</a:t>
            </a:r>
          </a:p>
        </p:txBody>
      </p:sp>
      <p:sp>
        <p:nvSpPr>
          <p:cNvPr id="70679" name="Slide Number Placeholder 2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883A7EF5-2384-4825-9F7E-87109BB77640}" type="slidenum">
              <a:rPr lang="en-US" smtClean="0">
                <a:solidFill>
                  <a:srgbClr val="FFFFFF"/>
                </a:solidFill>
              </a:rPr>
              <a:pPr eaLnBrk="1" hangingPunct="1"/>
              <a:t>39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3732" name="Oval 4"/>
          <p:cNvSpPr>
            <a:spLocks noChangeArrowheads="1"/>
          </p:cNvSpPr>
          <p:nvPr/>
        </p:nvSpPr>
        <p:spPr bwMode="auto">
          <a:xfrm>
            <a:off x="3564235" y="22034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3733" name="Oval 5"/>
          <p:cNvSpPr>
            <a:spLocks noChangeArrowheads="1"/>
          </p:cNvSpPr>
          <p:nvPr/>
        </p:nvSpPr>
        <p:spPr bwMode="auto">
          <a:xfrm>
            <a:off x="2411710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3734" name="Oval 6"/>
          <p:cNvSpPr>
            <a:spLocks noChangeArrowheads="1"/>
          </p:cNvSpPr>
          <p:nvPr/>
        </p:nvSpPr>
        <p:spPr bwMode="auto">
          <a:xfrm>
            <a:off x="4788198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73735" name="Oval 7"/>
          <p:cNvSpPr>
            <a:spLocks noChangeArrowheads="1"/>
          </p:cNvSpPr>
          <p:nvPr/>
        </p:nvSpPr>
        <p:spPr bwMode="auto">
          <a:xfrm>
            <a:off x="1692573" y="3860800"/>
            <a:ext cx="504825" cy="504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73736" name="Oval 8"/>
          <p:cNvSpPr>
            <a:spLocks noChangeArrowheads="1"/>
          </p:cNvSpPr>
          <p:nvPr/>
        </p:nvSpPr>
        <p:spPr bwMode="auto">
          <a:xfrm>
            <a:off x="3275310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3737" name="Oval 9"/>
          <p:cNvSpPr>
            <a:spLocks noChangeArrowheads="1"/>
          </p:cNvSpPr>
          <p:nvPr/>
        </p:nvSpPr>
        <p:spPr bwMode="auto">
          <a:xfrm>
            <a:off x="406747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3738" name="Oval 10"/>
          <p:cNvSpPr>
            <a:spLocks noChangeArrowheads="1"/>
          </p:cNvSpPr>
          <p:nvPr/>
        </p:nvSpPr>
        <p:spPr bwMode="auto">
          <a:xfrm>
            <a:off x="5507335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73739" name="Oval 11"/>
          <p:cNvSpPr>
            <a:spLocks noChangeArrowheads="1"/>
          </p:cNvSpPr>
          <p:nvPr/>
        </p:nvSpPr>
        <p:spPr bwMode="auto">
          <a:xfrm>
            <a:off x="4500860" y="4724400"/>
            <a:ext cx="504825" cy="504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3740" name="Oval 12"/>
          <p:cNvSpPr>
            <a:spLocks noChangeArrowheads="1"/>
          </p:cNvSpPr>
          <p:nvPr/>
        </p:nvSpPr>
        <p:spPr bwMode="auto">
          <a:xfrm>
            <a:off x="2843510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70671" name="Line 13"/>
          <p:cNvSpPr>
            <a:spLocks noChangeShapeType="1"/>
          </p:cNvSpPr>
          <p:nvPr/>
        </p:nvSpPr>
        <p:spPr bwMode="auto">
          <a:xfrm flipH="1">
            <a:off x="2843510" y="2565400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2" name="Line 14"/>
          <p:cNvSpPr>
            <a:spLocks noChangeShapeType="1"/>
          </p:cNvSpPr>
          <p:nvPr/>
        </p:nvSpPr>
        <p:spPr bwMode="auto">
          <a:xfrm>
            <a:off x="4021435" y="2578100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3" name="Line 15"/>
          <p:cNvSpPr>
            <a:spLocks noChangeShapeType="1"/>
          </p:cNvSpPr>
          <p:nvPr/>
        </p:nvSpPr>
        <p:spPr bwMode="auto">
          <a:xfrm flipH="1">
            <a:off x="2051348" y="3429000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4" name="Line 16"/>
          <p:cNvSpPr>
            <a:spLocks noChangeShapeType="1"/>
          </p:cNvSpPr>
          <p:nvPr/>
        </p:nvSpPr>
        <p:spPr bwMode="auto">
          <a:xfrm>
            <a:off x="2843510" y="3429000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5" name="Line 17"/>
          <p:cNvSpPr>
            <a:spLocks noChangeShapeType="1"/>
          </p:cNvSpPr>
          <p:nvPr/>
        </p:nvSpPr>
        <p:spPr bwMode="auto">
          <a:xfrm flipH="1">
            <a:off x="3203873" y="4365625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6" name="Line 18"/>
          <p:cNvSpPr>
            <a:spLocks noChangeShapeType="1"/>
          </p:cNvSpPr>
          <p:nvPr/>
        </p:nvSpPr>
        <p:spPr bwMode="auto">
          <a:xfrm flipH="1">
            <a:off x="4500860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7" name="Line 19"/>
          <p:cNvSpPr>
            <a:spLocks noChangeShapeType="1"/>
          </p:cNvSpPr>
          <p:nvPr/>
        </p:nvSpPr>
        <p:spPr bwMode="auto">
          <a:xfrm>
            <a:off x="5219998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8" name="Line 20"/>
          <p:cNvSpPr>
            <a:spLocks noChangeShapeType="1"/>
          </p:cNvSpPr>
          <p:nvPr/>
        </p:nvSpPr>
        <p:spPr bwMode="auto">
          <a:xfrm>
            <a:off x="4427835" y="4292600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Xóa node 1 cây con</a:t>
            </a:r>
          </a:p>
        </p:txBody>
      </p:sp>
      <p:sp>
        <p:nvSpPr>
          <p:cNvPr id="74757" name="Rectangle 5"/>
          <p:cNvSpPr>
            <a:spLocks noGrp="1" noChangeArrowheads="1"/>
          </p:cNvSpPr>
          <p:nvPr>
            <p:ph idx="1"/>
          </p:nvPr>
        </p:nvSpPr>
        <p:spPr>
          <a:xfrm>
            <a:off x="6516216" y="2996952"/>
            <a:ext cx="2519834" cy="1655763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 err="1"/>
              <a:t>Xóa</a:t>
            </a:r>
            <a:r>
              <a:rPr lang="en-US" dirty="0"/>
              <a:t> 6</a:t>
            </a:r>
          </a:p>
        </p:txBody>
      </p:sp>
      <p:sp>
        <p:nvSpPr>
          <p:cNvPr id="71707" name="Slide Number Placeholder 2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430473E4-5803-46D7-898E-9F8799A2D8EC}" type="slidenum">
              <a:rPr lang="en-US" smtClean="0">
                <a:solidFill>
                  <a:srgbClr val="FFFFFF"/>
                </a:solidFill>
              </a:rPr>
              <a:pPr eaLnBrk="1" hangingPunct="1"/>
              <a:t>40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4758" name="Oval 6"/>
          <p:cNvSpPr>
            <a:spLocks noChangeArrowheads="1"/>
          </p:cNvSpPr>
          <p:nvPr/>
        </p:nvSpPr>
        <p:spPr bwMode="auto">
          <a:xfrm>
            <a:off x="3348211" y="22034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4759" name="Oval 7"/>
          <p:cNvSpPr>
            <a:spLocks noChangeArrowheads="1"/>
          </p:cNvSpPr>
          <p:nvPr/>
        </p:nvSpPr>
        <p:spPr bwMode="auto">
          <a:xfrm>
            <a:off x="2195686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4760" name="Oval 8"/>
          <p:cNvSpPr>
            <a:spLocks noChangeArrowheads="1"/>
          </p:cNvSpPr>
          <p:nvPr/>
        </p:nvSpPr>
        <p:spPr bwMode="auto">
          <a:xfrm>
            <a:off x="4572174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74761" name="Oval 9"/>
          <p:cNvSpPr>
            <a:spLocks noChangeArrowheads="1"/>
          </p:cNvSpPr>
          <p:nvPr/>
        </p:nvSpPr>
        <p:spPr bwMode="auto">
          <a:xfrm>
            <a:off x="1476549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74762" name="Oval 10"/>
          <p:cNvSpPr>
            <a:spLocks noChangeArrowheads="1"/>
          </p:cNvSpPr>
          <p:nvPr/>
        </p:nvSpPr>
        <p:spPr bwMode="auto">
          <a:xfrm>
            <a:off x="3059286" y="3860800"/>
            <a:ext cx="504825" cy="504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4763" name="Oval 11"/>
          <p:cNvSpPr>
            <a:spLocks noChangeArrowheads="1"/>
          </p:cNvSpPr>
          <p:nvPr/>
        </p:nvSpPr>
        <p:spPr bwMode="auto">
          <a:xfrm>
            <a:off x="3851449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4764" name="Oval 12"/>
          <p:cNvSpPr>
            <a:spLocks noChangeArrowheads="1"/>
          </p:cNvSpPr>
          <p:nvPr/>
        </p:nvSpPr>
        <p:spPr bwMode="auto">
          <a:xfrm>
            <a:off x="5291311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74765" name="Oval 13"/>
          <p:cNvSpPr>
            <a:spLocks noChangeArrowheads="1"/>
          </p:cNvSpPr>
          <p:nvPr/>
        </p:nvSpPr>
        <p:spPr bwMode="auto">
          <a:xfrm>
            <a:off x="4284836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4766" name="Oval 14"/>
          <p:cNvSpPr>
            <a:spLocks noChangeArrowheads="1"/>
          </p:cNvSpPr>
          <p:nvPr/>
        </p:nvSpPr>
        <p:spPr bwMode="auto">
          <a:xfrm>
            <a:off x="2627486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71697" name="Line 15"/>
          <p:cNvSpPr>
            <a:spLocks noChangeShapeType="1"/>
          </p:cNvSpPr>
          <p:nvPr/>
        </p:nvSpPr>
        <p:spPr bwMode="auto">
          <a:xfrm flipH="1">
            <a:off x="2627486" y="2565400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8" name="Line 16"/>
          <p:cNvSpPr>
            <a:spLocks noChangeShapeType="1"/>
          </p:cNvSpPr>
          <p:nvPr/>
        </p:nvSpPr>
        <p:spPr bwMode="auto">
          <a:xfrm>
            <a:off x="3805411" y="2578100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9" name="Line 17"/>
          <p:cNvSpPr>
            <a:spLocks noChangeShapeType="1"/>
          </p:cNvSpPr>
          <p:nvPr/>
        </p:nvSpPr>
        <p:spPr bwMode="auto">
          <a:xfrm flipH="1">
            <a:off x="1835324" y="3429000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0" name="Line 18"/>
          <p:cNvSpPr>
            <a:spLocks noChangeShapeType="1"/>
          </p:cNvSpPr>
          <p:nvPr/>
        </p:nvSpPr>
        <p:spPr bwMode="auto">
          <a:xfrm>
            <a:off x="2627486" y="3429000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1" name="Line 19"/>
          <p:cNvSpPr>
            <a:spLocks noChangeShapeType="1"/>
          </p:cNvSpPr>
          <p:nvPr/>
        </p:nvSpPr>
        <p:spPr bwMode="auto">
          <a:xfrm flipH="1">
            <a:off x="2987849" y="4365625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2" name="Line 20"/>
          <p:cNvSpPr>
            <a:spLocks noChangeShapeType="1"/>
          </p:cNvSpPr>
          <p:nvPr/>
        </p:nvSpPr>
        <p:spPr bwMode="auto">
          <a:xfrm flipH="1">
            <a:off x="4284836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3" name="Line 21"/>
          <p:cNvSpPr>
            <a:spLocks noChangeShapeType="1"/>
          </p:cNvSpPr>
          <p:nvPr/>
        </p:nvSpPr>
        <p:spPr bwMode="auto">
          <a:xfrm>
            <a:off x="5003974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4" name="Line 22"/>
          <p:cNvSpPr>
            <a:spLocks noChangeShapeType="1"/>
          </p:cNvSpPr>
          <p:nvPr/>
        </p:nvSpPr>
        <p:spPr bwMode="auto">
          <a:xfrm>
            <a:off x="4211811" y="4292600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" name="Curved Connector 2"/>
          <p:cNvCxnSpPr>
            <a:stCxn id="71700" idx="0"/>
            <a:endCxn id="74771" idx="1"/>
          </p:cNvCxnSpPr>
          <p:nvPr/>
        </p:nvCxnSpPr>
        <p:spPr>
          <a:xfrm rot="16200000" flipH="1">
            <a:off x="2123455" y="3933030"/>
            <a:ext cx="1368425" cy="360363"/>
          </a:xfrm>
          <a:prstGeom prst="curvedConnector3">
            <a:avLst>
              <a:gd name="adj1" fmla="val 52445"/>
            </a:avLst>
          </a:prstGeom>
          <a:ln w="28575">
            <a:solidFill>
              <a:srgbClr val="00009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ine Callout 1 1"/>
          <p:cNvSpPr/>
          <p:nvPr/>
        </p:nvSpPr>
        <p:spPr>
          <a:xfrm>
            <a:off x="539552" y="2122490"/>
            <a:ext cx="1152128" cy="585786"/>
          </a:xfrm>
          <a:prstGeom prst="borderCallout1">
            <a:avLst>
              <a:gd name="adj1" fmla="val 28291"/>
              <a:gd name="adj2" fmla="val 91867"/>
              <a:gd name="adj3" fmla="val 163385"/>
              <a:gd name="adj4" fmla="val 142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 cha </a:t>
            </a:r>
            <a:r>
              <a:rPr lang="en-US" dirty="0" err="1"/>
              <a:t>của</a:t>
            </a:r>
            <a:r>
              <a:rPr lang="en-US" dirty="0"/>
              <a:t> 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Xóa node 1 cây con</a:t>
            </a:r>
          </a:p>
        </p:txBody>
      </p:sp>
      <p:sp>
        <p:nvSpPr>
          <p:cNvPr id="74757" name="Rectangle 5"/>
          <p:cNvSpPr>
            <a:spLocks noGrp="1" noChangeArrowheads="1"/>
          </p:cNvSpPr>
          <p:nvPr>
            <p:ph idx="1"/>
          </p:nvPr>
        </p:nvSpPr>
        <p:spPr>
          <a:xfrm>
            <a:off x="6516216" y="2996952"/>
            <a:ext cx="2519834" cy="1655763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 err="1"/>
              <a:t>Xóa</a:t>
            </a:r>
            <a:r>
              <a:rPr lang="en-US" dirty="0"/>
              <a:t> 15</a:t>
            </a:r>
          </a:p>
        </p:txBody>
      </p:sp>
      <p:sp>
        <p:nvSpPr>
          <p:cNvPr id="71707" name="Slide Number Placeholder 2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430473E4-5803-46D7-898E-9F8799A2D8EC}" type="slidenum">
              <a:rPr lang="en-US" smtClean="0">
                <a:solidFill>
                  <a:srgbClr val="FFFFFF"/>
                </a:solidFill>
              </a:rPr>
              <a:pPr eaLnBrk="1" hangingPunct="1"/>
              <a:t>41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4758" name="Oval 6"/>
          <p:cNvSpPr>
            <a:spLocks noChangeArrowheads="1"/>
          </p:cNvSpPr>
          <p:nvPr/>
        </p:nvSpPr>
        <p:spPr bwMode="auto">
          <a:xfrm>
            <a:off x="3348211" y="22034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4759" name="Oval 7"/>
          <p:cNvSpPr>
            <a:spLocks noChangeArrowheads="1"/>
          </p:cNvSpPr>
          <p:nvPr/>
        </p:nvSpPr>
        <p:spPr bwMode="auto">
          <a:xfrm>
            <a:off x="2195686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4760" name="Oval 8"/>
          <p:cNvSpPr>
            <a:spLocks noChangeArrowheads="1"/>
          </p:cNvSpPr>
          <p:nvPr/>
        </p:nvSpPr>
        <p:spPr bwMode="auto">
          <a:xfrm>
            <a:off x="4572174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74761" name="Oval 9"/>
          <p:cNvSpPr>
            <a:spLocks noChangeArrowheads="1"/>
          </p:cNvSpPr>
          <p:nvPr/>
        </p:nvSpPr>
        <p:spPr bwMode="auto">
          <a:xfrm>
            <a:off x="1476549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74763" name="Oval 11"/>
          <p:cNvSpPr>
            <a:spLocks noChangeArrowheads="1"/>
          </p:cNvSpPr>
          <p:nvPr/>
        </p:nvSpPr>
        <p:spPr bwMode="auto">
          <a:xfrm>
            <a:off x="3851449" y="3860800"/>
            <a:ext cx="504825" cy="504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4764" name="Oval 12"/>
          <p:cNvSpPr>
            <a:spLocks noChangeArrowheads="1"/>
          </p:cNvSpPr>
          <p:nvPr/>
        </p:nvSpPr>
        <p:spPr bwMode="auto">
          <a:xfrm>
            <a:off x="5291311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74765" name="Oval 13"/>
          <p:cNvSpPr>
            <a:spLocks noChangeArrowheads="1"/>
          </p:cNvSpPr>
          <p:nvPr/>
        </p:nvSpPr>
        <p:spPr bwMode="auto">
          <a:xfrm>
            <a:off x="4284836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4766" name="Oval 14"/>
          <p:cNvSpPr>
            <a:spLocks noChangeArrowheads="1"/>
          </p:cNvSpPr>
          <p:nvPr/>
        </p:nvSpPr>
        <p:spPr bwMode="auto">
          <a:xfrm>
            <a:off x="2627486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71697" name="Line 15"/>
          <p:cNvSpPr>
            <a:spLocks noChangeShapeType="1"/>
          </p:cNvSpPr>
          <p:nvPr/>
        </p:nvSpPr>
        <p:spPr bwMode="auto">
          <a:xfrm flipH="1">
            <a:off x="2627486" y="2565400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8" name="Line 16"/>
          <p:cNvSpPr>
            <a:spLocks noChangeShapeType="1"/>
          </p:cNvSpPr>
          <p:nvPr/>
        </p:nvSpPr>
        <p:spPr bwMode="auto">
          <a:xfrm>
            <a:off x="3805411" y="2578100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9" name="Line 17"/>
          <p:cNvSpPr>
            <a:spLocks noChangeShapeType="1"/>
          </p:cNvSpPr>
          <p:nvPr/>
        </p:nvSpPr>
        <p:spPr bwMode="auto">
          <a:xfrm flipH="1">
            <a:off x="1835324" y="3429000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0" name="Line 18"/>
          <p:cNvSpPr>
            <a:spLocks noChangeShapeType="1"/>
          </p:cNvSpPr>
          <p:nvPr/>
        </p:nvSpPr>
        <p:spPr bwMode="auto">
          <a:xfrm>
            <a:off x="2627486" y="3429000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1" name="Line 19"/>
          <p:cNvSpPr>
            <a:spLocks noChangeShapeType="1"/>
          </p:cNvSpPr>
          <p:nvPr/>
        </p:nvSpPr>
        <p:spPr bwMode="auto">
          <a:xfrm flipH="1">
            <a:off x="2987849" y="4365625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2" name="Line 20"/>
          <p:cNvSpPr>
            <a:spLocks noChangeShapeType="1"/>
          </p:cNvSpPr>
          <p:nvPr/>
        </p:nvSpPr>
        <p:spPr bwMode="auto">
          <a:xfrm flipH="1">
            <a:off x="4284836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3" name="Line 21"/>
          <p:cNvSpPr>
            <a:spLocks noChangeShapeType="1"/>
          </p:cNvSpPr>
          <p:nvPr/>
        </p:nvSpPr>
        <p:spPr bwMode="auto">
          <a:xfrm>
            <a:off x="5003974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4" name="Line 22"/>
          <p:cNvSpPr>
            <a:spLocks noChangeShapeType="1"/>
          </p:cNvSpPr>
          <p:nvPr/>
        </p:nvSpPr>
        <p:spPr bwMode="auto">
          <a:xfrm>
            <a:off x="4211811" y="4292600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Oval 7"/>
          <p:cNvSpPr>
            <a:spLocks noChangeArrowheads="1"/>
          </p:cNvSpPr>
          <p:nvPr/>
        </p:nvSpPr>
        <p:spPr bwMode="auto">
          <a:xfrm>
            <a:off x="2987055" y="3860279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cxnSp>
        <p:nvCxnSpPr>
          <p:cNvPr id="23" name="Curved Connector 22"/>
          <p:cNvCxnSpPr>
            <a:stCxn id="71702" idx="0"/>
            <a:endCxn id="74765" idx="0"/>
          </p:cNvCxnSpPr>
          <p:nvPr/>
        </p:nvCxnSpPr>
        <p:spPr>
          <a:xfrm rot="5400000">
            <a:off x="3979243" y="3987007"/>
            <a:ext cx="1295400" cy="179387"/>
          </a:xfrm>
          <a:prstGeom prst="curvedConnector3">
            <a:avLst>
              <a:gd name="adj1" fmla="val 50000"/>
            </a:avLst>
          </a:prstGeom>
          <a:ln w="28575">
            <a:solidFill>
              <a:srgbClr val="00009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071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node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cây</a:t>
            </a:r>
            <a:r>
              <a:rPr lang="en-US" dirty="0"/>
              <a:t> 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2124075" y="22034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971550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3348038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2524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1835150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26273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4067175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13" name="Oval 13"/>
          <p:cNvSpPr>
            <a:spLocks noChangeArrowheads="1"/>
          </p:cNvSpPr>
          <p:nvPr/>
        </p:nvSpPr>
        <p:spPr bwMode="auto">
          <a:xfrm>
            <a:off x="3060700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1403350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 flipH="1">
            <a:off x="1403350" y="2565400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2581275" y="2578100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H="1">
            <a:off x="611188" y="3429000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1403350" y="3429000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H="1">
            <a:off x="1763713" y="4365625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>
            <a:off x="3060700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3779838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2987675" y="4292600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23"/>
          <p:cNvSpPr>
            <a:spLocks noChangeArrowheads="1"/>
          </p:cNvSpPr>
          <p:nvPr/>
        </p:nvSpPr>
        <p:spPr bwMode="auto">
          <a:xfrm>
            <a:off x="2700338" y="54451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16</a:t>
            </a:r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H="1">
            <a:off x="3059113" y="5229225"/>
            <a:ext cx="217487" cy="2873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5"/>
          <p:cNvSpPr>
            <a:spLocks noGrp="1" noChangeArrowheads="1"/>
          </p:cNvSpPr>
          <p:nvPr>
            <p:ph idx="1"/>
          </p:nvPr>
        </p:nvSpPr>
        <p:spPr>
          <a:xfrm>
            <a:off x="4949701" y="1557338"/>
            <a:ext cx="3942779" cy="4176712"/>
          </a:xfrm>
        </p:spPr>
        <p:txBody>
          <a:bodyPr>
            <a:normAutofit/>
          </a:bodyPr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sz="2600" b="1" dirty="0" err="1"/>
              <a:t>Bước</a:t>
            </a:r>
            <a:r>
              <a:rPr lang="en-US" sz="2600" b="1" dirty="0"/>
              <a:t> 1: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node </a:t>
            </a:r>
            <a:r>
              <a:rPr lang="en-US" sz="2600" dirty="0" err="1"/>
              <a:t>thay</a:t>
            </a:r>
            <a:r>
              <a:rPr lang="en-US" sz="2600" dirty="0"/>
              <a:t> thế</a:t>
            </a:r>
          </a:p>
          <a:p>
            <a:pPr algn="just"/>
            <a:r>
              <a:rPr lang="en-US" sz="2600" b="1" i="1" dirty="0" err="1"/>
              <a:t>Cách</a:t>
            </a:r>
            <a:r>
              <a:rPr lang="en-US" sz="2600" b="1" i="1" dirty="0"/>
              <a:t> 1:</a:t>
            </a:r>
            <a:r>
              <a:rPr lang="en-US" sz="2600" i="1" dirty="0"/>
              <a:t> </a:t>
            </a:r>
            <a:r>
              <a:rPr lang="en-US" sz="2600" i="1" dirty="0" err="1"/>
              <a:t>Tìm</a:t>
            </a:r>
            <a:r>
              <a:rPr lang="en-US" sz="2600" i="1" dirty="0"/>
              <a:t> node </a:t>
            </a:r>
            <a:r>
              <a:rPr lang="en-US" sz="2600" i="1" dirty="0" err="1"/>
              <a:t>trái</a:t>
            </a:r>
            <a:r>
              <a:rPr lang="en-US" sz="2600" i="1" dirty="0"/>
              <a:t> </a:t>
            </a:r>
            <a:r>
              <a:rPr lang="en-US" sz="2600" i="1" dirty="0" err="1"/>
              <a:t>nhất</a:t>
            </a:r>
            <a:r>
              <a:rPr lang="en-US" sz="2600" i="1" dirty="0"/>
              <a:t> </a:t>
            </a:r>
            <a:r>
              <a:rPr lang="en-US" sz="2600" i="1" dirty="0" err="1"/>
              <a:t>của</a:t>
            </a:r>
            <a:r>
              <a:rPr lang="en-US" sz="2600" i="1" dirty="0"/>
              <a:t> </a:t>
            </a:r>
            <a:r>
              <a:rPr lang="en-US" sz="2600" i="1" dirty="0" err="1"/>
              <a:t>cây</a:t>
            </a:r>
            <a:r>
              <a:rPr lang="en-US" sz="2600" i="1" dirty="0"/>
              <a:t> con </a:t>
            </a:r>
            <a:r>
              <a:rPr lang="en-US" sz="2600" i="1" dirty="0" err="1"/>
              <a:t>phải</a:t>
            </a:r>
            <a:endParaRPr lang="en-US" sz="2600" i="1" dirty="0"/>
          </a:p>
          <a:p>
            <a:pPr algn="just"/>
            <a:r>
              <a:rPr lang="en-US" sz="2600" b="1" i="1" dirty="0" err="1"/>
              <a:t>Cách</a:t>
            </a:r>
            <a:r>
              <a:rPr lang="en-US" sz="2600" b="1" i="1" dirty="0"/>
              <a:t> 2: </a:t>
            </a:r>
            <a:r>
              <a:rPr lang="en-US" sz="2600" i="1" dirty="0" err="1"/>
              <a:t>Tìm</a:t>
            </a:r>
            <a:r>
              <a:rPr lang="en-US" sz="2600" i="1" dirty="0"/>
              <a:t> node </a:t>
            </a:r>
            <a:r>
              <a:rPr lang="en-US" sz="2600" i="1" dirty="0" err="1"/>
              <a:t>phải</a:t>
            </a:r>
            <a:r>
              <a:rPr lang="en-US" sz="2600" i="1" dirty="0"/>
              <a:t> </a:t>
            </a:r>
            <a:r>
              <a:rPr lang="en-US" sz="2600" i="1" dirty="0" err="1"/>
              <a:t>nhất</a:t>
            </a:r>
            <a:r>
              <a:rPr lang="en-US" sz="2600" i="1" dirty="0"/>
              <a:t> </a:t>
            </a:r>
            <a:r>
              <a:rPr lang="en-US" sz="2600" i="1" dirty="0" err="1"/>
              <a:t>của</a:t>
            </a:r>
            <a:r>
              <a:rPr lang="en-US" sz="2600" i="1" dirty="0"/>
              <a:t> </a:t>
            </a:r>
            <a:r>
              <a:rPr lang="en-US" sz="2600" i="1" dirty="0" err="1"/>
              <a:t>cây</a:t>
            </a:r>
            <a:r>
              <a:rPr lang="en-US" sz="2600" i="1" dirty="0"/>
              <a:t> con </a:t>
            </a:r>
            <a:r>
              <a:rPr lang="en-US" sz="2600" i="1" dirty="0" err="1"/>
              <a:t>trái</a:t>
            </a:r>
            <a:endParaRPr lang="en-US" sz="2600" i="1" dirty="0"/>
          </a:p>
          <a:p>
            <a:pPr marL="0" indent="0" algn="just">
              <a:buNone/>
            </a:pPr>
            <a:r>
              <a:rPr lang="en-US" sz="2600" b="1" dirty="0" err="1"/>
              <a:t>Bước</a:t>
            </a:r>
            <a:r>
              <a:rPr lang="en-US" sz="2600" b="1" dirty="0"/>
              <a:t> 2:</a:t>
            </a:r>
            <a:r>
              <a:rPr lang="en-US" sz="2600" dirty="0"/>
              <a:t> </a:t>
            </a:r>
            <a:r>
              <a:rPr lang="en-US" sz="2600" dirty="0" err="1"/>
              <a:t>Thay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node </a:t>
            </a:r>
            <a:r>
              <a:rPr lang="en-US" sz="2600" dirty="0" err="1"/>
              <a:t>thay</a:t>
            </a:r>
            <a:r>
              <a:rPr lang="en-US" sz="2600" dirty="0"/>
              <a:t> thế </a:t>
            </a:r>
            <a:r>
              <a:rPr lang="en-US" sz="2600" dirty="0" err="1"/>
              <a:t>vào</a:t>
            </a:r>
            <a:r>
              <a:rPr lang="en-US" sz="2600" dirty="0"/>
              <a:t> node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xóa</a:t>
            </a:r>
            <a:endParaRPr lang="en-US" sz="2600" dirty="0"/>
          </a:p>
          <a:p>
            <a:pPr marL="0" indent="0" algn="just">
              <a:buNone/>
            </a:pPr>
            <a:r>
              <a:rPr lang="en-US" sz="2600" b="1" dirty="0" err="1"/>
              <a:t>Bước</a:t>
            </a:r>
            <a:r>
              <a:rPr lang="en-US" sz="2600" b="1" dirty="0"/>
              <a:t> 3:</a:t>
            </a:r>
            <a:r>
              <a:rPr lang="en-US" sz="2600" dirty="0"/>
              <a:t> </a:t>
            </a:r>
            <a:r>
              <a:rPr lang="en-US" sz="2600" dirty="0" err="1"/>
              <a:t>Xóa</a:t>
            </a:r>
            <a:r>
              <a:rPr lang="en-US" sz="2600" dirty="0"/>
              <a:t> node </a:t>
            </a:r>
            <a:r>
              <a:rPr lang="en-US" sz="2600" dirty="0" err="1"/>
              <a:t>thay</a:t>
            </a:r>
            <a:r>
              <a:rPr lang="en-US" sz="2600"/>
              <a:t> thế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92498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03" name="Freeform 27"/>
          <p:cNvSpPr>
            <a:spLocks/>
          </p:cNvSpPr>
          <p:nvPr/>
        </p:nvSpPr>
        <p:spPr bwMode="auto">
          <a:xfrm>
            <a:off x="2268538" y="3552825"/>
            <a:ext cx="1871662" cy="2716213"/>
          </a:xfrm>
          <a:custGeom>
            <a:avLst/>
            <a:gdLst>
              <a:gd name="T0" fmla="*/ 2147483647 w 993"/>
              <a:gd name="T1" fmla="*/ 0 h 1711"/>
              <a:gd name="T2" fmla="*/ 2147483647 w 993"/>
              <a:gd name="T3" fmla="*/ 2147483647 h 1711"/>
              <a:gd name="T4" fmla="*/ 2147483647 w 993"/>
              <a:gd name="T5" fmla="*/ 2147483647 h 1711"/>
              <a:gd name="T6" fmla="*/ 2147483647 w 993"/>
              <a:gd name="T7" fmla="*/ 2147483647 h 1711"/>
              <a:gd name="T8" fmla="*/ 2147483647 w 993"/>
              <a:gd name="T9" fmla="*/ 2147483647 h 1711"/>
              <a:gd name="T10" fmla="*/ 2147483647 w 993"/>
              <a:gd name="T11" fmla="*/ 2147483647 h 1711"/>
              <a:gd name="T12" fmla="*/ 2147483647 w 993"/>
              <a:gd name="T13" fmla="*/ 2147483647 h 1711"/>
              <a:gd name="T14" fmla="*/ 2147483647 w 993"/>
              <a:gd name="T15" fmla="*/ 2147483647 h 1711"/>
              <a:gd name="T16" fmla="*/ 2147483647 w 993"/>
              <a:gd name="T17" fmla="*/ 2147483647 h 1711"/>
              <a:gd name="T18" fmla="*/ 2147483647 w 993"/>
              <a:gd name="T19" fmla="*/ 2147483647 h 1711"/>
              <a:gd name="T20" fmla="*/ 2147483647 w 993"/>
              <a:gd name="T21" fmla="*/ 2147483647 h 1711"/>
              <a:gd name="T22" fmla="*/ 2147483647 w 993"/>
              <a:gd name="T23" fmla="*/ 2147483647 h 1711"/>
              <a:gd name="T24" fmla="*/ 2147483647 w 993"/>
              <a:gd name="T25" fmla="*/ 2147483647 h 1711"/>
              <a:gd name="T26" fmla="*/ 2147483647 w 993"/>
              <a:gd name="T27" fmla="*/ 2147483647 h 1711"/>
              <a:gd name="T28" fmla="*/ 2147483647 w 993"/>
              <a:gd name="T29" fmla="*/ 2147483647 h 1711"/>
              <a:gd name="T30" fmla="*/ 2147483647 w 993"/>
              <a:gd name="T31" fmla="*/ 2147483647 h 1711"/>
              <a:gd name="T32" fmla="*/ 2147483647 w 993"/>
              <a:gd name="T33" fmla="*/ 2147483647 h 1711"/>
              <a:gd name="T34" fmla="*/ 2147483647 w 993"/>
              <a:gd name="T35" fmla="*/ 2147483647 h 1711"/>
              <a:gd name="T36" fmla="*/ 2147483647 w 993"/>
              <a:gd name="T37" fmla="*/ 2147483647 h 1711"/>
              <a:gd name="T38" fmla="*/ 2147483647 w 993"/>
              <a:gd name="T39" fmla="*/ 2147483647 h 1711"/>
              <a:gd name="T40" fmla="*/ 2147483647 w 993"/>
              <a:gd name="T41" fmla="*/ 2147483647 h 1711"/>
              <a:gd name="T42" fmla="*/ 2147483647 w 993"/>
              <a:gd name="T43" fmla="*/ 2147483647 h 1711"/>
              <a:gd name="T44" fmla="*/ 2147483647 w 993"/>
              <a:gd name="T45" fmla="*/ 2147483647 h 1711"/>
              <a:gd name="T46" fmla="*/ 2147483647 w 993"/>
              <a:gd name="T47" fmla="*/ 2147483647 h 1711"/>
              <a:gd name="T48" fmla="*/ 2147483647 w 993"/>
              <a:gd name="T49" fmla="*/ 2147483647 h 1711"/>
              <a:gd name="T50" fmla="*/ 2147483647 w 993"/>
              <a:gd name="T51" fmla="*/ 2147483647 h 1711"/>
              <a:gd name="T52" fmla="*/ 2147483647 w 993"/>
              <a:gd name="T53" fmla="*/ 0 h 171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993"/>
              <a:gd name="T82" fmla="*/ 0 h 1711"/>
              <a:gd name="T83" fmla="*/ 993 w 993"/>
              <a:gd name="T84" fmla="*/ 1711 h 1711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993" h="1711">
                <a:moveTo>
                  <a:pt x="297" y="0"/>
                </a:moveTo>
                <a:cubicBezTo>
                  <a:pt x="316" y="27"/>
                  <a:pt x="363" y="74"/>
                  <a:pt x="363" y="74"/>
                </a:cubicBezTo>
                <a:cubicBezTo>
                  <a:pt x="376" y="115"/>
                  <a:pt x="410" y="141"/>
                  <a:pt x="437" y="173"/>
                </a:cubicBezTo>
                <a:cubicBezTo>
                  <a:pt x="551" y="307"/>
                  <a:pt x="450" y="201"/>
                  <a:pt x="527" y="280"/>
                </a:cubicBezTo>
                <a:cubicBezTo>
                  <a:pt x="551" y="347"/>
                  <a:pt x="531" y="402"/>
                  <a:pt x="602" y="436"/>
                </a:cubicBezTo>
                <a:cubicBezTo>
                  <a:pt x="629" y="465"/>
                  <a:pt x="670" y="472"/>
                  <a:pt x="700" y="502"/>
                </a:cubicBezTo>
                <a:cubicBezTo>
                  <a:pt x="723" y="525"/>
                  <a:pt x="734" y="554"/>
                  <a:pt x="758" y="576"/>
                </a:cubicBezTo>
                <a:cubicBezTo>
                  <a:pt x="770" y="614"/>
                  <a:pt x="785" y="657"/>
                  <a:pt x="807" y="691"/>
                </a:cubicBezTo>
                <a:cubicBezTo>
                  <a:pt x="834" y="732"/>
                  <a:pt x="876" y="767"/>
                  <a:pt x="906" y="807"/>
                </a:cubicBezTo>
                <a:cubicBezTo>
                  <a:pt x="920" y="864"/>
                  <a:pt x="933" y="922"/>
                  <a:pt x="947" y="979"/>
                </a:cubicBezTo>
                <a:cubicBezTo>
                  <a:pt x="942" y="1155"/>
                  <a:pt x="993" y="1228"/>
                  <a:pt x="873" y="1309"/>
                </a:cubicBezTo>
                <a:cubicBezTo>
                  <a:pt x="862" y="1354"/>
                  <a:pt x="854" y="1400"/>
                  <a:pt x="807" y="1415"/>
                </a:cubicBezTo>
                <a:cubicBezTo>
                  <a:pt x="771" y="1440"/>
                  <a:pt x="735" y="1441"/>
                  <a:pt x="692" y="1448"/>
                </a:cubicBezTo>
                <a:cubicBezTo>
                  <a:pt x="653" y="1462"/>
                  <a:pt x="608" y="1458"/>
                  <a:pt x="569" y="1473"/>
                </a:cubicBezTo>
                <a:cubicBezTo>
                  <a:pt x="561" y="1476"/>
                  <a:pt x="565" y="1491"/>
                  <a:pt x="560" y="1498"/>
                </a:cubicBezTo>
                <a:cubicBezTo>
                  <a:pt x="548" y="1513"/>
                  <a:pt x="533" y="1525"/>
                  <a:pt x="519" y="1539"/>
                </a:cubicBezTo>
                <a:cubicBezTo>
                  <a:pt x="478" y="1580"/>
                  <a:pt x="445" y="1629"/>
                  <a:pt x="404" y="1671"/>
                </a:cubicBezTo>
                <a:cubicBezTo>
                  <a:pt x="389" y="1687"/>
                  <a:pt x="360" y="1675"/>
                  <a:pt x="338" y="1679"/>
                </a:cubicBezTo>
                <a:cubicBezTo>
                  <a:pt x="316" y="1683"/>
                  <a:pt x="301" y="1688"/>
                  <a:pt x="281" y="1695"/>
                </a:cubicBezTo>
                <a:cubicBezTo>
                  <a:pt x="119" y="1685"/>
                  <a:pt x="165" y="1711"/>
                  <a:pt x="83" y="1629"/>
                </a:cubicBezTo>
                <a:cubicBezTo>
                  <a:pt x="72" y="1552"/>
                  <a:pt x="28" y="1485"/>
                  <a:pt x="9" y="1407"/>
                </a:cubicBezTo>
                <a:cubicBezTo>
                  <a:pt x="13" y="1265"/>
                  <a:pt x="0" y="1109"/>
                  <a:pt x="67" y="979"/>
                </a:cubicBezTo>
                <a:cubicBezTo>
                  <a:pt x="81" y="905"/>
                  <a:pt x="97" y="827"/>
                  <a:pt x="124" y="757"/>
                </a:cubicBezTo>
                <a:cubicBezTo>
                  <a:pt x="134" y="630"/>
                  <a:pt x="140" y="464"/>
                  <a:pt x="182" y="338"/>
                </a:cubicBezTo>
                <a:cubicBezTo>
                  <a:pt x="185" y="253"/>
                  <a:pt x="180" y="167"/>
                  <a:pt x="190" y="82"/>
                </a:cubicBezTo>
                <a:cubicBezTo>
                  <a:pt x="193" y="60"/>
                  <a:pt x="299" y="54"/>
                  <a:pt x="305" y="41"/>
                </a:cubicBezTo>
                <a:cubicBezTo>
                  <a:pt x="311" y="29"/>
                  <a:pt x="300" y="14"/>
                  <a:pt x="29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Xóa node 2 cây con</a:t>
            </a:r>
          </a:p>
        </p:txBody>
      </p:sp>
      <p:sp>
        <p:nvSpPr>
          <p:cNvPr id="72710" name="Rectangle 5"/>
          <p:cNvSpPr>
            <a:spLocks noGrp="1" noChangeArrowheads="1"/>
          </p:cNvSpPr>
          <p:nvPr>
            <p:ph idx="1"/>
          </p:nvPr>
        </p:nvSpPr>
        <p:spPr>
          <a:xfrm>
            <a:off x="4716463" y="1557338"/>
            <a:ext cx="4427537" cy="4176712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sz="2800" dirty="0" err="1"/>
              <a:t>Xóa</a:t>
            </a:r>
            <a:r>
              <a:rPr lang="en-US" sz="2800" dirty="0"/>
              <a:t> 36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sz="2800" b="1" dirty="0" err="1"/>
              <a:t>Bước</a:t>
            </a:r>
            <a:r>
              <a:rPr lang="en-US" sz="2800" b="1" dirty="0"/>
              <a:t> 1: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node </a:t>
            </a:r>
            <a:r>
              <a:rPr lang="en-US" sz="2800" dirty="0" err="1"/>
              <a:t>thay</a:t>
            </a:r>
            <a:r>
              <a:rPr lang="en-US" sz="2800" dirty="0"/>
              <a:t> thế</a:t>
            </a:r>
          </a:p>
        </p:txBody>
      </p:sp>
      <p:sp>
        <p:nvSpPr>
          <p:cNvPr id="72732" name="Slide Number Placeholder 2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C6B6A127-FE90-4CE9-8722-84BCFB816AEF}" type="slidenum">
              <a:rPr lang="en-US" smtClean="0">
                <a:solidFill>
                  <a:srgbClr val="FFFFFF"/>
                </a:solidFill>
              </a:rPr>
              <a:pPr eaLnBrk="1" hangingPunct="1"/>
              <a:t>43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>
            <a:off x="2124075" y="22034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5783" name="Oval 7"/>
          <p:cNvSpPr>
            <a:spLocks noChangeArrowheads="1"/>
          </p:cNvSpPr>
          <p:nvPr/>
        </p:nvSpPr>
        <p:spPr bwMode="auto">
          <a:xfrm>
            <a:off x="971550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5784" name="Oval 8"/>
          <p:cNvSpPr>
            <a:spLocks noChangeArrowheads="1"/>
          </p:cNvSpPr>
          <p:nvPr/>
        </p:nvSpPr>
        <p:spPr bwMode="auto">
          <a:xfrm>
            <a:off x="3348038" y="2995613"/>
            <a:ext cx="504825" cy="504825"/>
          </a:xfrm>
          <a:prstGeom prst="ellipse">
            <a:avLst/>
          </a:prstGeom>
          <a:solidFill>
            <a:srgbClr val="92D050"/>
          </a:solidFill>
          <a:ln w="9525">
            <a:solidFill>
              <a:srgbClr val="000099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36</a:t>
            </a:r>
          </a:p>
        </p:txBody>
      </p:sp>
      <p:sp>
        <p:nvSpPr>
          <p:cNvPr id="75785" name="Oval 9"/>
          <p:cNvSpPr>
            <a:spLocks noChangeArrowheads="1"/>
          </p:cNvSpPr>
          <p:nvPr/>
        </p:nvSpPr>
        <p:spPr bwMode="auto">
          <a:xfrm>
            <a:off x="2524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auto">
          <a:xfrm>
            <a:off x="1835150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5787" name="Oval 11"/>
          <p:cNvSpPr>
            <a:spLocks noChangeArrowheads="1"/>
          </p:cNvSpPr>
          <p:nvPr/>
        </p:nvSpPr>
        <p:spPr bwMode="auto">
          <a:xfrm>
            <a:off x="26273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5788" name="Oval 12"/>
          <p:cNvSpPr>
            <a:spLocks noChangeArrowheads="1"/>
          </p:cNvSpPr>
          <p:nvPr/>
        </p:nvSpPr>
        <p:spPr bwMode="auto">
          <a:xfrm>
            <a:off x="4067175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75789" name="Oval 13"/>
          <p:cNvSpPr>
            <a:spLocks noChangeArrowheads="1"/>
          </p:cNvSpPr>
          <p:nvPr/>
        </p:nvSpPr>
        <p:spPr bwMode="auto">
          <a:xfrm>
            <a:off x="3060700" y="4724400"/>
            <a:ext cx="504825" cy="504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5790" name="Oval 14"/>
          <p:cNvSpPr>
            <a:spLocks noChangeArrowheads="1"/>
          </p:cNvSpPr>
          <p:nvPr/>
        </p:nvSpPr>
        <p:spPr bwMode="auto">
          <a:xfrm>
            <a:off x="1403350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72720" name="Line 15"/>
          <p:cNvSpPr>
            <a:spLocks noChangeShapeType="1"/>
          </p:cNvSpPr>
          <p:nvPr/>
        </p:nvSpPr>
        <p:spPr bwMode="auto">
          <a:xfrm flipH="1">
            <a:off x="1403350" y="2565400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1" name="Line 16"/>
          <p:cNvSpPr>
            <a:spLocks noChangeShapeType="1"/>
          </p:cNvSpPr>
          <p:nvPr/>
        </p:nvSpPr>
        <p:spPr bwMode="auto">
          <a:xfrm>
            <a:off x="2581275" y="2578100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2" name="Line 17"/>
          <p:cNvSpPr>
            <a:spLocks noChangeShapeType="1"/>
          </p:cNvSpPr>
          <p:nvPr/>
        </p:nvSpPr>
        <p:spPr bwMode="auto">
          <a:xfrm flipH="1">
            <a:off x="611188" y="3429000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3" name="Line 18"/>
          <p:cNvSpPr>
            <a:spLocks noChangeShapeType="1"/>
          </p:cNvSpPr>
          <p:nvPr/>
        </p:nvSpPr>
        <p:spPr bwMode="auto">
          <a:xfrm>
            <a:off x="1403350" y="3429000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4" name="Line 19"/>
          <p:cNvSpPr>
            <a:spLocks noChangeShapeType="1"/>
          </p:cNvSpPr>
          <p:nvPr/>
        </p:nvSpPr>
        <p:spPr bwMode="auto">
          <a:xfrm flipH="1">
            <a:off x="1763713" y="4365625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5" name="Line 20"/>
          <p:cNvSpPr>
            <a:spLocks noChangeShapeType="1"/>
          </p:cNvSpPr>
          <p:nvPr/>
        </p:nvSpPr>
        <p:spPr bwMode="auto">
          <a:xfrm flipH="1">
            <a:off x="3060700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6" name="Line 21"/>
          <p:cNvSpPr>
            <a:spLocks noChangeShapeType="1"/>
          </p:cNvSpPr>
          <p:nvPr/>
        </p:nvSpPr>
        <p:spPr bwMode="auto">
          <a:xfrm>
            <a:off x="3779838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8" name="Line 22"/>
          <p:cNvSpPr>
            <a:spLocks noChangeShapeType="1"/>
          </p:cNvSpPr>
          <p:nvPr/>
        </p:nvSpPr>
        <p:spPr bwMode="auto">
          <a:xfrm>
            <a:off x="2987675" y="4292600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9" name="Oval 23"/>
          <p:cNvSpPr>
            <a:spLocks noChangeArrowheads="1"/>
          </p:cNvSpPr>
          <p:nvPr/>
        </p:nvSpPr>
        <p:spPr bwMode="auto">
          <a:xfrm>
            <a:off x="2700338" y="54451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16</a:t>
            </a:r>
          </a:p>
        </p:txBody>
      </p:sp>
      <p:sp>
        <p:nvSpPr>
          <p:cNvPr id="75800" name="Line 24"/>
          <p:cNvSpPr>
            <a:spLocks noChangeShapeType="1"/>
          </p:cNvSpPr>
          <p:nvPr/>
        </p:nvSpPr>
        <p:spPr bwMode="auto">
          <a:xfrm flipH="1">
            <a:off x="3059113" y="5229225"/>
            <a:ext cx="217487" cy="2873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Left Arrow 1"/>
          <p:cNvSpPr/>
          <p:nvPr/>
        </p:nvSpPr>
        <p:spPr>
          <a:xfrm>
            <a:off x="3635204" y="4581525"/>
            <a:ext cx="2017883" cy="7918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 </a:t>
            </a:r>
            <a:r>
              <a:rPr lang="en-US" dirty="0" err="1"/>
              <a:t>thay</a:t>
            </a:r>
            <a:r>
              <a:rPr lang="en-US" dirty="0"/>
              <a:t> thế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03" name="Freeform 27"/>
          <p:cNvSpPr>
            <a:spLocks/>
          </p:cNvSpPr>
          <p:nvPr/>
        </p:nvSpPr>
        <p:spPr bwMode="auto">
          <a:xfrm>
            <a:off x="2268538" y="3552825"/>
            <a:ext cx="1871662" cy="2716213"/>
          </a:xfrm>
          <a:custGeom>
            <a:avLst/>
            <a:gdLst>
              <a:gd name="T0" fmla="*/ 2147483647 w 993"/>
              <a:gd name="T1" fmla="*/ 0 h 1711"/>
              <a:gd name="T2" fmla="*/ 2147483647 w 993"/>
              <a:gd name="T3" fmla="*/ 2147483647 h 1711"/>
              <a:gd name="T4" fmla="*/ 2147483647 w 993"/>
              <a:gd name="T5" fmla="*/ 2147483647 h 1711"/>
              <a:gd name="T6" fmla="*/ 2147483647 w 993"/>
              <a:gd name="T7" fmla="*/ 2147483647 h 1711"/>
              <a:gd name="T8" fmla="*/ 2147483647 w 993"/>
              <a:gd name="T9" fmla="*/ 2147483647 h 1711"/>
              <a:gd name="T10" fmla="*/ 2147483647 w 993"/>
              <a:gd name="T11" fmla="*/ 2147483647 h 1711"/>
              <a:gd name="T12" fmla="*/ 2147483647 w 993"/>
              <a:gd name="T13" fmla="*/ 2147483647 h 1711"/>
              <a:gd name="T14" fmla="*/ 2147483647 w 993"/>
              <a:gd name="T15" fmla="*/ 2147483647 h 1711"/>
              <a:gd name="T16" fmla="*/ 2147483647 w 993"/>
              <a:gd name="T17" fmla="*/ 2147483647 h 1711"/>
              <a:gd name="T18" fmla="*/ 2147483647 w 993"/>
              <a:gd name="T19" fmla="*/ 2147483647 h 1711"/>
              <a:gd name="T20" fmla="*/ 2147483647 w 993"/>
              <a:gd name="T21" fmla="*/ 2147483647 h 1711"/>
              <a:gd name="T22" fmla="*/ 2147483647 w 993"/>
              <a:gd name="T23" fmla="*/ 2147483647 h 1711"/>
              <a:gd name="T24" fmla="*/ 2147483647 w 993"/>
              <a:gd name="T25" fmla="*/ 2147483647 h 1711"/>
              <a:gd name="T26" fmla="*/ 2147483647 w 993"/>
              <a:gd name="T27" fmla="*/ 2147483647 h 1711"/>
              <a:gd name="T28" fmla="*/ 2147483647 w 993"/>
              <a:gd name="T29" fmla="*/ 2147483647 h 1711"/>
              <a:gd name="T30" fmla="*/ 2147483647 w 993"/>
              <a:gd name="T31" fmla="*/ 2147483647 h 1711"/>
              <a:gd name="T32" fmla="*/ 2147483647 w 993"/>
              <a:gd name="T33" fmla="*/ 2147483647 h 1711"/>
              <a:gd name="T34" fmla="*/ 2147483647 w 993"/>
              <a:gd name="T35" fmla="*/ 2147483647 h 1711"/>
              <a:gd name="T36" fmla="*/ 2147483647 w 993"/>
              <a:gd name="T37" fmla="*/ 2147483647 h 1711"/>
              <a:gd name="T38" fmla="*/ 2147483647 w 993"/>
              <a:gd name="T39" fmla="*/ 2147483647 h 1711"/>
              <a:gd name="T40" fmla="*/ 2147483647 w 993"/>
              <a:gd name="T41" fmla="*/ 2147483647 h 1711"/>
              <a:gd name="T42" fmla="*/ 2147483647 w 993"/>
              <a:gd name="T43" fmla="*/ 2147483647 h 1711"/>
              <a:gd name="T44" fmla="*/ 2147483647 w 993"/>
              <a:gd name="T45" fmla="*/ 2147483647 h 1711"/>
              <a:gd name="T46" fmla="*/ 2147483647 w 993"/>
              <a:gd name="T47" fmla="*/ 2147483647 h 1711"/>
              <a:gd name="T48" fmla="*/ 2147483647 w 993"/>
              <a:gd name="T49" fmla="*/ 2147483647 h 1711"/>
              <a:gd name="T50" fmla="*/ 2147483647 w 993"/>
              <a:gd name="T51" fmla="*/ 2147483647 h 1711"/>
              <a:gd name="T52" fmla="*/ 2147483647 w 993"/>
              <a:gd name="T53" fmla="*/ 0 h 171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993"/>
              <a:gd name="T82" fmla="*/ 0 h 1711"/>
              <a:gd name="T83" fmla="*/ 993 w 993"/>
              <a:gd name="T84" fmla="*/ 1711 h 1711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993" h="1711">
                <a:moveTo>
                  <a:pt x="297" y="0"/>
                </a:moveTo>
                <a:cubicBezTo>
                  <a:pt x="316" y="27"/>
                  <a:pt x="363" y="74"/>
                  <a:pt x="363" y="74"/>
                </a:cubicBezTo>
                <a:cubicBezTo>
                  <a:pt x="376" y="115"/>
                  <a:pt x="410" y="141"/>
                  <a:pt x="437" y="173"/>
                </a:cubicBezTo>
                <a:cubicBezTo>
                  <a:pt x="551" y="307"/>
                  <a:pt x="450" y="201"/>
                  <a:pt x="527" y="280"/>
                </a:cubicBezTo>
                <a:cubicBezTo>
                  <a:pt x="551" y="347"/>
                  <a:pt x="531" y="402"/>
                  <a:pt x="602" y="436"/>
                </a:cubicBezTo>
                <a:cubicBezTo>
                  <a:pt x="629" y="465"/>
                  <a:pt x="670" y="472"/>
                  <a:pt x="700" y="502"/>
                </a:cubicBezTo>
                <a:cubicBezTo>
                  <a:pt x="723" y="525"/>
                  <a:pt x="734" y="554"/>
                  <a:pt x="758" y="576"/>
                </a:cubicBezTo>
                <a:cubicBezTo>
                  <a:pt x="770" y="614"/>
                  <a:pt x="785" y="657"/>
                  <a:pt x="807" y="691"/>
                </a:cubicBezTo>
                <a:cubicBezTo>
                  <a:pt x="834" y="732"/>
                  <a:pt x="876" y="767"/>
                  <a:pt x="906" y="807"/>
                </a:cubicBezTo>
                <a:cubicBezTo>
                  <a:pt x="920" y="864"/>
                  <a:pt x="933" y="922"/>
                  <a:pt x="947" y="979"/>
                </a:cubicBezTo>
                <a:cubicBezTo>
                  <a:pt x="942" y="1155"/>
                  <a:pt x="993" y="1228"/>
                  <a:pt x="873" y="1309"/>
                </a:cubicBezTo>
                <a:cubicBezTo>
                  <a:pt x="862" y="1354"/>
                  <a:pt x="854" y="1400"/>
                  <a:pt x="807" y="1415"/>
                </a:cubicBezTo>
                <a:cubicBezTo>
                  <a:pt x="771" y="1440"/>
                  <a:pt x="735" y="1441"/>
                  <a:pt x="692" y="1448"/>
                </a:cubicBezTo>
                <a:cubicBezTo>
                  <a:pt x="653" y="1462"/>
                  <a:pt x="608" y="1458"/>
                  <a:pt x="569" y="1473"/>
                </a:cubicBezTo>
                <a:cubicBezTo>
                  <a:pt x="561" y="1476"/>
                  <a:pt x="565" y="1491"/>
                  <a:pt x="560" y="1498"/>
                </a:cubicBezTo>
                <a:cubicBezTo>
                  <a:pt x="548" y="1513"/>
                  <a:pt x="533" y="1525"/>
                  <a:pt x="519" y="1539"/>
                </a:cubicBezTo>
                <a:cubicBezTo>
                  <a:pt x="478" y="1580"/>
                  <a:pt x="445" y="1629"/>
                  <a:pt x="404" y="1671"/>
                </a:cubicBezTo>
                <a:cubicBezTo>
                  <a:pt x="389" y="1687"/>
                  <a:pt x="360" y="1675"/>
                  <a:pt x="338" y="1679"/>
                </a:cubicBezTo>
                <a:cubicBezTo>
                  <a:pt x="316" y="1683"/>
                  <a:pt x="301" y="1688"/>
                  <a:pt x="281" y="1695"/>
                </a:cubicBezTo>
                <a:cubicBezTo>
                  <a:pt x="119" y="1685"/>
                  <a:pt x="165" y="1711"/>
                  <a:pt x="83" y="1629"/>
                </a:cubicBezTo>
                <a:cubicBezTo>
                  <a:pt x="72" y="1552"/>
                  <a:pt x="28" y="1485"/>
                  <a:pt x="9" y="1407"/>
                </a:cubicBezTo>
                <a:cubicBezTo>
                  <a:pt x="13" y="1265"/>
                  <a:pt x="0" y="1109"/>
                  <a:pt x="67" y="979"/>
                </a:cubicBezTo>
                <a:cubicBezTo>
                  <a:pt x="81" y="905"/>
                  <a:pt x="97" y="827"/>
                  <a:pt x="124" y="757"/>
                </a:cubicBezTo>
                <a:cubicBezTo>
                  <a:pt x="134" y="630"/>
                  <a:pt x="140" y="464"/>
                  <a:pt x="182" y="338"/>
                </a:cubicBezTo>
                <a:cubicBezTo>
                  <a:pt x="185" y="253"/>
                  <a:pt x="180" y="167"/>
                  <a:pt x="190" y="82"/>
                </a:cubicBezTo>
                <a:cubicBezTo>
                  <a:pt x="193" y="60"/>
                  <a:pt x="299" y="54"/>
                  <a:pt x="305" y="41"/>
                </a:cubicBezTo>
                <a:cubicBezTo>
                  <a:pt x="311" y="29"/>
                  <a:pt x="300" y="14"/>
                  <a:pt x="29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Xóa node 2 cây con</a:t>
            </a:r>
          </a:p>
        </p:txBody>
      </p:sp>
      <p:sp>
        <p:nvSpPr>
          <p:cNvPr id="72710" name="Rectangle 5"/>
          <p:cNvSpPr>
            <a:spLocks noGrp="1" noChangeArrowheads="1"/>
          </p:cNvSpPr>
          <p:nvPr>
            <p:ph idx="1"/>
          </p:nvPr>
        </p:nvSpPr>
        <p:spPr>
          <a:xfrm>
            <a:off x="4716463" y="1557338"/>
            <a:ext cx="4427537" cy="4176712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sz="2800" dirty="0" err="1"/>
              <a:t>Xóa</a:t>
            </a:r>
            <a:r>
              <a:rPr lang="en-US" sz="2800" dirty="0"/>
              <a:t> 36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800" b="1" dirty="0" err="1"/>
              <a:t>Bước</a:t>
            </a:r>
            <a:r>
              <a:rPr lang="en-US" sz="2800" b="1" dirty="0"/>
              <a:t> 2:</a:t>
            </a:r>
            <a:r>
              <a:rPr lang="en-US" sz="2800" dirty="0"/>
              <a:t> </a:t>
            </a:r>
            <a:r>
              <a:rPr lang="en-US" sz="2800" dirty="0" err="1"/>
              <a:t>Thay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node </a:t>
            </a:r>
            <a:r>
              <a:rPr lang="en-US" sz="2800" dirty="0" err="1"/>
              <a:t>thay</a:t>
            </a:r>
            <a:r>
              <a:rPr lang="en-US" sz="2800" dirty="0"/>
              <a:t> thế </a:t>
            </a:r>
            <a:r>
              <a:rPr lang="en-US" sz="2800" dirty="0" err="1"/>
              <a:t>cho</a:t>
            </a:r>
            <a:r>
              <a:rPr lang="en-US" sz="2800" dirty="0"/>
              <a:t> node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xóa</a:t>
            </a:r>
            <a:endParaRPr lang="en-US" sz="2800" dirty="0"/>
          </a:p>
        </p:txBody>
      </p:sp>
      <p:sp>
        <p:nvSpPr>
          <p:cNvPr id="72732" name="Slide Number Placeholder 2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C6B6A127-FE90-4CE9-8722-84BCFB816AEF}" type="slidenum">
              <a:rPr lang="en-US" smtClean="0">
                <a:solidFill>
                  <a:srgbClr val="FFFFFF"/>
                </a:solidFill>
              </a:rPr>
              <a:pPr eaLnBrk="1" hangingPunct="1"/>
              <a:t>44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>
            <a:off x="2124075" y="22034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5783" name="Oval 7"/>
          <p:cNvSpPr>
            <a:spLocks noChangeArrowheads="1"/>
          </p:cNvSpPr>
          <p:nvPr/>
        </p:nvSpPr>
        <p:spPr bwMode="auto">
          <a:xfrm>
            <a:off x="971550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5784" name="Oval 8"/>
          <p:cNvSpPr>
            <a:spLocks noChangeArrowheads="1"/>
          </p:cNvSpPr>
          <p:nvPr/>
        </p:nvSpPr>
        <p:spPr bwMode="auto">
          <a:xfrm>
            <a:off x="3348038" y="2995613"/>
            <a:ext cx="504825" cy="504825"/>
          </a:xfrm>
          <a:prstGeom prst="ellipse">
            <a:avLst/>
          </a:prstGeom>
          <a:solidFill>
            <a:srgbClr val="92D050"/>
          </a:solidFill>
          <a:ln w="9525">
            <a:solidFill>
              <a:srgbClr val="000099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5785" name="Oval 9"/>
          <p:cNvSpPr>
            <a:spLocks noChangeArrowheads="1"/>
          </p:cNvSpPr>
          <p:nvPr/>
        </p:nvSpPr>
        <p:spPr bwMode="auto">
          <a:xfrm>
            <a:off x="2524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auto">
          <a:xfrm>
            <a:off x="1835150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5787" name="Oval 11"/>
          <p:cNvSpPr>
            <a:spLocks noChangeArrowheads="1"/>
          </p:cNvSpPr>
          <p:nvPr/>
        </p:nvSpPr>
        <p:spPr bwMode="auto">
          <a:xfrm>
            <a:off x="26273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5788" name="Oval 12"/>
          <p:cNvSpPr>
            <a:spLocks noChangeArrowheads="1"/>
          </p:cNvSpPr>
          <p:nvPr/>
        </p:nvSpPr>
        <p:spPr bwMode="auto">
          <a:xfrm>
            <a:off x="4067175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75789" name="Oval 13"/>
          <p:cNvSpPr>
            <a:spLocks noChangeArrowheads="1"/>
          </p:cNvSpPr>
          <p:nvPr/>
        </p:nvSpPr>
        <p:spPr bwMode="auto">
          <a:xfrm>
            <a:off x="3060700" y="4724400"/>
            <a:ext cx="504825" cy="504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5790" name="Oval 14"/>
          <p:cNvSpPr>
            <a:spLocks noChangeArrowheads="1"/>
          </p:cNvSpPr>
          <p:nvPr/>
        </p:nvSpPr>
        <p:spPr bwMode="auto">
          <a:xfrm>
            <a:off x="1403350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72720" name="Line 15"/>
          <p:cNvSpPr>
            <a:spLocks noChangeShapeType="1"/>
          </p:cNvSpPr>
          <p:nvPr/>
        </p:nvSpPr>
        <p:spPr bwMode="auto">
          <a:xfrm flipH="1">
            <a:off x="1403350" y="2565400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1" name="Line 16"/>
          <p:cNvSpPr>
            <a:spLocks noChangeShapeType="1"/>
          </p:cNvSpPr>
          <p:nvPr/>
        </p:nvSpPr>
        <p:spPr bwMode="auto">
          <a:xfrm>
            <a:off x="2581275" y="2578100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2" name="Line 17"/>
          <p:cNvSpPr>
            <a:spLocks noChangeShapeType="1"/>
          </p:cNvSpPr>
          <p:nvPr/>
        </p:nvSpPr>
        <p:spPr bwMode="auto">
          <a:xfrm flipH="1">
            <a:off x="611188" y="3429000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3" name="Line 18"/>
          <p:cNvSpPr>
            <a:spLocks noChangeShapeType="1"/>
          </p:cNvSpPr>
          <p:nvPr/>
        </p:nvSpPr>
        <p:spPr bwMode="auto">
          <a:xfrm>
            <a:off x="1403350" y="3429000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4" name="Line 19"/>
          <p:cNvSpPr>
            <a:spLocks noChangeShapeType="1"/>
          </p:cNvSpPr>
          <p:nvPr/>
        </p:nvSpPr>
        <p:spPr bwMode="auto">
          <a:xfrm flipH="1">
            <a:off x="1763713" y="4365625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5" name="Line 20"/>
          <p:cNvSpPr>
            <a:spLocks noChangeShapeType="1"/>
          </p:cNvSpPr>
          <p:nvPr/>
        </p:nvSpPr>
        <p:spPr bwMode="auto">
          <a:xfrm flipH="1">
            <a:off x="3060700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6" name="Line 21"/>
          <p:cNvSpPr>
            <a:spLocks noChangeShapeType="1"/>
          </p:cNvSpPr>
          <p:nvPr/>
        </p:nvSpPr>
        <p:spPr bwMode="auto">
          <a:xfrm>
            <a:off x="3779838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8" name="Line 22"/>
          <p:cNvSpPr>
            <a:spLocks noChangeShapeType="1"/>
          </p:cNvSpPr>
          <p:nvPr/>
        </p:nvSpPr>
        <p:spPr bwMode="auto">
          <a:xfrm>
            <a:off x="2987675" y="4292600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9" name="Oval 23"/>
          <p:cNvSpPr>
            <a:spLocks noChangeArrowheads="1"/>
          </p:cNvSpPr>
          <p:nvPr/>
        </p:nvSpPr>
        <p:spPr bwMode="auto">
          <a:xfrm>
            <a:off x="2700338" y="54451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16</a:t>
            </a:r>
          </a:p>
        </p:txBody>
      </p:sp>
      <p:sp>
        <p:nvSpPr>
          <p:cNvPr id="75800" name="Line 24"/>
          <p:cNvSpPr>
            <a:spLocks noChangeShapeType="1"/>
          </p:cNvSpPr>
          <p:nvPr/>
        </p:nvSpPr>
        <p:spPr bwMode="auto">
          <a:xfrm flipH="1">
            <a:off x="3059113" y="5229225"/>
            <a:ext cx="217487" cy="2873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Left Arrow 1"/>
          <p:cNvSpPr/>
          <p:nvPr/>
        </p:nvSpPr>
        <p:spPr>
          <a:xfrm>
            <a:off x="3935945" y="2868787"/>
            <a:ext cx="2017883" cy="7918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</p:txBody>
      </p:sp>
      <p:sp>
        <p:nvSpPr>
          <p:cNvPr id="26" name="Left Arrow 25"/>
          <p:cNvSpPr/>
          <p:nvPr/>
        </p:nvSpPr>
        <p:spPr>
          <a:xfrm>
            <a:off x="3635204" y="4581525"/>
            <a:ext cx="2017883" cy="7918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 </a:t>
            </a:r>
            <a:r>
              <a:rPr lang="en-US" dirty="0" err="1"/>
              <a:t>thay</a:t>
            </a:r>
            <a:r>
              <a:rPr lang="en-US" dirty="0"/>
              <a:t> thế</a:t>
            </a:r>
          </a:p>
        </p:txBody>
      </p:sp>
    </p:spTree>
    <p:extLst>
      <p:ext uri="{BB962C8B-B14F-4D97-AF65-F5344CB8AC3E}">
        <p14:creationId xmlns:p14="http://schemas.microsoft.com/office/powerpoint/2010/main" val="1660517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03" name="Freeform 27"/>
          <p:cNvSpPr>
            <a:spLocks/>
          </p:cNvSpPr>
          <p:nvPr/>
        </p:nvSpPr>
        <p:spPr bwMode="auto">
          <a:xfrm>
            <a:off x="2268538" y="3552825"/>
            <a:ext cx="1871662" cy="2716213"/>
          </a:xfrm>
          <a:custGeom>
            <a:avLst/>
            <a:gdLst>
              <a:gd name="T0" fmla="*/ 2147483647 w 993"/>
              <a:gd name="T1" fmla="*/ 0 h 1711"/>
              <a:gd name="T2" fmla="*/ 2147483647 w 993"/>
              <a:gd name="T3" fmla="*/ 2147483647 h 1711"/>
              <a:gd name="T4" fmla="*/ 2147483647 w 993"/>
              <a:gd name="T5" fmla="*/ 2147483647 h 1711"/>
              <a:gd name="T6" fmla="*/ 2147483647 w 993"/>
              <a:gd name="T7" fmla="*/ 2147483647 h 1711"/>
              <a:gd name="T8" fmla="*/ 2147483647 w 993"/>
              <a:gd name="T9" fmla="*/ 2147483647 h 1711"/>
              <a:gd name="T10" fmla="*/ 2147483647 w 993"/>
              <a:gd name="T11" fmla="*/ 2147483647 h 1711"/>
              <a:gd name="T12" fmla="*/ 2147483647 w 993"/>
              <a:gd name="T13" fmla="*/ 2147483647 h 1711"/>
              <a:gd name="T14" fmla="*/ 2147483647 w 993"/>
              <a:gd name="T15" fmla="*/ 2147483647 h 1711"/>
              <a:gd name="T16" fmla="*/ 2147483647 w 993"/>
              <a:gd name="T17" fmla="*/ 2147483647 h 1711"/>
              <a:gd name="T18" fmla="*/ 2147483647 w 993"/>
              <a:gd name="T19" fmla="*/ 2147483647 h 1711"/>
              <a:gd name="T20" fmla="*/ 2147483647 w 993"/>
              <a:gd name="T21" fmla="*/ 2147483647 h 1711"/>
              <a:gd name="T22" fmla="*/ 2147483647 w 993"/>
              <a:gd name="T23" fmla="*/ 2147483647 h 1711"/>
              <a:gd name="T24" fmla="*/ 2147483647 w 993"/>
              <a:gd name="T25" fmla="*/ 2147483647 h 1711"/>
              <a:gd name="T26" fmla="*/ 2147483647 w 993"/>
              <a:gd name="T27" fmla="*/ 2147483647 h 1711"/>
              <a:gd name="T28" fmla="*/ 2147483647 w 993"/>
              <a:gd name="T29" fmla="*/ 2147483647 h 1711"/>
              <a:gd name="T30" fmla="*/ 2147483647 w 993"/>
              <a:gd name="T31" fmla="*/ 2147483647 h 1711"/>
              <a:gd name="T32" fmla="*/ 2147483647 w 993"/>
              <a:gd name="T33" fmla="*/ 2147483647 h 1711"/>
              <a:gd name="T34" fmla="*/ 2147483647 w 993"/>
              <a:gd name="T35" fmla="*/ 2147483647 h 1711"/>
              <a:gd name="T36" fmla="*/ 2147483647 w 993"/>
              <a:gd name="T37" fmla="*/ 2147483647 h 1711"/>
              <a:gd name="T38" fmla="*/ 2147483647 w 993"/>
              <a:gd name="T39" fmla="*/ 2147483647 h 1711"/>
              <a:gd name="T40" fmla="*/ 2147483647 w 993"/>
              <a:gd name="T41" fmla="*/ 2147483647 h 1711"/>
              <a:gd name="T42" fmla="*/ 2147483647 w 993"/>
              <a:gd name="T43" fmla="*/ 2147483647 h 1711"/>
              <a:gd name="T44" fmla="*/ 2147483647 w 993"/>
              <a:gd name="T45" fmla="*/ 2147483647 h 1711"/>
              <a:gd name="T46" fmla="*/ 2147483647 w 993"/>
              <a:gd name="T47" fmla="*/ 2147483647 h 1711"/>
              <a:gd name="T48" fmla="*/ 2147483647 w 993"/>
              <a:gd name="T49" fmla="*/ 2147483647 h 1711"/>
              <a:gd name="T50" fmla="*/ 2147483647 w 993"/>
              <a:gd name="T51" fmla="*/ 2147483647 h 1711"/>
              <a:gd name="T52" fmla="*/ 2147483647 w 993"/>
              <a:gd name="T53" fmla="*/ 0 h 171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993"/>
              <a:gd name="T82" fmla="*/ 0 h 1711"/>
              <a:gd name="T83" fmla="*/ 993 w 993"/>
              <a:gd name="T84" fmla="*/ 1711 h 1711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993" h="1711">
                <a:moveTo>
                  <a:pt x="297" y="0"/>
                </a:moveTo>
                <a:cubicBezTo>
                  <a:pt x="316" y="27"/>
                  <a:pt x="363" y="74"/>
                  <a:pt x="363" y="74"/>
                </a:cubicBezTo>
                <a:cubicBezTo>
                  <a:pt x="376" y="115"/>
                  <a:pt x="410" y="141"/>
                  <a:pt x="437" y="173"/>
                </a:cubicBezTo>
                <a:cubicBezTo>
                  <a:pt x="551" y="307"/>
                  <a:pt x="450" y="201"/>
                  <a:pt x="527" y="280"/>
                </a:cubicBezTo>
                <a:cubicBezTo>
                  <a:pt x="551" y="347"/>
                  <a:pt x="531" y="402"/>
                  <a:pt x="602" y="436"/>
                </a:cubicBezTo>
                <a:cubicBezTo>
                  <a:pt x="629" y="465"/>
                  <a:pt x="670" y="472"/>
                  <a:pt x="700" y="502"/>
                </a:cubicBezTo>
                <a:cubicBezTo>
                  <a:pt x="723" y="525"/>
                  <a:pt x="734" y="554"/>
                  <a:pt x="758" y="576"/>
                </a:cubicBezTo>
                <a:cubicBezTo>
                  <a:pt x="770" y="614"/>
                  <a:pt x="785" y="657"/>
                  <a:pt x="807" y="691"/>
                </a:cubicBezTo>
                <a:cubicBezTo>
                  <a:pt x="834" y="732"/>
                  <a:pt x="876" y="767"/>
                  <a:pt x="906" y="807"/>
                </a:cubicBezTo>
                <a:cubicBezTo>
                  <a:pt x="920" y="864"/>
                  <a:pt x="933" y="922"/>
                  <a:pt x="947" y="979"/>
                </a:cubicBezTo>
                <a:cubicBezTo>
                  <a:pt x="942" y="1155"/>
                  <a:pt x="993" y="1228"/>
                  <a:pt x="873" y="1309"/>
                </a:cubicBezTo>
                <a:cubicBezTo>
                  <a:pt x="862" y="1354"/>
                  <a:pt x="854" y="1400"/>
                  <a:pt x="807" y="1415"/>
                </a:cubicBezTo>
                <a:cubicBezTo>
                  <a:pt x="771" y="1440"/>
                  <a:pt x="735" y="1441"/>
                  <a:pt x="692" y="1448"/>
                </a:cubicBezTo>
                <a:cubicBezTo>
                  <a:pt x="653" y="1462"/>
                  <a:pt x="608" y="1458"/>
                  <a:pt x="569" y="1473"/>
                </a:cubicBezTo>
                <a:cubicBezTo>
                  <a:pt x="561" y="1476"/>
                  <a:pt x="565" y="1491"/>
                  <a:pt x="560" y="1498"/>
                </a:cubicBezTo>
                <a:cubicBezTo>
                  <a:pt x="548" y="1513"/>
                  <a:pt x="533" y="1525"/>
                  <a:pt x="519" y="1539"/>
                </a:cubicBezTo>
                <a:cubicBezTo>
                  <a:pt x="478" y="1580"/>
                  <a:pt x="445" y="1629"/>
                  <a:pt x="404" y="1671"/>
                </a:cubicBezTo>
                <a:cubicBezTo>
                  <a:pt x="389" y="1687"/>
                  <a:pt x="360" y="1675"/>
                  <a:pt x="338" y="1679"/>
                </a:cubicBezTo>
                <a:cubicBezTo>
                  <a:pt x="316" y="1683"/>
                  <a:pt x="301" y="1688"/>
                  <a:pt x="281" y="1695"/>
                </a:cubicBezTo>
                <a:cubicBezTo>
                  <a:pt x="119" y="1685"/>
                  <a:pt x="165" y="1711"/>
                  <a:pt x="83" y="1629"/>
                </a:cubicBezTo>
                <a:cubicBezTo>
                  <a:pt x="72" y="1552"/>
                  <a:pt x="28" y="1485"/>
                  <a:pt x="9" y="1407"/>
                </a:cubicBezTo>
                <a:cubicBezTo>
                  <a:pt x="13" y="1265"/>
                  <a:pt x="0" y="1109"/>
                  <a:pt x="67" y="979"/>
                </a:cubicBezTo>
                <a:cubicBezTo>
                  <a:pt x="81" y="905"/>
                  <a:pt x="97" y="827"/>
                  <a:pt x="124" y="757"/>
                </a:cubicBezTo>
                <a:cubicBezTo>
                  <a:pt x="134" y="630"/>
                  <a:pt x="140" y="464"/>
                  <a:pt x="182" y="338"/>
                </a:cubicBezTo>
                <a:cubicBezTo>
                  <a:pt x="185" y="253"/>
                  <a:pt x="180" y="167"/>
                  <a:pt x="190" y="82"/>
                </a:cubicBezTo>
                <a:cubicBezTo>
                  <a:pt x="193" y="60"/>
                  <a:pt x="299" y="54"/>
                  <a:pt x="305" y="41"/>
                </a:cubicBezTo>
                <a:cubicBezTo>
                  <a:pt x="311" y="29"/>
                  <a:pt x="300" y="14"/>
                  <a:pt x="29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Xóa node 2 cây con</a:t>
            </a:r>
          </a:p>
        </p:txBody>
      </p:sp>
      <p:sp>
        <p:nvSpPr>
          <p:cNvPr id="72710" name="Rectangle 5"/>
          <p:cNvSpPr>
            <a:spLocks noGrp="1" noChangeArrowheads="1"/>
          </p:cNvSpPr>
          <p:nvPr>
            <p:ph idx="1"/>
          </p:nvPr>
        </p:nvSpPr>
        <p:spPr>
          <a:xfrm>
            <a:off x="4716463" y="1557338"/>
            <a:ext cx="4427537" cy="4176712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sz="2800" dirty="0" err="1"/>
              <a:t>Xóa</a:t>
            </a:r>
            <a:r>
              <a:rPr lang="en-US" sz="2800" dirty="0"/>
              <a:t> 36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800" b="1" dirty="0" err="1"/>
              <a:t>Bước</a:t>
            </a:r>
            <a:r>
              <a:rPr lang="en-US" sz="2800" b="1" dirty="0"/>
              <a:t> 3:</a:t>
            </a:r>
            <a:r>
              <a:rPr lang="en-US" sz="2800" dirty="0"/>
              <a:t> </a:t>
            </a:r>
            <a:r>
              <a:rPr lang="en-US" sz="2800" dirty="0" err="1"/>
              <a:t>Xóa</a:t>
            </a:r>
            <a:r>
              <a:rPr lang="en-US" sz="2800" dirty="0"/>
              <a:t> node </a:t>
            </a:r>
            <a:r>
              <a:rPr lang="en-US" sz="2800" dirty="0" err="1"/>
              <a:t>thay</a:t>
            </a:r>
            <a:r>
              <a:rPr lang="en-US" sz="2800" dirty="0"/>
              <a:t> thế</a:t>
            </a:r>
          </a:p>
        </p:txBody>
      </p:sp>
      <p:sp>
        <p:nvSpPr>
          <p:cNvPr id="72732" name="Slide Number Placeholder 2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C6B6A127-FE90-4CE9-8722-84BCFB816AEF}" type="slidenum">
              <a:rPr lang="en-US" smtClean="0">
                <a:solidFill>
                  <a:srgbClr val="FFFFFF"/>
                </a:solidFill>
              </a:rPr>
              <a:pPr eaLnBrk="1" hangingPunct="1"/>
              <a:t>45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>
            <a:off x="2124075" y="220345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5783" name="Oval 7"/>
          <p:cNvSpPr>
            <a:spLocks noChangeArrowheads="1"/>
          </p:cNvSpPr>
          <p:nvPr/>
        </p:nvSpPr>
        <p:spPr bwMode="auto">
          <a:xfrm>
            <a:off x="971550" y="299561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5784" name="Oval 8"/>
          <p:cNvSpPr>
            <a:spLocks noChangeArrowheads="1"/>
          </p:cNvSpPr>
          <p:nvPr/>
        </p:nvSpPr>
        <p:spPr bwMode="auto">
          <a:xfrm>
            <a:off x="3348038" y="2995613"/>
            <a:ext cx="504825" cy="504825"/>
          </a:xfrm>
          <a:prstGeom prst="ellipse">
            <a:avLst/>
          </a:prstGeom>
          <a:solidFill>
            <a:srgbClr val="92D050"/>
          </a:solidFill>
          <a:ln w="9525">
            <a:solidFill>
              <a:srgbClr val="000099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5785" name="Oval 9"/>
          <p:cNvSpPr>
            <a:spLocks noChangeArrowheads="1"/>
          </p:cNvSpPr>
          <p:nvPr/>
        </p:nvSpPr>
        <p:spPr bwMode="auto">
          <a:xfrm>
            <a:off x="2524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auto">
          <a:xfrm>
            <a:off x="1835150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5787" name="Oval 11"/>
          <p:cNvSpPr>
            <a:spLocks noChangeArrowheads="1"/>
          </p:cNvSpPr>
          <p:nvPr/>
        </p:nvSpPr>
        <p:spPr bwMode="auto">
          <a:xfrm>
            <a:off x="2627313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5788" name="Oval 12"/>
          <p:cNvSpPr>
            <a:spLocks noChangeArrowheads="1"/>
          </p:cNvSpPr>
          <p:nvPr/>
        </p:nvSpPr>
        <p:spPr bwMode="auto">
          <a:xfrm>
            <a:off x="4067175" y="38608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75789" name="Oval 13"/>
          <p:cNvSpPr>
            <a:spLocks noChangeArrowheads="1"/>
          </p:cNvSpPr>
          <p:nvPr/>
        </p:nvSpPr>
        <p:spPr bwMode="auto">
          <a:xfrm>
            <a:off x="3060700" y="4724400"/>
            <a:ext cx="504825" cy="504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5790" name="Oval 14"/>
          <p:cNvSpPr>
            <a:spLocks noChangeArrowheads="1"/>
          </p:cNvSpPr>
          <p:nvPr/>
        </p:nvSpPr>
        <p:spPr bwMode="auto">
          <a:xfrm>
            <a:off x="1403350" y="4724400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72720" name="Line 15"/>
          <p:cNvSpPr>
            <a:spLocks noChangeShapeType="1"/>
          </p:cNvSpPr>
          <p:nvPr/>
        </p:nvSpPr>
        <p:spPr bwMode="auto">
          <a:xfrm flipH="1">
            <a:off x="1403350" y="2565400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1" name="Line 16"/>
          <p:cNvSpPr>
            <a:spLocks noChangeShapeType="1"/>
          </p:cNvSpPr>
          <p:nvPr/>
        </p:nvSpPr>
        <p:spPr bwMode="auto">
          <a:xfrm>
            <a:off x="2581275" y="2578100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2" name="Line 17"/>
          <p:cNvSpPr>
            <a:spLocks noChangeShapeType="1"/>
          </p:cNvSpPr>
          <p:nvPr/>
        </p:nvSpPr>
        <p:spPr bwMode="auto">
          <a:xfrm flipH="1">
            <a:off x="611188" y="3429000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3" name="Line 18"/>
          <p:cNvSpPr>
            <a:spLocks noChangeShapeType="1"/>
          </p:cNvSpPr>
          <p:nvPr/>
        </p:nvSpPr>
        <p:spPr bwMode="auto">
          <a:xfrm>
            <a:off x="1403350" y="3429000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4" name="Line 19"/>
          <p:cNvSpPr>
            <a:spLocks noChangeShapeType="1"/>
          </p:cNvSpPr>
          <p:nvPr/>
        </p:nvSpPr>
        <p:spPr bwMode="auto">
          <a:xfrm flipH="1">
            <a:off x="1763713" y="4365625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5" name="Line 20"/>
          <p:cNvSpPr>
            <a:spLocks noChangeShapeType="1"/>
          </p:cNvSpPr>
          <p:nvPr/>
        </p:nvSpPr>
        <p:spPr bwMode="auto">
          <a:xfrm flipH="1">
            <a:off x="3060700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6" name="Line 21"/>
          <p:cNvSpPr>
            <a:spLocks noChangeShapeType="1"/>
          </p:cNvSpPr>
          <p:nvPr/>
        </p:nvSpPr>
        <p:spPr bwMode="auto">
          <a:xfrm>
            <a:off x="3779838" y="3429000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8" name="Line 22"/>
          <p:cNvSpPr>
            <a:spLocks noChangeShapeType="1"/>
          </p:cNvSpPr>
          <p:nvPr/>
        </p:nvSpPr>
        <p:spPr bwMode="auto">
          <a:xfrm>
            <a:off x="2987675" y="4292600"/>
            <a:ext cx="215900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9" name="Oval 23"/>
          <p:cNvSpPr>
            <a:spLocks noChangeArrowheads="1"/>
          </p:cNvSpPr>
          <p:nvPr/>
        </p:nvSpPr>
        <p:spPr bwMode="auto">
          <a:xfrm>
            <a:off x="2700338" y="5445125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16</a:t>
            </a:r>
          </a:p>
        </p:txBody>
      </p:sp>
      <p:sp>
        <p:nvSpPr>
          <p:cNvPr id="75800" name="Line 24"/>
          <p:cNvSpPr>
            <a:spLocks noChangeShapeType="1"/>
          </p:cNvSpPr>
          <p:nvPr/>
        </p:nvSpPr>
        <p:spPr bwMode="auto">
          <a:xfrm flipH="1">
            <a:off x="3059113" y="5229225"/>
            <a:ext cx="217487" cy="2873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Left Arrow 1"/>
          <p:cNvSpPr/>
          <p:nvPr/>
        </p:nvSpPr>
        <p:spPr>
          <a:xfrm>
            <a:off x="3642642" y="4570745"/>
            <a:ext cx="2017883" cy="7918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Xóa</a:t>
            </a:r>
            <a:endParaRPr lang="en-US" dirty="0"/>
          </a:p>
        </p:txBody>
      </p:sp>
      <p:cxnSp>
        <p:nvCxnSpPr>
          <p:cNvPr id="4" name="Curved Connector 3"/>
          <p:cNvCxnSpPr>
            <a:stCxn id="75798" idx="0"/>
            <a:endCxn id="75800" idx="1"/>
          </p:cNvCxnSpPr>
          <p:nvPr/>
        </p:nvCxnSpPr>
        <p:spPr>
          <a:xfrm rot="16200000" flipH="1">
            <a:off x="2411413" y="4868862"/>
            <a:ext cx="1223963" cy="71438"/>
          </a:xfrm>
          <a:prstGeom prst="curvedConnector3">
            <a:avLst>
              <a:gd name="adj1" fmla="val 39068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3044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Xóa node 2 cây con</a:t>
            </a:r>
          </a:p>
        </p:txBody>
      </p:sp>
      <p:sp>
        <p:nvSpPr>
          <p:cNvPr id="72710" name="Rectangle 5"/>
          <p:cNvSpPr>
            <a:spLocks noGrp="1" noChangeArrowheads="1"/>
          </p:cNvSpPr>
          <p:nvPr>
            <p:ph idx="1"/>
          </p:nvPr>
        </p:nvSpPr>
        <p:spPr>
          <a:xfrm>
            <a:off x="2322065" y="1725866"/>
            <a:ext cx="4427537" cy="646112"/>
          </a:xfrm>
        </p:spPr>
        <p:txBody>
          <a:bodyPr/>
          <a:lstStyle/>
          <a:p>
            <a:pPr marL="609600" indent="-609600" algn="ctr" eaLnBrk="1" hangingPunct="1">
              <a:buFont typeface="Wingdings" pitchFamily="2" charset="2"/>
              <a:buNone/>
            </a:pP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: </a:t>
            </a:r>
            <a:r>
              <a:rPr lang="en-US" sz="2800" dirty="0" err="1"/>
              <a:t>xóa</a:t>
            </a:r>
            <a:r>
              <a:rPr lang="en-US" sz="2800" dirty="0"/>
              <a:t> 36</a:t>
            </a:r>
          </a:p>
        </p:txBody>
      </p:sp>
      <p:sp>
        <p:nvSpPr>
          <p:cNvPr id="72732" name="Slide Number Placeholder 2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C6B6A127-FE90-4CE9-8722-84BCFB816AEF}" type="slidenum">
              <a:rPr lang="en-US" smtClean="0">
                <a:solidFill>
                  <a:srgbClr val="FFFFFF"/>
                </a:solidFill>
              </a:rPr>
              <a:pPr eaLnBrk="1" hangingPunct="1"/>
              <a:t>46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>
            <a:off x="4283422" y="263547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75783" name="Oval 7"/>
          <p:cNvSpPr>
            <a:spLocks noChangeArrowheads="1"/>
          </p:cNvSpPr>
          <p:nvPr/>
        </p:nvSpPr>
        <p:spPr bwMode="auto">
          <a:xfrm>
            <a:off x="3130897" y="3427636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5784" name="Oval 8"/>
          <p:cNvSpPr>
            <a:spLocks noChangeArrowheads="1"/>
          </p:cNvSpPr>
          <p:nvPr/>
        </p:nvSpPr>
        <p:spPr bwMode="auto">
          <a:xfrm>
            <a:off x="5507385" y="3427636"/>
            <a:ext cx="504825" cy="504825"/>
          </a:xfrm>
          <a:prstGeom prst="ellipse">
            <a:avLst/>
          </a:prstGeom>
          <a:solidFill>
            <a:srgbClr val="92D050"/>
          </a:solidFill>
          <a:ln w="9525">
            <a:solidFill>
              <a:srgbClr val="000099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23</a:t>
            </a:r>
          </a:p>
        </p:txBody>
      </p:sp>
      <p:sp>
        <p:nvSpPr>
          <p:cNvPr id="75785" name="Oval 9"/>
          <p:cNvSpPr>
            <a:spLocks noChangeArrowheads="1"/>
          </p:cNvSpPr>
          <p:nvPr/>
        </p:nvSpPr>
        <p:spPr bwMode="auto">
          <a:xfrm>
            <a:off x="2411760" y="42928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auto">
          <a:xfrm>
            <a:off x="3994497" y="42928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99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5787" name="Oval 11"/>
          <p:cNvSpPr>
            <a:spLocks noChangeArrowheads="1"/>
          </p:cNvSpPr>
          <p:nvPr/>
        </p:nvSpPr>
        <p:spPr bwMode="auto">
          <a:xfrm>
            <a:off x="4786660" y="42928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75788" name="Oval 12"/>
          <p:cNvSpPr>
            <a:spLocks noChangeArrowheads="1"/>
          </p:cNvSpPr>
          <p:nvPr/>
        </p:nvSpPr>
        <p:spPr bwMode="auto">
          <a:xfrm>
            <a:off x="6226522" y="42928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75790" name="Oval 14"/>
          <p:cNvSpPr>
            <a:spLocks noChangeArrowheads="1"/>
          </p:cNvSpPr>
          <p:nvPr/>
        </p:nvSpPr>
        <p:spPr bwMode="auto">
          <a:xfrm>
            <a:off x="3562697" y="5156423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72720" name="Line 15"/>
          <p:cNvSpPr>
            <a:spLocks noChangeShapeType="1"/>
          </p:cNvSpPr>
          <p:nvPr/>
        </p:nvSpPr>
        <p:spPr bwMode="auto">
          <a:xfrm flipH="1">
            <a:off x="3562697" y="2997423"/>
            <a:ext cx="792163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1" name="Line 16"/>
          <p:cNvSpPr>
            <a:spLocks noChangeShapeType="1"/>
          </p:cNvSpPr>
          <p:nvPr/>
        </p:nvSpPr>
        <p:spPr bwMode="auto">
          <a:xfrm>
            <a:off x="4740622" y="3010123"/>
            <a:ext cx="838200" cy="4905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2" name="Line 17"/>
          <p:cNvSpPr>
            <a:spLocks noChangeShapeType="1"/>
          </p:cNvSpPr>
          <p:nvPr/>
        </p:nvSpPr>
        <p:spPr bwMode="auto">
          <a:xfrm flipH="1">
            <a:off x="2770535" y="3861023"/>
            <a:ext cx="433387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3" name="Line 18"/>
          <p:cNvSpPr>
            <a:spLocks noChangeShapeType="1"/>
          </p:cNvSpPr>
          <p:nvPr/>
        </p:nvSpPr>
        <p:spPr bwMode="auto">
          <a:xfrm>
            <a:off x="3562697" y="3861023"/>
            <a:ext cx="504825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4" name="Line 19"/>
          <p:cNvSpPr>
            <a:spLocks noChangeShapeType="1"/>
          </p:cNvSpPr>
          <p:nvPr/>
        </p:nvSpPr>
        <p:spPr bwMode="auto">
          <a:xfrm flipH="1">
            <a:off x="3923060" y="4797648"/>
            <a:ext cx="21590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5" name="Line 20"/>
          <p:cNvSpPr>
            <a:spLocks noChangeShapeType="1"/>
          </p:cNvSpPr>
          <p:nvPr/>
        </p:nvSpPr>
        <p:spPr bwMode="auto">
          <a:xfrm flipH="1">
            <a:off x="5220047" y="3861023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26" name="Line 21"/>
          <p:cNvSpPr>
            <a:spLocks noChangeShapeType="1"/>
          </p:cNvSpPr>
          <p:nvPr/>
        </p:nvSpPr>
        <p:spPr bwMode="auto">
          <a:xfrm>
            <a:off x="5939185" y="3861023"/>
            <a:ext cx="431800" cy="5032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9" name="Oval 23"/>
          <p:cNvSpPr>
            <a:spLocks noChangeArrowheads="1"/>
          </p:cNvSpPr>
          <p:nvPr/>
        </p:nvSpPr>
        <p:spPr bwMode="auto">
          <a:xfrm>
            <a:off x="5361336" y="5114141"/>
            <a:ext cx="504825" cy="504825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16</a:t>
            </a:r>
          </a:p>
        </p:txBody>
      </p:sp>
      <p:sp>
        <p:nvSpPr>
          <p:cNvPr id="28" name="Line 21"/>
          <p:cNvSpPr>
            <a:spLocks noChangeShapeType="1"/>
          </p:cNvSpPr>
          <p:nvPr/>
        </p:nvSpPr>
        <p:spPr bwMode="auto">
          <a:xfrm>
            <a:off x="5073998" y="4724623"/>
            <a:ext cx="503236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984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335838" cy="1325563"/>
          </a:xfrm>
        </p:spPr>
        <p:txBody>
          <a:bodyPr/>
          <a:lstStyle/>
          <a:p>
            <a:r>
              <a:rPr lang="en-US" dirty="0"/>
              <a:t>VD </a:t>
            </a:r>
            <a:r>
              <a:rPr lang="en-US" dirty="0" err="1"/>
              <a:t>xóa</a:t>
            </a:r>
            <a:r>
              <a:rPr lang="en-US" dirty="0"/>
              <a:t> node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NPTK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28650" y="1412776"/>
            <a:ext cx="3449983" cy="430887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MyIntBinaryTree</a:t>
            </a:r>
            <a:endParaRPr lang="en-US" sz="2200" dirty="0"/>
          </a:p>
        </p:txBody>
      </p:sp>
      <p:sp>
        <p:nvSpPr>
          <p:cNvPr id="3" name="Rectangle 2"/>
          <p:cNvSpPr/>
          <p:nvPr/>
        </p:nvSpPr>
        <p:spPr>
          <a:xfrm>
            <a:off x="628650" y="1834251"/>
            <a:ext cx="804780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Remove(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x)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(root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root.Data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== x)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{</a:t>
            </a:r>
          </a:p>
          <a:p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(0);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tmp.left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root;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bool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kq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root.Remove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(x,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root 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tmp.left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kq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root.Remove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(x,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960653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7504" y="800120"/>
            <a:ext cx="892899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	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Remove(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parent)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(x &lt; 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(left !=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left.Remove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(x,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(x &gt; 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(right !=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right.Remove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(x,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9632" y="188640"/>
            <a:ext cx="2672526" cy="430887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MyIntTNode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494939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1253073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(left !=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right !=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{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right.MinValue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(); 	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right.Remove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parent.left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parent.left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(left !=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? left : right;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parent.right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parent.right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(left !=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? left : right;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5148064" y="116632"/>
            <a:ext cx="3960440" cy="1754326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MinValue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(left ==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left.MinValue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8907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Content Placeholder 2"/>
          <p:cNvSpPr>
            <a:spLocks noGrp="1"/>
          </p:cNvSpPr>
          <p:nvPr>
            <p:ph idx="1"/>
          </p:nvPr>
        </p:nvSpPr>
        <p:spPr>
          <a:xfrm>
            <a:off x="467544" y="620688"/>
            <a:ext cx="8424936" cy="6237312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</a:pPr>
            <a:r>
              <a:rPr lang="en-US" dirty="0"/>
              <a:t>Cho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sang </a:t>
            </a:r>
            <a:r>
              <a:rPr lang="en-US" dirty="0" err="1"/>
              <a:t>phải</a:t>
            </a:r>
            <a:r>
              <a:rPr lang="en-US" dirty="0"/>
              <a:t>:  </a:t>
            </a:r>
            <a:r>
              <a:rPr lang="en-US" b="1" dirty="0"/>
              <a:t>20, 15, 35, 30, 11, 13, 17, 36, 47, 16, 38, 28, 14</a:t>
            </a:r>
            <a:endParaRPr lang="en-US" dirty="0"/>
          </a:p>
          <a:p>
            <a:pPr algn="just"/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trên</a:t>
            </a:r>
            <a:endParaRPr lang="en-US" dirty="0"/>
          </a:p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,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2</a:t>
            </a:r>
          </a:p>
          <a:p>
            <a:pPr algn="just"/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: 25 </a:t>
            </a:r>
            <a:r>
              <a:rPr lang="en-US" dirty="0" err="1"/>
              <a:t>và</a:t>
            </a:r>
            <a:r>
              <a:rPr lang="en-US" dirty="0"/>
              <a:t> 91</a:t>
            </a:r>
          </a:p>
          <a:p>
            <a:pPr algn="just"/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: </a:t>
            </a:r>
            <a:r>
              <a:rPr lang="en-US" b="1" dirty="0"/>
              <a:t>11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35</a:t>
            </a:r>
            <a:endParaRPr lang="en-US" dirty="0"/>
          </a:p>
          <a:p>
            <a:pPr algn="just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680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10546FBA-83BC-403E-BF3B-85DF5C21C887}" type="slidenum">
              <a:rPr lang="en-US" smtClean="0">
                <a:solidFill>
                  <a:srgbClr val="FFFFFF"/>
                </a:solidFill>
              </a:rPr>
              <a:pPr eaLnBrk="1" hangingPunct="1"/>
              <a:t>50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MyBinaryTree</a:t>
            </a:r>
            <a:r>
              <a:rPr lang="en-US" dirty="0"/>
              <a:t> (</a:t>
            </a:r>
            <a:r>
              <a:rPr lang="en-US" i="1" dirty="0" err="1"/>
              <a:t>mỗi</a:t>
            </a:r>
            <a:r>
              <a:rPr lang="en-US" i="1" dirty="0"/>
              <a:t> node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giá</a:t>
            </a:r>
            <a:r>
              <a:rPr lang="en-US" i="1" dirty="0"/>
              <a:t> </a:t>
            </a:r>
            <a:r>
              <a:rPr lang="en-US" i="1" dirty="0" err="1"/>
              <a:t>trị</a:t>
            </a:r>
            <a:r>
              <a:rPr lang="en-US" i="1" dirty="0"/>
              <a:t> </a:t>
            </a:r>
            <a:r>
              <a:rPr lang="en-US" i="1" dirty="0" err="1"/>
              <a:t>kiểu</a:t>
            </a:r>
            <a:r>
              <a:rPr lang="en-US" i="1" dirty="0"/>
              <a:t> </a:t>
            </a:r>
            <a:r>
              <a:rPr lang="en-US" i="1" dirty="0" err="1"/>
              <a:t>chung</a:t>
            </a:r>
            <a:r>
              <a:rPr lang="en-US" dirty="0"/>
              <a:t>)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</a:t>
            </a:r>
          </a:p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pPr algn="just"/>
            <a:r>
              <a:rPr lang="en-US" dirty="0" err="1"/>
              <a:t>Xóa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2737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3634"/>
          </a:xfrm>
        </p:spPr>
        <p:txBody>
          <a:bodyPr/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2"/>
            <a:ext cx="7886700" cy="552472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Thao </a:t>
            </a:r>
            <a:r>
              <a:rPr lang="en-US" sz="2600" dirty="0" err="1"/>
              <a:t>tác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kiếm</a:t>
            </a:r>
            <a:r>
              <a:rPr lang="en-US" sz="2600" dirty="0"/>
              <a:t>, </a:t>
            </a:r>
            <a:r>
              <a:rPr lang="en-US" sz="2600" dirty="0" err="1"/>
              <a:t>thêm</a:t>
            </a:r>
            <a:r>
              <a:rPr lang="en-US" sz="2600" dirty="0"/>
              <a:t> </a:t>
            </a:r>
            <a:r>
              <a:rPr lang="en-US" sz="2600" dirty="0" err="1"/>
              <a:t>mới</a:t>
            </a:r>
            <a:r>
              <a:rPr lang="en-US" sz="2600" dirty="0"/>
              <a:t>, </a:t>
            </a:r>
            <a:r>
              <a:rPr lang="en-US" sz="2600" dirty="0" err="1"/>
              <a:t>xóa</a:t>
            </a:r>
            <a:r>
              <a:rPr lang="en-US" sz="2600" dirty="0"/>
              <a:t> </a:t>
            </a:r>
            <a:r>
              <a:rPr lang="en-US" sz="2600" dirty="0" err="1"/>
              <a:t>đều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độ</a:t>
            </a:r>
            <a:r>
              <a:rPr lang="en-US" sz="2600" dirty="0"/>
              <a:t> </a:t>
            </a:r>
            <a:r>
              <a:rPr lang="en-US" sz="2600" dirty="0" err="1"/>
              <a:t>phức</a:t>
            </a:r>
            <a:r>
              <a:rPr lang="en-US" sz="2600" dirty="0"/>
              <a:t> </a:t>
            </a:r>
            <a:r>
              <a:rPr lang="en-US" sz="2600" dirty="0" err="1"/>
              <a:t>tạp</a:t>
            </a:r>
            <a:r>
              <a:rPr lang="en-US" sz="2600" dirty="0"/>
              <a:t> </a:t>
            </a:r>
            <a:r>
              <a:rPr lang="en-US" sz="2600" dirty="0" err="1"/>
              <a:t>trung</a:t>
            </a:r>
            <a:r>
              <a:rPr lang="en-US" sz="2600" dirty="0"/>
              <a:t> </a:t>
            </a:r>
            <a:r>
              <a:rPr lang="en-US" sz="2600" dirty="0" err="1"/>
              <a:t>bình</a:t>
            </a:r>
            <a:r>
              <a:rPr lang="en-US" sz="2600" dirty="0"/>
              <a:t> O(h)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 TH </a:t>
            </a:r>
            <a:r>
              <a:rPr lang="en-US" sz="2600" dirty="0" err="1"/>
              <a:t>tốt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r>
              <a:rPr lang="en-US" sz="2600" dirty="0"/>
              <a:t>,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n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sẽ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độ</a:t>
            </a:r>
            <a:r>
              <a:rPr lang="en-US" sz="2600" dirty="0"/>
              <a:t> </a:t>
            </a:r>
            <a:r>
              <a:rPr lang="en-US" sz="2600" dirty="0" err="1"/>
              <a:t>cao</a:t>
            </a:r>
            <a:r>
              <a:rPr lang="en-US" sz="2600" dirty="0"/>
              <a:t> h = log</a:t>
            </a:r>
            <a:r>
              <a:rPr lang="en-US" sz="2600" baseline="-25000" dirty="0"/>
              <a:t>2</a:t>
            </a:r>
            <a:r>
              <a:rPr lang="en-US" sz="2600" dirty="0"/>
              <a:t>(n)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/>
              <a:t>Chi </a:t>
            </a:r>
            <a:r>
              <a:rPr lang="en-US" sz="2600" dirty="0" err="1"/>
              <a:t>phí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kiếm</a:t>
            </a:r>
            <a:r>
              <a:rPr lang="en-US" sz="2600" dirty="0"/>
              <a:t> </a:t>
            </a:r>
            <a:r>
              <a:rPr lang="en-US" sz="2600" dirty="0" err="1"/>
              <a:t>sẽ</a:t>
            </a:r>
            <a:r>
              <a:rPr lang="en-US" sz="2600" dirty="0"/>
              <a:t> </a:t>
            </a:r>
            <a:r>
              <a:rPr lang="en-US" sz="2600" dirty="0" err="1"/>
              <a:t>tương</a:t>
            </a:r>
            <a:r>
              <a:rPr lang="en-US" sz="2600" dirty="0"/>
              <a:t> </a:t>
            </a:r>
            <a:r>
              <a:rPr lang="en-US" sz="2600" dirty="0" err="1"/>
              <a:t>đương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nhị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mảng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TH </a:t>
            </a:r>
            <a:r>
              <a:rPr lang="en-US" sz="2600" dirty="0" err="1"/>
              <a:t>xấu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r>
              <a:rPr lang="en-US" sz="2600" dirty="0"/>
              <a:t>,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bị</a:t>
            </a:r>
            <a:r>
              <a:rPr lang="en-US" sz="2600" dirty="0"/>
              <a:t> </a:t>
            </a:r>
            <a:r>
              <a:rPr lang="en-US" sz="2600" dirty="0" err="1"/>
              <a:t>suy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</a:t>
            </a:r>
            <a:r>
              <a:rPr lang="en-US" sz="2600" dirty="0" err="1"/>
              <a:t>thành</a:t>
            </a:r>
            <a:r>
              <a:rPr lang="en-US" sz="2600" dirty="0"/>
              <a:t> 1 DSLK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thao</a:t>
            </a:r>
            <a:r>
              <a:rPr lang="en-US" sz="2600" dirty="0"/>
              <a:t> </a:t>
            </a:r>
            <a:r>
              <a:rPr lang="en-US" sz="2600" dirty="0" err="1"/>
              <a:t>tác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sẽ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độ</a:t>
            </a:r>
            <a:r>
              <a:rPr lang="en-US" sz="2600" dirty="0"/>
              <a:t> </a:t>
            </a:r>
            <a:r>
              <a:rPr lang="en-US" sz="2600" dirty="0" err="1"/>
              <a:t>phức</a:t>
            </a:r>
            <a:r>
              <a:rPr lang="en-US" sz="2600" dirty="0"/>
              <a:t> </a:t>
            </a:r>
            <a:r>
              <a:rPr lang="en-US" sz="2600" dirty="0" err="1"/>
              <a:t>tạp</a:t>
            </a:r>
            <a:r>
              <a:rPr lang="en-US" sz="2600" dirty="0"/>
              <a:t> O(n)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 err="1"/>
              <a:t>Vì</a:t>
            </a:r>
            <a:r>
              <a:rPr lang="en-US" sz="2600" dirty="0"/>
              <a:t> </a:t>
            </a:r>
            <a:r>
              <a:rPr lang="en-US" sz="2600" dirty="0" err="1"/>
              <a:t>vậy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cải</a:t>
            </a:r>
            <a:r>
              <a:rPr lang="en-US" sz="2600" dirty="0"/>
              <a:t> </a:t>
            </a:r>
            <a:r>
              <a:rPr lang="en-US" sz="2600" dirty="0" err="1"/>
              <a:t>tiến</a:t>
            </a:r>
            <a:r>
              <a:rPr lang="en-US" sz="2600" dirty="0"/>
              <a:t> </a:t>
            </a:r>
            <a:r>
              <a:rPr lang="en-US" sz="2600" dirty="0" err="1"/>
              <a:t>cấu</a:t>
            </a:r>
            <a:r>
              <a:rPr lang="en-US" sz="2600" dirty="0"/>
              <a:t> </a:t>
            </a:r>
            <a:r>
              <a:rPr lang="en-US" sz="2600" dirty="0" err="1"/>
              <a:t>trúc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CNPTK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đạt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chi </a:t>
            </a:r>
            <a:r>
              <a:rPr lang="en-US" sz="2600" dirty="0" err="1"/>
              <a:t>phí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thao</a:t>
            </a:r>
            <a:r>
              <a:rPr lang="en-US" sz="2600" dirty="0"/>
              <a:t> </a:t>
            </a:r>
            <a:r>
              <a:rPr lang="en-US" sz="2600" dirty="0" err="1"/>
              <a:t>tác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log</a:t>
            </a:r>
            <a:r>
              <a:rPr lang="en-US" sz="2600" baseline="-25000" dirty="0"/>
              <a:t>2</a:t>
            </a:r>
            <a:r>
              <a:rPr lang="en-US" sz="2600" dirty="0"/>
              <a:t>(n)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03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E82A97-E8DB-4275-AAC4-77FA5826B6CB}"/>
</file>

<file path=customXml/itemProps2.xml><?xml version="1.0" encoding="utf-8"?>
<ds:datastoreItem xmlns:ds="http://schemas.openxmlformats.org/officeDocument/2006/customXml" ds:itemID="{31D84E01-CE88-4B4D-8223-D7B8F4DDF446}"/>
</file>

<file path=customXml/itemProps3.xml><?xml version="1.0" encoding="utf-8"?>
<ds:datastoreItem xmlns:ds="http://schemas.openxmlformats.org/officeDocument/2006/customXml" ds:itemID="{02C5A9B1-B755-467A-84E1-6215D16A039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4396</TotalTime>
  <Words>2978</Words>
  <Application>Microsoft Macintosh PowerPoint</Application>
  <PresentationFormat>On-screen Show (4:3)</PresentationFormat>
  <Paragraphs>792</Paragraphs>
  <Slides>52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Arial Unicode MS</vt:lpstr>
      <vt:lpstr>Arial</vt:lpstr>
      <vt:lpstr>Calibri</vt:lpstr>
      <vt:lpstr>Calibri Light</vt:lpstr>
      <vt:lpstr>Consolas</vt:lpstr>
      <vt:lpstr>Tahoma</vt:lpstr>
      <vt:lpstr>Times New Roman</vt:lpstr>
      <vt:lpstr>Wingdings</vt:lpstr>
      <vt:lpstr>Office Theme</vt:lpstr>
      <vt:lpstr>Bài 6: Cây nhị phân tìm kiếm – Phần 1</vt:lpstr>
      <vt:lpstr>Nội dung</vt:lpstr>
      <vt:lpstr>Khái niệm</vt:lpstr>
      <vt:lpstr>Khái niệm</vt:lpstr>
      <vt:lpstr>Đặc điểm của cây nhị phân</vt:lpstr>
      <vt:lpstr>Biểu diễn cây nhị phân</vt:lpstr>
      <vt:lpstr>Cấu trúc của một node</vt:lpstr>
      <vt:lpstr>Ví dụ khai báo node chứa giá trị nguyên</vt:lpstr>
      <vt:lpstr>Cây nhị phân tìm kiếm</vt:lpstr>
      <vt:lpstr>Các thao tác cơ bản</vt:lpstr>
      <vt:lpstr>Tạo cây</vt:lpstr>
      <vt:lpstr>Vẽ cây nhị phân tìm kiếm</vt:lpstr>
      <vt:lpstr>Khai báo cấu trúc cây nhị phân</vt:lpstr>
      <vt:lpstr>Chèn một phần tử có giá trị x vào cây: TNode(x)</vt:lpstr>
      <vt:lpstr>Tạo TNode có giá trị x</vt:lpstr>
      <vt:lpstr>PowerPoint Presentation</vt:lpstr>
      <vt:lpstr>PowerPoint Presentation</vt:lpstr>
      <vt:lpstr>Bài tập</vt:lpstr>
      <vt:lpstr>Duyệt cây</vt:lpstr>
      <vt:lpstr>PowerPoint Presentation</vt:lpstr>
      <vt:lpstr>Hàm duyệt NLR</vt:lpstr>
      <vt:lpstr>Bài tập</vt:lpstr>
      <vt:lpstr>VD duyệt NLR cây NPTK số nguyên</vt:lpstr>
      <vt:lpstr>PowerPoint Presentation</vt:lpstr>
      <vt:lpstr>Hàm duyệt LNR</vt:lpstr>
      <vt:lpstr>PowerPoint Presentation</vt:lpstr>
      <vt:lpstr>Hàm duyệt LRN</vt:lpstr>
      <vt:lpstr>Bài tập</vt:lpstr>
      <vt:lpstr>Kiểm tra kết quả duyệt bằng cách xây dựng lại cây nhị phân từ kết quả duyệt</vt:lpstr>
      <vt:lpstr>Bài tập</vt:lpstr>
      <vt:lpstr>Tìm kiếm</vt:lpstr>
      <vt:lpstr>Ví dụ tìm x = 23</vt:lpstr>
      <vt:lpstr>Bài tập</vt:lpstr>
      <vt:lpstr>Tìm node có giá trị x</vt:lpstr>
      <vt:lpstr>PowerPoint Presentation</vt:lpstr>
      <vt:lpstr>Tìm node có giá trị lớn nhất</vt:lpstr>
      <vt:lpstr>PowerPoint Presentation</vt:lpstr>
      <vt:lpstr>Xóa node trên cây</vt:lpstr>
      <vt:lpstr>Xóa node lá</vt:lpstr>
      <vt:lpstr>Xóa node 1 cây con</vt:lpstr>
      <vt:lpstr>Xóa node 1 cây con</vt:lpstr>
      <vt:lpstr>Xóa node có 2 cây con</vt:lpstr>
      <vt:lpstr>Xóa node 2 cây con</vt:lpstr>
      <vt:lpstr>Xóa node 2 cây con</vt:lpstr>
      <vt:lpstr>Xóa node 2 cây con</vt:lpstr>
      <vt:lpstr>Xóa node 2 cây con</vt:lpstr>
      <vt:lpstr>VD xóa node trên cây NPTK số nguyên</vt:lpstr>
      <vt:lpstr>PowerPoint Presentation</vt:lpstr>
      <vt:lpstr>PowerPoint Presentation</vt:lpstr>
      <vt:lpstr>PowerPoint Presentation</vt:lpstr>
      <vt:lpstr>Bài tập</vt:lpstr>
      <vt:lpstr>Đánh giá</vt:lpstr>
    </vt:vector>
  </TitlesOfParts>
  <Company>itc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CÂY NHỊ PHÂN TÌM KIẾM</dc:title>
  <dc:creator>w2000Pro</dc:creator>
  <cp:lastModifiedBy>HUFLIT - Thái Trần Minh</cp:lastModifiedBy>
  <cp:revision>192</cp:revision>
  <dcterms:created xsi:type="dcterms:W3CDTF">2006-12-06T00:42:10Z</dcterms:created>
  <dcterms:modified xsi:type="dcterms:W3CDTF">2021-07-29T03:18:34Z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