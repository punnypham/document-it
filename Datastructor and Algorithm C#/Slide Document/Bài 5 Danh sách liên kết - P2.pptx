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43"/>
  </p:notesMasterIdLst>
  <p:sldIdLst>
    <p:sldId id="256" r:id="rId5"/>
    <p:sldId id="257" r:id="rId6"/>
    <p:sldId id="258" r:id="rId7"/>
    <p:sldId id="259" r:id="rId8"/>
    <p:sldId id="260" r:id="rId9"/>
    <p:sldId id="261" r:id="rId10"/>
    <p:sldId id="283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84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421" r:id="rId31"/>
    <p:sldId id="422" r:id="rId32"/>
    <p:sldId id="423" r:id="rId33"/>
    <p:sldId id="424" r:id="rId34"/>
    <p:sldId id="426" r:id="rId35"/>
    <p:sldId id="427" r:id="rId36"/>
    <p:sldId id="280" r:id="rId37"/>
    <p:sldId id="409" r:id="rId38"/>
    <p:sldId id="410" r:id="rId39"/>
    <p:sldId id="428" r:id="rId40"/>
    <p:sldId id="281" r:id="rId41"/>
    <p:sldId id="282" r:id="rId4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94"/>
    <p:restoredTop sz="92939"/>
  </p:normalViewPr>
  <p:slideViewPr>
    <p:cSldViewPr snapToGrid="0">
      <p:cViewPr varScale="1">
        <p:scale>
          <a:sx n="107" d="100"/>
          <a:sy n="107" d="100"/>
        </p:scale>
        <p:origin x="144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6F515D57-507F-4F4A-B520-BE6CADE7C76C}"/>
    <pc:docChg chg="modSld">
      <pc:chgData name="Loc Huynh" userId="80c0383e323bd6ea" providerId="LiveId" clId="{6F515D57-507F-4F4A-B520-BE6CADE7C76C}" dt="2022-10-18T04:05:40.665" v="21" actId="20577"/>
      <pc:docMkLst>
        <pc:docMk/>
      </pc:docMkLst>
      <pc:sldChg chg="modSp mod">
        <pc:chgData name="Loc Huynh" userId="80c0383e323bd6ea" providerId="LiveId" clId="{6F515D57-507F-4F4A-B520-BE6CADE7C76C}" dt="2022-10-18T04:05:40.665" v="21" actId="20577"/>
        <pc:sldMkLst>
          <pc:docMk/>
          <pc:sldMk cId="0" sldId="274"/>
        </pc:sldMkLst>
        <pc:spChg chg="mod">
          <ac:chgData name="Loc Huynh" userId="80c0383e323bd6ea" providerId="LiveId" clId="{6F515D57-507F-4F4A-B520-BE6CADE7C76C}" dt="2022-10-18T04:05:40.665" v="21" actId="20577"/>
          <ac:spMkLst>
            <pc:docMk/>
            <pc:sldMk cId="0" sldId="274"/>
            <ac:spMk id="4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19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19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23888" y="1489075"/>
            <a:ext cx="38671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23888" y="2193926"/>
            <a:ext cx="3867150" cy="397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2248" y="1489075"/>
            <a:ext cx="386834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2248" y="2193926"/>
            <a:ext cx="3868340" cy="397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29841" y="2101850"/>
            <a:ext cx="2949178" cy="3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29841" y="2101850"/>
            <a:ext cx="2949178" cy="3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19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19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61950" algn="l" rtl="0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nhthai@itc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817581" y="1219200"/>
            <a:ext cx="7945419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8288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Arial"/>
              <a:buNone/>
            </a:pPr>
            <a:r>
              <a:rPr lang="en-US" sz="4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4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5: </a:t>
            </a:r>
            <a:r>
              <a:rPr lang="en-US" sz="4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Danh</a:t>
            </a:r>
            <a:r>
              <a:rPr lang="en-US" sz="4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sách</a:t>
            </a:r>
            <a:r>
              <a:rPr lang="en-US" sz="4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liên</a:t>
            </a:r>
            <a:r>
              <a:rPr lang="en-US" sz="4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4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48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Phần</a:t>
            </a:r>
            <a:r>
              <a:rPr lang="en-US" sz="48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914400" y="4191000"/>
            <a:ext cx="7848600" cy="174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TS. Trần Minh Thái - </a:t>
            </a:r>
            <a:r>
              <a:rPr lang="en-US" sz="3200" b="0" i="0" u="sng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minhthai@huflit.edu.vn</a:t>
            </a:r>
            <a:endParaRPr sz="3200" b="0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294356" y="6488668"/>
            <a:ext cx="3732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Cập</a:t>
            </a:r>
            <a:r>
              <a:rPr lang="en-US" sz="1800" b="0" i="0" u="none" strike="noStrike" cap="none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 err="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nhật</a:t>
            </a:r>
            <a:r>
              <a:rPr lang="en-US" sz="1800" b="0" i="0" u="none" strike="noStrike" cap="none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b="0" i="0" u="none" strike="noStrike" cap="none" dirty="0" err="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ngày</a:t>
            </a:r>
            <a:r>
              <a:rPr lang="en-US" sz="1800" b="0" i="0" u="none" strike="noStrike" cap="none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20 tháng 10 </a:t>
            </a:r>
            <a:r>
              <a:rPr lang="en-US" sz="1800" b="0" i="0" u="none" strike="noStrike" cap="none" dirty="0" err="1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năm</a:t>
            </a:r>
            <a:r>
              <a:rPr lang="en-US" sz="1800" b="0" i="0" u="none" strike="noStrike" cap="none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 2020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Nội dung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viên sẽ được trình bày, hiểu và vận dụng vào lập trình một số kỹ thuật sau để xử lý trên DSLK đơn: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Chèn thêm một node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 một node</a:t>
            </a:r>
            <a:endParaRPr/>
          </a:p>
          <a:p>
            <a:pPr marL="514350" marR="0" lvl="0" indent="-514350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Sắp xếp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6350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 node vào DSLK đơn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Chèn vào sau node p</a:t>
            </a:r>
            <a:endParaRPr/>
          </a:p>
          <a:p>
            <a:pPr marL="171450" marR="0" lvl="0" indent="-20320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Chèn vào trước node p</a:t>
            </a:r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199065" y="3973284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2751364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260850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784850" y="39896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308850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15"/>
          <p:cNvCxnSpPr>
            <a:stCxn id="106" idx="3"/>
            <a:endCxn id="107" idx="1"/>
          </p:cNvCxnSpPr>
          <p:nvPr/>
        </p:nvCxnSpPr>
        <p:spPr>
          <a:xfrm>
            <a:off x="2022751" y="4201884"/>
            <a:ext cx="728700" cy="108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112" name="Google Shape;112;p15"/>
          <p:cNvCxnSpPr/>
          <p:nvPr/>
        </p:nvCxnSpPr>
        <p:spPr>
          <a:xfrm>
            <a:off x="3575050" y="4194631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113" name="Google Shape;113;p15"/>
          <p:cNvCxnSpPr/>
          <p:nvPr/>
        </p:nvCxnSpPr>
        <p:spPr>
          <a:xfrm>
            <a:off x="5099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114" name="Google Shape;114;p15"/>
          <p:cNvCxnSpPr/>
          <p:nvPr/>
        </p:nvCxnSpPr>
        <p:spPr>
          <a:xfrm>
            <a:off x="6623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grpSp>
        <p:nvGrpSpPr>
          <p:cNvPr id="115" name="Google Shape;115;p15"/>
          <p:cNvGrpSpPr/>
          <p:nvPr/>
        </p:nvGrpSpPr>
        <p:grpSpPr>
          <a:xfrm>
            <a:off x="337705" y="5695890"/>
            <a:ext cx="2757055" cy="1085910"/>
            <a:chOff x="214745" y="4724400"/>
            <a:chExt cx="2757055" cy="1085910"/>
          </a:xfrm>
        </p:grpSpPr>
        <p:sp>
          <p:nvSpPr>
            <p:cNvPr id="116" name="Google Shape;116;p15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1053619" y="5410200"/>
              <a:ext cx="9108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dirty="0"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2120364" y="5410200"/>
              <a:ext cx="744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dirty="0"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/>
            </a:p>
          </p:txBody>
        </p:sp>
      </p:grpSp>
      <p:cxnSp>
        <p:nvCxnSpPr>
          <p:cNvPr id="122" name="Google Shape;122;p15"/>
          <p:cNvCxnSpPr>
            <a:stCxn id="117" idx="0"/>
          </p:cNvCxnSpPr>
          <p:nvPr/>
        </p:nvCxnSpPr>
        <p:spPr>
          <a:xfrm rot="-5400000">
            <a:off x="899461" y="5136990"/>
            <a:ext cx="1417800" cy="48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23" name="Google Shape;123;p15"/>
          <p:cNvCxnSpPr>
            <a:stCxn id="119" idx="3"/>
          </p:cNvCxnSpPr>
          <p:nvPr/>
        </p:nvCxnSpPr>
        <p:spPr>
          <a:xfrm rot="10800000" flipH="1">
            <a:off x="2943034" y="4419690"/>
            <a:ext cx="4777800" cy="1695300"/>
          </a:xfrm>
          <a:prstGeom prst="bentConnector2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124" name="Google Shape;124;p15"/>
          <p:cNvGrpSpPr/>
          <p:nvPr/>
        </p:nvGrpSpPr>
        <p:grpSpPr>
          <a:xfrm>
            <a:off x="8141607" y="3966031"/>
            <a:ext cx="411843" cy="457200"/>
            <a:chOff x="7924800" y="6206835"/>
            <a:chExt cx="411843" cy="457200"/>
          </a:xfrm>
        </p:grpSpPr>
        <p:sp>
          <p:nvSpPr>
            <p:cNvPr id="125" name="Google Shape;125;p15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" name="Google Shape;126;p1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27" name="Google Shape;127;p15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1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129" name="Google Shape;129;p15"/>
          <p:cNvSpPr/>
          <p:nvPr/>
        </p:nvSpPr>
        <p:spPr>
          <a:xfrm>
            <a:off x="6211207" y="21336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7043964" y="2137231"/>
            <a:ext cx="411843" cy="457200"/>
            <a:chOff x="7924800" y="6206835"/>
            <a:chExt cx="411843" cy="457200"/>
          </a:xfrm>
        </p:grpSpPr>
        <p:sp>
          <p:nvSpPr>
            <p:cNvPr id="131" name="Google Shape;131;p15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1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33" name="Google Shape;133;p15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15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135" name="Google Shape;135;p15"/>
          <p:cNvCxnSpPr/>
          <p:nvPr/>
        </p:nvCxnSpPr>
        <p:spPr>
          <a:xfrm rot="10800000">
            <a:off x="6782932" y="2590800"/>
            <a:ext cx="1065000" cy="533400"/>
          </a:xfrm>
          <a:prstGeom prst="bentConnector2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36" name="Google Shape;136;p15"/>
          <p:cNvSpPr txBox="1"/>
          <p:nvPr/>
        </p:nvSpPr>
        <p:spPr>
          <a:xfrm>
            <a:off x="7854859" y="2872758"/>
            <a:ext cx="9380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pNew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5"/>
          <p:cNvCxnSpPr>
            <a:endCxn id="108" idx="0"/>
          </p:cNvCxnSpPr>
          <p:nvPr/>
        </p:nvCxnSpPr>
        <p:spPr>
          <a:xfrm flipH="1">
            <a:off x="4672693" y="3505068"/>
            <a:ext cx="2400" cy="479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38" name="Google Shape;138;p15"/>
          <p:cNvSpPr txBox="1"/>
          <p:nvPr/>
        </p:nvSpPr>
        <p:spPr>
          <a:xfrm>
            <a:off x="4497805" y="2991208"/>
            <a:ext cx="3497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 node vào sau node p</a:t>
            </a:r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1199065" y="3973284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751364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260850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84850" y="39896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308850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6"/>
          <p:cNvCxnSpPr>
            <a:stCxn id="145" idx="3"/>
            <a:endCxn id="146" idx="1"/>
          </p:cNvCxnSpPr>
          <p:nvPr/>
        </p:nvCxnSpPr>
        <p:spPr>
          <a:xfrm>
            <a:off x="2022751" y="4201884"/>
            <a:ext cx="728700" cy="108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151" name="Google Shape;151;p16"/>
          <p:cNvCxnSpPr/>
          <p:nvPr/>
        </p:nvCxnSpPr>
        <p:spPr>
          <a:xfrm>
            <a:off x="3575050" y="4194631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152" name="Google Shape;152;p16"/>
          <p:cNvCxnSpPr/>
          <p:nvPr/>
        </p:nvCxnSpPr>
        <p:spPr>
          <a:xfrm>
            <a:off x="5099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153" name="Google Shape;153;p16"/>
          <p:cNvCxnSpPr/>
          <p:nvPr/>
        </p:nvCxnSpPr>
        <p:spPr>
          <a:xfrm>
            <a:off x="6623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grpSp>
        <p:nvGrpSpPr>
          <p:cNvPr id="154" name="Google Shape;154;p16"/>
          <p:cNvGrpSpPr/>
          <p:nvPr/>
        </p:nvGrpSpPr>
        <p:grpSpPr>
          <a:xfrm>
            <a:off x="337705" y="5695890"/>
            <a:ext cx="2757055" cy="1085910"/>
            <a:chOff x="214745" y="4724400"/>
            <a:chExt cx="2757055" cy="1085910"/>
          </a:xfrm>
        </p:grpSpPr>
        <p:sp>
          <p:nvSpPr>
            <p:cNvPr id="155" name="Google Shape;155;p16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1053619" y="5410200"/>
              <a:ext cx="9108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dirty="0"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2120364" y="5410200"/>
              <a:ext cx="744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dirty="0"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/>
            </a:p>
          </p:txBody>
        </p:sp>
      </p:grpSp>
      <p:cxnSp>
        <p:nvCxnSpPr>
          <p:cNvPr id="161" name="Google Shape;161;p16"/>
          <p:cNvCxnSpPr>
            <a:stCxn id="156" idx="0"/>
          </p:cNvCxnSpPr>
          <p:nvPr/>
        </p:nvCxnSpPr>
        <p:spPr>
          <a:xfrm rot="-5400000">
            <a:off x="899461" y="5136990"/>
            <a:ext cx="1417800" cy="48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62" name="Google Shape;162;p16"/>
          <p:cNvCxnSpPr>
            <a:stCxn id="158" idx="3"/>
          </p:cNvCxnSpPr>
          <p:nvPr/>
        </p:nvCxnSpPr>
        <p:spPr>
          <a:xfrm rot="10800000" flipH="1">
            <a:off x="2943034" y="4419690"/>
            <a:ext cx="4777800" cy="1695300"/>
          </a:xfrm>
          <a:prstGeom prst="bentConnector2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163" name="Google Shape;163;p16"/>
          <p:cNvGrpSpPr/>
          <p:nvPr/>
        </p:nvGrpSpPr>
        <p:grpSpPr>
          <a:xfrm>
            <a:off x="8141607" y="3966031"/>
            <a:ext cx="411843" cy="457200"/>
            <a:chOff x="7924800" y="6206835"/>
            <a:chExt cx="411843" cy="457200"/>
          </a:xfrm>
        </p:grpSpPr>
        <p:sp>
          <p:nvSpPr>
            <p:cNvPr id="164" name="Google Shape;164;p16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5" name="Google Shape;165;p16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66" name="Google Shape;166;p1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7" name="Google Shape;167;p16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168" name="Google Shape;168;p16"/>
          <p:cNvSpPr/>
          <p:nvPr/>
        </p:nvSpPr>
        <p:spPr>
          <a:xfrm>
            <a:off x="6211207" y="21336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16"/>
          <p:cNvGrpSpPr/>
          <p:nvPr/>
        </p:nvGrpSpPr>
        <p:grpSpPr>
          <a:xfrm>
            <a:off x="7043964" y="2137231"/>
            <a:ext cx="411843" cy="457200"/>
            <a:chOff x="7924800" y="6206835"/>
            <a:chExt cx="411843" cy="457200"/>
          </a:xfrm>
        </p:grpSpPr>
        <p:sp>
          <p:nvSpPr>
            <p:cNvPr id="170" name="Google Shape;170;p16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6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72" name="Google Shape;172;p1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3" name="Google Shape;173;p16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174" name="Google Shape;174;p16"/>
          <p:cNvCxnSpPr/>
          <p:nvPr/>
        </p:nvCxnSpPr>
        <p:spPr>
          <a:xfrm rot="10800000">
            <a:off x="6782932" y="2590800"/>
            <a:ext cx="1065000" cy="533400"/>
          </a:xfrm>
          <a:prstGeom prst="bentConnector2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75" name="Google Shape;175;p16"/>
          <p:cNvSpPr txBox="1"/>
          <p:nvPr/>
        </p:nvSpPr>
        <p:spPr>
          <a:xfrm>
            <a:off x="7854859" y="2872758"/>
            <a:ext cx="9380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pNew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16"/>
          <p:cNvCxnSpPr>
            <a:endCxn id="147" idx="0"/>
          </p:cNvCxnSpPr>
          <p:nvPr/>
        </p:nvCxnSpPr>
        <p:spPr>
          <a:xfrm flipH="1">
            <a:off x="4672693" y="3505068"/>
            <a:ext cx="2400" cy="479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77" name="Google Shape;177;p16"/>
          <p:cNvSpPr txBox="1"/>
          <p:nvPr/>
        </p:nvSpPr>
        <p:spPr>
          <a:xfrm>
            <a:off x="4497805" y="2991208"/>
            <a:ext cx="3497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5527265" y="2328863"/>
            <a:ext cx="2030221" cy="1871662"/>
          </a:xfrm>
          <a:custGeom>
            <a:avLst/>
            <a:gdLst/>
            <a:ahLst/>
            <a:cxnLst/>
            <a:rect l="l" t="t" r="r" b="b"/>
            <a:pathLst>
              <a:path w="2030221" h="1871662" extrusionOk="0">
                <a:moveTo>
                  <a:pt x="1487898" y="0"/>
                </a:moveTo>
                <a:cubicBezTo>
                  <a:pt x="1835560" y="242887"/>
                  <a:pt x="2183223" y="485774"/>
                  <a:pt x="1959385" y="700087"/>
                </a:cubicBezTo>
                <a:cubicBezTo>
                  <a:pt x="1735547" y="914400"/>
                  <a:pt x="430623" y="1090613"/>
                  <a:pt x="144873" y="1285875"/>
                </a:cubicBezTo>
                <a:cubicBezTo>
                  <a:pt x="-140877" y="1481137"/>
                  <a:pt x="52004" y="1676399"/>
                  <a:pt x="244885" y="1871662"/>
                </a:cubicBezTo>
              </a:path>
            </a:pathLst>
          </a:custGeom>
          <a:noFill/>
          <a:ln w="44450" cap="flat" cmpd="sng">
            <a:solidFill>
              <a:srgbClr val="FF0000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 rot="10800000" flipH="1">
            <a:off x="4954550" y="2348767"/>
            <a:ext cx="1234352" cy="1842234"/>
          </a:xfrm>
          <a:custGeom>
            <a:avLst/>
            <a:gdLst/>
            <a:ahLst/>
            <a:cxnLst/>
            <a:rect l="l" t="t" r="r" b="b"/>
            <a:pathLst>
              <a:path w="1234352" h="1619682" extrusionOk="0">
                <a:moveTo>
                  <a:pt x="198189" y="0"/>
                </a:moveTo>
                <a:cubicBezTo>
                  <a:pt x="545851" y="242887"/>
                  <a:pt x="-144463" y="946099"/>
                  <a:pt x="28231" y="1216046"/>
                </a:cubicBezTo>
                <a:cubicBezTo>
                  <a:pt x="200925" y="1485993"/>
                  <a:pt x="1022883" y="1475596"/>
                  <a:pt x="1234352" y="1619682"/>
                </a:cubicBezTo>
              </a:path>
            </a:pathLst>
          </a:custGeom>
          <a:noFill/>
          <a:ln w="44450" cap="flat" cmpd="sng">
            <a:solidFill>
              <a:srgbClr val="FF0000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 node vào sau node p</a:t>
            </a:r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node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dirty="0"/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thúc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i="1" dirty="0" err="1"/>
              <a:t>Ngược</a:t>
            </a:r>
            <a:r>
              <a:rPr lang="en-US" sz="2600" i="1" dirty="0"/>
              <a:t> </a:t>
            </a:r>
            <a:r>
              <a:rPr lang="en-US" sz="2600" i="1" dirty="0" err="1"/>
              <a:t>lại</a:t>
            </a:r>
            <a:r>
              <a:rPr lang="en-US" sz="2600" i="1" dirty="0"/>
              <a:t>:</a:t>
            </a: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p.pNext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pSau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63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7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0581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đặt phương thức thêm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pNew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vào sau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3750" y="1564481"/>
            <a:ext cx="9067800" cy="452431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InsertAfterP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p, 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newNode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dirty="0"/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400" dirty="0">
                <a:latin typeface="Consolas" panose="020B0609020204030204" pitchFamily="49" charset="0"/>
              </a:rPr>
              <a:t> (p == last)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InsertLast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newNode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 	{</a:t>
            </a:r>
          </a:p>
          <a:p>
            <a:r>
              <a:rPr lang="fr-FR" sz="2400" dirty="0">
                <a:latin typeface="Consolas" panose="020B0609020204030204" pitchFamily="49" charset="0"/>
              </a:rPr>
              <a:t>		Node&lt;T&gt; </a:t>
            </a:r>
            <a:r>
              <a:rPr lang="fr-FR" sz="2400" dirty="0" err="1">
                <a:latin typeface="Consolas" panose="020B0609020204030204" pitchFamily="49" charset="0"/>
              </a:rPr>
              <a:t>pSau</a:t>
            </a:r>
            <a:r>
              <a:rPr lang="fr-FR" sz="2400" dirty="0">
                <a:latin typeface="Consolas" panose="020B0609020204030204" pitchFamily="49" charset="0"/>
              </a:rPr>
              <a:t> = </a:t>
            </a:r>
            <a:r>
              <a:rPr lang="fr-FR" sz="2400" dirty="0" err="1">
                <a:latin typeface="Consolas" panose="020B0609020204030204" pitchFamily="49" charset="0"/>
              </a:rPr>
              <a:t>p.Next</a:t>
            </a:r>
            <a:r>
              <a:rPr lang="fr-FR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	</a:t>
            </a:r>
            <a:r>
              <a:rPr lang="en-US" sz="2400" dirty="0" err="1">
                <a:latin typeface="Consolas" panose="020B0609020204030204" pitchFamily="49" charset="0"/>
              </a:rPr>
              <a:t>newNode.Next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pSau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	</a:t>
            </a:r>
            <a:r>
              <a:rPr lang="en-US" sz="2400" dirty="0" err="1">
                <a:latin typeface="Consolas" panose="020B0609020204030204" pitchFamily="49" charset="0"/>
              </a:rPr>
              <a:t>p.Next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newNode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	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9CB5-7ABD-40CA-89F2-3098D7A8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024AF-7144-468F-AFA2-FB0F5A1C2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0785"/>
          </a:xfrm>
        </p:spPr>
        <p:txBody>
          <a:bodyPr/>
          <a:lstStyle/>
          <a:p>
            <a:pPr marL="25400" indent="0" algn="just">
              <a:buNone/>
            </a:pPr>
            <a:r>
              <a:rPr lang="en-US" dirty="0"/>
              <a:t>Cho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,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:</a:t>
            </a:r>
          </a:p>
          <a:p>
            <a:pPr marL="539750" indent="-514350" algn="just">
              <a:buAutoNum type="arabicPeriod"/>
            </a:pP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marL="539750" indent="-514350" algn="just">
              <a:buAutoNum type="arabicPeriod"/>
            </a:pPr>
            <a:r>
              <a:rPr lang="en-US" dirty="0" err="1"/>
              <a:t>Chèn</a:t>
            </a:r>
            <a:r>
              <a:rPr lang="en-US" dirty="0"/>
              <a:t> x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y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y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8E057-CDB5-4851-8221-8C46EDFC3F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6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1642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 node vào trước node p – Cách 1</a:t>
            </a:r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1199065" y="3973284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751364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260850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84850" y="39896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308850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9"/>
          <p:cNvCxnSpPr>
            <a:stCxn id="201" idx="3"/>
            <a:endCxn id="202" idx="1"/>
          </p:cNvCxnSpPr>
          <p:nvPr/>
        </p:nvCxnSpPr>
        <p:spPr>
          <a:xfrm>
            <a:off x="2022751" y="4201884"/>
            <a:ext cx="728700" cy="108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07" name="Google Shape;207;p19"/>
          <p:cNvCxnSpPr/>
          <p:nvPr/>
        </p:nvCxnSpPr>
        <p:spPr>
          <a:xfrm>
            <a:off x="3575050" y="4194631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08" name="Google Shape;208;p19"/>
          <p:cNvCxnSpPr/>
          <p:nvPr/>
        </p:nvCxnSpPr>
        <p:spPr>
          <a:xfrm>
            <a:off x="5099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09" name="Google Shape;209;p19"/>
          <p:cNvCxnSpPr/>
          <p:nvPr/>
        </p:nvCxnSpPr>
        <p:spPr>
          <a:xfrm>
            <a:off x="6623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grpSp>
        <p:nvGrpSpPr>
          <p:cNvPr id="210" name="Google Shape;210;p19"/>
          <p:cNvGrpSpPr/>
          <p:nvPr/>
        </p:nvGrpSpPr>
        <p:grpSpPr>
          <a:xfrm>
            <a:off x="337705" y="5695890"/>
            <a:ext cx="2757055" cy="1085910"/>
            <a:chOff x="214745" y="4724400"/>
            <a:chExt cx="2757055" cy="1085910"/>
          </a:xfrm>
        </p:grpSpPr>
        <p:sp>
          <p:nvSpPr>
            <p:cNvPr id="211" name="Google Shape;211;p19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1053619" y="5410200"/>
              <a:ext cx="9108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dirty="0"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2120364" y="5410200"/>
              <a:ext cx="744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dirty="0"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/>
            </a:p>
          </p:txBody>
        </p:sp>
      </p:grpSp>
      <p:cxnSp>
        <p:nvCxnSpPr>
          <p:cNvPr id="217" name="Google Shape;217;p19"/>
          <p:cNvCxnSpPr>
            <a:stCxn id="212" idx="0"/>
          </p:cNvCxnSpPr>
          <p:nvPr/>
        </p:nvCxnSpPr>
        <p:spPr>
          <a:xfrm rot="-5400000">
            <a:off x="899461" y="5136990"/>
            <a:ext cx="1417800" cy="48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18" name="Google Shape;218;p19"/>
          <p:cNvCxnSpPr>
            <a:stCxn id="214" idx="3"/>
          </p:cNvCxnSpPr>
          <p:nvPr/>
        </p:nvCxnSpPr>
        <p:spPr>
          <a:xfrm rot="10800000" flipH="1">
            <a:off x="2943034" y="4419690"/>
            <a:ext cx="4777800" cy="1695300"/>
          </a:xfrm>
          <a:prstGeom prst="bentConnector2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219" name="Google Shape;219;p19"/>
          <p:cNvGrpSpPr/>
          <p:nvPr/>
        </p:nvGrpSpPr>
        <p:grpSpPr>
          <a:xfrm>
            <a:off x="8141607" y="3966031"/>
            <a:ext cx="411843" cy="457200"/>
            <a:chOff x="7924800" y="6206835"/>
            <a:chExt cx="411843" cy="457200"/>
          </a:xfrm>
        </p:grpSpPr>
        <p:sp>
          <p:nvSpPr>
            <p:cNvPr id="220" name="Google Shape;220;p19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" name="Google Shape;221;p1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22" name="Google Shape;222;p19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3" name="Google Shape;223;p19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224" name="Google Shape;224;p19"/>
          <p:cNvSpPr/>
          <p:nvPr/>
        </p:nvSpPr>
        <p:spPr>
          <a:xfrm>
            <a:off x="6211207" y="21336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19"/>
          <p:cNvGrpSpPr/>
          <p:nvPr/>
        </p:nvGrpSpPr>
        <p:grpSpPr>
          <a:xfrm>
            <a:off x="7043964" y="2137231"/>
            <a:ext cx="411843" cy="457200"/>
            <a:chOff x="7924800" y="6206835"/>
            <a:chExt cx="411843" cy="457200"/>
          </a:xfrm>
        </p:grpSpPr>
        <p:sp>
          <p:nvSpPr>
            <p:cNvPr id="226" name="Google Shape;226;p19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7" name="Google Shape;227;p19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28" name="Google Shape;228;p19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9" name="Google Shape;229;p19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230" name="Google Shape;230;p19"/>
          <p:cNvCxnSpPr/>
          <p:nvPr/>
        </p:nvCxnSpPr>
        <p:spPr>
          <a:xfrm rot="10800000">
            <a:off x="6782932" y="2590800"/>
            <a:ext cx="1065000" cy="533400"/>
          </a:xfrm>
          <a:prstGeom prst="bentConnector2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31" name="Google Shape;231;p19"/>
          <p:cNvSpPr txBox="1"/>
          <p:nvPr/>
        </p:nvSpPr>
        <p:spPr>
          <a:xfrm>
            <a:off x="7854859" y="2872758"/>
            <a:ext cx="9380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pNew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9"/>
          <p:cNvCxnSpPr/>
          <p:nvPr/>
        </p:nvCxnSpPr>
        <p:spPr>
          <a:xfrm flipH="1">
            <a:off x="6225912" y="3505200"/>
            <a:ext cx="2267" cy="478968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33" name="Google Shape;233;p19"/>
          <p:cNvSpPr txBox="1"/>
          <p:nvPr/>
        </p:nvSpPr>
        <p:spPr>
          <a:xfrm>
            <a:off x="6051024" y="2991208"/>
            <a:ext cx="3497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5527265" y="2328863"/>
            <a:ext cx="2030221" cy="1871662"/>
          </a:xfrm>
          <a:custGeom>
            <a:avLst/>
            <a:gdLst/>
            <a:ahLst/>
            <a:cxnLst/>
            <a:rect l="l" t="t" r="r" b="b"/>
            <a:pathLst>
              <a:path w="2030221" h="1871662" extrusionOk="0">
                <a:moveTo>
                  <a:pt x="1487898" y="0"/>
                </a:moveTo>
                <a:cubicBezTo>
                  <a:pt x="1835560" y="242887"/>
                  <a:pt x="2183223" y="485774"/>
                  <a:pt x="1959385" y="700087"/>
                </a:cubicBezTo>
                <a:cubicBezTo>
                  <a:pt x="1735547" y="914400"/>
                  <a:pt x="430623" y="1090613"/>
                  <a:pt x="144873" y="1285875"/>
                </a:cubicBezTo>
                <a:cubicBezTo>
                  <a:pt x="-140877" y="1481137"/>
                  <a:pt x="52004" y="1676399"/>
                  <a:pt x="244885" y="1871662"/>
                </a:cubicBezTo>
              </a:path>
            </a:pathLst>
          </a:custGeom>
          <a:noFill/>
          <a:ln w="44450" cap="flat" cmpd="sng">
            <a:solidFill>
              <a:srgbClr val="FF0000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 rot="10800000" flipH="1">
            <a:off x="4954550" y="2348767"/>
            <a:ext cx="1234352" cy="1842234"/>
          </a:xfrm>
          <a:custGeom>
            <a:avLst/>
            <a:gdLst/>
            <a:ahLst/>
            <a:cxnLst/>
            <a:rect l="l" t="t" r="r" b="b"/>
            <a:pathLst>
              <a:path w="1234352" h="1619682" extrusionOk="0">
                <a:moveTo>
                  <a:pt x="198189" y="0"/>
                </a:moveTo>
                <a:cubicBezTo>
                  <a:pt x="545851" y="242887"/>
                  <a:pt x="-144463" y="946099"/>
                  <a:pt x="28231" y="1216046"/>
                </a:cubicBezTo>
                <a:cubicBezTo>
                  <a:pt x="200925" y="1485993"/>
                  <a:pt x="1022883" y="1475596"/>
                  <a:pt x="1234352" y="1619682"/>
                </a:cubicBezTo>
              </a:path>
            </a:pathLst>
          </a:custGeom>
          <a:noFill/>
          <a:ln w="44450" cap="flat" cmpd="sng">
            <a:solidFill>
              <a:srgbClr val="FF0000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9"/>
          <p:cNvCxnSpPr/>
          <p:nvPr/>
        </p:nvCxnSpPr>
        <p:spPr>
          <a:xfrm flipH="1">
            <a:off x="4657528" y="3521612"/>
            <a:ext cx="2267" cy="478968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37" name="Google Shape;237;p19"/>
          <p:cNvSpPr txBox="1"/>
          <p:nvPr/>
        </p:nvSpPr>
        <p:spPr>
          <a:xfrm>
            <a:off x="4191000" y="3007620"/>
            <a:ext cx="91871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pPrev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Tìm node trước node p</a:t>
            </a:r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node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node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phía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p: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514350" marR="0" lvl="1" indent="-17145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null: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thúc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first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</a:t>
            </a:r>
            <a:endParaRPr dirty="0"/>
          </a:p>
          <a:p>
            <a:pPr marL="514350" marR="0" lvl="1" indent="-17145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dirty="0"/>
          </a:p>
          <a:p>
            <a:pPr marL="342900" marR="0" lvl="1" indent="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6350" algn="l" rtl="0">
              <a:lnSpc>
                <a:spcPct val="8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0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title"/>
          </p:nvPr>
        </p:nvSpPr>
        <p:spPr>
          <a:xfrm>
            <a:off x="838200" y="97571"/>
            <a:ext cx="8305800" cy="740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đặt phương thức tìm node trước node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628650" y="1564481"/>
            <a:ext cx="7886700" cy="452431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Node&lt;T&gt;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PrevNodeP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p)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dirty="0"/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400" dirty="0">
                <a:latin typeface="Consolas" panose="020B0609020204030204" pitchFamily="49" charset="0"/>
              </a:rPr>
              <a:t> (p == first)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Node&lt;T&gt; </a:t>
            </a:r>
            <a:r>
              <a:rPr lang="en-US" sz="2400" dirty="0" err="1">
                <a:latin typeface="Consolas" panose="020B0609020204030204" pitchFamily="49" charset="0"/>
              </a:rPr>
              <a:t>pTruoc</a:t>
            </a:r>
            <a:r>
              <a:rPr lang="en-US" sz="2400" dirty="0">
                <a:latin typeface="Consolas" panose="020B0609020204030204" pitchFamily="49" charset="0"/>
              </a:rPr>
              <a:t> = first;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sz="2400" dirty="0">
                <a:latin typeface="Consolas" panose="020B0609020204030204" pitchFamily="49" charset="0"/>
              </a:rPr>
              <a:t> (</a:t>
            </a:r>
            <a:r>
              <a:rPr lang="en-US" sz="2400" dirty="0" err="1">
                <a:latin typeface="Consolas" panose="020B0609020204030204" pitchFamily="49" charset="0"/>
              </a:rPr>
              <a:t>pTruoc.Next</a:t>
            </a:r>
            <a:r>
              <a:rPr lang="en-US" sz="2400" dirty="0">
                <a:latin typeface="Consolas" panose="020B0609020204030204" pitchFamily="49" charset="0"/>
              </a:rPr>
              <a:t> != p)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pTruoc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pTruoc.Next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pTruoc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 node pNew vào trước node p</a:t>
            </a:r>
            <a:endParaRPr/>
          </a:p>
        </p:txBody>
      </p:sp>
      <p:sp>
        <p:nvSpPr>
          <p:cNvPr id="258" name="Google Shape;258;p22"/>
          <p:cNvSpPr txBox="1">
            <a:spLocks noGrp="1"/>
          </p:cNvSpPr>
          <p:nvPr>
            <p:ph type="body" idx="1"/>
          </p:nvPr>
        </p:nvSpPr>
        <p:spPr>
          <a:xfrm>
            <a:off x="628650" y="1600200"/>
            <a:ext cx="8277844" cy="5121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node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node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dirty="0"/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endParaRPr dirty="0"/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null </a:t>
            </a:r>
            <a:endParaRPr dirty="0"/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thúc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Ngược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	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</a:t>
            </a:r>
            <a:endParaRPr dirty="0"/>
          </a:p>
        </p:txBody>
      </p:sp>
      <p:sp>
        <p:nvSpPr>
          <p:cNvPr id="259" name="Google Shape;259;p22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>
            <a:spLocks noGrp="1"/>
          </p:cNvSpPr>
          <p:nvPr>
            <p:ph type="title"/>
          </p:nvPr>
        </p:nvSpPr>
        <p:spPr>
          <a:xfrm>
            <a:off x="838200" y="76200"/>
            <a:ext cx="8286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đặt phương thức thêm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pNew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vào trước node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Cách 1</a:t>
            </a:r>
            <a:endParaRPr/>
          </a:p>
        </p:txBody>
      </p:sp>
      <p:sp>
        <p:nvSpPr>
          <p:cNvPr id="265" name="Google Shape;265;p23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76200" y="1724085"/>
            <a:ext cx="8991600" cy="487859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InsertBeforeP1 (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p, 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pNew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dirty="0"/>
          </a:p>
          <a:p>
            <a:r>
              <a:rPr lang="en-US" sz="2400" dirty="0">
                <a:latin typeface="Consolas" panose="020B0609020204030204" pitchFamily="49" charset="0"/>
              </a:rPr>
              <a:t>	Node&lt;T&gt; </a:t>
            </a:r>
            <a:r>
              <a:rPr lang="en-US" sz="2400" dirty="0" err="1">
                <a:latin typeface="Consolas" panose="020B0609020204030204" pitchFamily="49" charset="0"/>
              </a:rPr>
              <a:t>pTruoc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PrevNodeP</a:t>
            </a:r>
            <a:r>
              <a:rPr lang="en-US" sz="2400" dirty="0">
                <a:latin typeface="Consolas" panose="020B0609020204030204" pitchFamily="49" charset="0"/>
              </a:rPr>
              <a:t>(p);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400" dirty="0">
                <a:latin typeface="Consolas" panose="020B0609020204030204" pitchFamily="49" charset="0"/>
              </a:rPr>
              <a:t> (</a:t>
            </a:r>
            <a:r>
              <a:rPr lang="en-US" sz="2400" dirty="0" err="1">
                <a:latin typeface="Consolas" panose="020B0609020204030204" pitchFamily="49" charset="0"/>
              </a:rPr>
              <a:t>pTruoc</a:t>
            </a:r>
            <a:r>
              <a:rPr lang="en-US" sz="2400" dirty="0">
                <a:latin typeface="Consolas" panose="020B0609020204030204" pitchFamily="49" charset="0"/>
              </a:rPr>
              <a:t> ==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	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InsertFirst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newNode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  	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pTruoc.Next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newNode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newNode.Next</a:t>
            </a:r>
            <a:r>
              <a:rPr lang="en-US" sz="2400" dirty="0">
                <a:latin typeface="Consolas" panose="020B0609020204030204" pitchFamily="49" charset="0"/>
              </a:rPr>
              <a:t> = p;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>
            <a:spLocks noGrp="1"/>
          </p:cNvSpPr>
          <p:nvPr>
            <p:ph type="title"/>
          </p:nvPr>
        </p:nvSpPr>
        <p:spPr>
          <a:xfrm>
            <a:off x="628650" y="152400"/>
            <a:ext cx="81642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Chèn node vào trước node p – Cách 2</a:t>
            </a:r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1199065" y="3973284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2751364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260850" y="3984168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5784850" y="39896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7308850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4"/>
          <p:cNvCxnSpPr>
            <a:stCxn id="274" idx="3"/>
            <a:endCxn id="275" idx="1"/>
          </p:cNvCxnSpPr>
          <p:nvPr/>
        </p:nvCxnSpPr>
        <p:spPr>
          <a:xfrm>
            <a:off x="2022751" y="4201884"/>
            <a:ext cx="728700" cy="108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80" name="Google Shape;280;p24"/>
          <p:cNvCxnSpPr/>
          <p:nvPr/>
        </p:nvCxnSpPr>
        <p:spPr>
          <a:xfrm>
            <a:off x="3575050" y="4194631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81" name="Google Shape;281;p24"/>
          <p:cNvCxnSpPr/>
          <p:nvPr/>
        </p:nvCxnSpPr>
        <p:spPr>
          <a:xfrm>
            <a:off x="5099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82" name="Google Shape;282;p24"/>
          <p:cNvCxnSpPr/>
          <p:nvPr/>
        </p:nvCxnSpPr>
        <p:spPr>
          <a:xfrm>
            <a:off x="6623050" y="4212768"/>
            <a:ext cx="728613" cy="1088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grpSp>
        <p:nvGrpSpPr>
          <p:cNvPr id="283" name="Google Shape;283;p24"/>
          <p:cNvGrpSpPr/>
          <p:nvPr/>
        </p:nvGrpSpPr>
        <p:grpSpPr>
          <a:xfrm>
            <a:off x="337705" y="5695890"/>
            <a:ext cx="2757055" cy="1085910"/>
            <a:chOff x="214745" y="4724400"/>
            <a:chExt cx="2757055" cy="1085910"/>
          </a:xfrm>
        </p:grpSpPr>
        <p:sp>
          <p:nvSpPr>
            <p:cNvPr id="284" name="Google Shape;284;p2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4"/>
            <p:cNvSpPr txBox="1"/>
            <p:nvPr/>
          </p:nvSpPr>
          <p:spPr>
            <a:xfrm>
              <a:off x="1053619" y="5410200"/>
              <a:ext cx="9108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dirty="0"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4"/>
            <p:cNvSpPr txBox="1"/>
            <p:nvPr/>
          </p:nvSpPr>
          <p:spPr>
            <a:xfrm>
              <a:off x="2120364" y="5410200"/>
              <a:ext cx="744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dirty="0"/>
            </a:p>
          </p:txBody>
        </p:sp>
        <p:sp>
          <p:nvSpPr>
            <p:cNvPr id="289" name="Google Shape;289;p24"/>
            <p:cNvSpPr txBox="1"/>
            <p:nvPr/>
          </p:nvSpPr>
          <p:spPr>
            <a:xfrm>
              <a:off x="214745" y="5087080"/>
              <a:ext cx="5627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/>
            </a:p>
          </p:txBody>
        </p:sp>
      </p:grpSp>
      <p:cxnSp>
        <p:nvCxnSpPr>
          <p:cNvPr id="290" name="Google Shape;290;p24"/>
          <p:cNvCxnSpPr>
            <a:stCxn id="285" idx="0"/>
          </p:cNvCxnSpPr>
          <p:nvPr/>
        </p:nvCxnSpPr>
        <p:spPr>
          <a:xfrm rot="-5400000">
            <a:off x="899461" y="5136990"/>
            <a:ext cx="1417800" cy="48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91" name="Google Shape;291;p24"/>
          <p:cNvCxnSpPr>
            <a:stCxn id="287" idx="3"/>
          </p:cNvCxnSpPr>
          <p:nvPr/>
        </p:nvCxnSpPr>
        <p:spPr>
          <a:xfrm rot="10800000" flipH="1">
            <a:off x="2943034" y="4419690"/>
            <a:ext cx="4777800" cy="1695300"/>
          </a:xfrm>
          <a:prstGeom prst="bentConnector2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292" name="Google Shape;292;p24"/>
          <p:cNvGrpSpPr/>
          <p:nvPr/>
        </p:nvGrpSpPr>
        <p:grpSpPr>
          <a:xfrm>
            <a:off x="8141607" y="3966031"/>
            <a:ext cx="411843" cy="457200"/>
            <a:chOff x="7924800" y="6206835"/>
            <a:chExt cx="411843" cy="457200"/>
          </a:xfrm>
        </p:grpSpPr>
        <p:sp>
          <p:nvSpPr>
            <p:cNvPr id="293" name="Google Shape;293;p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4" name="Google Shape;294;p24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295" name="Google Shape;295;p2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6" name="Google Shape;296;p24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297" name="Google Shape;297;p24"/>
          <p:cNvSpPr/>
          <p:nvPr/>
        </p:nvSpPr>
        <p:spPr>
          <a:xfrm>
            <a:off x="6211207" y="21336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" name="Google Shape;298;p24"/>
          <p:cNvGrpSpPr/>
          <p:nvPr/>
        </p:nvGrpSpPr>
        <p:grpSpPr>
          <a:xfrm>
            <a:off x="7043964" y="2137231"/>
            <a:ext cx="411843" cy="457200"/>
            <a:chOff x="7924800" y="6206835"/>
            <a:chExt cx="411843" cy="457200"/>
          </a:xfrm>
        </p:grpSpPr>
        <p:sp>
          <p:nvSpPr>
            <p:cNvPr id="299" name="Google Shape;299;p2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0" name="Google Shape;300;p24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301" name="Google Shape;301;p24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02" name="Google Shape;302;p24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303" name="Google Shape;303;p24"/>
          <p:cNvCxnSpPr/>
          <p:nvPr/>
        </p:nvCxnSpPr>
        <p:spPr>
          <a:xfrm rot="10800000">
            <a:off x="6782932" y="2590800"/>
            <a:ext cx="1065000" cy="533400"/>
          </a:xfrm>
          <a:prstGeom prst="bentConnector2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04" name="Google Shape;304;p24"/>
          <p:cNvSpPr txBox="1"/>
          <p:nvPr/>
        </p:nvSpPr>
        <p:spPr>
          <a:xfrm>
            <a:off x="7854859" y="2872758"/>
            <a:ext cx="9380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pNew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24"/>
          <p:cNvCxnSpPr>
            <a:endCxn id="276" idx="0"/>
          </p:cNvCxnSpPr>
          <p:nvPr/>
        </p:nvCxnSpPr>
        <p:spPr>
          <a:xfrm flipH="1">
            <a:off x="4672693" y="3505068"/>
            <a:ext cx="2400" cy="479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06" name="Google Shape;306;p24"/>
          <p:cNvSpPr txBox="1"/>
          <p:nvPr/>
        </p:nvSpPr>
        <p:spPr>
          <a:xfrm>
            <a:off x="4497805" y="2991208"/>
            <a:ext cx="3497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5527265" y="2328863"/>
            <a:ext cx="2030221" cy="1871662"/>
          </a:xfrm>
          <a:custGeom>
            <a:avLst/>
            <a:gdLst/>
            <a:ahLst/>
            <a:cxnLst/>
            <a:rect l="l" t="t" r="r" b="b"/>
            <a:pathLst>
              <a:path w="2030221" h="1871662" extrusionOk="0">
                <a:moveTo>
                  <a:pt x="1487898" y="0"/>
                </a:moveTo>
                <a:cubicBezTo>
                  <a:pt x="1835560" y="242887"/>
                  <a:pt x="2183223" y="485774"/>
                  <a:pt x="1959385" y="700087"/>
                </a:cubicBezTo>
                <a:cubicBezTo>
                  <a:pt x="1735547" y="914400"/>
                  <a:pt x="430623" y="1090613"/>
                  <a:pt x="144873" y="1285875"/>
                </a:cubicBezTo>
                <a:cubicBezTo>
                  <a:pt x="-140877" y="1481137"/>
                  <a:pt x="52004" y="1676399"/>
                  <a:pt x="244885" y="1871662"/>
                </a:cubicBezTo>
              </a:path>
            </a:pathLst>
          </a:custGeom>
          <a:noFill/>
          <a:ln w="44450" cap="flat" cmpd="sng">
            <a:solidFill>
              <a:srgbClr val="FF0000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 rot="10800000" flipH="1">
            <a:off x="4954550" y="2348767"/>
            <a:ext cx="1234352" cy="1842234"/>
          </a:xfrm>
          <a:custGeom>
            <a:avLst/>
            <a:gdLst/>
            <a:ahLst/>
            <a:cxnLst/>
            <a:rect l="l" t="t" r="r" b="b"/>
            <a:pathLst>
              <a:path w="1234352" h="1619682" extrusionOk="0">
                <a:moveTo>
                  <a:pt x="198189" y="0"/>
                </a:moveTo>
                <a:cubicBezTo>
                  <a:pt x="545851" y="242887"/>
                  <a:pt x="-144463" y="946099"/>
                  <a:pt x="28231" y="1216046"/>
                </a:cubicBezTo>
                <a:cubicBezTo>
                  <a:pt x="200925" y="1485993"/>
                  <a:pt x="1022883" y="1475596"/>
                  <a:pt x="1234352" y="1619682"/>
                </a:cubicBezTo>
              </a:path>
            </a:pathLst>
          </a:custGeom>
          <a:noFill/>
          <a:ln w="44450" cap="flat" cmpd="sng">
            <a:solidFill>
              <a:srgbClr val="FF0000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646989" y="1407302"/>
            <a:ext cx="514115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1. Chèn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vào sau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Bước 2. Hoán vị giá trị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pNew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286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đặt phương thức thêm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pNew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vào trước node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Cách 2</a:t>
            </a:r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76200" y="1603169"/>
            <a:ext cx="8991600" cy="46452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HoanVi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(Node&lt;T&gt; a, Node&lt;T&gt; b)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&lt;T&gt;tam=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a.Data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a.Data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b.Data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b.Data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=tam;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InsertBeforeP2 (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p, 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pNew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dirty="0"/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InsertAfterP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(p,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pNew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HoanVi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(p, </a:t>
            </a:r>
            <a:r>
              <a:rPr 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pNew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E833-4459-4910-9949-4F39D233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00812-34E4-4110-AE0F-F97FEEA99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400" indent="0" algn="just">
              <a:buNone/>
            </a:pP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c</a:t>
            </a:r>
            <a:r>
              <a:rPr lang="vi-VN" dirty="0"/>
              <a:t>hèn node có giá trị x vào trước node có giá trị nhỏ 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B80AD-9208-47A9-9D06-658C1690B3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Xóa một node trong danh sách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6"/>
          <p:cNvSpPr txBox="1">
            <a:spLocks noGrp="1"/>
          </p:cNvSpPr>
          <p:nvPr>
            <p:ph type="body" idx="1"/>
          </p:nvPr>
        </p:nvSpPr>
        <p:spPr>
          <a:xfrm>
            <a:off x="628650" y="1676400"/>
            <a:ext cx="78867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TH1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TH2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cuối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Ảnh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hưởng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còn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bên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6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Xóa một nút trong danh sách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7"/>
          <p:cNvSpPr txBox="1">
            <a:spLocks noGrp="1"/>
          </p:cNvSpPr>
          <p:nvPr>
            <p:ph type="body" idx="1"/>
          </p:nvPr>
        </p:nvSpPr>
        <p:spPr>
          <a:xfrm>
            <a:off x="628650" y="1219200"/>
            <a:ext cx="8439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TH1: Xóa nút đầu của danh sách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27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" name="Google Shape;332;p27"/>
          <p:cNvGrpSpPr/>
          <p:nvPr/>
        </p:nvGrpSpPr>
        <p:grpSpPr>
          <a:xfrm>
            <a:off x="76200" y="3505200"/>
            <a:ext cx="2757055" cy="1085910"/>
            <a:chOff x="214745" y="4724400"/>
            <a:chExt cx="2757055" cy="1085910"/>
          </a:xfrm>
        </p:grpSpPr>
        <p:sp>
          <p:nvSpPr>
            <p:cNvPr id="333" name="Google Shape;333;p27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7"/>
            <p:cNvSpPr txBox="1"/>
            <p:nvPr/>
          </p:nvSpPr>
          <p:spPr>
            <a:xfrm>
              <a:off x="1053619" y="5410200"/>
              <a:ext cx="9108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dirty="0"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7"/>
            <p:cNvSpPr txBox="1"/>
            <p:nvPr/>
          </p:nvSpPr>
          <p:spPr>
            <a:xfrm>
              <a:off x="2120364" y="5410200"/>
              <a:ext cx="744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dirty="0"/>
            </a:p>
          </p:txBody>
        </p:sp>
        <p:sp>
          <p:nvSpPr>
            <p:cNvPr id="338" name="Google Shape;338;p27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/>
            </a:p>
          </p:txBody>
        </p:sp>
      </p:grpSp>
      <p:sp>
        <p:nvSpPr>
          <p:cNvPr id="339" name="Google Shape;339;p27"/>
          <p:cNvSpPr/>
          <p:nvPr/>
        </p:nvSpPr>
        <p:spPr>
          <a:xfrm>
            <a:off x="3496129" y="37529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cxnSp>
        <p:nvCxnSpPr>
          <p:cNvPr id="340" name="Google Shape;340;p27"/>
          <p:cNvCxnSpPr>
            <a:stCxn id="334" idx="0"/>
            <a:endCxn id="339" idx="0"/>
          </p:cNvCxnSpPr>
          <p:nvPr/>
        </p:nvCxnSpPr>
        <p:spPr>
          <a:xfrm rot="-5400000" flipH="1">
            <a:off x="2578506" y="2423550"/>
            <a:ext cx="95400" cy="2563500"/>
          </a:xfrm>
          <a:prstGeom prst="bentConnector3">
            <a:avLst>
              <a:gd name="adj1" fmla="val -689823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41" name="Google Shape;341;p27"/>
          <p:cNvSpPr/>
          <p:nvPr/>
        </p:nvSpPr>
        <p:spPr>
          <a:xfrm>
            <a:off x="4953000" y="37529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grpSp>
        <p:nvGrpSpPr>
          <p:cNvPr id="342" name="Google Shape;342;p27"/>
          <p:cNvGrpSpPr/>
          <p:nvPr/>
        </p:nvGrpSpPr>
        <p:grpSpPr>
          <a:xfrm>
            <a:off x="8529864" y="3752911"/>
            <a:ext cx="411843" cy="457200"/>
            <a:chOff x="7924800" y="6206835"/>
            <a:chExt cx="411843" cy="457200"/>
          </a:xfrm>
        </p:grpSpPr>
        <p:sp>
          <p:nvSpPr>
            <p:cNvPr id="343" name="Google Shape;343;p27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" name="Google Shape;344;p27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345" name="Google Shape;345;p27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6" name="Google Shape;346;p2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347" name="Google Shape;347;p27"/>
          <p:cNvCxnSpPr/>
          <p:nvPr/>
        </p:nvCxnSpPr>
        <p:spPr>
          <a:xfrm>
            <a:off x="4303486" y="3985142"/>
            <a:ext cx="667657" cy="7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348" name="Google Shape;348;p27"/>
          <p:cNvCxnSpPr>
            <a:stCxn id="337" idx="0"/>
            <a:endCxn id="349" idx="2"/>
          </p:cNvCxnSpPr>
          <p:nvPr/>
        </p:nvCxnSpPr>
        <p:spPr>
          <a:xfrm rot="-5400000" flipH="1">
            <a:off x="5226483" y="1318650"/>
            <a:ext cx="19200" cy="5763900"/>
          </a:xfrm>
          <a:prstGeom prst="bentConnector5">
            <a:avLst>
              <a:gd name="adj1" fmla="val 5520172"/>
              <a:gd name="adj2" fmla="val 58070"/>
              <a:gd name="adj3" fmla="val 5475385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50" name="Google Shape;350;p27"/>
          <p:cNvSpPr/>
          <p:nvPr/>
        </p:nvSpPr>
        <p:spPr>
          <a:xfrm>
            <a:off x="6324600" y="37529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cxnSp>
        <p:nvCxnSpPr>
          <p:cNvPr id="351" name="Google Shape;351;p27"/>
          <p:cNvCxnSpPr>
            <a:stCxn id="341" idx="3"/>
            <a:endCxn id="350" idx="1"/>
          </p:cNvCxnSpPr>
          <p:nvPr/>
        </p:nvCxnSpPr>
        <p:spPr>
          <a:xfrm>
            <a:off x="5776686" y="3981510"/>
            <a:ext cx="5478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352" name="Google Shape;352;p27"/>
          <p:cNvCxnSpPr>
            <a:stCxn id="350" idx="3"/>
            <a:endCxn id="349" idx="1"/>
          </p:cNvCxnSpPr>
          <p:nvPr/>
        </p:nvCxnSpPr>
        <p:spPr>
          <a:xfrm>
            <a:off x="7148286" y="3981510"/>
            <a:ext cx="5580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49" name="Google Shape;349;p27"/>
          <p:cNvSpPr/>
          <p:nvPr/>
        </p:nvSpPr>
        <p:spPr>
          <a:xfrm>
            <a:off x="7706178" y="375291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/>
          </a:p>
        </p:txBody>
      </p:sp>
      <p:grpSp>
        <p:nvGrpSpPr>
          <p:cNvPr id="353" name="Google Shape;353;p27"/>
          <p:cNvGrpSpPr/>
          <p:nvPr/>
        </p:nvGrpSpPr>
        <p:grpSpPr>
          <a:xfrm>
            <a:off x="4011386" y="2057400"/>
            <a:ext cx="1353457" cy="1600200"/>
            <a:chOff x="4971143" y="2895600"/>
            <a:chExt cx="1353457" cy="1600200"/>
          </a:xfrm>
        </p:grpSpPr>
        <p:cxnSp>
          <p:nvCxnSpPr>
            <p:cNvPr id="354" name="Google Shape;354;p27"/>
            <p:cNvCxnSpPr>
              <a:stCxn id="355" idx="2"/>
            </p:cNvCxnSpPr>
            <p:nvPr/>
          </p:nvCxnSpPr>
          <p:spPr>
            <a:xfrm flipH="1">
              <a:off x="5150771" y="3505200"/>
              <a:ext cx="497100" cy="99060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ot"/>
              <a:miter lim="800000"/>
              <a:headEnd type="none" w="sm" len="sm"/>
              <a:tailEnd type="stealth" w="med" len="med"/>
            </a:ln>
          </p:spPr>
        </p:cxnSp>
        <p:sp>
          <p:nvSpPr>
            <p:cNvPr id="355" name="Google Shape;355;p27"/>
            <p:cNvSpPr/>
            <p:nvPr/>
          </p:nvSpPr>
          <p:spPr>
            <a:xfrm>
              <a:off x="4971143" y="2895600"/>
              <a:ext cx="1353457" cy="6096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Cần xóa</a:t>
              </a:r>
              <a:endParaRPr/>
            </a:p>
          </p:txBody>
        </p:sp>
      </p:grpSp>
      <p:grpSp>
        <p:nvGrpSpPr>
          <p:cNvPr id="356" name="Google Shape;356;p27"/>
          <p:cNvGrpSpPr/>
          <p:nvPr/>
        </p:nvGrpSpPr>
        <p:grpSpPr>
          <a:xfrm>
            <a:off x="3517122" y="4210114"/>
            <a:ext cx="800219" cy="899751"/>
            <a:chOff x="3517122" y="4591114"/>
            <a:chExt cx="800219" cy="899751"/>
          </a:xfrm>
        </p:grpSpPr>
        <p:cxnSp>
          <p:nvCxnSpPr>
            <p:cNvPr id="357" name="Google Shape;357;p27"/>
            <p:cNvCxnSpPr/>
            <p:nvPr/>
          </p:nvCxnSpPr>
          <p:spPr>
            <a:xfrm rot="-5400000">
              <a:off x="3662056" y="4857813"/>
              <a:ext cx="533400" cy="1"/>
            </a:xfrm>
            <a:prstGeom prst="bentConnector3">
              <a:avLst>
                <a:gd name="adj1" fmla="val -21429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358" name="Google Shape;358;p27"/>
            <p:cNvSpPr txBox="1"/>
            <p:nvPr/>
          </p:nvSpPr>
          <p:spPr>
            <a:xfrm>
              <a:off x="3517122" y="5029200"/>
              <a:ext cx="80021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pDel</a:t>
              </a:r>
              <a:endParaRPr/>
            </a:p>
          </p:txBody>
        </p:sp>
      </p:grpSp>
      <p:cxnSp>
        <p:nvCxnSpPr>
          <p:cNvPr id="359" name="Google Shape;359;p27"/>
          <p:cNvCxnSpPr>
            <a:stCxn id="334" idx="0"/>
            <a:endCxn id="341" idx="0"/>
          </p:cNvCxnSpPr>
          <p:nvPr/>
        </p:nvCxnSpPr>
        <p:spPr>
          <a:xfrm rot="-5400000" flipH="1">
            <a:off x="3306906" y="1695150"/>
            <a:ext cx="95400" cy="4020300"/>
          </a:xfrm>
          <a:prstGeom prst="bentConnector3">
            <a:avLst>
              <a:gd name="adj1" fmla="val -704345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360" name="Google Shape;360;p27"/>
          <p:cNvGrpSpPr/>
          <p:nvPr/>
        </p:nvGrpSpPr>
        <p:grpSpPr>
          <a:xfrm>
            <a:off x="3581400" y="3638487"/>
            <a:ext cx="617765" cy="704913"/>
            <a:chOff x="6400800" y="3886200"/>
            <a:chExt cx="411843" cy="457200"/>
          </a:xfrm>
        </p:grpSpPr>
        <p:cxnSp>
          <p:nvCxnSpPr>
            <p:cNvPr id="361" name="Google Shape;361;p27"/>
            <p:cNvCxnSpPr/>
            <p:nvPr/>
          </p:nvCxnSpPr>
          <p:spPr>
            <a:xfrm flipH="1">
              <a:off x="6437086" y="3886200"/>
              <a:ext cx="375557" cy="4572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2" name="Google Shape;362;p27"/>
            <p:cNvCxnSpPr/>
            <p:nvPr/>
          </p:nvCxnSpPr>
          <p:spPr>
            <a:xfrm>
              <a:off x="6400800" y="3900555"/>
              <a:ext cx="411843" cy="442845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 node đầu của DSLK</a:t>
            </a:r>
            <a:endParaRPr/>
          </a:p>
        </p:txBody>
      </p:sp>
      <p:sp>
        <p:nvSpPr>
          <p:cNvPr id="368" name="Google Shape;368;p28"/>
          <p:cNvSpPr txBox="1">
            <a:spLocks noGrp="1"/>
          </p:cNvSpPr>
          <p:nvPr>
            <p:ph type="body" idx="1"/>
          </p:nvPr>
        </p:nvSpPr>
        <p:spPr>
          <a:xfrm>
            <a:off x="628650" y="1543791"/>
            <a:ext cx="7886700" cy="500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r>
              <a:rPr lang="en-US" sz="2600" b="1" i="0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0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RemoveFirst</a:t>
            </a:r>
            <a:endParaRPr lang="en-US" sz="2600" b="1" i="0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true)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rỗng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thúc</a:t>
            </a: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del = first</a:t>
            </a: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i="1" dirty="0"/>
              <a:t>	  first = </a:t>
            </a:r>
            <a:r>
              <a:rPr lang="en-US" sz="2600" i="1" dirty="0" err="1"/>
              <a:t>del.Next</a:t>
            </a:r>
            <a:endParaRPr lang="en-US" sz="2600" i="1" dirty="0"/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i="1" dirty="0"/>
              <a:t>         </a:t>
            </a:r>
            <a:r>
              <a:rPr lang="en-US" sz="2600" i="1" dirty="0" err="1"/>
              <a:t>Xóa</a:t>
            </a:r>
            <a:r>
              <a:rPr lang="en-US" sz="2600" i="1" dirty="0"/>
              <a:t> del 	</a:t>
            </a:r>
            <a:endParaRPr lang="en-US" sz="1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 == null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last = null</a:t>
            </a: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</a:p>
        </p:txBody>
      </p:sp>
      <p:sp>
        <p:nvSpPr>
          <p:cNvPr id="369" name="Google Shape;369;p28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286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đặt phương thức xoá node đầu DSLK</a:t>
            </a:r>
            <a:endParaRPr/>
          </a:p>
        </p:txBody>
      </p:sp>
      <p:sp>
        <p:nvSpPr>
          <p:cNvPr id="375" name="Google Shape;375;p29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457200" y="1690689"/>
            <a:ext cx="8458200" cy="452431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RemoveFirst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600" dirty="0">
              <a:latin typeface="Consolas" panose="020B0609020204030204" pitchFamily="49" charset="0"/>
            </a:endParaRPr>
          </a:p>
          <a:p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600" dirty="0">
              <a:latin typeface="Consolas" panose="020B0609020204030204" pitchFamily="49" charset="0"/>
            </a:endParaRPr>
          </a:p>
          <a:p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600" dirty="0">
              <a:latin typeface="Consolas" panose="020B0609020204030204" pitchFamily="49" charset="0"/>
            </a:endParaRPr>
          </a:p>
          <a:p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600" dirty="0">
              <a:latin typeface="Consolas" panose="020B0609020204030204" pitchFamily="49" charset="0"/>
            </a:endParaRPr>
          </a:p>
          <a:p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Xóa một node trong danh sách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61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2: Xóa node cuối của danh sách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0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5" name="Google Shape;385;p30"/>
          <p:cNvGrpSpPr/>
          <p:nvPr/>
        </p:nvGrpSpPr>
        <p:grpSpPr>
          <a:xfrm>
            <a:off x="76200" y="3714690"/>
            <a:ext cx="2757055" cy="1085910"/>
            <a:chOff x="214745" y="4724400"/>
            <a:chExt cx="2757055" cy="1085910"/>
          </a:xfrm>
        </p:grpSpPr>
        <p:sp>
          <p:nvSpPr>
            <p:cNvPr id="386" name="Google Shape;386;p30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0"/>
            <p:cNvSpPr txBox="1"/>
            <p:nvPr/>
          </p:nvSpPr>
          <p:spPr>
            <a:xfrm>
              <a:off x="1053619" y="5410200"/>
              <a:ext cx="9108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dirty="0"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0"/>
            <p:cNvSpPr txBox="1"/>
            <p:nvPr/>
          </p:nvSpPr>
          <p:spPr>
            <a:xfrm>
              <a:off x="2120364" y="5410200"/>
              <a:ext cx="744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dirty="0"/>
            </a:p>
          </p:txBody>
        </p:sp>
        <p:sp>
          <p:nvSpPr>
            <p:cNvPr id="391" name="Google Shape;391;p30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/>
            </a:p>
          </p:txBody>
        </p:sp>
      </p:grpSp>
      <p:sp>
        <p:nvSpPr>
          <p:cNvPr id="392" name="Google Shape;392;p30"/>
          <p:cNvSpPr/>
          <p:nvPr/>
        </p:nvSpPr>
        <p:spPr>
          <a:xfrm>
            <a:off x="3496129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cxnSp>
        <p:nvCxnSpPr>
          <p:cNvPr id="393" name="Google Shape;393;p30"/>
          <p:cNvCxnSpPr>
            <a:stCxn id="387" idx="0"/>
            <a:endCxn id="392" idx="0"/>
          </p:cNvCxnSpPr>
          <p:nvPr/>
        </p:nvCxnSpPr>
        <p:spPr>
          <a:xfrm rot="-5400000" flipH="1">
            <a:off x="2578506" y="2633040"/>
            <a:ext cx="95400" cy="2563500"/>
          </a:xfrm>
          <a:prstGeom prst="bentConnector3">
            <a:avLst>
              <a:gd name="adj1" fmla="val -689823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394" name="Google Shape;394;p30"/>
          <p:cNvSpPr/>
          <p:nvPr/>
        </p:nvSpPr>
        <p:spPr>
          <a:xfrm>
            <a:off x="4953000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grpSp>
        <p:nvGrpSpPr>
          <p:cNvPr id="395" name="Google Shape;395;p30"/>
          <p:cNvGrpSpPr/>
          <p:nvPr/>
        </p:nvGrpSpPr>
        <p:grpSpPr>
          <a:xfrm>
            <a:off x="8529864" y="3962401"/>
            <a:ext cx="411843" cy="457200"/>
            <a:chOff x="7924800" y="6206835"/>
            <a:chExt cx="411843" cy="457200"/>
          </a:xfrm>
        </p:grpSpPr>
        <p:sp>
          <p:nvSpPr>
            <p:cNvPr id="396" name="Google Shape;396;p30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7" name="Google Shape;397;p30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398" name="Google Shape;398;p30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9" name="Google Shape;399;p30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400" name="Google Shape;400;p30"/>
          <p:cNvCxnSpPr/>
          <p:nvPr/>
        </p:nvCxnSpPr>
        <p:spPr>
          <a:xfrm>
            <a:off x="4303486" y="4194632"/>
            <a:ext cx="667657" cy="717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401" name="Google Shape;401;p30"/>
          <p:cNvCxnSpPr>
            <a:stCxn id="390" idx="0"/>
            <a:endCxn id="402" idx="2"/>
          </p:cNvCxnSpPr>
          <p:nvPr/>
        </p:nvCxnSpPr>
        <p:spPr>
          <a:xfrm rot="-5400000" flipH="1">
            <a:off x="5226483" y="1528140"/>
            <a:ext cx="19200" cy="5763900"/>
          </a:xfrm>
          <a:prstGeom prst="bentConnector5">
            <a:avLst>
              <a:gd name="adj1" fmla="val 5520172"/>
              <a:gd name="adj2" fmla="val 58070"/>
              <a:gd name="adj3" fmla="val 5475385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03" name="Google Shape;403;p30"/>
          <p:cNvSpPr/>
          <p:nvPr/>
        </p:nvSpPr>
        <p:spPr>
          <a:xfrm>
            <a:off x="6324600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cxnSp>
        <p:nvCxnSpPr>
          <p:cNvPr id="404" name="Google Shape;404;p30"/>
          <p:cNvCxnSpPr>
            <a:stCxn id="394" idx="3"/>
            <a:endCxn id="403" idx="1"/>
          </p:cNvCxnSpPr>
          <p:nvPr/>
        </p:nvCxnSpPr>
        <p:spPr>
          <a:xfrm>
            <a:off x="5776686" y="4191000"/>
            <a:ext cx="5478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405" name="Google Shape;405;p30"/>
          <p:cNvCxnSpPr>
            <a:stCxn id="403" idx="3"/>
            <a:endCxn id="402" idx="1"/>
          </p:cNvCxnSpPr>
          <p:nvPr/>
        </p:nvCxnSpPr>
        <p:spPr>
          <a:xfrm>
            <a:off x="7148286" y="4191000"/>
            <a:ext cx="5580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02" name="Google Shape;402;p30"/>
          <p:cNvSpPr/>
          <p:nvPr/>
        </p:nvSpPr>
        <p:spPr>
          <a:xfrm>
            <a:off x="7706178" y="39624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/>
          </a:p>
        </p:txBody>
      </p:sp>
      <p:grpSp>
        <p:nvGrpSpPr>
          <p:cNvPr id="406" name="Google Shape;406;p30"/>
          <p:cNvGrpSpPr/>
          <p:nvPr/>
        </p:nvGrpSpPr>
        <p:grpSpPr>
          <a:xfrm>
            <a:off x="6781800" y="2266890"/>
            <a:ext cx="1353457" cy="1581000"/>
            <a:chOff x="4971143" y="2895600"/>
            <a:chExt cx="1353457" cy="1581000"/>
          </a:xfrm>
        </p:grpSpPr>
        <p:cxnSp>
          <p:nvCxnSpPr>
            <p:cNvPr id="407" name="Google Shape;407;p30"/>
            <p:cNvCxnSpPr>
              <a:stCxn id="408" idx="2"/>
            </p:cNvCxnSpPr>
            <p:nvPr/>
          </p:nvCxnSpPr>
          <p:spPr>
            <a:xfrm>
              <a:off x="5647871" y="3505200"/>
              <a:ext cx="542400" cy="97140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ot"/>
              <a:miter lim="800000"/>
              <a:headEnd type="none" w="sm" len="sm"/>
              <a:tailEnd type="stealth" w="med" len="med"/>
            </a:ln>
          </p:spPr>
        </p:cxnSp>
        <p:sp>
          <p:nvSpPr>
            <p:cNvPr id="408" name="Google Shape;408;p30"/>
            <p:cNvSpPr/>
            <p:nvPr/>
          </p:nvSpPr>
          <p:spPr>
            <a:xfrm>
              <a:off x="4971143" y="2895600"/>
              <a:ext cx="1353457" cy="6096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Cần xóa</a:t>
              </a:r>
              <a:endParaRPr/>
            </a:p>
          </p:txBody>
        </p:sp>
      </p:grpSp>
      <p:grpSp>
        <p:nvGrpSpPr>
          <p:cNvPr id="409" name="Google Shape;409;p30"/>
          <p:cNvGrpSpPr/>
          <p:nvPr/>
        </p:nvGrpSpPr>
        <p:grpSpPr>
          <a:xfrm>
            <a:off x="7729728" y="2898623"/>
            <a:ext cx="800219" cy="966799"/>
            <a:chOff x="3517122" y="5029200"/>
            <a:chExt cx="800219" cy="1246577"/>
          </a:xfrm>
        </p:grpSpPr>
        <p:cxnSp>
          <p:nvCxnSpPr>
            <p:cNvPr id="410" name="Google Shape;410;p30"/>
            <p:cNvCxnSpPr>
              <a:cxnSpLocks/>
              <a:endCxn id="411" idx="2"/>
            </p:cNvCxnSpPr>
            <p:nvPr/>
          </p:nvCxnSpPr>
          <p:spPr>
            <a:xfrm rot="16200000" flipV="1">
              <a:off x="3524777" y="5883320"/>
              <a:ext cx="784912" cy="1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stealth" w="med" len="med"/>
              <a:tailEnd type="none" w="sm" len="sm"/>
            </a:ln>
          </p:spPr>
        </p:cxnSp>
        <p:sp>
          <p:nvSpPr>
            <p:cNvPr id="411" name="Google Shape;411;p30"/>
            <p:cNvSpPr txBox="1"/>
            <p:nvPr/>
          </p:nvSpPr>
          <p:spPr>
            <a:xfrm>
              <a:off x="3517122" y="5029200"/>
              <a:ext cx="80021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pDel</a:t>
              </a:r>
              <a:endParaRPr/>
            </a:p>
          </p:txBody>
        </p:sp>
      </p:grpSp>
      <p:grpSp>
        <p:nvGrpSpPr>
          <p:cNvPr id="412" name="Google Shape;412;p30"/>
          <p:cNvGrpSpPr/>
          <p:nvPr/>
        </p:nvGrpSpPr>
        <p:grpSpPr>
          <a:xfrm>
            <a:off x="7772400" y="3847977"/>
            <a:ext cx="617765" cy="704913"/>
            <a:chOff x="6400800" y="3886200"/>
            <a:chExt cx="411843" cy="457200"/>
          </a:xfrm>
        </p:grpSpPr>
        <p:cxnSp>
          <p:nvCxnSpPr>
            <p:cNvPr id="413" name="Google Shape;413;p30"/>
            <p:cNvCxnSpPr/>
            <p:nvPr/>
          </p:nvCxnSpPr>
          <p:spPr>
            <a:xfrm flipH="1">
              <a:off x="6437086" y="3886200"/>
              <a:ext cx="375557" cy="4572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14" name="Google Shape;414;p30"/>
            <p:cNvCxnSpPr/>
            <p:nvPr/>
          </p:nvCxnSpPr>
          <p:spPr>
            <a:xfrm>
              <a:off x="6400800" y="3900555"/>
              <a:ext cx="411843" cy="442845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15" name="Google Shape;415;p30"/>
          <p:cNvGrpSpPr/>
          <p:nvPr/>
        </p:nvGrpSpPr>
        <p:grpSpPr>
          <a:xfrm>
            <a:off x="6324600" y="2952690"/>
            <a:ext cx="964559" cy="912731"/>
            <a:chOff x="6324600" y="2209800"/>
            <a:chExt cx="964559" cy="912731"/>
          </a:xfrm>
        </p:grpSpPr>
        <p:cxnSp>
          <p:nvCxnSpPr>
            <p:cNvPr id="416" name="Google Shape;416;p30"/>
            <p:cNvCxnSpPr/>
            <p:nvPr/>
          </p:nvCxnSpPr>
          <p:spPr>
            <a:xfrm rot="-5400000">
              <a:off x="6516116" y="2855831"/>
              <a:ext cx="533400" cy="1"/>
            </a:xfrm>
            <a:prstGeom prst="bentConnector3">
              <a:avLst>
                <a:gd name="adj1" fmla="val 189274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stealth" w="med" len="med"/>
              <a:tailEnd type="none" w="sm" len="sm"/>
            </a:ln>
          </p:spPr>
        </p:cxnSp>
        <p:sp>
          <p:nvSpPr>
            <p:cNvPr id="417" name="Google Shape;417;p30"/>
            <p:cNvSpPr txBox="1"/>
            <p:nvPr/>
          </p:nvSpPr>
          <p:spPr>
            <a:xfrm>
              <a:off x="6324600" y="2209800"/>
              <a:ext cx="96455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pPrev</a:t>
              </a:r>
              <a:endParaRPr/>
            </a:p>
          </p:txBody>
        </p:sp>
      </p:grpSp>
      <p:cxnSp>
        <p:nvCxnSpPr>
          <p:cNvPr id="418" name="Google Shape;418;p30"/>
          <p:cNvCxnSpPr>
            <a:stCxn id="390" idx="0"/>
            <a:endCxn id="403" idx="2"/>
          </p:cNvCxnSpPr>
          <p:nvPr/>
        </p:nvCxnSpPr>
        <p:spPr>
          <a:xfrm rot="-5400000" flipH="1">
            <a:off x="4535733" y="2218890"/>
            <a:ext cx="19200" cy="4382400"/>
          </a:xfrm>
          <a:prstGeom prst="bentConnector5">
            <a:avLst>
              <a:gd name="adj1" fmla="val 5520172"/>
              <a:gd name="adj2" fmla="val 49548"/>
              <a:gd name="adj3" fmla="val 5475385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grpSp>
        <p:nvGrpSpPr>
          <p:cNvPr id="419" name="Google Shape;419;p30"/>
          <p:cNvGrpSpPr/>
          <p:nvPr/>
        </p:nvGrpSpPr>
        <p:grpSpPr>
          <a:xfrm>
            <a:off x="7166428" y="3962400"/>
            <a:ext cx="411843" cy="457200"/>
            <a:chOff x="7924800" y="6206835"/>
            <a:chExt cx="411843" cy="457200"/>
          </a:xfrm>
        </p:grpSpPr>
        <p:sp>
          <p:nvSpPr>
            <p:cNvPr id="420" name="Google Shape;420;p30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1" name="Google Shape;421;p30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422" name="Google Shape;422;p30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3" name="Google Shape;423;p30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 node cuối trong danh sách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1"/>
          <p:cNvSpPr txBox="1">
            <a:spLocks noGrp="1"/>
          </p:cNvSpPr>
          <p:nvPr>
            <p:ph type="body" idx="1"/>
          </p:nvPr>
        </p:nvSpPr>
        <p:spPr>
          <a:xfrm>
            <a:off x="628650" y="1306286"/>
            <a:ext cx="7886700" cy="543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r>
              <a:rPr lang="en-US" sz="2600" b="0" i="0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0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RemoveLast</a:t>
            </a:r>
            <a:endParaRPr lang="en-US" sz="2600" b="0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cuối (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true)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514350" lvl="1" indent="-171450">
              <a:spcBef>
                <a:spcPts val="780"/>
              </a:spcBef>
              <a:buSzPts val="2600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rỗng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thúc</a:t>
            </a: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 = last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i="1" dirty="0"/>
              <a:t> </a:t>
            </a:r>
            <a:r>
              <a:rPr lang="en-US" sz="2600" b="1" i="1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RemoveFirst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i="1" dirty="0"/>
              <a:t>	  </a:t>
            </a:r>
            <a:r>
              <a:rPr lang="en-US" sz="2600" i="1" dirty="0" err="1"/>
              <a:t>Ngược</a:t>
            </a:r>
            <a:r>
              <a:rPr lang="en-US" sz="2600" i="1" dirty="0"/>
              <a:t> </a:t>
            </a:r>
            <a:r>
              <a:rPr lang="en-US" sz="2600" i="1" dirty="0" err="1"/>
              <a:t>lại</a:t>
            </a:r>
            <a:endParaRPr lang="en-US" sz="2600" i="1" dirty="0"/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vi-VN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 = node trước last của list</a:t>
            </a:r>
            <a:endParaRPr lang="en-US" sz="2400" dirty="0"/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4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pTruoc.Next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=null</a:t>
            </a: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vi-VN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vi-VN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 = null</a:t>
            </a:r>
            <a:endParaRPr lang="vi-VN" sz="2400" dirty="0"/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vi-VN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vi-VN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 = pTruoc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sz="2600" b="0" i="1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31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286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 đặt phương thức xoá node cuối DSLK</a:t>
            </a:r>
            <a:endParaRPr/>
          </a:p>
        </p:txBody>
      </p:sp>
      <p:sp>
        <p:nvSpPr>
          <p:cNvPr id="436" name="Google Shape;436;p32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76200" y="1724085"/>
            <a:ext cx="8991600" cy="452431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RemoveLast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 txBox="1"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Xóa một node trong danh sách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 txBox="1">
            <a:spLocks noGrp="1"/>
          </p:cNvSpPr>
          <p:nvPr>
            <p:ph type="body" idx="1"/>
          </p:nvPr>
        </p:nvSpPr>
        <p:spPr>
          <a:xfrm>
            <a:off x="628650" y="1600200"/>
            <a:ext cx="810350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còn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bên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sz="2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33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" name="Google Shape;446;p33"/>
          <p:cNvGrpSpPr/>
          <p:nvPr/>
        </p:nvGrpSpPr>
        <p:grpSpPr>
          <a:xfrm>
            <a:off x="-26307" y="3943290"/>
            <a:ext cx="2757055" cy="1085910"/>
            <a:chOff x="214745" y="4724400"/>
            <a:chExt cx="2757055" cy="1085910"/>
          </a:xfrm>
        </p:grpSpPr>
        <p:sp>
          <p:nvSpPr>
            <p:cNvPr id="447" name="Google Shape;447;p33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3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33"/>
            <p:cNvSpPr txBox="1"/>
            <p:nvPr/>
          </p:nvSpPr>
          <p:spPr>
            <a:xfrm>
              <a:off x="1053619" y="5410200"/>
              <a:ext cx="9108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dirty="0"/>
            </a:p>
          </p:txBody>
        </p:sp>
        <p:sp>
          <p:nvSpPr>
            <p:cNvPr id="450" name="Google Shape;450;p33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3"/>
            <p:cNvSpPr txBox="1"/>
            <p:nvPr/>
          </p:nvSpPr>
          <p:spPr>
            <a:xfrm>
              <a:off x="2120364" y="5410200"/>
              <a:ext cx="744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last</a:t>
              </a:r>
              <a:endParaRPr dirty="0"/>
            </a:p>
          </p:txBody>
        </p:sp>
        <p:sp>
          <p:nvSpPr>
            <p:cNvPr id="452" name="Google Shape;452;p33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list</a:t>
              </a:r>
              <a:endParaRPr/>
            </a:p>
          </p:txBody>
        </p:sp>
      </p:grpSp>
      <p:sp>
        <p:nvSpPr>
          <p:cNvPr id="453" name="Google Shape;453;p33"/>
          <p:cNvSpPr/>
          <p:nvPr/>
        </p:nvSpPr>
        <p:spPr>
          <a:xfrm>
            <a:off x="3021693" y="41910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cxnSp>
        <p:nvCxnSpPr>
          <p:cNvPr id="454" name="Google Shape;454;p33"/>
          <p:cNvCxnSpPr>
            <a:stCxn id="448" idx="0"/>
            <a:endCxn id="453" idx="0"/>
          </p:cNvCxnSpPr>
          <p:nvPr/>
        </p:nvCxnSpPr>
        <p:spPr>
          <a:xfrm rot="-5400000" flipH="1">
            <a:off x="2289999" y="3047640"/>
            <a:ext cx="95400" cy="2191500"/>
          </a:xfrm>
          <a:prstGeom prst="bentConnector3">
            <a:avLst>
              <a:gd name="adj1" fmla="val -835049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55" name="Google Shape;455;p33"/>
          <p:cNvSpPr/>
          <p:nvPr/>
        </p:nvSpPr>
        <p:spPr>
          <a:xfrm>
            <a:off x="4317093" y="41910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grpSp>
        <p:nvGrpSpPr>
          <p:cNvPr id="456" name="Google Shape;456;p33"/>
          <p:cNvGrpSpPr/>
          <p:nvPr/>
        </p:nvGrpSpPr>
        <p:grpSpPr>
          <a:xfrm>
            <a:off x="8732157" y="4191001"/>
            <a:ext cx="411843" cy="457200"/>
            <a:chOff x="7924800" y="6206835"/>
            <a:chExt cx="411843" cy="457200"/>
          </a:xfrm>
        </p:grpSpPr>
        <p:sp>
          <p:nvSpPr>
            <p:cNvPr id="457" name="Google Shape;457;p33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rgbClr val="548135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8" name="Google Shape;458;p33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459" name="Google Shape;459;p33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0" name="Google Shape;460;p33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6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cxnSp>
        <p:nvCxnSpPr>
          <p:cNvPr id="461" name="Google Shape;461;p33"/>
          <p:cNvCxnSpPr>
            <a:endCxn id="455" idx="1"/>
          </p:cNvCxnSpPr>
          <p:nvPr/>
        </p:nvCxnSpPr>
        <p:spPr>
          <a:xfrm rot="10800000" flipH="1">
            <a:off x="3859893" y="4419600"/>
            <a:ext cx="457200" cy="3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462" name="Google Shape;462;p33"/>
          <p:cNvCxnSpPr>
            <a:stCxn id="451" idx="0"/>
            <a:endCxn id="463" idx="2"/>
          </p:cNvCxnSpPr>
          <p:nvPr/>
        </p:nvCxnSpPr>
        <p:spPr>
          <a:xfrm rot="-5400000" flipH="1">
            <a:off x="5276376" y="1604340"/>
            <a:ext cx="19200" cy="6068700"/>
          </a:xfrm>
          <a:prstGeom prst="bentConnector5">
            <a:avLst>
              <a:gd name="adj1" fmla="val 5015052"/>
              <a:gd name="adj2" fmla="val 49674"/>
              <a:gd name="adj3" fmla="val 5042427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64" name="Google Shape;464;p33"/>
          <p:cNvSpPr/>
          <p:nvPr/>
        </p:nvSpPr>
        <p:spPr>
          <a:xfrm>
            <a:off x="5536293" y="41910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cxnSp>
        <p:nvCxnSpPr>
          <p:cNvPr id="465" name="Google Shape;465;p33"/>
          <p:cNvCxnSpPr>
            <a:stCxn id="455" idx="3"/>
            <a:endCxn id="464" idx="1"/>
          </p:cNvCxnSpPr>
          <p:nvPr/>
        </p:nvCxnSpPr>
        <p:spPr>
          <a:xfrm>
            <a:off x="5140779" y="4419600"/>
            <a:ext cx="3954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466" name="Google Shape;466;p33"/>
          <p:cNvCxnSpPr>
            <a:stCxn id="464" idx="3"/>
            <a:endCxn id="467" idx="1"/>
          </p:cNvCxnSpPr>
          <p:nvPr/>
        </p:nvCxnSpPr>
        <p:spPr>
          <a:xfrm>
            <a:off x="6359979" y="4419600"/>
            <a:ext cx="3600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63" name="Google Shape;463;p33"/>
          <p:cNvSpPr/>
          <p:nvPr/>
        </p:nvSpPr>
        <p:spPr>
          <a:xfrm>
            <a:off x="7908471" y="41910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/>
          </a:p>
        </p:txBody>
      </p:sp>
      <p:grpSp>
        <p:nvGrpSpPr>
          <p:cNvPr id="468" name="Google Shape;468;p33"/>
          <p:cNvGrpSpPr/>
          <p:nvPr/>
        </p:nvGrpSpPr>
        <p:grpSpPr>
          <a:xfrm>
            <a:off x="6096000" y="2495490"/>
            <a:ext cx="1353457" cy="1447800"/>
            <a:chOff x="4971143" y="2895600"/>
            <a:chExt cx="1353457" cy="1447800"/>
          </a:xfrm>
        </p:grpSpPr>
        <p:cxnSp>
          <p:nvCxnSpPr>
            <p:cNvPr id="469" name="Google Shape;469;p33"/>
            <p:cNvCxnSpPr>
              <a:stCxn id="470" idx="2"/>
            </p:cNvCxnSpPr>
            <p:nvPr/>
          </p:nvCxnSpPr>
          <p:spPr>
            <a:xfrm flipH="1">
              <a:off x="5004671" y="3505200"/>
              <a:ext cx="643200" cy="83820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ot"/>
              <a:miter lim="800000"/>
              <a:headEnd type="none" w="sm" len="sm"/>
              <a:tailEnd type="stealth" w="med" len="med"/>
            </a:ln>
          </p:spPr>
        </p:cxnSp>
        <p:sp>
          <p:nvSpPr>
            <p:cNvPr id="470" name="Google Shape;470;p33"/>
            <p:cNvSpPr/>
            <p:nvPr/>
          </p:nvSpPr>
          <p:spPr>
            <a:xfrm>
              <a:off x="4971143" y="2895600"/>
              <a:ext cx="1353457" cy="60960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Cần xóa</a:t>
              </a:r>
              <a:endParaRPr/>
            </a:p>
          </p:txBody>
        </p:sp>
      </p:grpSp>
      <p:grpSp>
        <p:nvGrpSpPr>
          <p:cNvPr id="471" name="Google Shape;471;p33"/>
          <p:cNvGrpSpPr/>
          <p:nvPr/>
        </p:nvGrpSpPr>
        <p:grpSpPr>
          <a:xfrm>
            <a:off x="5528440" y="3241169"/>
            <a:ext cx="800219" cy="912732"/>
            <a:chOff x="3517122" y="5029200"/>
            <a:chExt cx="800219" cy="912732"/>
          </a:xfrm>
        </p:grpSpPr>
        <p:cxnSp>
          <p:nvCxnSpPr>
            <p:cNvPr id="472" name="Google Shape;472;p33"/>
            <p:cNvCxnSpPr/>
            <p:nvPr/>
          </p:nvCxnSpPr>
          <p:spPr>
            <a:xfrm rot="-5400000">
              <a:off x="3670657" y="5675231"/>
              <a:ext cx="533400" cy="1"/>
            </a:xfrm>
            <a:prstGeom prst="bentConnector3">
              <a:avLst>
                <a:gd name="adj1" fmla="val 5987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stealth" w="med" len="med"/>
              <a:tailEnd type="none" w="sm" len="sm"/>
            </a:ln>
          </p:spPr>
        </p:cxnSp>
        <p:sp>
          <p:nvSpPr>
            <p:cNvPr id="473" name="Google Shape;473;p33"/>
            <p:cNvSpPr txBox="1"/>
            <p:nvPr/>
          </p:nvSpPr>
          <p:spPr>
            <a:xfrm>
              <a:off x="3517122" y="5029200"/>
              <a:ext cx="80021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pDel</a:t>
              </a:r>
              <a:endParaRPr/>
            </a:p>
          </p:txBody>
        </p:sp>
      </p:grpSp>
      <p:grpSp>
        <p:nvGrpSpPr>
          <p:cNvPr id="474" name="Google Shape;474;p33"/>
          <p:cNvGrpSpPr/>
          <p:nvPr/>
        </p:nvGrpSpPr>
        <p:grpSpPr>
          <a:xfrm>
            <a:off x="5619666" y="4068959"/>
            <a:ext cx="617765" cy="704913"/>
            <a:chOff x="6400800" y="3886200"/>
            <a:chExt cx="411843" cy="457200"/>
          </a:xfrm>
        </p:grpSpPr>
        <p:cxnSp>
          <p:nvCxnSpPr>
            <p:cNvPr id="475" name="Google Shape;475;p33"/>
            <p:cNvCxnSpPr/>
            <p:nvPr/>
          </p:nvCxnSpPr>
          <p:spPr>
            <a:xfrm flipH="1">
              <a:off x="6437086" y="3886200"/>
              <a:ext cx="375557" cy="4572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6" name="Google Shape;476;p33"/>
            <p:cNvCxnSpPr/>
            <p:nvPr/>
          </p:nvCxnSpPr>
          <p:spPr>
            <a:xfrm>
              <a:off x="6400800" y="3900555"/>
              <a:ext cx="411843" cy="442845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77" name="Google Shape;477;p33"/>
          <p:cNvGrpSpPr/>
          <p:nvPr/>
        </p:nvGrpSpPr>
        <p:grpSpPr>
          <a:xfrm>
            <a:off x="4267200" y="3259158"/>
            <a:ext cx="964559" cy="912731"/>
            <a:chOff x="6324600" y="2209800"/>
            <a:chExt cx="964559" cy="912731"/>
          </a:xfrm>
        </p:grpSpPr>
        <p:cxnSp>
          <p:nvCxnSpPr>
            <p:cNvPr id="478" name="Google Shape;478;p33"/>
            <p:cNvCxnSpPr/>
            <p:nvPr/>
          </p:nvCxnSpPr>
          <p:spPr>
            <a:xfrm rot="-5400000">
              <a:off x="6516116" y="2855831"/>
              <a:ext cx="533400" cy="1"/>
            </a:xfrm>
            <a:prstGeom prst="bentConnector3">
              <a:avLst>
                <a:gd name="adj1" fmla="val 95339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stealth" w="med" len="med"/>
              <a:tailEnd type="none" w="sm" len="sm"/>
            </a:ln>
          </p:spPr>
        </p:cxnSp>
        <p:sp>
          <p:nvSpPr>
            <p:cNvPr id="479" name="Google Shape;479;p33"/>
            <p:cNvSpPr txBox="1"/>
            <p:nvPr/>
          </p:nvSpPr>
          <p:spPr>
            <a:xfrm>
              <a:off x="6324600" y="2209800"/>
              <a:ext cx="96455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pPrev</a:t>
              </a:r>
              <a:endParaRPr/>
            </a:p>
          </p:txBody>
        </p:sp>
      </p:grpSp>
      <p:sp>
        <p:nvSpPr>
          <p:cNvPr id="467" name="Google Shape;467;p33"/>
          <p:cNvSpPr/>
          <p:nvPr/>
        </p:nvSpPr>
        <p:spPr>
          <a:xfrm>
            <a:off x="6720114" y="4191000"/>
            <a:ext cx="823686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</p:txBody>
      </p:sp>
      <p:cxnSp>
        <p:nvCxnSpPr>
          <p:cNvPr id="480" name="Google Shape;480;p33"/>
          <p:cNvCxnSpPr>
            <a:stCxn id="467" idx="3"/>
            <a:endCxn id="463" idx="1"/>
          </p:cNvCxnSpPr>
          <p:nvPr/>
        </p:nvCxnSpPr>
        <p:spPr>
          <a:xfrm>
            <a:off x="7543800" y="4419600"/>
            <a:ext cx="3648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481" name="Google Shape;481;p33"/>
          <p:cNvSpPr/>
          <p:nvPr/>
        </p:nvSpPr>
        <p:spPr>
          <a:xfrm>
            <a:off x="5140036" y="4414345"/>
            <a:ext cx="1579419" cy="609613"/>
          </a:xfrm>
          <a:custGeom>
            <a:avLst/>
            <a:gdLst/>
            <a:ahLst/>
            <a:cxnLst/>
            <a:rect l="l" t="t" r="r" b="b"/>
            <a:pathLst>
              <a:path w="1579419" h="609613" extrusionOk="0">
                <a:moveTo>
                  <a:pt x="0" y="0"/>
                </a:moveTo>
                <a:cubicBezTo>
                  <a:pt x="242455" y="303645"/>
                  <a:pt x="484910" y="607291"/>
                  <a:pt x="748146" y="609600"/>
                </a:cubicBezTo>
                <a:cubicBezTo>
                  <a:pt x="1011383" y="611909"/>
                  <a:pt x="1295401" y="312881"/>
                  <a:pt x="1579419" y="1385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"/>
          <p:cNvSpPr txBox="1">
            <a:spLocks noGrp="1"/>
          </p:cNvSpPr>
          <p:nvPr>
            <p:ph type="title"/>
          </p:nvPr>
        </p:nvSpPr>
        <p:spPr>
          <a:xfrm>
            <a:off x="534390" y="365126"/>
            <a:ext cx="860961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 </a:t>
            </a:r>
            <a:r>
              <a:rPr lang="en-US" sz="3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pDel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bên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DSLK –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 dirty="0"/>
          </a:p>
        </p:txBody>
      </p:sp>
      <p:sp>
        <p:nvSpPr>
          <p:cNvPr id="487" name="Google Shape;487;p3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node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null</a:t>
            </a:r>
            <a:endParaRPr dirty="0"/>
          </a:p>
        </p:txBody>
      </p:sp>
      <p:sp>
        <p:nvSpPr>
          <p:cNvPr id="488" name="Google Shape;488;p34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4267200" y="4267200"/>
            <a:ext cx="647700" cy="685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1143000" y="5132388"/>
            <a:ext cx="6858000" cy="1524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Đoạn code bằng C#?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node </a:t>
            </a:r>
            <a:r>
              <a:rPr lang="en-US" sz="3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pDel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bất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kỳ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DSLK –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 dirty="0"/>
          </a:p>
        </p:txBody>
      </p:sp>
      <p:sp>
        <p:nvSpPr>
          <p:cNvPr id="497" name="Google Shape;497;p35"/>
          <p:cNvSpPr txBox="1">
            <a:spLocks noGrp="1"/>
          </p:cNvSpPr>
          <p:nvPr>
            <p:ph type="body" idx="1"/>
          </p:nvPr>
        </p:nvSpPr>
        <p:spPr>
          <a:xfrm>
            <a:off x="628650" y="1825624"/>
            <a:ext cx="7886700" cy="465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r>
              <a:rPr lang="en-US" sz="2600" b="0" i="0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0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DeleteNode1</a:t>
            </a:r>
            <a:endParaRPr lang="en-US" sz="2600" b="1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node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true)</a:t>
            </a:r>
            <a:endParaRPr sz="26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rỗng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RemoveFirst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just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RemoveLast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1" indent="-1714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Ngược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trước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pTruoc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null</a:t>
            </a:r>
          </a:p>
          <a:p>
            <a:pPr marL="342900" marR="0" lvl="1" indent="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i="1" dirty="0"/>
              <a:t>	    </a:t>
            </a:r>
            <a:r>
              <a:rPr lang="en-US" sz="2600" i="1" dirty="0" err="1"/>
              <a:t>Trả</a:t>
            </a:r>
            <a:r>
              <a:rPr lang="en-US" sz="2600" i="1" dirty="0"/>
              <a:t> </a:t>
            </a:r>
            <a:r>
              <a:rPr lang="en-US" sz="2600" i="1" dirty="0" err="1"/>
              <a:t>về</a:t>
            </a:r>
            <a:r>
              <a:rPr lang="en-US" sz="2600" i="1" dirty="0"/>
              <a:t> </a:t>
            </a:r>
            <a:r>
              <a:rPr lang="en-US" sz="2600" i="1" dirty="0">
                <a:solidFill>
                  <a:srgbClr val="FF0000"/>
                </a:solidFill>
              </a:rPr>
              <a:t>true</a:t>
            </a:r>
            <a:r>
              <a:rPr lang="en-US" sz="2600" i="1" dirty="0"/>
              <a:t>  </a:t>
            </a:r>
            <a:endParaRPr dirty="0"/>
          </a:p>
          <a:p>
            <a:pPr marL="514350" marR="0" lvl="1" indent="-635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endParaRPr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5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286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đặt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thức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node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pDel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bất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kỳ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DSLK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 dirty="0"/>
          </a:p>
        </p:txBody>
      </p:sp>
      <p:sp>
        <p:nvSpPr>
          <p:cNvPr id="504" name="Google Shape;504;p36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76200" y="1724085"/>
            <a:ext cx="8991600" cy="452431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DeleteNode1(Node&lt;T&gt;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pDel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1970"/>
            <a:ext cx="7149688" cy="685800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– </a:t>
            </a:r>
            <a:r>
              <a:rPr lang="en-US" dirty="0" err="1"/>
              <a:t>Cách</a:t>
            </a:r>
            <a:r>
              <a:rPr lang="en-US" dirty="0"/>
              <a:t> 2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27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-26307" y="3276600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67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79932" y="5410200"/>
              <a:ext cx="625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0216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cxnSp>
        <p:nvCxnSpPr>
          <p:cNvPr id="12" name="Elbow Connector 11"/>
          <p:cNvCxnSpPr>
            <a:stCxn id="6" idx="0"/>
            <a:endCxn id="11" idx="0"/>
          </p:cNvCxnSpPr>
          <p:nvPr/>
        </p:nvCxnSpPr>
        <p:spPr>
          <a:xfrm rot="16200000" flipH="1">
            <a:off x="2290087" y="2380862"/>
            <a:ext cx="95310" cy="2191587"/>
          </a:xfrm>
          <a:prstGeom prst="bentConnector3">
            <a:avLst>
              <a:gd name="adj1" fmla="val -835838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170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732157" y="3524311"/>
            <a:ext cx="411843" cy="457200"/>
            <a:chOff x="7924800" y="6206835"/>
            <a:chExt cx="411843" cy="457200"/>
          </a:xfrm>
        </p:grpSpPr>
        <p:sp>
          <p:nvSpPr>
            <p:cNvPr id="15" name="Rectangle 1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" name="Straight Connector 18"/>
          <p:cNvCxnSpPr>
            <a:endCxn id="13" idx="1"/>
          </p:cNvCxnSpPr>
          <p:nvPr/>
        </p:nvCxnSpPr>
        <p:spPr>
          <a:xfrm flipV="1">
            <a:off x="3859893" y="3752910"/>
            <a:ext cx="457200" cy="3632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9" idx="0"/>
            <a:endCxn id="29" idx="2"/>
          </p:cNvCxnSpPr>
          <p:nvPr/>
        </p:nvCxnSpPr>
        <p:spPr>
          <a:xfrm rot="16200000" flipH="1">
            <a:off x="5276415" y="937611"/>
            <a:ext cx="19110" cy="6068688"/>
          </a:xfrm>
          <a:prstGeom prst="bentConnector5">
            <a:avLst>
              <a:gd name="adj1" fmla="val 4334401"/>
              <a:gd name="adj2" fmla="val 49184"/>
              <a:gd name="adj3" fmla="val 4341188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362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41</a:t>
            </a:r>
          </a:p>
        </p:txBody>
      </p:sp>
      <p:cxnSp>
        <p:nvCxnSpPr>
          <p:cNvPr id="25" name="Straight Connector 24"/>
          <p:cNvCxnSpPr>
            <a:stCxn id="13" idx="3"/>
            <a:endCxn id="21" idx="1"/>
          </p:cNvCxnSpPr>
          <p:nvPr/>
        </p:nvCxnSpPr>
        <p:spPr>
          <a:xfrm>
            <a:off x="5140779" y="3752910"/>
            <a:ext cx="395514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1" idx="3"/>
            <a:endCxn id="54" idx="1"/>
          </p:cNvCxnSpPr>
          <p:nvPr/>
        </p:nvCxnSpPr>
        <p:spPr>
          <a:xfrm>
            <a:off x="6359979" y="3752910"/>
            <a:ext cx="360135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908471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78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096000" y="1828800"/>
            <a:ext cx="1353457" cy="1447800"/>
            <a:chOff x="4971143" y="2895600"/>
            <a:chExt cx="1353457" cy="1447800"/>
          </a:xfrm>
        </p:grpSpPr>
        <p:cxnSp>
          <p:nvCxnSpPr>
            <p:cNvPr id="38" name="Straight Arrow Connector 37"/>
            <p:cNvCxnSpPr>
              <a:stCxn id="39" idx="2"/>
            </p:cNvCxnSpPr>
            <p:nvPr/>
          </p:nvCxnSpPr>
          <p:spPr>
            <a:xfrm flipH="1">
              <a:off x="5004707" y="3505200"/>
              <a:ext cx="643165" cy="838200"/>
            </a:xfrm>
            <a:prstGeom prst="straightConnector1">
              <a:avLst/>
            </a:prstGeom>
            <a:ln w="25400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4971143" y="2895600"/>
              <a:ext cx="1353457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/>
                <a:t>Cần xóa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528440" y="2574479"/>
            <a:ext cx="800219" cy="912732"/>
            <a:chOff x="3517122" y="5029200"/>
            <a:chExt cx="800219" cy="912732"/>
          </a:xfrm>
        </p:grpSpPr>
        <p:cxnSp>
          <p:nvCxnSpPr>
            <p:cNvPr id="43" name="Elbow Connector 42"/>
            <p:cNvCxnSpPr/>
            <p:nvPr/>
          </p:nvCxnSpPr>
          <p:spPr>
            <a:xfrm rot="5400000" flipH="1" flipV="1">
              <a:off x="3670657" y="5675231"/>
              <a:ext cx="53340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517122" y="502920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rgbClr val="FF0000"/>
                  </a:solidFill>
                </a:rPr>
                <a:t>pDel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838200" y="5420380"/>
            <a:ext cx="3047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FF0000"/>
                </a:solidFill>
              </a:rPr>
              <a:t>pSau</a:t>
            </a:r>
            <a:r>
              <a:rPr lang="en-US" sz="2800" i="1" dirty="0">
                <a:solidFill>
                  <a:srgbClr val="FF0000"/>
                </a:solidFill>
              </a:rPr>
              <a:t> = </a:t>
            </a:r>
            <a:r>
              <a:rPr lang="en-US" sz="2800" i="1" dirty="0" err="1">
                <a:solidFill>
                  <a:srgbClr val="FF0000"/>
                </a:solidFill>
              </a:rPr>
              <a:t>pDel.Next</a:t>
            </a:r>
            <a:endParaRPr lang="en-US" sz="2800" i="1" dirty="0">
              <a:solidFill>
                <a:srgbClr val="FF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720114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96</a:t>
            </a:r>
          </a:p>
        </p:txBody>
      </p:sp>
      <p:cxnSp>
        <p:nvCxnSpPr>
          <p:cNvPr id="60" name="Straight Connector 59"/>
          <p:cNvCxnSpPr>
            <a:stCxn id="54" idx="3"/>
            <a:endCxn id="29" idx="1"/>
          </p:cNvCxnSpPr>
          <p:nvPr/>
        </p:nvCxnSpPr>
        <p:spPr>
          <a:xfrm>
            <a:off x="7543800" y="3752910"/>
            <a:ext cx="364671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3BA47ED-3912-4178-AD53-07C260081254}"/>
              </a:ext>
            </a:extLst>
          </p:cNvPr>
          <p:cNvGrpSpPr/>
          <p:nvPr/>
        </p:nvGrpSpPr>
        <p:grpSpPr>
          <a:xfrm>
            <a:off x="6743581" y="2589402"/>
            <a:ext cx="813043" cy="912732"/>
            <a:chOff x="6743581" y="2589402"/>
            <a:chExt cx="813043" cy="912732"/>
          </a:xfrm>
        </p:grpSpPr>
        <p:cxnSp>
          <p:nvCxnSpPr>
            <p:cNvPr id="23" name="Elbow Connector 42">
              <a:extLst>
                <a:ext uri="{FF2B5EF4-FFF2-40B4-BE49-F238E27FC236}">
                  <a16:creationId xmlns:a16="http://schemas.microsoft.com/office/drawing/2014/main" id="{D5935CC4-A852-4FC8-AEB3-4F29B2571C0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897116" y="3235433"/>
              <a:ext cx="53340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583138-7920-4419-89A3-F9D5AE2813D1}"/>
                </a:ext>
              </a:extLst>
            </p:cNvPr>
            <p:cNvSpPr txBox="1"/>
            <p:nvPr/>
          </p:nvSpPr>
          <p:spPr>
            <a:xfrm>
              <a:off x="6743581" y="2589402"/>
              <a:ext cx="8130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rgbClr val="FF0000"/>
                  </a:solidFill>
                </a:rPr>
                <a:t>pSau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514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27595"/>
            <a:ext cx="8439150" cy="685800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– </a:t>
            </a:r>
            <a:r>
              <a:rPr lang="en-US" dirty="0" err="1"/>
              <a:t>Cách</a:t>
            </a:r>
            <a:r>
              <a:rPr lang="en-US" dirty="0"/>
              <a:t> 2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28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-26307" y="3276600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67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79932" y="5410200"/>
              <a:ext cx="625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0216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cxnSp>
        <p:nvCxnSpPr>
          <p:cNvPr id="12" name="Elbow Connector 11"/>
          <p:cNvCxnSpPr>
            <a:stCxn id="6" idx="0"/>
            <a:endCxn id="11" idx="0"/>
          </p:cNvCxnSpPr>
          <p:nvPr/>
        </p:nvCxnSpPr>
        <p:spPr>
          <a:xfrm rot="16200000" flipH="1">
            <a:off x="2290087" y="2380862"/>
            <a:ext cx="95310" cy="2191587"/>
          </a:xfrm>
          <a:prstGeom prst="bentConnector3">
            <a:avLst>
              <a:gd name="adj1" fmla="val -835838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170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732157" y="3524311"/>
            <a:ext cx="411843" cy="457200"/>
            <a:chOff x="7924800" y="6206835"/>
            <a:chExt cx="411843" cy="457200"/>
          </a:xfrm>
        </p:grpSpPr>
        <p:sp>
          <p:nvSpPr>
            <p:cNvPr id="15" name="Rectangle 1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" name="Straight Connector 18"/>
          <p:cNvCxnSpPr>
            <a:endCxn id="13" idx="1"/>
          </p:cNvCxnSpPr>
          <p:nvPr/>
        </p:nvCxnSpPr>
        <p:spPr>
          <a:xfrm flipV="1">
            <a:off x="3859893" y="3752910"/>
            <a:ext cx="457200" cy="3632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9" idx="0"/>
            <a:endCxn id="29" idx="2"/>
          </p:cNvCxnSpPr>
          <p:nvPr/>
        </p:nvCxnSpPr>
        <p:spPr>
          <a:xfrm rot="16200000" flipH="1">
            <a:off x="5276415" y="937611"/>
            <a:ext cx="19110" cy="6068688"/>
          </a:xfrm>
          <a:prstGeom prst="bentConnector5">
            <a:avLst>
              <a:gd name="adj1" fmla="val 4272261"/>
              <a:gd name="adj2" fmla="val 49184"/>
              <a:gd name="adj3" fmla="val 4279048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362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96</a:t>
            </a:r>
          </a:p>
        </p:txBody>
      </p:sp>
      <p:cxnSp>
        <p:nvCxnSpPr>
          <p:cNvPr id="25" name="Straight Connector 24"/>
          <p:cNvCxnSpPr>
            <a:stCxn id="13" idx="3"/>
            <a:endCxn id="21" idx="1"/>
          </p:cNvCxnSpPr>
          <p:nvPr/>
        </p:nvCxnSpPr>
        <p:spPr>
          <a:xfrm>
            <a:off x="5140779" y="3752910"/>
            <a:ext cx="395514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1" idx="3"/>
            <a:endCxn id="54" idx="1"/>
          </p:cNvCxnSpPr>
          <p:nvPr/>
        </p:nvCxnSpPr>
        <p:spPr>
          <a:xfrm>
            <a:off x="6359979" y="3752910"/>
            <a:ext cx="360135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908471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78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096000" y="1828800"/>
            <a:ext cx="1353457" cy="1447800"/>
            <a:chOff x="4971143" y="2895600"/>
            <a:chExt cx="1353457" cy="1447800"/>
          </a:xfrm>
        </p:grpSpPr>
        <p:cxnSp>
          <p:nvCxnSpPr>
            <p:cNvPr id="38" name="Straight Arrow Connector 37"/>
            <p:cNvCxnSpPr>
              <a:stCxn id="39" idx="2"/>
            </p:cNvCxnSpPr>
            <p:nvPr/>
          </p:nvCxnSpPr>
          <p:spPr>
            <a:xfrm flipH="1">
              <a:off x="5004707" y="3505200"/>
              <a:ext cx="643165" cy="838200"/>
            </a:xfrm>
            <a:prstGeom prst="straightConnector1">
              <a:avLst/>
            </a:prstGeom>
            <a:ln w="25400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4971143" y="2895600"/>
              <a:ext cx="1353457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/>
                <a:t>Cần xóa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528440" y="2574479"/>
            <a:ext cx="800219" cy="912732"/>
            <a:chOff x="3517122" y="5029200"/>
            <a:chExt cx="800219" cy="912732"/>
          </a:xfrm>
        </p:grpSpPr>
        <p:cxnSp>
          <p:nvCxnSpPr>
            <p:cNvPr id="43" name="Elbow Connector 42"/>
            <p:cNvCxnSpPr/>
            <p:nvPr/>
          </p:nvCxnSpPr>
          <p:spPr>
            <a:xfrm rot="5400000" flipH="1" flipV="1">
              <a:off x="3670657" y="5675231"/>
              <a:ext cx="53340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517122" y="502920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rgbClr val="FF0000"/>
                  </a:solidFill>
                </a:rPr>
                <a:t>pDel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838200" y="5420380"/>
            <a:ext cx="4286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</a:rPr>
              <a:t>Hoán </a:t>
            </a:r>
            <a:r>
              <a:rPr lang="en-US" sz="2800" i="1" dirty="0" err="1">
                <a:solidFill>
                  <a:srgbClr val="FF0000"/>
                </a:solidFill>
              </a:rPr>
              <a:t>vị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giá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trị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pDel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với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pSau</a:t>
            </a:r>
            <a:endParaRPr lang="en-US" sz="2800" i="1" dirty="0">
              <a:solidFill>
                <a:srgbClr val="FF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720114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41</a:t>
            </a:r>
          </a:p>
        </p:txBody>
      </p:sp>
      <p:cxnSp>
        <p:nvCxnSpPr>
          <p:cNvPr id="60" name="Straight Connector 59"/>
          <p:cNvCxnSpPr>
            <a:stCxn id="54" idx="3"/>
            <a:endCxn id="29" idx="1"/>
          </p:cNvCxnSpPr>
          <p:nvPr/>
        </p:nvCxnSpPr>
        <p:spPr>
          <a:xfrm>
            <a:off x="7543800" y="3752910"/>
            <a:ext cx="364671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42">
            <a:extLst>
              <a:ext uri="{FF2B5EF4-FFF2-40B4-BE49-F238E27FC236}">
                <a16:creationId xmlns:a16="http://schemas.microsoft.com/office/drawing/2014/main" id="{D5935CC4-A852-4FC8-AEB3-4F29B2571C0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97116" y="3235433"/>
            <a:ext cx="533400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583138-7920-4419-89A3-F9D5AE2813D1}"/>
              </a:ext>
            </a:extLst>
          </p:cNvPr>
          <p:cNvSpPr txBox="1"/>
          <p:nvPr/>
        </p:nvSpPr>
        <p:spPr>
          <a:xfrm>
            <a:off x="6743581" y="2589402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pSau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30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1970"/>
            <a:ext cx="8439150" cy="685800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– </a:t>
            </a:r>
            <a:r>
              <a:rPr lang="en-US" dirty="0" err="1"/>
              <a:t>Cách</a:t>
            </a:r>
            <a:r>
              <a:rPr lang="en-US" dirty="0"/>
              <a:t> 2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29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-26307" y="3276600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67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79932" y="5410200"/>
              <a:ext cx="625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0216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cxnSp>
        <p:nvCxnSpPr>
          <p:cNvPr id="12" name="Elbow Connector 11"/>
          <p:cNvCxnSpPr>
            <a:stCxn id="6" idx="0"/>
            <a:endCxn id="11" idx="0"/>
          </p:cNvCxnSpPr>
          <p:nvPr/>
        </p:nvCxnSpPr>
        <p:spPr>
          <a:xfrm rot="16200000" flipH="1">
            <a:off x="2290087" y="2380862"/>
            <a:ext cx="95310" cy="2191587"/>
          </a:xfrm>
          <a:prstGeom prst="bentConnector3">
            <a:avLst>
              <a:gd name="adj1" fmla="val -835838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170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732157" y="3524311"/>
            <a:ext cx="411843" cy="457200"/>
            <a:chOff x="7924800" y="6206835"/>
            <a:chExt cx="411843" cy="457200"/>
          </a:xfrm>
        </p:grpSpPr>
        <p:sp>
          <p:nvSpPr>
            <p:cNvPr id="15" name="Rectangle 1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" name="Straight Connector 18"/>
          <p:cNvCxnSpPr>
            <a:endCxn id="13" idx="1"/>
          </p:cNvCxnSpPr>
          <p:nvPr/>
        </p:nvCxnSpPr>
        <p:spPr>
          <a:xfrm flipV="1">
            <a:off x="3859893" y="3752910"/>
            <a:ext cx="457200" cy="3632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9" idx="0"/>
            <a:endCxn id="29" idx="2"/>
          </p:cNvCxnSpPr>
          <p:nvPr/>
        </p:nvCxnSpPr>
        <p:spPr>
          <a:xfrm rot="16200000" flipH="1">
            <a:off x="5276415" y="937611"/>
            <a:ext cx="19110" cy="6068688"/>
          </a:xfrm>
          <a:prstGeom prst="bentConnector5">
            <a:avLst>
              <a:gd name="adj1" fmla="val 4955819"/>
              <a:gd name="adj2" fmla="val 49184"/>
              <a:gd name="adj3" fmla="val 4962606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362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96</a:t>
            </a:r>
          </a:p>
        </p:txBody>
      </p:sp>
      <p:cxnSp>
        <p:nvCxnSpPr>
          <p:cNvPr id="25" name="Straight Connector 24"/>
          <p:cNvCxnSpPr>
            <a:stCxn id="13" idx="3"/>
            <a:endCxn id="21" idx="1"/>
          </p:cNvCxnSpPr>
          <p:nvPr/>
        </p:nvCxnSpPr>
        <p:spPr>
          <a:xfrm>
            <a:off x="5140779" y="3752910"/>
            <a:ext cx="395514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1" idx="3"/>
            <a:endCxn id="54" idx="1"/>
          </p:cNvCxnSpPr>
          <p:nvPr/>
        </p:nvCxnSpPr>
        <p:spPr>
          <a:xfrm>
            <a:off x="6359979" y="3752910"/>
            <a:ext cx="360135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908471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78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096000" y="1828800"/>
            <a:ext cx="1353457" cy="1447800"/>
            <a:chOff x="4971143" y="2895600"/>
            <a:chExt cx="1353457" cy="1447800"/>
          </a:xfrm>
        </p:grpSpPr>
        <p:cxnSp>
          <p:nvCxnSpPr>
            <p:cNvPr id="38" name="Straight Arrow Connector 37"/>
            <p:cNvCxnSpPr>
              <a:stCxn id="39" idx="2"/>
            </p:cNvCxnSpPr>
            <p:nvPr/>
          </p:nvCxnSpPr>
          <p:spPr>
            <a:xfrm flipH="1">
              <a:off x="5004707" y="3505200"/>
              <a:ext cx="643165" cy="838200"/>
            </a:xfrm>
            <a:prstGeom prst="straightConnector1">
              <a:avLst/>
            </a:prstGeom>
            <a:ln w="25400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4971143" y="2895600"/>
              <a:ext cx="1353457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/>
                <a:t>Cần xóa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528440" y="2574479"/>
            <a:ext cx="800219" cy="912732"/>
            <a:chOff x="3517122" y="5029200"/>
            <a:chExt cx="800219" cy="912732"/>
          </a:xfrm>
        </p:grpSpPr>
        <p:cxnSp>
          <p:nvCxnSpPr>
            <p:cNvPr id="43" name="Elbow Connector 42"/>
            <p:cNvCxnSpPr/>
            <p:nvPr/>
          </p:nvCxnSpPr>
          <p:spPr>
            <a:xfrm rot="5400000" flipH="1" flipV="1">
              <a:off x="3670657" y="5675231"/>
              <a:ext cx="53340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517122" y="502920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rgbClr val="FF0000"/>
                  </a:solidFill>
                </a:rPr>
                <a:t>pDel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838200" y="5420380"/>
            <a:ext cx="3850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FF0000"/>
                </a:solidFill>
              </a:rPr>
              <a:t>pDel.Next</a:t>
            </a:r>
            <a:r>
              <a:rPr lang="en-US" sz="2800" i="1" dirty="0">
                <a:solidFill>
                  <a:srgbClr val="FF0000"/>
                </a:solidFill>
              </a:rPr>
              <a:t> = </a:t>
            </a:r>
            <a:r>
              <a:rPr lang="en-US" sz="2800" i="1" dirty="0" err="1">
                <a:solidFill>
                  <a:srgbClr val="FF0000"/>
                </a:solidFill>
              </a:rPr>
              <a:t>pSau.Next</a:t>
            </a:r>
            <a:endParaRPr lang="en-US" sz="2800" i="1" dirty="0">
              <a:solidFill>
                <a:srgbClr val="FF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720114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41</a:t>
            </a:r>
          </a:p>
        </p:txBody>
      </p:sp>
      <p:cxnSp>
        <p:nvCxnSpPr>
          <p:cNvPr id="60" name="Straight Connector 59"/>
          <p:cNvCxnSpPr>
            <a:stCxn id="54" idx="3"/>
            <a:endCxn id="29" idx="1"/>
          </p:cNvCxnSpPr>
          <p:nvPr/>
        </p:nvCxnSpPr>
        <p:spPr>
          <a:xfrm>
            <a:off x="7543800" y="3752910"/>
            <a:ext cx="364671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42">
            <a:extLst>
              <a:ext uri="{FF2B5EF4-FFF2-40B4-BE49-F238E27FC236}">
                <a16:creationId xmlns:a16="http://schemas.microsoft.com/office/drawing/2014/main" id="{D5935CC4-A852-4FC8-AEB3-4F29B2571C0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97116" y="3235433"/>
            <a:ext cx="533400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583138-7920-4419-89A3-F9D5AE2813D1}"/>
              </a:ext>
            </a:extLst>
          </p:cNvPr>
          <p:cNvSpPr txBox="1"/>
          <p:nvPr/>
        </p:nvSpPr>
        <p:spPr>
          <a:xfrm>
            <a:off x="6743581" y="2589402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pSau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3482A5D-2C66-4C14-8CA5-A4EB40022B73}"/>
              </a:ext>
            </a:extLst>
          </p:cNvPr>
          <p:cNvSpPr/>
          <p:nvPr/>
        </p:nvSpPr>
        <p:spPr>
          <a:xfrm>
            <a:off x="6413254" y="3795721"/>
            <a:ext cx="1495217" cy="547732"/>
          </a:xfrm>
          <a:custGeom>
            <a:avLst/>
            <a:gdLst>
              <a:gd name="connsiteX0" fmla="*/ 0 w 1579419"/>
              <a:gd name="connsiteY0" fmla="*/ 0 h 609613"/>
              <a:gd name="connsiteX1" fmla="*/ 748146 w 1579419"/>
              <a:gd name="connsiteY1" fmla="*/ 609600 h 609613"/>
              <a:gd name="connsiteX2" fmla="*/ 1579419 w 1579419"/>
              <a:gd name="connsiteY2" fmla="*/ 13854 h 609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9419" h="609613">
                <a:moveTo>
                  <a:pt x="0" y="0"/>
                </a:moveTo>
                <a:cubicBezTo>
                  <a:pt x="242455" y="303645"/>
                  <a:pt x="484910" y="607291"/>
                  <a:pt x="748146" y="609600"/>
                </a:cubicBezTo>
                <a:cubicBezTo>
                  <a:pt x="1011383" y="611909"/>
                  <a:pt x="1295401" y="312881"/>
                  <a:pt x="1579419" y="13854"/>
                </a:cubicBezTo>
              </a:path>
            </a:pathLst>
          </a:cu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7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3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1970"/>
            <a:ext cx="8439150" cy="685800"/>
          </a:xfrm>
        </p:spPr>
        <p:txBody>
          <a:bodyPr/>
          <a:lstStyle/>
          <a:p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– </a:t>
            </a:r>
            <a:r>
              <a:rPr lang="en-US" dirty="0" err="1"/>
              <a:t>Cách</a:t>
            </a:r>
            <a:r>
              <a:rPr lang="en-US" dirty="0"/>
              <a:t> 2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t>30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-26307" y="3276600"/>
            <a:ext cx="2757055" cy="1085910"/>
            <a:chOff x="214745" y="4724400"/>
            <a:chExt cx="2757055" cy="1085910"/>
          </a:xfrm>
        </p:grpSpPr>
        <p:sp>
          <p:nvSpPr>
            <p:cNvPr id="5" name="Rectangle 4"/>
            <p:cNvSpPr/>
            <p:nvPr/>
          </p:nvSpPr>
          <p:spPr>
            <a:xfrm>
              <a:off x="987701" y="4724400"/>
              <a:ext cx="1984099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0101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3619" y="5410200"/>
              <a:ext cx="667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first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4274" y="4876800"/>
              <a:ext cx="685800" cy="533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b="1">
                <a:solidFill>
                  <a:srgbClr val="00206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79932" y="5410200"/>
              <a:ext cx="6254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last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745" y="5087080"/>
              <a:ext cx="5774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/>
                <a:t>list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0216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30</a:t>
            </a:r>
          </a:p>
        </p:txBody>
      </p:sp>
      <p:cxnSp>
        <p:nvCxnSpPr>
          <p:cNvPr id="12" name="Elbow Connector 11"/>
          <p:cNvCxnSpPr>
            <a:stCxn id="6" idx="0"/>
            <a:endCxn id="11" idx="0"/>
          </p:cNvCxnSpPr>
          <p:nvPr/>
        </p:nvCxnSpPr>
        <p:spPr>
          <a:xfrm rot="16200000" flipH="1">
            <a:off x="2290087" y="2380862"/>
            <a:ext cx="95310" cy="2191587"/>
          </a:xfrm>
          <a:prstGeom prst="bentConnector3">
            <a:avLst>
              <a:gd name="adj1" fmla="val -835838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170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25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732157" y="3524311"/>
            <a:ext cx="411843" cy="457200"/>
            <a:chOff x="7924800" y="6206835"/>
            <a:chExt cx="411843" cy="457200"/>
          </a:xfrm>
        </p:grpSpPr>
        <p:sp>
          <p:nvSpPr>
            <p:cNvPr id="15" name="Rectangle 14"/>
            <p:cNvSpPr/>
            <p:nvPr/>
          </p:nvSpPr>
          <p:spPr>
            <a:xfrm>
              <a:off x="7924800" y="6206835"/>
              <a:ext cx="411843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7924800" y="6206835"/>
              <a:ext cx="411843" cy="457200"/>
              <a:chOff x="7924800" y="6206835"/>
              <a:chExt cx="411843" cy="457200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H="1">
                <a:off x="7961086" y="6206835"/>
                <a:ext cx="375557" cy="457200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7924800" y="6221190"/>
                <a:ext cx="411843" cy="442845"/>
              </a:xfrm>
              <a:prstGeom prst="line">
                <a:avLst/>
              </a:prstGeom>
              <a:ln w="38100">
                <a:solidFill>
                  <a:srgbClr val="FFFF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" name="Straight Connector 18"/>
          <p:cNvCxnSpPr>
            <a:endCxn id="13" idx="1"/>
          </p:cNvCxnSpPr>
          <p:nvPr/>
        </p:nvCxnSpPr>
        <p:spPr>
          <a:xfrm flipV="1">
            <a:off x="3859893" y="3752910"/>
            <a:ext cx="457200" cy="3632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9" idx="0"/>
            <a:endCxn id="29" idx="2"/>
          </p:cNvCxnSpPr>
          <p:nvPr/>
        </p:nvCxnSpPr>
        <p:spPr>
          <a:xfrm rot="16200000" flipH="1">
            <a:off x="5276415" y="937611"/>
            <a:ext cx="19110" cy="6068688"/>
          </a:xfrm>
          <a:prstGeom prst="bentConnector5">
            <a:avLst>
              <a:gd name="adj1" fmla="val 4955819"/>
              <a:gd name="adj2" fmla="val 49184"/>
              <a:gd name="adj3" fmla="val 4962606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36293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96</a:t>
            </a:r>
          </a:p>
        </p:txBody>
      </p:sp>
      <p:cxnSp>
        <p:nvCxnSpPr>
          <p:cNvPr id="25" name="Straight Connector 24"/>
          <p:cNvCxnSpPr>
            <a:stCxn id="13" idx="3"/>
            <a:endCxn id="21" idx="1"/>
          </p:cNvCxnSpPr>
          <p:nvPr/>
        </p:nvCxnSpPr>
        <p:spPr>
          <a:xfrm>
            <a:off x="5140779" y="3752910"/>
            <a:ext cx="395514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1" idx="3"/>
            <a:endCxn id="54" idx="1"/>
          </p:cNvCxnSpPr>
          <p:nvPr/>
        </p:nvCxnSpPr>
        <p:spPr>
          <a:xfrm>
            <a:off x="6359979" y="3752910"/>
            <a:ext cx="360135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908471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78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6096000" y="1828800"/>
            <a:ext cx="1353457" cy="1447800"/>
            <a:chOff x="4971143" y="2895600"/>
            <a:chExt cx="1353457" cy="1447800"/>
          </a:xfrm>
        </p:grpSpPr>
        <p:cxnSp>
          <p:nvCxnSpPr>
            <p:cNvPr id="38" name="Straight Arrow Connector 37"/>
            <p:cNvCxnSpPr>
              <a:stCxn id="39" idx="2"/>
            </p:cNvCxnSpPr>
            <p:nvPr/>
          </p:nvCxnSpPr>
          <p:spPr>
            <a:xfrm flipH="1">
              <a:off x="5004707" y="3505200"/>
              <a:ext cx="643165" cy="838200"/>
            </a:xfrm>
            <a:prstGeom prst="straightConnector1">
              <a:avLst/>
            </a:prstGeom>
            <a:ln w="25400"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4971143" y="2895600"/>
              <a:ext cx="1353457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/>
                <a:t>Cần xóa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528440" y="2574479"/>
            <a:ext cx="800219" cy="912732"/>
            <a:chOff x="3517122" y="5029200"/>
            <a:chExt cx="800219" cy="912732"/>
          </a:xfrm>
        </p:grpSpPr>
        <p:cxnSp>
          <p:nvCxnSpPr>
            <p:cNvPr id="43" name="Elbow Connector 42"/>
            <p:cNvCxnSpPr/>
            <p:nvPr/>
          </p:nvCxnSpPr>
          <p:spPr>
            <a:xfrm rot="5400000" flipH="1" flipV="1">
              <a:off x="3670657" y="5675231"/>
              <a:ext cx="533400" cy="1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517122" y="5029200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rgbClr val="FF0000"/>
                  </a:solidFill>
                </a:rPr>
                <a:t>pDel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838200" y="5420380"/>
            <a:ext cx="1529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rgbClr val="FF0000"/>
                </a:solidFill>
              </a:rPr>
              <a:t>Xóa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i="1" dirty="0" err="1">
                <a:solidFill>
                  <a:srgbClr val="FF0000"/>
                </a:solidFill>
              </a:rPr>
              <a:t>pSau</a:t>
            </a:r>
            <a:endParaRPr lang="en-US" sz="2800" i="1" dirty="0">
              <a:solidFill>
                <a:srgbClr val="FF00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720114" y="3524310"/>
            <a:ext cx="82368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41</a:t>
            </a:r>
          </a:p>
        </p:txBody>
      </p:sp>
      <p:cxnSp>
        <p:nvCxnSpPr>
          <p:cNvPr id="60" name="Straight Connector 59"/>
          <p:cNvCxnSpPr>
            <a:stCxn id="54" idx="3"/>
            <a:endCxn id="29" idx="1"/>
          </p:cNvCxnSpPr>
          <p:nvPr/>
        </p:nvCxnSpPr>
        <p:spPr>
          <a:xfrm>
            <a:off x="7543800" y="3752910"/>
            <a:ext cx="364671" cy="0"/>
          </a:xfrm>
          <a:prstGeom prst="line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42">
            <a:extLst>
              <a:ext uri="{FF2B5EF4-FFF2-40B4-BE49-F238E27FC236}">
                <a16:creationId xmlns:a16="http://schemas.microsoft.com/office/drawing/2014/main" id="{D5935CC4-A852-4FC8-AEB3-4F29B2571C0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97116" y="3235433"/>
            <a:ext cx="533400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583138-7920-4419-89A3-F9D5AE2813D1}"/>
              </a:ext>
            </a:extLst>
          </p:cNvPr>
          <p:cNvSpPr txBox="1"/>
          <p:nvPr/>
        </p:nvSpPr>
        <p:spPr>
          <a:xfrm>
            <a:off x="6743581" y="2589402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pSau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3482A5D-2C66-4C14-8CA5-A4EB40022B73}"/>
              </a:ext>
            </a:extLst>
          </p:cNvPr>
          <p:cNvSpPr/>
          <p:nvPr/>
        </p:nvSpPr>
        <p:spPr>
          <a:xfrm>
            <a:off x="6413254" y="3795721"/>
            <a:ext cx="1495217" cy="547732"/>
          </a:xfrm>
          <a:custGeom>
            <a:avLst/>
            <a:gdLst>
              <a:gd name="connsiteX0" fmla="*/ 0 w 1579419"/>
              <a:gd name="connsiteY0" fmla="*/ 0 h 609613"/>
              <a:gd name="connsiteX1" fmla="*/ 748146 w 1579419"/>
              <a:gd name="connsiteY1" fmla="*/ 609600 h 609613"/>
              <a:gd name="connsiteX2" fmla="*/ 1579419 w 1579419"/>
              <a:gd name="connsiteY2" fmla="*/ 13854 h 609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9419" h="609613">
                <a:moveTo>
                  <a:pt x="0" y="0"/>
                </a:moveTo>
                <a:cubicBezTo>
                  <a:pt x="242455" y="303645"/>
                  <a:pt x="484910" y="607291"/>
                  <a:pt x="748146" y="609600"/>
                </a:cubicBezTo>
                <a:cubicBezTo>
                  <a:pt x="1011383" y="611909"/>
                  <a:pt x="1295401" y="312881"/>
                  <a:pt x="1579419" y="13854"/>
                </a:cubicBezTo>
              </a:path>
            </a:pathLst>
          </a:cu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5BACBAF-CAEF-4550-AFCB-4178E1E44D61}"/>
              </a:ext>
            </a:extLst>
          </p:cNvPr>
          <p:cNvGrpSpPr/>
          <p:nvPr/>
        </p:nvGrpSpPr>
        <p:grpSpPr>
          <a:xfrm>
            <a:off x="6823074" y="3364674"/>
            <a:ext cx="617765" cy="704913"/>
            <a:chOff x="6400800" y="3886200"/>
            <a:chExt cx="411843" cy="45720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AF91737-0E2E-4820-B31D-D12D7C62FF88}"/>
                </a:ext>
              </a:extLst>
            </p:cNvPr>
            <p:cNvCxnSpPr/>
            <p:nvPr/>
          </p:nvCxnSpPr>
          <p:spPr>
            <a:xfrm flipH="1">
              <a:off x="6437086" y="3886200"/>
              <a:ext cx="375557" cy="4572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191BAF7-F767-4BC3-8C9F-2813E01D8A5B}"/>
                </a:ext>
              </a:extLst>
            </p:cNvPr>
            <p:cNvCxnSpPr/>
            <p:nvPr/>
          </p:nvCxnSpPr>
          <p:spPr>
            <a:xfrm>
              <a:off x="6400800" y="3900555"/>
              <a:ext cx="411843" cy="44284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787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 1 node </a:t>
            </a:r>
            <a:r>
              <a:rPr lang="en-US" sz="3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pDel</a:t>
            </a: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bất kỳ của DSLK</a:t>
            </a:r>
            <a:endParaRPr/>
          </a:p>
        </p:txBody>
      </p:sp>
      <p:sp>
        <p:nvSpPr>
          <p:cNvPr id="497" name="Google Shape;497;p35"/>
          <p:cNvSpPr txBox="1">
            <a:spLocks noGrp="1"/>
          </p:cNvSpPr>
          <p:nvPr>
            <p:ph type="body" idx="1"/>
          </p:nvPr>
        </p:nvSpPr>
        <p:spPr>
          <a:xfrm>
            <a:off x="628650" y="1353788"/>
            <a:ext cx="7886700" cy="550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u="sng" dirty="0"/>
              <a:t>Algorithm:</a:t>
            </a:r>
            <a:r>
              <a:rPr lang="en-US" sz="2600" dirty="0"/>
              <a:t> </a:t>
            </a:r>
            <a:r>
              <a:rPr lang="en-US" sz="2600" b="1" dirty="0"/>
              <a:t>DeleteNode2</a:t>
            </a:r>
            <a:endParaRPr lang="en-US" sz="2600" b="1" i="0" u="sng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DSLK 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node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endParaRPr sz="2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600" b="0" i="0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600" b="0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true)</a:t>
            </a:r>
            <a:endParaRPr sz="26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600" dirty="0"/>
          </a:p>
          <a:p>
            <a:pPr marL="514350" marR="0" lvl="1" indent="-1714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rỗn</a:t>
            </a:r>
            <a:r>
              <a:rPr lang="en-US" sz="2600" i="1" dirty="0" err="1"/>
              <a:t>g</a:t>
            </a:r>
            <a:r>
              <a:rPr lang="en-US" sz="2600" i="1" dirty="0"/>
              <a:t> </a:t>
            </a:r>
            <a:r>
              <a:rPr lang="en-US" sz="2600" i="1" dirty="0" err="1"/>
              <a:t>thì</a:t>
            </a:r>
            <a:r>
              <a:rPr lang="en-US" sz="2600" i="1" dirty="0"/>
              <a:t> </a:t>
            </a:r>
            <a:r>
              <a:rPr lang="en-US" sz="2600" i="1" dirty="0" err="1"/>
              <a:t>trả</a:t>
            </a:r>
            <a:r>
              <a:rPr lang="en-US" sz="2600" i="1" dirty="0"/>
              <a:t> </a:t>
            </a:r>
            <a:r>
              <a:rPr lang="en-US" sz="2600" i="1" dirty="0" err="1"/>
              <a:t>về</a:t>
            </a:r>
            <a:r>
              <a:rPr lang="en-US" sz="2600" i="1" dirty="0"/>
              <a:t> </a:t>
            </a:r>
            <a:r>
              <a:rPr lang="en-US" sz="2600" i="1" dirty="0">
                <a:solidFill>
                  <a:srgbClr val="FF0000"/>
                </a:solidFill>
              </a:rPr>
              <a:t>false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514350" marR="0" lvl="1" indent="-1714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i="1" dirty="0"/>
              <a:t>B2: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i="1" dirty="0"/>
              <a:t>=Last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RemoveLast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  <a:endParaRPr lang="en-US" sz="2600" i="1" dirty="0"/>
          </a:p>
          <a:p>
            <a:pPr marL="514350" marR="0" lvl="1" indent="-1714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B3: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pSau</a:t>
            </a:r>
            <a:r>
              <a:rPr lang="en-US" sz="2600" i="1" dirty="0"/>
              <a:t>=</a:t>
            </a:r>
            <a:r>
              <a:rPr lang="en-US" sz="2600" i="1" dirty="0" err="1"/>
              <a:t>pDel.Next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514350" marR="0" lvl="1" indent="-1714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B4: Hoán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trị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514350" marR="0" lvl="1" indent="-17145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B5:</a:t>
            </a:r>
            <a:r>
              <a:rPr lang="en-US" sz="2600" i="1" dirty="0"/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pDel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pSau.Next</a:t>
            </a:r>
            <a:endParaRPr lang="en-US" sz="26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1" indent="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lang="en-US" sz="2600" i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26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pSau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1" indent="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i="1" dirty="0"/>
              <a:t>	 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6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6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98" name="Google Shape;498;p35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4672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8286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Cài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đặt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thức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xoá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node </a:t>
            </a:r>
            <a:r>
              <a:rPr lang="en-US" sz="32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pDel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bất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kỳ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DSLK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cách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dirty="0"/>
          </a:p>
        </p:txBody>
      </p:sp>
      <p:sp>
        <p:nvSpPr>
          <p:cNvPr id="504" name="Google Shape;504;p36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76200" y="1724085"/>
            <a:ext cx="8991600" cy="452431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DeleteNode</a:t>
            </a:r>
            <a:r>
              <a:rPr lang="en-US" sz="2400" dirty="0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(Node&lt;T&gt; </a:t>
            </a:r>
            <a:r>
              <a:rPr lang="en-US" sz="2400" dirty="0" err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pDel</a:t>
            </a: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  <a:reflection stA="50000" endA="300" endPos="9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053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7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8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tập</a:t>
            </a: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7"/>
          <p:cNvSpPr txBox="1">
            <a:spLocks noGrp="1"/>
          </p:cNvSpPr>
          <p:nvPr>
            <p:ph type="body" idx="1"/>
          </p:nvPr>
        </p:nvSpPr>
        <p:spPr>
          <a:xfrm>
            <a:off x="628650" y="1371600"/>
            <a:ext cx="7886700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DSLK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nguyên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nghĩa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45720" marR="0" lvl="0" indent="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trị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xuất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tiên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xóa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800" i="1" dirty="0"/>
              <a:t>;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ngược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  <a:p>
            <a:pPr marL="45720" marR="0" lvl="0" indent="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Sắp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DSLK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dần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pháp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chọn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trực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tiếp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/>
          </a:p>
        </p:txBody>
      </p:sp>
      <p:sp>
        <p:nvSpPr>
          <p:cNvPr id="513" name="Google Shape;513;p37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5121276"/>
          </a:xfrm>
        </p:spPr>
        <p:txBody>
          <a:bodyPr>
            <a:normAutofit lnSpcReduction="10000"/>
          </a:bodyPr>
          <a:lstStyle/>
          <a:p>
            <a:r>
              <a:rPr lang="en-US" sz="2600" u="sng" dirty="0"/>
              <a:t>Algorithm:</a:t>
            </a:r>
            <a:r>
              <a:rPr lang="en-US" sz="2600" dirty="0"/>
              <a:t> </a:t>
            </a:r>
            <a:r>
              <a:rPr lang="en-US" sz="2600" b="1" dirty="0"/>
              <a:t>Sort</a:t>
            </a:r>
            <a:endParaRPr lang="en-US" sz="2600" u="sng" dirty="0"/>
          </a:p>
          <a:p>
            <a:r>
              <a:rPr lang="en-US" sz="2600" u="sng" dirty="0"/>
              <a:t>Input</a:t>
            </a:r>
            <a:r>
              <a:rPr lang="en-US" sz="2600" dirty="0"/>
              <a:t>: DSLK </a:t>
            </a:r>
            <a:r>
              <a:rPr lang="en-US" sz="2600" dirty="0">
                <a:solidFill>
                  <a:srgbClr val="FF0000"/>
                </a:solidFill>
              </a:rPr>
              <a:t>list</a:t>
            </a:r>
          </a:p>
          <a:p>
            <a:r>
              <a:rPr lang="en-US" sz="2600" u="sng" dirty="0"/>
              <a:t>Output</a:t>
            </a:r>
            <a:r>
              <a:rPr lang="en-US" sz="2600" dirty="0"/>
              <a:t>: </a:t>
            </a:r>
            <a:r>
              <a:rPr lang="en-US" sz="2600" dirty="0">
                <a:solidFill>
                  <a:srgbClr val="FF0000"/>
                </a:solidFill>
              </a:rPr>
              <a:t>list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tăng</a:t>
            </a:r>
            <a:r>
              <a:rPr lang="en-US" sz="2600" dirty="0"/>
              <a:t> </a:t>
            </a:r>
            <a:r>
              <a:rPr lang="en-US" sz="2600" dirty="0" err="1"/>
              <a:t>dần</a:t>
            </a:r>
            <a:endParaRPr lang="en-US" sz="2600" dirty="0"/>
          </a:p>
          <a:p>
            <a:r>
              <a:rPr lang="en-US" sz="2600" u="sng" dirty="0"/>
              <a:t>Algorithm</a:t>
            </a:r>
            <a:r>
              <a:rPr lang="en-US" sz="2600" dirty="0"/>
              <a:t>:</a:t>
            </a:r>
          </a:p>
          <a:p>
            <a:pPr lvl="1"/>
            <a:r>
              <a:rPr lang="en-US" sz="2600" i="1" dirty="0"/>
              <a:t>B1: p = First</a:t>
            </a:r>
          </a:p>
          <a:p>
            <a:pPr lvl="1"/>
            <a:r>
              <a:rPr lang="en-US" sz="2600" i="1" dirty="0"/>
              <a:t>B2: </a:t>
            </a:r>
            <a:r>
              <a:rPr lang="en-US" sz="2600" i="1" dirty="0" err="1"/>
              <a:t>Tìm</a:t>
            </a:r>
            <a:r>
              <a:rPr lang="en-US" sz="2600" i="1" dirty="0"/>
              <a:t> node </a:t>
            </a:r>
            <a:r>
              <a:rPr lang="en-US" sz="2600" i="1" dirty="0" err="1"/>
              <a:t>pMin</a:t>
            </a:r>
            <a:r>
              <a:rPr lang="en-US" sz="2600" i="1" dirty="0"/>
              <a:t> </a:t>
            </a:r>
            <a:r>
              <a:rPr lang="en-US" sz="2600" i="1" dirty="0" err="1"/>
              <a:t>có</a:t>
            </a:r>
            <a:r>
              <a:rPr lang="en-US" sz="2600" i="1" dirty="0"/>
              <a:t> </a:t>
            </a:r>
            <a:r>
              <a:rPr lang="en-US" sz="2600" i="1" dirty="0" err="1"/>
              <a:t>giá</a:t>
            </a:r>
            <a:r>
              <a:rPr lang="en-US" sz="2600" i="1" dirty="0"/>
              <a:t> </a:t>
            </a:r>
            <a:r>
              <a:rPr lang="en-US" sz="2600" i="1" dirty="0" err="1"/>
              <a:t>trị</a:t>
            </a:r>
            <a:r>
              <a:rPr lang="en-US" sz="2600" i="1" dirty="0"/>
              <a:t> </a:t>
            </a:r>
            <a:r>
              <a:rPr lang="en-US" sz="2600" i="1" dirty="0" err="1"/>
              <a:t>nhỏ</a:t>
            </a:r>
            <a:r>
              <a:rPr lang="en-US" sz="2600" i="1" dirty="0"/>
              <a:t> </a:t>
            </a:r>
            <a:r>
              <a:rPr lang="en-US" sz="2600" i="1" dirty="0" err="1"/>
              <a:t>nhất</a:t>
            </a:r>
            <a:r>
              <a:rPr lang="en-US" sz="2600" i="1" dirty="0"/>
              <a:t> </a:t>
            </a:r>
            <a:r>
              <a:rPr lang="en-US" sz="2600" i="1" dirty="0" err="1"/>
              <a:t>từ</a:t>
            </a:r>
            <a:r>
              <a:rPr lang="en-US" sz="2600" i="1" dirty="0"/>
              <a:t> p </a:t>
            </a:r>
            <a:r>
              <a:rPr lang="en-US" sz="2600" i="1" dirty="0" err="1"/>
              <a:t>đến</a:t>
            </a:r>
            <a:r>
              <a:rPr lang="en-US" sz="2600" i="1" dirty="0"/>
              <a:t> cuối </a:t>
            </a:r>
            <a:r>
              <a:rPr lang="en-US" sz="2600" i="1" dirty="0" err="1"/>
              <a:t>danh</a:t>
            </a:r>
            <a:r>
              <a:rPr lang="en-US" sz="2600" i="1" dirty="0"/>
              <a:t> </a:t>
            </a:r>
            <a:r>
              <a:rPr lang="en-US" sz="2600" i="1" dirty="0" err="1"/>
              <a:t>sách</a:t>
            </a:r>
            <a:endParaRPr lang="en-US" sz="2600" i="1" dirty="0"/>
          </a:p>
          <a:p>
            <a:pPr lvl="1"/>
            <a:r>
              <a:rPr lang="en-US" sz="2600" i="1" dirty="0"/>
              <a:t>B3: Hoán </a:t>
            </a:r>
            <a:r>
              <a:rPr lang="en-US" sz="2600" i="1" dirty="0" err="1"/>
              <a:t>vị</a:t>
            </a:r>
            <a:r>
              <a:rPr lang="en-US" sz="2600" i="1" dirty="0"/>
              <a:t> </a:t>
            </a:r>
            <a:r>
              <a:rPr lang="en-US" sz="2600" i="1" dirty="0" err="1"/>
              <a:t>giá</a:t>
            </a:r>
            <a:r>
              <a:rPr lang="en-US" sz="2600" i="1" dirty="0"/>
              <a:t> </a:t>
            </a:r>
            <a:r>
              <a:rPr lang="en-US" sz="2600" i="1" dirty="0" err="1"/>
              <a:t>trị</a:t>
            </a:r>
            <a:r>
              <a:rPr lang="en-US" sz="2600" i="1" dirty="0"/>
              <a:t> p </a:t>
            </a:r>
            <a:r>
              <a:rPr lang="en-US" sz="2600" i="1" dirty="0" err="1"/>
              <a:t>và</a:t>
            </a:r>
            <a:r>
              <a:rPr lang="en-US" sz="2600" i="1" dirty="0"/>
              <a:t> </a:t>
            </a:r>
            <a:r>
              <a:rPr lang="en-US" sz="2600" i="1" dirty="0" err="1"/>
              <a:t>pMin</a:t>
            </a:r>
            <a:endParaRPr lang="en-US" sz="2600" i="1" dirty="0"/>
          </a:p>
          <a:p>
            <a:pPr lvl="1"/>
            <a:r>
              <a:rPr lang="en-US" sz="2600" i="1" dirty="0"/>
              <a:t>B4: p=</a:t>
            </a:r>
            <a:r>
              <a:rPr lang="en-US" sz="2600" i="1" dirty="0" err="1"/>
              <a:t>p.Next</a:t>
            </a:r>
            <a:endParaRPr lang="en-US" sz="2600" i="1" dirty="0"/>
          </a:p>
          <a:p>
            <a:pPr lvl="1"/>
            <a:r>
              <a:rPr lang="en-US" sz="2600" i="1" dirty="0"/>
              <a:t>B5: </a:t>
            </a:r>
            <a:r>
              <a:rPr lang="en-US" sz="2600" i="1" dirty="0" err="1"/>
              <a:t>Nếu</a:t>
            </a:r>
            <a:r>
              <a:rPr lang="en-US" sz="2600" i="1" dirty="0"/>
              <a:t> p=</a:t>
            </a:r>
            <a:r>
              <a:rPr lang="en-US" sz="2600" i="1" dirty="0">
                <a:solidFill>
                  <a:srgbClr val="FF0000"/>
                </a:solidFill>
              </a:rPr>
              <a:t>last</a:t>
            </a:r>
            <a:r>
              <a:rPr lang="en-US" sz="2600" i="1" dirty="0"/>
              <a:t> </a:t>
            </a:r>
            <a:r>
              <a:rPr lang="en-US" sz="2600" i="1" dirty="0" err="1"/>
              <a:t>thì</a:t>
            </a:r>
            <a:r>
              <a:rPr lang="en-US" sz="2600" i="1" dirty="0"/>
              <a:t> </a:t>
            </a:r>
            <a:r>
              <a:rPr lang="en-US" sz="2600" i="1" dirty="0" err="1">
                <a:solidFill>
                  <a:srgbClr val="FF0000"/>
                </a:solidFill>
              </a:rPr>
              <a:t>kết</a:t>
            </a:r>
            <a:r>
              <a:rPr lang="en-US" sz="2600" i="1" dirty="0">
                <a:solidFill>
                  <a:srgbClr val="FF0000"/>
                </a:solidFill>
              </a:rPr>
              <a:t> thúc</a:t>
            </a:r>
          </a:p>
          <a:p>
            <a:pPr marL="342900" lvl="1" indent="0">
              <a:buNone/>
            </a:pPr>
            <a:r>
              <a:rPr lang="en-US" sz="2600" i="1" dirty="0"/>
              <a:t>	     </a:t>
            </a:r>
            <a:r>
              <a:rPr lang="en-US" sz="2600" i="1" dirty="0" err="1"/>
              <a:t>Ngược</a:t>
            </a:r>
            <a:r>
              <a:rPr lang="en-US" sz="2600" i="1" dirty="0"/>
              <a:t> </a:t>
            </a:r>
            <a:r>
              <a:rPr lang="en-US" sz="2600" i="1" dirty="0" err="1"/>
              <a:t>lại</a:t>
            </a:r>
            <a:r>
              <a:rPr lang="en-US" sz="2600" i="1" dirty="0"/>
              <a:t> quay </a:t>
            </a:r>
            <a:r>
              <a:rPr lang="en-US" sz="2600" i="1" dirty="0" err="1"/>
              <a:t>lại</a:t>
            </a:r>
            <a:r>
              <a:rPr lang="en-US" sz="2600" i="1" dirty="0"/>
              <a:t> B2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13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86750" cy="1325563"/>
          </a:xfrm>
        </p:spPr>
        <p:txBody>
          <a:bodyPr>
            <a:normAutofit/>
          </a:bodyPr>
          <a:lstStyle/>
          <a:p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</a:t>
            </a:r>
            <a:r>
              <a:rPr lang="en-US" sz="3200" dirty="0" err="1"/>
              <a:t>hàm</a:t>
            </a:r>
            <a:r>
              <a:rPr lang="en-US" sz="3200" dirty="0"/>
              <a:t> </a:t>
            </a:r>
            <a:r>
              <a:rPr lang="en-US" sz="3200" dirty="0" err="1"/>
              <a:t>sắp</a:t>
            </a:r>
            <a:r>
              <a:rPr lang="en-US" sz="3200" dirty="0"/>
              <a:t> </a:t>
            </a:r>
            <a:r>
              <a:rPr lang="en-US" sz="3200" dirty="0" err="1"/>
              <a:t>xếp</a:t>
            </a:r>
            <a:r>
              <a:rPr lang="en-US" sz="3200" dirty="0"/>
              <a:t> </a:t>
            </a:r>
            <a:r>
              <a:rPr lang="en-US" sz="3200" dirty="0" err="1"/>
              <a:t>tăng</a:t>
            </a:r>
            <a:r>
              <a:rPr lang="en-US" sz="3200" dirty="0"/>
              <a:t> DSLK </a:t>
            </a:r>
            <a:r>
              <a:rPr lang="en-US" sz="3200" dirty="0" err="1"/>
              <a:t>số</a:t>
            </a:r>
            <a:r>
              <a:rPr lang="en-US" sz="3200" dirty="0"/>
              <a:t> </a:t>
            </a:r>
            <a:r>
              <a:rPr lang="en-US" sz="3200" dirty="0" err="1"/>
              <a:t>nguyên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1DBF6-3D38-457A-8E06-12EA016910E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" y="1724085"/>
            <a:ext cx="8991600" cy="41549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 </a:t>
            </a:r>
            <a:r>
              <a:rPr lang="fr-FR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HoanVi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fr-FR" sz="22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200" dirty="0">
                <a:latin typeface="Consolas" panose="020B0609020204030204" pitchFamily="49" charset="0"/>
              </a:rPr>
              <a:t>a, </a:t>
            </a:r>
            <a:r>
              <a:rPr lang="fr-FR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fr-FR" sz="22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sz="2200" dirty="0">
                <a:latin typeface="Consolas" panose="020B0609020204030204" pitchFamily="49" charset="0"/>
              </a:rPr>
              <a:t>b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fr-FR" sz="2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fr-FR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 </a:t>
            </a:r>
            <a:r>
              <a:rPr lang="fr-FR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IntNode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TimMin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2200" dirty="0" err="1">
                <a:solidFill>
                  <a:srgbClr val="2B91AF"/>
                </a:solidFill>
                <a:latin typeface="Consolas" panose="020B0609020204030204" pitchFamily="49" charset="0"/>
              </a:rPr>
              <a:t>IntNode</a:t>
            </a:r>
            <a:r>
              <a:rPr lang="fr-FR" sz="2200" dirty="0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)//</a:t>
            </a:r>
            <a:r>
              <a:rPr lang="fr-F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Tìm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 min </a:t>
            </a:r>
            <a:r>
              <a:rPr lang="fr-F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từ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 p </a:t>
            </a:r>
            <a:r>
              <a:rPr lang="fr-F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đến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cuối</a:t>
            </a:r>
            <a:endParaRPr lang="fr-FR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fr-FR" sz="2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fr-FR" sz="2200" dirty="0">
                <a:solidFill>
                  <a:srgbClr val="0000FF"/>
                </a:solidFill>
                <a:latin typeface="Consolas" panose="020B0609020204030204" pitchFamily="49" charset="0"/>
              </a:rPr>
              <a:t>public </a:t>
            </a:r>
            <a:r>
              <a:rPr lang="fr-FR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200" dirty="0">
                <a:solidFill>
                  <a:srgbClr val="000000"/>
                </a:solidFill>
                <a:latin typeface="Consolas" panose="020B0609020204030204" pitchFamily="49" charset="0"/>
              </a:rPr>
              <a:t> Sort()</a:t>
            </a: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dirty="0"/>
          </a:p>
        </p:txBody>
      </p:sp>
      <p:sp>
        <p:nvSpPr>
          <p:cNvPr id="7" name="Oval 6"/>
          <p:cNvSpPr/>
          <p:nvPr/>
        </p:nvSpPr>
        <p:spPr>
          <a:xfrm>
            <a:off x="76200" y="76200"/>
            <a:ext cx="762000" cy="762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90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52374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823D-F2F4-F045-BF2A-3EA49FFBB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Cài đặt hàm SX theo pp Đổi chỗ TT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3F628-43B4-FB4B-A77A-3D263BAE9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400" indent="0">
              <a:buNone/>
            </a:pP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public </a:t>
            </a:r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InterchangeSort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2540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2540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540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BBE1D-A021-6E46-B640-8CB1305990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72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90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Bài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tập</a:t>
            </a: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8"/>
          <p:cNvSpPr txBox="1">
            <a:spLocks noGrp="1"/>
          </p:cNvSpPr>
          <p:nvPr>
            <p:ph type="body" idx="1"/>
          </p:nvPr>
        </p:nvSpPr>
        <p:spPr>
          <a:xfrm>
            <a:off x="628650" y="1447800"/>
            <a:ext cx="7886700" cy="472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5"/>
              <a:buFont typeface="Noto Sans Symbols"/>
              <a:buNone/>
            </a:pP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DSLK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đơn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5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MyLinkedList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bổ sung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/>
          </a:p>
          <a:p>
            <a:pPr marL="514350" marR="0" lvl="0" indent="-514350" algn="just" rtl="0">
              <a:lnSpc>
                <a:spcPct val="140000"/>
              </a:lnSpc>
              <a:spcBef>
                <a:spcPts val="722"/>
              </a:spcBef>
              <a:spcAft>
                <a:spcPts val="0"/>
              </a:spcAft>
              <a:buClr>
                <a:schemeClr val="dk1"/>
              </a:buClr>
              <a:buSzPts val="2405"/>
              <a:buFont typeface="Calibri"/>
              <a:buAutoNum type="arabicPeriod"/>
            </a:pP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sách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động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trí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thích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chèn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nhằm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đảm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bảo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dần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dựa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khóa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sánh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bất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endParaRPr dirty="0"/>
          </a:p>
          <a:p>
            <a:pPr marL="514350" marR="0" lvl="0" indent="-514350" algn="just" rtl="0">
              <a:lnSpc>
                <a:spcPct val="140000"/>
              </a:lnSpc>
              <a:spcBef>
                <a:spcPts val="722"/>
              </a:spcBef>
              <a:spcAft>
                <a:spcPts val="0"/>
              </a:spcAft>
              <a:buClr>
                <a:schemeClr val="dk1"/>
              </a:buClr>
              <a:buSzPts val="2405"/>
              <a:buFont typeface="Calibri"/>
              <a:buAutoNum type="arabicPeriod"/>
            </a:pP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Bổ sung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xoá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</a:t>
            </a:r>
            <a:endParaRPr dirty="0"/>
          </a:p>
          <a:p>
            <a:pPr marL="514350" marR="0" lvl="0" indent="-514350" algn="just" rtl="0">
              <a:lnSpc>
                <a:spcPct val="140000"/>
              </a:lnSpc>
              <a:spcBef>
                <a:spcPts val="722"/>
              </a:spcBef>
              <a:spcAft>
                <a:spcPts val="0"/>
              </a:spcAft>
              <a:buClr>
                <a:schemeClr val="dk1"/>
              </a:buClr>
              <a:buSzPts val="2405"/>
              <a:buFont typeface="Calibri"/>
              <a:buAutoNum type="arabicPeriod"/>
            </a:pP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sắp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xếp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dần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dựa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khoá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sánh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bất</a:t>
            </a:r>
            <a:r>
              <a:rPr lang="en-US" sz="2405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5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kỳ</a:t>
            </a:r>
            <a:endParaRPr sz="2405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38"/>
          <p:cNvSpPr txBox="1">
            <a:spLocks noGrp="1"/>
          </p:cNvSpPr>
          <p:nvPr>
            <p:ph type="sldNum" idx="12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900" b="1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9" descr="C:\Users\Minh Thanh\Desktop\faq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1676400"/>
            <a:ext cx="4749800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52277BDF55D44A62712C76FE01A4B" ma:contentTypeVersion="2" ma:contentTypeDescription="Create a new document." ma:contentTypeScope="" ma:versionID="232ded0e2faa80a5550211ed38ba48e6">
  <xsd:schema xmlns:xsd="http://www.w3.org/2001/XMLSchema" xmlns:xs="http://www.w3.org/2001/XMLSchema" xmlns:p="http://schemas.microsoft.com/office/2006/metadata/properties" xmlns:ns2="3dc0da11-70ec-4298-bf93-0cf833d2d1f5" targetNamespace="http://schemas.microsoft.com/office/2006/metadata/properties" ma:root="true" ma:fieldsID="acb72cece1da4e46e829a6d0d7ccea72" ns2:_="">
    <xsd:import namespace="3dc0da11-70ec-4298-bf93-0cf833d2d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0da11-70ec-4298-bf93-0cf833d2d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18D969-6A62-4378-A3BD-8B495882BD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0da11-70ec-4298-bf93-0cf833d2d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E0F854-BA69-4B62-A4B5-CECE6A6E8F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2732B1-561B-46E6-97B8-DF297533F0F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1826</Words>
  <Application>Microsoft Macintosh PowerPoint</Application>
  <PresentationFormat>On-screen Show (4:3)</PresentationFormat>
  <Paragraphs>413</Paragraphs>
  <Slides>38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Consolas</vt:lpstr>
      <vt:lpstr>Courier New</vt:lpstr>
      <vt:lpstr>Noto Sans Symbols</vt:lpstr>
      <vt:lpstr>Times New Roman</vt:lpstr>
      <vt:lpstr>Office Theme</vt:lpstr>
      <vt:lpstr>Bài 5: Danh sách liên kết – Phần 2</vt:lpstr>
      <vt:lpstr>Nội dung</vt:lpstr>
      <vt:lpstr>Chèn node vào DSLK đơn</vt:lpstr>
      <vt:lpstr>Chèn node vào sau node p</vt:lpstr>
      <vt:lpstr>Chèn node vào sau node p</vt:lpstr>
      <vt:lpstr>Cài đặt phương thức thêm pNew vào sau p</vt:lpstr>
      <vt:lpstr>Bài tập</vt:lpstr>
      <vt:lpstr>Chèn node vào trước node p – Cách 1</vt:lpstr>
      <vt:lpstr>Tìm node trước node p</vt:lpstr>
      <vt:lpstr>Cài đặt phương thức tìm node trước node p</vt:lpstr>
      <vt:lpstr>Chèn node pNew vào trước node p</vt:lpstr>
      <vt:lpstr>Cài đặt phương thức thêm pNew vào trước node p – Cách 1</vt:lpstr>
      <vt:lpstr>Chèn node vào trước node p – Cách 2</vt:lpstr>
      <vt:lpstr>Cài đặt phương thức thêm pNew vào trước node p – Cách 2</vt:lpstr>
      <vt:lpstr>Bài tập</vt:lpstr>
      <vt:lpstr>Xóa một node trong danh sách</vt:lpstr>
      <vt:lpstr>Xóa một nút trong danh sách</vt:lpstr>
      <vt:lpstr>Xoá node đầu của DSLK</vt:lpstr>
      <vt:lpstr>Cài đặt phương thức xoá node đầu DSLK</vt:lpstr>
      <vt:lpstr>Xóa một node trong danh sách</vt:lpstr>
      <vt:lpstr>Xoá node cuối trong danh sách</vt:lpstr>
      <vt:lpstr>Cài đặt phương thức xoá node cuối DSLK</vt:lpstr>
      <vt:lpstr>Xóa một node trong danh sách</vt:lpstr>
      <vt:lpstr>Xoá node pDel bên trong DSLK – Cách 1</vt:lpstr>
      <vt:lpstr>Xoá 1 node pDel bất kỳ của DSLK – Cách 1</vt:lpstr>
      <vt:lpstr>Cài đặt phương thức xoá 1 node pDel bất kỳ trong DSLK theo cách 1</vt:lpstr>
      <vt:lpstr>Xóa một nút trong danh sách</vt:lpstr>
      <vt:lpstr>Xóa một nút trong danh sách</vt:lpstr>
      <vt:lpstr>Xóa một nút trong danh sách</vt:lpstr>
      <vt:lpstr>Xóa một nút trong danh sách</vt:lpstr>
      <vt:lpstr>Xoá 1 node pDel bất kỳ của DSLK</vt:lpstr>
      <vt:lpstr>Cài đặt phương thức xoá 1 node pDel bất kỳ trong DSLK theo cách 2</vt:lpstr>
      <vt:lpstr>Bài tập</vt:lpstr>
      <vt:lpstr>Sắp xếp</vt:lpstr>
      <vt:lpstr>Cài đặt hàm sắp xếp tăng DSLK số nguyên</vt:lpstr>
      <vt:lpstr>Cài đặt hàm SX theo pp Đổi chỗ TT</vt:lpstr>
      <vt:lpstr>Bài tập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4. Danh sách liên kết – Phần 2</dc:title>
  <cp:lastModifiedBy>Loc Huynh</cp:lastModifiedBy>
  <cp:revision>34</cp:revision>
  <dcterms:modified xsi:type="dcterms:W3CDTF">2022-10-18T04:05:44Z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0x01010077252277BDF55D44A62712C76FE01A4B</vt:lpwstr>
  </property>
</Properties>
</file>