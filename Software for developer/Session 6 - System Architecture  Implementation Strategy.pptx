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62" r:id="rId9"/>
    <p:sldId id="263" r:id="rId10"/>
    <p:sldId id="264" r:id="rId11"/>
    <p:sldId id="265" r:id="rId12"/>
    <p:sldId id="266" r:id="rId13"/>
    <p:sldId id="290" r:id="rId14"/>
    <p:sldId id="267" r:id="rId15"/>
    <p:sldId id="268" r:id="rId16"/>
    <p:sldId id="291" r:id="rId17"/>
    <p:sldId id="269" r:id="rId18"/>
    <p:sldId id="270" r:id="rId19"/>
    <p:sldId id="292" r:id="rId20"/>
    <p:sldId id="271" r:id="rId21"/>
    <p:sldId id="272" r:id="rId22"/>
    <p:sldId id="273" r:id="rId23"/>
    <p:sldId id="274" r:id="rId24"/>
    <p:sldId id="275" r:id="rId25"/>
    <p:sldId id="276" r:id="rId26"/>
    <p:sldId id="293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embeddedFontLst>
    <p:embeddedFont>
      <p:font typeface="DM Sans" pitchFamily="2" charset="0"/>
      <p:regular r:id="rId39"/>
      <p:bold r:id="rId40"/>
      <p:italic r:id="rId41"/>
      <p:boldItalic r:id="rId42"/>
    </p:embeddedFont>
    <p:embeddedFont>
      <p:font typeface="DM Sans Medium" pitchFamily="2" charset="0"/>
      <p:regular r:id="rId43"/>
      <p:bold r:id="rId44"/>
      <p:italic r:id="rId45"/>
      <p:boldItalic r:id="rId46"/>
    </p:embeddedFont>
    <p:embeddedFont>
      <p:font typeface="Merriweather" panose="000005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B212F0-D03B-44EE-A831-D37779D2E553}">
  <a:tblStyle styleId="{BCB212F0-D03B-44EE-A831-D37779D2E5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BE58550D-8E23-4583-8E07-07830BA2D7C5}"/>
    <pc:docChg chg="modSld">
      <pc:chgData name="Sophia BUI" userId="5388e7d4eb368e7c" providerId="LiveId" clId="{BE58550D-8E23-4583-8E07-07830BA2D7C5}" dt="2026-05-17T09:51:01.837" v="42" actId="20577"/>
      <pc:docMkLst>
        <pc:docMk/>
      </pc:docMkLst>
      <pc:sldChg chg="modSp mod">
        <pc:chgData name="Sophia BUI" userId="5388e7d4eb368e7c" providerId="LiveId" clId="{BE58550D-8E23-4583-8E07-07830BA2D7C5}" dt="2026-05-17T09:51:01.837" v="42" actId="20577"/>
        <pc:sldMkLst>
          <pc:docMk/>
          <pc:sldMk cId="0" sldId="256"/>
        </pc:sldMkLst>
        <pc:spChg chg="mod">
          <ac:chgData name="Sophia BUI" userId="5388e7d4eb368e7c" providerId="LiveId" clId="{BE58550D-8E23-4583-8E07-07830BA2D7C5}" dt="2026-05-17T09:51:01.837" v="42" actId="20577"/>
          <ac:spMkLst>
            <pc:docMk/>
            <pc:sldMk cId="0" sldId="256"/>
            <ac:spMk id="8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0AC73F9E-88C0-7E19-A24C-64EBB0FD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B2E024DD-04B6-FD3F-AA2F-E3BBDE789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9E181093-4F3D-7824-5D61-59D69358F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9975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FD1545C8-BF6D-9594-757A-DFFB4381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>
            <a:extLst>
              <a:ext uri="{FF2B5EF4-FFF2-40B4-BE49-F238E27FC236}">
                <a16:creationId xmlns:a16="http://schemas.microsoft.com/office/drawing/2014/main" id="{738B48E6-0A83-F247-3AD6-07185BC39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>
            <a:extLst>
              <a:ext uri="{FF2B5EF4-FFF2-40B4-BE49-F238E27FC236}">
                <a16:creationId xmlns:a16="http://schemas.microsoft.com/office/drawing/2014/main" id="{5A98709E-6697-0162-6EF4-FBA041501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178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4E1B7293-99C0-1786-DA27-4C579BDD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>
            <a:extLst>
              <a:ext uri="{FF2B5EF4-FFF2-40B4-BE49-F238E27FC236}">
                <a16:creationId xmlns:a16="http://schemas.microsoft.com/office/drawing/2014/main" id="{10DBE3D6-4C05-26F0-C093-721C81A59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>
            <a:extLst>
              <a:ext uri="{FF2B5EF4-FFF2-40B4-BE49-F238E27FC236}">
                <a16:creationId xmlns:a16="http://schemas.microsoft.com/office/drawing/2014/main" id="{69AA2A1F-8AE3-7358-9148-1426AADA6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3776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261110E8-DE52-7C72-2C3A-8466C3B8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>
            <a:extLst>
              <a:ext uri="{FF2B5EF4-FFF2-40B4-BE49-F238E27FC236}">
                <a16:creationId xmlns:a16="http://schemas.microsoft.com/office/drawing/2014/main" id="{64B29277-DE2B-A212-F1DE-5F0AC0F38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>
            <a:extLst>
              <a:ext uri="{FF2B5EF4-FFF2-40B4-BE49-F238E27FC236}">
                <a16:creationId xmlns:a16="http://schemas.microsoft.com/office/drawing/2014/main" id="{FBA434A3-295B-5319-1062-04ABEAF31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415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7DC80BBC-7C9B-7946-104D-984B3ABC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>
            <a:extLst>
              <a:ext uri="{FF2B5EF4-FFF2-40B4-BE49-F238E27FC236}">
                <a16:creationId xmlns:a16="http://schemas.microsoft.com/office/drawing/2014/main" id="{70D73D7F-27DF-C977-694C-9B317FE92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1:notes">
            <a:extLst>
              <a:ext uri="{FF2B5EF4-FFF2-40B4-BE49-F238E27FC236}">
                <a16:creationId xmlns:a16="http://schemas.microsoft.com/office/drawing/2014/main" id="{3B90F9EB-E18B-76DD-7A32-D92491A56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248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95350" y="1706909"/>
            <a:ext cx="10401300" cy="192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6: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System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821459"/>
            <a:ext cx="9906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&amp; Implementation Strategy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4602509"/>
            <a:ext cx="9906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Introduction to Software Engineering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7887"/>
            <a:ext cx="2547937" cy="35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147887"/>
            <a:ext cx="2547937" cy="35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147887"/>
            <a:ext cx="2547937" cy="35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147887"/>
            <a:ext cx="2547937" cy="35431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 Agenda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260395" y="3300412"/>
            <a:ext cx="117014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729037"/>
            <a:ext cx="1976437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Common patterns: Client-Server, Layered, MVC, and Microservices.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284106" y="3300412"/>
            <a:ext cx="79009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690937" y="3729037"/>
            <a:ext cx="1976437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Monolithic vs. Layered choices and selecting the right Tech Stack.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52748" y="3300412"/>
            <a:ext cx="15201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24625" y="3729037"/>
            <a:ext cx="1976437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Folder structures, Naming conventions, and Dependency management.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766458" y="3300412"/>
            <a:ext cx="11601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Code Quality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58312" y="3729037"/>
            <a:ext cx="1976437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Intro to Clean Code principles and the art of Refactoring.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8768" y="253841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2456" y="253841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12806" y="253841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79831" y="2538412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5381625" y="2610742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180510" y="2953642"/>
            <a:ext cx="7830978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Architectural Patterns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366962" y="4029967"/>
            <a:ext cx="74580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Designing the Blueprint for Scalability and Maintenance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Software Architecture?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000125" y="2734716"/>
            <a:ext cx="10620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 high-level structure of a software system, the discipline of creating such structures, and the documentation of these structures.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0125" y="3511897"/>
            <a:ext cx="10620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"Why":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It provides a common abstraction of the system that most, if not all, of the system's stakeholders can use as a basis for mutual understanding.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00125" y="4289077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Decision Making: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Architecture represents the set of significant design decisions (hard to change later).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00125" y="4772917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Quality Attributes: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Directly impacts performance, scalability, security, and maintainability.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281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999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2717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1101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Architectural Styles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D90573-5DE7-F4E5-84FE-74859C1DB86C}"/>
              </a:ext>
            </a:extLst>
          </p:cNvPr>
          <p:cNvGrpSpPr/>
          <p:nvPr/>
        </p:nvGrpSpPr>
        <p:grpSpPr>
          <a:xfrm>
            <a:off x="2781548" y="1941888"/>
            <a:ext cx="2049817" cy="4204748"/>
            <a:chOff x="2275108" y="2544141"/>
            <a:chExt cx="2547937" cy="2724001"/>
          </a:xfrm>
        </p:grpSpPr>
        <p:pic>
          <p:nvPicPr>
            <p:cNvPr id="140" name="Google Shape;140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75108" y="2544141"/>
              <a:ext cx="2547937" cy="272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7"/>
            <p:cNvSpPr txBox="1"/>
            <p:nvPr/>
          </p:nvSpPr>
          <p:spPr>
            <a:xfrm>
              <a:off x="2355274" y="2890838"/>
              <a:ext cx="2255332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Client-Server</a:t>
              </a:r>
              <a:endParaRPr dirty="0"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2511154" y="3319461"/>
              <a:ext cx="1976437" cy="117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Distributed workloads between service providers and requesters.</a:t>
              </a:r>
              <a:endParaRPr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E8A71C-3FA1-E224-67EB-F4069173067A}"/>
              </a:ext>
            </a:extLst>
          </p:cNvPr>
          <p:cNvGrpSpPr/>
          <p:nvPr/>
        </p:nvGrpSpPr>
        <p:grpSpPr>
          <a:xfrm>
            <a:off x="5030505" y="1949562"/>
            <a:ext cx="2049816" cy="4204748"/>
            <a:chOff x="3125749" y="2565136"/>
            <a:chExt cx="2547937" cy="2724001"/>
          </a:xfrm>
        </p:grpSpPr>
        <p:pic>
          <p:nvPicPr>
            <p:cNvPr id="141" name="Google Shape;141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25749" y="2565136"/>
              <a:ext cx="2547937" cy="272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7"/>
            <p:cNvSpPr txBox="1"/>
            <p:nvPr/>
          </p:nvSpPr>
          <p:spPr>
            <a:xfrm>
              <a:off x="3376158" y="2890837"/>
              <a:ext cx="2068094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Layered (N-Tier)</a:t>
              </a:r>
              <a:endParaRPr dirty="0"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3690937" y="3319462"/>
              <a:ext cx="1976437" cy="880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Organizing code into logical horizontal layers.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DC20CA-2537-405D-26AE-3085D5C9A7C4}"/>
              </a:ext>
            </a:extLst>
          </p:cNvPr>
          <p:cNvGrpSpPr/>
          <p:nvPr/>
        </p:nvGrpSpPr>
        <p:grpSpPr>
          <a:xfrm>
            <a:off x="7354972" y="1941888"/>
            <a:ext cx="2049816" cy="4204748"/>
            <a:chOff x="6238875" y="2557462"/>
            <a:chExt cx="2547937" cy="2724001"/>
          </a:xfrm>
        </p:grpSpPr>
        <p:pic>
          <p:nvPicPr>
            <p:cNvPr id="142" name="Google Shape;142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38875" y="2557462"/>
              <a:ext cx="2547937" cy="272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7"/>
            <p:cNvSpPr txBox="1"/>
            <p:nvPr/>
          </p:nvSpPr>
          <p:spPr>
            <a:xfrm>
              <a:off x="6920820" y="2890837"/>
              <a:ext cx="812051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 err="1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MVC</a:t>
              </a:r>
              <a:endParaRPr dirty="0"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6524625" y="3319462"/>
              <a:ext cx="1976437" cy="5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Separating UI, Data, and Control logic.</a:t>
              </a:r>
              <a:endParaRPr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4B3D067-5B34-0848-7915-CB640BB4625C}"/>
              </a:ext>
            </a:extLst>
          </p:cNvPr>
          <p:cNvGrpSpPr/>
          <p:nvPr/>
        </p:nvGrpSpPr>
        <p:grpSpPr>
          <a:xfrm>
            <a:off x="9570684" y="1941888"/>
            <a:ext cx="2049815" cy="4204748"/>
            <a:chOff x="9072562" y="2557462"/>
            <a:chExt cx="2547937" cy="2724001"/>
          </a:xfrm>
        </p:grpSpPr>
        <p:pic>
          <p:nvPicPr>
            <p:cNvPr id="143" name="Google Shape;143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072562" y="2557462"/>
              <a:ext cx="2547937" cy="272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7"/>
            <p:cNvSpPr txBox="1"/>
            <p:nvPr/>
          </p:nvSpPr>
          <p:spPr>
            <a:xfrm>
              <a:off x="9358313" y="2890837"/>
              <a:ext cx="1976435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Microservices</a:t>
              </a:r>
              <a:endParaRPr dirty="0"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9358312" y="3319462"/>
              <a:ext cx="1976437" cy="1466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Suite of small, independent services communicating via APIs.</a:t>
              </a:r>
              <a:endParaRPr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5775353-F396-FD97-DE7D-E0570CC1BEE8}"/>
              </a:ext>
            </a:extLst>
          </p:cNvPr>
          <p:cNvGrpSpPr/>
          <p:nvPr/>
        </p:nvGrpSpPr>
        <p:grpSpPr>
          <a:xfrm>
            <a:off x="521575" y="1928566"/>
            <a:ext cx="2049816" cy="4204748"/>
            <a:chOff x="571500" y="2557462"/>
            <a:chExt cx="2547937" cy="2724001"/>
          </a:xfrm>
        </p:grpSpPr>
        <p:pic>
          <p:nvPicPr>
            <p:cNvPr id="7" name="Google Shape;140;p17" descr="image.png">
              <a:extLst>
                <a:ext uri="{FF2B5EF4-FFF2-40B4-BE49-F238E27FC236}">
                  <a16:creationId xmlns:a16="http://schemas.microsoft.com/office/drawing/2014/main" id="{10E45675-B8D7-7594-9E6D-EC314891C05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557462"/>
              <a:ext cx="2547937" cy="272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46;p17">
              <a:extLst>
                <a:ext uri="{FF2B5EF4-FFF2-40B4-BE49-F238E27FC236}">
                  <a16:creationId xmlns:a16="http://schemas.microsoft.com/office/drawing/2014/main" id="{13FE748A-883E-63B8-AF21-34EEB9BF9825}"/>
                </a:ext>
              </a:extLst>
            </p:cNvPr>
            <p:cNvSpPr txBox="1"/>
            <p:nvPr/>
          </p:nvSpPr>
          <p:spPr>
            <a:xfrm>
              <a:off x="857249" y="2890837"/>
              <a:ext cx="2100172" cy="216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4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Monolithic</a:t>
              </a:r>
              <a:endParaRPr dirty="0"/>
            </a:p>
          </p:txBody>
        </p:sp>
        <p:sp>
          <p:nvSpPr>
            <p:cNvPr id="9" name="Google Shape;147;p17">
              <a:extLst>
                <a:ext uri="{FF2B5EF4-FFF2-40B4-BE49-F238E27FC236}">
                  <a16:creationId xmlns:a16="http://schemas.microsoft.com/office/drawing/2014/main" id="{6AF713A4-8A4C-112A-16C0-D06D5AB281B0}"/>
                </a:ext>
              </a:extLst>
            </p:cNvPr>
            <p:cNvSpPr txBox="1"/>
            <p:nvPr/>
          </p:nvSpPr>
          <p:spPr>
            <a:xfrm>
              <a:off x="857250" y="3319462"/>
              <a:ext cx="1976437" cy="117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en-US" sz="1650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Simple development, easy debugging, fast initial deployment</a:t>
              </a:r>
              <a:r>
                <a:rPr lang="en-US" sz="1650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Monolithic Architecture</a:t>
            </a:r>
            <a:endParaRPr dirty="0"/>
          </a:p>
        </p:txBody>
      </p:sp>
      <p:sp>
        <p:nvSpPr>
          <p:cNvPr id="161" name="Google Shape;161;p1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000125" y="2166937"/>
            <a:ext cx="5629275" cy="2666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Single unified codebase and deployment unit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Advantages</a:t>
            </a:r>
            <a:r>
              <a:rPr lang="en-US" sz="165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 Simple development, easy debugging, fast initial deployment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Disadvantages</a:t>
            </a:r>
            <a:r>
              <a:rPr lang="en-US" sz="165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 Tight coupling, difficult to scale, “Big Ball of Mud” risk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Diagram</a:t>
            </a:r>
            <a:r>
              <a:rPr lang="en-US" sz="165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 One large block containing UI, Business Logic, Database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E768068-195E-3F54-3072-EC4F5F32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196" y="1766394"/>
            <a:ext cx="2802834" cy="435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821EA887-8E49-A21F-5242-EFDEC9C3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14D1BD63-EB09-37BA-540E-63B02D8706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>
            <a:extLst>
              <a:ext uri="{FF2B5EF4-FFF2-40B4-BE49-F238E27FC236}">
                <a16:creationId xmlns:a16="http://schemas.microsoft.com/office/drawing/2014/main" id="{D90B1C4D-4F2B-D3EC-2555-276CD8E0CD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718EA6B3-C76B-AE66-B5DE-7E66706B01FA}"/>
              </a:ext>
            </a:extLst>
          </p:cNvPr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Client-Server Architecture</a:t>
            </a:r>
            <a:endParaRPr/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7FD15E71-77C8-6109-7053-0DFF49E1C745}"/>
              </a:ext>
            </a:extLst>
          </p:cNvPr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9324DD85-5E5B-D97F-B378-3622FBB558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6A680D81-483B-1C95-3265-D91FCF64D618}"/>
              </a:ext>
            </a:extLst>
          </p:cNvPr>
          <p:cNvSpPr txBox="1"/>
          <p:nvPr/>
        </p:nvSpPr>
        <p:spPr>
          <a:xfrm>
            <a:off x="1000125" y="216693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Concept: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Clients request resources; Servers provide them.</a:t>
            </a:r>
            <a:endParaRPr/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C9C2DB0D-31CB-F1EB-6C2B-6B1BD55426D5}"/>
              </a:ext>
            </a:extLst>
          </p:cNvPr>
          <p:cNvSpPr txBox="1"/>
          <p:nvPr/>
        </p:nvSpPr>
        <p:spPr>
          <a:xfrm>
            <a:off x="1000125" y="294411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Centralization: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Data is usually kept on the server for security and consistency.</a:t>
            </a:r>
            <a:endParaRPr/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AA1BC264-B887-DCD7-BA4D-6A88E3D14A73}"/>
              </a:ext>
            </a:extLst>
          </p:cNvPr>
          <p:cNvSpPr txBox="1"/>
          <p:nvPr/>
        </p:nvSpPr>
        <p:spPr>
          <a:xfrm>
            <a:off x="1000125" y="3721298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Scalability: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Can scale the server horizontally to handle more clients.</a:t>
            </a:r>
            <a:endParaRPr/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29274A91-E188-9976-72BD-557CCD1C6CDE}"/>
              </a:ext>
            </a:extLst>
          </p:cNvPr>
          <p:cNvSpPr txBox="1"/>
          <p:nvPr/>
        </p:nvSpPr>
        <p:spPr>
          <a:xfrm>
            <a:off x="1000125" y="4498478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Common Use: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Web applications, Email, and Database access.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159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684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Layered (N-Tier) Architecture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1" y="2166937"/>
            <a:ext cx="523875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Presentation Layer:</a:t>
            </a:r>
            <a:r>
              <a:rPr lang="en-US" sz="16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User interface and browser communication.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Business Layer:</a:t>
            </a:r>
            <a:r>
              <a:rPr lang="en-US" sz="16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Core logic and domain rules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Persistence Layer:</a:t>
            </a:r>
            <a:r>
              <a:rPr lang="en-US" sz="16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Data access objects (DAO) and ORM.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Database Layer:</a:t>
            </a:r>
            <a:r>
              <a:rPr lang="en-US" sz="16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Physical storage (SQL/NoSQL).</a:t>
            </a:r>
            <a:endParaRPr lang="en-US" sz="16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5088"/>
                </a:solidFill>
                <a:latin typeface="DM Sans"/>
              </a:rPr>
              <a:t>Clear separation of concerns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</a:rPr>
              <a:t>Advantages</a:t>
            </a:r>
            <a:r>
              <a:rPr lang="en-US" sz="1600" dirty="0">
                <a:solidFill>
                  <a:srgbClr val="005088"/>
                </a:solidFill>
                <a:latin typeface="DM Sans"/>
              </a:rPr>
              <a:t>: Maintainability, testability, technology flexibility per layer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5088"/>
                </a:solidFill>
                <a:latin typeface="DM Sans"/>
              </a:rPr>
              <a:t>Common in enterprise applications</a:t>
            </a:r>
            <a:endParaRPr sz="1600" dirty="0">
              <a:solidFill>
                <a:srgbClr val="005088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Model-View-Controller (MVC)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810375" y="216693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Model: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Manages data and business logic. Notifies View of changes.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810375" y="294411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View: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Renders the Model into a format suitable for interaction.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810375" y="3721298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Controller: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Processes user input, interacts with Model, and updates View.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810375" y="4498478"/>
            <a:ext cx="4810125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50" dirty="0">
                <a:solidFill>
                  <a:srgbClr val="005088"/>
                </a:solidFill>
                <a:latin typeface="DM Sans"/>
              </a:rPr>
              <a:t>Popular in web frameworks (</a:t>
            </a:r>
            <a:r>
              <a:rPr lang="en-US" sz="1650" dirty="0" err="1">
                <a:solidFill>
                  <a:srgbClr val="005088"/>
                </a:solidFill>
                <a:latin typeface="DM Sans"/>
              </a:rPr>
              <a:t>ASP.NET</a:t>
            </a:r>
            <a:r>
              <a:rPr lang="en-US" sz="1650" dirty="0">
                <a:solidFill>
                  <a:srgbClr val="005088"/>
                </a:solidFill>
                <a:latin typeface="DM Sans"/>
              </a:rPr>
              <a:t> </a:t>
            </a:r>
            <a:r>
              <a:rPr lang="en-US" sz="1650" dirty="0" err="1">
                <a:solidFill>
                  <a:srgbClr val="005088"/>
                </a:solidFill>
                <a:latin typeface="DM Sans"/>
              </a:rPr>
              <a:t>MVC</a:t>
            </a:r>
            <a:r>
              <a:rPr lang="en-US" sz="1650" dirty="0">
                <a:solidFill>
                  <a:srgbClr val="005088"/>
                </a:solidFill>
                <a:latin typeface="DM Sans"/>
              </a:rPr>
              <a:t>, Spring </a:t>
            </a:r>
            <a:r>
              <a:rPr lang="en-US" sz="1650" dirty="0" err="1">
                <a:solidFill>
                  <a:srgbClr val="005088"/>
                </a:solidFill>
                <a:latin typeface="DM Sans"/>
              </a:rPr>
              <a:t>MVC</a:t>
            </a:r>
            <a:r>
              <a:rPr lang="en-US" sz="1650" dirty="0">
                <a:solidFill>
                  <a:srgbClr val="005088"/>
                </a:solidFill>
                <a:latin typeface="DM Sans"/>
              </a:rPr>
              <a:t>, Laravel)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Benefit: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Simultaneous development and high cohesion.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5B6AFC-0125-7FAF-81FB-F9D872950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54" y="1898347"/>
            <a:ext cx="5997971" cy="4498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709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Microservices Architecture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1702869"/>
            <a:ext cx="5209098" cy="46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5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Decentralization:</a:t>
            </a:r>
            <a:r>
              <a:rPr lang="en-US" sz="165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Each service has its own database and business logic.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65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Independence:</a:t>
            </a:r>
            <a:r>
              <a:rPr lang="en-US" sz="165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Services can be deployed and scaled separately.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65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Technology Heterogeneity:</a:t>
            </a:r>
            <a:r>
              <a:rPr lang="en-US" sz="165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Different services can use different tech stacks.</a:t>
            </a:r>
            <a:endParaRPr lang="en-US" sz="1800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Complexity: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Requires robust API management and service discovery.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05088"/>
                </a:solidFill>
                <a:latin typeface="DM Sans"/>
              </a:rPr>
              <a:t>Advantages</a:t>
            </a:r>
            <a:r>
              <a:rPr lang="en-US" sz="1650" dirty="0">
                <a:solidFill>
                  <a:srgbClr val="005088"/>
                </a:solidFill>
                <a:latin typeface="DM Sans"/>
              </a:rPr>
              <a:t>: Independent deployment, technology diversity, fault isolation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05088"/>
                </a:solidFill>
                <a:latin typeface="DM Sans"/>
              </a:rPr>
              <a:t>Disadvantages</a:t>
            </a:r>
            <a:r>
              <a:rPr lang="en-US" sz="1650" dirty="0">
                <a:solidFill>
                  <a:srgbClr val="005088"/>
                </a:solidFill>
                <a:latin typeface="DM Sans"/>
              </a:rPr>
              <a:t>: Complexity in distributed systems, network latency, DevOps overhead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005088"/>
                </a:solidFill>
                <a:latin typeface="DM Sans"/>
              </a:rPr>
              <a:t>When to use</a:t>
            </a:r>
            <a:r>
              <a:rPr lang="en-US" sz="1650" dirty="0">
                <a:solidFill>
                  <a:srgbClr val="005088"/>
                </a:solidFill>
                <a:latin typeface="DM Sans"/>
              </a:rPr>
              <a:t>: Large-scale, complex domains</a:t>
            </a:r>
            <a:endParaRPr sz="1650" dirty="0">
              <a:solidFill>
                <a:srgbClr val="005088"/>
              </a:solidFill>
              <a:latin typeface="DM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7C015-DE04-F778-769F-D0A886523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166937"/>
            <a:ext cx="5133975" cy="3524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5381625" y="2610742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620440" y="2953642"/>
            <a:ext cx="8951118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Strategy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833562" y="4029967"/>
            <a:ext cx="85248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Choosing the Right Tools and Structure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Monolithic vs. Layered Choice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71500" y="2405062"/>
            <a:ext cx="11049000" cy="30288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23"/>
          <p:cNvGraphicFramePr/>
          <p:nvPr>
            <p:extLst>
              <p:ext uri="{D42A27DB-BD31-4B8C-83A1-F6EECF244321}">
                <p14:modId xmlns:p14="http://schemas.microsoft.com/office/powerpoint/2010/main" val="4023277927"/>
              </p:ext>
            </p:extLst>
          </p:nvPr>
        </p:nvGraphicFramePr>
        <p:xfrm>
          <a:off x="571500" y="2405062"/>
          <a:ext cx="11049000" cy="3028750"/>
        </p:xfrm>
        <a:graphic>
          <a:graphicData uri="http://schemas.openxmlformats.org/drawingml/2006/table">
            <a:tbl>
              <a:tblPr firstRow="1" bandRow="1">
                <a:noFill/>
                <a:tableStyleId>{BCB212F0-D03B-44EE-A831-D37779D2E553}</a:tableStyleId>
              </a:tblPr>
              <a:tblGrid>
                <a:gridCol w="20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Criteria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Monolithic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Layered / Microservices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Complexity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initial complexity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structural complexity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Deployment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Easy (one unit)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 (multiple pipelines)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Scalability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Scales the whole app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Granular scaling per service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Maintenance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Becomes harder over time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Better separation, easier isolated fixes</a:t>
                      </a:r>
                      <a:endParaRPr sz="12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" name="Google Shape;223;p23"/>
          <p:cNvSpPr/>
          <p:nvPr/>
        </p:nvSpPr>
        <p:spPr>
          <a:xfrm>
            <a:off x="571500" y="3653730"/>
            <a:ext cx="20971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2668637" y="3653730"/>
            <a:ext cx="37507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419403" y="3653730"/>
            <a:ext cx="52010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71500" y="4242345"/>
            <a:ext cx="20971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668637" y="4242345"/>
            <a:ext cx="37507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419403" y="4242345"/>
            <a:ext cx="52010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71500" y="4830960"/>
            <a:ext cx="20971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668637" y="4830960"/>
            <a:ext cx="37507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419403" y="4830960"/>
            <a:ext cx="52010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71500" y="5419576"/>
            <a:ext cx="209713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668637" y="5419576"/>
            <a:ext cx="375076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6419403" y="5419576"/>
            <a:ext cx="520109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261E46AE-DE05-E3D8-2393-ACE6EF83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>
            <a:extLst>
              <a:ext uri="{FF2B5EF4-FFF2-40B4-BE49-F238E27FC236}">
                <a16:creationId xmlns:a16="http://schemas.microsoft.com/office/drawing/2014/main" id="{90B32F58-F9B8-7ACB-4C5A-F902F719E0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709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>
            <a:extLst>
              <a:ext uri="{FF2B5EF4-FFF2-40B4-BE49-F238E27FC236}">
                <a16:creationId xmlns:a16="http://schemas.microsoft.com/office/drawing/2014/main" id="{C71AEA03-7263-160C-C169-3C64E18158C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Choosing Architecture – Decision Factors</a:t>
            </a:r>
            <a:endParaRPr dirty="0"/>
          </a:p>
        </p:txBody>
      </p:sp>
      <p:sp>
        <p:nvSpPr>
          <p:cNvPr id="200" name="Google Shape;200;p21">
            <a:extLst>
              <a:ext uri="{FF2B5EF4-FFF2-40B4-BE49-F238E27FC236}">
                <a16:creationId xmlns:a16="http://schemas.microsoft.com/office/drawing/2014/main" id="{A981A028-8244-F949-C46B-5CB876A58077}"/>
              </a:ext>
            </a:extLst>
          </p:cNvPr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>
            <a:extLst>
              <a:ext uri="{FF2B5EF4-FFF2-40B4-BE49-F238E27FC236}">
                <a16:creationId xmlns:a16="http://schemas.microsoft.com/office/drawing/2014/main" id="{4D3E5AAE-E7C5-6459-4A58-7C8B0710A77B}"/>
              </a:ext>
            </a:extLst>
          </p:cNvPr>
          <p:cNvSpPr txBox="1"/>
          <p:nvPr/>
        </p:nvSpPr>
        <p:spPr>
          <a:xfrm>
            <a:off x="571499" y="1702869"/>
            <a:ext cx="1104899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Team size &amp; expertise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Project scale &amp; expected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Performance &amp; scalability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Time to market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Maintenance window &amp; operational 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Decision matrix (simple table)</a:t>
            </a:r>
          </a:p>
        </p:txBody>
      </p:sp>
    </p:spTree>
    <p:extLst>
      <p:ext uri="{BB962C8B-B14F-4D97-AF65-F5344CB8AC3E}">
        <p14:creationId xmlns:p14="http://schemas.microsoft.com/office/powerpoint/2010/main" val="270476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71500" y="1367879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Selecting the Tech Stack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3101429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Choosing the right technology stack is a critical decision that influences performance, team productivity, and long-term costs.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4400550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Factors to consider: team expertise, community support, library ecosystem, and security compliance.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1F50A3-1B14-0571-90DC-7CA48EF45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463" y="1367879"/>
            <a:ext cx="6599720" cy="41452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1227"/>
            <a:ext cx="349254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41227"/>
            <a:ext cx="349254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41227"/>
            <a:ext cx="3492549" cy="295647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Technology Selection Factors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1837640" y="3593752"/>
            <a:ext cx="9601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Team Skill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857250" y="4022377"/>
            <a:ext cx="292104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Can the current team build and maintain this efficiently?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540930" y="3593752"/>
            <a:ext cx="111013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Community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4635549" y="402237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Is there a large community for troubleshooting and plugins?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269223" y="3593752"/>
            <a:ext cx="121015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8413849" y="4022377"/>
            <a:ext cx="292104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Does the runtime meet the latency requirements?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7662" y="283175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3175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831752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9634B528-B856-79A5-41B5-6BBEFBF2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>
            <a:extLst>
              <a:ext uri="{FF2B5EF4-FFF2-40B4-BE49-F238E27FC236}">
                <a16:creationId xmlns:a16="http://schemas.microsoft.com/office/drawing/2014/main" id="{397C2BE5-F53A-7BF6-CA3A-B655B4E453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709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>
            <a:extLst>
              <a:ext uri="{FF2B5EF4-FFF2-40B4-BE49-F238E27FC236}">
                <a16:creationId xmlns:a16="http://schemas.microsoft.com/office/drawing/2014/main" id="{603DD2AA-FA11-8408-CB07-5C84E54530A7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5088"/>
                </a:solidFill>
                <a:latin typeface="Merriweather"/>
                <a:sym typeface="Merriweather"/>
              </a:rPr>
              <a:t>Stack Evaluation Criteria</a:t>
            </a:r>
            <a:endParaRPr dirty="0"/>
          </a:p>
        </p:txBody>
      </p:sp>
      <p:sp>
        <p:nvSpPr>
          <p:cNvPr id="200" name="Google Shape;200;p21">
            <a:extLst>
              <a:ext uri="{FF2B5EF4-FFF2-40B4-BE49-F238E27FC236}">
                <a16:creationId xmlns:a16="http://schemas.microsoft.com/office/drawing/2014/main" id="{1785E828-146A-1BEC-EF47-BD0B7B625877}"/>
              </a:ext>
            </a:extLst>
          </p:cNvPr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>
            <a:extLst>
              <a:ext uri="{FF2B5EF4-FFF2-40B4-BE49-F238E27FC236}">
                <a16:creationId xmlns:a16="http://schemas.microsoft.com/office/drawing/2014/main" id="{44A5A165-F416-7276-9521-701535898B5A}"/>
              </a:ext>
            </a:extLst>
          </p:cNvPr>
          <p:cNvSpPr txBox="1"/>
          <p:nvPr/>
        </p:nvSpPr>
        <p:spPr>
          <a:xfrm>
            <a:off x="571499" y="1702869"/>
            <a:ext cx="1104899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Learning curve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Performance &amp; scalability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Security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Integration capabilities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Licensing &amp;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</a:rPr>
              <a:t>Team familiarity (important for startups)</a:t>
            </a:r>
          </a:p>
        </p:txBody>
      </p:sp>
    </p:spTree>
    <p:extLst>
      <p:ext uri="{BB962C8B-B14F-4D97-AF65-F5344CB8AC3E}">
        <p14:creationId xmlns:p14="http://schemas.microsoft.com/office/powerpoint/2010/main" val="102884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/>
          <p:nvPr/>
        </p:nvSpPr>
        <p:spPr>
          <a:xfrm>
            <a:off x="5381625" y="2610742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2400538" y="2953642"/>
            <a:ext cx="7390923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Organization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576512" y="4029967"/>
            <a:ext cx="70389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Structuring Folders and Naming Conventions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Layer Folder Structure Example</a:t>
            </a:r>
            <a:endParaRPr dirty="0"/>
          </a:p>
        </p:txBody>
      </p:sp>
      <p:sp>
        <p:nvSpPr>
          <p:cNvPr id="278" name="Google Shape;278;p2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571500" y="2170914"/>
            <a:ext cx="4810125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800" b="1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src</a:t>
            </a:r>
            <a:r>
              <a:rPr lang="en-US" sz="18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Main source code files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/tests:</a:t>
            </a: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Unit, Integration, and </a:t>
            </a:r>
            <a:r>
              <a:rPr lang="en-US" sz="1800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E2E</a:t>
            </a: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tests.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/docs:</a:t>
            </a: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Project documentation and diagrams.</a:t>
            </a:r>
            <a:endParaRPr lang="en-US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/assets:</a:t>
            </a:r>
            <a:r>
              <a:rPr lang="fr-FR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fr-FR" sz="1800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Static</a:t>
            </a:r>
            <a:r>
              <a:rPr lang="fr-FR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images, styles, fonts.</a:t>
            </a:r>
            <a:endParaRPr lang="fr-FR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/config:</a:t>
            </a: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Environment-specific settings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/lib: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Internal or shared libraries.</a:t>
            </a:r>
            <a:endParaRPr sz="1800" dirty="0"/>
          </a:p>
        </p:txBody>
      </p:sp>
      <p:pic>
        <p:nvPicPr>
          <p:cNvPr id="286" name="Google Shape;28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7308" y="1696998"/>
            <a:ext cx="3293350" cy="4589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4">
          <a:extLst>
            <a:ext uri="{FF2B5EF4-FFF2-40B4-BE49-F238E27FC236}">
              <a16:creationId xmlns:a16="http://schemas.microsoft.com/office/drawing/2014/main" id="{9077152C-66AB-ED90-7E62-C750032F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 descr="image.png">
            <a:extLst>
              <a:ext uri="{FF2B5EF4-FFF2-40B4-BE49-F238E27FC236}">
                <a16:creationId xmlns:a16="http://schemas.microsoft.com/office/drawing/2014/main" id="{B334AD02-E711-3F27-CE1E-F43274E3A6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7" descr="image.png">
            <a:extLst>
              <a:ext uri="{FF2B5EF4-FFF2-40B4-BE49-F238E27FC236}">
                <a16:creationId xmlns:a16="http://schemas.microsoft.com/office/drawing/2014/main" id="{70B0E0A6-5E65-C015-2917-8608AF4B4F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>
            <a:extLst>
              <a:ext uri="{FF2B5EF4-FFF2-40B4-BE49-F238E27FC236}">
                <a16:creationId xmlns:a16="http://schemas.microsoft.com/office/drawing/2014/main" id="{53FADD8D-98E8-5D93-22A0-63B69BB6366C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Naming Conventions – Core Principles</a:t>
            </a:r>
            <a:endParaRPr dirty="0"/>
          </a:p>
        </p:txBody>
      </p:sp>
      <p:sp>
        <p:nvSpPr>
          <p:cNvPr id="278" name="Google Shape;278;p27">
            <a:extLst>
              <a:ext uri="{FF2B5EF4-FFF2-40B4-BE49-F238E27FC236}">
                <a16:creationId xmlns:a16="http://schemas.microsoft.com/office/drawing/2014/main" id="{7B267CAF-C26A-0C53-929A-76C677B1656A}"/>
              </a:ext>
            </a:extLst>
          </p:cNvPr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>
            <a:extLst>
              <a:ext uri="{FF2B5EF4-FFF2-40B4-BE49-F238E27FC236}">
                <a16:creationId xmlns:a16="http://schemas.microsoft.com/office/drawing/2014/main" id="{7DA5465E-AFAF-812C-E0F0-4F80D9636EF5}"/>
              </a:ext>
            </a:extLst>
          </p:cNvPr>
          <p:cNvSpPr txBox="1"/>
          <p:nvPr/>
        </p:nvSpPr>
        <p:spPr>
          <a:xfrm>
            <a:off x="571500" y="2170914"/>
            <a:ext cx="11049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 consistent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 descriptive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Follow language/framework conventions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Use domain language (Ubiquitous Language)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78778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Naming Standards</a:t>
            </a:r>
            <a:endParaRPr dirty="0"/>
          </a:p>
        </p:txBody>
      </p:sp>
      <p:sp>
        <p:nvSpPr>
          <p:cNvPr id="293" name="Google Shape;293;p2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571500" y="2405062"/>
            <a:ext cx="11049000" cy="30288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5" name="Google Shape;295;p28"/>
          <p:cNvGraphicFramePr/>
          <p:nvPr/>
        </p:nvGraphicFramePr>
        <p:xfrm>
          <a:off x="571500" y="2405062"/>
          <a:ext cx="11048975" cy="3028750"/>
        </p:xfrm>
        <a:graphic>
          <a:graphicData uri="http://schemas.openxmlformats.org/drawingml/2006/table">
            <a:tbl>
              <a:tblPr firstRow="1" bandRow="1">
                <a:noFill/>
                <a:tableStyleId>{BCB212F0-D03B-44EE-A831-D37779D2E553}</a:tableStyleId>
              </a:tblPr>
              <a:tblGrid>
                <a:gridCol w="248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Style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Usage 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Typical Domain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PascalCase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UserProfileController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Class names, Types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camelCase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calculateTotalValue()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Methods, Local variables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snake_case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user_id, db_config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Databases, Python, 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kebab-case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header-container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CSS classes, URL paths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6" name="Google Shape;296;p28"/>
          <p:cNvSpPr/>
          <p:nvPr/>
        </p:nvSpPr>
        <p:spPr>
          <a:xfrm>
            <a:off x="571500" y="3653730"/>
            <a:ext cx="248557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3057078" y="3653730"/>
            <a:ext cx="41073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7164437" y="3653730"/>
            <a:ext cx="44560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571500" y="4242345"/>
            <a:ext cx="248557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3057078" y="4242345"/>
            <a:ext cx="41073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7164437" y="4242345"/>
            <a:ext cx="44560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71500" y="4830960"/>
            <a:ext cx="248557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057078" y="4830960"/>
            <a:ext cx="41073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7164437" y="4830960"/>
            <a:ext cx="44560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71500" y="5419576"/>
            <a:ext cx="248557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057078" y="5419576"/>
            <a:ext cx="410735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7164437" y="5419576"/>
            <a:ext cx="44560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199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Dependency Management</a:t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1019175" y="2149792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Managing third-party libraries (SDKs, Frameworks) to avoid conflicts and security vulnerabilities.</a:t>
            </a:r>
            <a:endParaRPr dirty="0"/>
          </a:p>
        </p:txBody>
      </p:sp>
      <p:sp>
        <p:nvSpPr>
          <p:cNvPr id="316" name="Google Shape;316;p29"/>
          <p:cNvSpPr txBox="1"/>
          <p:nvPr/>
        </p:nvSpPr>
        <p:spPr>
          <a:xfrm>
            <a:off x="1019175" y="2633632"/>
            <a:ext cx="10620375" cy="2188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Lock Files: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Always use lock files (e.g., package-</a:t>
            </a:r>
            <a:r>
              <a:rPr lang="en-US" sz="165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lock.json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Gemfile.lock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yarn.lock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poetry.lock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) to ensure consistent builds across teams.</a:t>
            </a:r>
          </a:p>
          <a:p>
            <a:pPr lvl="0">
              <a:lnSpc>
                <a:spcPct val="200000"/>
              </a:lnSpc>
            </a:pPr>
            <a:r>
              <a:rPr lang="en-US" sz="1600" dirty="0">
                <a:solidFill>
                  <a:srgbClr val="005088"/>
                </a:solidFill>
                <a:latin typeface="DM Sans"/>
              </a:rPr>
              <a:t>Avoid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5088"/>
                </a:solidFill>
                <a:latin typeface="DM Sans"/>
              </a:rPr>
              <a:t>wildcard versions</a:t>
            </a:r>
          </a:p>
          <a:p>
            <a:pPr lvl="0">
              <a:lnSpc>
                <a:spcPct val="200000"/>
              </a:lnSpc>
            </a:pPr>
            <a:r>
              <a:rPr lang="en-US" sz="1600" dirty="0">
                <a:solidFill>
                  <a:srgbClr val="005088"/>
                </a:solidFill>
                <a:latin typeface="DM Sans"/>
              </a:rPr>
              <a:t>Regular updates &amp; vulnerability scanning</a:t>
            </a:r>
          </a:p>
          <a:p>
            <a:pPr lvl="0">
              <a:lnSpc>
                <a:spcPct val="200000"/>
              </a:lnSpc>
            </a:pPr>
            <a:r>
              <a:rPr lang="en-US" sz="1600" dirty="0">
                <a:solidFill>
                  <a:srgbClr val="005088"/>
                </a:solidFill>
                <a:latin typeface="DM Sans"/>
              </a:rPr>
              <a:t>Separate production vs development dependencies</a:t>
            </a:r>
            <a:endParaRPr dirty="0"/>
          </a:p>
        </p:txBody>
      </p:sp>
      <p:sp>
        <p:nvSpPr>
          <p:cNvPr id="317" name="Google Shape;317;p29"/>
          <p:cNvSpPr txBox="1"/>
          <p:nvPr/>
        </p:nvSpPr>
        <p:spPr>
          <a:xfrm>
            <a:off x="1000125" y="5019984"/>
            <a:ext cx="1062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Transitive Dependencies: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Be aware that libraries you use have their own dependencies.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1000124" y="5541924"/>
            <a:ext cx="10620375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Tools: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npm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/yarn (JS), Maven/Gradle (Java), Pip (Python), NuGet (.NET).</a:t>
            </a:r>
          </a:p>
        </p:txBody>
      </p:sp>
      <p:pic>
        <p:nvPicPr>
          <p:cNvPr id="319" name="Google Shape;31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218789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450" y="501242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200" y="27193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4955" y="567025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/>
          <p:nvPr/>
        </p:nvSpPr>
        <p:spPr>
          <a:xfrm>
            <a:off x="5381625" y="2610742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2720578" y="2953642"/>
            <a:ext cx="6750843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 to Clean Code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2881312" y="4029967"/>
            <a:ext cx="642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Code is Read More Often Than it is Written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Clean Code?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571500" y="2168655"/>
            <a:ext cx="4191331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Readability:</a:t>
            </a:r>
            <a:r>
              <a:rPr lang="en-US" sz="16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Can a new developer understand the logic in 30 seconds?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b="0" i="0" u="none" strike="noStrike" cap="none" dirty="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Simplicity:</a:t>
            </a:r>
            <a:r>
              <a:rPr lang="en-US" sz="16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Does it follow the KISS principle (Keep It Simple, Stupid)?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Maintenance:</a:t>
            </a:r>
            <a:r>
              <a:rPr lang="en-US" sz="16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Is it easy to change without breaking other parts?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Testability:</a:t>
            </a:r>
            <a:r>
              <a:rPr lang="en-US" sz="16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Can it be easily verified with automated tests?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D0A84C-E533-4EF6-CF98-CFD569D5E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2099020"/>
            <a:ext cx="6534150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Meaningful Names</a:t>
            </a:r>
            <a:endParaRPr dirty="0"/>
          </a:p>
        </p:txBody>
      </p:sp>
      <p:sp>
        <p:nvSpPr>
          <p:cNvPr id="353" name="Google Shape;353;p3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793BA3-6E60-C5D2-A2B0-65783DB85D12}"/>
              </a:ext>
            </a:extLst>
          </p:cNvPr>
          <p:cNvGrpSpPr/>
          <p:nvPr/>
        </p:nvGrpSpPr>
        <p:grpSpPr>
          <a:xfrm>
            <a:off x="571352" y="2352184"/>
            <a:ext cx="11049148" cy="2636511"/>
            <a:chOff x="571500" y="2850802"/>
            <a:chExt cx="11049148" cy="2137320"/>
          </a:xfrm>
        </p:grpSpPr>
        <p:pic>
          <p:nvPicPr>
            <p:cNvPr id="349" name="Google Shape;349;p32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2850802"/>
              <a:ext cx="3492549" cy="2137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3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49799" y="2850802"/>
              <a:ext cx="3492549" cy="2137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3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28099" y="2850802"/>
              <a:ext cx="3492549" cy="2137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32"/>
            <p:cNvSpPr txBox="1"/>
            <p:nvPr/>
          </p:nvSpPr>
          <p:spPr>
            <a:xfrm>
              <a:off x="857249" y="3184177"/>
              <a:ext cx="3060651" cy="224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Avoid Intent-Obscuring</a:t>
              </a:r>
              <a:endParaRPr sz="1800" dirty="0"/>
            </a:p>
          </p:txBody>
        </p:sp>
        <p:sp>
          <p:nvSpPr>
            <p:cNvPr id="355" name="Google Shape;355;p32"/>
            <p:cNvSpPr txBox="1"/>
            <p:nvPr/>
          </p:nvSpPr>
          <p:spPr>
            <a:xfrm>
              <a:off x="857250" y="3612802"/>
              <a:ext cx="2921100" cy="5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Bad: int d; // elapsed time</a:t>
              </a:r>
              <a:br>
                <a:rPr lang="en-US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 Good: int </a:t>
              </a:r>
              <a:r>
                <a:rPr lang="en-US" b="0" i="0" u="none" strike="noStrike" cap="none" dirty="0" err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elapsedTimeInDays</a:t>
              </a:r>
              <a:r>
                <a:rPr lang="en-US" sz="1550" b="0" i="0" u="none" strike="noStrike" cap="none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;</a:t>
              </a:r>
              <a:endParaRPr sz="1300" dirty="0"/>
            </a:p>
          </p:txBody>
        </p:sp>
        <p:sp>
          <p:nvSpPr>
            <p:cNvPr id="356" name="Google Shape;356;p32"/>
            <p:cNvSpPr txBox="1"/>
            <p:nvPr/>
          </p:nvSpPr>
          <p:spPr>
            <a:xfrm>
              <a:off x="4635401" y="3184177"/>
              <a:ext cx="2921198" cy="224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Pronounceable Names</a:t>
              </a:r>
              <a:endParaRPr sz="1800" dirty="0"/>
            </a:p>
          </p:txBody>
        </p:sp>
        <p:sp>
          <p:nvSpPr>
            <p:cNvPr id="357" name="Google Shape;357;p32"/>
            <p:cNvSpPr txBox="1"/>
            <p:nvPr/>
          </p:nvSpPr>
          <p:spPr>
            <a:xfrm>
              <a:off x="4781550" y="3612802"/>
              <a:ext cx="2628900" cy="4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Bad: genymdhms</a:t>
              </a:r>
              <a:br>
                <a:rPr lang="en-US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b="0" i="0" u="none" strike="noStrike" cap="none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 Good: generationTimestamp</a:t>
              </a:r>
              <a:endParaRPr/>
            </a:p>
          </p:txBody>
        </p:sp>
        <p:sp>
          <p:nvSpPr>
            <p:cNvPr id="358" name="Google Shape;358;p32"/>
            <p:cNvSpPr txBox="1"/>
            <p:nvPr/>
          </p:nvSpPr>
          <p:spPr>
            <a:xfrm>
              <a:off x="8413849" y="3184177"/>
              <a:ext cx="2921100" cy="224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Searchable Names</a:t>
              </a:r>
              <a:endParaRPr sz="1800" dirty="0"/>
            </a:p>
          </p:txBody>
        </p:sp>
        <p:sp>
          <p:nvSpPr>
            <p:cNvPr id="359" name="Google Shape;359;p32"/>
            <p:cNvSpPr txBox="1"/>
            <p:nvPr/>
          </p:nvSpPr>
          <p:spPr>
            <a:xfrm>
              <a:off x="8413849" y="3612802"/>
              <a:ext cx="29211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Avoid magic numbers like 86400. Use SECONDS_IN_A_DAY.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Single Responsibility Principle</a:t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>
            <a:off x="1000125" y="234032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 class or function should have one, and only one, reason to change.</a:t>
            </a:r>
            <a:endParaRPr sz="1600" dirty="0"/>
          </a:p>
        </p:txBody>
      </p:sp>
      <p:sp>
        <p:nvSpPr>
          <p:cNvPr id="368" name="Google Shape;368;p33"/>
          <p:cNvSpPr txBox="1"/>
          <p:nvPr/>
        </p:nvSpPr>
        <p:spPr>
          <a:xfrm>
            <a:off x="1000125" y="282416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If a function is longer than 20 lines, it might be doing too much.</a:t>
            </a:r>
            <a:endParaRPr sz="1600"/>
          </a:p>
        </p:txBody>
      </p:sp>
      <p:sp>
        <p:nvSpPr>
          <p:cNvPr id="369" name="Google Shape;369;p33"/>
          <p:cNvSpPr txBox="1"/>
          <p:nvPr/>
        </p:nvSpPr>
        <p:spPr>
          <a:xfrm>
            <a:off x="1000125" y="330800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Cohesion:</a:t>
            </a: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High cohesion means the parts of a module belong together.</a:t>
            </a:r>
            <a:endParaRPr sz="1600"/>
          </a:p>
        </p:txBody>
      </p:sp>
      <p:sp>
        <p:nvSpPr>
          <p:cNvPr id="370" name="Google Shape;370;p33"/>
          <p:cNvSpPr txBox="1"/>
          <p:nvPr/>
        </p:nvSpPr>
        <p:spPr>
          <a:xfrm>
            <a:off x="1000125" y="3791843"/>
            <a:ext cx="10620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Split complex logic into smaller, helper functions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Comments: Explain “why”, not “what”.</a:t>
            </a:r>
            <a:endParaRPr sz="1600" dirty="0"/>
          </a:p>
        </p:txBody>
      </p:sp>
      <p:pic>
        <p:nvPicPr>
          <p:cNvPr id="371" name="Google Shape;37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84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6226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2475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386343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63">
          <a:extLst>
            <a:ext uri="{FF2B5EF4-FFF2-40B4-BE49-F238E27FC236}">
              <a16:creationId xmlns:a16="http://schemas.microsoft.com/office/drawing/2014/main" id="{6D338A58-6F8D-E209-68F3-A8695B67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3" descr="image.png">
            <a:extLst>
              <a:ext uri="{FF2B5EF4-FFF2-40B4-BE49-F238E27FC236}">
                <a16:creationId xmlns:a16="http://schemas.microsoft.com/office/drawing/2014/main" id="{94DD5468-3DAB-C85A-C23E-1AF8F3EF8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>
            <a:extLst>
              <a:ext uri="{FF2B5EF4-FFF2-40B4-BE49-F238E27FC236}">
                <a16:creationId xmlns:a16="http://schemas.microsoft.com/office/drawing/2014/main" id="{DDA0D318-CB37-C21A-E28A-659597419E6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Clean Code Principles</a:t>
            </a:r>
            <a:endParaRPr dirty="0"/>
          </a:p>
        </p:txBody>
      </p:sp>
      <p:sp>
        <p:nvSpPr>
          <p:cNvPr id="366" name="Google Shape;366;p33">
            <a:extLst>
              <a:ext uri="{FF2B5EF4-FFF2-40B4-BE49-F238E27FC236}">
                <a16:creationId xmlns:a16="http://schemas.microsoft.com/office/drawing/2014/main" id="{01603C83-FE2A-3117-A62D-FFB6427D75F4}"/>
              </a:ext>
            </a:extLst>
          </p:cNvPr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>
            <a:extLst>
              <a:ext uri="{FF2B5EF4-FFF2-40B4-BE49-F238E27FC236}">
                <a16:creationId xmlns:a16="http://schemas.microsoft.com/office/drawing/2014/main" id="{BFEC0008-8212-8AB1-7849-C864DEE7A5BB}"/>
              </a:ext>
            </a:extLst>
          </p:cNvPr>
          <p:cNvSpPr txBox="1"/>
          <p:nvPr/>
        </p:nvSpPr>
        <p:spPr>
          <a:xfrm>
            <a:off x="1000125" y="234032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DRY (Don’t Repeat Yourself)</a:t>
            </a:r>
            <a:endParaRPr sz="1600" dirty="0"/>
          </a:p>
        </p:txBody>
      </p:sp>
      <p:sp>
        <p:nvSpPr>
          <p:cNvPr id="368" name="Google Shape;368;p33">
            <a:extLst>
              <a:ext uri="{FF2B5EF4-FFF2-40B4-BE49-F238E27FC236}">
                <a16:creationId xmlns:a16="http://schemas.microsoft.com/office/drawing/2014/main" id="{B7C28B4A-9D73-A947-23DD-9FB627C26F74}"/>
              </a:ext>
            </a:extLst>
          </p:cNvPr>
          <p:cNvSpPr txBox="1"/>
          <p:nvPr/>
        </p:nvSpPr>
        <p:spPr>
          <a:xfrm>
            <a:off x="1000125" y="282416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KISS (Keep It Simple, Stupid).</a:t>
            </a:r>
            <a:endParaRPr sz="1600" dirty="0"/>
          </a:p>
        </p:txBody>
      </p:sp>
      <p:sp>
        <p:nvSpPr>
          <p:cNvPr id="369" name="Google Shape;369;p33">
            <a:extLst>
              <a:ext uri="{FF2B5EF4-FFF2-40B4-BE49-F238E27FC236}">
                <a16:creationId xmlns:a16="http://schemas.microsoft.com/office/drawing/2014/main" id="{E28E2B09-2E7E-35B6-17EE-C89667320FE6}"/>
              </a:ext>
            </a:extLst>
          </p:cNvPr>
          <p:cNvSpPr txBox="1"/>
          <p:nvPr/>
        </p:nvSpPr>
        <p:spPr>
          <a:xfrm>
            <a:off x="1000125" y="330800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YAGNI</a:t>
            </a:r>
            <a:r>
              <a:rPr lang="en-US" sz="18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(You Aren’t </a:t>
            </a:r>
            <a:r>
              <a:rPr lang="en-US" sz="180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Gonna</a:t>
            </a:r>
            <a:r>
              <a:rPr lang="en-US" sz="18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Need It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600" dirty="0"/>
          </a:p>
        </p:txBody>
      </p:sp>
      <p:sp>
        <p:nvSpPr>
          <p:cNvPr id="370" name="Google Shape;370;p33">
            <a:extLst>
              <a:ext uri="{FF2B5EF4-FFF2-40B4-BE49-F238E27FC236}">
                <a16:creationId xmlns:a16="http://schemas.microsoft.com/office/drawing/2014/main" id="{77668E22-3826-ECE0-8F55-4C161C8E7934}"/>
              </a:ext>
            </a:extLst>
          </p:cNvPr>
          <p:cNvSpPr txBox="1"/>
          <p:nvPr/>
        </p:nvSpPr>
        <p:spPr>
          <a:xfrm>
            <a:off x="1000125" y="379184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Error handling strategy</a:t>
            </a:r>
            <a:endParaRPr sz="1600" dirty="0"/>
          </a:p>
        </p:txBody>
      </p:sp>
      <p:pic>
        <p:nvPicPr>
          <p:cNvPr id="371" name="Google Shape;371;p33" descr="image.png">
            <a:extLst>
              <a:ext uri="{FF2B5EF4-FFF2-40B4-BE49-F238E27FC236}">
                <a16:creationId xmlns:a16="http://schemas.microsoft.com/office/drawing/2014/main" id="{0174829B-DE0B-B9DC-C4BF-565C68C2DC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84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 descr="image.png">
            <a:extLst>
              <a:ext uri="{FF2B5EF4-FFF2-40B4-BE49-F238E27FC236}">
                <a16:creationId xmlns:a16="http://schemas.microsoft.com/office/drawing/2014/main" id="{847DA495-8D9B-564A-C79A-2164FF1259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6226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>
            <a:extLst>
              <a:ext uri="{FF2B5EF4-FFF2-40B4-BE49-F238E27FC236}">
                <a16:creationId xmlns:a16="http://schemas.microsoft.com/office/drawing/2014/main" id="{FC06A232-2BCF-C6ED-C7E6-CF13319FA5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2475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 descr="image.png">
            <a:extLst>
              <a:ext uri="{FF2B5EF4-FFF2-40B4-BE49-F238E27FC236}">
                <a16:creationId xmlns:a16="http://schemas.microsoft.com/office/drawing/2014/main" id="{BF5C9AE6-D2A1-3400-5F43-475F3FB85DA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386343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5583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4207"/>
            <a:ext cx="2547937" cy="243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704207"/>
            <a:ext cx="2547937" cy="243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704207"/>
            <a:ext cx="2547937" cy="243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704207"/>
            <a:ext cx="2547937" cy="243066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"Code Smells"</a:t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914400" y="3037582"/>
            <a:ext cx="1919249" cy="27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Long Method</a:t>
            </a:r>
            <a:endParaRPr sz="1800" dirty="0"/>
          </a:p>
        </p:txBody>
      </p:sp>
      <p:sp>
        <p:nvSpPr>
          <p:cNvPr id="387" name="Google Shape;387;p34"/>
          <p:cNvSpPr txBox="1"/>
          <p:nvPr/>
        </p:nvSpPr>
        <p:spPr>
          <a:xfrm>
            <a:off x="857250" y="3466207"/>
            <a:ext cx="19764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Methods with too many lines of code.</a:t>
            </a:r>
            <a:endParaRPr sz="1600" dirty="0"/>
          </a:p>
        </p:txBody>
      </p:sp>
      <p:sp>
        <p:nvSpPr>
          <p:cNvPr id="388" name="Google Shape;388;p34"/>
          <p:cNvSpPr txBox="1"/>
          <p:nvPr/>
        </p:nvSpPr>
        <p:spPr>
          <a:xfrm>
            <a:off x="3773327" y="3037582"/>
            <a:ext cx="1894009" cy="27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Large Class</a:t>
            </a:r>
            <a:endParaRPr sz="1800" dirty="0"/>
          </a:p>
        </p:txBody>
      </p:sp>
      <p:sp>
        <p:nvSpPr>
          <p:cNvPr id="389" name="Google Shape;389;p34"/>
          <p:cNvSpPr txBox="1"/>
          <p:nvPr/>
        </p:nvSpPr>
        <p:spPr>
          <a:xfrm>
            <a:off x="3690937" y="3466207"/>
            <a:ext cx="19764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Classes trying to be a "God Object".</a:t>
            </a:r>
            <a:endParaRPr sz="1600"/>
          </a:p>
        </p:txBody>
      </p:sp>
      <p:sp>
        <p:nvSpPr>
          <p:cNvPr id="390" name="Google Shape;390;p34"/>
          <p:cNvSpPr txBox="1"/>
          <p:nvPr/>
        </p:nvSpPr>
        <p:spPr>
          <a:xfrm>
            <a:off x="6524625" y="3037582"/>
            <a:ext cx="1976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Duplicate Code</a:t>
            </a:r>
            <a:endParaRPr sz="1800" dirty="0"/>
          </a:p>
        </p:txBody>
      </p:sp>
      <p:sp>
        <p:nvSpPr>
          <p:cNvPr id="391" name="Google Shape;391;p34"/>
          <p:cNvSpPr txBox="1"/>
          <p:nvPr/>
        </p:nvSpPr>
        <p:spPr>
          <a:xfrm>
            <a:off x="6524625" y="3466207"/>
            <a:ext cx="1976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Violates the DRY (Don't Repeat Yourself) principle.</a:t>
            </a:r>
            <a:endParaRPr sz="1600"/>
          </a:p>
        </p:txBody>
      </p:sp>
      <p:sp>
        <p:nvSpPr>
          <p:cNvPr id="392" name="Google Shape;392;p34"/>
          <p:cNvSpPr txBox="1"/>
          <p:nvPr/>
        </p:nvSpPr>
        <p:spPr>
          <a:xfrm>
            <a:off x="9446150" y="3037582"/>
            <a:ext cx="1831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Envy</a:t>
            </a:r>
            <a:endParaRPr sz="1800" dirty="0"/>
          </a:p>
        </p:txBody>
      </p:sp>
      <p:sp>
        <p:nvSpPr>
          <p:cNvPr id="393" name="Google Shape;393;p34"/>
          <p:cNvSpPr txBox="1"/>
          <p:nvPr/>
        </p:nvSpPr>
        <p:spPr>
          <a:xfrm>
            <a:off x="9358312" y="3466207"/>
            <a:ext cx="1976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 method using data from another class more than its own.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/>
          <p:nvPr/>
        </p:nvSpPr>
        <p:spPr>
          <a:xfrm>
            <a:off x="5381625" y="2610742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1845468" y="2953642"/>
            <a:ext cx="8501062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Refactoring Techniques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2047875" y="4029967"/>
            <a:ext cx="8096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Systematic Process of Improving Design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Refactoring?</a:t>
            </a:r>
            <a:endParaRPr/>
          </a:p>
        </p:txBody>
      </p:sp>
      <p:sp>
        <p:nvSpPr>
          <p:cNvPr id="409" name="Google Shape;409;p3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6"/>
          <p:cNvSpPr txBox="1"/>
          <p:nvPr/>
        </p:nvSpPr>
        <p:spPr>
          <a:xfrm>
            <a:off x="5589767" y="2166936"/>
            <a:ext cx="6030733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lang="en-US" sz="165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Changing the internal structure of code without changing its external behavior.</a:t>
            </a:r>
            <a:endParaRPr dirty="0"/>
          </a:p>
        </p:txBody>
      </p:sp>
      <p:sp>
        <p:nvSpPr>
          <p:cNvPr id="412" name="Google Shape;412;p36"/>
          <p:cNvSpPr txBox="1"/>
          <p:nvPr/>
        </p:nvSpPr>
        <p:spPr>
          <a:xfrm>
            <a:off x="5589767" y="2944116"/>
            <a:ext cx="6030733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To make the code easier to understand and cheaper to modify.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5589767" y="3721297"/>
            <a:ext cx="6030733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When?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Regularly. During code reviews, when adding a feature, or fixing a bug.</a:t>
            </a:r>
            <a:endParaRPr/>
          </a:p>
        </p:txBody>
      </p:sp>
      <p:sp>
        <p:nvSpPr>
          <p:cNvPr id="414" name="Google Shape;414;p36"/>
          <p:cNvSpPr txBox="1"/>
          <p:nvPr/>
        </p:nvSpPr>
        <p:spPr>
          <a:xfrm>
            <a:off x="5589767" y="4498477"/>
            <a:ext cx="6030733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Rule: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Never refactor and add features at the same time.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F49A4A-58D0-9F76-08BB-57A2EF964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19262"/>
            <a:ext cx="450532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Refactoring Patterns</a:t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37"/>
          <p:cNvGraphicFramePr/>
          <p:nvPr>
            <p:extLst>
              <p:ext uri="{D42A27DB-BD31-4B8C-83A1-F6EECF244321}">
                <p14:modId xmlns:p14="http://schemas.microsoft.com/office/powerpoint/2010/main" val="3702063140"/>
              </p:ext>
            </p:extLst>
          </p:nvPr>
        </p:nvGraphicFramePr>
        <p:xfrm>
          <a:off x="571524" y="1689894"/>
          <a:ext cx="11048975" cy="3860115"/>
        </p:xfrm>
        <a:graphic>
          <a:graphicData uri="http://schemas.openxmlformats.org/drawingml/2006/table">
            <a:tbl>
              <a:tblPr firstRow="1" bandRow="1">
                <a:noFill/>
                <a:tableStyleId>{BCB212F0-D03B-44EE-A831-D37779D2E553}</a:tableStyleId>
              </a:tblPr>
              <a:tblGrid>
                <a:gridCol w="2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20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Technique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3F0D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Problem Solved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0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 Method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Move logic to a new private method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Long method / Logic complexity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0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Rename Variable/Class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Give a better, descriptive name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Unclear intent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0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Inline Method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Replace call with method body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Useless indirection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0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Replace Magic Number with Constants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a named constant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Hidden logic/difficulty in search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4" name="Google Shape;424;p37"/>
          <p:cNvSpPr/>
          <p:nvPr/>
        </p:nvSpPr>
        <p:spPr>
          <a:xfrm>
            <a:off x="571500" y="3653730"/>
            <a:ext cx="28921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3463676" y="3653730"/>
            <a:ext cx="42655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7729239" y="3653730"/>
            <a:ext cx="38912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571500" y="4242345"/>
            <a:ext cx="28921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7"/>
          <p:cNvSpPr/>
          <p:nvPr/>
        </p:nvSpPr>
        <p:spPr>
          <a:xfrm>
            <a:off x="3463676" y="4242345"/>
            <a:ext cx="42655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7729239" y="4242345"/>
            <a:ext cx="38912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571500" y="4830960"/>
            <a:ext cx="28921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3463676" y="4830960"/>
            <a:ext cx="42655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7729239" y="4830960"/>
            <a:ext cx="38912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571500" y="5419576"/>
            <a:ext cx="289217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3463676" y="5419576"/>
            <a:ext cx="426556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7729239" y="5419576"/>
            <a:ext cx="38912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Foundational Resource</a:t>
            </a:r>
            <a:endParaRPr/>
          </a:p>
        </p:txBody>
      </p:sp>
      <p:sp>
        <p:nvSpPr>
          <p:cNvPr id="443" name="Google Shape;443;p3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 txBox="1"/>
          <p:nvPr/>
        </p:nvSpPr>
        <p:spPr>
          <a:xfrm>
            <a:off x="586202" y="2265999"/>
            <a:ext cx="492359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Clean Code (2008):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Written by Robert C. Martin ("Uncle Bob").</a:t>
            </a:r>
            <a:endParaRPr sz="1600" dirty="0"/>
          </a:p>
        </p:txBody>
      </p:sp>
      <p:sp>
        <p:nvSpPr>
          <p:cNvPr id="446" name="Google Shape;446;p38"/>
          <p:cNvSpPr txBox="1"/>
          <p:nvPr/>
        </p:nvSpPr>
        <p:spPr>
          <a:xfrm>
            <a:off x="586202" y="3252686"/>
            <a:ext cx="492359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Core Message: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Writing clean code is about professional craftsmanship.</a:t>
            </a:r>
            <a:endParaRPr sz="1600" dirty="0"/>
          </a:p>
        </p:txBody>
      </p:sp>
      <p:sp>
        <p:nvSpPr>
          <p:cNvPr id="447" name="Google Shape;447;p38"/>
          <p:cNvSpPr txBox="1"/>
          <p:nvPr/>
        </p:nvSpPr>
        <p:spPr>
          <a:xfrm>
            <a:off x="571500" y="4239373"/>
            <a:ext cx="492359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Key Rule: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Leaving the code "cleaner than you found it" (The Boy Scout Rule).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979D27-9BF1-00FF-05A0-3513620E7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420" y="2265999"/>
            <a:ext cx="6005080" cy="283488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Daily Clean Code Checklist</a:t>
            </a:r>
            <a:endParaRPr/>
          </a:p>
        </p:txBody>
      </p:sp>
      <p:sp>
        <p:nvSpPr>
          <p:cNvPr id="454" name="Google Shape;454;p39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1000125" y="278606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Names are descriptive and distinct.</a:t>
            </a:r>
            <a:endParaRPr sz="1600" dirty="0"/>
          </a:p>
        </p:txBody>
      </p:sp>
      <p:sp>
        <p:nvSpPr>
          <p:cNvPr id="456" name="Google Shape;456;p39"/>
          <p:cNvSpPr txBox="1"/>
          <p:nvPr/>
        </p:nvSpPr>
        <p:spPr>
          <a:xfrm>
            <a:off x="1000125" y="326990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Functions are small and do one thing.</a:t>
            </a:r>
            <a:endParaRPr sz="1600"/>
          </a:p>
        </p:txBody>
      </p:sp>
      <p:sp>
        <p:nvSpPr>
          <p:cNvPr id="457" name="Google Shape;457;p39"/>
          <p:cNvSpPr txBox="1"/>
          <p:nvPr/>
        </p:nvSpPr>
        <p:spPr>
          <a:xfrm>
            <a:off x="1000125" y="375374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Function arguments are kept to a minimum (0-3).</a:t>
            </a:r>
            <a:endParaRPr sz="1600"/>
          </a:p>
        </p:txBody>
      </p:sp>
      <p:sp>
        <p:nvSpPr>
          <p:cNvPr id="458" name="Google Shape;458;p39"/>
          <p:cNvSpPr txBox="1"/>
          <p:nvPr/>
        </p:nvSpPr>
        <p:spPr>
          <a:xfrm>
            <a:off x="1000125" y="423758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No commented-out code is left in the repository.</a:t>
            </a:r>
            <a:endParaRPr sz="1600"/>
          </a:p>
        </p:txBody>
      </p:sp>
      <p:sp>
        <p:nvSpPr>
          <p:cNvPr id="459" name="Google Shape;459;p39"/>
          <p:cNvSpPr txBox="1"/>
          <p:nvPr/>
        </p:nvSpPr>
        <p:spPr>
          <a:xfrm>
            <a:off x="1000125" y="472142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Error handling is separated from main logic.</a:t>
            </a:r>
            <a:endParaRPr sz="1600"/>
          </a:p>
        </p:txBody>
      </p:sp>
      <p:pic>
        <p:nvPicPr>
          <p:cNvPr id="460" name="Google Shape;46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4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0800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9184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756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59523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0802"/>
            <a:ext cx="3492549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50802"/>
            <a:ext cx="3492549" cy="213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50802"/>
            <a:ext cx="3492549" cy="2137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Industry Standard: Comments</a:t>
            </a:r>
            <a:endParaRPr/>
          </a:p>
        </p:txBody>
      </p:sp>
      <p:sp>
        <p:nvSpPr>
          <p:cNvPr id="474" name="Google Shape;474;p4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 txBox="1"/>
          <p:nvPr/>
        </p:nvSpPr>
        <p:spPr>
          <a:xfrm>
            <a:off x="857250" y="3184178"/>
            <a:ext cx="29210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Good Comments</a:t>
            </a:r>
            <a:endParaRPr sz="1800"/>
          </a:p>
        </p:txBody>
      </p:sp>
      <p:sp>
        <p:nvSpPr>
          <p:cNvPr id="476" name="Google Shape;476;p40"/>
          <p:cNvSpPr txBox="1"/>
          <p:nvPr/>
        </p:nvSpPr>
        <p:spPr>
          <a:xfrm>
            <a:off x="857250" y="3612802"/>
            <a:ext cx="292104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Legal comments, informative (regex explanation), warnings, TODOs.</a:t>
            </a:r>
            <a:endParaRPr sz="1600" dirty="0"/>
          </a:p>
        </p:txBody>
      </p:sp>
      <p:sp>
        <p:nvSpPr>
          <p:cNvPr id="477" name="Google Shape;477;p40"/>
          <p:cNvSpPr txBox="1"/>
          <p:nvPr/>
        </p:nvSpPr>
        <p:spPr>
          <a:xfrm>
            <a:off x="4635550" y="3184177"/>
            <a:ext cx="29210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Bad Comments</a:t>
            </a:r>
            <a:endParaRPr sz="1800" dirty="0"/>
          </a:p>
        </p:txBody>
      </p:sp>
      <p:sp>
        <p:nvSpPr>
          <p:cNvPr id="478" name="Google Shape;478;p40"/>
          <p:cNvSpPr txBox="1"/>
          <p:nvPr/>
        </p:nvSpPr>
        <p:spPr>
          <a:xfrm>
            <a:off x="4635549" y="3612802"/>
            <a:ext cx="292104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Redundant comments, noisy comments, source code snapshots.</a:t>
            </a:r>
            <a:endParaRPr sz="1600"/>
          </a:p>
        </p:txBody>
      </p:sp>
      <p:sp>
        <p:nvSpPr>
          <p:cNvPr id="479" name="Google Shape;479;p40"/>
          <p:cNvSpPr txBox="1"/>
          <p:nvPr/>
        </p:nvSpPr>
        <p:spPr>
          <a:xfrm>
            <a:off x="8491992" y="3184177"/>
            <a:ext cx="29210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Golden Rule</a:t>
            </a:r>
            <a:endParaRPr sz="1800" dirty="0"/>
          </a:p>
        </p:txBody>
      </p:sp>
      <p:sp>
        <p:nvSpPr>
          <p:cNvPr id="480" name="Google Shape;480;p40"/>
          <p:cNvSpPr txBox="1"/>
          <p:nvPr/>
        </p:nvSpPr>
        <p:spPr>
          <a:xfrm>
            <a:off x="8413849" y="3612802"/>
            <a:ext cx="292104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"Don't comment bad code — rewrite it." (Kernighan &amp; Plauger)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Implementation Flow</a:t>
            </a:r>
            <a:endParaRPr/>
          </a:p>
        </p:txBody>
      </p:sp>
      <p:sp>
        <p:nvSpPr>
          <p:cNvPr id="487" name="Google Shape;487;p4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571500" y="3907184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1"/>
          <p:cNvSpPr txBox="1"/>
          <p:nvPr/>
        </p:nvSpPr>
        <p:spPr>
          <a:xfrm>
            <a:off x="530066" y="3240434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Plan</a:t>
            </a:r>
            <a:endParaRPr/>
          </a:p>
        </p:txBody>
      </p:sp>
      <p:sp>
        <p:nvSpPr>
          <p:cNvPr id="490" name="Google Shape;490;p41"/>
          <p:cNvSpPr/>
          <p:nvPr/>
        </p:nvSpPr>
        <p:spPr>
          <a:xfrm>
            <a:off x="1285875" y="384050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1"/>
          <p:cNvSpPr txBox="1"/>
          <p:nvPr/>
        </p:nvSpPr>
        <p:spPr>
          <a:xfrm>
            <a:off x="571500" y="4278659"/>
            <a:ext cx="16573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Select Arch &amp; Stack</a:t>
            </a:r>
            <a:endParaRPr/>
          </a:p>
        </p:txBody>
      </p:sp>
      <p:sp>
        <p:nvSpPr>
          <p:cNvPr id="492" name="Google Shape;492;p41"/>
          <p:cNvSpPr txBox="1"/>
          <p:nvPr/>
        </p:nvSpPr>
        <p:spPr>
          <a:xfrm>
            <a:off x="3660517" y="3240434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Setup</a:t>
            </a:r>
            <a:endParaRPr/>
          </a:p>
        </p:txBody>
      </p:sp>
      <p:sp>
        <p:nvSpPr>
          <p:cNvPr id="493" name="Google Shape;493;p41"/>
          <p:cNvSpPr/>
          <p:nvPr/>
        </p:nvSpPr>
        <p:spPr>
          <a:xfrm>
            <a:off x="4416325" y="384050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1"/>
          <p:cNvSpPr txBox="1"/>
          <p:nvPr/>
        </p:nvSpPr>
        <p:spPr>
          <a:xfrm>
            <a:off x="3701950" y="4278659"/>
            <a:ext cx="16573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Define Structure &amp; Deps</a:t>
            </a:r>
            <a:endParaRPr/>
          </a:p>
        </p:txBody>
      </p:sp>
      <p:sp>
        <p:nvSpPr>
          <p:cNvPr id="495" name="Google Shape;495;p41"/>
          <p:cNvSpPr txBox="1"/>
          <p:nvPr/>
        </p:nvSpPr>
        <p:spPr>
          <a:xfrm>
            <a:off x="6790967" y="3240434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Code</a:t>
            </a:r>
            <a:endParaRPr/>
          </a:p>
        </p:txBody>
      </p:sp>
      <p:sp>
        <p:nvSpPr>
          <p:cNvPr id="496" name="Google Shape;496;p41"/>
          <p:cNvSpPr/>
          <p:nvPr/>
        </p:nvSpPr>
        <p:spPr>
          <a:xfrm>
            <a:off x="7546776" y="384050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1"/>
          <p:cNvSpPr txBox="1"/>
          <p:nvPr/>
        </p:nvSpPr>
        <p:spPr>
          <a:xfrm>
            <a:off x="6832401" y="4278659"/>
            <a:ext cx="16573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Clean Code Implementation</a:t>
            </a:r>
            <a:endParaRPr/>
          </a:p>
        </p:txBody>
      </p:sp>
      <p:sp>
        <p:nvSpPr>
          <p:cNvPr id="498" name="Google Shape;498;p41"/>
          <p:cNvSpPr txBox="1"/>
          <p:nvPr/>
        </p:nvSpPr>
        <p:spPr>
          <a:xfrm>
            <a:off x="9921418" y="3240434"/>
            <a:ext cx="17402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Review</a:t>
            </a:r>
            <a:endParaRPr/>
          </a:p>
        </p:txBody>
      </p:sp>
      <p:sp>
        <p:nvSpPr>
          <p:cNvPr id="499" name="Google Shape;499;p41"/>
          <p:cNvSpPr/>
          <p:nvPr/>
        </p:nvSpPr>
        <p:spPr>
          <a:xfrm>
            <a:off x="10677227" y="384050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 cap="flat" cmpd="sng">
            <a:solidFill>
              <a:srgbClr val="F3F0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9962852" y="4278659"/>
            <a:ext cx="16573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Refactor &amp; Optimize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Key Takeaways</a:t>
            </a:r>
            <a:endParaRPr/>
          </a:p>
        </p:txBody>
      </p:sp>
      <p:sp>
        <p:nvSpPr>
          <p:cNvPr id="507" name="Google Shape;507;p4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2"/>
          <p:cNvSpPr txBox="1"/>
          <p:nvPr/>
        </p:nvSpPr>
        <p:spPr>
          <a:xfrm>
            <a:off x="1000125" y="232834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Architecture matters: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It is the skeleton that supports all features.</a:t>
            </a:r>
            <a:endParaRPr sz="1600" dirty="0"/>
          </a:p>
        </p:txBody>
      </p:sp>
      <p:sp>
        <p:nvSpPr>
          <p:cNvPr id="509" name="Google Shape;509;p42"/>
          <p:cNvSpPr txBox="1"/>
          <p:nvPr/>
        </p:nvSpPr>
        <p:spPr>
          <a:xfrm>
            <a:off x="1000125" y="281218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Consistency:</a:t>
            </a: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Folders and naming provide the mental map for the team.</a:t>
            </a:r>
            <a:endParaRPr sz="1600"/>
          </a:p>
        </p:txBody>
      </p:sp>
      <p:sp>
        <p:nvSpPr>
          <p:cNvPr id="510" name="Google Shape;510;p42"/>
          <p:cNvSpPr txBox="1"/>
          <p:nvPr/>
        </p:nvSpPr>
        <p:spPr>
          <a:xfrm>
            <a:off x="1000125" y="329602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Hygiene:</a:t>
            </a: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Dependency management and Clean Code prevent technical debt.</a:t>
            </a:r>
            <a:endParaRPr sz="1600"/>
          </a:p>
        </p:txBody>
      </p:sp>
      <p:sp>
        <p:nvSpPr>
          <p:cNvPr id="511" name="Google Shape;511;p42"/>
          <p:cNvSpPr txBox="1"/>
          <p:nvPr/>
        </p:nvSpPr>
        <p:spPr>
          <a:xfrm>
            <a:off x="1000125" y="3779862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Continuous Improvement:</a:t>
            </a:r>
            <a:r>
              <a:rPr lang="en-US" sz="18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Refactoring is not a one-time event but a habit.</a:t>
            </a:r>
            <a:endParaRPr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3"/>
          <p:cNvSpPr txBox="1"/>
          <p:nvPr/>
        </p:nvSpPr>
        <p:spPr>
          <a:xfrm>
            <a:off x="1365408" y="2272605"/>
            <a:ext cx="9461182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&amp; Answers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1538</Words>
  <Application>Microsoft Office PowerPoint</Application>
  <PresentationFormat>Widescreen</PresentationFormat>
  <Paragraphs>234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DM Sans Medium</vt:lpstr>
      <vt:lpstr>Merriweather</vt:lpstr>
      <vt:lpstr>DM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Sophia BUI</cp:lastModifiedBy>
  <cp:revision>7</cp:revision>
  <dcterms:modified xsi:type="dcterms:W3CDTF">2026-05-17T14:56:34Z</dcterms:modified>
</cp:coreProperties>
</file>