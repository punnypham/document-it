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95" r:id="rId6"/>
    <p:sldId id="263" r:id="rId7"/>
    <p:sldId id="264" r:id="rId8"/>
    <p:sldId id="261" r:id="rId9"/>
    <p:sldId id="291" r:id="rId10"/>
    <p:sldId id="292" r:id="rId11"/>
    <p:sldId id="293" r:id="rId12"/>
    <p:sldId id="294" r:id="rId13"/>
    <p:sldId id="265" r:id="rId14"/>
    <p:sldId id="305" r:id="rId15"/>
    <p:sldId id="266" r:id="rId16"/>
    <p:sldId id="267" r:id="rId17"/>
    <p:sldId id="268" r:id="rId18"/>
    <p:sldId id="269" r:id="rId19"/>
    <p:sldId id="270" r:id="rId20"/>
    <p:sldId id="308" r:id="rId21"/>
    <p:sldId id="271" r:id="rId22"/>
    <p:sldId id="272" r:id="rId23"/>
    <p:sldId id="301" r:id="rId24"/>
    <p:sldId id="302" r:id="rId25"/>
    <p:sldId id="303" r:id="rId26"/>
    <p:sldId id="304" r:id="rId27"/>
    <p:sldId id="296" r:id="rId28"/>
    <p:sldId id="262" r:id="rId29"/>
    <p:sldId id="297" r:id="rId30"/>
    <p:sldId id="298" r:id="rId31"/>
    <p:sldId id="299" r:id="rId32"/>
    <p:sldId id="300" r:id="rId33"/>
    <p:sldId id="307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</p:sldIdLst>
  <p:sldSz cx="12192000" cy="6858000"/>
  <p:notesSz cx="6858000" cy="9144000"/>
  <p:embeddedFontLst>
    <p:embeddedFont>
      <p:font typeface="DM Sans" pitchFamily="2" charset="0"/>
      <p:regular r:id="rId51"/>
      <p:bold r:id="rId52"/>
      <p:italic r:id="rId53"/>
      <p:boldItalic r:id="rId54"/>
    </p:embeddedFont>
    <p:embeddedFont>
      <p:font typeface="DM Sans Medium" pitchFamily="2" charset="0"/>
      <p:regular r:id="rId55"/>
      <p:bold r:id="rId56"/>
      <p:italic r:id="rId57"/>
      <p:boldItalic r:id="rId58"/>
    </p:embeddedFont>
    <p:embeddedFont>
      <p:font typeface="Merriweather" panose="00000500000000000000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787D"/>
    <a:srgbClr val="08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61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BE58550D-8E23-4583-8E07-07830BA2D7C5}"/>
    <pc:docChg chg="undo custSel modSld">
      <pc:chgData name="Sophia BUI" userId="5388e7d4eb368e7c" providerId="LiveId" clId="{BE58550D-8E23-4583-8E07-07830BA2D7C5}" dt="2026-05-12T13:40:59.946" v="26" actId="1076"/>
      <pc:docMkLst>
        <pc:docMk/>
      </pc:docMkLst>
      <pc:sldChg chg="addSp delSp modSp mod">
        <pc:chgData name="Sophia BUI" userId="5388e7d4eb368e7c" providerId="LiveId" clId="{BE58550D-8E23-4583-8E07-07830BA2D7C5}" dt="2026-05-12T13:40:59.946" v="26" actId="1076"/>
        <pc:sldMkLst>
          <pc:docMk/>
          <pc:sldMk cId="0" sldId="256"/>
        </pc:sldMkLst>
        <pc:spChg chg="add del">
          <ac:chgData name="Sophia BUI" userId="5388e7d4eb368e7c" providerId="LiveId" clId="{BE58550D-8E23-4583-8E07-07830BA2D7C5}" dt="2026-05-12T13:40:35.612" v="24" actId="478"/>
          <ac:spMkLst>
            <pc:docMk/>
            <pc:sldMk cId="0" sldId="256"/>
            <ac:spMk id="3" creationId="{FB4E509A-96BF-F8E7-45AC-C3D2E79F86EF}"/>
          </ac:spMkLst>
        </pc:spChg>
        <pc:spChg chg="add mod">
          <ac:chgData name="Sophia BUI" userId="5388e7d4eb368e7c" providerId="LiveId" clId="{BE58550D-8E23-4583-8E07-07830BA2D7C5}" dt="2026-05-12T13:40:49.010" v="25"/>
          <ac:spMkLst>
            <pc:docMk/>
            <pc:sldMk cId="0" sldId="256"/>
            <ac:spMk id="4" creationId="{19729AE1-984C-2089-F09F-95A649501D27}"/>
          </ac:spMkLst>
        </pc:spChg>
        <pc:spChg chg="mod">
          <ac:chgData name="Sophia BUI" userId="5388e7d4eb368e7c" providerId="LiveId" clId="{BE58550D-8E23-4583-8E07-07830BA2D7C5}" dt="2026-05-12T13:40:59.946" v="26" actId="1076"/>
          <ac:spMkLst>
            <pc:docMk/>
            <pc:sldMk cId="0" sldId="256"/>
            <ac:spMk id="85" creationId="{00000000-0000-0000-0000-000000000000}"/>
          </ac:spMkLst>
        </pc:spChg>
        <pc:spChg chg="mod">
          <ac:chgData name="Sophia BUI" userId="5388e7d4eb368e7c" providerId="LiveId" clId="{BE58550D-8E23-4583-8E07-07830BA2D7C5}" dt="2026-05-12T13:39:19.936" v="18" actId="1076"/>
          <ac:spMkLst>
            <pc:docMk/>
            <pc:sldMk cId="0" sldId="256"/>
            <ac:spMk id="86" creationId="{00000000-0000-0000-0000-000000000000}"/>
          </ac:spMkLst>
        </pc:spChg>
        <pc:spChg chg="del mod">
          <ac:chgData name="Sophia BUI" userId="5388e7d4eb368e7c" providerId="LiveId" clId="{BE58550D-8E23-4583-8E07-07830BA2D7C5}" dt="2026-05-12T13:40:27.555" v="22" actId="478"/>
          <ac:spMkLst>
            <pc:docMk/>
            <pc:sldMk cId="0" sldId="256"/>
            <ac:spMk id="87" creationId="{00000000-0000-0000-0000-000000000000}"/>
          </ac:spMkLst>
        </pc:spChg>
        <pc:picChg chg="del mod">
          <ac:chgData name="Sophia BUI" userId="5388e7d4eb368e7c" providerId="LiveId" clId="{BE58550D-8E23-4583-8E07-07830BA2D7C5}" dt="2026-05-12T13:40:22.885" v="21" actId="478"/>
          <ac:picMkLst>
            <pc:docMk/>
            <pc:sldMk cId="0" sldId="256"/>
            <ac:picMk id="8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ED947635-793A-ADA2-537D-CF1741D9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>
            <a:extLst>
              <a:ext uri="{FF2B5EF4-FFF2-40B4-BE49-F238E27FC236}">
                <a16:creationId xmlns:a16="http://schemas.microsoft.com/office/drawing/2014/main" id="{4A68F403-4B4A-942B-D59B-1DB50D505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>
            <a:extLst>
              <a:ext uri="{FF2B5EF4-FFF2-40B4-BE49-F238E27FC236}">
                <a16:creationId xmlns:a16="http://schemas.microsoft.com/office/drawing/2014/main" id="{60DB77AE-1F01-9C47-76F5-DE249351E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5837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>
          <a:extLst>
            <a:ext uri="{FF2B5EF4-FFF2-40B4-BE49-F238E27FC236}">
              <a16:creationId xmlns:a16="http://schemas.microsoft.com/office/drawing/2014/main" id="{D0E63375-BBDA-D754-FFF6-2C559ADC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567C1D68-ADF0-4992-B6CA-19D0A6D8F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31EFEE1D-5E89-7FF9-84E4-5370C7DAE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9499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0DC7F7E-A1F7-9843-AEB6-026FD7C0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>
            <a:extLst>
              <a:ext uri="{FF2B5EF4-FFF2-40B4-BE49-F238E27FC236}">
                <a16:creationId xmlns:a16="http://schemas.microsoft.com/office/drawing/2014/main" id="{4F125BBF-9D35-DE95-B12F-A1B6C6386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:notes">
            <a:extLst>
              <a:ext uri="{FF2B5EF4-FFF2-40B4-BE49-F238E27FC236}">
                <a16:creationId xmlns:a16="http://schemas.microsoft.com/office/drawing/2014/main" id="{F3450678-8A9D-DD21-7D28-1907794DE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58644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617054" y="1989196"/>
            <a:ext cx="1095789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3: 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Analysis &amp; Design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062077" y="4020521"/>
            <a:ext cx="636601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1CAA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From Requirements to Technical Blueprints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9382125" y="6496050"/>
            <a:ext cx="24288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Introduction to Software Engineering</a:t>
            </a:r>
            <a:endParaRPr/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19729AE1-984C-2089-F09F-95A649501D27}"/>
              </a:ext>
            </a:extLst>
          </p:cNvPr>
          <p:cNvSpPr txBox="1"/>
          <p:nvPr/>
        </p:nvSpPr>
        <p:spPr>
          <a:xfrm>
            <a:off x="3493605" y="5044900"/>
            <a:ext cx="47509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Introduction to Software Engineering | </a:t>
            </a:r>
            <a:r>
              <a:rPr lang="en-US" b="0" i="0" u="none" strike="noStrike" cap="none" dirty="0" err="1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HUFLIT</a:t>
            </a:r>
            <a:r>
              <a:rPr lang="en-US" b="0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 University</a:t>
            </a:r>
            <a:endParaRPr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741437"/>
            <a:ext cx="3682900" cy="473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1741437"/>
            <a:ext cx="3683049" cy="473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741437"/>
            <a:ext cx="3682900" cy="473556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381000" y="760362"/>
            <a:ext cx="467058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Outcomes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381000" y="1427112"/>
            <a:ext cx="44481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211339" y="6496049"/>
            <a:ext cx="59966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19125" y="2036712"/>
            <a:ext cx="33669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Mapping Knowledge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19125" y="2465337"/>
            <a:ext cx="32066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Learn to translate functional and non-functional requirements into standardized UML models.</a:t>
            </a:r>
            <a:endParaRPr sz="16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4492525" y="2036712"/>
            <a:ext cx="336713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Unified Workflow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492525" y="2465337"/>
            <a:ext cx="32067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Master the flow from Use Cases through Activity and Sequence diagrams to Class structures.</a:t>
            </a:r>
            <a:endParaRPr sz="16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8366075" y="2036712"/>
            <a:ext cx="33669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Model Engineering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66075" y="2465337"/>
            <a:ext cx="32066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Understand how to ensure cross-diagram consistency and generate code from visual designs.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478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81000" y="760362"/>
            <a:ext cx="457057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 vs. Design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381000" y="1427112"/>
            <a:ext cx="43529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1246126" y="6496050"/>
            <a:ext cx="56487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3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361950" y="1910620"/>
            <a:ext cx="556260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Analysis</a:t>
            </a:r>
            <a:r>
              <a:rPr lang="en-US" sz="16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Focuses on "What" the system should do (Requirement understanding).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Design:</a:t>
            </a: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Focuses on "How" the system will fulfill those needs (Logical structure).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transition requires abstracting real-world entities into software constructs.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sym typeface="DM Sans"/>
              </a:rPr>
              <a:t>Industrial Case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In bank ATM development, analysis defines "Withdraw Cash", design defines the "</a:t>
            </a:r>
            <a:r>
              <a:rPr lang="en-US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CashDispenser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 class interaction.</a:t>
            </a:r>
            <a:endParaRPr lang="en-US" sz="1600" dirty="0"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0;p15" descr="image.png">
            <a:extLst>
              <a:ext uri="{FF2B5EF4-FFF2-40B4-BE49-F238E27FC236}">
                <a16:creationId xmlns:a16="http://schemas.microsoft.com/office/drawing/2014/main" id="{9AA1FF89-F7E9-E82D-700D-5DB8D92573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381000" y="381000"/>
            <a:ext cx="11811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UML: Why We Model?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81000" y="1419225"/>
            <a:ext cx="11191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Visual modeling allows us to manage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complexity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Standardized notation (UML) ensures all stakeholders—from architects to coders—speak the same technical language.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382375" y="6496050"/>
            <a:ext cx="428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Slide 4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52450" y="2935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48334" y="2811098"/>
            <a:ext cx="111918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Visualization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Sees the big picture of a large codebase.</a:t>
            </a:r>
            <a:endParaRPr sz="1600"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552450" y="3354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48334" y="3230198"/>
            <a:ext cx="111918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Communication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Discusses logic without looking at 10,000 lines of code.</a:t>
            </a:r>
            <a:endParaRPr sz="1600"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552450" y="3773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48334" y="3649298"/>
            <a:ext cx="111918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Defines interfaces and behaviors unambiguously.</a:t>
            </a:r>
            <a:endParaRPr sz="1600" dirty="0"/>
          </a:p>
        </p:txBody>
      </p:sp>
      <p:sp>
        <p:nvSpPr>
          <p:cNvPr id="3" name="Google Shape;114;p15">
            <a:extLst>
              <a:ext uri="{FF2B5EF4-FFF2-40B4-BE49-F238E27FC236}">
                <a16:creationId xmlns:a16="http://schemas.microsoft.com/office/drawing/2014/main" id="{71FFA064-0DCC-67A0-0651-68CAD48F2227}"/>
              </a:ext>
            </a:extLst>
          </p:cNvPr>
          <p:cNvSpPr txBox="1"/>
          <p:nvPr/>
        </p:nvSpPr>
        <p:spPr>
          <a:xfrm>
            <a:off x="11246126" y="6496050"/>
            <a:ext cx="56487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4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1745456" y="2428875"/>
            <a:ext cx="870108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Unified UML Workflow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381625" y="3381375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781300" y="3857625"/>
            <a:ext cx="6629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Connecting 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Requirements to 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Cases, Activity, Sequence, and Class Models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11211339" y="6496049"/>
            <a:ext cx="59966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381000" y="760362"/>
            <a:ext cx="406050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Unified Flow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381000" y="1427112"/>
            <a:ext cx="38671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1237053" y="6496050"/>
            <a:ext cx="57394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6</a:t>
            </a:r>
            <a:endParaRPr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381000" y="1950565"/>
            <a:ext cx="55245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Effective modeling follows a logical </a:t>
            </a:r>
            <a:r>
              <a:rPr lang="en-US" sz="18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Pedagogical Flow</a:t>
            </a: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800" dirty="0"/>
          </a:p>
        </p:txBody>
      </p:sp>
      <p:sp>
        <p:nvSpPr>
          <p:cNvPr id="194" name="Google Shape;194;p20"/>
          <p:cNvSpPr txBox="1"/>
          <p:nvPr/>
        </p:nvSpPr>
        <p:spPr>
          <a:xfrm>
            <a:off x="381000" y="5193479"/>
            <a:ext cx="55245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session follows this path to build a consistent system view.</a:t>
            </a:r>
            <a:endParaRPr sz="1600" dirty="0"/>
          </a:p>
        </p:txBody>
      </p:sp>
      <p:sp>
        <p:nvSpPr>
          <p:cNvPr id="196" name="Google Shape;196;p20"/>
          <p:cNvSpPr txBox="1"/>
          <p:nvPr/>
        </p:nvSpPr>
        <p:spPr>
          <a:xfrm>
            <a:off x="381000" y="3020053"/>
            <a:ext cx="51435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Use Case</a:t>
            </a:r>
            <a:r>
              <a:rPr lang="en-US" sz="16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Why are we building this?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Activity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What are the steps?</a:t>
            </a:r>
            <a:endParaRPr lang="en-US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Sequence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Who talks to whom?</a:t>
            </a:r>
            <a:endParaRPr lang="en-US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Class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How is the data structured?</a:t>
            </a:r>
            <a:endParaRPr lang="en-US" sz="1600" dirty="0"/>
          </a:p>
        </p:txBody>
      </p:sp>
      <p:pic>
        <p:nvPicPr>
          <p:cNvPr id="203" name="Google Shape;20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381000" y="760362"/>
            <a:ext cx="585073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Use Case Diagram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381000" y="1427112"/>
            <a:ext cx="55721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1236187" y="6496050"/>
            <a:ext cx="574813" cy="16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7</a:t>
            </a:r>
            <a:endParaRPr dirty="0"/>
          </a:p>
        </p:txBody>
      </p:sp>
      <p:sp>
        <p:nvSpPr>
          <p:cNvPr id="213" name="Google Shape;213;p21"/>
          <p:cNvSpPr txBox="1"/>
          <p:nvPr/>
        </p:nvSpPr>
        <p:spPr>
          <a:xfrm>
            <a:off x="381000" y="2134069"/>
            <a:ext cx="58007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Defining Boundaries</a:t>
            </a:r>
            <a:endParaRPr dirty="0"/>
          </a:p>
        </p:txBody>
      </p:sp>
      <p:sp>
        <p:nvSpPr>
          <p:cNvPr id="215" name="Google Shape;215;p21"/>
          <p:cNvSpPr txBox="1"/>
          <p:nvPr/>
        </p:nvSpPr>
        <p:spPr>
          <a:xfrm>
            <a:off x="381000" y="2718744"/>
            <a:ext cx="5458239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System Boundary</a:t>
            </a:r>
            <a:r>
              <a:rPr lang="en-US" sz="1600" b="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box separates what is inside from what is outside.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Focuses on the high-level services provided to actors.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Ignores </a:t>
            </a:r>
            <a:r>
              <a:rPr lang="fr-FR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  <a:r>
              <a:rPr lang="fr-FR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fr-FR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details</a:t>
            </a:r>
            <a:r>
              <a:rPr lang="fr-FR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(classes/</a:t>
            </a:r>
            <a:r>
              <a:rPr lang="fr-FR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databases</a:t>
            </a:r>
            <a:r>
              <a:rPr lang="fr-FR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lang="fr-FR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Industrial Case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Banking systems distinguish between a 'Customer' actor and a 'Bank Administrator' actor.</a:t>
            </a:r>
            <a:endParaRPr lang="en-US" sz="1600" dirty="0"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381000" y="760362"/>
            <a:ext cx="4850606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Functional Mapping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81000" y="1427112"/>
            <a:ext cx="46196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11290853" y="6496049"/>
            <a:ext cx="52014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8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381000" y="2185129"/>
            <a:ext cx="58007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FR → Use Case Diagram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381000" y="2744631"/>
            <a:ext cx="5612296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Every User Goal becomes a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Use Case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Actors represent roles (Human or System) interacting with the boundary.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Identifies </a:t>
            </a: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External Traceability</a:t>
            </a: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back to the User Requirement document.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Real-world Example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"The system must allow a user to transfer funds" maps to a "Transfer Funds" Use Case.</a:t>
            </a:r>
            <a:endParaRPr lang="en-US" sz="1600" dirty="0"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3300" y="1842417"/>
            <a:ext cx="44577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 Use Cases: The Verb-Noun Rule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1251096" y="6496050"/>
            <a:ext cx="55990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9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381000" y="1738599"/>
            <a:ext cx="66865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To identify Use Cases from a requirements document, look </a:t>
            </a:r>
            <a:r>
              <a:rPr lang="en-US" sz="18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for Action</a:t>
            </a:r>
            <a:r>
              <a:rPr lang="en-US" sz="18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-oriented Statements:</a:t>
            </a:r>
            <a:endParaRPr sz="1800" b="1" dirty="0">
              <a:highlight>
                <a:srgbClr val="00FFFF"/>
              </a:highlight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90305" y="2791585"/>
            <a:ext cx="6448425" cy="326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Find the Verbs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Identify the primary action (e.g., Generate, Register, Update).</a:t>
            </a: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Find the Nouns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Identify the object being acted upon (e.g., Report, Patient, Profile).</a:t>
            </a:r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sym typeface="DM Sans"/>
              </a:rPr>
              <a:t>Formula</a:t>
            </a:r>
            <a:r>
              <a:rPr lang="en-US" sz="1600" dirty="0">
                <a:solidFill>
                  <a:srgbClr val="121212"/>
                </a:solidFill>
                <a:latin typeface="DM Sans"/>
                <a:sym typeface="DM Sans"/>
              </a:rPr>
              <a:t>: 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 Case Name = [Verb] + [Noun Phrase].</a:t>
            </a:r>
            <a:endParaRPr lang="en-US" sz="1800" dirty="0"/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highlight>
                  <a:srgbClr val="00FFFF"/>
                </a:highlight>
              </a:rPr>
              <a:t>Rule of Thumb</a:t>
            </a:r>
            <a:r>
              <a:rPr lang="en-US" sz="1800" dirty="0"/>
              <a:t>: 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Use Case should yield a </a:t>
            </a:r>
            <a:r>
              <a:rPr lang="en-US" sz="18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Result of Value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to the actor.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53300" y="1870992"/>
            <a:ext cx="44005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Step-by-Step Mapping: Practical Example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11290853" y="6496050"/>
            <a:ext cx="52014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10</a:t>
            </a:r>
            <a:endParaRPr dirty="0"/>
          </a:p>
        </p:txBody>
      </p:sp>
      <p:graphicFrame>
        <p:nvGraphicFramePr>
          <p:cNvPr id="141" name="Google Shape;141;p16"/>
          <p:cNvGraphicFramePr/>
          <p:nvPr>
            <p:extLst>
              <p:ext uri="{D42A27DB-BD31-4B8C-83A1-F6EECF244321}">
                <p14:modId xmlns:p14="http://schemas.microsoft.com/office/powerpoint/2010/main" val="723565633"/>
              </p:ext>
            </p:extLst>
          </p:nvPr>
        </p:nvGraphicFramePr>
        <p:xfrm>
          <a:off x="381000" y="2194619"/>
          <a:ext cx="11430000" cy="28384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59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Functional Requirement (FR) Text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Keywords (Verb/Noun)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Candidate Use Case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59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"The system shall allow the clerk to 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register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a new 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patient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."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Register / Patient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Register Patient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59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"A doctor must be able to 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view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the 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medical history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."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View / History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View Patient Record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63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"The system shall 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generate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a weekly </a:t>
                      </a: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revenue report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."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Generate / Report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Generate Revenue Report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2" name="Google Shape;142;p16"/>
          <p:cNvSpPr/>
          <p:nvPr/>
        </p:nvSpPr>
        <p:spPr>
          <a:xfrm>
            <a:off x="381000" y="2460873"/>
            <a:ext cx="5715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096000" y="2460873"/>
            <a:ext cx="28575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953500" y="2460873"/>
            <a:ext cx="28575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81000" y="2927598"/>
            <a:ext cx="5715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096000" y="2927598"/>
            <a:ext cx="28575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953500" y="2927598"/>
            <a:ext cx="28575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81000" y="3394323"/>
            <a:ext cx="57150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096000" y="3394323"/>
            <a:ext cx="28575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953500" y="3394323"/>
            <a:ext cx="28575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969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6784" y="2193916"/>
            <a:ext cx="44577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 Actors: Who initiates the Goal?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1315701" y="6496051"/>
            <a:ext cx="4953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11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460513" y="2193916"/>
            <a:ext cx="70208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Questions to ask the FR: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460513" y="5463786"/>
            <a:ext cx="654160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dustrial Case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 a Retail System, the "Inventory Manager" is an actor for "Update Stock", while "Payment Gateway" is a supporting system actor.</a:t>
            </a:r>
            <a:endParaRPr sz="1600"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409575" y="2715356"/>
            <a:ext cx="6448425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Who provides the input for this requirement? (</a:t>
            </a:r>
            <a:r>
              <a:rPr lang="en-US" sz="1600" b="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Primary Actor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Who receives the output or value?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Does this requirement interact with an </a:t>
            </a: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External System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? (e.g., Credit Card Gateway).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Does it happen automatically on a </a:t>
            </a: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Timer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? (Time as an Actor).</a:t>
            </a:r>
            <a:endParaRPr lang="en-US" sz="1600" dirty="0"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5359" y="2148120"/>
            <a:ext cx="44005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Refining Scope: Atomicity of Use Cases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11241157" y="6496050"/>
            <a:ext cx="56984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12</a:t>
            </a:r>
            <a:endParaRPr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420757" y="1950630"/>
            <a:ext cx="11811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Common Pitfalls to Avoid:</a:t>
            </a:r>
            <a:endParaRPr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500062" y="4592865"/>
            <a:ext cx="1143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Ensure each Use Case represents a 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complete task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from start to finish.</a:t>
            </a:r>
            <a:endParaRPr sz="1600"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380999" y="2420986"/>
            <a:ext cx="10676283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Too Small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"Click Button" is a UI step, not a Use Case.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Too Large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"Manage Hospital" is an entire system, not a Use Case.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Consistency Check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A single Use Case usually covers several related </a:t>
            </a:r>
            <a:r>
              <a:rPr lang="en-US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FRs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(e.g., "Create", "Edit", and "Delete" can often be grouped into "Manage User Profile").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0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381000" y="760362"/>
            <a:ext cx="451056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 Case Scenarios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381000" y="1427112"/>
            <a:ext cx="42957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11325225" y="6496050"/>
            <a:ext cx="4857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13</a:t>
            </a:r>
            <a:endParaRPr dirty="0"/>
          </a:p>
        </p:txBody>
      </p:sp>
      <p:sp>
        <p:nvSpPr>
          <p:cNvPr id="232" name="Google Shape;232;p22"/>
          <p:cNvSpPr txBox="1"/>
          <p:nvPr/>
        </p:nvSpPr>
        <p:spPr>
          <a:xfrm>
            <a:off x="381000" y="1832089"/>
            <a:ext cx="4826505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diagram is just a table of contents; the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Scenario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is the story.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Main Success Scenario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"Happy Path" where everything works.</a:t>
            </a:r>
            <a:endParaRPr lang="en-US" sz="16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Extensions/Alternative Scenarios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Dealing with errors or conditional branches.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Textual descriptions bridge the gap between human language and process logic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Core Message:</a:t>
            </a: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Don't just draw; document the behavior!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FA809-F0A1-9C35-059B-7A1517A24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861" y="2802229"/>
            <a:ext cx="6675783" cy="30968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67B7BA-18E6-1A3D-5E2F-EF8D2F7E0F67}"/>
              </a:ext>
            </a:extLst>
          </p:cNvPr>
          <p:cNvSpPr txBox="1"/>
          <p:nvPr/>
        </p:nvSpPr>
        <p:spPr>
          <a:xfrm>
            <a:off x="5068625" y="2325030"/>
            <a:ext cx="6675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00FFFF"/>
                </a:highlight>
              </a:rPr>
              <a:t>Checklist for Use case specification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6">
          <a:extLst>
            <a:ext uri="{FF2B5EF4-FFF2-40B4-BE49-F238E27FC236}">
              <a16:creationId xmlns:a16="http://schemas.microsoft.com/office/drawing/2014/main" id="{14F88575-8FF1-365B-552A-6AFDAA33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>
            <a:extLst>
              <a:ext uri="{FF2B5EF4-FFF2-40B4-BE49-F238E27FC236}">
                <a16:creationId xmlns:a16="http://schemas.microsoft.com/office/drawing/2014/main" id="{046C3D19-3078-E655-68AD-C6FEF8E270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70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75DDA941-3911-EC2C-63F5-8787CFF79302}"/>
              </a:ext>
            </a:extLst>
          </p:cNvPr>
          <p:cNvSpPr txBox="1"/>
          <p:nvPr/>
        </p:nvSpPr>
        <p:spPr>
          <a:xfrm>
            <a:off x="381000" y="760362"/>
            <a:ext cx="1131694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Use Case Scenarios: Example</a:t>
            </a:r>
            <a:endParaRPr dirty="0"/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31EABA88-E68D-FAF4-15AE-F2B9A6E64B4D}"/>
              </a:ext>
            </a:extLst>
          </p:cNvPr>
          <p:cNvSpPr/>
          <p:nvPr/>
        </p:nvSpPr>
        <p:spPr>
          <a:xfrm>
            <a:off x="381000" y="1427112"/>
            <a:ext cx="42957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19CD0-5EB9-AE5B-43C3-83F19E000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09" y="1574795"/>
            <a:ext cx="5133560" cy="48836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0E7BCA-B2C7-D7ED-C6AD-223F65A59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677" y="1574794"/>
            <a:ext cx="5145265" cy="48836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Google Shape;114;p15">
            <a:extLst>
              <a:ext uri="{FF2B5EF4-FFF2-40B4-BE49-F238E27FC236}">
                <a16:creationId xmlns:a16="http://schemas.microsoft.com/office/drawing/2014/main" id="{915AEAC9-8044-1022-421F-69C5A4EFF773}"/>
              </a:ext>
            </a:extLst>
          </p:cNvPr>
          <p:cNvSpPr txBox="1"/>
          <p:nvPr/>
        </p:nvSpPr>
        <p:spPr>
          <a:xfrm>
            <a:off x="11246126" y="6496050"/>
            <a:ext cx="56487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3944839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381000" y="760362"/>
            <a:ext cx="567070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Activity Diagram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381000" y="1427112"/>
            <a:ext cx="54006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11256065" y="6450496"/>
            <a:ext cx="55493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15</a:t>
            </a:r>
            <a:endParaRPr dirty="0"/>
          </a:p>
        </p:txBody>
      </p:sp>
      <p:sp>
        <p:nvSpPr>
          <p:cNvPr id="250" name="Google Shape;250;p23"/>
          <p:cNvSpPr txBox="1"/>
          <p:nvPr/>
        </p:nvSpPr>
        <p:spPr>
          <a:xfrm>
            <a:off x="419100" y="2086599"/>
            <a:ext cx="58007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Mapping Business Logic</a:t>
            </a:r>
            <a:endParaRPr dirty="0"/>
          </a:p>
        </p:txBody>
      </p:sp>
      <p:sp>
        <p:nvSpPr>
          <p:cNvPr id="252" name="Google Shape;252;p23"/>
          <p:cNvSpPr txBox="1"/>
          <p:nvPr/>
        </p:nvSpPr>
        <p:spPr>
          <a:xfrm>
            <a:off x="419100" y="2679516"/>
            <a:ext cx="528637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Used to model the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workflow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within a Use Case.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Shows decisions (diamonds), concurrency (bars), and synchronization.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Essential for identifying complex business rules.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Industrial Case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Modeling the 'Check Credit' and 'Process Payment' steps in an online checkout.</a:t>
            </a:r>
            <a:endParaRPr lang="en-US" sz="1600" dirty="0"/>
          </a:p>
        </p:txBody>
      </p:sp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381000" y="760362"/>
            <a:ext cx="585073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Flow Control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381000" y="1427112"/>
            <a:ext cx="55721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11280913" y="6496050"/>
            <a:ext cx="53008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16</a:t>
            </a:r>
            <a:endParaRPr dirty="0"/>
          </a:p>
        </p:txBody>
      </p:sp>
      <p:sp>
        <p:nvSpPr>
          <p:cNvPr id="269" name="Google Shape;269;p24"/>
          <p:cNvSpPr txBox="1"/>
          <p:nvPr/>
        </p:nvSpPr>
        <p:spPr>
          <a:xfrm>
            <a:off x="436701" y="2120799"/>
            <a:ext cx="5460724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Fork &amp; Join:</a:t>
            </a:r>
            <a:r>
              <a:rPr lang="en-US" sz="1600" b="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Visualizing parallel operations (e.g., sending e-mail and logging simultaneously).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Swimlanes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Identifying which department/object is responsible for which activity.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Helps discover hidden requirements in complex branching logic.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Example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 logistics system where 'Warehouse' and 'Shipping' have parallel workflows.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1FEBC-9F90-8269-9023-3453A7A6C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731" y="196820"/>
            <a:ext cx="5142567" cy="62455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677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381000" y="760362"/>
            <a:ext cx="608076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Sequence Diagram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381000" y="1427112"/>
            <a:ext cx="57912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11344275" y="6496050"/>
            <a:ext cx="4667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17</a:t>
            </a:r>
            <a:endParaRPr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428625" y="1876710"/>
            <a:ext cx="58007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Interaction Modeling</a:t>
            </a:r>
            <a:endParaRPr dirty="0"/>
          </a:p>
        </p:txBody>
      </p:sp>
      <p:sp>
        <p:nvSpPr>
          <p:cNvPr id="291" name="Google Shape;291;p25"/>
          <p:cNvSpPr txBox="1"/>
          <p:nvPr/>
        </p:nvSpPr>
        <p:spPr>
          <a:xfrm>
            <a:off x="352425" y="2452632"/>
            <a:ext cx="5562600" cy="3914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Shows how objects interact via </a:t>
            </a:r>
            <a:r>
              <a:rPr lang="en-US" sz="15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messages</a:t>
            </a:r>
            <a:r>
              <a:rPr lang="en-US" sz="15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over time.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Maps the Scenario to actual logical instances.</a:t>
            </a:r>
            <a:endParaRPr lang="en-US" sz="16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Lifelines: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represent object lifetimes; arrows show method calls. </a:t>
            </a:r>
            <a:r>
              <a:rPr lang="en-US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Boundary, Controller, Entity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Temporal Order:</a:t>
            </a:r>
            <a:r>
              <a:rPr lang="en-US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Vital for real-time systems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21212"/>
                </a:solidFill>
                <a:latin typeface="DM Sans"/>
                <a:sym typeface="DM Sans"/>
              </a:rPr>
              <a:t>Activation</a:t>
            </a:r>
            <a:r>
              <a:rPr lang="en-US" dirty="0">
                <a:solidFill>
                  <a:srgbClr val="121212"/>
                </a:solidFill>
                <a:latin typeface="DM Sans"/>
                <a:sym typeface="DM Sans"/>
              </a:rPr>
              <a:t>: </a:t>
            </a:r>
            <a:r>
              <a:rPr lang="en-US" dirty="0"/>
              <a:t>Bars indicating when an object is performing a task.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Return Values</a:t>
            </a:r>
            <a:r>
              <a:rPr lang="en-US" dirty="0"/>
              <a:t>: Dashed arrows providing data back to the original caller.</a:t>
            </a:r>
            <a:endParaRPr lang="en-US" dirty="0">
              <a:solidFill>
                <a:srgbClr val="12121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60000"/>
              </a:lnSpc>
            </a:pPr>
            <a:endParaRPr dirty="0"/>
          </a:p>
        </p:txBody>
      </p:sp>
      <p:sp>
        <p:nvSpPr>
          <p:cNvPr id="293" name="Google Shape;293;p25"/>
          <p:cNvSpPr txBox="1"/>
          <p:nvPr/>
        </p:nvSpPr>
        <p:spPr>
          <a:xfrm>
            <a:off x="428625" y="6035341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Industrial Case</a:t>
            </a:r>
            <a:r>
              <a:rPr lang="en-US" sz="15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Verifying the "Log-in" handshake between UI, Controller, and DB.</a:t>
            </a:r>
            <a:endParaRPr dirty="0"/>
          </a:p>
        </p:txBody>
      </p:sp>
      <p:pic>
        <p:nvPicPr>
          <p:cNvPr id="294" name="Google Shape;29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381000" y="760362"/>
            <a:ext cx="474059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Discovering Objects</a:t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381000" y="1427112"/>
            <a:ext cx="45148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11305761" y="6496050"/>
            <a:ext cx="50523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18</a:t>
            </a:r>
            <a:endParaRPr dirty="0"/>
          </a:p>
        </p:txBody>
      </p:sp>
      <p:sp>
        <p:nvSpPr>
          <p:cNvPr id="304" name="Google Shape;304;p26"/>
          <p:cNvSpPr txBox="1"/>
          <p:nvPr/>
        </p:nvSpPr>
        <p:spPr>
          <a:xfrm>
            <a:off x="683730" y="2156933"/>
            <a:ext cx="1119187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Sequence diagrams help us </a:t>
            </a:r>
            <a:r>
              <a:rPr lang="en-US" sz="18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find</a:t>
            </a: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necessary classes.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If a message is sent to "</a:t>
            </a:r>
            <a:r>
              <a:rPr lang="en-US" sz="18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AccountManager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", we must have an "</a:t>
            </a:r>
            <a:r>
              <a:rPr lang="en-US" sz="18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AccountManager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 class.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Synchronous calls (filled arrow) vs Asynchronous messages (stick arrow).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Identifying </a:t>
            </a: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Dynamic Responsibility</a:t>
            </a:r>
            <a:r>
              <a:rPr lang="en-US" sz="18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Which object holds the control logic?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800" b="1" dirty="0" err="1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Core</a:t>
            </a:r>
            <a:r>
              <a:rPr lang="fr-FR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Message</a:t>
            </a:r>
            <a:r>
              <a:rPr lang="fr-FR" sz="18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fr-FR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Interaction </a:t>
            </a:r>
            <a:r>
              <a:rPr lang="fr-FR" sz="18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reveals</a:t>
            </a:r>
            <a:r>
              <a:rPr lang="fr-FR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structure.</a:t>
            </a:r>
            <a:endParaRPr lang="fr-FR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381000" y="760362"/>
            <a:ext cx="514064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Messages → Methods</a:t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381000" y="1427112"/>
            <a:ext cx="48958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11275943" y="6496050"/>
            <a:ext cx="53505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 dirty="0"/>
          </a:p>
        </p:txBody>
      </p:sp>
      <p:sp>
        <p:nvSpPr>
          <p:cNvPr id="323" name="Google Shape;323;p27"/>
          <p:cNvSpPr txBox="1"/>
          <p:nvPr/>
        </p:nvSpPr>
        <p:spPr>
          <a:xfrm>
            <a:off x="419100" y="2120799"/>
            <a:ext cx="5286375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message in a sequence diagram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must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correspond to an operation in a class.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ensures traceability from behavioral modeling to structural modeling.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Parameters in the message become arguments in the method signature.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Real-world Check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If you can't find a receiving method, your class design is incomplete!</a:t>
            </a:r>
            <a:endParaRPr lang="en-US" sz="1600" dirty="0"/>
          </a:p>
        </p:txBody>
      </p:sp>
      <p:pic>
        <p:nvPicPr>
          <p:cNvPr id="330" name="Google Shape;33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124D0A76-E7FF-ED81-3944-26706809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7" descr="image.png">
            <a:extLst>
              <a:ext uri="{FF2B5EF4-FFF2-40B4-BE49-F238E27FC236}">
                <a16:creationId xmlns:a16="http://schemas.microsoft.com/office/drawing/2014/main" id="{FD70A79B-9729-481E-86A4-0B8E5868C3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>
            <a:extLst>
              <a:ext uri="{FF2B5EF4-FFF2-40B4-BE49-F238E27FC236}">
                <a16:creationId xmlns:a16="http://schemas.microsoft.com/office/drawing/2014/main" id="{3772F6F1-03BF-8849-F64B-8FD2902DA3CB}"/>
              </a:ext>
            </a:extLst>
          </p:cNvPr>
          <p:cNvSpPr txBox="1"/>
          <p:nvPr/>
        </p:nvSpPr>
        <p:spPr>
          <a:xfrm>
            <a:off x="381000" y="760362"/>
            <a:ext cx="1127263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5088"/>
                </a:solidFill>
                <a:latin typeface="Merriweather"/>
                <a:sym typeface="Merriweather"/>
              </a:rPr>
              <a:t>Example: ATM Withdrawal Cash</a:t>
            </a:r>
            <a:endParaRPr dirty="0"/>
          </a:p>
        </p:txBody>
      </p:sp>
      <p:sp>
        <p:nvSpPr>
          <p:cNvPr id="320" name="Google Shape;320;p27">
            <a:extLst>
              <a:ext uri="{FF2B5EF4-FFF2-40B4-BE49-F238E27FC236}">
                <a16:creationId xmlns:a16="http://schemas.microsoft.com/office/drawing/2014/main" id="{F77BDB92-AFDC-054F-B48D-E7E1A4762CCC}"/>
              </a:ext>
            </a:extLst>
          </p:cNvPr>
          <p:cNvSpPr/>
          <p:nvPr/>
        </p:nvSpPr>
        <p:spPr>
          <a:xfrm>
            <a:off x="381000" y="1427112"/>
            <a:ext cx="48958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>
            <a:extLst>
              <a:ext uri="{FF2B5EF4-FFF2-40B4-BE49-F238E27FC236}">
                <a16:creationId xmlns:a16="http://schemas.microsoft.com/office/drawing/2014/main" id="{108A0D0C-E820-2254-080B-8BF9E63AD389}"/>
              </a:ext>
            </a:extLst>
          </p:cNvPr>
          <p:cNvSpPr txBox="1"/>
          <p:nvPr/>
        </p:nvSpPr>
        <p:spPr>
          <a:xfrm>
            <a:off x="11275943" y="6496050"/>
            <a:ext cx="53505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1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468455-6A50-07A6-7313-A9C5984BE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057" y="1617268"/>
            <a:ext cx="9372599" cy="524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46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381000" y="760362"/>
            <a:ext cx="511063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Class Diagram</a:t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>
            <a:off x="381000" y="1427112"/>
            <a:ext cx="48672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11231217" y="6496050"/>
            <a:ext cx="57978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endParaRPr dirty="0"/>
          </a:p>
        </p:txBody>
      </p:sp>
      <p:sp>
        <p:nvSpPr>
          <p:cNvPr id="340" name="Google Shape;340;p28"/>
          <p:cNvSpPr txBox="1"/>
          <p:nvPr/>
        </p:nvSpPr>
        <p:spPr>
          <a:xfrm>
            <a:off x="381000" y="2092435"/>
            <a:ext cx="58007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Technical Blueprint</a:t>
            </a:r>
            <a:endParaRPr dirty="0"/>
          </a:p>
        </p:txBody>
      </p:sp>
      <p:sp>
        <p:nvSpPr>
          <p:cNvPr id="342" name="Google Shape;342;p28"/>
          <p:cNvSpPr txBox="1"/>
          <p:nvPr/>
        </p:nvSpPr>
        <p:spPr>
          <a:xfrm>
            <a:off x="381000" y="2631816"/>
            <a:ext cx="528637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Defines the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static structure</a:t>
            </a:r>
            <a:r>
              <a:rPr lang="en-US" sz="1600" b="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of the system.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Includes Class Name, Attributes, and Operations.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Relationships: Association, Aggregation, Composition, Inheritance.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Industrial Case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Defining the 'Person' → 'Employee' → 'Manager' hierarchy in HR software.</a:t>
            </a:r>
            <a:endParaRPr lang="en-US" sz="1600" dirty="0"/>
          </a:p>
        </p:txBody>
      </p:sp>
      <p:pic>
        <p:nvPicPr>
          <p:cNvPr id="349" name="Google Shape;34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/>
        </p:nvSpPr>
        <p:spPr>
          <a:xfrm>
            <a:off x="381000" y="760362"/>
            <a:ext cx="417052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to Attributes</a:t>
            </a:r>
            <a:endParaRPr/>
          </a:p>
        </p:txBody>
      </p:sp>
      <p:sp>
        <p:nvSpPr>
          <p:cNvPr id="356" name="Google Shape;356;p29"/>
          <p:cNvSpPr/>
          <p:nvPr/>
        </p:nvSpPr>
        <p:spPr>
          <a:xfrm>
            <a:off x="381000" y="1427112"/>
            <a:ext cx="39719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11270975" y="6496050"/>
            <a:ext cx="54002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21</a:t>
            </a:r>
            <a:endParaRPr dirty="0"/>
          </a:p>
        </p:txBody>
      </p:sp>
      <p:sp>
        <p:nvSpPr>
          <p:cNvPr id="2" name="Google Shape;177;p19">
            <a:extLst>
              <a:ext uri="{FF2B5EF4-FFF2-40B4-BE49-F238E27FC236}">
                <a16:creationId xmlns:a16="http://schemas.microsoft.com/office/drawing/2014/main" id="{6B08BF92-0E65-C49C-E769-F9276EA3ABC5}"/>
              </a:ext>
            </a:extLst>
          </p:cNvPr>
          <p:cNvSpPr txBox="1"/>
          <p:nvPr/>
        </p:nvSpPr>
        <p:spPr>
          <a:xfrm>
            <a:off x="405193" y="1974033"/>
            <a:ext cx="508386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Consolidating all nouns and relationships into a data model.</a:t>
            </a:r>
            <a:endParaRPr sz="1800" dirty="0"/>
          </a:p>
        </p:txBody>
      </p:sp>
      <p:sp>
        <p:nvSpPr>
          <p:cNvPr id="3" name="Google Shape;179;p19">
            <a:extLst>
              <a:ext uri="{FF2B5EF4-FFF2-40B4-BE49-F238E27FC236}">
                <a16:creationId xmlns:a16="http://schemas.microsoft.com/office/drawing/2014/main" id="{15ED2A64-A345-B42D-493A-4424DDFA32E2}"/>
              </a:ext>
            </a:extLst>
          </p:cNvPr>
          <p:cNvSpPr txBox="1"/>
          <p:nvPr/>
        </p:nvSpPr>
        <p:spPr>
          <a:xfrm>
            <a:off x="405193" y="2922071"/>
            <a:ext cx="499175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Attributes: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Data types for storage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Methods: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Derived directly from Sequence messages.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Modifiers:</a:t>
            </a:r>
            <a:r>
              <a:rPr lang="en-US" sz="1600" dirty="0"/>
              <a:t> Encapsulation </a:t>
            </a: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private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(-), </a:t>
            </a: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public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(+),</a:t>
            </a:r>
            <a:r>
              <a:rPr lang="en-US" sz="1600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protected</a:t>
            </a:r>
            <a:r>
              <a:rPr lang="en-US" sz="1600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(#).</a:t>
            </a:r>
            <a:endParaRPr lang="en-US" sz="1600" b="1" i="0" u="none" strike="noStrike" cap="none" dirty="0">
              <a:solidFill>
                <a:srgbClr val="12121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Multiplicity: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Foundation for Database schema. </a:t>
            </a:r>
            <a:r>
              <a:rPr lang="en-US" sz="1600" dirty="0"/>
              <a:t>Mapping relations (1..*, 0..1).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01E4F-3830-3952-2E55-8592E6AE7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315" y="1455687"/>
            <a:ext cx="6408428" cy="49798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762000" y="476250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Aggregation &amp; Composition</a:t>
            </a:r>
            <a:endParaRPr/>
          </a:p>
        </p:txBody>
      </p:sp>
      <p:sp>
        <p:nvSpPr>
          <p:cNvPr id="371" name="Google Shape;371;p32"/>
          <p:cNvSpPr/>
          <p:nvPr/>
        </p:nvSpPr>
        <p:spPr>
          <a:xfrm>
            <a:off x="762000" y="1143000"/>
            <a:ext cx="10668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762000" y="2919412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Modeling "Whole-Part" relationships in software systems.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1190625" y="3529012"/>
            <a:ext cx="5870133" cy="70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Aggregation: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Shared part (Diamond symbol).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Example: A University contains many Departments.</a:t>
            </a:r>
            <a:endParaRPr dirty="0"/>
          </a:p>
        </p:txBody>
      </p:sp>
      <p:sp>
        <p:nvSpPr>
          <p:cNvPr id="374" name="Google Shape;374;p32"/>
          <p:cNvSpPr txBox="1"/>
          <p:nvPr/>
        </p:nvSpPr>
        <p:spPr>
          <a:xfrm>
            <a:off x="1190626" y="4300537"/>
            <a:ext cx="5170418" cy="105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Composition: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Strong ownership; if the whole is destroyed, parts are too.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Example: A Folder contains Files.</a:t>
            </a:r>
            <a:endParaRPr dirty="0"/>
          </a:p>
        </p:txBody>
      </p:sp>
      <p:pic>
        <p:nvPicPr>
          <p:cNvPr id="375" name="Google Shape;375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5290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3005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25;p29" descr="image.png">
            <a:extLst>
              <a:ext uri="{FF2B5EF4-FFF2-40B4-BE49-F238E27FC236}">
                <a16:creationId xmlns:a16="http://schemas.microsoft.com/office/drawing/2014/main" id="{0920FFF4-2988-D138-495A-7344548762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8612" y="2840458"/>
            <a:ext cx="4184788" cy="263440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57;p29">
            <a:extLst>
              <a:ext uri="{FF2B5EF4-FFF2-40B4-BE49-F238E27FC236}">
                <a16:creationId xmlns:a16="http://schemas.microsoft.com/office/drawing/2014/main" id="{EB2018DC-4693-AA39-B1B1-8F8637679281}"/>
              </a:ext>
            </a:extLst>
          </p:cNvPr>
          <p:cNvSpPr txBox="1"/>
          <p:nvPr/>
        </p:nvSpPr>
        <p:spPr>
          <a:xfrm>
            <a:off x="11270975" y="6496050"/>
            <a:ext cx="54002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22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38412"/>
            <a:ext cx="50482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1"/>
          <p:cNvSpPr txBox="1"/>
          <p:nvPr/>
        </p:nvSpPr>
        <p:spPr>
          <a:xfrm>
            <a:off x="762000" y="476250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Generalization (Inheritance)</a:t>
            </a:r>
            <a:endParaRPr/>
          </a:p>
        </p:txBody>
      </p:sp>
      <p:sp>
        <p:nvSpPr>
          <p:cNvPr id="354" name="Google Shape;354;p31"/>
          <p:cNvSpPr/>
          <p:nvPr/>
        </p:nvSpPr>
        <p:spPr>
          <a:xfrm>
            <a:off x="762000" y="1143000"/>
            <a:ext cx="10668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762000" y="1765845"/>
            <a:ext cx="50482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mechanism to manage complexity by grouping common features in a Super-class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dirty="0"/>
          </a:p>
        </p:txBody>
      </p:sp>
      <p:pic>
        <p:nvPicPr>
          <p:cNvPr id="356" name="Google Shape;35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0" y="2862262"/>
            <a:ext cx="428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1"/>
          <p:cNvSpPr txBox="1"/>
          <p:nvPr/>
        </p:nvSpPr>
        <p:spPr>
          <a:xfrm>
            <a:off x="6655593" y="3833812"/>
            <a:ext cx="450056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Super-class: Doctor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6762750" y="4614862"/>
            <a:ext cx="4286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Sub-classes: Surgeon, GP, Specialist</a:t>
            </a:r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1190625" y="3457575"/>
            <a:ext cx="4619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Sub-classes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Inherit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attributes/methods.</a:t>
            </a:r>
            <a:endParaRPr/>
          </a:p>
        </p:txBody>
      </p:sp>
      <p:sp>
        <p:nvSpPr>
          <p:cNvPr id="360" name="Google Shape;360;p31"/>
          <p:cNvSpPr txBox="1"/>
          <p:nvPr/>
        </p:nvSpPr>
        <p:spPr>
          <a:xfrm>
            <a:off x="1190625" y="3914775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Reflects "is-a" relationship (e.g., GP </a:t>
            </a:r>
            <a:r>
              <a:rPr lang="en-US" sz="1650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is-a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Doctor).</a:t>
            </a:r>
            <a:endParaRPr lang="en-US" dirty="0"/>
          </a:p>
        </p:txBody>
      </p:sp>
      <p:sp>
        <p:nvSpPr>
          <p:cNvPr id="361" name="Google Shape;361;p31"/>
          <p:cNvSpPr txBox="1"/>
          <p:nvPr/>
        </p:nvSpPr>
        <p:spPr>
          <a:xfrm>
            <a:off x="1190625" y="4686300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Reduces code duplication and enforces logic standards.</a:t>
            </a:r>
            <a:endParaRPr/>
          </a:p>
        </p:txBody>
      </p:sp>
      <p:pic>
        <p:nvPicPr>
          <p:cNvPr id="362" name="Google Shape;362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4575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147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86300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57;p29">
            <a:extLst>
              <a:ext uri="{FF2B5EF4-FFF2-40B4-BE49-F238E27FC236}">
                <a16:creationId xmlns:a16="http://schemas.microsoft.com/office/drawing/2014/main" id="{5A1E7807-0FF2-B2C1-2AEB-1EA4A3AF71F7}"/>
              </a:ext>
            </a:extLst>
          </p:cNvPr>
          <p:cNvSpPr txBox="1"/>
          <p:nvPr/>
        </p:nvSpPr>
        <p:spPr>
          <a:xfrm>
            <a:off x="11270975" y="6496050"/>
            <a:ext cx="54002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23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00100" y="950862"/>
            <a:ext cx="1136142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State Machine Diagram</a:t>
            </a:r>
            <a:endParaRPr dirty="0"/>
          </a:p>
        </p:txBody>
      </p:sp>
      <p:sp>
        <p:nvSpPr>
          <p:cNvPr id="189" name="Google Shape;189;p20"/>
          <p:cNvSpPr/>
          <p:nvPr/>
        </p:nvSpPr>
        <p:spPr>
          <a:xfrm>
            <a:off x="571500" y="950862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2282724"/>
            <a:ext cx="555069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0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Tracking the "status" of complex objects (e.g., </a:t>
            </a:r>
            <a:r>
              <a:rPr lang="en-US" sz="2000" i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Account</a:t>
            </a:r>
            <a:r>
              <a:rPr lang="en-US" sz="20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lang="en-US" sz="2000"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3349181"/>
            <a:ext cx="4905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States: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Active, Frozen, Closed.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Triggers: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Events that change state.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Guards: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Constraints (e.g., </a:t>
            </a:r>
            <a:r>
              <a:rPr lang="en-US" sz="1600" i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Balance &gt; 0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lang="en-US" sz="1600" dirty="0"/>
          </a:p>
        </p:txBody>
      </p:sp>
      <p:sp>
        <p:nvSpPr>
          <p:cNvPr id="2" name="Google Shape;357;p29">
            <a:extLst>
              <a:ext uri="{FF2B5EF4-FFF2-40B4-BE49-F238E27FC236}">
                <a16:creationId xmlns:a16="http://schemas.microsoft.com/office/drawing/2014/main" id="{65BD8984-653B-A0E6-6FA2-A6148041A112}"/>
              </a:ext>
            </a:extLst>
          </p:cNvPr>
          <p:cNvSpPr txBox="1"/>
          <p:nvPr/>
        </p:nvSpPr>
        <p:spPr>
          <a:xfrm>
            <a:off x="11270975" y="6496050"/>
            <a:ext cx="54002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1065B-936A-A020-6187-73E95969E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880" y="1739348"/>
            <a:ext cx="5236121" cy="4696995"/>
          </a:xfrm>
          <a:prstGeom prst="rect">
            <a:avLst/>
          </a:prstGeom>
        </p:spPr>
      </p:pic>
      <p:sp>
        <p:nvSpPr>
          <p:cNvPr id="3" name="Google Shape;190;p20">
            <a:extLst>
              <a:ext uri="{FF2B5EF4-FFF2-40B4-BE49-F238E27FC236}">
                <a16:creationId xmlns:a16="http://schemas.microsoft.com/office/drawing/2014/main" id="{0721F46D-507D-60B9-1DE0-E9B37AB04AC2}"/>
              </a:ext>
            </a:extLst>
          </p:cNvPr>
          <p:cNvSpPr txBox="1"/>
          <p:nvPr/>
        </p:nvSpPr>
        <p:spPr>
          <a:xfrm>
            <a:off x="581025" y="5478154"/>
            <a:ext cx="56223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5088"/>
                </a:solidFill>
                <a:latin typeface="Merriweather"/>
                <a:sym typeface="Merriweather"/>
              </a:rPr>
              <a:t>Example: a working session of ATM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800100" y="950862"/>
            <a:ext cx="1136142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Checking Design Consistency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950862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19125" y="583756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"Industry Architects spend 30% of their time ensuring this 'Single Source of Truth'."</a:t>
            </a:r>
            <a:endParaRPr dirty="0"/>
          </a:p>
        </p:txBody>
      </p:sp>
      <p:graphicFrame>
        <p:nvGraphicFramePr>
          <p:cNvPr id="204" name="Google Shape;204;p21"/>
          <p:cNvGraphicFramePr/>
          <p:nvPr>
            <p:extLst>
              <p:ext uri="{D42A27DB-BD31-4B8C-83A1-F6EECF244321}">
                <p14:modId xmlns:p14="http://schemas.microsoft.com/office/powerpoint/2010/main" val="3714258174"/>
              </p:ext>
            </p:extLst>
          </p:nvPr>
        </p:nvGraphicFramePr>
        <p:xfrm>
          <a:off x="571500" y="2062369"/>
          <a:ext cx="11049000" cy="35748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3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7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30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Consistency Rule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Verification Point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Action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0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Message-Method Match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Sequence -&gt; Class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Every message sent to an object must be a method in its Class.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7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Availability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Activity -&gt; Class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Every data item updated in a flow must have an Attribute in the Class.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0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 Transitions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Sequence -&gt; State</a:t>
                      </a:r>
                      <a:endParaRPr sz="18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Interactions cannot trigger a state change that is disallowed in the State Diagram.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" name="Google Shape;205;p21"/>
          <p:cNvSpPr/>
          <p:nvPr/>
        </p:nvSpPr>
        <p:spPr>
          <a:xfrm>
            <a:off x="571500" y="3685282"/>
            <a:ext cx="2430065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3001565" y="3685282"/>
            <a:ext cx="1825228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826793" y="3685282"/>
            <a:ext cx="6793706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4180582"/>
            <a:ext cx="2430065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001565" y="4180582"/>
            <a:ext cx="1825228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826793" y="4180582"/>
            <a:ext cx="6793706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4675882"/>
            <a:ext cx="2430065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001565" y="4675882"/>
            <a:ext cx="1825228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826793" y="4675882"/>
            <a:ext cx="6793706" cy="9525"/>
          </a:xfrm>
          <a:prstGeom prst="rect">
            <a:avLst/>
          </a:prstGeom>
          <a:solidFill>
            <a:srgbClr val="DC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57;p29">
            <a:extLst>
              <a:ext uri="{FF2B5EF4-FFF2-40B4-BE49-F238E27FC236}">
                <a16:creationId xmlns:a16="http://schemas.microsoft.com/office/drawing/2014/main" id="{2619B306-432B-86C1-4373-F845F7D701B6}"/>
              </a:ext>
            </a:extLst>
          </p:cNvPr>
          <p:cNvSpPr txBox="1"/>
          <p:nvPr/>
        </p:nvSpPr>
        <p:spPr>
          <a:xfrm>
            <a:off x="11270975" y="6496050"/>
            <a:ext cx="54002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05551" y="2428875"/>
            <a:ext cx="718089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Mapping NFRs to UML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381625" y="3381375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24639" y="3857625"/>
            <a:ext cx="5438361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How Constraints Shape the Technical Architecture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741437"/>
            <a:ext cx="3682900" cy="473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1741437"/>
            <a:ext cx="3683049" cy="473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741437"/>
            <a:ext cx="3682900" cy="473556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381000" y="760362"/>
            <a:ext cx="556069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Non-Functional Impact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381000" y="1427112"/>
            <a:ext cx="52959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1261035" y="6496050"/>
            <a:ext cx="54996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27</a:t>
            </a:r>
            <a:endParaRPr dirty="0"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20367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19125" y="2417712"/>
            <a:ext cx="33669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Security</a:t>
            </a:r>
            <a:endParaRPr sz="1600"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619125" y="2846337"/>
            <a:ext cx="320665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Leads to the creation of Authentication components and Authorization logic in sequence diagrams.</a:t>
            </a:r>
            <a:endParaRPr sz="1600" dirty="0"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92525" y="20367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4492525" y="2417712"/>
            <a:ext cx="336713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Performance</a:t>
            </a:r>
            <a:endParaRPr sz="1600"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4492525" y="2846337"/>
            <a:ext cx="32067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Impacts architectural choices (e.g., Load Balancers) and reduces object message overhead.</a:t>
            </a:r>
            <a:endParaRPr sz="1600" dirty="0"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6075" y="20367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8366075" y="2417712"/>
            <a:ext cx="33669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Availability</a:t>
            </a:r>
            <a:endParaRPr sz="1600"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8366075" y="2846337"/>
            <a:ext cx="32066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Directs the design toward redundant server nodes and fail-safe state transitions.</a:t>
            </a:r>
            <a:endParaRPr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NFRs: The "Architectural Drivers"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251097" y="6496050"/>
            <a:ext cx="55990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28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381000" y="1713160"/>
            <a:ext cx="66865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Non-Functional Requirements (</a:t>
            </a:r>
            <a:r>
              <a:rPr lang="en-US" sz="1600" b="0" i="0" u="none" strike="noStrike" cap="none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NFRs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) act as constraints that shape the </a:t>
            </a:r>
            <a:r>
              <a:rPr lang="en-US" sz="16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Architectural Structure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321655" y="2728525"/>
            <a:ext cx="644842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They often don't map to a single "Use Case".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They impact the </a:t>
            </a: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Global Design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(How objects are distributed).</a:t>
            </a:r>
            <a:endParaRPr lang="en-US" sz="16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They define the "Quality" of the functional execution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Key Insight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if an </a:t>
            </a:r>
            <a:r>
              <a:rPr lang="en-US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NFR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is ignored during analysis, the system might work correctly but fail in production (e.g., too slow or insecure).</a:t>
            </a:r>
            <a:endParaRPr lang="en-US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4E7A85E-CA26-816B-D8BA-8C05E08B4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550" y="1719669"/>
            <a:ext cx="4322197" cy="432219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522660"/>
            <a:ext cx="56197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522660"/>
            <a:ext cx="56197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3656260"/>
            <a:ext cx="56197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656260"/>
            <a:ext cx="56197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Mapping Security NFRs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1251097" y="6496050"/>
            <a:ext cx="55990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29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47700" y="1713160"/>
            <a:ext cx="54206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1. Use Case Diagram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7700" y="2227510"/>
            <a:ext cx="51625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 </a:t>
            </a:r>
            <a:r>
              <a:rPr lang="en-US" sz="15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Misuse Cases 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to model threats. Define "Authenticate" as an </a:t>
            </a:r>
            <a:r>
              <a:rPr lang="en-US" sz="15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«include»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relationship for sensitive operations.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457950" y="1713160"/>
            <a:ext cx="54206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2. Sequence Diagram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57950" y="2227510"/>
            <a:ext cx="51625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Model the </a:t>
            </a:r>
            <a:r>
              <a:rPr lang="en-US" sz="15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Security Handshake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 Show messages to an "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AuthorizationService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 before returning sensitive data.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647700" y="3846760"/>
            <a:ext cx="54206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3. Class Diagram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7700" y="4361110"/>
            <a:ext cx="51625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Add specialized classes: </a:t>
            </a:r>
            <a:r>
              <a:rPr lang="en-US" sz="1500" b="1" i="0" u="none" strike="noStrike" cap="none" dirty="0" err="1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Encrypter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1" i="0" u="none" strike="noStrike" cap="none" dirty="0" err="1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AccessController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, or </a:t>
            </a:r>
            <a:r>
              <a:rPr lang="en-US" sz="1500" b="1" i="0" u="none" strike="noStrike" cap="none" dirty="0" err="1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AuditLog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to handle data integrity.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6457950" y="3846760"/>
            <a:ext cx="54206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4. Deployment Diagram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57950" y="4361110"/>
            <a:ext cx="51625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Model </a:t>
            </a:r>
            <a:r>
              <a:rPr lang="en-US" sz="15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Firewalls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5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DMZs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b="1" dirty="0"/>
              <a:t>Demilitarized Zone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). Specify secure protocols (HTTPS/SSL) between nodes.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71017"/>
            <a:ext cx="5524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Mapping Performance NFRs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1231217" y="6496050"/>
            <a:ext cx="57978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30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409575" y="2133917"/>
            <a:ext cx="580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Design for Speed</a:t>
            </a:r>
            <a:endParaRPr dirty="0"/>
          </a:p>
        </p:txBody>
      </p:sp>
      <p:sp>
        <p:nvSpPr>
          <p:cNvPr id="146" name="Google Shape;146;p16"/>
          <p:cNvSpPr txBox="1"/>
          <p:nvPr/>
        </p:nvSpPr>
        <p:spPr>
          <a:xfrm>
            <a:off x="341410" y="2870055"/>
            <a:ext cx="528637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Activity Diagram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Identify bottleneck activities and model them as </a:t>
            </a: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Parallel Processes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(Fork/Join).</a:t>
            </a:r>
            <a:endParaRPr lang="en-US" sz="1800"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Sequence Diagram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Use 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Asynchronous Messages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to prevent UI blocking. Model 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Caching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patterns.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Deployment Diagram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Identify </a:t>
            </a: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Load Balancers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and specify multi-node server clusters.</a:t>
            </a:r>
            <a:endParaRPr lang="en-US" sz="1600" dirty="0"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5075" y="2201615"/>
            <a:ext cx="54673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71017"/>
            <a:ext cx="5524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381000" y="713035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Mapping Availability &amp; Reliability</a:t>
            </a:r>
            <a:endParaRPr dirty="0"/>
          </a:p>
        </p:txBody>
      </p:sp>
      <p:sp>
        <p:nvSpPr>
          <p:cNvPr id="162" name="Google Shape;162;p17"/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1334750" y="6496050"/>
            <a:ext cx="4762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31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381000" y="2071017"/>
            <a:ext cx="580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Design for Resilience</a:t>
            </a:r>
            <a:endParaRPr dirty="0"/>
          </a:p>
        </p:txBody>
      </p:sp>
      <p:sp>
        <p:nvSpPr>
          <p:cNvPr id="166" name="Google Shape;166;p17"/>
          <p:cNvSpPr txBox="1"/>
          <p:nvPr/>
        </p:nvSpPr>
        <p:spPr>
          <a:xfrm>
            <a:off x="381000" y="2595844"/>
            <a:ext cx="528637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State Diagram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Model 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Error States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Recovery Transitions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(e.g., "Retrying connection").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00FFFF"/>
                </a:highlight>
              </a:rPr>
              <a:t>Sequence Diagram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Include </a:t>
            </a: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Timeouts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Exception Handling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paths between interacting objects.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00FFFF"/>
                </a:highlight>
              </a:rPr>
              <a:t>Deployment Diagram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Specify </a:t>
            </a: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Redundant Nodes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(Active/Passive failover).</a:t>
            </a:r>
            <a:endParaRPr lang="en-US" sz="1600" dirty="0"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99592"/>
            <a:ext cx="54673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3307A0EB-D0C2-D88C-CBBF-47BBD458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>
            <a:extLst>
              <a:ext uri="{FF2B5EF4-FFF2-40B4-BE49-F238E27FC236}">
                <a16:creationId xmlns:a16="http://schemas.microsoft.com/office/drawing/2014/main" id="{AC48F854-7FDB-3CC8-EF0C-893B9FFEAD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9B7432C9-4E7B-CE5E-8768-7B732BDBFF05}"/>
              </a:ext>
            </a:extLst>
          </p:cNvPr>
          <p:cNvSpPr txBox="1"/>
          <p:nvPr/>
        </p:nvSpPr>
        <p:spPr>
          <a:xfrm>
            <a:off x="381000" y="713035"/>
            <a:ext cx="11811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b="1" dirty="0" err="1">
                <a:solidFill>
                  <a:srgbClr val="005088"/>
                </a:solidFill>
                <a:latin typeface="Merriweather"/>
                <a:sym typeface="Merriweather"/>
              </a:rPr>
              <a:t>NFR</a:t>
            </a:r>
            <a:r>
              <a:rPr lang="en-US" sz="3150" b="1" dirty="0">
                <a:solidFill>
                  <a:srgbClr val="005088"/>
                </a:solidFill>
                <a:latin typeface="Merriweather"/>
                <a:sym typeface="Merriweather"/>
              </a:rPr>
              <a:t> Mapping Summary</a:t>
            </a:r>
            <a:endParaRPr lang="en-US" sz="3150" b="1" dirty="0">
              <a:solidFill>
                <a:srgbClr val="005088"/>
              </a:solidFill>
              <a:latin typeface="Merriweather"/>
            </a:endParaRPr>
          </a:p>
        </p:txBody>
      </p:sp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2A03EBA8-E392-3A38-6B36-8C60C967FBB9}"/>
              </a:ext>
            </a:extLst>
          </p:cNvPr>
          <p:cNvSpPr/>
          <p:nvPr/>
        </p:nvSpPr>
        <p:spPr>
          <a:xfrm>
            <a:off x="381000" y="1255960"/>
            <a:ext cx="11430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>
            <a:extLst>
              <a:ext uri="{FF2B5EF4-FFF2-40B4-BE49-F238E27FC236}">
                <a16:creationId xmlns:a16="http://schemas.microsoft.com/office/drawing/2014/main" id="{7F74B3B7-D02F-7557-C25A-63A5CDE1078A}"/>
              </a:ext>
            </a:extLst>
          </p:cNvPr>
          <p:cNvSpPr txBox="1"/>
          <p:nvPr/>
        </p:nvSpPr>
        <p:spPr>
          <a:xfrm>
            <a:off x="11221278" y="6496050"/>
            <a:ext cx="58972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32</a:t>
            </a:r>
            <a:endParaRPr dirty="0"/>
          </a:p>
        </p:txBody>
      </p:sp>
      <p:graphicFrame>
        <p:nvGraphicFramePr>
          <p:cNvPr id="183" name="Google Shape;183;p18"/>
          <p:cNvGraphicFramePr/>
          <p:nvPr>
            <p:extLst>
              <p:ext uri="{D42A27DB-BD31-4B8C-83A1-F6EECF244321}">
                <p14:modId xmlns:p14="http://schemas.microsoft.com/office/powerpoint/2010/main" val="280315377"/>
              </p:ext>
            </p:extLst>
          </p:nvPr>
        </p:nvGraphicFramePr>
        <p:xfrm>
          <a:off x="381000" y="2400300"/>
          <a:ext cx="11430000" cy="29817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59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3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FFFFFF"/>
                          </a:solidFill>
                          <a:sym typeface="DM Sans"/>
                        </a:rPr>
                        <a:t>Non-Functional Requirement</a:t>
                      </a:r>
                      <a:endParaRPr sz="1800"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sym typeface="DM Sans"/>
                        </a:rPr>
                        <a:t>Primary UML Diagram(s)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solidFill>
                            <a:srgbClr val="FFFFFF"/>
                          </a:solidFill>
                          <a:sym typeface="DM Sans"/>
                        </a:rPr>
                        <a:t>Key Elements to Model</a:t>
                      </a:r>
                      <a:endParaRPr sz="1800"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Security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Use Case, Sequence, Deployment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Includes, Auth Guards, Firewalls</a:t>
                      </a:r>
                      <a:endParaRPr sz="180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Performance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Sequence, Deployment, Activity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Asynch, Caching, Load Balancers</a:t>
                      </a:r>
                      <a:endParaRPr sz="180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Reliability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State Machine, Sequence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Error states, Exceptions, Retries</a:t>
                      </a:r>
                      <a:endParaRPr sz="180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3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Availability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rgbClr val="000000"/>
                          </a:solidFill>
                          <a:sym typeface="DM Sans"/>
                        </a:rPr>
                        <a:t>Deployment</a:t>
                      </a:r>
                      <a:endParaRPr sz="180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rgbClr val="000000"/>
                          </a:solidFill>
                          <a:sym typeface="DM Sans"/>
                        </a:rPr>
                        <a:t>Redundancy, Clusters, Failover</a:t>
                      </a:r>
                      <a:endParaRPr sz="1800"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9218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0"/>
          <p:cNvSpPr txBox="1"/>
          <p:nvPr/>
        </p:nvSpPr>
        <p:spPr>
          <a:xfrm>
            <a:off x="3243262" y="2486025"/>
            <a:ext cx="599074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Model Consistency</a:t>
            </a:r>
            <a:endParaRPr/>
          </a:p>
        </p:txBody>
      </p:sp>
      <p:sp>
        <p:nvSpPr>
          <p:cNvPr id="372" name="Google Shape;372;p30"/>
          <p:cNvSpPr/>
          <p:nvPr/>
        </p:nvSpPr>
        <p:spPr>
          <a:xfrm>
            <a:off x="5381625" y="3944391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 txBox="1"/>
          <p:nvPr/>
        </p:nvSpPr>
        <p:spPr>
          <a:xfrm>
            <a:off x="4542183" y="4382541"/>
            <a:ext cx="33594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Ensuring the Integrity of the Design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1"/>
          <p:cNvSpPr txBox="1"/>
          <p:nvPr/>
        </p:nvSpPr>
        <p:spPr>
          <a:xfrm>
            <a:off x="381000" y="760362"/>
            <a:ext cx="387048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Integrity</a:t>
            </a:r>
            <a:endParaRPr/>
          </a:p>
        </p:txBody>
      </p:sp>
      <p:sp>
        <p:nvSpPr>
          <p:cNvPr id="381" name="Google Shape;381;p31"/>
          <p:cNvSpPr/>
          <p:nvPr/>
        </p:nvSpPr>
        <p:spPr>
          <a:xfrm>
            <a:off x="381000" y="1427112"/>
            <a:ext cx="36861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11211339" y="6496050"/>
            <a:ext cx="59966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34</a:t>
            </a:r>
            <a:endParaRPr dirty="0"/>
          </a:p>
        </p:txBody>
      </p:sp>
      <p:sp>
        <p:nvSpPr>
          <p:cNvPr id="384" name="Google Shape;384;p31"/>
          <p:cNvSpPr txBox="1"/>
          <p:nvPr/>
        </p:nvSpPr>
        <p:spPr>
          <a:xfrm>
            <a:off x="381000" y="2061288"/>
            <a:ext cx="5286375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Syntactic Consistency</a:t>
            </a:r>
            <a:r>
              <a:rPr lang="en-US" sz="16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Diagrams follow UML grammar (e.g., associations have names).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Semantic Consistency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Behavior aligns with structure (e.g., Sequence calls Class method).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Why check? To prevent implementation errors caused by design gaps.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Industrial Case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NASA uses model integrity checks for mission-critical flight software.</a:t>
            </a:r>
            <a:endParaRPr lang="en-US" sz="1600" dirty="0"/>
          </a:p>
        </p:txBody>
      </p:sp>
      <p:pic>
        <p:nvPicPr>
          <p:cNvPr id="391" name="Google Shape;39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741437"/>
            <a:ext cx="3682900" cy="473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400" y="1741437"/>
            <a:ext cx="3683049" cy="473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741437"/>
            <a:ext cx="3682900" cy="4735562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2"/>
          <p:cNvSpPr txBox="1"/>
          <p:nvPr/>
        </p:nvSpPr>
        <p:spPr>
          <a:xfrm>
            <a:off x="381000" y="760362"/>
            <a:ext cx="647080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Cross-Diagram Verification</a:t>
            </a:r>
            <a:endParaRPr/>
          </a:p>
        </p:txBody>
      </p:sp>
      <p:sp>
        <p:nvSpPr>
          <p:cNvPr id="401" name="Google Shape;401;p32"/>
          <p:cNvSpPr/>
          <p:nvPr/>
        </p:nvSpPr>
        <p:spPr>
          <a:xfrm>
            <a:off x="381000" y="1427112"/>
            <a:ext cx="61626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2"/>
          <p:cNvSpPr txBox="1"/>
          <p:nvPr/>
        </p:nvSpPr>
        <p:spPr>
          <a:xfrm>
            <a:off x="11296650" y="6496050"/>
            <a:ext cx="5143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35</a:t>
            </a:r>
            <a:endParaRPr dirty="0"/>
          </a:p>
        </p:txBody>
      </p:sp>
      <p:sp>
        <p:nvSpPr>
          <p:cNvPr id="403" name="Google Shape;403;p32"/>
          <p:cNvSpPr txBox="1"/>
          <p:nvPr/>
        </p:nvSpPr>
        <p:spPr>
          <a:xfrm>
            <a:off x="619125" y="2036712"/>
            <a:ext cx="33669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Class vs. Object</a:t>
            </a:r>
            <a:endParaRPr sz="1600" dirty="0"/>
          </a:p>
        </p:txBody>
      </p:sp>
      <p:sp>
        <p:nvSpPr>
          <p:cNvPr id="404" name="Google Shape;404;p32"/>
          <p:cNvSpPr txBox="1"/>
          <p:nvPr/>
        </p:nvSpPr>
        <p:spPr>
          <a:xfrm>
            <a:off x="619125" y="2465337"/>
            <a:ext cx="32066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Every object instance in a Sequence diagram must have a corresponding Class in the Class diagram.</a:t>
            </a:r>
            <a:endParaRPr sz="1600" dirty="0"/>
          </a:p>
        </p:txBody>
      </p:sp>
      <p:sp>
        <p:nvSpPr>
          <p:cNvPr id="405" name="Google Shape;405;p32"/>
          <p:cNvSpPr txBox="1"/>
          <p:nvPr/>
        </p:nvSpPr>
        <p:spPr>
          <a:xfrm>
            <a:off x="4492525" y="2036712"/>
            <a:ext cx="336713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Sequence vs. Activity</a:t>
            </a:r>
            <a:endParaRPr sz="1600" dirty="0"/>
          </a:p>
        </p:txBody>
      </p:sp>
      <p:sp>
        <p:nvSpPr>
          <p:cNvPr id="406" name="Google Shape;406;p32"/>
          <p:cNvSpPr txBox="1"/>
          <p:nvPr/>
        </p:nvSpPr>
        <p:spPr>
          <a:xfrm>
            <a:off x="4492525" y="2465337"/>
            <a:ext cx="32067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logic flow in Activity diagrams should match the sequence of messages in Interaction models.</a:t>
            </a:r>
            <a:endParaRPr sz="1600" dirty="0"/>
          </a:p>
        </p:txBody>
      </p:sp>
      <p:sp>
        <p:nvSpPr>
          <p:cNvPr id="407" name="Google Shape;407;p32"/>
          <p:cNvSpPr txBox="1"/>
          <p:nvPr/>
        </p:nvSpPr>
        <p:spPr>
          <a:xfrm>
            <a:off x="8366075" y="2036712"/>
            <a:ext cx="33669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Attribute Validity</a:t>
            </a:r>
            <a:endParaRPr sz="1600"/>
          </a:p>
        </p:txBody>
      </p:sp>
      <p:sp>
        <p:nvSpPr>
          <p:cNvPr id="408" name="Google Shape;408;p32"/>
          <p:cNvSpPr txBox="1"/>
          <p:nvPr/>
        </p:nvSpPr>
        <p:spPr>
          <a:xfrm>
            <a:off x="8366075" y="2465337"/>
            <a:ext cx="32066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Data modified in a Sequence diagram must exist as an attribute in the Class diagram.</a:t>
            </a:r>
            <a:endParaRPr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9255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 txBox="1"/>
          <p:nvPr/>
        </p:nvSpPr>
        <p:spPr>
          <a:xfrm>
            <a:off x="381000" y="760362"/>
            <a:ext cx="556069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Collaborative Modeling</a:t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381000" y="1427112"/>
            <a:ext cx="52959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 txBox="1"/>
          <p:nvPr/>
        </p:nvSpPr>
        <p:spPr>
          <a:xfrm>
            <a:off x="11231217" y="6496050"/>
            <a:ext cx="57978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36</a:t>
            </a:r>
            <a:endParaRPr dirty="0"/>
          </a:p>
        </p:txBody>
      </p:sp>
      <p:sp>
        <p:nvSpPr>
          <p:cNvPr id="419" name="Google Shape;419;p33"/>
          <p:cNvSpPr txBox="1"/>
          <p:nvPr/>
        </p:nvSpPr>
        <p:spPr>
          <a:xfrm>
            <a:off x="518159" y="2004119"/>
            <a:ext cx="5286375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Models are not just for engineers; they are for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Stakeholders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 Case diagrams validate system boundaries with clients.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Activity diagrams clarify business rules with domain experts.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Consistency ensures everyone is looking at the </a:t>
            </a: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Same System</a:t>
            </a: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1600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pic>
        <p:nvPicPr>
          <p:cNvPr id="426" name="Google Shape;426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4"/>
          <p:cNvSpPr txBox="1"/>
          <p:nvPr/>
        </p:nvSpPr>
        <p:spPr>
          <a:xfrm>
            <a:off x="381000" y="760362"/>
            <a:ext cx="476059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Vertical Traceability</a:t>
            </a:r>
            <a:endParaRPr/>
          </a:p>
        </p:txBody>
      </p:sp>
      <p:sp>
        <p:nvSpPr>
          <p:cNvPr id="433" name="Google Shape;433;p34"/>
          <p:cNvSpPr/>
          <p:nvPr/>
        </p:nvSpPr>
        <p:spPr>
          <a:xfrm>
            <a:off x="381000" y="1427112"/>
            <a:ext cx="45339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4"/>
          <p:cNvSpPr txBox="1"/>
          <p:nvPr/>
        </p:nvSpPr>
        <p:spPr>
          <a:xfrm>
            <a:off x="11166613" y="6496050"/>
            <a:ext cx="64438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37</a:t>
            </a:r>
            <a:endParaRPr dirty="0"/>
          </a:p>
        </p:txBody>
      </p:sp>
      <p:sp>
        <p:nvSpPr>
          <p:cNvPr id="435" name="Google Shape;435;p34"/>
          <p:cNvSpPr txBox="1"/>
          <p:nvPr/>
        </p:nvSpPr>
        <p:spPr>
          <a:xfrm>
            <a:off x="381000" y="2046863"/>
            <a:ext cx="11430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Tracing a single feature "Check Out":</a:t>
            </a:r>
            <a:endParaRPr sz="2000" dirty="0"/>
          </a:p>
        </p:txBody>
      </p:sp>
      <p:sp>
        <p:nvSpPr>
          <p:cNvPr id="436" name="Google Shape;436;p34"/>
          <p:cNvSpPr txBox="1"/>
          <p:nvPr/>
        </p:nvSpPr>
        <p:spPr>
          <a:xfrm>
            <a:off x="381000" y="5499794"/>
            <a:ext cx="11430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Core Message:</a:t>
            </a:r>
            <a:r>
              <a:rPr lang="en-US" sz="1600" b="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Any break in this chain is a design flaw.</a:t>
            </a:r>
            <a:endParaRPr sz="1600" dirty="0"/>
          </a:p>
        </p:txBody>
      </p:sp>
      <p:sp>
        <p:nvSpPr>
          <p:cNvPr id="438" name="Google Shape;438;p34"/>
          <p:cNvSpPr txBox="1"/>
          <p:nvPr/>
        </p:nvSpPr>
        <p:spPr>
          <a:xfrm>
            <a:off x="443948" y="2692955"/>
            <a:ext cx="783452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Requirement: "User must pay for items.“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Use Case: "Checkout."</a:t>
            </a:r>
            <a:endParaRPr lang="en-US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Activity: "Calculate Total" → "Pay."</a:t>
            </a:r>
            <a:endParaRPr lang="en-US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Sequence: "Cart" calls "</a:t>
            </a:r>
            <a:r>
              <a:rPr lang="en-US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PaymentGateway.process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()".</a:t>
            </a:r>
            <a:endParaRPr lang="en-US" sz="1600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Class: "</a:t>
            </a:r>
            <a:r>
              <a:rPr lang="en-US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PaymentGateway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 class with "process()" method.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5"/>
          <p:cNvSpPr txBox="1"/>
          <p:nvPr/>
        </p:nvSpPr>
        <p:spPr>
          <a:xfrm>
            <a:off x="3314700" y="2486025"/>
            <a:ext cx="584073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Transition to Code</a:t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5381625" y="3944391"/>
            <a:ext cx="142875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 txBox="1"/>
          <p:nvPr/>
        </p:nvSpPr>
        <p:spPr>
          <a:xfrm>
            <a:off x="4586287" y="4382540"/>
            <a:ext cx="32457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From Models to Executable Reality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6"/>
          <p:cNvSpPr txBox="1"/>
          <p:nvPr/>
        </p:nvSpPr>
        <p:spPr>
          <a:xfrm>
            <a:off x="381000" y="760362"/>
            <a:ext cx="664083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Code Generation</a:t>
            </a:r>
            <a:endParaRPr/>
          </a:p>
        </p:txBody>
      </p:sp>
      <p:sp>
        <p:nvSpPr>
          <p:cNvPr id="462" name="Google Shape;462;p36"/>
          <p:cNvSpPr/>
          <p:nvPr/>
        </p:nvSpPr>
        <p:spPr>
          <a:xfrm>
            <a:off x="381000" y="1427112"/>
            <a:ext cx="63246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6"/>
          <p:cNvSpPr txBox="1"/>
          <p:nvPr/>
        </p:nvSpPr>
        <p:spPr>
          <a:xfrm>
            <a:off x="11211339" y="6496050"/>
            <a:ext cx="59966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39</a:t>
            </a:r>
            <a:endParaRPr dirty="0"/>
          </a:p>
        </p:txBody>
      </p:sp>
      <p:sp>
        <p:nvSpPr>
          <p:cNvPr id="465" name="Google Shape;465;p36"/>
          <p:cNvSpPr txBox="1"/>
          <p:nvPr/>
        </p:nvSpPr>
        <p:spPr>
          <a:xfrm>
            <a:off x="604837" y="1966019"/>
            <a:ext cx="528637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Transforms visual UML models into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Skeletal Source Code</a:t>
            </a:r>
            <a:r>
              <a:rPr lang="en-US" sz="16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Reduces human transcription errors.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Maintains consistency between design and implementation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Tools like </a:t>
            </a:r>
            <a:r>
              <a:rPr lang="en-US" sz="1600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MagicDraw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or Rational Software Architect automate this process.</a:t>
            </a:r>
            <a:endParaRPr sz="1600" dirty="0"/>
          </a:p>
        </p:txBody>
      </p:sp>
      <p:pic>
        <p:nvPicPr>
          <p:cNvPr id="472" name="Google Shape;472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 txBox="1"/>
          <p:nvPr/>
        </p:nvSpPr>
        <p:spPr>
          <a:xfrm>
            <a:off x="381000" y="760362"/>
            <a:ext cx="538067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Class to Code Mapping</a:t>
            </a:r>
            <a:endParaRPr/>
          </a:p>
        </p:txBody>
      </p:sp>
      <p:sp>
        <p:nvSpPr>
          <p:cNvPr id="479" name="Google Shape;479;p37"/>
          <p:cNvSpPr/>
          <p:nvPr/>
        </p:nvSpPr>
        <p:spPr>
          <a:xfrm>
            <a:off x="381000" y="1427112"/>
            <a:ext cx="51244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7"/>
          <p:cNvSpPr txBox="1"/>
          <p:nvPr/>
        </p:nvSpPr>
        <p:spPr>
          <a:xfrm>
            <a:off x="11201401" y="6496050"/>
            <a:ext cx="6096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40</a:t>
            </a:r>
            <a:endParaRPr dirty="0"/>
          </a:p>
        </p:txBody>
      </p:sp>
      <p:sp>
        <p:nvSpPr>
          <p:cNvPr id="482" name="Google Shape;482;p37"/>
          <p:cNvSpPr txBox="1"/>
          <p:nvPr/>
        </p:nvSpPr>
        <p:spPr>
          <a:xfrm>
            <a:off x="546652" y="2241416"/>
            <a:ext cx="9750287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UML Class</a:t>
            </a:r>
            <a:r>
              <a:rPr lang="en-US" sz="1800" b="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→ `public </a:t>
            </a:r>
            <a:r>
              <a:rPr lang="en-US" sz="1800" b="0" i="0" u="none" strike="noStrike" cap="none" dirty="0" err="1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class`</a:t>
            </a:r>
            <a:r>
              <a:rPr lang="en-US" sz="1800" b="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definition.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Attribute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→ Private fields with getters/setters.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Operation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→ Method signatures (declarations).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Associations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→ Object references or Lists.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Example</a:t>
            </a:r>
            <a:r>
              <a:rPr lang="en-US" sz="18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`A 1..* B` becomes `private List</a:t>
            </a:r>
            <a:r>
              <a:rPr lang="en-US" sz="18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items` in Class A.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25048"/>
            <a:ext cx="5524500" cy="4627221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8"/>
          <p:cNvSpPr txBox="1"/>
          <p:nvPr/>
        </p:nvSpPr>
        <p:spPr>
          <a:xfrm>
            <a:off x="381000" y="760362"/>
            <a:ext cx="588073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Round-Trip Engineering</a:t>
            </a:r>
            <a:endParaRPr/>
          </a:p>
        </p:txBody>
      </p:sp>
      <p:sp>
        <p:nvSpPr>
          <p:cNvPr id="498" name="Google Shape;498;p38"/>
          <p:cNvSpPr/>
          <p:nvPr/>
        </p:nvSpPr>
        <p:spPr>
          <a:xfrm>
            <a:off x="381000" y="1427112"/>
            <a:ext cx="56007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8"/>
          <p:cNvSpPr txBox="1"/>
          <p:nvPr/>
        </p:nvSpPr>
        <p:spPr>
          <a:xfrm>
            <a:off x="11306175" y="6496050"/>
            <a:ext cx="5048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41</a:t>
            </a:r>
            <a:endParaRPr dirty="0"/>
          </a:p>
        </p:txBody>
      </p:sp>
      <p:sp>
        <p:nvSpPr>
          <p:cNvPr id="501" name="Google Shape;501;p38"/>
          <p:cNvSpPr txBox="1"/>
          <p:nvPr/>
        </p:nvSpPr>
        <p:spPr>
          <a:xfrm>
            <a:off x="381000" y="2116603"/>
            <a:ext cx="5438361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ability to synchronize changes in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Code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back to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Models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Prevents models from becoming "Shelf-ware" (obsolete documentation).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Essential for maintenance and iterative development.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Industrial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Case</a:t>
            </a:r>
            <a:r>
              <a:rPr lang="en-US" sz="16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Modern IDEs (IntelliJ, Visual Studio) use plugins for real-time model syncing.</a:t>
            </a:r>
            <a:endParaRPr lang="en-US" sz="1600" dirty="0"/>
          </a:p>
        </p:txBody>
      </p:sp>
      <p:pic>
        <p:nvPicPr>
          <p:cNvPr id="508" name="Google Shape;508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1669774"/>
            <a:ext cx="5448300" cy="4544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9"/>
          <p:cNvSpPr txBox="1"/>
          <p:nvPr/>
        </p:nvSpPr>
        <p:spPr>
          <a:xfrm>
            <a:off x="381000" y="760362"/>
            <a:ext cx="64108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Model-Driven Engineering</a:t>
            </a:r>
            <a:endParaRPr/>
          </a:p>
        </p:txBody>
      </p:sp>
      <p:sp>
        <p:nvSpPr>
          <p:cNvPr id="516" name="Google Shape;516;p39"/>
          <p:cNvSpPr/>
          <p:nvPr/>
        </p:nvSpPr>
        <p:spPr>
          <a:xfrm>
            <a:off x="381000" y="1427112"/>
            <a:ext cx="61055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9"/>
          <p:cNvSpPr txBox="1"/>
          <p:nvPr/>
        </p:nvSpPr>
        <p:spPr>
          <a:xfrm>
            <a:off x="11196430" y="6496050"/>
            <a:ext cx="61457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42</a:t>
            </a:r>
            <a:endParaRPr dirty="0"/>
          </a:p>
        </p:txBody>
      </p:sp>
      <p:sp>
        <p:nvSpPr>
          <p:cNvPr id="518" name="Google Shape;518;p39"/>
          <p:cNvSpPr txBox="1"/>
          <p:nvPr/>
        </p:nvSpPr>
        <p:spPr>
          <a:xfrm>
            <a:off x="381000" y="2504182"/>
            <a:ext cx="58007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Advanced Concept: MDE</a:t>
            </a:r>
            <a:endParaRPr/>
          </a:p>
        </p:txBody>
      </p:sp>
      <p:sp>
        <p:nvSpPr>
          <p:cNvPr id="520" name="Google Shape;520;p39"/>
          <p:cNvSpPr txBox="1"/>
          <p:nvPr/>
        </p:nvSpPr>
        <p:spPr>
          <a:xfrm>
            <a:off x="381000" y="3189566"/>
            <a:ext cx="528637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Software is treated as a set of </a:t>
            </a:r>
            <a:r>
              <a:rPr lang="en-US" sz="16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Models</a:t>
            </a:r>
            <a:r>
              <a:rPr lang="en-US" sz="16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Models are the primary source of truth, not code.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MDA (Model Driven Architecture) separates Platform-Independent from Platform-Specific models.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Allows porting to new languages (e.g., Java → C#) by just changing the generator.</a:t>
            </a:r>
            <a:endParaRPr lang="en-US" sz="1600" dirty="0"/>
          </a:p>
        </p:txBody>
      </p:sp>
      <p:pic>
        <p:nvPicPr>
          <p:cNvPr id="527" name="Google Shape;52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6019"/>
            <a:ext cx="5524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0"/>
          <p:cNvSpPr txBox="1"/>
          <p:nvPr/>
        </p:nvSpPr>
        <p:spPr>
          <a:xfrm>
            <a:off x="381000" y="760362"/>
            <a:ext cx="554069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Layered Design Pattern</a:t>
            </a:r>
            <a:endParaRPr/>
          </a:p>
        </p:txBody>
      </p:sp>
      <p:sp>
        <p:nvSpPr>
          <p:cNvPr id="535" name="Google Shape;535;p40"/>
          <p:cNvSpPr/>
          <p:nvPr/>
        </p:nvSpPr>
        <p:spPr>
          <a:xfrm>
            <a:off x="381000" y="1427112"/>
            <a:ext cx="527685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0"/>
          <p:cNvSpPr txBox="1"/>
          <p:nvPr/>
        </p:nvSpPr>
        <p:spPr>
          <a:xfrm>
            <a:off x="11151705" y="6496050"/>
            <a:ext cx="65929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43</a:t>
            </a:r>
            <a:endParaRPr dirty="0"/>
          </a:p>
        </p:txBody>
      </p:sp>
      <p:sp>
        <p:nvSpPr>
          <p:cNvPr id="538" name="Google Shape;538;p40"/>
          <p:cNvSpPr txBox="1"/>
          <p:nvPr/>
        </p:nvSpPr>
        <p:spPr>
          <a:xfrm>
            <a:off x="419100" y="2004119"/>
            <a:ext cx="528637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UML models often follow a </a:t>
            </a:r>
            <a:r>
              <a:rPr lang="en-US" sz="160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Layered</a:t>
            </a:r>
            <a:r>
              <a:rPr lang="en-US" sz="1600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Pattern</a:t>
            </a:r>
            <a:r>
              <a:rPr lang="en-US" sz="16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Presentation Layer (UI classes).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Application Layer (Service classes).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Data Layer (Repository/DAO classes).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Real-world</a:t>
            </a:r>
            <a:r>
              <a:rPr lang="en-US" sz="1600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Case</a:t>
            </a:r>
            <a:r>
              <a:rPr lang="en-US" sz="1600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Large banking apps use layers to isolate sensitive data from UI changes</a:t>
            </a:r>
            <a:r>
              <a:rPr lang="en-US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dirty="0"/>
          </a:p>
        </p:txBody>
      </p:sp>
      <p:pic>
        <p:nvPicPr>
          <p:cNvPr id="547" name="Google Shape;547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2004119"/>
            <a:ext cx="54483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1"/>
          <p:cNvSpPr txBox="1"/>
          <p:nvPr/>
        </p:nvSpPr>
        <p:spPr>
          <a:xfrm>
            <a:off x="381000" y="760362"/>
            <a:ext cx="6470808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Automate Generation?</a:t>
            </a:r>
            <a:endParaRPr/>
          </a:p>
        </p:txBody>
      </p:sp>
      <p:sp>
        <p:nvSpPr>
          <p:cNvPr id="554" name="Google Shape;554;p41"/>
          <p:cNvSpPr/>
          <p:nvPr/>
        </p:nvSpPr>
        <p:spPr>
          <a:xfrm>
            <a:off x="381000" y="1427112"/>
            <a:ext cx="61626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1"/>
          <p:cNvSpPr txBox="1"/>
          <p:nvPr/>
        </p:nvSpPr>
        <p:spPr>
          <a:xfrm>
            <a:off x="11275943" y="6496050"/>
            <a:ext cx="53505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44</a:t>
            </a:r>
            <a:endParaRPr dirty="0"/>
          </a:p>
        </p:txBody>
      </p:sp>
      <p:sp>
        <p:nvSpPr>
          <p:cNvPr id="557" name="Google Shape;557;p41"/>
          <p:cNvSpPr txBox="1"/>
          <p:nvPr/>
        </p:nvSpPr>
        <p:spPr>
          <a:xfrm>
            <a:off x="457200" y="2187073"/>
            <a:ext cx="111918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Speed</a:t>
            </a:r>
            <a:r>
              <a:rPr lang="en-US" sz="1800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8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Generates thousands of boilerplate lines in seconds.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Standardization</a:t>
            </a:r>
            <a:r>
              <a:rPr lang="en-US" sz="1800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Enforces organizational coding standards automatically.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Documentation</a:t>
            </a:r>
            <a:r>
              <a:rPr lang="en-US" sz="1800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Ensures the code structure matches the diagram structure exactly.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121212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Focus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: Engineers spend time on </a:t>
            </a:r>
            <a:r>
              <a:rPr lang="en-US" sz="18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Complex</a:t>
            </a:r>
            <a:r>
              <a:rPr lang="en-US" sz="1800" dirty="0">
                <a:solidFill>
                  <a:srgbClr val="11CAA0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Logic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, not boring syntax.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2"/>
          <p:cNvSpPr txBox="1"/>
          <p:nvPr/>
        </p:nvSpPr>
        <p:spPr>
          <a:xfrm>
            <a:off x="381000" y="760362"/>
            <a:ext cx="505063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Code Gen: The Limits</a:t>
            </a:r>
            <a:endParaRPr/>
          </a:p>
        </p:txBody>
      </p:sp>
      <p:sp>
        <p:nvSpPr>
          <p:cNvPr id="570" name="Google Shape;570;p42"/>
          <p:cNvSpPr/>
          <p:nvPr/>
        </p:nvSpPr>
        <p:spPr>
          <a:xfrm>
            <a:off x="381000" y="1427112"/>
            <a:ext cx="481012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2"/>
          <p:cNvSpPr txBox="1"/>
          <p:nvPr/>
        </p:nvSpPr>
        <p:spPr>
          <a:xfrm>
            <a:off x="11171583" y="6496050"/>
            <a:ext cx="63941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</a:t>
            </a:r>
            <a:r>
              <a:rPr lang="en-US" sz="1050" b="1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45</a:t>
            </a:r>
            <a:endParaRPr dirty="0"/>
          </a:p>
        </p:txBody>
      </p:sp>
      <p:sp>
        <p:nvSpPr>
          <p:cNvPr id="573" name="Google Shape;573;p42"/>
          <p:cNvSpPr txBox="1"/>
          <p:nvPr/>
        </p:nvSpPr>
        <p:spPr>
          <a:xfrm>
            <a:off x="619125" y="2364999"/>
            <a:ext cx="111918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UML cannot easily represent </a:t>
            </a:r>
            <a:r>
              <a:rPr lang="en-US" sz="18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Algorithmic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i="0" u="none" strike="noStrike" cap="none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Complexity</a:t>
            </a:r>
            <a:r>
              <a:rPr lang="en-US" sz="1800" b="1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i="0" u="none" strike="noStrike" cap="none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(e.g., complex sorting).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Concurrency and state hierarchy can be hard to map 1-to-1 in code.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"Ghost Code": 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Dead code generated from incomplete models.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Core</a:t>
            </a:r>
            <a:r>
              <a:rPr lang="en-US" sz="18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dirty="0">
                <a:solidFill>
                  <a:schemeClr val="tx1"/>
                </a:solidFill>
                <a:highlight>
                  <a:srgbClr val="00FFFF"/>
                </a:highlight>
                <a:latin typeface="DM Sans"/>
                <a:ea typeface="DM Sans"/>
                <a:cs typeface="DM Sans"/>
                <a:sym typeface="DM Sans"/>
              </a:rPr>
              <a:t>Message</a:t>
            </a:r>
            <a:r>
              <a:rPr lang="en-US" sz="1800" b="1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800" b="1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Code generation is a starting point, not the whole implementation.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CAA0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3"/>
          <p:cNvSpPr txBox="1"/>
          <p:nvPr/>
        </p:nvSpPr>
        <p:spPr>
          <a:xfrm>
            <a:off x="233600" y="1487983"/>
            <a:ext cx="619077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&amp; Core Message</a:t>
            </a:r>
            <a:endParaRPr/>
          </a:p>
        </p:txBody>
      </p:sp>
      <p:sp>
        <p:nvSpPr>
          <p:cNvPr id="586" name="Google Shape;586;p43"/>
          <p:cNvSpPr/>
          <p:nvPr/>
        </p:nvSpPr>
        <p:spPr>
          <a:xfrm>
            <a:off x="381000" y="2154733"/>
            <a:ext cx="5895975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3"/>
          <p:cNvSpPr txBox="1"/>
          <p:nvPr/>
        </p:nvSpPr>
        <p:spPr>
          <a:xfrm>
            <a:off x="381000" y="4469308"/>
            <a:ext cx="11430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"The model is the Blueprint;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The code is the Construction."</a:t>
            </a:r>
            <a:endParaRPr/>
          </a:p>
        </p:txBody>
      </p:sp>
      <p:sp>
        <p:nvSpPr>
          <p:cNvPr id="588" name="Google Shape;588;p43"/>
          <p:cNvSpPr txBox="1"/>
          <p:nvPr/>
        </p:nvSpPr>
        <p:spPr>
          <a:xfrm>
            <a:off x="11176553" y="6496051"/>
            <a:ext cx="634448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2E4D68"/>
                </a:solidFill>
                <a:latin typeface="DM Sans"/>
                <a:ea typeface="DM Sans"/>
                <a:cs typeface="DM Sans"/>
                <a:sym typeface="DM Sans"/>
              </a:rPr>
              <a:t>Slide 46</a:t>
            </a:r>
            <a:endParaRPr dirty="0"/>
          </a:p>
        </p:txBody>
      </p:sp>
      <p:sp>
        <p:nvSpPr>
          <p:cNvPr id="589" name="Google Shape;589;p43"/>
          <p:cNvSpPr txBox="1"/>
          <p:nvPr/>
        </p:nvSpPr>
        <p:spPr>
          <a:xfrm>
            <a:off x="381000" y="2697658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Analysis (What) flows into Design (How) via UML.</a:t>
            </a:r>
            <a:endParaRPr/>
          </a:p>
        </p:txBody>
      </p:sp>
      <p:sp>
        <p:nvSpPr>
          <p:cNvPr id="590" name="Google Shape;590;p43"/>
          <p:cNvSpPr txBox="1"/>
          <p:nvPr/>
        </p:nvSpPr>
        <p:spPr>
          <a:xfrm>
            <a:off x="381000" y="3116758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Consistency across diagrams is the key to software quality.</a:t>
            </a:r>
            <a:endParaRPr/>
          </a:p>
        </p:txBody>
      </p:sp>
      <p:sp>
        <p:nvSpPr>
          <p:cNvPr id="591" name="Google Shape;591;p43"/>
          <p:cNvSpPr txBox="1"/>
          <p:nvPr/>
        </p:nvSpPr>
        <p:spPr>
          <a:xfrm>
            <a:off x="381000" y="3535858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Models provide the traceability for reliable code generation.</a:t>
            </a:r>
            <a:endParaRPr/>
          </a:p>
        </p:txBody>
      </p:sp>
      <p:pic>
        <p:nvPicPr>
          <p:cNvPr id="592" name="Google Shape;59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9512" y="275004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9925" y="316914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5637" y="3588246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4"/>
          <p:cNvSpPr txBox="1"/>
          <p:nvPr/>
        </p:nvSpPr>
        <p:spPr>
          <a:xfrm>
            <a:off x="4965858" y="2080319"/>
            <a:ext cx="2260282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Q&amp;A</a:t>
            </a:r>
            <a:endParaRPr/>
          </a:p>
        </p:txBody>
      </p:sp>
      <p:sp>
        <p:nvSpPr>
          <p:cNvPr id="601" name="Google Shape;601;p44"/>
          <p:cNvSpPr txBox="1"/>
          <p:nvPr/>
        </p:nvSpPr>
        <p:spPr>
          <a:xfrm>
            <a:off x="4452937" y="3356669"/>
            <a:ext cx="3286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attention!</a:t>
            </a:r>
            <a:endParaRPr/>
          </a:p>
        </p:txBody>
      </p:sp>
      <p:sp>
        <p:nvSpPr>
          <p:cNvPr id="602" name="Google Shape;602;p44"/>
          <p:cNvSpPr txBox="1"/>
          <p:nvPr/>
        </p:nvSpPr>
        <p:spPr>
          <a:xfrm>
            <a:off x="3100387" y="4331940"/>
            <a:ext cx="59912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uflit.edu.vn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/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tubtt@huflit.edu.vn</a:t>
            </a:r>
            <a:endParaRPr dirty="0"/>
          </a:p>
        </p:txBody>
      </p:sp>
      <p:sp>
        <p:nvSpPr>
          <p:cNvPr id="603" name="Google Shape;603;p44"/>
          <p:cNvSpPr txBox="1"/>
          <p:nvPr/>
        </p:nvSpPr>
        <p:spPr>
          <a:xfrm>
            <a:off x="11196430" y="6496050"/>
            <a:ext cx="61457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Slide 47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2653</Words>
  <Application>Microsoft Office PowerPoint</Application>
  <PresentationFormat>Widescreen</PresentationFormat>
  <Paragraphs>331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DM Sans</vt:lpstr>
      <vt:lpstr>DM Sans Medium</vt:lpstr>
      <vt:lpstr>Merriweather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Sophia BUI</cp:lastModifiedBy>
  <cp:revision>33</cp:revision>
  <dcterms:modified xsi:type="dcterms:W3CDTF">2026-05-12T13:41:10Z</dcterms:modified>
</cp:coreProperties>
</file>