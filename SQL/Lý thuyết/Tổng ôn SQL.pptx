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  <p:sldId id="268" r:id="rId14"/>
    <p:sldId id="269" r:id="rId15"/>
    <p:sldId id="271" r:id="rId16"/>
    <p:sldId id="270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3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85D203-8D85-4919-9370-782C8609AD39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6904F7-3AAD-4256-BD48-ECB145FDB4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8378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6904F7-3AAD-4256-BD48-ECB145FDB42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2221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DEE75-4CF4-B794-03C1-44BC28118B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5A7642-B174-6B6F-30C0-07A3FCB6FC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4B39D1-8692-FCCE-983B-86294A059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2C2D6-9847-44E7-90D0-F09D509986BA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FBF9E6-C05D-7001-F2EA-4AB89547E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EEF19A-03F1-0606-2C25-220D17600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6A6B2-5B11-41BD-84A6-FF337B91B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217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8C629-FD89-80AB-E997-1B7BDF41F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79763-D8E8-8218-BAE0-B8D5252281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F96F3E-6226-315E-911E-4D315817D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2C2D6-9847-44E7-90D0-F09D509986BA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8B1CF0-2383-035F-BAE9-6693BAF2D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81C1C6-F2C5-B107-20FA-78294E345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6A6B2-5B11-41BD-84A6-FF337B91B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790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8572D-B76B-D1D7-F2CA-1DA9F3767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C10996-3AD7-BDA8-28C4-52BEF72171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F7609-4F30-DBE4-ED36-AF4626FD2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2C2D6-9847-44E7-90D0-F09D509986BA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931D99-E534-78D5-67A0-FADBF433C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A74D9-38E4-6958-45F4-46C28B21C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6A6B2-5B11-41BD-84A6-FF337B91B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88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D7B26-5110-83AB-882A-E7F70FB38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3D2DC-D619-B5B4-5DD9-5A85DD9D34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CAE257-0D1E-D094-462E-37CC125BB1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05B77A-362E-967B-06F9-B0C4C4C73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2C2D6-9847-44E7-90D0-F09D509986BA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A8563A-E96C-5170-9E88-2519A79C0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C223C9-E132-8D82-F740-2C3976F8B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6A6B2-5B11-41BD-84A6-FF337B91B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763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ABAC9-870F-D5C7-CF75-5E6C19B6A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5EF20B-CE77-2B21-7325-ED1503B59B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23344F-94FB-35C9-9EA0-D5474D998F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53C188-94D7-76FC-8D45-8C1F10A552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78EFA6-1D72-3397-2C3C-075D94F62F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BDE841-D467-1DB7-9D8D-163234315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2C2D6-9847-44E7-90D0-F09D509986BA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8D0FDF-400F-3599-9CE2-48E2E1635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CAC344-354C-404C-E4D0-2A0E28554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6A6B2-5B11-41BD-84A6-FF337B91B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870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20EE8-03F4-CC12-8205-CAA36BFB3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FB2739-4BA2-2E01-B183-EC1E8DFB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2C2D6-9847-44E7-90D0-F09D509986BA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4AB1E-5028-FC74-0B36-1967E0E52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7DD10B-93CD-0B30-A5BB-BB29A20F1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6A6B2-5B11-41BD-84A6-FF337B91B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397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F85A7C-B8F9-BD53-22BC-0A1E2D9E2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2C2D6-9847-44E7-90D0-F09D509986BA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75CE6A-056B-5168-4824-20370A3EF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E2C52C-0E1D-40C4-4367-05C278536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6A6B2-5B11-41BD-84A6-FF337B91B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012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80CFE-8267-8E35-AD96-038441708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F3298-EE39-E4F8-BD6F-A4BA8C0493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920B57-D63D-1904-5BA4-7D151DCE0F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2233DD-243C-AFF3-FAF2-C1FEF2B0C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2C2D6-9847-44E7-90D0-F09D509986BA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49CC7A-A401-1362-9024-60F45956A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1A124A-0732-5E24-FCAF-C312F2EA0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6A6B2-5B11-41BD-84A6-FF337B91B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326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2343E-3064-C992-235B-030042EB3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1A2DCC-D6CC-C45B-58DF-ADFF794A3C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7C7826-3ACF-A1D6-847E-CA7809DEAD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996893-8943-06CA-A4CD-75C3FC49B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2C2D6-9847-44E7-90D0-F09D509986BA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4BD731-189B-7261-3379-75FF648B0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FE65A5-78F0-85FD-0831-0FB23BB6B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6A6B2-5B11-41BD-84A6-FF337B91B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112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2AE35-D8AC-914D-EF8B-5939E7EF1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2AD5E3-05CA-E653-08DA-FF0DD8E7E1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E79B96-3B88-C4AD-9C61-95E522C74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2C2D6-9847-44E7-90D0-F09D509986BA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E1A94F-7402-D5C5-9429-502663C4B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F3B129-1D0F-0910-1DCF-5176089F4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6A6B2-5B11-41BD-84A6-FF337B91B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141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C9DC1F-94D1-8D73-1A08-795A236C06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D587C2-EE56-DD6E-9225-7B3E3BF485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CE71B3-44B0-FD75-534C-E251AD6F4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2C2D6-9847-44E7-90D0-F09D509986BA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2A18F5-F2F1-1279-8549-5608DB43C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34472D-F82C-50D7-FB18-F4AFFD20B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6A6B2-5B11-41BD-84A6-FF337B91B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995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8264C6-4619-4089-C837-96D0AD72B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C84E23-8A9F-DBD9-5D23-A8135963F8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C2402B-EF76-E88E-9192-863A5F6F15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2C2D6-9847-44E7-90D0-F09D509986BA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EC67F0-70FE-14BE-20C0-34C5DEE952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5AAD64-324C-E520-4A1B-24B37FA51A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F6A6B2-5B11-41BD-84A6-FF337B91B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482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1E7E878-31E8-B631-F7BF-09B2BF54C2F6}"/>
              </a:ext>
            </a:extLst>
          </p:cNvPr>
          <p:cNvSpPr txBox="1"/>
          <p:nvPr/>
        </p:nvSpPr>
        <p:spPr>
          <a:xfrm>
            <a:off x="288865" y="254904"/>
            <a:ext cx="2488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b="1" dirty="0"/>
              <a:t>THUẬT TOÁN CHỌN </a:t>
            </a:r>
            <a:endParaRPr lang="en-US" b="1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81BC7A0-F3AF-A1B0-F9A8-6ADB6EA51C90}"/>
              </a:ext>
            </a:extLst>
          </p:cNvPr>
          <p:cNvSpPr/>
          <p:nvPr/>
        </p:nvSpPr>
        <p:spPr>
          <a:xfrm>
            <a:off x="7295744" y="1153046"/>
            <a:ext cx="4591455" cy="400779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163D06A-0F26-10CE-2966-1A6E83C35BD4}"/>
              </a:ext>
            </a:extLst>
          </p:cNvPr>
          <p:cNvSpPr/>
          <p:nvPr/>
        </p:nvSpPr>
        <p:spPr>
          <a:xfrm>
            <a:off x="9863847" y="1921531"/>
            <a:ext cx="612842" cy="632298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BB8F90E-7A70-A58E-7442-D5F48EB27209}"/>
              </a:ext>
            </a:extLst>
          </p:cNvPr>
          <p:cNvSpPr/>
          <p:nvPr/>
        </p:nvSpPr>
        <p:spPr>
          <a:xfrm>
            <a:off x="8531155" y="2179317"/>
            <a:ext cx="612843" cy="632298"/>
          </a:xfrm>
          <a:prstGeom prst="ellipse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321EACA-1F95-8A70-E75E-03392BC624BB}"/>
              </a:ext>
            </a:extLst>
          </p:cNvPr>
          <p:cNvSpPr/>
          <p:nvPr/>
        </p:nvSpPr>
        <p:spPr>
          <a:xfrm>
            <a:off x="9905187" y="3322314"/>
            <a:ext cx="612842" cy="63229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FA5B774-407C-54B2-3257-0B21A50BED54}"/>
              </a:ext>
            </a:extLst>
          </p:cNvPr>
          <p:cNvSpPr/>
          <p:nvPr/>
        </p:nvSpPr>
        <p:spPr>
          <a:xfrm>
            <a:off x="8536017" y="3670079"/>
            <a:ext cx="612843" cy="632298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E1C686-677E-9C7C-3E2E-8363F92D0D63}"/>
              </a:ext>
            </a:extLst>
          </p:cNvPr>
          <p:cNvSpPr txBox="1"/>
          <p:nvPr/>
        </p:nvSpPr>
        <p:spPr>
          <a:xfrm>
            <a:off x="9776071" y="545227"/>
            <a:ext cx="612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R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C293D0-684A-57DC-72B3-E5443861897C}"/>
              </a:ext>
            </a:extLst>
          </p:cNvPr>
          <p:cNvSpPr txBox="1"/>
          <p:nvPr/>
        </p:nvSpPr>
        <p:spPr>
          <a:xfrm>
            <a:off x="546770" y="1231866"/>
            <a:ext cx="1232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/>
              <a:t>SELECT *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1C3DC0-6582-3CC9-207D-1D83044C44EC}"/>
              </a:ext>
            </a:extLst>
          </p:cNvPr>
          <p:cNvSpPr txBox="1"/>
          <p:nvPr/>
        </p:nvSpPr>
        <p:spPr>
          <a:xfrm>
            <a:off x="546770" y="1670461"/>
            <a:ext cx="873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dirty="0"/>
              <a:t>FROM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FAB937-21F9-B469-300A-912CF87E30DD}"/>
              </a:ext>
            </a:extLst>
          </p:cNvPr>
          <p:cNvSpPr txBox="1"/>
          <p:nvPr/>
        </p:nvSpPr>
        <p:spPr>
          <a:xfrm>
            <a:off x="470768" y="2332543"/>
            <a:ext cx="10676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dirty="0"/>
              <a:t>WHERE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5CF537-485C-5C49-CF22-64CC3A1F41F8}"/>
              </a:ext>
            </a:extLst>
          </p:cNvPr>
          <p:cNvSpPr txBox="1"/>
          <p:nvPr/>
        </p:nvSpPr>
        <p:spPr>
          <a:xfrm>
            <a:off x="241750" y="720736"/>
            <a:ext cx="45576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/>
              <a:t>Lấy ra 1 hay nhiều phần tử trong 1 tập hợp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A38B8F7-F01F-8950-73A4-ED7265863DF2}"/>
              </a:ext>
            </a:extLst>
          </p:cNvPr>
          <p:cNvSpPr txBox="1"/>
          <p:nvPr/>
        </p:nvSpPr>
        <p:spPr>
          <a:xfrm>
            <a:off x="1750410" y="1685712"/>
            <a:ext cx="412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R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12BC2A3-940F-FED1-9E22-D39C70FE7E5C}"/>
              </a:ext>
            </a:extLst>
          </p:cNvPr>
          <p:cNvSpPr txBox="1"/>
          <p:nvPr/>
        </p:nvSpPr>
        <p:spPr>
          <a:xfrm>
            <a:off x="1433486" y="2347794"/>
            <a:ext cx="162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   Điều kiện 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E08FFEB-84D4-CAA4-66BC-AC18596977ED}"/>
              </a:ext>
            </a:extLst>
          </p:cNvPr>
          <p:cNvSpPr txBox="1"/>
          <p:nvPr/>
        </p:nvSpPr>
        <p:spPr>
          <a:xfrm>
            <a:off x="229076" y="3579627"/>
            <a:ext cx="44062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2400" dirty="0"/>
              <a:t>Viết dưới dạng đại số quan hệ </a:t>
            </a:r>
            <a:endParaRPr lang="en-US" sz="2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8607FD-DCFF-63FD-1B1D-E5C11DACD4F5}"/>
              </a:ext>
            </a:extLst>
          </p:cNvPr>
          <p:cNvSpPr txBox="1"/>
          <p:nvPr/>
        </p:nvSpPr>
        <p:spPr>
          <a:xfrm>
            <a:off x="2520579" y="4686579"/>
            <a:ext cx="154426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4000" dirty="0">
                <a:latin typeface="Tahoma" panose="020B0604030504040204" pitchFamily="34" charset="0"/>
                <a:sym typeface="Symbol" panose="05050102010706020507" pitchFamily="18" charset="2"/>
              </a:rPr>
              <a:t></a:t>
            </a:r>
            <a:r>
              <a:rPr lang="en-US" altLang="en-US" sz="4000" baseline="-25000" dirty="0">
                <a:latin typeface="Tahoma" panose="020B0604030504040204" pitchFamily="34" charset="0"/>
                <a:sym typeface="Symbol" panose="05050102010706020507" pitchFamily="18" charset="2"/>
              </a:rPr>
              <a:t> P </a:t>
            </a:r>
            <a:r>
              <a:rPr lang="en-US" altLang="en-US" sz="3200" dirty="0">
                <a:latin typeface="Tahoma" panose="020B0604030504040204" pitchFamily="34" charset="0"/>
                <a:sym typeface="Symbol" panose="05050102010706020507" pitchFamily="18" charset="2"/>
              </a:rPr>
              <a:t>(R)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FBEC2A9-676A-8590-F6CE-D23E7460F519}"/>
              </a:ext>
            </a:extLst>
          </p:cNvPr>
          <p:cNvSpPr txBox="1"/>
          <p:nvPr/>
        </p:nvSpPr>
        <p:spPr>
          <a:xfrm>
            <a:off x="4175312" y="4284984"/>
            <a:ext cx="1377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/>
              <a:t>R: tên bảng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A6C6E42-3D24-607F-9595-B3399AA7A348}"/>
              </a:ext>
            </a:extLst>
          </p:cNvPr>
          <p:cNvSpPr txBox="1"/>
          <p:nvPr/>
        </p:nvSpPr>
        <p:spPr>
          <a:xfrm>
            <a:off x="886142" y="5855086"/>
            <a:ext cx="1866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P: điều kiện </a:t>
            </a:r>
            <a:endParaRPr lang="en-US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0C61EAE-5B76-085F-7EBD-DAA2264BDC74}"/>
              </a:ext>
            </a:extLst>
          </p:cNvPr>
          <p:cNvCxnSpPr>
            <a:stCxn id="25" idx="1"/>
          </p:cNvCxnSpPr>
          <p:nvPr/>
        </p:nvCxnSpPr>
        <p:spPr>
          <a:xfrm flipH="1">
            <a:off x="3774332" y="4469650"/>
            <a:ext cx="400980" cy="3747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FA10800-C774-3290-D21A-1780868FE061}"/>
              </a:ext>
            </a:extLst>
          </p:cNvPr>
          <p:cNvCxnSpPr>
            <a:cxnSpLocks/>
            <a:stCxn id="26" idx="3"/>
          </p:cNvCxnSpPr>
          <p:nvPr/>
        </p:nvCxnSpPr>
        <p:spPr>
          <a:xfrm flipV="1">
            <a:off x="2752530" y="5489661"/>
            <a:ext cx="272772" cy="5500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6627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55B0DDD-7E3C-268C-A1F5-3737F89BBFA4}"/>
              </a:ext>
            </a:extLst>
          </p:cNvPr>
          <p:cNvSpPr txBox="1"/>
          <p:nvPr/>
        </p:nvSpPr>
        <p:spPr>
          <a:xfrm>
            <a:off x="817123" y="447472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b="1" dirty="0"/>
              <a:t>Ví dụ demo</a:t>
            </a:r>
            <a:endParaRPr lang="en-US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D7D163-3407-C103-6A30-F13DD2488A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75" y="1419599"/>
            <a:ext cx="4096322" cy="137179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63B1A24-6458-91C1-F7D2-1E7C9921A7DE}"/>
              </a:ext>
            </a:extLst>
          </p:cNvPr>
          <p:cNvSpPr txBox="1"/>
          <p:nvPr/>
        </p:nvSpPr>
        <p:spPr>
          <a:xfrm>
            <a:off x="1556427" y="1050267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/>
              <a:t>Customer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308F3A-5B9B-85DF-6B44-B56BAF02B5CB}"/>
              </a:ext>
            </a:extLst>
          </p:cNvPr>
          <p:cNvSpPr txBox="1"/>
          <p:nvPr/>
        </p:nvSpPr>
        <p:spPr>
          <a:xfrm>
            <a:off x="399652" y="3180579"/>
            <a:ext cx="271741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Customer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CustomerID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2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2EB86B9-F2CD-990D-50FA-36C162DB4A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3896" y="3308822"/>
            <a:ext cx="3858163" cy="666843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C5C0FDF-831B-9DC3-C4FC-52EF936A79C0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3117063" y="3642243"/>
            <a:ext cx="107645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E5040D0-8963-BB56-8436-A3097D7678BD}"/>
              </a:ext>
            </a:extLst>
          </p:cNvPr>
          <p:cNvSpPr txBox="1"/>
          <p:nvPr/>
        </p:nvSpPr>
        <p:spPr>
          <a:xfrm>
            <a:off x="399652" y="4565573"/>
            <a:ext cx="284404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Customer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City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like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'HCM'</a:t>
            </a:r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C18D4A5-992F-76BD-430F-07715DB3CA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2000" y="4679527"/>
            <a:ext cx="3781953" cy="695422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DE0F888-9E83-D300-5BB7-C4272B355D23}"/>
              </a:ext>
            </a:extLst>
          </p:cNvPr>
          <p:cNvCxnSpPr>
            <a:stCxn id="16" idx="3"/>
            <a:endCxn id="22" idx="1"/>
          </p:cNvCxnSpPr>
          <p:nvPr/>
        </p:nvCxnSpPr>
        <p:spPr>
          <a:xfrm>
            <a:off x="3243700" y="5027238"/>
            <a:ext cx="11883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1991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C1B2846-BB4D-9F6C-9A71-44D0596EF53A}"/>
              </a:ext>
            </a:extLst>
          </p:cNvPr>
          <p:cNvSpPr txBox="1"/>
          <p:nvPr/>
        </p:nvSpPr>
        <p:spPr>
          <a:xfrm>
            <a:off x="359924" y="350195"/>
            <a:ext cx="2463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b="1" dirty="0"/>
              <a:t>THUẬT TOÁN CHIẾU</a:t>
            </a:r>
            <a:endParaRPr lang="en-US" b="1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57CB643-B2B8-1D16-64DC-1136C413E5F3}"/>
              </a:ext>
            </a:extLst>
          </p:cNvPr>
          <p:cNvSpPr/>
          <p:nvPr/>
        </p:nvSpPr>
        <p:spPr>
          <a:xfrm>
            <a:off x="8064229" y="1293936"/>
            <a:ext cx="3062489" cy="282556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DFA0DF9-97C4-9FBA-0F9D-B9845239D2AE}"/>
              </a:ext>
            </a:extLst>
          </p:cNvPr>
          <p:cNvSpPr/>
          <p:nvPr/>
        </p:nvSpPr>
        <p:spPr>
          <a:xfrm>
            <a:off x="9885523" y="1999164"/>
            <a:ext cx="408764" cy="445781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FFEC427-3007-A968-DB66-95109CFC86FE}"/>
              </a:ext>
            </a:extLst>
          </p:cNvPr>
          <p:cNvSpPr/>
          <p:nvPr/>
        </p:nvSpPr>
        <p:spPr>
          <a:xfrm>
            <a:off x="8764415" y="1999164"/>
            <a:ext cx="408765" cy="445781"/>
          </a:xfrm>
          <a:prstGeom prst="ellipse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75BB037-5C8E-53FA-61A7-69EDEE47F33C}"/>
              </a:ext>
            </a:extLst>
          </p:cNvPr>
          <p:cNvSpPr/>
          <p:nvPr/>
        </p:nvSpPr>
        <p:spPr>
          <a:xfrm>
            <a:off x="9877818" y="3122882"/>
            <a:ext cx="408764" cy="44578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C12F0A5-AF56-3A05-ED13-CA9B65E51774}"/>
              </a:ext>
            </a:extLst>
          </p:cNvPr>
          <p:cNvSpPr/>
          <p:nvPr/>
        </p:nvSpPr>
        <p:spPr>
          <a:xfrm>
            <a:off x="8960185" y="3077854"/>
            <a:ext cx="408765" cy="445781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F89A69-01D7-ECF1-9F6B-621A344A1972}"/>
              </a:ext>
            </a:extLst>
          </p:cNvPr>
          <p:cNvSpPr txBox="1"/>
          <p:nvPr/>
        </p:nvSpPr>
        <p:spPr>
          <a:xfrm>
            <a:off x="9430305" y="916420"/>
            <a:ext cx="408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R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8AF445-CF60-FE94-40F4-705EC9146BE0}"/>
              </a:ext>
            </a:extLst>
          </p:cNvPr>
          <p:cNvSpPr txBox="1"/>
          <p:nvPr/>
        </p:nvSpPr>
        <p:spPr>
          <a:xfrm>
            <a:off x="627346" y="1522014"/>
            <a:ext cx="1206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/>
              <a:t>SELECT  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267E70-0F1D-9B73-30CB-7322D2CD84FC}"/>
              </a:ext>
            </a:extLst>
          </p:cNvPr>
          <p:cNvSpPr txBox="1"/>
          <p:nvPr/>
        </p:nvSpPr>
        <p:spPr>
          <a:xfrm>
            <a:off x="627346" y="2337388"/>
            <a:ext cx="873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dirty="0"/>
              <a:t>FROM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1183AA-29B1-81CF-DB9D-A4AF722CE0C0}"/>
              </a:ext>
            </a:extLst>
          </p:cNvPr>
          <p:cNvSpPr txBox="1"/>
          <p:nvPr/>
        </p:nvSpPr>
        <p:spPr>
          <a:xfrm>
            <a:off x="625721" y="3059668"/>
            <a:ext cx="10676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dirty="0"/>
              <a:t>WHERE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61FB80-0855-AD70-D104-75F2F84F45EA}"/>
              </a:ext>
            </a:extLst>
          </p:cNvPr>
          <p:cNvSpPr txBox="1"/>
          <p:nvPr/>
        </p:nvSpPr>
        <p:spPr>
          <a:xfrm>
            <a:off x="1833767" y="2304055"/>
            <a:ext cx="412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R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32B9D6A-8D88-C68E-28A9-08B141B1639B}"/>
              </a:ext>
            </a:extLst>
          </p:cNvPr>
          <p:cNvSpPr txBox="1"/>
          <p:nvPr/>
        </p:nvSpPr>
        <p:spPr>
          <a:xfrm>
            <a:off x="1833767" y="3078796"/>
            <a:ext cx="162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   Điều kiện </a:t>
            </a:r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C75ADBA-8E82-02B6-F47B-B0A873492D65}"/>
              </a:ext>
            </a:extLst>
          </p:cNvPr>
          <p:cNvSpPr/>
          <p:nvPr/>
        </p:nvSpPr>
        <p:spPr>
          <a:xfrm>
            <a:off x="2039782" y="1447020"/>
            <a:ext cx="475261" cy="46550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CF0C3B-EAA2-C8A7-3884-342B9336BAB1}"/>
              </a:ext>
            </a:extLst>
          </p:cNvPr>
          <p:cNvSpPr txBox="1"/>
          <p:nvPr/>
        </p:nvSpPr>
        <p:spPr>
          <a:xfrm>
            <a:off x="523900" y="817123"/>
            <a:ext cx="766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/>
              <a:t>Thuật toán này sẽ lấy dữ liệu 1 hay nhiều cột thay vì xuất ra tất cả các cột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ADFB63-B582-332B-E459-85EF5FD4CB64}"/>
              </a:ext>
            </a:extLst>
          </p:cNvPr>
          <p:cNvSpPr txBox="1"/>
          <p:nvPr/>
        </p:nvSpPr>
        <p:spPr>
          <a:xfrm>
            <a:off x="625721" y="4781989"/>
            <a:ext cx="4075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b="1" dirty="0"/>
              <a:t>VIẾT DƯỚI DẠNG ĐẠI SỐ QUAN HỆ</a:t>
            </a:r>
            <a:endParaRPr lang="en-US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0E15B24-CE7E-E8DF-1C37-5EC1FBF7D6C8}"/>
              </a:ext>
            </a:extLst>
          </p:cNvPr>
          <p:cNvSpPr txBox="1"/>
          <p:nvPr/>
        </p:nvSpPr>
        <p:spPr>
          <a:xfrm>
            <a:off x="1868805" y="5231009"/>
            <a:ext cx="13720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3200" b="1" dirty="0">
                <a:latin typeface="Tahoma" panose="020B0604030504040204" pitchFamily="34" charset="0"/>
                <a:sym typeface="Symbol" panose="05050102010706020507" pitchFamily="18" charset="2"/>
              </a:rPr>
              <a:t></a:t>
            </a:r>
            <a:r>
              <a:rPr lang="vi-VN" altLang="en-US" b="1" baseline="-25000" dirty="0">
                <a:latin typeface="Tahoma" panose="020B0604030504040204" pitchFamily="34" charset="0"/>
                <a:sym typeface="Symbol" panose="05050102010706020507" pitchFamily="18" charset="2"/>
              </a:rPr>
              <a:t>        </a:t>
            </a:r>
            <a:r>
              <a:rPr lang="en-US" altLang="en-US" sz="1800" b="1" baseline="-25000" dirty="0">
                <a:latin typeface="Tahoma" panose="020B060403050404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1800" b="1" dirty="0">
                <a:latin typeface="Tahoma" panose="020B0604030504040204" pitchFamily="34" charset="0"/>
                <a:sym typeface="Symbol" panose="05050102010706020507" pitchFamily="18" charset="2"/>
              </a:rPr>
              <a:t>(</a:t>
            </a:r>
            <a:r>
              <a:rPr lang="vi-VN" altLang="en-US" sz="1800" b="1" dirty="0">
                <a:latin typeface="Tahoma" panose="020B0604030504040204" pitchFamily="34" charset="0"/>
                <a:sym typeface="Symbol" panose="05050102010706020507" pitchFamily="18" charset="2"/>
              </a:rPr>
              <a:t>R</a:t>
            </a:r>
            <a:r>
              <a:rPr lang="en-US" altLang="en-US" sz="1800" b="1" dirty="0">
                <a:latin typeface="Tahoma" panose="020B0604030504040204" pitchFamily="34" charset="0"/>
                <a:sym typeface="Symbol" panose="05050102010706020507" pitchFamily="18" charset="2"/>
              </a:rPr>
              <a:t>)</a:t>
            </a:r>
            <a:endParaRPr lang="en-US" altLang="en-US" sz="1800" b="1" baseline="-25000" dirty="0">
              <a:latin typeface="Tahoma" panose="020B0604030504040204" pitchFamily="34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B965C39-426F-C967-6A63-7393ABCDB7B0}"/>
              </a:ext>
            </a:extLst>
          </p:cNvPr>
          <p:cNvSpPr/>
          <p:nvPr/>
        </p:nvSpPr>
        <p:spPr>
          <a:xfrm>
            <a:off x="2335431" y="5696803"/>
            <a:ext cx="209042" cy="2379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A0E2D40-D30E-7B18-11D1-01EF5AEB267D}"/>
              </a:ext>
            </a:extLst>
          </p:cNvPr>
          <p:cNvSpPr txBox="1"/>
          <p:nvPr/>
        </p:nvSpPr>
        <p:spPr>
          <a:xfrm>
            <a:off x="5387994" y="4748467"/>
            <a:ext cx="3376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b="1" dirty="0"/>
              <a:t>BIỂU DIỄN DƯỚI DẠNG SQL </a:t>
            </a:r>
            <a:endParaRPr lang="en-US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9A788AC-9781-051B-9EB3-30B26D593CE9}"/>
              </a:ext>
            </a:extLst>
          </p:cNvPr>
          <p:cNvSpPr txBox="1"/>
          <p:nvPr/>
        </p:nvSpPr>
        <p:spPr>
          <a:xfrm>
            <a:off x="5667737" y="5144292"/>
            <a:ext cx="3762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b="1" dirty="0"/>
              <a:t>SELECT column 1, column 2, .... </a:t>
            </a:r>
            <a:endParaRPr lang="en-US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A8633A1-8461-BB40-6C51-FD89E7DA5D51}"/>
              </a:ext>
            </a:extLst>
          </p:cNvPr>
          <p:cNvSpPr txBox="1"/>
          <p:nvPr/>
        </p:nvSpPr>
        <p:spPr>
          <a:xfrm>
            <a:off x="5667736" y="5610529"/>
            <a:ext cx="23693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b="1" dirty="0"/>
              <a:t>FROM R</a:t>
            </a:r>
            <a:endParaRPr lang="en-US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37FAE99-367D-1055-DC81-299F39BDE02F}"/>
              </a:ext>
            </a:extLst>
          </p:cNvPr>
          <p:cNvSpPr txBox="1"/>
          <p:nvPr/>
        </p:nvSpPr>
        <p:spPr>
          <a:xfrm>
            <a:off x="5688728" y="6103097"/>
            <a:ext cx="10676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b="1" dirty="0"/>
              <a:t>WHERE</a:t>
            </a:r>
            <a:endParaRPr lang="en-US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E1EDBF6-6CFD-D155-29E8-6DF77C34FBEC}"/>
              </a:ext>
            </a:extLst>
          </p:cNvPr>
          <p:cNvSpPr txBox="1"/>
          <p:nvPr/>
        </p:nvSpPr>
        <p:spPr>
          <a:xfrm>
            <a:off x="6572066" y="6119204"/>
            <a:ext cx="162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 dirty="0"/>
              <a:t>   Điều kiện </a:t>
            </a:r>
            <a:endParaRPr lang="en-US" b="1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1ABE6CB-F7E4-4095-DAA7-F8DD98A448F8}"/>
              </a:ext>
            </a:extLst>
          </p:cNvPr>
          <p:cNvCxnSpPr/>
          <p:nvPr/>
        </p:nvCxnSpPr>
        <p:spPr>
          <a:xfrm>
            <a:off x="4980562" y="4299626"/>
            <a:ext cx="0" cy="217280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0748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67E37-CBBA-C9CB-B84A-0F3A52CE1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2316071-6BFD-8B98-A792-8E24F372824C}"/>
              </a:ext>
            </a:extLst>
          </p:cNvPr>
          <p:cNvSpPr txBox="1"/>
          <p:nvPr/>
        </p:nvSpPr>
        <p:spPr>
          <a:xfrm>
            <a:off x="817123" y="447472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b="1" dirty="0"/>
              <a:t>Ví dụ demo</a:t>
            </a:r>
            <a:endParaRPr lang="en-US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E0BD812-2D1D-F6FD-E1B7-06DCF1DA2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75" y="1419599"/>
            <a:ext cx="4096322" cy="13717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00E2855-BAC2-F823-6E61-2B66222D59DC}"/>
              </a:ext>
            </a:extLst>
          </p:cNvPr>
          <p:cNvSpPr txBox="1"/>
          <p:nvPr/>
        </p:nvSpPr>
        <p:spPr>
          <a:xfrm>
            <a:off x="1556427" y="1050267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/>
              <a:t>Customer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D723EE-642B-5400-0435-9D554DDA74BE}"/>
              </a:ext>
            </a:extLst>
          </p:cNvPr>
          <p:cNvSpPr txBox="1"/>
          <p:nvPr/>
        </p:nvSpPr>
        <p:spPr>
          <a:xfrm>
            <a:off x="559519" y="3394185"/>
            <a:ext cx="436369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LastName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FirstName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Phone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Customer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City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like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'HCM'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933E1B-8FAA-40A7-8CE8-F96D97A700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3644" y="3429000"/>
            <a:ext cx="2619741" cy="704948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4D44DF6-3B98-2C33-F97E-CFACDA3EBB28}"/>
              </a:ext>
            </a:extLst>
          </p:cNvPr>
          <p:cNvCxnSpPr>
            <a:stCxn id="5" idx="3"/>
          </p:cNvCxnSpPr>
          <p:nvPr/>
        </p:nvCxnSpPr>
        <p:spPr>
          <a:xfrm>
            <a:off x="4923214" y="3855850"/>
            <a:ext cx="12927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3410913-C738-19B5-309C-16A3537D0916}"/>
              </a:ext>
            </a:extLst>
          </p:cNvPr>
          <p:cNvSpPr txBox="1"/>
          <p:nvPr/>
        </p:nvSpPr>
        <p:spPr>
          <a:xfrm>
            <a:off x="559518" y="5077838"/>
            <a:ext cx="436369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LastName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FirstName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Phone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Customer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FirstName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like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  <a:r>
              <a:rPr lang="en-US" sz="1800" dirty="0" err="1">
                <a:solidFill>
                  <a:srgbClr val="FF0000"/>
                </a:solidFill>
                <a:latin typeface="Consolas" panose="020B0609020204030204" pitchFamily="49" charset="0"/>
              </a:rPr>
              <a:t>PunNy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B91F6FA-D4B8-F5B4-364F-241AADD49607}"/>
              </a:ext>
            </a:extLst>
          </p:cNvPr>
          <p:cNvCxnSpPr>
            <a:stCxn id="10" idx="3"/>
          </p:cNvCxnSpPr>
          <p:nvPr/>
        </p:nvCxnSpPr>
        <p:spPr>
          <a:xfrm>
            <a:off x="4923213" y="5539503"/>
            <a:ext cx="13804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35456D31-35C7-0C7A-650A-1B85C16DBB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2851" y="5196555"/>
            <a:ext cx="2734057" cy="68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128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219DA9B-F155-2EFB-31AA-ED546AB96AD2}"/>
              </a:ext>
            </a:extLst>
          </p:cNvPr>
          <p:cNvSpPr txBox="1"/>
          <p:nvPr/>
        </p:nvSpPr>
        <p:spPr>
          <a:xfrm>
            <a:off x="116732" y="306580"/>
            <a:ext cx="39591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b="1" dirty="0"/>
              <a:t>THUẬT TOÁN </a:t>
            </a:r>
            <a:r>
              <a:rPr lang="en-US" sz="2400" b="1" dirty="0"/>
              <a:t>TÍCH CARTESIAN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27A227-C55F-E81B-1395-AB6A24CE2F36}"/>
              </a:ext>
            </a:extLst>
          </p:cNvPr>
          <p:cNvSpPr txBox="1"/>
          <p:nvPr/>
        </p:nvSpPr>
        <p:spPr>
          <a:xfrm>
            <a:off x="304801" y="783714"/>
            <a:ext cx="2271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/>
              <a:t>Ta có 2 tập hợp A, B</a:t>
            </a:r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B239C80-5614-DFFD-F811-EAB1F1BA1AA8}"/>
              </a:ext>
            </a:extLst>
          </p:cNvPr>
          <p:cNvSpPr/>
          <p:nvPr/>
        </p:nvSpPr>
        <p:spPr>
          <a:xfrm>
            <a:off x="6386586" y="520272"/>
            <a:ext cx="1872197" cy="150308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ED6707D-BE90-441F-7831-A9AB6E02B366}"/>
              </a:ext>
            </a:extLst>
          </p:cNvPr>
          <p:cNvSpPr/>
          <p:nvPr/>
        </p:nvSpPr>
        <p:spPr>
          <a:xfrm>
            <a:off x="7631886" y="862533"/>
            <a:ext cx="249890" cy="237137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67E9AE8-1FB6-1A29-A21F-9C3B4F74A045}"/>
              </a:ext>
            </a:extLst>
          </p:cNvPr>
          <p:cNvSpPr/>
          <p:nvPr/>
        </p:nvSpPr>
        <p:spPr>
          <a:xfrm>
            <a:off x="7089254" y="793081"/>
            <a:ext cx="249891" cy="237137"/>
          </a:xfrm>
          <a:prstGeom prst="ellipse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5A478DC-2126-64A6-9896-4188F7855415}"/>
              </a:ext>
            </a:extLst>
          </p:cNvPr>
          <p:cNvSpPr/>
          <p:nvPr/>
        </p:nvSpPr>
        <p:spPr>
          <a:xfrm>
            <a:off x="7444912" y="1432160"/>
            <a:ext cx="249890" cy="237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BCC1CD-81E4-94A6-A1D5-155ECDAD9A42}"/>
              </a:ext>
            </a:extLst>
          </p:cNvPr>
          <p:cNvSpPr txBox="1"/>
          <p:nvPr/>
        </p:nvSpPr>
        <p:spPr>
          <a:xfrm>
            <a:off x="7407299" y="100739"/>
            <a:ext cx="612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A</a:t>
            </a:r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586A410-572E-7D47-3AB2-F164B81F3FC2}"/>
              </a:ext>
            </a:extLst>
          </p:cNvPr>
          <p:cNvSpPr/>
          <p:nvPr/>
        </p:nvSpPr>
        <p:spPr>
          <a:xfrm>
            <a:off x="8940102" y="680619"/>
            <a:ext cx="1872197" cy="150308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0014046-4EC1-8098-7AFD-29536233EBB2}"/>
              </a:ext>
            </a:extLst>
          </p:cNvPr>
          <p:cNvSpPr/>
          <p:nvPr/>
        </p:nvSpPr>
        <p:spPr>
          <a:xfrm>
            <a:off x="10185402" y="1022880"/>
            <a:ext cx="249890" cy="237137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21F5FE0-9D4F-D3B6-821C-49EBED1FB5C3}"/>
              </a:ext>
            </a:extLst>
          </p:cNvPr>
          <p:cNvSpPr/>
          <p:nvPr/>
        </p:nvSpPr>
        <p:spPr>
          <a:xfrm>
            <a:off x="9642770" y="904312"/>
            <a:ext cx="249891" cy="237137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09648FD-69C8-3257-9CA0-C507E84F743E}"/>
              </a:ext>
            </a:extLst>
          </p:cNvPr>
          <p:cNvSpPr/>
          <p:nvPr/>
        </p:nvSpPr>
        <p:spPr>
          <a:xfrm>
            <a:off x="9626310" y="1451982"/>
            <a:ext cx="249890" cy="237137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1293807-46D7-76EF-8D68-0049F59AF659}"/>
              </a:ext>
            </a:extLst>
          </p:cNvPr>
          <p:cNvSpPr txBox="1"/>
          <p:nvPr/>
        </p:nvSpPr>
        <p:spPr>
          <a:xfrm>
            <a:off x="9960815" y="261086"/>
            <a:ext cx="612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B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C86160D-55F6-FE7B-3044-74F601D03527}"/>
              </a:ext>
            </a:extLst>
          </p:cNvPr>
          <p:cNvSpPr txBox="1"/>
          <p:nvPr/>
        </p:nvSpPr>
        <p:spPr>
          <a:xfrm>
            <a:off x="304801" y="1267316"/>
            <a:ext cx="2352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/>
              <a:t>Tích cartesian A x B: </a:t>
            </a:r>
            <a:endParaRPr lang="en-US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590F9B25-0139-7AA6-6D89-CBE6E3C638BF}"/>
              </a:ext>
            </a:extLst>
          </p:cNvPr>
          <p:cNvSpPr/>
          <p:nvPr/>
        </p:nvSpPr>
        <p:spPr>
          <a:xfrm>
            <a:off x="539875" y="1882419"/>
            <a:ext cx="249891" cy="237137"/>
          </a:xfrm>
          <a:prstGeom prst="ellipse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278A8C9A-8F33-0CAA-C5A2-94B073845499}"/>
              </a:ext>
            </a:extLst>
          </p:cNvPr>
          <p:cNvSpPr/>
          <p:nvPr/>
        </p:nvSpPr>
        <p:spPr>
          <a:xfrm>
            <a:off x="1766440" y="1851374"/>
            <a:ext cx="249891" cy="237137"/>
          </a:xfrm>
          <a:prstGeom prst="ellipse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78C0D7C0-16CE-63DE-BA5E-017C71DC5253}"/>
              </a:ext>
            </a:extLst>
          </p:cNvPr>
          <p:cNvSpPr/>
          <p:nvPr/>
        </p:nvSpPr>
        <p:spPr>
          <a:xfrm>
            <a:off x="3007908" y="1870404"/>
            <a:ext cx="249891" cy="237137"/>
          </a:xfrm>
          <a:prstGeom prst="ellipse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52AF26BE-F349-2F1A-BE50-677F4C14B206}"/>
              </a:ext>
            </a:extLst>
          </p:cNvPr>
          <p:cNvSpPr/>
          <p:nvPr/>
        </p:nvSpPr>
        <p:spPr>
          <a:xfrm>
            <a:off x="995197" y="1869450"/>
            <a:ext cx="249891" cy="237137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75117CF4-8EC5-727F-5404-58ED2CB08B8E}"/>
              </a:ext>
            </a:extLst>
          </p:cNvPr>
          <p:cNvSpPr/>
          <p:nvPr/>
        </p:nvSpPr>
        <p:spPr>
          <a:xfrm>
            <a:off x="2231431" y="1851374"/>
            <a:ext cx="249890" cy="237137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79724B69-8E3F-5259-28B3-CB8C1C018C91}"/>
              </a:ext>
            </a:extLst>
          </p:cNvPr>
          <p:cNvSpPr/>
          <p:nvPr/>
        </p:nvSpPr>
        <p:spPr>
          <a:xfrm>
            <a:off x="3472899" y="1870404"/>
            <a:ext cx="249890" cy="237137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CC2676B6-02CF-EA99-FEEA-9013118B7F36}"/>
              </a:ext>
            </a:extLst>
          </p:cNvPr>
          <p:cNvSpPr/>
          <p:nvPr/>
        </p:nvSpPr>
        <p:spPr>
          <a:xfrm>
            <a:off x="524034" y="2675321"/>
            <a:ext cx="249890" cy="237137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D58D06BB-D3E3-84C6-2422-741BCCA349A7}"/>
              </a:ext>
            </a:extLst>
          </p:cNvPr>
          <p:cNvSpPr/>
          <p:nvPr/>
        </p:nvSpPr>
        <p:spPr>
          <a:xfrm>
            <a:off x="539875" y="3440372"/>
            <a:ext cx="249890" cy="237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11E8B311-BE4E-E3A6-F6D6-95DF053558B9}"/>
              </a:ext>
            </a:extLst>
          </p:cNvPr>
          <p:cNvSpPr/>
          <p:nvPr/>
        </p:nvSpPr>
        <p:spPr>
          <a:xfrm>
            <a:off x="1766441" y="2605018"/>
            <a:ext cx="249890" cy="237137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576B80E1-F64E-A48E-11D6-824A8484D79A}"/>
              </a:ext>
            </a:extLst>
          </p:cNvPr>
          <p:cNvSpPr/>
          <p:nvPr/>
        </p:nvSpPr>
        <p:spPr>
          <a:xfrm>
            <a:off x="1733767" y="3468972"/>
            <a:ext cx="249890" cy="237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BDBE9D66-4C2D-6E4A-DBD3-5B1BD08F03F9}"/>
              </a:ext>
            </a:extLst>
          </p:cNvPr>
          <p:cNvSpPr/>
          <p:nvPr/>
        </p:nvSpPr>
        <p:spPr>
          <a:xfrm>
            <a:off x="2961744" y="3468781"/>
            <a:ext cx="249890" cy="237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230E2F7E-1F92-B836-84D3-D82BAD4FBEAF}"/>
              </a:ext>
            </a:extLst>
          </p:cNvPr>
          <p:cNvSpPr/>
          <p:nvPr/>
        </p:nvSpPr>
        <p:spPr>
          <a:xfrm>
            <a:off x="2992067" y="2619923"/>
            <a:ext cx="249890" cy="237137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8D30D037-C6A0-9F58-D1F3-7281B00608E3}"/>
              </a:ext>
            </a:extLst>
          </p:cNvPr>
          <p:cNvSpPr/>
          <p:nvPr/>
        </p:nvSpPr>
        <p:spPr>
          <a:xfrm>
            <a:off x="1004866" y="2675321"/>
            <a:ext cx="249891" cy="237137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762A8927-0190-5245-B027-5409CBCEADB1}"/>
              </a:ext>
            </a:extLst>
          </p:cNvPr>
          <p:cNvSpPr/>
          <p:nvPr/>
        </p:nvSpPr>
        <p:spPr>
          <a:xfrm>
            <a:off x="2231431" y="2591707"/>
            <a:ext cx="249890" cy="237137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41D0FBBE-1655-3015-008E-297693166EF1}"/>
              </a:ext>
            </a:extLst>
          </p:cNvPr>
          <p:cNvSpPr/>
          <p:nvPr/>
        </p:nvSpPr>
        <p:spPr>
          <a:xfrm>
            <a:off x="3472899" y="2594157"/>
            <a:ext cx="249890" cy="237137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2A0BAFA9-6F55-132A-31CB-52A59BA52D93}"/>
              </a:ext>
            </a:extLst>
          </p:cNvPr>
          <p:cNvSpPr/>
          <p:nvPr/>
        </p:nvSpPr>
        <p:spPr>
          <a:xfrm>
            <a:off x="1069955" y="3455309"/>
            <a:ext cx="249891" cy="237137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806924FB-67E2-A83E-7866-D31BFD5D3ACC}"/>
              </a:ext>
            </a:extLst>
          </p:cNvPr>
          <p:cNvSpPr/>
          <p:nvPr/>
        </p:nvSpPr>
        <p:spPr>
          <a:xfrm>
            <a:off x="2214599" y="3468972"/>
            <a:ext cx="249890" cy="237137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45ABECE1-A8EF-06E8-B30D-645F881805C3}"/>
              </a:ext>
            </a:extLst>
          </p:cNvPr>
          <p:cNvSpPr/>
          <p:nvPr/>
        </p:nvSpPr>
        <p:spPr>
          <a:xfrm>
            <a:off x="3442576" y="3473709"/>
            <a:ext cx="249890" cy="237137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5FA5AC04-EF60-410B-B5F0-1C484D49EB91}"/>
              </a:ext>
            </a:extLst>
          </p:cNvPr>
          <p:cNvSpPr/>
          <p:nvPr/>
        </p:nvSpPr>
        <p:spPr>
          <a:xfrm>
            <a:off x="429386" y="1739382"/>
            <a:ext cx="1021134" cy="51338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21F7DAEC-52AB-82B5-6519-0DE6DBD30A16}"/>
              </a:ext>
            </a:extLst>
          </p:cNvPr>
          <p:cNvSpPr/>
          <p:nvPr/>
        </p:nvSpPr>
        <p:spPr>
          <a:xfrm>
            <a:off x="1655951" y="1737061"/>
            <a:ext cx="1021134" cy="51338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4A35E37B-C4D8-C251-92BB-E537A9CC92E5}"/>
              </a:ext>
            </a:extLst>
          </p:cNvPr>
          <p:cNvSpPr/>
          <p:nvPr/>
        </p:nvSpPr>
        <p:spPr>
          <a:xfrm>
            <a:off x="2897419" y="1737061"/>
            <a:ext cx="1021134" cy="51338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776C6507-FF78-B697-4FBC-48EC88B7E502}"/>
              </a:ext>
            </a:extLst>
          </p:cNvPr>
          <p:cNvSpPr/>
          <p:nvPr/>
        </p:nvSpPr>
        <p:spPr>
          <a:xfrm>
            <a:off x="429386" y="2533859"/>
            <a:ext cx="1021134" cy="51338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B06715EE-3D90-5FC9-B490-B409264C9757}"/>
              </a:ext>
            </a:extLst>
          </p:cNvPr>
          <p:cNvSpPr/>
          <p:nvPr/>
        </p:nvSpPr>
        <p:spPr>
          <a:xfrm>
            <a:off x="1655951" y="2533859"/>
            <a:ext cx="1021134" cy="51338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F2148358-8FBD-1FEC-333A-D27AFABE26C8}"/>
              </a:ext>
            </a:extLst>
          </p:cNvPr>
          <p:cNvSpPr/>
          <p:nvPr/>
        </p:nvSpPr>
        <p:spPr>
          <a:xfrm>
            <a:off x="2897419" y="2533859"/>
            <a:ext cx="1021134" cy="51338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79D73EA4-454B-C1A8-7EE5-462A8C9503BD}"/>
              </a:ext>
            </a:extLst>
          </p:cNvPr>
          <p:cNvSpPr/>
          <p:nvPr/>
        </p:nvSpPr>
        <p:spPr>
          <a:xfrm>
            <a:off x="429386" y="3313082"/>
            <a:ext cx="1021134" cy="51338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E3628075-CF42-5904-D6E2-F7EA99391CE1}"/>
              </a:ext>
            </a:extLst>
          </p:cNvPr>
          <p:cNvSpPr/>
          <p:nvPr/>
        </p:nvSpPr>
        <p:spPr>
          <a:xfrm>
            <a:off x="1639119" y="3313082"/>
            <a:ext cx="1021134" cy="51338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124C706B-8C80-C044-BA19-213A366CD4A8}"/>
              </a:ext>
            </a:extLst>
          </p:cNvPr>
          <p:cNvSpPr/>
          <p:nvPr/>
        </p:nvSpPr>
        <p:spPr>
          <a:xfrm>
            <a:off x="2867096" y="3330657"/>
            <a:ext cx="1021134" cy="51338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79AB4C2-0589-4CFB-9D44-13B7DE239044}"/>
              </a:ext>
            </a:extLst>
          </p:cNvPr>
          <p:cNvSpPr txBox="1"/>
          <p:nvPr/>
        </p:nvSpPr>
        <p:spPr>
          <a:xfrm>
            <a:off x="5124960" y="2725246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vi-VN" altLang="en-US" b="1" dirty="0"/>
              <a:t>Được dùng để kết hợp nhiều tập hợp lại với nhau</a:t>
            </a:r>
            <a:endParaRPr lang="en-US" altLang="en-US" b="1" dirty="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FEE91CA6-F9C7-2859-4365-0D28C139545B}"/>
              </a:ext>
            </a:extLst>
          </p:cNvPr>
          <p:cNvSpPr/>
          <p:nvPr/>
        </p:nvSpPr>
        <p:spPr>
          <a:xfrm>
            <a:off x="304801" y="1608405"/>
            <a:ext cx="3731348" cy="235075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1C0297E-B775-BC34-B074-25126CC7E50E}"/>
              </a:ext>
            </a:extLst>
          </p:cNvPr>
          <p:cNvSpPr txBox="1"/>
          <p:nvPr/>
        </p:nvSpPr>
        <p:spPr>
          <a:xfrm>
            <a:off x="4267091" y="2738491"/>
            <a:ext cx="10478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dirty="0"/>
              <a:t>A x B </a:t>
            </a:r>
            <a:endParaRPr lang="en-US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D70D7F2-578A-44BC-1561-4FB1672679DE}"/>
              </a:ext>
            </a:extLst>
          </p:cNvPr>
          <p:cNvSpPr txBox="1"/>
          <p:nvPr/>
        </p:nvSpPr>
        <p:spPr>
          <a:xfrm>
            <a:off x="1023596" y="4644408"/>
            <a:ext cx="4083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b="1" dirty="0"/>
              <a:t>BIỂU DIỄN BẰNG ĐẠI SỐ QUAN HỆ</a:t>
            </a:r>
            <a:endParaRPr lang="en-US" b="1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5040E5D-1467-C947-9453-64414F907E6A}"/>
              </a:ext>
            </a:extLst>
          </p:cNvPr>
          <p:cNvSpPr txBox="1"/>
          <p:nvPr/>
        </p:nvSpPr>
        <p:spPr>
          <a:xfrm>
            <a:off x="950482" y="5040233"/>
            <a:ext cx="40831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3600" dirty="0">
                <a:latin typeface="Tahoma" panose="020B0604030504040204" pitchFamily="34" charset="0"/>
                <a:sym typeface="Symbol" panose="05050102010706020507" pitchFamily="18" charset="2"/>
              </a:rPr>
              <a:t></a:t>
            </a:r>
            <a:r>
              <a:rPr lang="en-US" altLang="en-US" sz="3600" baseline="-25000" dirty="0">
                <a:latin typeface="Tahoma" panose="020B0604030504040204" pitchFamily="34" charset="0"/>
                <a:sym typeface="Symbol" panose="05050102010706020507" pitchFamily="18" charset="2"/>
              </a:rPr>
              <a:t> </a:t>
            </a:r>
            <a:r>
              <a:rPr lang="vi-VN" altLang="en-US" sz="3600" baseline="-25000" dirty="0">
                <a:latin typeface="Tahoma" panose="020B0604030504040204" pitchFamily="34" charset="0"/>
                <a:sym typeface="Symbol" panose="05050102010706020507" pitchFamily="18" charset="2"/>
              </a:rPr>
              <a:t>&lt;điều kiện&gt;</a:t>
            </a:r>
            <a:r>
              <a:rPr lang="en-US" altLang="en-US" sz="3600" baseline="-25000" dirty="0">
                <a:latin typeface="Tahoma" panose="020B060403050404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600" dirty="0">
                <a:latin typeface="Tahoma" panose="020B0604030504040204" pitchFamily="34" charset="0"/>
                <a:sym typeface="Symbol" panose="05050102010706020507" pitchFamily="18" charset="2"/>
              </a:rPr>
              <a:t>(</a:t>
            </a:r>
            <a:r>
              <a:rPr lang="vi-VN" altLang="en-US" sz="3600" dirty="0">
                <a:latin typeface="Tahoma" panose="020B0604030504040204" pitchFamily="34" charset="0"/>
                <a:sym typeface="Symbol" panose="05050102010706020507" pitchFamily="18" charset="2"/>
              </a:rPr>
              <a:t>A x B</a:t>
            </a:r>
            <a:r>
              <a:rPr lang="en-US" altLang="en-US" sz="3600" dirty="0">
                <a:latin typeface="Tahoma" panose="020B0604030504040204" pitchFamily="34" charset="0"/>
                <a:sym typeface="Symbol" panose="05050102010706020507" pitchFamily="18" charset="2"/>
              </a:rPr>
              <a:t>)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C3E04B6-B861-EF4A-5AE5-F2A4516877AB}"/>
              </a:ext>
            </a:extLst>
          </p:cNvPr>
          <p:cNvSpPr txBox="1"/>
          <p:nvPr/>
        </p:nvSpPr>
        <p:spPr>
          <a:xfrm>
            <a:off x="6769988" y="4460743"/>
            <a:ext cx="3376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b="1" dirty="0"/>
              <a:t>BIỂU DIỄN DƯỚI DẠNG SQL </a:t>
            </a:r>
            <a:endParaRPr lang="en-US" b="1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7FC1DD5-3DE7-BF41-9087-6D3334973944}"/>
              </a:ext>
            </a:extLst>
          </p:cNvPr>
          <p:cNvSpPr txBox="1"/>
          <p:nvPr/>
        </p:nvSpPr>
        <p:spPr>
          <a:xfrm>
            <a:off x="7049731" y="4856568"/>
            <a:ext cx="3762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b="1" dirty="0"/>
              <a:t>SELECT column 1, column 2, .... </a:t>
            </a:r>
            <a:endParaRPr lang="en-US" b="1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A819B8D-C20E-FD3E-D6C4-19BCA8DAE6E7}"/>
              </a:ext>
            </a:extLst>
          </p:cNvPr>
          <p:cNvSpPr txBox="1"/>
          <p:nvPr/>
        </p:nvSpPr>
        <p:spPr>
          <a:xfrm>
            <a:off x="7049730" y="5322805"/>
            <a:ext cx="23693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b="1" dirty="0"/>
              <a:t>FROM A, B, ...</a:t>
            </a:r>
            <a:endParaRPr lang="en-US" b="1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01B3BC9-EA14-6903-5C2E-EB69A4155107}"/>
              </a:ext>
            </a:extLst>
          </p:cNvPr>
          <p:cNvSpPr txBox="1"/>
          <p:nvPr/>
        </p:nvSpPr>
        <p:spPr>
          <a:xfrm>
            <a:off x="7070722" y="5815373"/>
            <a:ext cx="10676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b="1" dirty="0"/>
              <a:t>WHERE</a:t>
            </a:r>
            <a:endParaRPr lang="en-US" b="1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6390BA6-FE2A-500C-75B4-7FFE9177BA76}"/>
              </a:ext>
            </a:extLst>
          </p:cNvPr>
          <p:cNvSpPr txBox="1"/>
          <p:nvPr/>
        </p:nvSpPr>
        <p:spPr>
          <a:xfrm>
            <a:off x="7954060" y="5831480"/>
            <a:ext cx="162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 dirty="0"/>
              <a:t>   Điều kiện </a:t>
            </a:r>
            <a:endParaRPr lang="en-US" b="1" dirty="0"/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C99660B9-BDA9-B8C6-2995-729B67A6FF4C}"/>
              </a:ext>
            </a:extLst>
          </p:cNvPr>
          <p:cNvCxnSpPr/>
          <p:nvPr/>
        </p:nvCxnSpPr>
        <p:spPr>
          <a:xfrm>
            <a:off x="6096000" y="4460743"/>
            <a:ext cx="0" cy="217352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4160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0B23C-7796-8B62-E0D6-90E18CA17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28D38B7-C683-3632-CA9F-1AA23F2CB1D7}"/>
              </a:ext>
            </a:extLst>
          </p:cNvPr>
          <p:cNvSpPr txBox="1"/>
          <p:nvPr/>
        </p:nvSpPr>
        <p:spPr>
          <a:xfrm>
            <a:off x="817123" y="447472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b="1" dirty="0"/>
              <a:t>Ví dụ demo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29735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92DAE26-3704-CFC9-9DC6-5E118E854C41}"/>
              </a:ext>
            </a:extLst>
          </p:cNvPr>
          <p:cNvSpPr txBox="1"/>
          <p:nvPr/>
        </p:nvSpPr>
        <p:spPr>
          <a:xfrm>
            <a:off x="515566" y="418289"/>
            <a:ext cx="2121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/>
              <a:t>THUẬT TOÁN HỘI</a:t>
            </a:r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FFE11EF-C555-8D02-CB85-ED9EDF6DAA9E}"/>
              </a:ext>
            </a:extLst>
          </p:cNvPr>
          <p:cNvSpPr/>
          <p:nvPr/>
        </p:nvSpPr>
        <p:spPr>
          <a:xfrm>
            <a:off x="113719" y="1888879"/>
            <a:ext cx="1872196" cy="150308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F0C2708-B915-ECDB-2116-623EF9BA5232}"/>
              </a:ext>
            </a:extLst>
          </p:cNvPr>
          <p:cNvSpPr/>
          <p:nvPr/>
        </p:nvSpPr>
        <p:spPr>
          <a:xfrm>
            <a:off x="1359018" y="2183127"/>
            <a:ext cx="249890" cy="237137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39926C5-C7F5-2A91-B983-384BD1AE58C9}"/>
              </a:ext>
            </a:extLst>
          </p:cNvPr>
          <p:cNvSpPr/>
          <p:nvPr/>
        </p:nvSpPr>
        <p:spPr>
          <a:xfrm>
            <a:off x="496493" y="2391486"/>
            <a:ext cx="249891" cy="237137"/>
          </a:xfrm>
          <a:prstGeom prst="ellipse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CE28816-4D81-B182-5046-21C0C47D7D73}"/>
              </a:ext>
            </a:extLst>
          </p:cNvPr>
          <p:cNvSpPr/>
          <p:nvPr/>
        </p:nvSpPr>
        <p:spPr>
          <a:xfrm>
            <a:off x="634891" y="2942818"/>
            <a:ext cx="249890" cy="237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7AB566-2083-DA53-2A45-890431B9CCCA}"/>
              </a:ext>
            </a:extLst>
          </p:cNvPr>
          <p:cNvSpPr txBox="1"/>
          <p:nvPr/>
        </p:nvSpPr>
        <p:spPr>
          <a:xfrm>
            <a:off x="996065" y="1465349"/>
            <a:ext cx="612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A</a:t>
            </a:r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ABC20ED-D21A-8DEC-8E72-43925FA124A7}"/>
              </a:ext>
            </a:extLst>
          </p:cNvPr>
          <p:cNvSpPr/>
          <p:nvPr/>
        </p:nvSpPr>
        <p:spPr>
          <a:xfrm>
            <a:off x="2424190" y="1928828"/>
            <a:ext cx="1872197" cy="150308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D244AF6-4C23-E991-A37E-CE45782784F1}"/>
              </a:ext>
            </a:extLst>
          </p:cNvPr>
          <p:cNvSpPr/>
          <p:nvPr/>
        </p:nvSpPr>
        <p:spPr>
          <a:xfrm>
            <a:off x="3669490" y="2271089"/>
            <a:ext cx="249890" cy="237137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C1BF75C-A0FA-AFEE-28CF-20E2FB77E7B3}"/>
              </a:ext>
            </a:extLst>
          </p:cNvPr>
          <p:cNvSpPr/>
          <p:nvPr/>
        </p:nvSpPr>
        <p:spPr>
          <a:xfrm>
            <a:off x="3126858" y="2152521"/>
            <a:ext cx="249891" cy="237137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0A8189C-DC45-74EA-7434-E4B3829BC2D7}"/>
              </a:ext>
            </a:extLst>
          </p:cNvPr>
          <p:cNvSpPr/>
          <p:nvPr/>
        </p:nvSpPr>
        <p:spPr>
          <a:xfrm>
            <a:off x="3470513" y="2847218"/>
            <a:ext cx="249890" cy="237137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841587-F09A-699D-806D-1E8D057DECA9}"/>
              </a:ext>
            </a:extLst>
          </p:cNvPr>
          <p:cNvSpPr txBox="1"/>
          <p:nvPr/>
        </p:nvSpPr>
        <p:spPr>
          <a:xfrm>
            <a:off x="3181592" y="1486677"/>
            <a:ext cx="612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B</a:t>
            </a:r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30B283C-F4BA-A4CE-2D7C-80E8AD8028A3}"/>
              </a:ext>
            </a:extLst>
          </p:cNvPr>
          <p:cNvSpPr/>
          <p:nvPr/>
        </p:nvSpPr>
        <p:spPr>
          <a:xfrm>
            <a:off x="1421934" y="2693760"/>
            <a:ext cx="249890" cy="237137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58B5779-563A-85E6-4432-BCDBD739AA98}"/>
              </a:ext>
            </a:extLst>
          </p:cNvPr>
          <p:cNvSpPr/>
          <p:nvPr/>
        </p:nvSpPr>
        <p:spPr>
          <a:xfrm>
            <a:off x="2316352" y="4759163"/>
            <a:ext cx="249890" cy="237137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C79D75-1214-9443-DBC3-63A1EBBD9244}"/>
              </a:ext>
            </a:extLst>
          </p:cNvPr>
          <p:cNvSpPr txBox="1"/>
          <p:nvPr/>
        </p:nvSpPr>
        <p:spPr>
          <a:xfrm>
            <a:off x="1042944" y="1033460"/>
            <a:ext cx="2031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/>
              <a:t>Ta có 2 tập A và B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D39973-C764-BA3F-D590-492A0CE7CC30}"/>
              </a:ext>
            </a:extLst>
          </p:cNvPr>
          <p:cNvSpPr txBox="1"/>
          <p:nvPr/>
        </p:nvSpPr>
        <p:spPr>
          <a:xfrm>
            <a:off x="6989879" y="1022879"/>
            <a:ext cx="1160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altLang="en-US" dirty="0"/>
              <a:t>Khi A</a:t>
            </a:r>
            <a:r>
              <a:rPr lang="en-US" altLang="en-US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</a:t>
            </a:r>
            <a:r>
              <a:rPr lang="en-US" altLang="en-US" dirty="0"/>
              <a:t> </a:t>
            </a:r>
            <a:r>
              <a:rPr lang="vi-VN" altLang="en-US" dirty="0"/>
              <a:t>B</a:t>
            </a:r>
            <a:endParaRPr lang="en-US" alt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AD86B8A-4DCA-099F-C11D-9C571DDC85D6}"/>
              </a:ext>
            </a:extLst>
          </p:cNvPr>
          <p:cNvSpPr/>
          <p:nvPr/>
        </p:nvSpPr>
        <p:spPr>
          <a:xfrm>
            <a:off x="6043731" y="1714908"/>
            <a:ext cx="1872197" cy="150308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B68A371-7B38-9F63-FE0B-4626C289A0CC}"/>
              </a:ext>
            </a:extLst>
          </p:cNvPr>
          <p:cNvSpPr/>
          <p:nvPr/>
        </p:nvSpPr>
        <p:spPr>
          <a:xfrm>
            <a:off x="7008252" y="1940157"/>
            <a:ext cx="249890" cy="237137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995E8F9-8675-D91E-366F-6A6663E7321A}"/>
              </a:ext>
            </a:extLst>
          </p:cNvPr>
          <p:cNvSpPr/>
          <p:nvPr/>
        </p:nvSpPr>
        <p:spPr>
          <a:xfrm>
            <a:off x="6426506" y="2217515"/>
            <a:ext cx="249891" cy="237137"/>
          </a:xfrm>
          <a:prstGeom prst="ellipse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65AA04D-A95A-5A30-1519-0E87C864781D}"/>
              </a:ext>
            </a:extLst>
          </p:cNvPr>
          <p:cNvSpPr/>
          <p:nvPr/>
        </p:nvSpPr>
        <p:spPr>
          <a:xfrm>
            <a:off x="6564904" y="2768847"/>
            <a:ext cx="249890" cy="237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B02037-5F91-4675-5E31-C46F409BF6E0}"/>
              </a:ext>
            </a:extLst>
          </p:cNvPr>
          <p:cNvSpPr txBox="1"/>
          <p:nvPr/>
        </p:nvSpPr>
        <p:spPr>
          <a:xfrm>
            <a:off x="6739104" y="1188479"/>
            <a:ext cx="612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A</a:t>
            </a:r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320B266-FA32-9789-7E31-FB6173DF3205}"/>
              </a:ext>
            </a:extLst>
          </p:cNvPr>
          <p:cNvSpPr/>
          <p:nvPr/>
        </p:nvSpPr>
        <p:spPr>
          <a:xfrm>
            <a:off x="7321473" y="1756685"/>
            <a:ext cx="1872197" cy="150308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23CADF8-3F20-0453-92F9-CB2BDA3808D5}"/>
              </a:ext>
            </a:extLst>
          </p:cNvPr>
          <p:cNvSpPr/>
          <p:nvPr/>
        </p:nvSpPr>
        <p:spPr>
          <a:xfrm>
            <a:off x="8566773" y="2098946"/>
            <a:ext cx="249890" cy="237137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42AC260-E0F9-5D08-7824-153859F58E14}"/>
              </a:ext>
            </a:extLst>
          </p:cNvPr>
          <p:cNvSpPr/>
          <p:nvPr/>
        </p:nvSpPr>
        <p:spPr>
          <a:xfrm>
            <a:off x="8024141" y="1980378"/>
            <a:ext cx="249891" cy="237137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DE3A1A6-B3F9-4959-4E54-87A95DE360FD}"/>
              </a:ext>
            </a:extLst>
          </p:cNvPr>
          <p:cNvSpPr/>
          <p:nvPr/>
        </p:nvSpPr>
        <p:spPr>
          <a:xfrm>
            <a:off x="8367796" y="2675075"/>
            <a:ext cx="249890" cy="237137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1745531-F7C3-8BA9-EA93-3CF6F30D60C7}"/>
              </a:ext>
            </a:extLst>
          </p:cNvPr>
          <p:cNvSpPr txBox="1"/>
          <p:nvPr/>
        </p:nvSpPr>
        <p:spPr>
          <a:xfrm>
            <a:off x="8342186" y="1337152"/>
            <a:ext cx="612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B</a:t>
            </a:r>
            <a:endParaRPr lang="en-US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D164587-E3D2-E24B-9FD4-0CBCA3BC42D9}"/>
              </a:ext>
            </a:extLst>
          </p:cNvPr>
          <p:cNvSpPr/>
          <p:nvPr/>
        </p:nvSpPr>
        <p:spPr>
          <a:xfrm>
            <a:off x="7507652" y="2437938"/>
            <a:ext cx="249890" cy="237137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98DCFC7-8970-7CB0-B2BB-F75C4512A612}"/>
                  </a:ext>
                </a:extLst>
              </p:cNvPr>
              <p:cNvSpPr txBox="1"/>
              <p:nvPr/>
            </p:nvSpPr>
            <p:spPr>
              <a:xfrm>
                <a:off x="1239389" y="4566163"/>
                <a:ext cx="287298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1800" b="1" i="1" dirty="0" smtClean="0"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altLang="en-US" sz="18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altLang="en-US" sz="18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18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𝝅</m:t>
                          </m:r>
                        </m:e>
                        <m:sub>
                          <m:r>
                            <a:rPr lang="vi-VN" altLang="en-US" sz="18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     </m:t>
                          </m:r>
                        </m:sub>
                      </m:sSub>
                      <m:r>
                        <a:rPr lang="en-US" altLang="en-US" sz="18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en-US" sz="18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18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𝜹</m:t>
                          </m:r>
                        </m:e>
                        <m:sub>
                          <m:r>
                            <a:rPr lang="vi-VN" altLang="en-US" sz="18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</m:t>
                          </m:r>
                        </m:sub>
                      </m:sSub>
                      <m:r>
                        <a:rPr lang="vi-VN" altLang="en-US" sz="1800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</m:t>
                      </m:r>
                      <m:r>
                        <a:rPr lang="en-US" altLang="en-US" sz="18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vi-VN" altLang="en-US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a:rPr lang="en-US" altLang="en-US" sz="18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altLang="en-US" sz="1800" b="1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98DCFC7-8970-7CB0-B2BB-F75C4512A6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9389" y="4566163"/>
                <a:ext cx="2872989" cy="369332"/>
              </a:xfrm>
              <a:prstGeom prst="rect">
                <a:avLst/>
              </a:prstGeom>
              <a:blipFill>
                <a:blip r:embed="rId2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2D57ACBE-88A2-7053-724B-DBA72E92C4D5}"/>
              </a:ext>
            </a:extLst>
          </p:cNvPr>
          <p:cNvSpPr txBox="1"/>
          <p:nvPr/>
        </p:nvSpPr>
        <p:spPr>
          <a:xfrm>
            <a:off x="16217" y="3968301"/>
            <a:ext cx="35189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b="1" dirty="0"/>
              <a:t>Biểu diễn bằng đại số quan hệ</a:t>
            </a:r>
            <a:endParaRPr lang="en-US" b="1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A775C24D-54C4-EBF5-33BB-8359EA96F2DD}"/>
              </a:ext>
            </a:extLst>
          </p:cNvPr>
          <p:cNvSpPr/>
          <p:nvPr/>
        </p:nvSpPr>
        <p:spPr>
          <a:xfrm>
            <a:off x="2978867" y="4744786"/>
            <a:ext cx="249890" cy="237137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A5887C3-CD33-6AD1-020D-3DF4DBC58D51}"/>
                  </a:ext>
                </a:extLst>
              </p:cNvPr>
              <p:cNvSpPr txBox="1"/>
              <p:nvPr/>
            </p:nvSpPr>
            <p:spPr>
              <a:xfrm>
                <a:off x="1367184" y="5298388"/>
                <a:ext cx="258729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vi-VN" altLang="en-US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U</m:t>
                      </m:r>
                      <m:r>
                        <a:rPr lang="en-US" altLang="en-US" sz="18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altLang="en-US" sz="18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18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𝝅</m:t>
                          </m:r>
                        </m:e>
                        <m:sub>
                          <m:r>
                            <a:rPr lang="vi-VN" altLang="en-US" sz="18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     </m:t>
                          </m:r>
                        </m:sub>
                      </m:sSub>
                      <m:r>
                        <a:rPr lang="en-US" altLang="en-US" sz="18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en-US" sz="18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18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𝜹</m:t>
                          </m:r>
                        </m:e>
                        <m:sub>
                          <m:r>
                            <a:rPr lang="vi-VN" altLang="en-US" sz="18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</m:t>
                          </m:r>
                        </m:sub>
                      </m:sSub>
                      <m:r>
                        <a:rPr lang="vi-VN" altLang="en-US" sz="1800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</m:t>
                      </m:r>
                      <m:r>
                        <a:rPr lang="en-US" altLang="en-US" sz="18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vi-VN" altLang="en-US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a:rPr lang="en-US" altLang="en-US" sz="18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altLang="en-US" sz="1800" b="1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A5887C3-CD33-6AD1-020D-3DF4DBC58D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7184" y="5298388"/>
                <a:ext cx="2587290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Oval 36">
            <a:extLst>
              <a:ext uri="{FF2B5EF4-FFF2-40B4-BE49-F238E27FC236}">
                <a16:creationId xmlns:a16="http://schemas.microsoft.com/office/drawing/2014/main" id="{E38C144D-7726-658D-5238-60991D56E7E9}"/>
              </a:ext>
            </a:extLst>
          </p:cNvPr>
          <p:cNvSpPr/>
          <p:nvPr/>
        </p:nvSpPr>
        <p:spPr>
          <a:xfrm>
            <a:off x="2325223" y="5443630"/>
            <a:ext cx="249890" cy="237137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4CFD5A8E-3CB6-4E75-22F8-A3B8D2FFA612}"/>
              </a:ext>
            </a:extLst>
          </p:cNvPr>
          <p:cNvSpPr/>
          <p:nvPr/>
        </p:nvSpPr>
        <p:spPr>
          <a:xfrm>
            <a:off x="2920066" y="5443630"/>
            <a:ext cx="249891" cy="237137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B8A5BAC-B8BD-7ECE-6D72-E3267CC6B0AE}"/>
                  </a:ext>
                </a:extLst>
              </p:cNvPr>
              <p:cNvSpPr txBox="1"/>
              <p:nvPr/>
            </p:nvSpPr>
            <p:spPr>
              <a:xfrm>
                <a:off x="1419712" y="5888143"/>
                <a:ext cx="193172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1800" b="1" i="1" dirty="0" smtClean="0">
                          <a:latin typeface="Cambria Math" panose="02040503050406030204" pitchFamily="18" charset="0"/>
                        </a:rPr>
                        <m:t>𝑲𝑸</m:t>
                      </m:r>
                      <m:r>
                        <a:rPr lang="en-US" altLang="en-US" sz="18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altLang="en-US" sz="18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𝑹</m:t>
                      </m:r>
                      <m:r>
                        <a:rPr lang="en-US" altLang="en-US" sz="18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∪</m:t>
                      </m:r>
                      <m:r>
                        <m:rPr>
                          <m:sty m:val="p"/>
                        </m:rPr>
                        <a:rPr lang="vi-VN" altLang="en-US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U</m:t>
                      </m:r>
                    </m:oMath>
                  </m:oMathPara>
                </a14:m>
                <a:endParaRPr lang="en-US" altLang="en-US" sz="1800" b="1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B8A5BAC-B8BD-7ECE-6D72-E3267CC6B0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9712" y="5888143"/>
                <a:ext cx="1931722" cy="369332"/>
              </a:xfrm>
              <a:prstGeom prst="rect">
                <a:avLst/>
              </a:prstGeom>
              <a:blipFill>
                <a:blip r:embed="rId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F5F649A-431C-14B1-31C5-671B6C043879}"/>
              </a:ext>
            </a:extLst>
          </p:cNvPr>
          <p:cNvCxnSpPr/>
          <p:nvPr/>
        </p:nvCxnSpPr>
        <p:spPr>
          <a:xfrm>
            <a:off x="4296387" y="4008638"/>
            <a:ext cx="0" cy="210450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5C853EB7-4EF7-E6E5-6CE1-506466A5ECD9}"/>
              </a:ext>
            </a:extLst>
          </p:cNvPr>
          <p:cNvSpPr txBox="1"/>
          <p:nvPr/>
        </p:nvSpPr>
        <p:spPr>
          <a:xfrm>
            <a:off x="6132686" y="3875257"/>
            <a:ext cx="2377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b="1" dirty="0"/>
              <a:t>Biểu diễn bằng SQL</a:t>
            </a:r>
            <a:endParaRPr lang="en-US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360FFAA-8E8E-17F4-7132-1957782E597F}"/>
              </a:ext>
            </a:extLst>
          </p:cNvPr>
          <p:cNvSpPr txBox="1"/>
          <p:nvPr/>
        </p:nvSpPr>
        <p:spPr>
          <a:xfrm>
            <a:off x="4300329" y="4375454"/>
            <a:ext cx="2912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/>
              <a:t>SELECT &lt;danh sách cột&gt; 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61CD704-11A4-AF03-80B2-C5B304547B0C}"/>
              </a:ext>
            </a:extLst>
          </p:cNvPr>
          <p:cNvSpPr txBox="1"/>
          <p:nvPr/>
        </p:nvSpPr>
        <p:spPr>
          <a:xfrm>
            <a:off x="7090640" y="4381497"/>
            <a:ext cx="2839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/>
              <a:t>FROM &lt;danh sách bảng&gt;</a:t>
            </a:r>
            <a:endParaRPr 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2B2AB31-2EC7-A0B7-A02A-795C1CB81DEF}"/>
              </a:ext>
            </a:extLst>
          </p:cNvPr>
          <p:cNvSpPr txBox="1"/>
          <p:nvPr/>
        </p:nvSpPr>
        <p:spPr>
          <a:xfrm>
            <a:off x="9869751" y="4375454"/>
            <a:ext cx="2300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/>
              <a:t>WHERE &lt;điều kiện&gt;</a:t>
            </a:r>
            <a:endParaRPr 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6E91AE5-353C-0002-DBA5-3F0221651049}"/>
              </a:ext>
            </a:extLst>
          </p:cNvPr>
          <p:cNvSpPr txBox="1"/>
          <p:nvPr/>
        </p:nvSpPr>
        <p:spPr>
          <a:xfrm>
            <a:off x="4319605" y="4799548"/>
            <a:ext cx="17069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b="1" dirty="0">
                <a:latin typeface="Tahoma" panose="020B0604030504040204" pitchFamily="34" charset="0"/>
              </a:rPr>
              <a:t>UNION [ALL]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8F3C4EA-AF18-FFF7-FF84-45E5C2B09911}"/>
              </a:ext>
            </a:extLst>
          </p:cNvPr>
          <p:cNvSpPr txBox="1"/>
          <p:nvPr/>
        </p:nvSpPr>
        <p:spPr>
          <a:xfrm>
            <a:off x="4300329" y="5174923"/>
            <a:ext cx="2912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/>
              <a:t>SELECT &lt;danh sách cột&gt;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542C1DB-7365-A5FE-990E-7E9D83B661A6}"/>
              </a:ext>
            </a:extLst>
          </p:cNvPr>
          <p:cNvSpPr txBox="1"/>
          <p:nvPr/>
        </p:nvSpPr>
        <p:spPr>
          <a:xfrm>
            <a:off x="7090640" y="5180966"/>
            <a:ext cx="2839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/>
              <a:t>FROM &lt;danh sách bảng&gt;</a:t>
            </a:r>
            <a:endParaRPr 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918A878-BC8D-1F97-D376-AD111B19ABE7}"/>
              </a:ext>
            </a:extLst>
          </p:cNvPr>
          <p:cNvSpPr txBox="1"/>
          <p:nvPr/>
        </p:nvSpPr>
        <p:spPr>
          <a:xfrm>
            <a:off x="9869751" y="5174923"/>
            <a:ext cx="2300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/>
              <a:t>WHERE &lt;điều kiện&gt;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29527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5CF52-4390-9ABD-EAD3-C33481B4A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D96106E-F342-F78D-4889-C0FFC2D712E5}"/>
              </a:ext>
            </a:extLst>
          </p:cNvPr>
          <p:cNvSpPr txBox="1"/>
          <p:nvPr/>
        </p:nvSpPr>
        <p:spPr>
          <a:xfrm>
            <a:off x="817123" y="447472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b="1" dirty="0"/>
              <a:t>Ví dụ demo</a:t>
            </a:r>
            <a:endParaRPr lang="en-US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447E61F-468B-2D8E-22CB-C11FDC5C63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75" y="1419599"/>
            <a:ext cx="4096322" cy="13717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E7D73BB-DB4F-F57C-7E48-DEADA2AFF49A}"/>
              </a:ext>
            </a:extLst>
          </p:cNvPr>
          <p:cNvSpPr txBox="1"/>
          <p:nvPr/>
        </p:nvSpPr>
        <p:spPr>
          <a:xfrm>
            <a:off x="1556427" y="1050267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/>
              <a:t>Customer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32F9B6-F5E2-8823-795A-88B17C4686E4}"/>
              </a:ext>
            </a:extLst>
          </p:cNvPr>
          <p:cNvSpPr txBox="1"/>
          <p:nvPr/>
        </p:nvSpPr>
        <p:spPr>
          <a:xfrm>
            <a:off x="535826" y="2945411"/>
            <a:ext cx="3730508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CustomerID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Customer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City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like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'HCM'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union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Phone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Customer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FirstName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LIKE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  <a:r>
              <a:rPr lang="en-US" sz="1800" dirty="0" err="1">
                <a:solidFill>
                  <a:srgbClr val="FF0000"/>
                </a:solidFill>
                <a:latin typeface="Consolas" panose="020B0609020204030204" pitchFamily="49" charset="0"/>
              </a:rPr>
              <a:t>PunNy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27B8466-A180-8360-E80D-6C07CB28ED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7719" y="3643885"/>
            <a:ext cx="1771897" cy="943107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C5883AF-9B0A-356D-3066-8D91FF9EDF2A}"/>
              </a:ext>
            </a:extLst>
          </p:cNvPr>
          <p:cNvCxnSpPr/>
          <p:nvPr/>
        </p:nvCxnSpPr>
        <p:spPr>
          <a:xfrm>
            <a:off x="4396902" y="4212077"/>
            <a:ext cx="14007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75920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D8AAF-5794-B0DE-B79C-9EBB731FF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8B822DE-C870-8449-AA34-60F859430A1A}"/>
              </a:ext>
            </a:extLst>
          </p:cNvPr>
          <p:cNvSpPr txBox="1"/>
          <p:nvPr/>
        </p:nvSpPr>
        <p:spPr>
          <a:xfrm>
            <a:off x="817123" y="447472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b="1" dirty="0"/>
              <a:t>Ví dụ demo</a:t>
            </a:r>
            <a:endParaRPr lang="en-US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7EEB857-38A7-2184-2383-14CCABA351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206" y="1419599"/>
            <a:ext cx="4096322" cy="13717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E1EC1C8-84CA-D6A4-861E-D8D9107F5C0B}"/>
              </a:ext>
            </a:extLst>
          </p:cNvPr>
          <p:cNvSpPr txBox="1"/>
          <p:nvPr/>
        </p:nvSpPr>
        <p:spPr>
          <a:xfrm>
            <a:off x="1556427" y="1050267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/>
              <a:t>Customer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DF97D2-84A6-9652-D949-F22DB377DD32}"/>
              </a:ext>
            </a:extLst>
          </p:cNvPr>
          <p:cNvSpPr txBox="1"/>
          <p:nvPr/>
        </p:nvSpPr>
        <p:spPr>
          <a:xfrm>
            <a:off x="535826" y="2945411"/>
            <a:ext cx="322395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FirstName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Customer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Phone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0123456789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union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City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Customer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CustomerID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3</a:t>
            </a:r>
          </a:p>
          <a:p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5464E55-3454-AB85-E7E8-5A48A7B1BC4B}"/>
              </a:ext>
            </a:extLst>
          </p:cNvPr>
          <p:cNvCxnSpPr/>
          <p:nvPr/>
        </p:nvCxnSpPr>
        <p:spPr>
          <a:xfrm>
            <a:off x="4396902" y="4212077"/>
            <a:ext cx="14007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5BCCE3F9-840D-BFCD-44E4-4FC9274BEC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3077" y="3575254"/>
            <a:ext cx="1848108" cy="952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3392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0EE42D3-CFD7-7552-9280-EBD160B2C136}"/>
              </a:ext>
            </a:extLst>
          </p:cNvPr>
          <p:cNvSpPr txBox="1"/>
          <p:nvPr/>
        </p:nvSpPr>
        <p:spPr>
          <a:xfrm>
            <a:off x="248433" y="154481"/>
            <a:ext cx="23349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b="1" dirty="0"/>
              <a:t>THUẬT TOÁN GIAO</a:t>
            </a:r>
            <a:endParaRPr lang="en-US" b="1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250A601-704D-93C4-473A-78B3EC531AFC}"/>
              </a:ext>
            </a:extLst>
          </p:cNvPr>
          <p:cNvSpPr/>
          <p:nvPr/>
        </p:nvSpPr>
        <p:spPr>
          <a:xfrm>
            <a:off x="29852" y="1530705"/>
            <a:ext cx="1872197" cy="150308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83C7C8B-24EC-55A6-F539-B30BC31524DC}"/>
              </a:ext>
            </a:extLst>
          </p:cNvPr>
          <p:cNvSpPr/>
          <p:nvPr/>
        </p:nvSpPr>
        <p:spPr>
          <a:xfrm>
            <a:off x="2211860" y="3874585"/>
            <a:ext cx="249136" cy="254783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C3183CB-2E75-6136-25CA-121FBC71B742}"/>
              </a:ext>
            </a:extLst>
          </p:cNvPr>
          <p:cNvSpPr/>
          <p:nvPr/>
        </p:nvSpPr>
        <p:spPr>
          <a:xfrm>
            <a:off x="732520" y="1803514"/>
            <a:ext cx="249891" cy="237137"/>
          </a:xfrm>
          <a:prstGeom prst="ellipse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CC0A961-ED35-0E2E-EB6B-6A8961E18660}"/>
              </a:ext>
            </a:extLst>
          </p:cNvPr>
          <p:cNvSpPr/>
          <p:nvPr/>
        </p:nvSpPr>
        <p:spPr>
          <a:xfrm>
            <a:off x="1842633" y="3868314"/>
            <a:ext cx="249136" cy="25478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66C12B-1341-D226-8BB0-4D1B519C5FAB}"/>
              </a:ext>
            </a:extLst>
          </p:cNvPr>
          <p:cNvSpPr txBox="1"/>
          <p:nvPr/>
        </p:nvSpPr>
        <p:spPr>
          <a:xfrm>
            <a:off x="1050565" y="1111172"/>
            <a:ext cx="612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A</a:t>
            </a:r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7EF691A-E569-6B9E-87F3-B745F75089C1}"/>
              </a:ext>
            </a:extLst>
          </p:cNvPr>
          <p:cNvSpPr/>
          <p:nvPr/>
        </p:nvSpPr>
        <p:spPr>
          <a:xfrm>
            <a:off x="2583368" y="1530705"/>
            <a:ext cx="1872197" cy="150308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94BF77F-86D1-FDAC-7D36-80EB491363F6}"/>
              </a:ext>
            </a:extLst>
          </p:cNvPr>
          <p:cNvSpPr/>
          <p:nvPr/>
        </p:nvSpPr>
        <p:spPr>
          <a:xfrm>
            <a:off x="3828668" y="1872966"/>
            <a:ext cx="249890" cy="237137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7587107-C7F7-0B96-B15F-AC1354E64E92}"/>
              </a:ext>
            </a:extLst>
          </p:cNvPr>
          <p:cNvSpPr/>
          <p:nvPr/>
        </p:nvSpPr>
        <p:spPr>
          <a:xfrm>
            <a:off x="3286036" y="1754398"/>
            <a:ext cx="249891" cy="237137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7247559-8922-D536-D39F-073180828727}"/>
              </a:ext>
            </a:extLst>
          </p:cNvPr>
          <p:cNvSpPr/>
          <p:nvPr/>
        </p:nvSpPr>
        <p:spPr>
          <a:xfrm>
            <a:off x="3785557" y="2333795"/>
            <a:ext cx="249890" cy="237137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96985F-2946-4613-2A90-CF1C51248441}"/>
              </a:ext>
            </a:extLst>
          </p:cNvPr>
          <p:cNvSpPr txBox="1"/>
          <p:nvPr/>
        </p:nvSpPr>
        <p:spPr>
          <a:xfrm>
            <a:off x="3604081" y="1111172"/>
            <a:ext cx="612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B</a:t>
            </a:r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0CAEFD4-A4C7-760C-079F-4002C147C19F}"/>
              </a:ext>
            </a:extLst>
          </p:cNvPr>
          <p:cNvSpPr/>
          <p:nvPr/>
        </p:nvSpPr>
        <p:spPr>
          <a:xfrm>
            <a:off x="413717" y="2372305"/>
            <a:ext cx="249890" cy="30742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3D242D5-0DE8-6BF8-E041-A380B12DD80E}"/>
              </a:ext>
            </a:extLst>
          </p:cNvPr>
          <p:cNvSpPr/>
          <p:nvPr/>
        </p:nvSpPr>
        <p:spPr>
          <a:xfrm>
            <a:off x="2934573" y="2217244"/>
            <a:ext cx="249890" cy="30742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5E82E82-A010-3BA6-F259-F96FE03F53E5}"/>
              </a:ext>
            </a:extLst>
          </p:cNvPr>
          <p:cNvSpPr txBox="1"/>
          <p:nvPr/>
        </p:nvSpPr>
        <p:spPr>
          <a:xfrm>
            <a:off x="528881" y="684596"/>
            <a:ext cx="24294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dirty="0"/>
              <a:t>Ta có 2 tập hợp A, B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4DF2D0-1529-3472-AE0A-54A6AB7DB020}"/>
              </a:ext>
            </a:extLst>
          </p:cNvPr>
          <p:cNvSpPr txBox="1"/>
          <p:nvPr/>
        </p:nvSpPr>
        <p:spPr>
          <a:xfrm>
            <a:off x="5934697" y="994621"/>
            <a:ext cx="1160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altLang="en-US" dirty="0"/>
              <a:t>Khi A</a:t>
            </a:r>
            <a:r>
              <a:rPr lang="en-US" altLang="en-US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</a:t>
            </a:r>
            <a:r>
              <a:rPr lang="en-US" altLang="en-US" dirty="0"/>
              <a:t> </a:t>
            </a:r>
            <a:r>
              <a:rPr lang="vi-VN" altLang="en-US" dirty="0"/>
              <a:t>B</a:t>
            </a:r>
            <a:endParaRPr lang="en-US" alt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B25D366-13C5-AD68-F43C-DB1C1C4021BF}"/>
              </a:ext>
            </a:extLst>
          </p:cNvPr>
          <p:cNvSpPr/>
          <p:nvPr/>
        </p:nvSpPr>
        <p:spPr>
          <a:xfrm>
            <a:off x="6508924" y="1858269"/>
            <a:ext cx="249890" cy="30742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BE2B9B6-05AD-9260-2231-E76329F3DF7D}"/>
              </a:ext>
            </a:extLst>
          </p:cNvPr>
          <p:cNvSpPr/>
          <p:nvPr/>
        </p:nvSpPr>
        <p:spPr>
          <a:xfrm>
            <a:off x="5657754" y="1499830"/>
            <a:ext cx="1702340" cy="143482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19AB0D2-BD13-5669-F99D-DF15A8B1D9FA}"/>
              </a:ext>
            </a:extLst>
          </p:cNvPr>
          <p:cNvSpPr txBox="1"/>
          <p:nvPr/>
        </p:nvSpPr>
        <p:spPr>
          <a:xfrm>
            <a:off x="202525" y="3121929"/>
            <a:ext cx="3583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b="1" dirty="0"/>
              <a:t>Biểu diễn bằng đại số quan hệ 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DEB5D0D-F207-F4D8-5FC1-70B46B616EC6}"/>
                  </a:ext>
                </a:extLst>
              </p:cNvPr>
              <p:cNvSpPr txBox="1"/>
              <p:nvPr/>
            </p:nvSpPr>
            <p:spPr>
              <a:xfrm>
                <a:off x="-502049" y="3682842"/>
                <a:ext cx="607599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3150">
                  <a:spcBef>
                    <a:spcPct val="20000"/>
                  </a:spcBef>
                  <a:buClr>
                    <a:srgbClr val="CC0000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en-US" sz="18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en-US" sz="18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altLang="en-US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vi-VN" alt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                                </m:t>
                          </m:r>
                        </m:sub>
                      </m:sSub>
                      <m:r>
                        <a:rPr lang="en-US" altLang="en-US" sz="18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vi-VN" alt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a:rPr lang="en-US" altLang="en-US" sz="18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en-US" sz="1800" dirty="0">
                  <a:latin typeface="+mn-lt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DEB5D0D-F207-F4D8-5FC1-70B46B616E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02049" y="3682842"/>
                <a:ext cx="6075998" cy="369332"/>
              </a:xfrm>
              <a:prstGeom prst="rect">
                <a:avLst/>
              </a:prstGeom>
              <a:blipFill>
                <a:blip r:embed="rId2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Oval 24">
            <a:extLst>
              <a:ext uri="{FF2B5EF4-FFF2-40B4-BE49-F238E27FC236}">
                <a16:creationId xmlns:a16="http://schemas.microsoft.com/office/drawing/2014/main" id="{E688094B-C6C3-278D-3FF5-E61FD377A548}"/>
              </a:ext>
            </a:extLst>
          </p:cNvPr>
          <p:cNvSpPr/>
          <p:nvPr/>
        </p:nvSpPr>
        <p:spPr>
          <a:xfrm>
            <a:off x="1430156" y="3884341"/>
            <a:ext cx="249137" cy="254783"/>
          </a:xfrm>
          <a:prstGeom prst="ellipse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F4125B0-2BA8-433B-25FE-0ECFB38AE0B7}"/>
              </a:ext>
            </a:extLst>
          </p:cNvPr>
          <p:cNvSpPr/>
          <p:nvPr/>
        </p:nvSpPr>
        <p:spPr>
          <a:xfrm>
            <a:off x="2143706" y="4599747"/>
            <a:ext cx="249136" cy="254783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B1CF27A-BF8A-6CAF-D339-D7CA39A90A09}"/>
              </a:ext>
            </a:extLst>
          </p:cNvPr>
          <p:cNvSpPr/>
          <p:nvPr/>
        </p:nvSpPr>
        <p:spPr>
          <a:xfrm>
            <a:off x="1774479" y="4593476"/>
            <a:ext cx="249136" cy="25478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8546A9B-83D6-0BCA-C0BF-2B882A920308}"/>
                  </a:ext>
                </a:extLst>
              </p:cNvPr>
              <p:cNvSpPr txBox="1"/>
              <p:nvPr/>
            </p:nvSpPr>
            <p:spPr>
              <a:xfrm>
                <a:off x="-437805" y="4408004"/>
                <a:ext cx="397373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3150">
                  <a:spcBef>
                    <a:spcPct val="20000"/>
                  </a:spcBef>
                  <a:buClr>
                    <a:srgbClr val="CC0000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vi-VN" alt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</m:t>
                      </m:r>
                      <m:r>
                        <a:rPr lang="en-US" altLang="en-US" sz="18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altLang="en-US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vi-VN" alt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                                </m:t>
                          </m:r>
                        </m:sub>
                      </m:sSub>
                      <m:r>
                        <a:rPr lang="en-US" altLang="en-US" sz="18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vi-VN" alt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B</m:t>
                      </m:r>
                      <m:r>
                        <a:rPr lang="en-US" altLang="en-US" sz="18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en-US" sz="1800" dirty="0">
                  <a:latin typeface="+mn-lt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8546A9B-83D6-0BCA-C0BF-2B882A9203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37805" y="4408004"/>
                <a:ext cx="3973732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Oval 28">
            <a:extLst>
              <a:ext uri="{FF2B5EF4-FFF2-40B4-BE49-F238E27FC236}">
                <a16:creationId xmlns:a16="http://schemas.microsoft.com/office/drawing/2014/main" id="{8DDC8CDA-A7A3-5D02-55FB-888F679FD4EA}"/>
              </a:ext>
            </a:extLst>
          </p:cNvPr>
          <p:cNvSpPr/>
          <p:nvPr/>
        </p:nvSpPr>
        <p:spPr>
          <a:xfrm>
            <a:off x="1362002" y="4609503"/>
            <a:ext cx="249137" cy="254783"/>
          </a:xfrm>
          <a:prstGeom prst="ellipse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22B3710-4B10-4123-292E-782F6C77D545}"/>
                  </a:ext>
                </a:extLst>
              </p:cNvPr>
              <p:cNvSpPr txBox="1"/>
              <p:nvPr/>
            </p:nvSpPr>
            <p:spPr>
              <a:xfrm>
                <a:off x="-103546" y="5189930"/>
                <a:ext cx="249638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3150">
                  <a:spcBef>
                    <a:spcPct val="20000"/>
                  </a:spcBef>
                  <a:buClr>
                    <a:srgbClr val="CC0000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en-US" sz="1800" b="0" i="1" smtClean="0">
                          <a:latin typeface="Cambria Math" panose="02040503050406030204" pitchFamily="18" charset="0"/>
                        </a:rPr>
                        <m:t>𝐾𝑄</m:t>
                      </m:r>
                      <m:r>
                        <a:rPr lang="en-US" altLang="en-US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altLang="en-US" sz="18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n-US" altLang="en-US" sz="18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∩</m:t>
                      </m:r>
                      <m:r>
                        <a:rPr lang="en-US" altLang="en-US" sz="18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en-US" altLang="en-US" sz="1800" dirty="0">
                  <a:latin typeface="+mn-lt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22B3710-4B10-4123-292E-782F6C77D5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3546" y="5189930"/>
                <a:ext cx="2496388" cy="369332"/>
              </a:xfrm>
              <a:prstGeom prst="rect">
                <a:avLst/>
              </a:prstGeom>
              <a:blipFill>
                <a:blip r:embed="rId4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8DB7B03-673B-D51E-FC44-02CFCAAC468E}"/>
              </a:ext>
            </a:extLst>
          </p:cNvPr>
          <p:cNvCxnSpPr/>
          <p:nvPr/>
        </p:nvCxnSpPr>
        <p:spPr>
          <a:xfrm>
            <a:off x="4078558" y="3210128"/>
            <a:ext cx="0" cy="32879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D7966539-DB67-C4F2-F341-451E1D8B1894}"/>
              </a:ext>
            </a:extLst>
          </p:cNvPr>
          <p:cNvSpPr txBox="1"/>
          <p:nvPr/>
        </p:nvSpPr>
        <p:spPr>
          <a:xfrm>
            <a:off x="4575488" y="3115780"/>
            <a:ext cx="2377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b="1" dirty="0"/>
              <a:t>Biễu diễn bằng SQL</a:t>
            </a:r>
            <a:endParaRPr lang="en-US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0A0F678-1D05-94E1-9F53-10659898DF2E}"/>
              </a:ext>
            </a:extLst>
          </p:cNvPr>
          <p:cNvSpPr txBox="1"/>
          <p:nvPr/>
        </p:nvSpPr>
        <p:spPr>
          <a:xfrm>
            <a:off x="4368297" y="3647930"/>
            <a:ext cx="604845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dirty="0">
                <a:latin typeface="Tahoma" panose="020B0604030504040204" pitchFamily="34" charset="0"/>
              </a:rPr>
              <a:t>SELECT &lt;ds </a:t>
            </a:r>
            <a:r>
              <a:rPr lang="en-US" altLang="en-US" sz="1800" dirty="0" err="1">
                <a:latin typeface="Tahoma" panose="020B0604030504040204" pitchFamily="34" charset="0"/>
              </a:rPr>
              <a:t>cột</a:t>
            </a:r>
            <a:r>
              <a:rPr lang="en-US" altLang="en-US" sz="1800" dirty="0">
                <a:latin typeface="Tahoma" panose="020B0604030504040204" pitchFamily="34" charset="0"/>
              </a:rPr>
              <a:t>&gt; FROM &lt;ds </a:t>
            </a:r>
            <a:r>
              <a:rPr lang="en-US" altLang="en-US" sz="1800" dirty="0" err="1">
                <a:latin typeface="Tahoma" panose="020B0604030504040204" pitchFamily="34" charset="0"/>
              </a:rPr>
              <a:t>bảng</a:t>
            </a:r>
            <a:r>
              <a:rPr lang="en-US" altLang="en-US" sz="1800" dirty="0">
                <a:latin typeface="Tahoma" panose="020B0604030504040204" pitchFamily="34" charset="0"/>
              </a:rPr>
              <a:t>&gt; WHERE &lt;</a:t>
            </a:r>
            <a:r>
              <a:rPr lang="en-US" altLang="en-US" sz="1800" dirty="0" err="1">
                <a:latin typeface="Tahoma" panose="020B0604030504040204" pitchFamily="34" charset="0"/>
              </a:rPr>
              <a:t>điều</a:t>
            </a:r>
            <a:r>
              <a:rPr lang="en-US" altLang="en-US" sz="1800" dirty="0">
                <a:latin typeface="Tahoma" panose="020B0604030504040204" pitchFamily="34" charset="0"/>
              </a:rPr>
              <a:t> </a:t>
            </a:r>
            <a:r>
              <a:rPr lang="en-US" altLang="en-US" sz="1800" dirty="0" err="1">
                <a:latin typeface="Tahoma" panose="020B0604030504040204" pitchFamily="34" charset="0"/>
              </a:rPr>
              <a:t>kiện</a:t>
            </a:r>
            <a:r>
              <a:rPr lang="en-US" altLang="en-US" sz="1800" dirty="0">
                <a:latin typeface="Tahoma" panose="020B0604030504040204" pitchFamily="34" charset="0"/>
              </a:rPr>
              <a:t>&gt;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b="1" dirty="0">
                <a:latin typeface="Tahoma" panose="020B0604030504040204" pitchFamily="34" charset="0"/>
              </a:rPr>
              <a:t>INTERSECT [ALL]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dirty="0">
                <a:latin typeface="Tahoma" panose="020B0604030504040204" pitchFamily="34" charset="0"/>
              </a:rPr>
              <a:t>SELECT &lt;ds </a:t>
            </a:r>
            <a:r>
              <a:rPr lang="en-US" altLang="en-US" sz="1800" dirty="0" err="1">
                <a:latin typeface="Tahoma" panose="020B0604030504040204" pitchFamily="34" charset="0"/>
              </a:rPr>
              <a:t>cột</a:t>
            </a:r>
            <a:r>
              <a:rPr lang="en-US" altLang="en-US" sz="1800" dirty="0">
                <a:latin typeface="Tahoma" panose="020B0604030504040204" pitchFamily="34" charset="0"/>
              </a:rPr>
              <a:t>&gt; FROM &lt;ds </a:t>
            </a:r>
            <a:r>
              <a:rPr lang="en-US" altLang="en-US" sz="1800" dirty="0" err="1">
                <a:latin typeface="Tahoma" panose="020B0604030504040204" pitchFamily="34" charset="0"/>
              </a:rPr>
              <a:t>bảng</a:t>
            </a:r>
            <a:r>
              <a:rPr lang="en-US" altLang="en-US" sz="1800" dirty="0">
                <a:latin typeface="Tahoma" panose="020B0604030504040204" pitchFamily="34" charset="0"/>
              </a:rPr>
              <a:t>&gt; WHERE &lt;</a:t>
            </a:r>
            <a:r>
              <a:rPr lang="en-US" altLang="en-US" sz="1800" dirty="0" err="1">
                <a:latin typeface="Tahoma" panose="020B0604030504040204" pitchFamily="34" charset="0"/>
              </a:rPr>
              <a:t>điều</a:t>
            </a:r>
            <a:r>
              <a:rPr lang="en-US" altLang="en-US" sz="1800" dirty="0">
                <a:latin typeface="Tahoma" panose="020B0604030504040204" pitchFamily="34" charset="0"/>
              </a:rPr>
              <a:t> </a:t>
            </a:r>
            <a:r>
              <a:rPr lang="en-US" altLang="en-US" sz="1800" dirty="0" err="1">
                <a:latin typeface="Tahoma" panose="020B0604030504040204" pitchFamily="34" charset="0"/>
              </a:rPr>
              <a:t>kiện</a:t>
            </a:r>
            <a:r>
              <a:rPr lang="en-US" altLang="en-US" sz="1800" dirty="0">
                <a:latin typeface="Tahoma" panose="020B0604030504040204" pitchFamily="34" charset="0"/>
              </a:rPr>
              <a:t>&gt;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B9774E44-D1F9-6022-9641-870E26D14B2F}"/>
              </a:ext>
            </a:extLst>
          </p:cNvPr>
          <p:cNvSpPr/>
          <p:nvPr/>
        </p:nvSpPr>
        <p:spPr>
          <a:xfrm>
            <a:off x="1124566" y="2401910"/>
            <a:ext cx="305590" cy="30742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FE88371-DC47-C5F9-09D4-D5E4A2D291FC}"/>
              </a:ext>
            </a:extLst>
          </p:cNvPr>
          <p:cNvSpPr/>
          <p:nvPr/>
        </p:nvSpPr>
        <p:spPr>
          <a:xfrm>
            <a:off x="1257561" y="1933669"/>
            <a:ext cx="247236" cy="285193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7853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E032E-7693-55D9-2E55-8D6236A90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6A8210A-30FE-3106-08E6-C5631C504AD4}"/>
              </a:ext>
            </a:extLst>
          </p:cNvPr>
          <p:cNvSpPr txBox="1"/>
          <p:nvPr/>
        </p:nvSpPr>
        <p:spPr>
          <a:xfrm>
            <a:off x="817123" y="447472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b="1" dirty="0"/>
              <a:t>Ví dụ demo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120295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3776325-1434-6135-C762-895BEBAE62F2}"/>
              </a:ext>
            </a:extLst>
          </p:cNvPr>
          <p:cNvSpPr txBox="1"/>
          <p:nvPr/>
        </p:nvSpPr>
        <p:spPr>
          <a:xfrm>
            <a:off x="321013" y="389106"/>
            <a:ext cx="2243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b="1" dirty="0"/>
              <a:t>THUẬT TOÁN TRỪ</a:t>
            </a:r>
            <a:endParaRPr lang="en-US" b="1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D184C81-FC5C-0E78-2C4C-F8CA831F02AE}"/>
              </a:ext>
            </a:extLst>
          </p:cNvPr>
          <p:cNvSpPr/>
          <p:nvPr/>
        </p:nvSpPr>
        <p:spPr>
          <a:xfrm>
            <a:off x="1133908" y="1678139"/>
            <a:ext cx="1872197" cy="150308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1F30AC6-679E-21F3-8E7A-033CB43D0C81}"/>
              </a:ext>
            </a:extLst>
          </p:cNvPr>
          <p:cNvSpPr/>
          <p:nvPr/>
        </p:nvSpPr>
        <p:spPr>
          <a:xfrm>
            <a:off x="1840177" y="1988962"/>
            <a:ext cx="249891" cy="237137"/>
          </a:xfrm>
          <a:prstGeom prst="ellipse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4D53E6-B4EA-0882-F45E-C878FD8B6322}"/>
              </a:ext>
            </a:extLst>
          </p:cNvPr>
          <p:cNvSpPr txBox="1"/>
          <p:nvPr/>
        </p:nvSpPr>
        <p:spPr>
          <a:xfrm>
            <a:off x="2158222" y="1296620"/>
            <a:ext cx="612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A</a:t>
            </a:r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61EBFF7-5D78-8CC9-8788-8AA31EFCA214}"/>
              </a:ext>
            </a:extLst>
          </p:cNvPr>
          <p:cNvSpPr/>
          <p:nvPr/>
        </p:nvSpPr>
        <p:spPr>
          <a:xfrm>
            <a:off x="3254554" y="1716153"/>
            <a:ext cx="1872197" cy="150308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DD2DB40-EA33-1B3A-E198-A7B82409F5B7}"/>
              </a:ext>
            </a:extLst>
          </p:cNvPr>
          <p:cNvSpPr/>
          <p:nvPr/>
        </p:nvSpPr>
        <p:spPr>
          <a:xfrm>
            <a:off x="4499854" y="2058414"/>
            <a:ext cx="249890" cy="237137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C4611F1-BBEA-A6B7-6E8E-B4B2A6060AB2}"/>
              </a:ext>
            </a:extLst>
          </p:cNvPr>
          <p:cNvSpPr/>
          <p:nvPr/>
        </p:nvSpPr>
        <p:spPr>
          <a:xfrm>
            <a:off x="3957222" y="1939846"/>
            <a:ext cx="249891" cy="237137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4E0F913-6B1B-FEA5-8FA4-D008F4E1DB89}"/>
              </a:ext>
            </a:extLst>
          </p:cNvPr>
          <p:cNvSpPr/>
          <p:nvPr/>
        </p:nvSpPr>
        <p:spPr>
          <a:xfrm>
            <a:off x="4456743" y="2519243"/>
            <a:ext cx="249890" cy="237137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DFF2B7-CB20-3C78-F33B-C5C1C21BCCDA}"/>
              </a:ext>
            </a:extLst>
          </p:cNvPr>
          <p:cNvSpPr txBox="1"/>
          <p:nvPr/>
        </p:nvSpPr>
        <p:spPr>
          <a:xfrm>
            <a:off x="4207113" y="1296620"/>
            <a:ext cx="612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B</a:t>
            </a:r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FAF398E-9DC5-51F8-EFD1-91A843D621E1}"/>
              </a:ext>
            </a:extLst>
          </p:cNvPr>
          <p:cNvSpPr/>
          <p:nvPr/>
        </p:nvSpPr>
        <p:spPr>
          <a:xfrm>
            <a:off x="1521374" y="2557753"/>
            <a:ext cx="249890" cy="30742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4A35188-0D44-8836-1D57-80A26C5A287D}"/>
              </a:ext>
            </a:extLst>
          </p:cNvPr>
          <p:cNvSpPr/>
          <p:nvPr/>
        </p:nvSpPr>
        <p:spPr>
          <a:xfrm>
            <a:off x="3605759" y="2402692"/>
            <a:ext cx="249890" cy="30742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8D7065B-8500-F7A2-1987-804D11671331}"/>
              </a:ext>
            </a:extLst>
          </p:cNvPr>
          <p:cNvSpPr/>
          <p:nvPr/>
        </p:nvSpPr>
        <p:spPr>
          <a:xfrm>
            <a:off x="2232223" y="2587358"/>
            <a:ext cx="305590" cy="30742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6062C71-5684-7CE6-15F9-517031374923}"/>
              </a:ext>
            </a:extLst>
          </p:cNvPr>
          <p:cNvSpPr/>
          <p:nvPr/>
        </p:nvSpPr>
        <p:spPr>
          <a:xfrm>
            <a:off x="2365218" y="2119117"/>
            <a:ext cx="247236" cy="285193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183A4C-C6A3-3015-CB52-6C56DFDB674B}"/>
              </a:ext>
            </a:extLst>
          </p:cNvPr>
          <p:cNvSpPr txBox="1"/>
          <p:nvPr/>
        </p:nvSpPr>
        <p:spPr>
          <a:xfrm>
            <a:off x="2029719" y="927288"/>
            <a:ext cx="2271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/>
              <a:t>Ta có 2 tập hợp A, B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7288ABD-BE47-FEC4-0CB2-A7055E9F2256}"/>
              </a:ext>
            </a:extLst>
          </p:cNvPr>
          <p:cNvSpPr txBox="1"/>
          <p:nvPr/>
        </p:nvSpPr>
        <p:spPr>
          <a:xfrm>
            <a:off x="7132315" y="783516"/>
            <a:ext cx="2249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/>
              <a:t>Khi A – B (hay A / B)</a:t>
            </a:r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94D1A30-CF00-72FC-8FA1-6870965846BF}"/>
              </a:ext>
            </a:extLst>
          </p:cNvPr>
          <p:cNvSpPr/>
          <p:nvPr/>
        </p:nvSpPr>
        <p:spPr>
          <a:xfrm>
            <a:off x="7189051" y="1383421"/>
            <a:ext cx="2136117" cy="178591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9B08010-DBFB-0106-5235-C020939ECA95}"/>
              </a:ext>
            </a:extLst>
          </p:cNvPr>
          <p:cNvSpPr/>
          <p:nvPr/>
        </p:nvSpPr>
        <p:spPr>
          <a:xfrm>
            <a:off x="8249067" y="1852438"/>
            <a:ext cx="272374" cy="24482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13B27B1-0655-A4F3-5A6A-36124BC921EC}"/>
              </a:ext>
            </a:extLst>
          </p:cNvPr>
          <p:cNvSpPr/>
          <p:nvPr/>
        </p:nvSpPr>
        <p:spPr>
          <a:xfrm>
            <a:off x="7921941" y="2429680"/>
            <a:ext cx="272374" cy="24482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93D76DF-FE62-F318-47C9-6D130BE8EE79}"/>
              </a:ext>
            </a:extLst>
          </p:cNvPr>
          <p:cNvSpPr/>
          <p:nvPr/>
        </p:nvSpPr>
        <p:spPr>
          <a:xfrm>
            <a:off x="8759336" y="2429680"/>
            <a:ext cx="272374" cy="244827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085370F-C449-5395-3F83-73E45A957849}"/>
              </a:ext>
            </a:extLst>
          </p:cNvPr>
          <p:cNvSpPr txBox="1"/>
          <p:nvPr/>
        </p:nvSpPr>
        <p:spPr>
          <a:xfrm>
            <a:off x="5126751" y="4024044"/>
            <a:ext cx="604845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dirty="0">
                <a:latin typeface="Tahoma" panose="020B0604030504040204" pitchFamily="34" charset="0"/>
              </a:rPr>
              <a:t>SELECT &lt;ds </a:t>
            </a:r>
            <a:r>
              <a:rPr lang="en-US" altLang="en-US" sz="1800" dirty="0" err="1">
                <a:latin typeface="Tahoma" panose="020B0604030504040204" pitchFamily="34" charset="0"/>
              </a:rPr>
              <a:t>cột</a:t>
            </a:r>
            <a:r>
              <a:rPr lang="en-US" altLang="en-US" sz="1800" dirty="0">
                <a:latin typeface="Tahoma" panose="020B0604030504040204" pitchFamily="34" charset="0"/>
              </a:rPr>
              <a:t>&gt; FROM &lt;ds </a:t>
            </a:r>
            <a:r>
              <a:rPr lang="en-US" altLang="en-US" sz="1800" dirty="0" err="1">
                <a:latin typeface="Tahoma" panose="020B0604030504040204" pitchFamily="34" charset="0"/>
              </a:rPr>
              <a:t>bảng</a:t>
            </a:r>
            <a:r>
              <a:rPr lang="en-US" altLang="en-US" sz="1800" dirty="0">
                <a:latin typeface="Tahoma" panose="020B0604030504040204" pitchFamily="34" charset="0"/>
              </a:rPr>
              <a:t>&gt; WHERE &lt;</a:t>
            </a:r>
            <a:r>
              <a:rPr lang="en-US" altLang="en-US" sz="1800" dirty="0" err="1">
                <a:latin typeface="Tahoma" panose="020B0604030504040204" pitchFamily="34" charset="0"/>
              </a:rPr>
              <a:t>điều</a:t>
            </a:r>
            <a:r>
              <a:rPr lang="en-US" altLang="en-US" sz="1800" dirty="0">
                <a:latin typeface="Tahoma" panose="020B0604030504040204" pitchFamily="34" charset="0"/>
              </a:rPr>
              <a:t> </a:t>
            </a:r>
            <a:r>
              <a:rPr lang="en-US" altLang="en-US" sz="1800" dirty="0" err="1">
                <a:latin typeface="Tahoma" panose="020B0604030504040204" pitchFamily="34" charset="0"/>
              </a:rPr>
              <a:t>kiện</a:t>
            </a:r>
            <a:r>
              <a:rPr lang="en-US" altLang="en-US" sz="1800" dirty="0">
                <a:latin typeface="Tahoma" panose="020B0604030504040204" pitchFamily="34" charset="0"/>
              </a:rPr>
              <a:t>&gt;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b="1" dirty="0">
                <a:latin typeface="Tahoma" panose="020B0604030504040204" pitchFamily="34" charset="0"/>
              </a:rPr>
              <a:t>EXCEPT [ALL]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dirty="0">
                <a:latin typeface="Tahoma" panose="020B0604030504040204" pitchFamily="34" charset="0"/>
              </a:rPr>
              <a:t>SELECT &lt;ds </a:t>
            </a:r>
            <a:r>
              <a:rPr lang="en-US" altLang="en-US" sz="1800" dirty="0" err="1">
                <a:latin typeface="Tahoma" panose="020B0604030504040204" pitchFamily="34" charset="0"/>
              </a:rPr>
              <a:t>cột</a:t>
            </a:r>
            <a:r>
              <a:rPr lang="en-US" altLang="en-US" sz="1800" dirty="0">
                <a:latin typeface="Tahoma" panose="020B0604030504040204" pitchFamily="34" charset="0"/>
              </a:rPr>
              <a:t>&gt; FROM &lt;ds </a:t>
            </a:r>
            <a:r>
              <a:rPr lang="en-US" altLang="en-US" sz="1800" dirty="0" err="1">
                <a:latin typeface="Tahoma" panose="020B0604030504040204" pitchFamily="34" charset="0"/>
              </a:rPr>
              <a:t>bảng</a:t>
            </a:r>
            <a:r>
              <a:rPr lang="en-US" altLang="en-US" sz="1800" dirty="0">
                <a:latin typeface="Tahoma" panose="020B0604030504040204" pitchFamily="34" charset="0"/>
              </a:rPr>
              <a:t>&gt; WHERE &lt;</a:t>
            </a:r>
            <a:r>
              <a:rPr lang="en-US" altLang="en-US" sz="1800" dirty="0" err="1">
                <a:latin typeface="Tahoma" panose="020B0604030504040204" pitchFamily="34" charset="0"/>
              </a:rPr>
              <a:t>điều</a:t>
            </a:r>
            <a:r>
              <a:rPr lang="en-US" altLang="en-US" sz="1800" dirty="0">
                <a:latin typeface="Tahoma" panose="020B0604030504040204" pitchFamily="34" charset="0"/>
              </a:rPr>
              <a:t> </a:t>
            </a:r>
            <a:r>
              <a:rPr lang="en-US" altLang="en-US" sz="1800" dirty="0" err="1">
                <a:latin typeface="Tahoma" panose="020B0604030504040204" pitchFamily="34" charset="0"/>
              </a:rPr>
              <a:t>kiện</a:t>
            </a:r>
            <a:r>
              <a:rPr lang="en-US" altLang="en-US" sz="1800" dirty="0">
                <a:latin typeface="Tahoma" panose="020B0604030504040204" pitchFamily="34" charset="0"/>
              </a:rPr>
              <a:t>&gt;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A9FF7BD-7AAF-A488-6448-7B86B4A666B2}"/>
              </a:ext>
            </a:extLst>
          </p:cNvPr>
          <p:cNvSpPr txBox="1"/>
          <p:nvPr/>
        </p:nvSpPr>
        <p:spPr>
          <a:xfrm>
            <a:off x="5361028" y="3503997"/>
            <a:ext cx="2377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b="1" dirty="0"/>
              <a:t>Biểu diễn bằng SQL</a:t>
            </a:r>
            <a:endParaRPr lang="en-US" b="1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75E5ABC-53AB-F54E-C164-7CADA29A40F3}"/>
              </a:ext>
            </a:extLst>
          </p:cNvPr>
          <p:cNvCxnSpPr/>
          <p:nvPr/>
        </p:nvCxnSpPr>
        <p:spPr>
          <a:xfrm>
            <a:off x="5019472" y="3336587"/>
            <a:ext cx="0" cy="329767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8BD6A7C-7EF4-2B20-505C-D3A2497021CA}"/>
              </a:ext>
            </a:extLst>
          </p:cNvPr>
          <p:cNvSpPr txBox="1"/>
          <p:nvPr/>
        </p:nvSpPr>
        <p:spPr>
          <a:xfrm>
            <a:off x="247256" y="3522112"/>
            <a:ext cx="3685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b="1" dirty="0"/>
              <a:t>Biểu Diễn Bằng Đại Số Quan Hệ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557BCDC-BF3D-3C76-B96E-7C7CC61938E6}"/>
                  </a:ext>
                </a:extLst>
              </p:cNvPr>
              <p:cNvSpPr txBox="1"/>
              <p:nvPr/>
            </p:nvSpPr>
            <p:spPr>
              <a:xfrm>
                <a:off x="256414" y="4156205"/>
                <a:ext cx="252991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b="0" i="1" dirty="0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en-US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altLang="en-US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vi-VN" alt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    </m:t>
                          </m:r>
                        </m:sub>
                      </m:sSub>
                      <m:d>
                        <m:dPr>
                          <m:ctrlPr>
                            <a:rPr lang="en-US" altLang="en-US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vi-VN" alt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557BCDC-BF3D-3C76-B96E-7C7CC61938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414" y="4156205"/>
                <a:ext cx="2529919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Oval 34">
            <a:extLst>
              <a:ext uri="{FF2B5EF4-FFF2-40B4-BE49-F238E27FC236}">
                <a16:creationId xmlns:a16="http://schemas.microsoft.com/office/drawing/2014/main" id="{744920CD-A18A-3BAE-E5D8-30389CFF327D}"/>
              </a:ext>
            </a:extLst>
          </p:cNvPr>
          <p:cNvSpPr/>
          <p:nvPr/>
        </p:nvSpPr>
        <p:spPr>
          <a:xfrm>
            <a:off x="1521373" y="4406968"/>
            <a:ext cx="249891" cy="237137"/>
          </a:xfrm>
          <a:prstGeom prst="ellipse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9EAA8FE-952F-B299-EF2F-F27E2807FA65}"/>
                  </a:ext>
                </a:extLst>
              </p:cNvPr>
              <p:cNvSpPr txBox="1"/>
              <p:nvPr/>
            </p:nvSpPr>
            <p:spPr>
              <a:xfrm>
                <a:off x="256414" y="4806880"/>
                <a:ext cx="245005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b="0" i="1" dirty="0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en-US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altLang="en-US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vi-VN" alt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    </m:t>
                          </m:r>
                        </m:sub>
                      </m:sSub>
                      <m:d>
                        <m:dPr>
                          <m:ctrlPr>
                            <a:rPr lang="en-US" altLang="en-US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vi-VN" alt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9EAA8FE-952F-B299-EF2F-F27E2807FA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414" y="4806880"/>
                <a:ext cx="2450052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Oval 37">
            <a:extLst>
              <a:ext uri="{FF2B5EF4-FFF2-40B4-BE49-F238E27FC236}">
                <a16:creationId xmlns:a16="http://schemas.microsoft.com/office/drawing/2014/main" id="{1AE22368-AF99-EEE9-2847-DF89CDA0DA6B}"/>
              </a:ext>
            </a:extLst>
          </p:cNvPr>
          <p:cNvSpPr/>
          <p:nvPr/>
        </p:nvSpPr>
        <p:spPr>
          <a:xfrm>
            <a:off x="1481440" y="5077901"/>
            <a:ext cx="249890" cy="237137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B87EB60-79AA-0945-4998-6C4594B0978B}"/>
                  </a:ext>
                </a:extLst>
              </p:cNvPr>
              <p:cNvSpPr txBox="1"/>
              <p:nvPr/>
            </p:nvSpPr>
            <p:spPr>
              <a:xfrm>
                <a:off x="826851" y="5496128"/>
                <a:ext cx="14401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b="0" i="1" dirty="0" smtClean="0">
                          <a:latin typeface="Cambria Math" panose="02040503050406030204" pitchFamily="18" charset="0"/>
                        </a:rPr>
                        <m:t>𝐾𝑄</m:t>
                      </m:r>
                      <m:r>
                        <a:rPr lang="en-US" alt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altLang="en-US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n-US" altLang="en-US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en-US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en-US" altLang="en-US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B87EB60-79AA-0945-4998-6C4594B097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851" y="5496128"/>
                <a:ext cx="1440138" cy="369332"/>
              </a:xfrm>
              <a:prstGeom prst="rect">
                <a:avLst/>
              </a:prstGeom>
              <a:blipFill>
                <a:blip r:embed="rId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97217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108FE-2DE0-445A-C03A-C64E02AC4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DFF0A5-B4D8-BCC8-99DB-6F6E522431FF}"/>
              </a:ext>
            </a:extLst>
          </p:cNvPr>
          <p:cNvSpPr txBox="1"/>
          <p:nvPr/>
        </p:nvSpPr>
        <p:spPr>
          <a:xfrm>
            <a:off x="817123" y="447472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b="1" dirty="0"/>
              <a:t>Ví dụ demo</a:t>
            </a:r>
            <a:endParaRPr lang="en-US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FA2417-FEC3-AD06-D272-6E15995815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9413" y="1310851"/>
            <a:ext cx="3305636" cy="16671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667D290-8B84-EC01-9D2C-0F5F5E9B15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474" y="1458510"/>
            <a:ext cx="4096322" cy="13717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818E4B7-3002-1A5E-5F95-39282DEA14AA}"/>
              </a:ext>
            </a:extLst>
          </p:cNvPr>
          <p:cNvSpPr txBox="1"/>
          <p:nvPr/>
        </p:nvSpPr>
        <p:spPr>
          <a:xfrm>
            <a:off x="1439695" y="1089178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/>
              <a:t>Customer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BE853F-03C3-D6B8-6D26-653AB6B0C0D6}"/>
              </a:ext>
            </a:extLst>
          </p:cNvPr>
          <p:cNvSpPr txBox="1"/>
          <p:nvPr/>
        </p:nvSpPr>
        <p:spPr>
          <a:xfrm>
            <a:off x="6400800" y="972606"/>
            <a:ext cx="1640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CustomerOrder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30613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4DC53C-A086-3095-BF9D-2CE3C42B8F21}"/>
              </a:ext>
            </a:extLst>
          </p:cNvPr>
          <p:cNvSpPr txBox="1"/>
          <p:nvPr/>
        </p:nvSpPr>
        <p:spPr>
          <a:xfrm>
            <a:off x="145915" y="272374"/>
            <a:ext cx="2159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/>
              <a:t>THUẬT TOÁN KẾT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F14A055-43F8-94A8-1040-8259D2E004F8}"/>
              </a:ext>
            </a:extLst>
          </p:cNvPr>
          <p:cNvCxnSpPr>
            <a:cxnSpLocks/>
          </p:cNvCxnSpPr>
          <p:nvPr/>
        </p:nvCxnSpPr>
        <p:spPr>
          <a:xfrm>
            <a:off x="4902740" y="2952505"/>
            <a:ext cx="0" cy="383740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B456BEE-AC93-8C54-5802-37FEF0F58FD9}"/>
              </a:ext>
            </a:extLst>
          </p:cNvPr>
          <p:cNvSpPr txBox="1"/>
          <p:nvPr/>
        </p:nvSpPr>
        <p:spPr>
          <a:xfrm>
            <a:off x="5953328" y="2767839"/>
            <a:ext cx="2249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/>
              <a:t>Biểu diễn bằng SQL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780230-C409-413B-75C7-96C5556DCC0D}"/>
              </a:ext>
            </a:extLst>
          </p:cNvPr>
          <p:cNvSpPr txBox="1"/>
          <p:nvPr/>
        </p:nvSpPr>
        <p:spPr>
          <a:xfrm>
            <a:off x="5505855" y="3599235"/>
            <a:ext cx="509626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b="1" dirty="0">
                <a:latin typeface="Tahoma" panose="020B0604030504040204" pitchFamily="34" charset="0"/>
              </a:rPr>
              <a:t>SELECT</a:t>
            </a:r>
            <a:r>
              <a:rPr lang="en-US" altLang="en-US" sz="1800" dirty="0">
                <a:latin typeface="Tahoma" panose="020B0604030504040204" pitchFamily="34" charset="0"/>
              </a:rPr>
              <a:t> &lt;</a:t>
            </a:r>
            <a:r>
              <a:rPr lang="en-US" altLang="en-US" sz="1800" dirty="0" err="1">
                <a:latin typeface="Tahoma" panose="020B0604030504040204" pitchFamily="34" charset="0"/>
              </a:rPr>
              <a:t>danh</a:t>
            </a:r>
            <a:r>
              <a:rPr lang="en-US" altLang="en-US" sz="1800" dirty="0">
                <a:latin typeface="Tahoma" panose="020B0604030504040204" pitchFamily="34" charset="0"/>
              </a:rPr>
              <a:t> </a:t>
            </a:r>
            <a:r>
              <a:rPr lang="en-US" altLang="en-US" sz="1800" dirty="0" err="1">
                <a:latin typeface="Tahoma" panose="020B0604030504040204" pitchFamily="34" charset="0"/>
              </a:rPr>
              <a:t>sách</a:t>
            </a:r>
            <a:r>
              <a:rPr lang="en-US" altLang="en-US" sz="1800" dirty="0">
                <a:latin typeface="Tahoma" panose="020B0604030504040204" pitchFamily="34" charset="0"/>
              </a:rPr>
              <a:t> </a:t>
            </a:r>
            <a:r>
              <a:rPr lang="en-US" altLang="en-US" sz="1800" dirty="0" err="1">
                <a:latin typeface="Tahoma" panose="020B0604030504040204" pitchFamily="34" charset="0"/>
              </a:rPr>
              <a:t>các</a:t>
            </a:r>
            <a:r>
              <a:rPr lang="en-US" altLang="en-US" sz="1800" dirty="0">
                <a:latin typeface="Tahoma" panose="020B0604030504040204" pitchFamily="34" charset="0"/>
              </a:rPr>
              <a:t> </a:t>
            </a:r>
            <a:r>
              <a:rPr lang="en-US" altLang="en-US" sz="1800" dirty="0" err="1">
                <a:latin typeface="Tahoma" panose="020B0604030504040204" pitchFamily="34" charset="0"/>
              </a:rPr>
              <a:t>cột</a:t>
            </a:r>
            <a:r>
              <a:rPr lang="en-US" altLang="en-US" sz="1800" dirty="0">
                <a:latin typeface="Tahoma" panose="020B0604030504040204" pitchFamily="34" charset="0"/>
              </a:rPr>
              <a:t>&gt;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b="1" dirty="0">
                <a:latin typeface="Tahoma" panose="020B0604030504040204" pitchFamily="34" charset="0"/>
              </a:rPr>
              <a:t>FROM</a:t>
            </a:r>
            <a:r>
              <a:rPr lang="en-US" altLang="en-US" sz="1800" dirty="0">
                <a:latin typeface="Tahoma" panose="020B0604030504040204" pitchFamily="34" charset="0"/>
              </a:rPr>
              <a:t> R1 [</a:t>
            </a:r>
            <a:r>
              <a:rPr lang="en-US" altLang="en-US" sz="1800" b="1" dirty="0">
                <a:latin typeface="Tahoma" panose="020B0604030504040204" pitchFamily="34" charset="0"/>
              </a:rPr>
              <a:t>INNER</a:t>
            </a:r>
            <a:r>
              <a:rPr lang="en-US" altLang="en-US" sz="1800" dirty="0">
                <a:latin typeface="Tahoma" panose="020B0604030504040204" pitchFamily="34" charset="0"/>
              </a:rPr>
              <a:t>]</a:t>
            </a:r>
            <a:r>
              <a:rPr lang="en-US" altLang="en-US" sz="1800" b="1" dirty="0">
                <a:latin typeface="Tahoma" panose="020B0604030504040204" pitchFamily="34" charset="0"/>
              </a:rPr>
              <a:t> JOIN</a:t>
            </a:r>
            <a:r>
              <a:rPr lang="en-US" altLang="en-US" sz="1800" dirty="0">
                <a:latin typeface="Tahoma" panose="020B0604030504040204" pitchFamily="34" charset="0"/>
              </a:rPr>
              <a:t> R2 </a:t>
            </a:r>
            <a:r>
              <a:rPr lang="en-US" altLang="en-US" sz="1800" b="1" dirty="0">
                <a:latin typeface="Tahoma" panose="020B0604030504040204" pitchFamily="34" charset="0"/>
              </a:rPr>
              <a:t>ON</a:t>
            </a:r>
            <a:r>
              <a:rPr lang="en-US" altLang="en-US" sz="1800" dirty="0">
                <a:latin typeface="Tahoma" panose="020B0604030504040204" pitchFamily="34" charset="0"/>
              </a:rPr>
              <a:t>  &lt;</a:t>
            </a:r>
            <a:r>
              <a:rPr lang="en-US" altLang="en-US" sz="1800" dirty="0" err="1">
                <a:latin typeface="Tahoma" panose="020B0604030504040204" pitchFamily="34" charset="0"/>
              </a:rPr>
              <a:t>biểu</a:t>
            </a:r>
            <a:r>
              <a:rPr lang="en-US" altLang="en-US" sz="1800" dirty="0">
                <a:latin typeface="Tahoma" panose="020B0604030504040204" pitchFamily="34" charset="0"/>
              </a:rPr>
              <a:t> </a:t>
            </a:r>
            <a:r>
              <a:rPr lang="en-US" altLang="en-US" sz="1800" dirty="0" err="1">
                <a:latin typeface="Tahoma" panose="020B0604030504040204" pitchFamily="34" charset="0"/>
              </a:rPr>
              <a:t>thức</a:t>
            </a:r>
            <a:r>
              <a:rPr lang="en-US" altLang="en-US" sz="1800" dirty="0">
                <a:latin typeface="Tahoma" panose="020B0604030504040204" pitchFamily="34" charset="0"/>
              </a:rPr>
              <a:t>&gt;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b="1" dirty="0">
                <a:latin typeface="Tahoma" panose="020B0604030504040204" pitchFamily="34" charset="0"/>
              </a:rPr>
              <a:t>WHERE</a:t>
            </a:r>
            <a:r>
              <a:rPr lang="en-US" altLang="en-US" sz="1800" dirty="0">
                <a:latin typeface="Tahoma" panose="020B0604030504040204" pitchFamily="34" charset="0"/>
              </a:rPr>
              <a:t> &lt;</a:t>
            </a:r>
            <a:r>
              <a:rPr lang="en-US" altLang="en-US" sz="1800" dirty="0" err="1">
                <a:latin typeface="Tahoma" panose="020B0604030504040204" pitchFamily="34" charset="0"/>
              </a:rPr>
              <a:t>điều</a:t>
            </a:r>
            <a:r>
              <a:rPr lang="en-US" altLang="en-US" sz="1800" dirty="0">
                <a:latin typeface="Tahoma" panose="020B0604030504040204" pitchFamily="34" charset="0"/>
              </a:rPr>
              <a:t> </a:t>
            </a:r>
            <a:r>
              <a:rPr lang="en-US" altLang="en-US" sz="1800" dirty="0" err="1">
                <a:latin typeface="Tahoma" panose="020B0604030504040204" pitchFamily="34" charset="0"/>
              </a:rPr>
              <a:t>kiện</a:t>
            </a:r>
            <a:r>
              <a:rPr lang="en-US" altLang="en-US" sz="1800" dirty="0">
                <a:latin typeface="Tahoma" panose="020B0604030504040204" pitchFamily="34" charset="0"/>
              </a:rPr>
              <a:t>&gt;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A99909-FC49-3BB6-062A-EDA09B507EAD}"/>
              </a:ext>
            </a:extLst>
          </p:cNvPr>
          <p:cNvSpPr txBox="1"/>
          <p:nvPr/>
        </p:nvSpPr>
        <p:spPr>
          <a:xfrm>
            <a:off x="5536011" y="5596992"/>
            <a:ext cx="665598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b="1" dirty="0">
                <a:latin typeface="Tahoma" panose="020B0604030504040204" pitchFamily="34" charset="0"/>
              </a:rPr>
              <a:t>SELECT</a:t>
            </a:r>
            <a:r>
              <a:rPr lang="en-US" altLang="en-US" sz="1800" dirty="0">
                <a:latin typeface="Tahoma" panose="020B0604030504040204" pitchFamily="34" charset="0"/>
              </a:rPr>
              <a:t> &lt;</a:t>
            </a:r>
            <a:r>
              <a:rPr lang="en-US" altLang="en-US" sz="1800" dirty="0" err="1">
                <a:latin typeface="Tahoma" panose="020B0604030504040204" pitchFamily="34" charset="0"/>
              </a:rPr>
              <a:t>danh</a:t>
            </a:r>
            <a:r>
              <a:rPr lang="en-US" altLang="en-US" sz="1800" dirty="0">
                <a:latin typeface="Tahoma" panose="020B0604030504040204" pitchFamily="34" charset="0"/>
              </a:rPr>
              <a:t> </a:t>
            </a:r>
            <a:r>
              <a:rPr lang="en-US" altLang="en-US" sz="1800" dirty="0" err="1">
                <a:latin typeface="Tahoma" panose="020B0604030504040204" pitchFamily="34" charset="0"/>
              </a:rPr>
              <a:t>sách</a:t>
            </a:r>
            <a:r>
              <a:rPr lang="en-US" altLang="en-US" sz="1800" dirty="0">
                <a:latin typeface="Tahoma" panose="020B0604030504040204" pitchFamily="34" charset="0"/>
              </a:rPr>
              <a:t> </a:t>
            </a:r>
            <a:r>
              <a:rPr lang="en-US" altLang="en-US" sz="1800" dirty="0" err="1">
                <a:latin typeface="Tahoma" panose="020B0604030504040204" pitchFamily="34" charset="0"/>
              </a:rPr>
              <a:t>các</a:t>
            </a:r>
            <a:r>
              <a:rPr lang="en-US" altLang="en-US" sz="1800" dirty="0">
                <a:latin typeface="Tahoma" panose="020B0604030504040204" pitchFamily="34" charset="0"/>
              </a:rPr>
              <a:t> </a:t>
            </a:r>
            <a:r>
              <a:rPr lang="en-US" altLang="en-US" sz="1800" dirty="0" err="1">
                <a:latin typeface="Tahoma" panose="020B0604030504040204" pitchFamily="34" charset="0"/>
              </a:rPr>
              <a:t>cột</a:t>
            </a:r>
            <a:r>
              <a:rPr lang="en-US" altLang="en-US" sz="1800" dirty="0">
                <a:latin typeface="Tahoma" panose="020B0604030504040204" pitchFamily="34" charset="0"/>
              </a:rPr>
              <a:t>&gt;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b="1" dirty="0">
                <a:latin typeface="Tahoma" panose="020B0604030504040204" pitchFamily="34" charset="0"/>
              </a:rPr>
              <a:t>FROM</a:t>
            </a:r>
            <a:r>
              <a:rPr lang="en-US" altLang="en-US" sz="1800" dirty="0">
                <a:latin typeface="Tahoma" panose="020B0604030504040204" pitchFamily="34" charset="0"/>
              </a:rPr>
              <a:t> R1 </a:t>
            </a:r>
            <a:r>
              <a:rPr lang="en-US" altLang="en-US" sz="1800" b="1" dirty="0">
                <a:latin typeface="Tahoma" panose="020B0604030504040204" pitchFamily="34" charset="0"/>
              </a:rPr>
              <a:t>LEFT|RIGHT</a:t>
            </a:r>
            <a:r>
              <a:rPr lang="en-US" altLang="en-US" sz="1800" dirty="0">
                <a:latin typeface="Tahoma" panose="020B0604030504040204" pitchFamily="34" charset="0"/>
              </a:rPr>
              <a:t> [</a:t>
            </a:r>
            <a:r>
              <a:rPr lang="en-US" altLang="en-US" sz="1800" b="1" dirty="0">
                <a:latin typeface="Tahoma" panose="020B0604030504040204" pitchFamily="34" charset="0"/>
              </a:rPr>
              <a:t>OUTER</a:t>
            </a:r>
            <a:r>
              <a:rPr lang="en-US" altLang="en-US" sz="1800" dirty="0">
                <a:latin typeface="Tahoma" panose="020B0604030504040204" pitchFamily="34" charset="0"/>
              </a:rPr>
              <a:t>]</a:t>
            </a:r>
            <a:r>
              <a:rPr lang="en-US" altLang="en-US" sz="1800" b="1" dirty="0">
                <a:latin typeface="Tahoma" panose="020B0604030504040204" pitchFamily="34" charset="0"/>
              </a:rPr>
              <a:t> JOIN</a:t>
            </a:r>
            <a:r>
              <a:rPr lang="en-US" altLang="en-US" sz="1800" dirty="0">
                <a:latin typeface="Tahoma" panose="020B0604030504040204" pitchFamily="34" charset="0"/>
              </a:rPr>
              <a:t> R2 </a:t>
            </a:r>
            <a:r>
              <a:rPr lang="en-US" altLang="en-US" sz="1800" b="1" dirty="0">
                <a:latin typeface="Tahoma" panose="020B0604030504040204" pitchFamily="34" charset="0"/>
              </a:rPr>
              <a:t>ON</a:t>
            </a:r>
            <a:r>
              <a:rPr lang="en-US" altLang="en-US" sz="1800" dirty="0">
                <a:latin typeface="Tahoma" panose="020B0604030504040204" pitchFamily="34" charset="0"/>
              </a:rPr>
              <a:t>  &lt;</a:t>
            </a:r>
            <a:r>
              <a:rPr lang="en-US" altLang="en-US" sz="1800" dirty="0" err="1">
                <a:latin typeface="Tahoma" panose="020B0604030504040204" pitchFamily="34" charset="0"/>
              </a:rPr>
              <a:t>biểu</a:t>
            </a:r>
            <a:r>
              <a:rPr lang="en-US" altLang="en-US" sz="1800" dirty="0">
                <a:latin typeface="Tahoma" panose="020B0604030504040204" pitchFamily="34" charset="0"/>
              </a:rPr>
              <a:t> </a:t>
            </a:r>
            <a:r>
              <a:rPr lang="en-US" altLang="en-US" sz="1800" dirty="0" err="1">
                <a:latin typeface="Tahoma" panose="020B0604030504040204" pitchFamily="34" charset="0"/>
              </a:rPr>
              <a:t>thức</a:t>
            </a:r>
            <a:r>
              <a:rPr lang="en-US" altLang="en-US" sz="1800" dirty="0">
                <a:latin typeface="Tahoma" panose="020B0604030504040204" pitchFamily="34" charset="0"/>
              </a:rPr>
              <a:t>&gt;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b="1" dirty="0">
                <a:latin typeface="Tahoma" panose="020B0604030504040204" pitchFamily="34" charset="0"/>
              </a:rPr>
              <a:t>WHERE</a:t>
            </a:r>
            <a:r>
              <a:rPr lang="en-US" altLang="en-US" sz="1800" dirty="0">
                <a:latin typeface="Tahoma" panose="020B0604030504040204" pitchFamily="34" charset="0"/>
              </a:rPr>
              <a:t> &lt;</a:t>
            </a:r>
            <a:r>
              <a:rPr lang="en-US" altLang="en-US" sz="1800" dirty="0" err="1">
                <a:latin typeface="Tahoma" panose="020B0604030504040204" pitchFamily="34" charset="0"/>
              </a:rPr>
              <a:t>điều</a:t>
            </a:r>
            <a:r>
              <a:rPr lang="en-US" altLang="en-US" sz="1800" dirty="0">
                <a:latin typeface="Tahoma" panose="020B0604030504040204" pitchFamily="34" charset="0"/>
              </a:rPr>
              <a:t> </a:t>
            </a:r>
            <a:r>
              <a:rPr lang="en-US" altLang="en-US" sz="1800" dirty="0" err="1">
                <a:latin typeface="Tahoma" panose="020B0604030504040204" pitchFamily="34" charset="0"/>
              </a:rPr>
              <a:t>kiện</a:t>
            </a:r>
            <a:r>
              <a:rPr lang="en-US" altLang="en-US" sz="1800" dirty="0">
                <a:latin typeface="Tahoma" panose="020B0604030504040204" pitchFamily="34" charset="0"/>
              </a:rPr>
              <a:t>&gt;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7A27AE-B30C-ED28-7E01-E7DBFC30D061}"/>
              </a:ext>
            </a:extLst>
          </p:cNvPr>
          <p:cNvSpPr txBox="1"/>
          <p:nvPr/>
        </p:nvSpPr>
        <p:spPr>
          <a:xfrm>
            <a:off x="5846323" y="3249038"/>
            <a:ext cx="1390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b="1" dirty="0"/>
              <a:t>KẾT BẰNG</a:t>
            </a:r>
            <a:endParaRPr 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E2862D-50E6-017B-1135-BC76850C8681}"/>
              </a:ext>
            </a:extLst>
          </p:cNvPr>
          <p:cNvSpPr txBox="1"/>
          <p:nvPr/>
        </p:nvSpPr>
        <p:spPr>
          <a:xfrm>
            <a:off x="5846323" y="5242094"/>
            <a:ext cx="1467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b="1" dirty="0"/>
              <a:t>KẾT NGOÀI</a:t>
            </a:r>
            <a:endParaRPr lang="en-US" b="1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2B49C42-7B16-BED6-196F-A5D5A98E6698}"/>
              </a:ext>
            </a:extLst>
          </p:cNvPr>
          <p:cNvSpPr/>
          <p:nvPr/>
        </p:nvSpPr>
        <p:spPr>
          <a:xfrm>
            <a:off x="4241260" y="379379"/>
            <a:ext cx="1439693" cy="14067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A</a:t>
            </a:r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1025F78-D4BF-D93B-50A5-3FD79C10D4A7}"/>
              </a:ext>
            </a:extLst>
          </p:cNvPr>
          <p:cNvSpPr/>
          <p:nvPr/>
        </p:nvSpPr>
        <p:spPr>
          <a:xfrm>
            <a:off x="5071356" y="379378"/>
            <a:ext cx="1439693" cy="1406765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B</a:t>
            </a:r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D4B6ECC-82D8-C573-C92B-9A1F1E01C364}"/>
              </a:ext>
            </a:extLst>
          </p:cNvPr>
          <p:cNvSpPr/>
          <p:nvPr/>
        </p:nvSpPr>
        <p:spPr>
          <a:xfrm>
            <a:off x="5071355" y="509641"/>
            <a:ext cx="609598" cy="1146237"/>
          </a:xfrm>
          <a:custGeom>
            <a:avLst/>
            <a:gdLst>
              <a:gd name="connsiteX0" fmla="*/ 304798 w 609598"/>
              <a:gd name="connsiteY0" fmla="*/ 0 h 1146237"/>
              <a:gd name="connsiteX1" fmla="*/ 398760 w 609598"/>
              <a:gd name="connsiteY1" fmla="*/ 75752 h 1146237"/>
              <a:gd name="connsiteX2" fmla="*/ 609598 w 609598"/>
              <a:gd name="connsiteY2" fmla="*/ 573119 h 1146237"/>
              <a:gd name="connsiteX3" fmla="*/ 398760 w 609598"/>
              <a:gd name="connsiteY3" fmla="*/ 1070486 h 1146237"/>
              <a:gd name="connsiteX4" fmla="*/ 304800 w 609598"/>
              <a:gd name="connsiteY4" fmla="*/ 1146237 h 1146237"/>
              <a:gd name="connsiteX5" fmla="*/ 210838 w 609598"/>
              <a:gd name="connsiteY5" fmla="*/ 1070485 h 1146237"/>
              <a:gd name="connsiteX6" fmla="*/ 0 w 609598"/>
              <a:gd name="connsiteY6" fmla="*/ 573118 h 1146237"/>
              <a:gd name="connsiteX7" fmla="*/ 210838 w 609598"/>
              <a:gd name="connsiteY7" fmla="*/ 75751 h 1146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9598" h="1146237">
                <a:moveTo>
                  <a:pt x="304798" y="0"/>
                </a:moveTo>
                <a:lnTo>
                  <a:pt x="398760" y="75752"/>
                </a:lnTo>
                <a:cubicBezTo>
                  <a:pt x="529027" y="203039"/>
                  <a:pt x="609598" y="378885"/>
                  <a:pt x="609598" y="573119"/>
                </a:cubicBezTo>
                <a:cubicBezTo>
                  <a:pt x="609598" y="767353"/>
                  <a:pt x="529027" y="943199"/>
                  <a:pt x="398760" y="1070486"/>
                </a:cubicBezTo>
                <a:lnTo>
                  <a:pt x="304800" y="1146237"/>
                </a:lnTo>
                <a:lnTo>
                  <a:pt x="210838" y="1070485"/>
                </a:lnTo>
                <a:cubicBezTo>
                  <a:pt x="80572" y="943198"/>
                  <a:pt x="0" y="767352"/>
                  <a:pt x="0" y="573118"/>
                </a:cubicBezTo>
                <a:cubicBezTo>
                  <a:pt x="0" y="378884"/>
                  <a:pt x="80572" y="203038"/>
                  <a:pt x="210838" y="75751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815F312-3226-5399-9AE6-298442477AF4}"/>
              </a:ext>
            </a:extLst>
          </p:cNvPr>
          <p:cNvSpPr/>
          <p:nvPr/>
        </p:nvSpPr>
        <p:spPr>
          <a:xfrm>
            <a:off x="2052900" y="2258445"/>
            <a:ext cx="609598" cy="1146237"/>
          </a:xfrm>
          <a:custGeom>
            <a:avLst/>
            <a:gdLst>
              <a:gd name="connsiteX0" fmla="*/ 304798 w 609598"/>
              <a:gd name="connsiteY0" fmla="*/ 0 h 1146237"/>
              <a:gd name="connsiteX1" fmla="*/ 398760 w 609598"/>
              <a:gd name="connsiteY1" fmla="*/ 75752 h 1146237"/>
              <a:gd name="connsiteX2" fmla="*/ 609598 w 609598"/>
              <a:gd name="connsiteY2" fmla="*/ 573119 h 1146237"/>
              <a:gd name="connsiteX3" fmla="*/ 398760 w 609598"/>
              <a:gd name="connsiteY3" fmla="*/ 1070486 h 1146237"/>
              <a:gd name="connsiteX4" fmla="*/ 304800 w 609598"/>
              <a:gd name="connsiteY4" fmla="*/ 1146237 h 1146237"/>
              <a:gd name="connsiteX5" fmla="*/ 210838 w 609598"/>
              <a:gd name="connsiteY5" fmla="*/ 1070485 h 1146237"/>
              <a:gd name="connsiteX6" fmla="*/ 0 w 609598"/>
              <a:gd name="connsiteY6" fmla="*/ 573118 h 1146237"/>
              <a:gd name="connsiteX7" fmla="*/ 210838 w 609598"/>
              <a:gd name="connsiteY7" fmla="*/ 75751 h 1146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9598" h="1146237">
                <a:moveTo>
                  <a:pt x="304798" y="0"/>
                </a:moveTo>
                <a:lnTo>
                  <a:pt x="398760" y="75752"/>
                </a:lnTo>
                <a:cubicBezTo>
                  <a:pt x="529027" y="203039"/>
                  <a:pt x="609598" y="378885"/>
                  <a:pt x="609598" y="573119"/>
                </a:cubicBezTo>
                <a:cubicBezTo>
                  <a:pt x="609598" y="767353"/>
                  <a:pt x="529027" y="943199"/>
                  <a:pt x="398760" y="1070486"/>
                </a:cubicBezTo>
                <a:lnTo>
                  <a:pt x="304800" y="1146237"/>
                </a:lnTo>
                <a:lnTo>
                  <a:pt x="210838" y="1070485"/>
                </a:lnTo>
                <a:cubicBezTo>
                  <a:pt x="80572" y="943198"/>
                  <a:pt x="0" y="767352"/>
                  <a:pt x="0" y="573118"/>
                </a:cubicBezTo>
                <a:cubicBezTo>
                  <a:pt x="0" y="378884"/>
                  <a:pt x="80572" y="203038"/>
                  <a:pt x="210838" y="75751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6573150-29D1-EFC4-9D68-C0D1F7988C46}"/>
              </a:ext>
            </a:extLst>
          </p:cNvPr>
          <p:cNvSpPr txBox="1"/>
          <p:nvPr/>
        </p:nvSpPr>
        <p:spPr>
          <a:xfrm>
            <a:off x="145915" y="2616740"/>
            <a:ext cx="1492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/>
              <a:t>INNER JOIN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442286B-A3F5-0580-837F-51E4432C81AC}"/>
              </a:ext>
            </a:extLst>
          </p:cNvPr>
          <p:cNvSpPr txBox="1"/>
          <p:nvPr/>
        </p:nvSpPr>
        <p:spPr>
          <a:xfrm>
            <a:off x="3154194" y="2622085"/>
            <a:ext cx="8049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∩ B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FABA783-7D2F-5842-BF7F-449F429CDE19}"/>
              </a:ext>
            </a:extLst>
          </p:cNvPr>
          <p:cNvSpPr txBox="1"/>
          <p:nvPr/>
        </p:nvSpPr>
        <p:spPr>
          <a:xfrm>
            <a:off x="227443" y="4173166"/>
            <a:ext cx="1334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/>
              <a:t>LEFT JOIN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36F60D2-3460-F23F-3559-2F055B9C469D}"/>
              </a:ext>
            </a:extLst>
          </p:cNvPr>
          <p:cNvSpPr txBox="1"/>
          <p:nvPr/>
        </p:nvSpPr>
        <p:spPr>
          <a:xfrm>
            <a:off x="181947" y="5644197"/>
            <a:ext cx="1488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/>
              <a:t>RIGHT JOIN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D91A6F9-669B-FCF4-4FE3-1DDC3D63D746}"/>
              </a:ext>
            </a:extLst>
          </p:cNvPr>
          <p:cNvSpPr txBox="1"/>
          <p:nvPr/>
        </p:nvSpPr>
        <p:spPr>
          <a:xfrm>
            <a:off x="3154194" y="4173166"/>
            <a:ext cx="21668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 A ∩ B ∪ (A - B)</a:t>
            </a:r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2B31E9D-40DB-9408-1168-4FBCFCBF549A}"/>
              </a:ext>
            </a:extLst>
          </p:cNvPr>
          <p:cNvSpPr/>
          <p:nvPr/>
        </p:nvSpPr>
        <p:spPr>
          <a:xfrm>
            <a:off x="1670496" y="3626863"/>
            <a:ext cx="1439693" cy="14067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A</a:t>
            </a:r>
            <a:endParaRPr lang="en-US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00FD02F5-F70A-0556-39D3-8FDD50B2627E}"/>
              </a:ext>
            </a:extLst>
          </p:cNvPr>
          <p:cNvSpPr/>
          <p:nvPr/>
        </p:nvSpPr>
        <p:spPr>
          <a:xfrm>
            <a:off x="2500591" y="3757125"/>
            <a:ext cx="609598" cy="1146237"/>
          </a:xfrm>
          <a:custGeom>
            <a:avLst/>
            <a:gdLst>
              <a:gd name="connsiteX0" fmla="*/ 304798 w 609598"/>
              <a:gd name="connsiteY0" fmla="*/ 0 h 1146237"/>
              <a:gd name="connsiteX1" fmla="*/ 398760 w 609598"/>
              <a:gd name="connsiteY1" fmla="*/ 75752 h 1146237"/>
              <a:gd name="connsiteX2" fmla="*/ 609598 w 609598"/>
              <a:gd name="connsiteY2" fmla="*/ 573119 h 1146237"/>
              <a:gd name="connsiteX3" fmla="*/ 398760 w 609598"/>
              <a:gd name="connsiteY3" fmla="*/ 1070486 h 1146237"/>
              <a:gd name="connsiteX4" fmla="*/ 304800 w 609598"/>
              <a:gd name="connsiteY4" fmla="*/ 1146237 h 1146237"/>
              <a:gd name="connsiteX5" fmla="*/ 210838 w 609598"/>
              <a:gd name="connsiteY5" fmla="*/ 1070485 h 1146237"/>
              <a:gd name="connsiteX6" fmla="*/ 0 w 609598"/>
              <a:gd name="connsiteY6" fmla="*/ 573118 h 1146237"/>
              <a:gd name="connsiteX7" fmla="*/ 210838 w 609598"/>
              <a:gd name="connsiteY7" fmla="*/ 75751 h 1146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9598" h="1146237">
                <a:moveTo>
                  <a:pt x="304798" y="0"/>
                </a:moveTo>
                <a:lnTo>
                  <a:pt x="398760" y="75752"/>
                </a:lnTo>
                <a:cubicBezTo>
                  <a:pt x="529027" y="203039"/>
                  <a:pt x="609598" y="378885"/>
                  <a:pt x="609598" y="573119"/>
                </a:cubicBezTo>
                <a:cubicBezTo>
                  <a:pt x="609598" y="767353"/>
                  <a:pt x="529027" y="943199"/>
                  <a:pt x="398760" y="1070486"/>
                </a:cubicBezTo>
                <a:lnTo>
                  <a:pt x="304800" y="1146237"/>
                </a:lnTo>
                <a:lnTo>
                  <a:pt x="210838" y="1070485"/>
                </a:lnTo>
                <a:cubicBezTo>
                  <a:pt x="80572" y="943198"/>
                  <a:pt x="0" y="767352"/>
                  <a:pt x="0" y="573118"/>
                </a:cubicBezTo>
                <a:cubicBezTo>
                  <a:pt x="0" y="378884"/>
                  <a:pt x="80572" y="203038"/>
                  <a:pt x="210838" y="75751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52EBECF-E397-8C55-EBC6-A583F7C12D67}"/>
              </a:ext>
            </a:extLst>
          </p:cNvPr>
          <p:cNvSpPr/>
          <p:nvPr/>
        </p:nvSpPr>
        <p:spPr>
          <a:xfrm>
            <a:off x="1638632" y="5163890"/>
            <a:ext cx="1439693" cy="1406765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B</a:t>
            </a:r>
            <a:endParaRPr lang="en-US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EAE8EE3A-8A65-8796-B723-02EC4BEDDB3F}"/>
              </a:ext>
            </a:extLst>
          </p:cNvPr>
          <p:cNvSpPr/>
          <p:nvPr/>
        </p:nvSpPr>
        <p:spPr>
          <a:xfrm>
            <a:off x="1638631" y="5294153"/>
            <a:ext cx="609598" cy="1146237"/>
          </a:xfrm>
          <a:custGeom>
            <a:avLst/>
            <a:gdLst>
              <a:gd name="connsiteX0" fmla="*/ 304798 w 609598"/>
              <a:gd name="connsiteY0" fmla="*/ 0 h 1146237"/>
              <a:gd name="connsiteX1" fmla="*/ 398760 w 609598"/>
              <a:gd name="connsiteY1" fmla="*/ 75752 h 1146237"/>
              <a:gd name="connsiteX2" fmla="*/ 609598 w 609598"/>
              <a:gd name="connsiteY2" fmla="*/ 573119 h 1146237"/>
              <a:gd name="connsiteX3" fmla="*/ 398760 w 609598"/>
              <a:gd name="connsiteY3" fmla="*/ 1070486 h 1146237"/>
              <a:gd name="connsiteX4" fmla="*/ 304800 w 609598"/>
              <a:gd name="connsiteY4" fmla="*/ 1146237 h 1146237"/>
              <a:gd name="connsiteX5" fmla="*/ 210838 w 609598"/>
              <a:gd name="connsiteY5" fmla="*/ 1070485 h 1146237"/>
              <a:gd name="connsiteX6" fmla="*/ 0 w 609598"/>
              <a:gd name="connsiteY6" fmla="*/ 573118 h 1146237"/>
              <a:gd name="connsiteX7" fmla="*/ 210838 w 609598"/>
              <a:gd name="connsiteY7" fmla="*/ 75751 h 1146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9598" h="1146237">
                <a:moveTo>
                  <a:pt x="304798" y="0"/>
                </a:moveTo>
                <a:lnTo>
                  <a:pt x="398760" y="75752"/>
                </a:lnTo>
                <a:cubicBezTo>
                  <a:pt x="529027" y="203039"/>
                  <a:pt x="609598" y="378885"/>
                  <a:pt x="609598" y="573119"/>
                </a:cubicBezTo>
                <a:cubicBezTo>
                  <a:pt x="609598" y="767353"/>
                  <a:pt x="529027" y="943199"/>
                  <a:pt x="398760" y="1070486"/>
                </a:cubicBezTo>
                <a:lnTo>
                  <a:pt x="304800" y="1146237"/>
                </a:lnTo>
                <a:lnTo>
                  <a:pt x="210838" y="1070485"/>
                </a:lnTo>
                <a:cubicBezTo>
                  <a:pt x="80572" y="943198"/>
                  <a:pt x="0" y="767352"/>
                  <a:pt x="0" y="573118"/>
                </a:cubicBezTo>
                <a:cubicBezTo>
                  <a:pt x="0" y="378884"/>
                  <a:pt x="80572" y="203038"/>
                  <a:pt x="210838" y="75751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37357BD-A52F-0B75-528B-A328AB86FC72}"/>
              </a:ext>
            </a:extLst>
          </p:cNvPr>
          <p:cNvSpPr txBox="1"/>
          <p:nvPr/>
        </p:nvSpPr>
        <p:spPr>
          <a:xfrm>
            <a:off x="3259811" y="5644197"/>
            <a:ext cx="18115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∩ B ∪ (B - A)</a:t>
            </a:r>
          </a:p>
        </p:txBody>
      </p:sp>
    </p:spTree>
    <p:extLst>
      <p:ext uri="{BB962C8B-B14F-4D97-AF65-F5344CB8AC3E}">
        <p14:creationId xmlns:p14="http://schemas.microsoft.com/office/powerpoint/2010/main" val="30551371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C66EC-3EF1-5291-6F9D-DB4272E42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DC79952-F8E9-A830-159F-F156E4750DD8}"/>
              </a:ext>
            </a:extLst>
          </p:cNvPr>
          <p:cNvSpPr txBox="1"/>
          <p:nvPr/>
        </p:nvSpPr>
        <p:spPr>
          <a:xfrm>
            <a:off x="817123" y="447472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b="1" dirty="0"/>
              <a:t>Ví dụ demo</a:t>
            </a:r>
            <a:endParaRPr lang="en-US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51366E0-2F84-C379-A789-AFA9F5CADF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147" y="1452949"/>
            <a:ext cx="4143953" cy="171473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91DFA81-1FFC-6FAD-DF59-B44B825AEC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147" y="4270748"/>
            <a:ext cx="3286584" cy="140989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D9B7602-6CF0-96C6-D2BB-8CB115504D47}"/>
              </a:ext>
            </a:extLst>
          </p:cNvPr>
          <p:cNvSpPr txBox="1"/>
          <p:nvPr/>
        </p:nvSpPr>
        <p:spPr>
          <a:xfrm>
            <a:off x="1531421" y="1186136"/>
            <a:ext cx="1093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Customer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AF2950-C06C-753D-F1FC-BD87CCF9700B}"/>
              </a:ext>
            </a:extLst>
          </p:cNvPr>
          <p:cNvSpPr txBox="1"/>
          <p:nvPr/>
        </p:nvSpPr>
        <p:spPr>
          <a:xfrm>
            <a:off x="876949" y="3901416"/>
            <a:ext cx="2467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CustomerOrder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B9F374A-A790-E83A-2FF3-24D0BC1B85F4}"/>
              </a:ext>
            </a:extLst>
          </p:cNvPr>
          <p:cNvCxnSpPr/>
          <p:nvPr/>
        </p:nvCxnSpPr>
        <p:spPr>
          <a:xfrm>
            <a:off x="4766553" y="1186136"/>
            <a:ext cx="0" cy="521466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02E9F56-40BE-2FC6-095B-9346BA51CEB0}"/>
              </a:ext>
            </a:extLst>
          </p:cNvPr>
          <p:cNvSpPr txBox="1"/>
          <p:nvPr/>
        </p:nvSpPr>
        <p:spPr>
          <a:xfrm>
            <a:off x="5234450" y="500289"/>
            <a:ext cx="17231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Inner Join (</a:t>
            </a:r>
            <a:r>
              <a:rPr lang="en-US" b="1" dirty="0" err="1"/>
              <a:t>giao</a:t>
            </a:r>
            <a:r>
              <a:rPr lang="en-US" b="1" dirty="0"/>
              <a:t>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DE9CBE-469B-BAE9-A322-6A2ED5238DDC}"/>
              </a:ext>
            </a:extLst>
          </p:cNvPr>
          <p:cNvSpPr txBox="1"/>
          <p:nvPr/>
        </p:nvSpPr>
        <p:spPr>
          <a:xfrm>
            <a:off x="4766553" y="944448"/>
            <a:ext cx="411042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Customer c </a:t>
            </a:r>
          </a:p>
          <a:p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INNER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JOIN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CustomerOrder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co 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CustomerID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CustomerID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City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like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'Hanoi'</a:t>
            </a:r>
            <a:endParaRPr lang="en-US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D43C2AF-5E73-82F7-AD13-D1B2974690C7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6821764" y="2421776"/>
            <a:ext cx="13234" cy="46647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B07E5CB1-D755-FDC0-B968-C50AB1B8D2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3689" y="2970581"/>
            <a:ext cx="6811326" cy="6573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595CE7AD-D4EF-62CE-9C46-A40D68816141}"/>
              </a:ext>
            </a:extLst>
          </p:cNvPr>
          <p:cNvSpPr txBox="1"/>
          <p:nvPr/>
        </p:nvSpPr>
        <p:spPr>
          <a:xfrm>
            <a:off x="4863689" y="4203317"/>
            <a:ext cx="512351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FirstName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LastName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City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Phone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Customer c </a:t>
            </a:r>
          </a:p>
          <a:p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INNER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JOIN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CustomerOrder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co 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CustomerID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CustomerID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City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like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'HCM'</a:t>
            </a:r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C93BE55-9B14-708C-A29D-ED58083D62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5663" y="6124316"/>
            <a:ext cx="3143689" cy="466790"/>
          </a:xfrm>
          <a:prstGeom prst="rect">
            <a:avLst/>
          </a:prstGeom>
        </p:spPr>
      </p:pic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0FF6CBF-CA5F-C40D-59A2-F4B32193649D}"/>
              </a:ext>
            </a:extLst>
          </p:cNvPr>
          <p:cNvCxnSpPr/>
          <p:nvPr/>
        </p:nvCxnSpPr>
        <p:spPr>
          <a:xfrm>
            <a:off x="6468894" y="5844877"/>
            <a:ext cx="0" cy="196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9509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D17AAB7-3598-121B-0CEA-D09B5DCBDC3C}"/>
              </a:ext>
            </a:extLst>
          </p:cNvPr>
          <p:cNvCxnSpPr/>
          <p:nvPr/>
        </p:nvCxnSpPr>
        <p:spPr>
          <a:xfrm>
            <a:off x="6096000" y="68094"/>
            <a:ext cx="0" cy="67120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4E966B03-8A44-4F93-81C7-3E7CDC1D94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858" y="836260"/>
            <a:ext cx="2380881" cy="136335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7F10DE4-94C7-4099-C6B9-54E727673E5A}"/>
              </a:ext>
            </a:extLst>
          </p:cNvPr>
          <p:cNvSpPr txBox="1"/>
          <p:nvPr/>
        </p:nvSpPr>
        <p:spPr>
          <a:xfrm>
            <a:off x="232381" y="68094"/>
            <a:ext cx="1112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LEFT JOIN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CACD011-60D2-422F-A531-B4294574D1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1426" y="836260"/>
            <a:ext cx="2292718" cy="133524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A687BC4-F97F-4DC4-96AB-8887CD6008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0472" y="2360573"/>
            <a:ext cx="2495898" cy="153373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C364AFE-4ADD-4039-8CDF-D347FE5050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6080" y="4376684"/>
            <a:ext cx="3429479" cy="222916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E2DA85A-C041-494E-BCA1-3084A1A0A0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9443" y="826835"/>
            <a:ext cx="2378019" cy="134467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1471D26-66DD-42B5-B64A-5B56071569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10990" y="821669"/>
            <a:ext cx="2727936" cy="137794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66A4A03-E655-4D9F-9CBD-70BBECA87FB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25919" y="2360573"/>
            <a:ext cx="2362530" cy="145752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7B13BF1-3B45-4B7A-B892-5B9B4DCD012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92444" y="4376684"/>
            <a:ext cx="3429479" cy="195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546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81C488D-15C6-4DEB-ABE8-FE52D25C8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328" y="638242"/>
            <a:ext cx="2783663" cy="15917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18CF4AC-E7A7-4EF5-9CAA-95F4A9EE7F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4492" y="638243"/>
            <a:ext cx="2935430" cy="16963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616C80-EB84-447C-8A35-946B033485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0863" y="2554451"/>
            <a:ext cx="2317881" cy="14357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EDB5E11-BF11-4446-99D3-F1D1C65F24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4590" y="4314647"/>
            <a:ext cx="3410426" cy="24387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3EDF9FE-EF65-2901-0D8E-0148CE356FC9}"/>
              </a:ext>
            </a:extLst>
          </p:cNvPr>
          <p:cNvSpPr txBox="1"/>
          <p:nvPr/>
        </p:nvSpPr>
        <p:spPr>
          <a:xfrm>
            <a:off x="204281" y="165370"/>
            <a:ext cx="1345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OUTER JOIN</a:t>
            </a:r>
          </a:p>
        </p:txBody>
      </p:sp>
    </p:spTree>
    <p:extLst>
      <p:ext uri="{BB962C8B-B14F-4D97-AF65-F5344CB8AC3E}">
        <p14:creationId xmlns:p14="http://schemas.microsoft.com/office/powerpoint/2010/main" val="38744090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21DB266-ED19-7C67-E010-545FD265E4AA}"/>
              </a:ext>
            </a:extLst>
          </p:cNvPr>
          <p:cNvSpPr txBox="1"/>
          <p:nvPr/>
        </p:nvSpPr>
        <p:spPr>
          <a:xfrm>
            <a:off x="184826" y="214009"/>
            <a:ext cx="3416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b="1" dirty="0"/>
              <a:t>THUẬT TOÁN KẾT MỞ RỘNG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2529392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3914D18-865A-FCBD-67EA-B6BA3A860732}"/>
              </a:ext>
            </a:extLst>
          </p:cNvPr>
          <p:cNvSpPr txBox="1"/>
          <p:nvPr/>
        </p:nvSpPr>
        <p:spPr>
          <a:xfrm>
            <a:off x="603115" y="457200"/>
            <a:ext cx="2787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b="1" dirty="0"/>
              <a:t>CẤU TRÚC LỆNH CASE</a:t>
            </a:r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2A5309-C194-C7EA-FADA-700668D266AB}"/>
              </a:ext>
            </a:extLst>
          </p:cNvPr>
          <p:cNvSpPr txBox="1"/>
          <p:nvPr/>
        </p:nvSpPr>
        <p:spPr>
          <a:xfrm>
            <a:off x="3874040" y="318700"/>
            <a:ext cx="60943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en-US" dirty="0"/>
              <a:t>Cho </a:t>
            </a:r>
            <a:r>
              <a:rPr lang="en-US" altLang="en-US" dirty="0" err="1"/>
              <a:t>phép</a:t>
            </a:r>
            <a:r>
              <a:rPr lang="en-US" altLang="en-US" dirty="0"/>
              <a:t> </a:t>
            </a:r>
            <a:r>
              <a:rPr lang="en-US" altLang="en-US" dirty="0" err="1"/>
              <a:t>kiểm</a:t>
            </a:r>
            <a:r>
              <a:rPr lang="en-US" altLang="en-US" dirty="0"/>
              <a:t> </a:t>
            </a:r>
            <a:r>
              <a:rPr lang="en-US" altLang="en-US" dirty="0" err="1"/>
              <a:t>tra</a:t>
            </a:r>
            <a:r>
              <a:rPr lang="en-US" altLang="en-US" dirty="0"/>
              <a:t> </a:t>
            </a:r>
            <a:r>
              <a:rPr lang="en-US" altLang="en-US" dirty="0" err="1"/>
              <a:t>điều</a:t>
            </a:r>
            <a:r>
              <a:rPr lang="en-US" altLang="en-US" dirty="0"/>
              <a:t> </a:t>
            </a:r>
            <a:r>
              <a:rPr lang="en-US" altLang="en-US" dirty="0" err="1"/>
              <a:t>kiện</a:t>
            </a:r>
            <a:r>
              <a:rPr lang="en-US" altLang="en-US" dirty="0"/>
              <a:t> </a:t>
            </a:r>
            <a:r>
              <a:rPr lang="en-US" altLang="en-US" dirty="0" err="1"/>
              <a:t>và</a:t>
            </a:r>
            <a:r>
              <a:rPr lang="en-US" altLang="en-US" dirty="0"/>
              <a:t> </a:t>
            </a:r>
            <a:r>
              <a:rPr lang="en-US" altLang="en-US" dirty="0" err="1"/>
              <a:t>xuất</a:t>
            </a:r>
            <a:r>
              <a:rPr lang="en-US" altLang="en-US" dirty="0"/>
              <a:t> </a:t>
            </a:r>
            <a:r>
              <a:rPr lang="en-US" altLang="en-US" dirty="0" err="1"/>
              <a:t>thông</a:t>
            </a:r>
            <a:r>
              <a:rPr lang="en-US" altLang="en-US" dirty="0"/>
              <a:t> tin </a:t>
            </a:r>
            <a:r>
              <a:rPr lang="en-US" altLang="en-US" dirty="0" err="1"/>
              <a:t>theo</a:t>
            </a:r>
            <a:r>
              <a:rPr lang="en-US" altLang="en-US" dirty="0"/>
              <a:t> </a:t>
            </a:r>
            <a:r>
              <a:rPr lang="en-US" altLang="en-US" dirty="0" err="1"/>
              <a:t>từng</a:t>
            </a:r>
            <a:r>
              <a:rPr lang="en-US" altLang="en-US" dirty="0"/>
              <a:t> </a:t>
            </a:r>
            <a:r>
              <a:rPr lang="en-US" altLang="en-US" dirty="0" err="1"/>
              <a:t>trường</a:t>
            </a:r>
            <a:r>
              <a:rPr lang="en-US" altLang="en-US" dirty="0"/>
              <a:t> </a:t>
            </a:r>
            <a:r>
              <a:rPr lang="en-US" altLang="en-US" dirty="0" err="1"/>
              <a:t>hợp</a:t>
            </a:r>
            <a:endParaRPr lang="en-US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9398EC-62FC-EF3B-F969-5BE126A615BF}"/>
              </a:ext>
            </a:extLst>
          </p:cNvPr>
          <p:cNvSpPr txBox="1"/>
          <p:nvPr/>
        </p:nvSpPr>
        <p:spPr>
          <a:xfrm>
            <a:off x="603115" y="1361873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/>
              <a:t>CÚ PHÁP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9F400D-7A66-46EC-9147-191684FD9A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4898" y="1361873"/>
            <a:ext cx="5029200" cy="2443163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defPPr>
              <a:defRPr lang="en-US"/>
            </a:defPPr>
            <a:lvl1pPr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 2" panose="05020102010507070707" pitchFamily="18" charset="2"/>
              <a:buChar char="¡"/>
              <a:defRPr sz="2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Arial" panose="020B0604020202020204" pitchFamily="34" charset="0"/>
              <a:buChar char="-"/>
              <a:defRPr sz="23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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Symbol" panose="05050102010706020507" pitchFamily="18" charset="2"/>
              <a:buChar char="*"/>
              <a:defRPr sz="1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just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just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just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just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b="1">
                <a:latin typeface="Tahoma" panose="020B0604030504040204" pitchFamily="34" charset="0"/>
              </a:rPr>
              <a:t>CASE </a:t>
            </a:r>
            <a:r>
              <a:rPr lang="en-US" altLang="en-US" sz="1800">
                <a:latin typeface="Tahoma" panose="020B0604030504040204" pitchFamily="34" charset="0"/>
              </a:rPr>
              <a:t>&lt;tên cột&gt;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	</a:t>
            </a:r>
            <a:r>
              <a:rPr lang="en-US" altLang="en-US" sz="1800" b="1">
                <a:latin typeface="Tahoma" panose="020B0604030504040204" pitchFamily="34" charset="0"/>
              </a:rPr>
              <a:t>WHEN</a:t>
            </a:r>
            <a:r>
              <a:rPr lang="en-US" altLang="en-US" sz="1800">
                <a:latin typeface="Tahoma" panose="020B0604030504040204" pitchFamily="34" charset="0"/>
              </a:rPr>
              <a:t> &lt;giá trị&gt; </a:t>
            </a:r>
            <a:r>
              <a:rPr lang="en-US" altLang="en-US" sz="1800" b="1">
                <a:latin typeface="Tahoma" panose="020B0604030504040204" pitchFamily="34" charset="0"/>
              </a:rPr>
              <a:t>THEN</a:t>
            </a:r>
            <a:r>
              <a:rPr lang="en-US" altLang="en-US" sz="1800">
                <a:latin typeface="Tahoma" panose="020B0604030504040204" pitchFamily="34" charset="0"/>
              </a:rPr>
              <a:t> &lt;biểu thức&gt;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	</a:t>
            </a:r>
            <a:r>
              <a:rPr lang="en-US" altLang="en-US" sz="1800" b="1">
                <a:latin typeface="Tahoma" panose="020B0604030504040204" pitchFamily="34" charset="0"/>
              </a:rPr>
              <a:t>WHEN</a:t>
            </a:r>
            <a:r>
              <a:rPr lang="en-US" altLang="en-US" sz="1800">
                <a:latin typeface="Tahoma" panose="020B0604030504040204" pitchFamily="34" charset="0"/>
              </a:rPr>
              <a:t> &lt;giá trị&gt; </a:t>
            </a:r>
            <a:r>
              <a:rPr lang="en-US" altLang="en-US" sz="1800" b="1">
                <a:latin typeface="Tahoma" panose="020B0604030504040204" pitchFamily="34" charset="0"/>
              </a:rPr>
              <a:t>THEN</a:t>
            </a:r>
            <a:r>
              <a:rPr lang="en-US" altLang="en-US" sz="1800">
                <a:latin typeface="Tahoma" panose="020B0604030504040204" pitchFamily="34" charset="0"/>
              </a:rPr>
              <a:t> &lt;biểu thức&gt;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	…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	[</a:t>
            </a:r>
            <a:r>
              <a:rPr lang="en-US" altLang="en-US" sz="1800" b="1">
                <a:latin typeface="Tahoma" panose="020B0604030504040204" pitchFamily="34" charset="0"/>
              </a:rPr>
              <a:t>ELSE </a:t>
            </a:r>
            <a:r>
              <a:rPr lang="en-US" altLang="en-US" sz="1800">
                <a:latin typeface="Tahoma" panose="020B0604030504040204" pitchFamily="34" charset="0"/>
              </a:rPr>
              <a:t>&lt;biểu thức&gt;]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b="1">
                <a:latin typeface="Tahoma" panose="020B0604030504040204" pitchFamily="34" charset="0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2930167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86BE93C-015B-EE27-4C7D-2F7BFF7926CC}"/>
              </a:ext>
            </a:extLst>
          </p:cNvPr>
          <p:cNvSpPr txBox="1"/>
          <p:nvPr/>
        </p:nvSpPr>
        <p:spPr>
          <a:xfrm>
            <a:off x="350196" y="3122259"/>
            <a:ext cx="2091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b="1" dirty="0"/>
              <a:t>TRUY VẤN LỒNG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78D648-B46C-6A50-17FD-53B1172AA300}"/>
              </a:ext>
            </a:extLst>
          </p:cNvPr>
          <p:cNvSpPr txBox="1"/>
          <p:nvPr/>
        </p:nvSpPr>
        <p:spPr>
          <a:xfrm>
            <a:off x="3102985" y="1945532"/>
            <a:ext cx="2082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/>
              <a:t>LỒNG PHÂN CẤP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3F0667-AB14-3DCB-9494-BF325D2514AA}"/>
              </a:ext>
            </a:extLst>
          </p:cNvPr>
          <p:cNvSpPr txBox="1"/>
          <p:nvPr/>
        </p:nvSpPr>
        <p:spPr>
          <a:xfrm>
            <a:off x="2888662" y="4474724"/>
            <a:ext cx="2511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/>
              <a:t>LỒNG TƯƠNG QUAN</a:t>
            </a:r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BDC4208-7FD7-892D-3C74-77C2469BE62F}"/>
              </a:ext>
            </a:extLst>
          </p:cNvPr>
          <p:cNvCxnSpPr>
            <a:stCxn id="4" idx="3"/>
            <a:endCxn id="5" idx="1"/>
          </p:cNvCxnSpPr>
          <p:nvPr/>
        </p:nvCxnSpPr>
        <p:spPr>
          <a:xfrm flipV="1">
            <a:off x="2441474" y="2130198"/>
            <a:ext cx="661511" cy="11767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5D52E8B-3A9A-2AA6-13FE-9C71CA3C014E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2441474" y="3306925"/>
            <a:ext cx="447188" cy="13524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361783D-381A-9E41-B8CD-F93A3045BA0C}"/>
              </a:ext>
            </a:extLst>
          </p:cNvPr>
          <p:cNvSpPr txBox="1"/>
          <p:nvPr/>
        </p:nvSpPr>
        <p:spPr>
          <a:xfrm>
            <a:off x="5671719" y="1050588"/>
            <a:ext cx="65202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Mệnh đề WHERE của truy vấn con </a:t>
            </a:r>
            <a:r>
              <a:rPr lang="vi-VN" dirty="0">
                <a:solidFill>
                  <a:srgbClr val="FF0000"/>
                </a:solidFill>
              </a:rPr>
              <a:t>không tham chiếu </a:t>
            </a:r>
            <a:r>
              <a:rPr lang="vi-VN" dirty="0"/>
              <a:t>đến </a:t>
            </a:r>
            <a:r>
              <a:rPr lang="vi-VN" dirty="0">
                <a:solidFill>
                  <a:srgbClr val="FF0000"/>
                </a:solidFill>
              </a:rPr>
              <a:t>thuộc tính </a:t>
            </a:r>
            <a:r>
              <a:rPr lang="vi-VN" dirty="0"/>
              <a:t>của các quan hệ </a:t>
            </a:r>
            <a:r>
              <a:rPr lang="en-US" altLang="en-US" dirty="0" err="1">
                <a:solidFill>
                  <a:srgbClr val="FF0000"/>
                </a:solidFill>
              </a:rPr>
              <a:t>trong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mệnh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đề</a:t>
            </a:r>
            <a:r>
              <a:rPr lang="en-US" altLang="en-US" dirty="0">
                <a:solidFill>
                  <a:srgbClr val="FF0000"/>
                </a:solidFill>
              </a:rPr>
              <a:t> FROM ở </a:t>
            </a:r>
            <a:r>
              <a:rPr lang="en-US" altLang="en-US" dirty="0" err="1">
                <a:solidFill>
                  <a:srgbClr val="FF0000"/>
                </a:solidFill>
              </a:rPr>
              <a:t>truy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vấn</a:t>
            </a:r>
            <a:r>
              <a:rPr lang="en-US" altLang="en-US" dirty="0">
                <a:solidFill>
                  <a:srgbClr val="FF0000"/>
                </a:solidFill>
              </a:rPr>
              <a:t> cha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FC8F8AF-DA0E-6BC3-C2F1-D7F337EFCAA6}"/>
              </a:ext>
            </a:extLst>
          </p:cNvPr>
          <p:cNvSpPr txBox="1"/>
          <p:nvPr/>
        </p:nvSpPr>
        <p:spPr>
          <a:xfrm>
            <a:off x="5671719" y="2198451"/>
            <a:ext cx="54288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dirty="0"/>
              <a:t>Khi </a:t>
            </a:r>
            <a:r>
              <a:rPr lang="en-US" altLang="en-US" dirty="0" err="1"/>
              <a:t>thực</a:t>
            </a:r>
            <a:r>
              <a:rPr lang="en-US" altLang="en-US" dirty="0"/>
              <a:t> </a:t>
            </a:r>
            <a:r>
              <a:rPr lang="en-US" altLang="en-US" dirty="0" err="1"/>
              <a:t>hiện</a:t>
            </a:r>
            <a:r>
              <a:rPr lang="en-US" altLang="en-US" dirty="0"/>
              <a:t>, </a:t>
            </a:r>
            <a:r>
              <a:rPr lang="en-US" altLang="en-US" dirty="0" err="1"/>
              <a:t>câu</a:t>
            </a:r>
            <a:r>
              <a:rPr lang="en-US" altLang="en-US" dirty="0"/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truy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vấn</a:t>
            </a:r>
            <a:r>
              <a:rPr lang="en-US" altLang="en-US" dirty="0">
                <a:solidFill>
                  <a:srgbClr val="FF0000"/>
                </a:solidFill>
              </a:rPr>
              <a:t> con </a:t>
            </a:r>
            <a:r>
              <a:rPr lang="en-US" altLang="en-US" dirty="0" err="1">
                <a:solidFill>
                  <a:srgbClr val="FF0000"/>
                </a:solidFill>
              </a:rPr>
              <a:t>sẽ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được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thực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hiện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trước</a:t>
            </a:r>
            <a:endParaRPr lang="en-US" altLang="en-US" dirty="0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2D3CC13-86FA-956C-B65F-9003C7CB80C5}"/>
              </a:ext>
            </a:extLst>
          </p:cNvPr>
          <p:cNvSpPr txBox="1"/>
          <p:nvPr/>
        </p:nvSpPr>
        <p:spPr>
          <a:xfrm>
            <a:off x="5671719" y="3736060"/>
            <a:ext cx="61725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dirty="0" err="1"/>
              <a:t>Mệnh</a:t>
            </a:r>
            <a:r>
              <a:rPr lang="en-US" altLang="en-US" dirty="0"/>
              <a:t> </a:t>
            </a:r>
            <a:r>
              <a:rPr lang="en-US" altLang="en-US" dirty="0" err="1"/>
              <a:t>đề</a:t>
            </a:r>
            <a:r>
              <a:rPr lang="en-US" altLang="en-US" dirty="0"/>
              <a:t> WHERE </a:t>
            </a:r>
            <a:r>
              <a:rPr lang="en-US" altLang="en-US" dirty="0" err="1"/>
              <a:t>của</a:t>
            </a:r>
            <a:r>
              <a:rPr lang="en-US" altLang="en-US" dirty="0"/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truy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vấn</a:t>
            </a:r>
            <a:r>
              <a:rPr lang="en-US" altLang="en-US" dirty="0">
                <a:solidFill>
                  <a:srgbClr val="FF0000"/>
                </a:solidFill>
              </a:rPr>
              <a:t> con </a:t>
            </a:r>
            <a:r>
              <a:rPr lang="en-US" altLang="en-US" dirty="0" err="1">
                <a:solidFill>
                  <a:srgbClr val="FF0000"/>
                </a:solidFill>
              </a:rPr>
              <a:t>tham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chiếu</a:t>
            </a:r>
            <a:r>
              <a:rPr lang="en-US" altLang="en-US" dirty="0"/>
              <a:t> </a:t>
            </a:r>
            <a:r>
              <a:rPr lang="en-US" altLang="en-US" dirty="0" err="1"/>
              <a:t>ít</a:t>
            </a:r>
            <a:r>
              <a:rPr lang="en-US" altLang="en-US" dirty="0"/>
              <a:t> </a:t>
            </a:r>
            <a:r>
              <a:rPr lang="en-US" altLang="en-US" dirty="0" err="1"/>
              <a:t>nhất</a:t>
            </a:r>
            <a:r>
              <a:rPr lang="en-US" altLang="en-US" dirty="0"/>
              <a:t> </a:t>
            </a:r>
            <a:r>
              <a:rPr lang="en-US" altLang="en-US" dirty="0" err="1"/>
              <a:t>một</a:t>
            </a:r>
            <a:r>
              <a:rPr lang="en-US" altLang="en-US" dirty="0"/>
              <a:t> </a:t>
            </a:r>
            <a:r>
              <a:rPr lang="en-US" altLang="en-US" dirty="0" err="1"/>
              <a:t>thuộc</a:t>
            </a:r>
            <a:r>
              <a:rPr lang="en-US" altLang="en-US" dirty="0"/>
              <a:t> </a:t>
            </a:r>
            <a:r>
              <a:rPr lang="en-US" altLang="en-US" dirty="0" err="1"/>
              <a:t>tính</a:t>
            </a:r>
            <a:r>
              <a:rPr lang="en-US" altLang="en-US" dirty="0"/>
              <a:t> </a:t>
            </a:r>
            <a:r>
              <a:rPr lang="en-US" altLang="en-US" dirty="0" err="1"/>
              <a:t>của</a:t>
            </a:r>
            <a:r>
              <a:rPr lang="en-US" altLang="en-US" dirty="0"/>
              <a:t> </a:t>
            </a:r>
            <a:r>
              <a:rPr lang="en-US" altLang="en-US" dirty="0" err="1"/>
              <a:t>các</a:t>
            </a:r>
            <a:r>
              <a:rPr lang="en-US" altLang="en-US" dirty="0"/>
              <a:t> </a:t>
            </a:r>
            <a:r>
              <a:rPr lang="en-US" altLang="en-US" dirty="0" err="1"/>
              <a:t>quan</a:t>
            </a:r>
            <a:r>
              <a:rPr lang="en-US" altLang="en-US" dirty="0"/>
              <a:t> </a:t>
            </a:r>
            <a:r>
              <a:rPr lang="en-US" altLang="en-US" dirty="0" err="1"/>
              <a:t>hệ</a:t>
            </a:r>
            <a:r>
              <a:rPr lang="en-US" altLang="en-US" dirty="0"/>
              <a:t> </a:t>
            </a:r>
            <a:r>
              <a:rPr lang="en-US" altLang="en-US" dirty="0" err="1"/>
              <a:t>trong</a:t>
            </a:r>
            <a:r>
              <a:rPr lang="en-US" altLang="en-US" dirty="0"/>
              <a:t> </a:t>
            </a:r>
            <a:r>
              <a:rPr lang="en-US" altLang="en-US" dirty="0" err="1"/>
              <a:t>mệnh</a:t>
            </a:r>
            <a:r>
              <a:rPr lang="en-US" altLang="en-US" dirty="0"/>
              <a:t> </a:t>
            </a:r>
            <a:r>
              <a:rPr lang="en-US" altLang="en-US" dirty="0" err="1"/>
              <a:t>đề</a:t>
            </a:r>
            <a:r>
              <a:rPr lang="en-US" altLang="en-US" dirty="0"/>
              <a:t> FROM ở </a:t>
            </a:r>
            <a:r>
              <a:rPr lang="en-US" altLang="en-US" dirty="0" err="1"/>
              <a:t>truy</a:t>
            </a:r>
            <a:r>
              <a:rPr lang="en-US" altLang="en-US" dirty="0"/>
              <a:t> </a:t>
            </a:r>
            <a:r>
              <a:rPr lang="en-US" altLang="en-US" dirty="0" err="1"/>
              <a:t>vấn</a:t>
            </a:r>
            <a:r>
              <a:rPr lang="en-US" altLang="en-US" dirty="0"/>
              <a:t> cha</a:t>
            </a:r>
          </a:p>
          <a:p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E27ED07-B5E8-8EB0-301F-1BFBD67ECFC1}"/>
              </a:ext>
            </a:extLst>
          </p:cNvPr>
          <p:cNvSpPr txBox="1"/>
          <p:nvPr/>
        </p:nvSpPr>
        <p:spPr>
          <a:xfrm>
            <a:off x="5671719" y="4844056"/>
            <a:ext cx="49066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dirty="0"/>
              <a:t>Khi </a:t>
            </a:r>
            <a:r>
              <a:rPr lang="en-US" altLang="en-US" dirty="0" err="1"/>
              <a:t>thực</a:t>
            </a:r>
            <a:r>
              <a:rPr lang="en-US" altLang="en-US" dirty="0"/>
              <a:t> </a:t>
            </a:r>
            <a:r>
              <a:rPr lang="en-US" altLang="en-US" dirty="0" err="1"/>
              <a:t>hiện</a:t>
            </a:r>
            <a:r>
              <a:rPr lang="en-US" altLang="en-US" dirty="0"/>
              <a:t>, </a:t>
            </a:r>
            <a:r>
              <a:rPr lang="en-US" altLang="en-US" dirty="0" err="1"/>
              <a:t>câu</a:t>
            </a:r>
            <a:r>
              <a:rPr lang="en-US" altLang="en-US" dirty="0"/>
              <a:t> </a:t>
            </a:r>
            <a:r>
              <a:rPr lang="en-US" altLang="en-US" dirty="0" err="1"/>
              <a:t>truy</a:t>
            </a:r>
            <a:r>
              <a:rPr lang="en-US" altLang="en-US" dirty="0"/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vấn</a:t>
            </a:r>
            <a:r>
              <a:rPr lang="en-US" altLang="en-US" dirty="0">
                <a:solidFill>
                  <a:srgbClr val="FF0000"/>
                </a:solidFill>
              </a:rPr>
              <a:t> con </a:t>
            </a:r>
            <a:r>
              <a:rPr lang="en-US" altLang="en-US" dirty="0" err="1">
                <a:solidFill>
                  <a:srgbClr val="FF0000"/>
                </a:solidFill>
              </a:rPr>
              <a:t>sẽ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được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thực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hiện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nhiều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lần</a:t>
            </a:r>
            <a:r>
              <a:rPr lang="en-US" altLang="en-US" dirty="0"/>
              <a:t>, </a:t>
            </a:r>
            <a:r>
              <a:rPr lang="en-US" altLang="en-US" dirty="0" err="1"/>
              <a:t>mỗi</a:t>
            </a:r>
            <a:r>
              <a:rPr lang="en-US" altLang="en-US" dirty="0"/>
              <a:t> </a:t>
            </a:r>
            <a:r>
              <a:rPr lang="en-US" altLang="en-US" dirty="0" err="1"/>
              <a:t>lần</a:t>
            </a:r>
            <a:r>
              <a:rPr lang="en-US" altLang="en-US" dirty="0"/>
              <a:t> </a:t>
            </a:r>
            <a:r>
              <a:rPr lang="en-US" altLang="en-US" dirty="0" err="1"/>
              <a:t>tương</a:t>
            </a:r>
            <a:r>
              <a:rPr lang="en-US" altLang="en-US" dirty="0"/>
              <a:t> </a:t>
            </a:r>
            <a:r>
              <a:rPr lang="en-US" altLang="en-US" dirty="0" err="1"/>
              <a:t>ứng</a:t>
            </a:r>
            <a:r>
              <a:rPr lang="en-US" altLang="en-US" dirty="0"/>
              <a:t> </a:t>
            </a:r>
            <a:r>
              <a:rPr lang="en-US" altLang="en-US" dirty="0" err="1"/>
              <a:t>với</a:t>
            </a:r>
            <a:r>
              <a:rPr lang="en-US" altLang="en-US" dirty="0"/>
              <a:t> </a:t>
            </a:r>
            <a:r>
              <a:rPr lang="en-US" altLang="en-US" dirty="0" err="1"/>
              <a:t>một</a:t>
            </a:r>
            <a:r>
              <a:rPr lang="en-US" altLang="en-US" dirty="0"/>
              <a:t> </a:t>
            </a:r>
            <a:r>
              <a:rPr lang="en-US" altLang="en-US" dirty="0" err="1"/>
              <a:t>bộ</a:t>
            </a:r>
            <a:r>
              <a:rPr lang="en-US" altLang="en-US" dirty="0"/>
              <a:t> </a:t>
            </a:r>
            <a:r>
              <a:rPr lang="en-US" altLang="en-US" dirty="0" err="1"/>
              <a:t>của</a:t>
            </a:r>
            <a:r>
              <a:rPr lang="en-US" altLang="en-US" dirty="0"/>
              <a:t> </a:t>
            </a:r>
            <a:r>
              <a:rPr lang="en-US" altLang="en-US" dirty="0" err="1"/>
              <a:t>truy</a:t>
            </a:r>
            <a:r>
              <a:rPr lang="en-US" altLang="en-US" dirty="0"/>
              <a:t> </a:t>
            </a:r>
            <a:r>
              <a:rPr lang="en-US" altLang="en-US" dirty="0" err="1"/>
              <a:t>vấn</a:t>
            </a:r>
            <a:r>
              <a:rPr lang="en-US" altLang="en-US" dirty="0"/>
              <a:t> cha</a:t>
            </a:r>
          </a:p>
          <a:p>
            <a:endParaRPr lang="en-US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39E3E75-D6BC-0757-B5BB-8199AB5C88F5}"/>
              </a:ext>
            </a:extLst>
          </p:cNvPr>
          <p:cNvCxnSpPr>
            <a:stCxn id="6" idx="3"/>
            <a:endCxn id="22" idx="1"/>
          </p:cNvCxnSpPr>
          <p:nvPr/>
        </p:nvCxnSpPr>
        <p:spPr>
          <a:xfrm flipV="1">
            <a:off x="5399927" y="4197725"/>
            <a:ext cx="271792" cy="4616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D331EC0-46CA-3C80-A09B-19FDAFE47C20}"/>
              </a:ext>
            </a:extLst>
          </p:cNvPr>
          <p:cNvCxnSpPr>
            <a:stCxn id="5" idx="3"/>
            <a:endCxn id="18" idx="1"/>
          </p:cNvCxnSpPr>
          <p:nvPr/>
        </p:nvCxnSpPr>
        <p:spPr>
          <a:xfrm flipV="1">
            <a:off x="5185606" y="1373754"/>
            <a:ext cx="486113" cy="7564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9149F31-6680-D8EC-7DCB-F9CC6AFF1CF4}"/>
              </a:ext>
            </a:extLst>
          </p:cNvPr>
          <p:cNvCxnSpPr>
            <a:stCxn id="5" idx="3"/>
            <a:endCxn id="21" idx="1"/>
          </p:cNvCxnSpPr>
          <p:nvPr/>
        </p:nvCxnSpPr>
        <p:spPr>
          <a:xfrm>
            <a:off x="5185606" y="2130198"/>
            <a:ext cx="486113" cy="2529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1E5B116-A010-959F-5B87-15662FE3CEFD}"/>
              </a:ext>
            </a:extLst>
          </p:cNvPr>
          <p:cNvCxnSpPr>
            <a:stCxn id="6" idx="3"/>
            <a:endCxn id="23" idx="1"/>
          </p:cNvCxnSpPr>
          <p:nvPr/>
        </p:nvCxnSpPr>
        <p:spPr>
          <a:xfrm>
            <a:off x="5399927" y="4659390"/>
            <a:ext cx="271792" cy="7848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60421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2345262-DE5A-CA14-84FF-D8AF0CFF8B71}"/>
              </a:ext>
            </a:extLst>
          </p:cNvPr>
          <p:cNvSpPr/>
          <p:nvPr/>
        </p:nvSpPr>
        <p:spPr>
          <a:xfrm>
            <a:off x="7460261" y="1322958"/>
            <a:ext cx="1198625" cy="1406766"/>
          </a:xfrm>
          <a:custGeom>
            <a:avLst/>
            <a:gdLst>
              <a:gd name="connsiteX0" fmla="*/ 478778 w 1198625"/>
              <a:gd name="connsiteY0" fmla="*/ 0 h 1406766"/>
              <a:gd name="connsiteX1" fmla="*/ 1198625 w 1198625"/>
              <a:gd name="connsiteY1" fmla="*/ 703383 h 1406766"/>
              <a:gd name="connsiteX2" fmla="*/ 478778 w 1198625"/>
              <a:gd name="connsiteY2" fmla="*/ 1406766 h 1406766"/>
              <a:gd name="connsiteX3" fmla="*/ 76305 w 1198625"/>
              <a:gd name="connsiteY3" fmla="*/ 1286640 h 1406766"/>
              <a:gd name="connsiteX4" fmla="*/ 0 w 1198625"/>
              <a:gd name="connsiteY4" fmla="*/ 1225122 h 1406766"/>
              <a:gd name="connsiteX5" fmla="*/ 30230 w 1198625"/>
              <a:gd name="connsiteY5" fmla="*/ 1200750 h 1406766"/>
              <a:gd name="connsiteX6" fmla="*/ 241068 w 1198625"/>
              <a:gd name="connsiteY6" fmla="*/ 703383 h 1406766"/>
              <a:gd name="connsiteX7" fmla="*/ 30230 w 1198625"/>
              <a:gd name="connsiteY7" fmla="*/ 206016 h 1406766"/>
              <a:gd name="connsiteX8" fmla="*/ 0 w 1198625"/>
              <a:gd name="connsiteY8" fmla="*/ 181644 h 1406766"/>
              <a:gd name="connsiteX9" fmla="*/ 76305 w 1198625"/>
              <a:gd name="connsiteY9" fmla="*/ 120127 h 1406766"/>
              <a:gd name="connsiteX10" fmla="*/ 478778 w 1198625"/>
              <a:gd name="connsiteY10" fmla="*/ 0 h 1406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98625" h="1406766">
                <a:moveTo>
                  <a:pt x="478778" y="0"/>
                </a:moveTo>
                <a:cubicBezTo>
                  <a:pt x="876339" y="0"/>
                  <a:pt x="1198625" y="314915"/>
                  <a:pt x="1198625" y="703383"/>
                </a:cubicBezTo>
                <a:cubicBezTo>
                  <a:pt x="1198625" y="1091851"/>
                  <a:pt x="876339" y="1406766"/>
                  <a:pt x="478778" y="1406766"/>
                </a:cubicBezTo>
                <a:cubicBezTo>
                  <a:pt x="329693" y="1406766"/>
                  <a:pt x="191193" y="1362481"/>
                  <a:pt x="76305" y="1286640"/>
                </a:cubicBezTo>
                <a:lnTo>
                  <a:pt x="0" y="1225122"/>
                </a:lnTo>
                <a:lnTo>
                  <a:pt x="30230" y="1200750"/>
                </a:lnTo>
                <a:cubicBezTo>
                  <a:pt x="160497" y="1073463"/>
                  <a:pt x="241068" y="897617"/>
                  <a:pt x="241068" y="703383"/>
                </a:cubicBezTo>
                <a:cubicBezTo>
                  <a:pt x="241068" y="509149"/>
                  <a:pt x="160497" y="333303"/>
                  <a:pt x="30230" y="206016"/>
                </a:cubicBezTo>
                <a:lnTo>
                  <a:pt x="0" y="181644"/>
                </a:lnTo>
                <a:lnTo>
                  <a:pt x="76305" y="120127"/>
                </a:lnTo>
                <a:cubicBezTo>
                  <a:pt x="191193" y="44285"/>
                  <a:pt x="329693" y="0"/>
                  <a:pt x="478778" y="0"/>
                </a:cubicBezTo>
                <a:close/>
              </a:path>
            </a:pathLst>
          </a:cu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vi-VN" dirty="0"/>
              <a:t>B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D3458D-06D4-734C-1E8D-941E0EE929A7}"/>
              </a:ext>
            </a:extLst>
          </p:cNvPr>
          <p:cNvSpPr txBox="1"/>
          <p:nvPr/>
        </p:nvSpPr>
        <p:spPr>
          <a:xfrm>
            <a:off x="282102" y="398834"/>
            <a:ext cx="2262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/>
              <a:t>THUẬT TOÁN CHIA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2E793C-8558-EFE2-9FC7-CA7A894A11C8}"/>
              </a:ext>
            </a:extLst>
          </p:cNvPr>
          <p:cNvSpPr txBox="1"/>
          <p:nvPr/>
        </p:nvSpPr>
        <p:spPr>
          <a:xfrm>
            <a:off x="2544581" y="398834"/>
            <a:ext cx="2212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/>
              <a:t>A : B </a:t>
            </a:r>
            <a:r>
              <a:rPr lang="vi-VN" dirty="0">
                <a:sym typeface="Wingdings" panose="05000000000000000000" pitchFamily="2" charset="2"/>
              </a:rPr>
              <a:t> A  - ( B – A)</a:t>
            </a:r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CDA1DB8-D0C6-0FA2-2862-F5B5D8ABF085}"/>
              </a:ext>
            </a:extLst>
          </p:cNvPr>
          <p:cNvSpPr/>
          <p:nvPr/>
        </p:nvSpPr>
        <p:spPr>
          <a:xfrm>
            <a:off x="693494" y="1322959"/>
            <a:ext cx="1439693" cy="14067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A</a:t>
            </a:r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ABC2F99-29AD-DF84-BD06-D32A9D46324D}"/>
              </a:ext>
            </a:extLst>
          </p:cNvPr>
          <p:cNvSpPr/>
          <p:nvPr/>
        </p:nvSpPr>
        <p:spPr>
          <a:xfrm>
            <a:off x="2692735" y="1322959"/>
            <a:ext cx="1439693" cy="1406765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B</a:t>
            </a:r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CAFC6EE-9F81-B673-E968-A53A45CF61F7}"/>
              </a:ext>
            </a:extLst>
          </p:cNvPr>
          <p:cNvSpPr/>
          <p:nvPr/>
        </p:nvSpPr>
        <p:spPr>
          <a:xfrm>
            <a:off x="5191656" y="1322959"/>
            <a:ext cx="1439693" cy="14067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A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52B933-72C4-0713-C60C-A320C1E3C516}"/>
              </a:ext>
            </a:extLst>
          </p:cNvPr>
          <p:cNvSpPr txBox="1"/>
          <p:nvPr/>
        </p:nvSpPr>
        <p:spPr>
          <a:xfrm>
            <a:off x="2288568" y="1891288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b="1" dirty="0"/>
              <a:t>:</a:t>
            </a:r>
            <a:endParaRPr lang="en-US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E2F599-93EE-4C8E-239A-B319EEC71FC0}"/>
              </a:ext>
            </a:extLst>
          </p:cNvPr>
          <p:cNvSpPr txBox="1"/>
          <p:nvPr/>
        </p:nvSpPr>
        <p:spPr>
          <a:xfrm>
            <a:off x="4515327" y="1891288"/>
            <a:ext cx="4839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dirty="0">
                <a:sym typeface="Wingdings" panose="05000000000000000000" pitchFamily="2" charset="2"/>
              </a:rPr>
              <a:t></a:t>
            </a:r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D388298-80DA-10D2-9153-8ACF7C7E85C5}"/>
              </a:ext>
            </a:extLst>
          </p:cNvPr>
          <p:cNvCxnSpPr/>
          <p:nvPr/>
        </p:nvCxnSpPr>
        <p:spPr>
          <a:xfrm>
            <a:off x="7003915" y="2075954"/>
            <a:ext cx="12645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96244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780</TotalTime>
  <Words>875</Words>
  <Application>Microsoft Office PowerPoint</Application>
  <PresentationFormat>Widescreen</PresentationFormat>
  <Paragraphs>190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Arial</vt:lpstr>
      <vt:lpstr>Calibri</vt:lpstr>
      <vt:lpstr>Calibri Light</vt:lpstr>
      <vt:lpstr>Cambria Math</vt:lpstr>
      <vt:lpstr>Consolas</vt:lpstr>
      <vt:lpstr>Symbol</vt:lpstr>
      <vt:lpstr>Tahoma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Phạm Phúc</dc:creator>
  <cp:lastModifiedBy>Phạm Phúc</cp:lastModifiedBy>
  <cp:revision>4</cp:revision>
  <dcterms:created xsi:type="dcterms:W3CDTF">2025-04-12T03:50:19Z</dcterms:created>
  <dcterms:modified xsi:type="dcterms:W3CDTF">2025-04-14T06:07:40Z</dcterms:modified>
</cp:coreProperties>
</file>