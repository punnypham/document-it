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fonts/font1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officeDocument" Target="ppt/presentation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embedTrueTypeFonts="1" saveSubsetFonts="1">
  <p:sldMasterIdLst>
    <p:sldMasterId id="2147483648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</p:sldIdLst>
  <p:sldSz cx="12192000" cy="6858000"/>
  <p:notesSz cx="12192000" cy="6858000"/>
  <p:embeddedFontLst>
    <p:embeddedFont>
      <p:font typeface="ARVFNE+Liberation Sans Italic"/>
      <p:regular r:id="rId6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7" d="100"/>
          <a:sy n="57" d="100"/>
        </p:scale>
        <p:origin x="-2482" y="-91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presProps" Target="presProps.xml" /><Relationship Id="rId10" Type="http://schemas.openxmlformats.org/officeDocument/2006/relationships/slide" Target="slides/slide5.xml" /><Relationship Id="rId11" Type="http://schemas.openxmlformats.org/officeDocument/2006/relationships/slide" Target="slides/slide6.xml" /><Relationship Id="rId12" Type="http://schemas.openxmlformats.org/officeDocument/2006/relationships/slide" Target="slides/slide7.xml" /><Relationship Id="rId13" Type="http://schemas.openxmlformats.org/officeDocument/2006/relationships/slide" Target="slides/slide8.xml" /><Relationship Id="rId14" Type="http://schemas.openxmlformats.org/officeDocument/2006/relationships/slide" Target="slides/slide9.xml" /><Relationship Id="rId15" Type="http://schemas.openxmlformats.org/officeDocument/2006/relationships/slide" Target="slides/slide10.xml" /><Relationship Id="rId16" Type="http://schemas.openxmlformats.org/officeDocument/2006/relationships/slide" Target="slides/slide11.xml" /><Relationship Id="rId17" Type="http://schemas.openxmlformats.org/officeDocument/2006/relationships/slide" Target="slides/slide12.xml" /><Relationship Id="rId18" Type="http://schemas.openxmlformats.org/officeDocument/2006/relationships/slide" Target="slides/slide13.xml" /><Relationship Id="rId19" Type="http://schemas.openxmlformats.org/officeDocument/2006/relationships/slide" Target="slides/slide14.xml" /><Relationship Id="rId2" Type="http://schemas.openxmlformats.org/officeDocument/2006/relationships/tableStyles" Target="tableStyles.xml" /><Relationship Id="rId20" Type="http://schemas.openxmlformats.org/officeDocument/2006/relationships/slide" Target="slides/slide15.xml" /><Relationship Id="rId21" Type="http://schemas.openxmlformats.org/officeDocument/2006/relationships/slide" Target="slides/slide16.xml" /><Relationship Id="rId22" Type="http://schemas.openxmlformats.org/officeDocument/2006/relationships/slide" Target="slides/slide17.xml" /><Relationship Id="rId23" Type="http://schemas.openxmlformats.org/officeDocument/2006/relationships/slide" Target="slides/slide18.xml" /><Relationship Id="rId24" Type="http://schemas.openxmlformats.org/officeDocument/2006/relationships/slide" Target="slides/slide19.xml" /><Relationship Id="rId25" Type="http://schemas.openxmlformats.org/officeDocument/2006/relationships/slide" Target="slides/slide20.xml" /><Relationship Id="rId26" Type="http://schemas.openxmlformats.org/officeDocument/2006/relationships/slide" Target="slides/slide21.xml" /><Relationship Id="rId27" Type="http://schemas.openxmlformats.org/officeDocument/2006/relationships/slide" Target="slides/slide22.xml" /><Relationship Id="rId28" Type="http://schemas.openxmlformats.org/officeDocument/2006/relationships/slide" Target="slides/slide23.xml" /><Relationship Id="rId29" Type="http://schemas.openxmlformats.org/officeDocument/2006/relationships/slide" Target="slides/slide24.xml" /><Relationship Id="rId3" Type="http://schemas.openxmlformats.org/officeDocument/2006/relationships/viewProps" Target="viewProps.xml" /><Relationship Id="rId30" Type="http://schemas.openxmlformats.org/officeDocument/2006/relationships/slide" Target="slides/slide25.xml" /><Relationship Id="rId31" Type="http://schemas.openxmlformats.org/officeDocument/2006/relationships/slide" Target="slides/slide26.xml" /><Relationship Id="rId32" Type="http://schemas.openxmlformats.org/officeDocument/2006/relationships/slide" Target="slides/slide27.xml" /><Relationship Id="rId33" Type="http://schemas.openxmlformats.org/officeDocument/2006/relationships/slide" Target="slides/slide28.xml" /><Relationship Id="rId34" Type="http://schemas.openxmlformats.org/officeDocument/2006/relationships/slide" Target="slides/slide29.xml" /><Relationship Id="rId35" Type="http://schemas.openxmlformats.org/officeDocument/2006/relationships/slide" Target="slides/slide30.xml" /><Relationship Id="rId36" Type="http://schemas.openxmlformats.org/officeDocument/2006/relationships/slide" Target="slides/slide31.xml" /><Relationship Id="rId37" Type="http://schemas.openxmlformats.org/officeDocument/2006/relationships/slide" Target="slides/slide32.xml" /><Relationship Id="rId38" Type="http://schemas.openxmlformats.org/officeDocument/2006/relationships/slide" Target="slides/slide33.xml" /><Relationship Id="rId39" Type="http://schemas.openxmlformats.org/officeDocument/2006/relationships/slide" Target="slides/slide34.xml" /><Relationship Id="rId4" Type="http://schemas.openxmlformats.org/officeDocument/2006/relationships/theme" Target="theme/theme1.xml" /><Relationship Id="rId40" Type="http://schemas.openxmlformats.org/officeDocument/2006/relationships/slide" Target="slides/slide35.xml" /><Relationship Id="rId41" Type="http://schemas.openxmlformats.org/officeDocument/2006/relationships/slide" Target="slides/slide36.xml" /><Relationship Id="rId42" Type="http://schemas.openxmlformats.org/officeDocument/2006/relationships/slide" Target="slides/slide37.xml" /><Relationship Id="rId43" Type="http://schemas.openxmlformats.org/officeDocument/2006/relationships/slide" Target="slides/slide38.xml" /><Relationship Id="rId44" Type="http://schemas.openxmlformats.org/officeDocument/2006/relationships/slide" Target="slides/slide39.xml" /><Relationship Id="rId45" Type="http://schemas.openxmlformats.org/officeDocument/2006/relationships/slide" Target="slides/slide40.xml" /><Relationship Id="rId46" Type="http://schemas.openxmlformats.org/officeDocument/2006/relationships/slide" Target="slides/slide41.xml" /><Relationship Id="rId47" Type="http://schemas.openxmlformats.org/officeDocument/2006/relationships/slide" Target="slides/slide42.xml" /><Relationship Id="rId48" Type="http://schemas.openxmlformats.org/officeDocument/2006/relationships/slide" Target="slides/slide43.xml" /><Relationship Id="rId49" Type="http://schemas.openxmlformats.org/officeDocument/2006/relationships/slide" Target="slides/slide44.xml" /><Relationship Id="rId5" Type="http://schemas.openxmlformats.org/officeDocument/2006/relationships/slideMaster" Target="slideMasters/slideMaster1.xml" /><Relationship Id="rId50" Type="http://schemas.openxmlformats.org/officeDocument/2006/relationships/slide" Target="slides/slide45.xml" /><Relationship Id="rId51" Type="http://schemas.openxmlformats.org/officeDocument/2006/relationships/slide" Target="slides/slide46.xml" /><Relationship Id="rId52" Type="http://schemas.openxmlformats.org/officeDocument/2006/relationships/slide" Target="slides/slide47.xml" /><Relationship Id="rId53" Type="http://schemas.openxmlformats.org/officeDocument/2006/relationships/slide" Target="slides/slide48.xml" /><Relationship Id="rId54" Type="http://schemas.openxmlformats.org/officeDocument/2006/relationships/slide" Target="slides/slide49.xml" /><Relationship Id="rId55" Type="http://schemas.openxmlformats.org/officeDocument/2006/relationships/slide" Target="slides/slide50.xml" /><Relationship Id="rId56" Type="http://schemas.openxmlformats.org/officeDocument/2006/relationships/slide" Target="slides/slide51.xml" /><Relationship Id="rId57" Type="http://schemas.openxmlformats.org/officeDocument/2006/relationships/slide" Target="slides/slide52.xml" /><Relationship Id="rId58" Type="http://schemas.openxmlformats.org/officeDocument/2006/relationships/slide" Target="slides/slide53.xml" /><Relationship Id="rId59" Type="http://schemas.openxmlformats.org/officeDocument/2006/relationships/slide" Target="slides/slide54.xml" /><Relationship Id="rId6" Type="http://schemas.openxmlformats.org/officeDocument/2006/relationships/slide" Target="slides/slide1.xml" /><Relationship Id="rId60" Type="http://schemas.openxmlformats.org/officeDocument/2006/relationships/slide" Target="slides/slide55.xml" /><Relationship Id="rId61" Type="http://schemas.openxmlformats.org/officeDocument/2006/relationships/slide" Target="slides/slide56.xml" /><Relationship Id="rId62" Type="http://schemas.openxmlformats.org/officeDocument/2006/relationships/slide" Target="slides/slide57.xml" /><Relationship Id="rId63" Type="http://schemas.openxmlformats.org/officeDocument/2006/relationships/slide" Target="slides/slide58.xml" /><Relationship Id="rId64" Type="http://schemas.openxmlformats.org/officeDocument/2006/relationships/slide" Target="slides/slide59.xml" /><Relationship Id="rId65" Type="http://schemas.openxmlformats.org/officeDocument/2006/relationships/slide" Target="slides/slide60.xml" /><Relationship Id="rId66" Type="http://schemas.openxmlformats.org/officeDocument/2006/relationships/font" Target="fonts/font1.fntdata" /><Relationship Id="rId7" Type="http://schemas.openxmlformats.org/officeDocument/2006/relationships/slide" Target="slides/slide2.xml" /><Relationship Id="rId8" Type="http://schemas.openxmlformats.org/officeDocument/2006/relationships/slide" Target="slides/slide3.xml" /><Relationship Id="rId9" Type="http://schemas.openxmlformats.org/officeDocument/2006/relationships/slide" Target="slides/slide4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27.02.2014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В‹#В›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.png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4.png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5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6.png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7.png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8.png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9.png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0.png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1.png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2.png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3.png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4.png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5.png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6.png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7.png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8.png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9.png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0.png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1.png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2.png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3.png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4.png" /></Relationships>
</file>

<file path=ppt/slides/_rels/slide2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5.png" /></Relationships>
</file>

<file path=ppt/slides/_rels/slide2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6.png" /></Relationships>
</file>

<file path=ppt/slides/_rels/slide2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7.png" /></Relationships>
</file>

<file path=ppt/slides/_rels/slide2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8.png" /></Relationships>
</file>

<file path=ppt/slides/_rels/slide2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9.png" /></Relationships>
</file>

<file path=ppt/slides/_rels/slide3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0.png" /></Relationships>
</file>

<file path=ppt/slides/_rels/slide3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1.png" /></Relationships>
</file>

<file path=ppt/slides/_rels/slide3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2.png" /></Relationships>
</file>

<file path=ppt/slides/_rels/slide3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3.png" /></Relationships>
</file>

<file path=ppt/slides/_rels/slide3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4.png" /></Relationships>
</file>

<file path=ppt/slides/_rels/slide3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5.png" /></Relationships>
</file>

<file path=ppt/slides/_rels/slide3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6.png" /></Relationships>
</file>

<file path=ppt/slides/_rels/slide3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7.png" /></Relationships>
</file>

<file path=ppt/slides/_rels/slide3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8.png" /></Relationships>
</file>

<file path=ppt/slides/_rels/slide3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9.png" /></Relationships>
</file>

<file path=ppt/slides/_rels/slide4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40.png" /></Relationships>
</file>

<file path=ppt/slides/_rels/slide4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41.png" /></Relationships>
</file>

<file path=ppt/slides/_rels/slide4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42.png" /></Relationships>
</file>

<file path=ppt/slides/_rels/slide4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43.png" /></Relationships>
</file>

<file path=ppt/slides/_rels/slide4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44.png" /></Relationships>
</file>

<file path=ppt/slides/_rels/slide4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45.png" /></Relationships>
</file>

<file path=ppt/slides/_rels/slide4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46.png" /></Relationships>
</file>

<file path=ppt/slides/_rels/slide4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47.png" /></Relationships>
</file>

<file path=ppt/slides/_rels/slide4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48.png" /></Relationships>
</file>

<file path=ppt/slides/_rels/slide4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49.png" /></Relationships>
</file>

<file path=ppt/slides/_rels/slide5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50.png" /></Relationships>
</file>

<file path=ppt/slides/_rels/slide5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51.png" /></Relationships>
</file>

<file path=ppt/slides/_rels/slide5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52.png" /></Relationships>
</file>

<file path=ppt/slides/_rels/slide5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53.png" /></Relationships>
</file>

<file path=ppt/slides/_rels/slide5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54.png" /></Relationships>
</file>

<file path=ppt/slides/_rels/slide5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55.png" /></Relationships>
</file>

<file path=ppt/slides/_rels/slide5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56.png" /></Relationships>
</file>

<file path=ppt/slides/_rels/slide5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57.png" /></Relationships>
</file>

<file path=ppt/slides/_rels/slide5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58.png" /></Relationships>
</file>

<file path=ppt/slides/_rels/slide5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59.png" /></Relationships>
</file>

<file path=ppt/slides/_rels/slide6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60.png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69701" y="63176"/>
            <a:ext cx="11404970" cy="22411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62062" marR="0">
              <a:lnSpc>
                <a:spcPts val="5866"/>
              </a:lnSpc>
              <a:spcBef>
                <a:spcPts val="0"/>
              </a:spcBef>
              <a:spcAft>
                <a:spcPts val="0"/>
              </a:spcAft>
            </a:pPr>
            <a:r>
              <a:rPr dirty="0" sz="5050" b="1">
                <a:solidFill>
                  <a:srgbClr val="e5e7eb"/>
                </a:solidFill>
                <a:latin typeface="DejaVu Sans"/>
                <a:cs typeface="DejaVu Sans"/>
              </a:rPr>
              <a:t>Advanced</a:t>
            </a:r>
            <a:r>
              <a:rPr dirty="0" sz="5050" b="1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5050" b="1">
                <a:solidFill>
                  <a:srgbClr val="e5e7eb"/>
                </a:solidFill>
                <a:latin typeface="DejaVu Sans"/>
                <a:cs typeface="DejaVu Sans"/>
              </a:rPr>
              <a:t>UI</a:t>
            </a:r>
            <a:r>
              <a:rPr dirty="0" sz="5050" b="1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5050" b="1">
                <a:solidFill>
                  <a:srgbClr val="e5e7eb"/>
                </a:solidFill>
                <a:latin typeface="DejaVu Sans"/>
                <a:cs typeface="DejaVu Sans"/>
              </a:rPr>
              <a:t>in</a:t>
            </a:r>
            <a:r>
              <a:rPr dirty="0" sz="5050" b="1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5050" b="1">
                <a:solidFill>
                  <a:srgbClr val="e5e7eb"/>
                </a:solidFill>
                <a:latin typeface="DejaVu Sans"/>
                <a:cs typeface="DejaVu Sans"/>
              </a:rPr>
              <a:t>Android:</a:t>
            </a:r>
          </a:p>
          <a:p>
            <a:pPr marL="240803" marR="0">
              <a:lnSpc>
                <a:spcPts val="5866"/>
              </a:lnSpc>
              <a:spcBef>
                <a:spcPts val="433"/>
              </a:spcBef>
              <a:spcAft>
                <a:spcPts val="0"/>
              </a:spcAft>
            </a:pPr>
            <a:r>
              <a:rPr dirty="0" sz="5050" b="1">
                <a:solidFill>
                  <a:srgbClr val="2dd4bf"/>
                </a:solidFill>
                <a:latin typeface="DejaVu Sans"/>
                <a:cs typeface="DejaVu Sans"/>
              </a:rPr>
              <a:t>Animations</a:t>
            </a:r>
            <a:r>
              <a:rPr dirty="0" sz="5050" b="1">
                <a:solidFill>
                  <a:srgbClr val="2dd4bf"/>
                </a:solidFill>
                <a:latin typeface="DejaVu Sans"/>
                <a:cs typeface="DejaVu Sans"/>
              </a:rPr>
              <a:t> </a:t>
            </a:r>
            <a:r>
              <a:rPr dirty="0" sz="5050" b="1">
                <a:solidFill>
                  <a:srgbClr val="2dd4bf"/>
                </a:solidFill>
                <a:latin typeface="DejaVu Sans"/>
                <a:cs typeface="DejaVu Sans"/>
              </a:rPr>
              <a:t>&amp;</a:t>
            </a:r>
            <a:r>
              <a:rPr dirty="0" sz="5050" spc="-12" b="1">
                <a:solidFill>
                  <a:srgbClr val="2dd4bf"/>
                </a:solidFill>
                <a:latin typeface="DejaVu Sans"/>
                <a:cs typeface="DejaVu Sans"/>
              </a:rPr>
              <a:t> </a:t>
            </a:r>
            <a:r>
              <a:rPr dirty="0" sz="5050" b="1">
                <a:solidFill>
                  <a:srgbClr val="2dd4bf"/>
                </a:solidFill>
                <a:latin typeface="DejaVu Sans"/>
                <a:cs typeface="DejaVu Sans"/>
              </a:rPr>
              <a:t>Material</a:t>
            </a:r>
            <a:r>
              <a:rPr dirty="0" sz="5050" b="1">
                <a:solidFill>
                  <a:srgbClr val="2dd4bf"/>
                </a:solidFill>
                <a:latin typeface="DejaVu Sans"/>
                <a:cs typeface="DejaVu Sans"/>
              </a:rPr>
              <a:t> </a:t>
            </a:r>
            <a:r>
              <a:rPr dirty="0" sz="5050" b="1">
                <a:solidFill>
                  <a:srgbClr val="2dd4bf"/>
                </a:solidFill>
                <a:latin typeface="DejaVu Sans"/>
                <a:cs typeface="DejaVu Sans"/>
              </a:rPr>
              <a:t>Design</a:t>
            </a:r>
          </a:p>
          <a:p>
            <a:pPr marL="0" marR="0">
              <a:lnSpc>
                <a:spcPts val="2932"/>
              </a:lnSpc>
              <a:spcBef>
                <a:spcPts val="2248"/>
              </a:spcBef>
              <a:spcAft>
                <a:spcPts val="0"/>
              </a:spcAft>
            </a:pPr>
            <a:r>
              <a:rPr dirty="0" sz="2500" spc="-87">
                <a:solidFill>
                  <a:srgbClr val="d1d5db"/>
                </a:solidFill>
                <a:latin typeface="DejaVu Sans"/>
                <a:cs typeface="DejaVu Sans"/>
              </a:rPr>
              <a:t>Tuần</a:t>
            </a:r>
            <a:r>
              <a:rPr dirty="0" sz="2500" spc="104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2500" spc="11">
                <a:solidFill>
                  <a:srgbClr val="d1d5db"/>
                </a:solidFill>
                <a:latin typeface="DejaVu Sans"/>
                <a:cs typeface="DejaVu Sans"/>
              </a:rPr>
              <a:t>10</a:t>
            </a:r>
            <a:r>
              <a:rPr dirty="0" sz="2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2500">
                <a:solidFill>
                  <a:srgbClr val="d1d5db"/>
                </a:solidFill>
                <a:latin typeface="DejaVu Sans"/>
                <a:cs typeface="DejaVu Sans"/>
              </a:rPr>
              <a:t>–</a:t>
            </a:r>
            <a:r>
              <a:rPr dirty="0" sz="2500" spc="15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2500" spc="10">
                <a:solidFill>
                  <a:srgbClr val="d1d5db"/>
                </a:solidFill>
                <a:latin typeface="DejaVu Sans"/>
                <a:cs typeface="DejaVu Sans"/>
              </a:rPr>
              <a:t>Giao</a:t>
            </a:r>
            <a:r>
              <a:rPr dirty="0" sz="2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2500">
                <a:solidFill>
                  <a:srgbClr val="d1d5db"/>
                </a:solidFill>
                <a:latin typeface="DejaVu Sans"/>
                <a:cs typeface="DejaVu Sans"/>
              </a:rPr>
              <a:t>diện</a:t>
            </a:r>
            <a:r>
              <a:rPr dirty="0" sz="2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2500" spc="11">
                <a:solidFill>
                  <a:srgbClr val="d1d5db"/>
                </a:solidFill>
                <a:latin typeface="DejaVu Sans"/>
                <a:cs typeface="DejaVu Sans"/>
              </a:rPr>
              <a:t>người</a:t>
            </a:r>
            <a:r>
              <a:rPr dirty="0" sz="2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2500" spc="11">
                <a:solidFill>
                  <a:srgbClr val="d1d5db"/>
                </a:solidFill>
                <a:latin typeface="DejaVu Sans"/>
                <a:cs typeface="DejaVu Sans"/>
              </a:rPr>
              <a:t>dùng</a:t>
            </a:r>
            <a:r>
              <a:rPr dirty="0" sz="2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2500" spc="11">
                <a:solidFill>
                  <a:srgbClr val="d1d5db"/>
                </a:solidFill>
                <a:latin typeface="DejaVu Sans"/>
                <a:cs typeface="DejaVu Sans"/>
              </a:rPr>
              <a:t>nâng</a:t>
            </a:r>
            <a:r>
              <a:rPr dirty="0" sz="2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2500" spc="10">
                <a:solidFill>
                  <a:srgbClr val="d1d5db"/>
                </a:solidFill>
                <a:latin typeface="DejaVu Sans"/>
                <a:cs typeface="DejaVu Sans"/>
              </a:rPr>
              <a:t>cao:</a:t>
            </a:r>
            <a:r>
              <a:rPr dirty="0" sz="2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2500" spc="11">
                <a:solidFill>
                  <a:srgbClr val="d1d5db"/>
                </a:solidFill>
                <a:latin typeface="DejaVu Sans"/>
                <a:cs typeface="DejaVu Sans"/>
              </a:rPr>
              <a:t>Hoạt</a:t>
            </a:r>
            <a:r>
              <a:rPr dirty="0" sz="2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2500" spc="10">
                <a:solidFill>
                  <a:srgbClr val="d1d5db"/>
                </a:solidFill>
                <a:latin typeface="DejaVu Sans"/>
                <a:cs typeface="DejaVu Sans"/>
              </a:rPr>
              <a:t>ảnh</a:t>
            </a:r>
            <a:r>
              <a:rPr dirty="0" sz="2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2500">
                <a:solidFill>
                  <a:srgbClr val="d1d5db"/>
                </a:solidFill>
                <a:latin typeface="DejaVu Sans"/>
                <a:cs typeface="DejaVu Sans"/>
              </a:rPr>
              <a:t>&amp;</a:t>
            </a:r>
            <a:r>
              <a:rPr dirty="0" sz="2500" spc="2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2500" spc="10">
                <a:solidFill>
                  <a:srgbClr val="d1d5db"/>
                </a:solidFill>
                <a:latin typeface="DejaVu Sans"/>
                <a:cs typeface="DejaVu Sans"/>
              </a:rPr>
              <a:t>Material</a:t>
            </a:r>
            <a:r>
              <a:rPr dirty="0" sz="2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2500" spc="10">
                <a:solidFill>
                  <a:srgbClr val="d1d5db"/>
                </a:solidFill>
                <a:latin typeface="DejaVu Sans"/>
                <a:cs typeface="DejaVu Sans"/>
              </a:rPr>
              <a:t>Design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26690" y="6105995"/>
            <a:ext cx="3360103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d1d5db"/>
                </a:solidFill>
                <a:latin typeface="DejaVu Sans"/>
                <a:cs typeface="DejaVu Sans"/>
              </a:rPr>
              <a:t>Presented</a:t>
            </a:r>
            <a:r>
              <a:rPr dirty="0" sz="2000" spc="15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2000" spc="-43">
                <a:solidFill>
                  <a:srgbClr val="d1d5db"/>
                </a:solidFill>
                <a:latin typeface="DejaVu Sans"/>
                <a:cs typeface="DejaVu Sans"/>
              </a:rPr>
              <a:t>by:</a:t>
            </a:r>
            <a:r>
              <a:rPr dirty="0" sz="2000" spc="52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2000" spc="10">
                <a:solidFill>
                  <a:srgbClr val="d1d5db"/>
                </a:solidFill>
                <a:latin typeface="DejaVu Sans"/>
                <a:cs typeface="DejaVu Sans"/>
              </a:rPr>
              <a:t>your</a:t>
            </a:r>
            <a:r>
              <a:rPr dirty="0" sz="20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2000" spc="11">
                <a:solidFill>
                  <a:srgbClr val="d1d5db"/>
                </a:solidFill>
                <a:latin typeface="DejaVu Sans"/>
                <a:cs typeface="DejaVu Sans"/>
              </a:rPr>
              <a:t>name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69701" y="63176"/>
            <a:ext cx="11404970" cy="22411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62062" marR="0">
              <a:lnSpc>
                <a:spcPts val="5866"/>
              </a:lnSpc>
              <a:spcBef>
                <a:spcPts val="0"/>
              </a:spcBef>
              <a:spcAft>
                <a:spcPts val="0"/>
              </a:spcAft>
            </a:pPr>
            <a:r>
              <a:rPr dirty="0" sz="5050" b="1">
                <a:solidFill>
                  <a:srgbClr val="e5e7eb"/>
                </a:solidFill>
                <a:latin typeface="DejaVu Sans"/>
                <a:cs typeface="DejaVu Sans"/>
              </a:rPr>
              <a:t>Advanced</a:t>
            </a:r>
            <a:r>
              <a:rPr dirty="0" sz="5050" b="1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5050" b="1">
                <a:solidFill>
                  <a:srgbClr val="e5e7eb"/>
                </a:solidFill>
                <a:latin typeface="DejaVu Sans"/>
                <a:cs typeface="DejaVu Sans"/>
              </a:rPr>
              <a:t>UI</a:t>
            </a:r>
            <a:r>
              <a:rPr dirty="0" sz="5050" b="1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5050" b="1">
                <a:solidFill>
                  <a:srgbClr val="e5e7eb"/>
                </a:solidFill>
                <a:latin typeface="DejaVu Sans"/>
                <a:cs typeface="DejaVu Sans"/>
              </a:rPr>
              <a:t>in</a:t>
            </a:r>
            <a:r>
              <a:rPr dirty="0" sz="5050" b="1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5050" b="1">
                <a:solidFill>
                  <a:srgbClr val="e5e7eb"/>
                </a:solidFill>
                <a:latin typeface="DejaVu Sans"/>
                <a:cs typeface="DejaVu Sans"/>
              </a:rPr>
              <a:t>Android:</a:t>
            </a:r>
          </a:p>
          <a:p>
            <a:pPr marL="240803" marR="0">
              <a:lnSpc>
                <a:spcPts val="5866"/>
              </a:lnSpc>
              <a:spcBef>
                <a:spcPts val="433"/>
              </a:spcBef>
              <a:spcAft>
                <a:spcPts val="0"/>
              </a:spcAft>
            </a:pPr>
            <a:r>
              <a:rPr dirty="0" sz="5050" b="1">
                <a:solidFill>
                  <a:srgbClr val="2dd4bf"/>
                </a:solidFill>
                <a:latin typeface="DejaVu Sans"/>
                <a:cs typeface="DejaVu Sans"/>
              </a:rPr>
              <a:t>Animations</a:t>
            </a:r>
            <a:r>
              <a:rPr dirty="0" sz="5050" b="1">
                <a:solidFill>
                  <a:srgbClr val="2dd4bf"/>
                </a:solidFill>
                <a:latin typeface="DejaVu Sans"/>
                <a:cs typeface="DejaVu Sans"/>
              </a:rPr>
              <a:t> </a:t>
            </a:r>
            <a:r>
              <a:rPr dirty="0" sz="5050" b="1">
                <a:solidFill>
                  <a:srgbClr val="2dd4bf"/>
                </a:solidFill>
                <a:latin typeface="DejaVu Sans"/>
                <a:cs typeface="DejaVu Sans"/>
              </a:rPr>
              <a:t>&amp;</a:t>
            </a:r>
            <a:r>
              <a:rPr dirty="0" sz="5050" spc="-12" b="1">
                <a:solidFill>
                  <a:srgbClr val="2dd4bf"/>
                </a:solidFill>
                <a:latin typeface="DejaVu Sans"/>
                <a:cs typeface="DejaVu Sans"/>
              </a:rPr>
              <a:t> </a:t>
            </a:r>
            <a:r>
              <a:rPr dirty="0" sz="5050" b="1">
                <a:solidFill>
                  <a:srgbClr val="2dd4bf"/>
                </a:solidFill>
                <a:latin typeface="DejaVu Sans"/>
                <a:cs typeface="DejaVu Sans"/>
              </a:rPr>
              <a:t>Material</a:t>
            </a:r>
            <a:r>
              <a:rPr dirty="0" sz="5050" b="1">
                <a:solidFill>
                  <a:srgbClr val="2dd4bf"/>
                </a:solidFill>
                <a:latin typeface="DejaVu Sans"/>
                <a:cs typeface="DejaVu Sans"/>
              </a:rPr>
              <a:t> </a:t>
            </a:r>
            <a:r>
              <a:rPr dirty="0" sz="5050" b="1">
                <a:solidFill>
                  <a:srgbClr val="2dd4bf"/>
                </a:solidFill>
                <a:latin typeface="DejaVu Sans"/>
                <a:cs typeface="DejaVu Sans"/>
              </a:rPr>
              <a:t>Design</a:t>
            </a:r>
          </a:p>
          <a:p>
            <a:pPr marL="0" marR="0">
              <a:lnSpc>
                <a:spcPts val="2932"/>
              </a:lnSpc>
              <a:spcBef>
                <a:spcPts val="2248"/>
              </a:spcBef>
              <a:spcAft>
                <a:spcPts val="0"/>
              </a:spcAft>
            </a:pPr>
            <a:r>
              <a:rPr dirty="0" sz="2500" spc="-87">
                <a:solidFill>
                  <a:srgbClr val="d1d5db"/>
                </a:solidFill>
                <a:latin typeface="DejaVu Sans"/>
                <a:cs typeface="DejaVu Sans"/>
              </a:rPr>
              <a:t>Tuần</a:t>
            </a:r>
            <a:r>
              <a:rPr dirty="0" sz="2500" spc="104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2500" spc="11">
                <a:solidFill>
                  <a:srgbClr val="d1d5db"/>
                </a:solidFill>
                <a:latin typeface="DejaVu Sans"/>
                <a:cs typeface="DejaVu Sans"/>
              </a:rPr>
              <a:t>10</a:t>
            </a:r>
            <a:r>
              <a:rPr dirty="0" sz="2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2500">
                <a:solidFill>
                  <a:srgbClr val="d1d5db"/>
                </a:solidFill>
                <a:latin typeface="DejaVu Sans"/>
                <a:cs typeface="DejaVu Sans"/>
              </a:rPr>
              <a:t>–</a:t>
            </a:r>
            <a:r>
              <a:rPr dirty="0" sz="2500" spc="15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2500" spc="10">
                <a:solidFill>
                  <a:srgbClr val="d1d5db"/>
                </a:solidFill>
                <a:latin typeface="DejaVu Sans"/>
                <a:cs typeface="DejaVu Sans"/>
              </a:rPr>
              <a:t>Giao</a:t>
            </a:r>
            <a:r>
              <a:rPr dirty="0" sz="2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2500">
                <a:solidFill>
                  <a:srgbClr val="d1d5db"/>
                </a:solidFill>
                <a:latin typeface="DejaVu Sans"/>
                <a:cs typeface="DejaVu Sans"/>
              </a:rPr>
              <a:t>diện</a:t>
            </a:r>
            <a:r>
              <a:rPr dirty="0" sz="2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2500" spc="11">
                <a:solidFill>
                  <a:srgbClr val="d1d5db"/>
                </a:solidFill>
                <a:latin typeface="DejaVu Sans"/>
                <a:cs typeface="DejaVu Sans"/>
              </a:rPr>
              <a:t>người</a:t>
            </a:r>
            <a:r>
              <a:rPr dirty="0" sz="2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2500" spc="11">
                <a:solidFill>
                  <a:srgbClr val="d1d5db"/>
                </a:solidFill>
                <a:latin typeface="DejaVu Sans"/>
                <a:cs typeface="DejaVu Sans"/>
              </a:rPr>
              <a:t>dùng</a:t>
            </a:r>
            <a:r>
              <a:rPr dirty="0" sz="2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2500" spc="11">
                <a:solidFill>
                  <a:srgbClr val="d1d5db"/>
                </a:solidFill>
                <a:latin typeface="DejaVu Sans"/>
                <a:cs typeface="DejaVu Sans"/>
              </a:rPr>
              <a:t>nâng</a:t>
            </a:r>
            <a:r>
              <a:rPr dirty="0" sz="2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2500" spc="10">
                <a:solidFill>
                  <a:srgbClr val="d1d5db"/>
                </a:solidFill>
                <a:latin typeface="DejaVu Sans"/>
                <a:cs typeface="DejaVu Sans"/>
              </a:rPr>
              <a:t>cao:</a:t>
            </a:r>
            <a:r>
              <a:rPr dirty="0" sz="2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2500" spc="11">
                <a:solidFill>
                  <a:srgbClr val="d1d5db"/>
                </a:solidFill>
                <a:latin typeface="DejaVu Sans"/>
                <a:cs typeface="DejaVu Sans"/>
              </a:rPr>
              <a:t>Hoạt</a:t>
            </a:r>
            <a:r>
              <a:rPr dirty="0" sz="2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2500" spc="10">
                <a:solidFill>
                  <a:srgbClr val="d1d5db"/>
                </a:solidFill>
                <a:latin typeface="DejaVu Sans"/>
                <a:cs typeface="DejaVu Sans"/>
              </a:rPr>
              <a:t>ảnh</a:t>
            </a:r>
            <a:r>
              <a:rPr dirty="0" sz="2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2500">
                <a:solidFill>
                  <a:srgbClr val="d1d5db"/>
                </a:solidFill>
                <a:latin typeface="DejaVu Sans"/>
                <a:cs typeface="DejaVu Sans"/>
              </a:rPr>
              <a:t>&amp;</a:t>
            </a:r>
            <a:r>
              <a:rPr dirty="0" sz="2500" spc="2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2500" spc="10">
                <a:solidFill>
                  <a:srgbClr val="d1d5db"/>
                </a:solidFill>
                <a:latin typeface="DejaVu Sans"/>
                <a:cs typeface="DejaVu Sans"/>
              </a:rPr>
              <a:t>Material</a:t>
            </a:r>
            <a:r>
              <a:rPr dirty="0" sz="2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2500" spc="10">
                <a:solidFill>
                  <a:srgbClr val="d1d5db"/>
                </a:solidFill>
                <a:latin typeface="DejaVu Sans"/>
                <a:cs typeface="DejaVu Sans"/>
              </a:rPr>
              <a:t>Design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26690" y="6105995"/>
            <a:ext cx="3360103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d1d5db"/>
                </a:solidFill>
                <a:latin typeface="DejaVu Sans"/>
                <a:cs typeface="DejaVu Sans"/>
              </a:rPr>
              <a:t>Presented</a:t>
            </a:r>
            <a:r>
              <a:rPr dirty="0" sz="2000" spc="15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2000" spc="-43">
                <a:solidFill>
                  <a:srgbClr val="d1d5db"/>
                </a:solidFill>
                <a:latin typeface="DejaVu Sans"/>
                <a:cs typeface="DejaVu Sans"/>
              </a:rPr>
              <a:t>by:</a:t>
            </a:r>
            <a:r>
              <a:rPr dirty="0" sz="2000" spc="52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2000" spc="10">
                <a:solidFill>
                  <a:srgbClr val="d1d5db"/>
                </a:solidFill>
                <a:latin typeface="DejaVu Sans"/>
                <a:cs typeface="DejaVu Sans"/>
              </a:rPr>
              <a:t>your</a:t>
            </a:r>
            <a:r>
              <a:rPr dirty="0" sz="20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2000" spc="11">
                <a:solidFill>
                  <a:srgbClr val="d1d5db"/>
                </a:solidFill>
                <a:latin typeface="DejaVu Sans"/>
                <a:cs typeface="DejaVu Sans"/>
              </a:rPr>
              <a:t>name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7627366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685579" y="370256"/>
            <a:ext cx="4973044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5" b="1">
                <a:solidFill>
                  <a:srgbClr val="e0e0e0"/>
                </a:solidFill>
                <a:latin typeface="DejaVu Sans"/>
                <a:cs typeface="DejaVu Sans"/>
              </a:rPr>
              <a:t>Mục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tiêu</a:t>
            </a:r>
            <a:r>
              <a:rPr dirty="0" sz="4050" spc="-1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00bcd4"/>
                </a:solidFill>
                <a:latin typeface="DejaVu Sans"/>
                <a:cs typeface="DejaVu Sans"/>
              </a:rPr>
              <a:t>học</a:t>
            </a:r>
            <a:r>
              <a:rPr dirty="0" sz="405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4050" spc="-10" b="1">
                <a:solidFill>
                  <a:srgbClr val="00bcd4"/>
                </a:solidFill>
                <a:latin typeface="DejaVu Sans"/>
                <a:cs typeface="DejaVu Sans"/>
              </a:rPr>
              <a:t>tập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821167" y="1619825"/>
            <a:ext cx="1656169" cy="5569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1a2b3c"/>
                </a:solidFill>
                <a:latin typeface="DejaVu Sans"/>
                <a:cs typeface="DejaVu Sans"/>
              </a:rPr>
              <a:t>Áp</a:t>
            </a:r>
            <a:r>
              <a:rPr dirty="0" sz="1500" b="1">
                <a:solidFill>
                  <a:srgbClr val="1a2b3c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1a2b3c"/>
                </a:solidFill>
                <a:latin typeface="DejaVu Sans"/>
                <a:cs typeface="DejaVu Sans"/>
              </a:rPr>
              <a:t>Dụng</a:t>
            </a:r>
            <a:r>
              <a:rPr dirty="0" sz="1500" b="1">
                <a:solidFill>
                  <a:srgbClr val="1a2b3c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1a2b3c"/>
                </a:solidFill>
                <a:latin typeface="DejaVu Sans"/>
                <a:cs typeface="DejaVu Sans"/>
              </a:rPr>
              <a:t>Hoạt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 b="1">
                <a:solidFill>
                  <a:srgbClr val="1a2b3c"/>
                </a:solidFill>
                <a:latin typeface="DejaVu Sans"/>
                <a:cs typeface="DejaVu Sans"/>
              </a:rPr>
              <a:t>Ảnh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965155" y="1676975"/>
            <a:ext cx="1817055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1a2b3c"/>
                </a:solidFill>
                <a:latin typeface="DejaVu Sans"/>
                <a:cs typeface="DejaVu Sans"/>
              </a:rPr>
              <a:t>Hiểu</a:t>
            </a:r>
            <a:r>
              <a:rPr dirty="0" sz="1500" b="1">
                <a:solidFill>
                  <a:srgbClr val="1a2b3c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1a2b3c"/>
                </a:solidFill>
                <a:latin typeface="DejaVu Sans"/>
                <a:cs typeface="DejaVu Sans"/>
              </a:rPr>
              <a:t>Khái</a:t>
            </a:r>
            <a:r>
              <a:rPr dirty="0" sz="1500" b="1">
                <a:solidFill>
                  <a:srgbClr val="1a2b3c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1a2b3c"/>
                </a:solidFill>
                <a:latin typeface="DejaVu Sans"/>
                <a:cs typeface="DejaVu Sans"/>
              </a:rPr>
              <a:t>Niệm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456163" y="2107109"/>
            <a:ext cx="2228150" cy="640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7">
                <a:solidFill>
                  <a:srgbClr val="1a2b3c"/>
                </a:solidFill>
                <a:latin typeface="DejaVu Sans"/>
                <a:cs typeface="DejaVu Sans"/>
              </a:rPr>
              <a:t>Nắm</a:t>
            </a:r>
            <a:r>
              <a:rPr dirty="0" sz="1200" spc="-15">
                <a:solidFill>
                  <a:srgbClr val="1a2b3c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1a2b3c"/>
                </a:solidFill>
                <a:latin typeface="DejaVu Sans"/>
                <a:cs typeface="DejaVu Sans"/>
              </a:rPr>
              <a:t>vững</a:t>
            </a:r>
            <a:r>
              <a:rPr dirty="0" sz="1200">
                <a:solidFill>
                  <a:srgbClr val="1a2b3c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1a2b3c"/>
                </a:solidFill>
                <a:latin typeface="DejaVu Sans"/>
                <a:cs typeface="DejaVu Sans"/>
              </a:rPr>
              <a:t>các</a:t>
            </a:r>
            <a:r>
              <a:rPr dirty="0" sz="1200">
                <a:solidFill>
                  <a:srgbClr val="1a2b3c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1a2b3c"/>
                </a:solidFill>
                <a:latin typeface="DejaVu Sans"/>
                <a:cs typeface="DejaVu Sans"/>
              </a:rPr>
              <a:t>nguyên</a:t>
            </a:r>
            <a:r>
              <a:rPr dirty="0" sz="1200">
                <a:solidFill>
                  <a:srgbClr val="1a2b3c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1a2b3c"/>
                </a:solidFill>
                <a:latin typeface="DejaVu Sans"/>
                <a:cs typeface="DejaVu Sans"/>
              </a:rPr>
              <a:t>lý</a:t>
            </a:r>
            <a:r>
              <a:rPr dirty="0" sz="1200" spc="-15">
                <a:solidFill>
                  <a:srgbClr val="1a2b3c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1a2b3c"/>
                </a:solidFill>
                <a:latin typeface="DejaVu Sans"/>
                <a:cs typeface="DejaVu Sans"/>
              </a:rPr>
              <a:t>cơ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dirty="0" sz="1200" spc="-15">
                <a:solidFill>
                  <a:srgbClr val="1a2b3c"/>
                </a:solidFill>
                <a:latin typeface="DejaVu Sans"/>
                <a:cs typeface="DejaVu Sans"/>
              </a:rPr>
              <a:t>bản</a:t>
            </a:r>
            <a:r>
              <a:rPr dirty="0" sz="1200">
                <a:solidFill>
                  <a:srgbClr val="1a2b3c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1a2b3c"/>
                </a:solidFill>
                <a:latin typeface="DejaVu Sans"/>
                <a:cs typeface="DejaVu Sans"/>
              </a:rPr>
              <a:t>của</a:t>
            </a:r>
            <a:r>
              <a:rPr dirty="0" sz="1200">
                <a:solidFill>
                  <a:srgbClr val="1a2b3c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1a2b3c"/>
                </a:solidFill>
                <a:latin typeface="DejaVu Sans"/>
                <a:cs typeface="DejaVu Sans"/>
              </a:rPr>
              <a:t>hoạt</a:t>
            </a:r>
            <a:r>
              <a:rPr dirty="0" sz="1200">
                <a:solidFill>
                  <a:srgbClr val="1a2b3c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1a2b3c"/>
                </a:solidFill>
                <a:latin typeface="DejaVu Sans"/>
                <a:cs typeface="DejaVu Sans"/>
              </a:rPr>
              <a:t>ảnh</a:t>
            </a:r>
            <a:r>
              <a:rPr dirty="0" sz="1200">
                <a:solidFill>
                  <a:srgbClr val="1a2b3c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1a2b3c"/>
                </a:solidFill>
                <a:latin typeface="DejaVu Sans"/>
                <a:cs typeface="DejaVu Sans"/>
              </a:rPr>
              <a:t>trong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7">
                <a:solidFill>
                  <a:srgbClr val="1a2b3c"/>
                </a:solidFill>
                <a:latin typeface="DejaVu Sans"/>
                <a:cs typeface="DejaVu Sans"/>
              </a:rPr>
              <a:t>Android.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312175" y="2278559"/>
            <a:ext cx="2359993" cy="4310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43">
                <a:solidFill>
                  <a:srgbClr val="1a2b3c"/>
                </a:solidFill>
                <a:latin typeface="DejaVu Sans"/>
                <a:cs typeface="DejaVu Sans"/>
              </a:rPr>
              <a:t>Triển</a:t>
            </a:r>
            <a:r>
              <a:rPr dirty="0" sz="1200" spc="20">
                <a:solidFill>
                  <a:srgbClr val="1a2b3c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1a2b3c"/>
                </a:solidFill>
                <a:latin typeface="DejaVu Sans"/>
                <a:cs typeface="DejaVu Sans"/>
              </a:rPr>
              <a:t>khai</a:t>
            </a:r>
            <a:r>
              <a:rPr dirty="0" sz="1200">
                <a:solidFill>
                  <a:srgbClr val="1a2b3c"/>
                </a:solidFill>
                <a:latin typeface="DejaVu Sans"/>
                <a:cs typeface="DejaVu Sans"/>
              </a:rPr>
              <a:t> </a:t>
            </a:r>
            <a:r>
              <a:rPr dirty="0" sz="1200" spc="-20">
                <a:solidFill>
                  <a:srgbClr val="1a2b3c"/>
                </a:solidFill>
                <a:latin typeface="DejaVu Sans"/>
                <a:cs typeface="DejaVu Sans"/>
              </a:rPr>
              <a:t>Property</a:t>
            </a:r>
            <a:r>
              <a:rPr dirty="0" sz="1200">
                <a:solidFill>
                  <a:srgbClr val="1a2b3c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1a2b3c"/>
                </a:solidFill>
                <a:latin typeface="DejaVu Sans"/>
                <a:cs typeface="DejaVu Sans"/>
              </a:rPr>
              <a:t>Animation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dirty="0" sz="1200" spc="-15">
                <a:solidFill>
                  <a:srgbClr val="1a2b3c"/>
                </a:solidFill>
                <a:latin typeface="DejaVu Sans"/>
                <a:cs typeface="DejaVu Sans"/>
              </a:rPr>
              <a:t>và</a:t>
            </a:r>
            <a:r>
              <a:rPr dirty="0" sz="1200">
                <a:solidFill>
                  <a:srgbClr val="1a2b3c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1a2b3c"/>
                </a:solidFill>
                <a:latin typeface="DejaVu Sans"/>
                <a:cs typeface="DejaVu Sans"/>
              </a:rPr>
              <a:t>Drawable</a:t>
            </a:r>
            <a:r>
              <a:rPr dirty="0" sz="1200">
                <a:solidFill>
                  <a:srgbClr val="1a2b3c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1a2b3c"/>
                </a:solidFill>
                <a:latin typeface="DejaVu Sans"/>
                <a:cs typeface="DejaVu Sans"/>
              </a:rPr>
              <a:t>Animation.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669433" y="3041313"/>
            <a:ext cx="720846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00bcd4"/>
                </a:solidFill>
                <a:latin typeface="DejaVu Sans"/>
                <a:cs typeface="DejaVu Sans"/>
              </a:rPr>
              <a:t>Android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621636" y="3041313"/>
            <a:ext cx="808190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00bcd4"/>
                </a:solidFill>
                <a:latin typeface="DejaVu Sans"/>
                <a:cs typeface="DejaVu Sans"/>
              </a:rPr>
              <a:t>Hoạt</a:t>
            </a:r>
            <a:r>
              <a:rPr dirty="0" sz="100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00bcd4"/>
                </a:solidFill>
                <a:latin typeface="DejaVu Sans"/>
                <a:cs typeface="DejaVu Sans"/>
              </a:rPr>
              <a:t>ảnh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9525445" y="3041313"/>
            <a:ext cx="783541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ff9800"/>
                </a:solidFill>
                <a:latin typeface="DejaVu Sans"/>
                <a:cs typeface="DejaVu Sans"/>
              </a:rPr>
              <a:t>Property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0540304" y="3041313"/>
            <a:ext cx="835172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ff9800"/>
                </a:solidFill>
                <a:latin typeface="DejaVu Sans"/>
                <a:cs typeface="DejaVu Sans"/>
              </a:rPr>
              <a:t>Drawable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9821167" y="3877250"/>
            <a:ext cx="1237310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spc="-28" b="1">
                <a:solidFill>
                  <a:srgbClr val="1a2b3c"/>
                </a:solidFill>
                <a:latin typeface="DejaVu Sans"/>
                <a:cs typeface="DejaVu Sans"/>
              </a:rPr>
              <a:t>Triển</a:t>
            </a:r>
            <a:r>
              <a:rPr dirty="0" sz="1500" spc="40" b="1">
                <a:solidFill>
                  <a:srgbClr val="1a2b3c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1a2b3c"/>
                </a:solidFill>
                <a:latin typeface="DejaVu Sans"/>
                <a:cs typeface="DejaVu Sans"/>
              </a:rPr>
              <a:t>Khai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965155" y="3934400"/>
            <a:ext cx="1861478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1a2b3c"/>
                </a:solidFill>
                <a:latin typeface="DejaVu Sans"/>
                <a:cs typeface="DejaVu Sans"/>
              </a:rPr>
              <a:t>Material</a:t>
            </a:r>
            <a:r>
              <a:rPr dirty="0" sz="1500" b="1">
                <a:solidFill>
                  <a:srgbClr val="1a2b3c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1a2b3c"/>
                </a:solidFill>
                <a:latin typeface="DejaVu Sans"/>
                <a:cs typeface="DejaVu Sans"/>
              </a:rPr>
              <a:t>Design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9821167" y="4172525"/>
            <a:ext cx="1639179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1a2b3c"/>
                </a:solidFill>
                <a:latin typeface="DejaVu Sans"/>
                <a:cs typeface="DejaVu Sans"/>
              </a:rPr>
              <a:t>MotionLayout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456163" y="4364534"/>
            <a:ext cx="2306509" cy="4310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1a2b3c"/>
                </a:solidFill>
                <a:latin typeface="DejaVu Sans"/>
                <a:cs typeface="DejaVu Sans"/>
              </a:rPr>
              <a:t>Sử</a:t>
            </a:r>
            <a:r>
              <a:rPr dirty="0" sz="1200">
                <a:solidFill>
                  <a:srgbClr val="1a2b3c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1a2b3c"/>
                </a:solidFill>
                <a:latin typeface="DejaVu Sans"/>
                <a:cs typeface="DejaVu Sans"/>
              </a:rPr>
              <a:t>dụng</a:t>
            </a:r>
            <a:r>
              <a:rPr dirty="0" sz="1200">
                <a:solidFill>
                  <a:srgbClr val="1a2b3c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1a2b3c"/>
                </a:solidFill>
                <a:latin typeface="DejaVu Sans"/>
                <a:cs typeface="DejaVu Sans"/>
              </a:rPr>
              <a:t>các</a:t>
            </a:r>
            <a:r>
              <a:rPr dirty="0" sz="1200">
                <a:solidFill>
                  <a:srgbClr val="1a2b3c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1a2b3c"/>
                </a:solidFill>
                <a:latin typeface="DejaVu Sans"/>
                <a:cs typeface="DejaVu Sans"/>
              </a:rPr>
              <a:t>thành</a:t>
            </a:r>
            <a:r>
              <a:rPr dirty="0" sz="1200">
                <a:solidFill>
                  <a:srgbClr val="1a2b3c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1a2b3c"/>
                </a:solidFill>
                <a:latin typeface="DejaVu Sans"/>
                <a:cs typeface="DejaVu Sans"/>
              </a:rPr>
              <a:t>phần</a:t>
            </a:r>
            <a:r>
              <a:rPr dirty="0" sz="1200">
                <a:solidFill>
                  <a:srgbClr val="1a2b3c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1a2b3c"/>
                </a:solidFill>
                <a:latin typeface="DejaVu Sans"/>
                <a:cs typeface="DejaVu Sans"/>
              </a:rPr>
              <a:t>như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dirty="0" sz="1200" spc="-14">
                <a:solidFill>
                  <a:srgbClr val="1a2b3c"/>
                </a:solidFill>
                <a:latin typeface="DejaVu Sans"/>
                <a:cs typeface="DejaVu Sans"/>
              </a:rPr>
              <a:t>Button,</a:t>
            </a:r>
            <a:r>
              <a:rPr dirty="0" sz="1200">
                <a:solidFill>
                  <a:srgbClr val="1a2b3c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1a2b3c"/>
                </a:solidFill>
                <a:latin typeface="DejaVu Sans"/>
                <a:cs typeface="DejaVu Sans"/>
              </a:rPr>
              <a:t>AppBar,</a:t>
            </a:r>
            <a:r>
              <a:rPr dirty="0" sz="1200">
                <a:solidFill>
                  <a:srgbClr val="1a2b3c"/>
                </a:solidFill>
                <a:latin typeface="DejaVu Sans"/>
                <a:cs typeface="DejaVu Sans"/>
              </a:rPr>
              <a:t> </a:t>
            </a:r>
            <a:r>
              <a:rPr dirty="0" sz="1200" spc="-20">
                <a:solidFill>
                  <a:srgbClr val="1a2b3c"/>
                </a:solidFill>
                <a:latin typeface="DejaVu Sans"/>
                <a:cs typeface="DejaVu Sans"/>
              </a:rPr>
              <a:t>Card,</a:t>
            </a:r>
            <a:r>
              <a:rPr dirty="0" sz="1200">
                <a:solidFill>
                  <a:srgbClr val="1a2b3c"/>
                </a:solidFill>
                <a:latin typeface="DejaVu Sans"/>
                <a:cs typeface="DejaVu Sans"/>
              </a:rPr>
              <a:t> </a:t>
            </a:r>
            <a:r>
              <a:rPr dirty="0" sz="1200" spc="-51">
                <a:solidFill>
                  <a:srgbClr val="1a2b3c"/>
                </a:solidFill>
                <a:latin typeface="DejaVu Sans"/>
                <a:cs typeface="DejaVu Sans"/>
              </a:rPr>
              <a:t>FAB.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9312175" y="4535984"/>
            <a:ext cx="2290609" cy="4310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1a2b3c"/>
                </a:solidFill>
                <a:latin typeface="DejaVu Sans"/>
                <a:cs typeface="DejaVu Sans"/>
              </a:rPr>
              <a:t>Xây</a:t>
            </a:r>
            <a:r>
              <a:rPr dirty="0" sz="1200">
                <a:solidFill>
                  <a:srgbClr val="1a2b3c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1a2b3c"/>
                </a:solidFill>
                <a:latin typeface="DejaVu Sans"/>
                <a:cs typeface="DejaVu Sans"/>
              </a:rPr>
              <a:t>dựng</a:t>
            </a:r>
            <a:r>
              <a:rPr dirty="0" sz="1200">
                <a:solidFill>
                  <a:srgbClr val="1a2b3c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1a2b3c"/>
                </a:solidFill>
                <a:latin typeface="DejaVu Sans"/>
                <a:cs typeface="DejaVu Sans"/>
              </a:rPr>
              <a:t>chuyển</a:t>
            </a:r>
            <a:r>
              <a:rPr dirty="0" sz="1200">
                <a:solidFill>
                  <a:srgbClr val="1a2b3c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1a2b3c"/>
                </a:solidFill>
                <a:latin typeface="DejaVu Sans"/>
                <a:cs typeface="DejaVu Sans"/>
              </a:rPr>
              <a:t>động</a:t>
            </a:r>
            <a:r>
              <a:rPr dirty="0" sz="1200">
                <a:solidFill>
                  <a:srgbClr val="1a2b3c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1a2b3c"/>
                </a:solidFill>
                <a:latin typeface="DejaVu Sans"/>
                <a:cs typeface="DejaVu Sans"/>
              </a:rPr>
              <a:t>phức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dirty="0" sz="1200" spc="-11">
                <a:solidFill>
                  <a:srgbClr val="1a2b3c"/>
                </a:solidFill>
                <a:latin typeface="DejaVu Sans"/>
                <a:cs typeface="DejaVu Sans"/>
              </a:rPr>
              <a:t>tạp</a:t>
            </a:r>
            <a:r>
              <a:rPr dirty="0" sz="1200" spc="-10">
                <a:solidFill>
                  <a:srgbClr val="1a2b3c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1a2b3c"/>
                </a:solidFill>
                <a:latin typeface="DejaVu Sans"/>
                <a:cs typeface="DejaVu Sans"/>
              </a:rPr>
              <a:t>với</a:t>
            </a:r>
            <a:r>
              <a:rPr dirty="0" sz="1200">
                <a:solidFill>
                  <a:srgbClr val="1a2b3c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1a2b3c"/>
                </a:solidFill>
                <a:latin typeface="DejaVu Sans"/>
                <a:cs typeface="DejaVu Sans"/>
              </a:rPr>
              <a:t>MotionLayout.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669433" y="4955838"/>
            <a:ext cx="1249720" cy="5300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00bcd4"/>
                </a:solidFill>
                <a:latin typeface="DejaVu Sans"/>
                <a:cs typeface="DejaVu Sans"/>
              </a:rPr>
              <a:t>UI</a:t>
            </a:r>
            <a:r>
              <a:rPr dirty="0" sz="100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00bcd4"/>
                </a:solidFill>
                <a:latin typeface="DejaVu Sans"/>
                <a:cs typeface="DejaVu Sans"/>
              </a:rPr>
              <a:t>Components</a:t>
            </a:r>
          </a:p>
          <a:p>
            <a:pPr marL="0" marR="0">
              <a:lnSpc>
                <a:spcPts val="1173"/>
              </a:lnSpc>
              <a:spcBef>
                <a:spcPts val="1526"/>
              </a:spcBef>
              <a:spcAft>
                <a:spcPts val="0"/>
              </a:spcAft>
            </a:pPr>
            <a:r>
              <a:rPr dirty="0" sz="1000" b="1">
                <a:solidFill>
                  <a:srgbClr val="00bcd4"/>
                </a:solidFill>
                <a:latin typeface="DejaVu Sans"/>
                <a:cs typeface="DejaVu Sans"/>
              </a:rPr>
              <a:t>Material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9525445" y="5298738"/>
            <a:ext cx="651899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ff9800"/>
                </a:solidFill>
                <a:latin typeface="DejaVu Sans"/>
                <a:cs typeface="DejaVu Sans"/>
              </a:rPr>
              <a:t>Motion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0408740" y="5298738"/>
            <a:ext cx="644086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ff9800"/>
                </a:solidFill>
                <a:latin typeface="DejaVu Sans"/>
                <a:cs typeface="DejaVu Sans"/>
              </a:rPr>
              <a:t>Layout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682674" y="6154479"/>
            <a:ext cx="5322326" cy="75114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"Chuyển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động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 spc="-10">
                <a:solidFill>
                  <a:srgbClr val="d1d5db"/>
                </a:solidFill>
                <a:latin typeface="DejaVu Sans"/>
                <a:cs typeface="DejaVu Sans"/>
              </a:rPr>
              <a:t>trong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UI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không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chỉ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làm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đẹp,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mà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còn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hướng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dẫn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người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dùng,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tạo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cảm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giác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trực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quan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xây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dựng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cá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tính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thương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hiệu."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6266556" y="6154479"/>
            <a:ext cx="1927145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00bcd4"/>
                </a:solidFill>
                <a:latin typeface="DejaVu Sans"/>
                <a:cs typeface="DejaVu Sans"/>
              </a:rPr>
              <a:t>Nguồn</a:t>
            </a:r>
            <a:r>
              <a:rPr dirty="0" sz="135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00bcd4"/>
                </a:solidFill>
                <a:latin typeface="DejaVu Sans"/>
                <a:cs typeface="DejaVu Sans"/>
              </a:rPr>
              <a:t>tham</a:t>
            </a:r>
            <a:r>
              <a:rPr dirty="0" sz="135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00bcd4"/>
                </a:solidFill>
                <a:latin typeface="DejaVu Sans"/>
                <a:cs typeface="DejaVu Sans"/>
              </a:rPr>
              <a:t>khảo: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6266556" y="6479838"/>
            <a:ext cx="2976100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bcd4"/>
                </a:solidFill>
                <a:latin typeface="DejaVu Sans"/>
                <a:cs typeface="DejaVu Sans"/>
              </a:rPr>
              <a:t>•</a:t>
            </a:r>
            <a:r>
              <a:rPr dirty="0" sz="1000" spc="258">
                <a:solidFill>
                  <a:srgbClr val="00bcd4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Understanding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motion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-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Material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Design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2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6266556" y="6689388"/>
            <a:ext cx="3949097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bcd4"/>
                </a:solidFill>
                <a:latin typeface="DejaVu Sans"/>
                <a:cs typeface="DejaVu Sans"/>
              </a:rPr>
              <a:t>•</a:t>
            </a:r>
            <a:r>
              <a:rPr dirty="0" sz="1000" spc="258">
                <a:solidFill>
                  <a:srgbClr val="00bcd4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Manage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motion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and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widget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animation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with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MotionLayout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6266556" y="6908463"/>
            <a:ext cx="2541687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bcd4"/>
                </a:solidFill>
                <a:latin typeface="DejaVu Sans"/>
                <a:cs typeface="DejaVu Sans"/>
              </a:rPr>
              <a:t>•</a:t>
            </a:r>
            <a:r>
              <a:rPr dirty="0" sz="1000" spc="258">
                <a:solidFill>
                  <a:srgbClr val="00bcd4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Material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Design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for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Android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|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Views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2598092" y="7002959"/>
            <a:ext cx="3479568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6b7280"/>
                </a:solidFill>
                <a:latin typeface="DejaVu Sans"/>
                <a:cs typeface="DejaVu Sans"/>
              </a:rPr>
              <a:t>—</a:t>
            </a:r>
            <a:r>
              <a:rPr dirty="0" sz="1200" spc="-31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6b7280"/>
                </a:solidFill>
                <a:latin typeface="DejaVu Sans"/>
                <a:cs typeface="DejaVu Sans"/>
              </a:rPr>
              <a:t>Understanding</a:t>
            </a:r>
            <a:r>
              <a:rPr dirty="0" sz="1200" spc="-1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6b7280"/>
                </a:solidFill>
                <a:latin typeface="DejaVu Sans"/>
                <a:cs typeface="DejaVu Sans"/>
              </a:rPr>
              <a:t>motion</a:t>
            </a:r>
            <a:r>
              <a:rPr dirty="0" sz="12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6b7280"/>
                </a:solidFill>
                <a:latin typeface="DejaVu Sans"/>
                <a:cs typeface="DejaVu Sans"/>
              </a:rPr>
              <a:t>-</a:t>
            </a:r>
            <a:r>
              <a:rPr dirty="0" sz="1200" spc="-17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6b7280"/>
                </a:solidFill>
                <a:latin typeface="DejaVu Sans"/>
                <a:cs typeface="DejaVu Sans"/>
              </a:rPr>
              <a:t>Material</a:t>
            </a:r>
            <a:r>
              <a:rPr dirty="0" sz="12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6b7280"/>
                </a:solidFill>
                <a:latin typeface="DejaVu Sans"/>
                <a:cs typeface="DejaVu Sans"/>
              </a:rPr>
              <a:t>Design</a:t>
            </a:r>
            <a:r>
              <a:rPr dirty="0" sz="1200" spc="-1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6b7280"/>
                </a:solidFill>
                <a:latin typeface="DejaVu Sans"/>
                <a:cs typeface="DejaVu Sans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7627366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685579" y="370256"/>
            <a:ext cx="4973044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5" b="1">
                <a:solidFill>
                  <a:srgbClr val="e0e0e0"/>
                </a:solidFill>
                <a:latin typeface="DejaVu Sans"/>
                <a:cs typeface="DejaVu Sans"/>
              </a:rPr>
              <a:t>Mục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tiêu</a:t>
            </a:r>
            <a:r>
              <a:rPr dirty="0" sz="4050" spc="-1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00bcd4"/>
                </a:solidFill>
                <a:latin typeface="DejaVu Sans"/>
                <a:cs typeface="DejaVu Sans"/>
              </a:rPr>
              <a:t>học</a:t>
            </a:r>
            <a:r>
              <a:rPr dirty="0" sz="405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4050" spc="-10" b="1">
                <a:solidFill>
                  <a:srgbClr val="00bcd4"/>
                </a:solidFill>
                <a:latin typeface="DejaVu Sans"/>
                <a:cs typeface="DejaVu Sans"/>
              </a:rPr>
              <a:t>tập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821167" y="1619825"/>
            <a:ext cx="1656169" cy="5569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1a2b3c"/>
                </a:solidFill>
                <a:latin typeface="DejaVu Sans"/>
                <a:cs typeface="DejaVu Sans"/>
              </a:rPr>
              <a:t>Áp</a:t>
            </a:r>
            <a:r>
              <a:rPr dirty="0" sz="1500" b="1">
                <a:solidFill>
                  <a:srgbClr val="1a2b3c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1a2b3c"/>
                </a:solidFill>
                <a:latin typeface="DejaVu Sans"/>
                <a:cs typeface="DejaVu Sans"/>
              </a:rPr>
              <a:t>Dụng</a:t>
            </a:r>
            <a:r>
              <a:rPr dirty="0" sz="1500" b="1">
                <a:solidFill>
                  <a:srgbClr val="1a2b3c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1a2b3c"/>
                </a:solidFill>
                <a:latin typeface="DejaVu Sans"/>
                <a:cs typeface="DejaVu Sans"/>
              </a:rPr>
              <a:t>Hoạt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 b="1">
                <a:solidFill>
                  <a:srgbClr val="1a2b3c"/>
                </a:solidFill>
                <a:latin typeface="DejaVu Sans"/>
                <a:cs typeface="DejaVu Sans"/>
              </a:rPr>
              <a:t>Ảnh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965155" y="1676975"/>
            <a:ext cx="1817055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1a2b3c"/>
                </a:solidFill>
                <a:latin typeface="DejaVu Sans"/>
                <a:cs typeface="DejaVu Sans"/>
              </a:rPr>
              <a:t>Hiểu</a:t>
            </a:r>
            <a:r>
              <a:rPr dirty="0" sz="1500" b="1">
                <a:solidFill>
                  <a:srgbClr val="1a2b3c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1a2b3c"/>
                </a:solidFill>
                <a:latin typeface="DejaVu Sans"/>
                <a:cs typeface="DejaVu Sans"/>
              </a:rPr>
              <a:t>Khái</a:t>
            </a:r>
            <a:r>
              <a:rPr dirty="0" sz="1500" b="1">
                <a:solidFill>
                  <a:srgbClr val="1a2b3c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1a2b3c"/>
                </a:solidFill>
                <a:latin typeface="DejaVu Sans"/>
                <a:cs typeface="DejaVu Sans"/>
              </a:rPr>
              <a:t>Niệm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456163" y="2107109"/>
            <a:ext cx="2228150" cy="640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7">
                <a:solidFill>
                  <a:srgbClr val="1a2b3c"/>
                </a:solidFill>
                <a:latin typeface="DejaVu Sans"/>
                <a:cs typeface="DejaVu Sans"/>
              </a:rPr>
              <a:t>Nắm</a:t>
            </a:r>
            <a:r>
              <a:rPr dirty="0" sz="1200" spc="-15">
                <a:solidFill>
                  <a:srgbClr val="1a2b3c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1a2b3c"/>
                </a:solidFill>
                <a:latin typeface="DejaVu Sans"/>
                <a:cs typeface="DejaVu Sans"/>
              </a:rPr>
              <a:t>vững</a:t>
            </a:r>
            <a:r>
              <a:rPr dirty="0" sz="1200">
                <a:solidFill>
                  <a:srgbClr val="1a2b3c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1a2b3c"/>
                </a:solidFill>
                <a:latin typeface="DejaVu Sans"/>
                <a:cs typeface="DejaVu Sans"/>
              </a:rPr>
              <a:t>các</a:t>
            </a:r>
            <a:r>
              <a:rPr dirty="0" sz="1200">
                <a:solidFill>
                  <a:srgbClr val="1a2b3c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1a2b3c"/>
                </a:solidFill>
                <a:latin typeface="DejaVu Sans"/>
                <a:cs typeface="DejaVu Sans"/>
              </a:rPr>
              <a:t>nguyên</a:t>
            </a:r>
            <a:r>
              <a:rPr dirty="0" sz="1200">
                <a:solidFill>
                  <a:srgbClr val="1a2b3c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1a2b3c"/>
                </a:solidFill>
                <a:latin typeface="DejaVu Sans"/>
                <a:cs typeface="DejaVu Sans"/>
              </a:rPr>
              <a:t>lý</a:t>
            </a:r>
            <a:r>
              <a:rPr dirty="0" sz="1200" spc="-15">
                <a:solidFill>
                  <a:srgbClr val="1a2b3c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1a2b3c"/>
                </a:solidFill>
                <a:latin typeface="DejaVu Sans"/>
                <a:cs typeface="DejaVu Sans"/>
              </a:rPr>
              <a:t>cơ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dirty="0" sz="1200" spc="-15">
                <a:solidFill>
                  <a:srgbClr val="1a2b3c"/>
                </a:solidFill>
                <a:latin typeface="DejaVu Sans"/>
                <a:cs typeface="DejaVu Sans"/>
              </a:rPr>
              <a:t>bản</a:t>
            </a:r>
            <a:r>
              <a:rPr dirty="0" sz="1200">
                <a:solidFill>
                  <a:srgbClr val="1a2b3c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1a2b3c"/>
                </a:solidFill>
                <a:latin typeface="DejaVu Sans"/>
                <a:cs typeface="DejaVu Sans"/>
              </a:rPr>
              <a:t>của</a:t>
            </a:r>
            <a:r>
              <a:rPr dirty="0" sz="1200">
                <a:solidFill>
                  <a:srgbClr val="1a2b3c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1a2b3c"/>
                </a:solidFill>
                <a:latin typeface="DejaVu Sans"/>
                <a:cs typeface="DejaVu Sans"/>
              </a:rPr>
              <a:t>hoạt</a:t>
            </a:r>
            <a:r>
              <a:rPr dirty="0" sz="1200">
                <a:solidFill>
                  <a:srgbClr val="1a2b3c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1a2b3c"/>
                </a:solidFill>
                <a:latin typeface="DejaVu Sans"/>
                <a:cs typeface="DejaVu Sans"/>
              </a:rPr>
              <a:t>ảnh</a:t>
            </a:r>
            <a:r>
              <a:rPr dirty="0" sz="1200">
                <a:solidFill>
                  <a:srgbClr val="1a2b3c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1a2b3c"/>
                </a:solidFill>
                <a:latin typeface="DejaVu Sans"/>
                <a:cs typeface="DejaVu Sans"/>
              </a:rPr>
              <a:t>trong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7">
                <a:solidFill>
                  <a:srgbClr val="1a2b3c"/>
                </a:solidFill>
                <a:latin typeface="DejaVu Sans"/>
                <a:cs typeface="DejaVu Sans"/>
              </a:rPr>
              <a:t>Android.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312175" y="2278559"/>
            <a:ext cx="2359993" cy="4310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43">
                <a:solidFill>
                  <a:srgbClr val="1a2b3c"/>
                </a:solidFill>
                <a:latin typeface="DejaVu Sans"/>
                <a:cs typeface="DejaVu Sans"/>
              </a:rPr>
              <a:t>Triển</a:t>
            </a:r>
            <a:r>
              <a:rPr dirty="0" sz="1200" spc="20">
                <a:solidFill>
                  <a:srgbClr val="1a2b3c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1a2b3c"/>
                </a:solidFill>
                <a:latin typeface="DejaVu Sans"/>
                <a:cs typeface="DejaVu Sans"/>
              </a:rPr>
              <a:t>khai</a:t>
            </a:r>
            <a:r>
              <a:rPr dirty="0" sz="1200">
                <a:solidFill>
                  <a:srgbClr val="1a2b3c"/>
                </a:solidFill>
                <a:latin typeface="DejaVu Sans"/>
                <a:cs typeface="DejaVu Sans"/>
              </a:rPr>
              <a:t> </a:t>
            </a:r>
            <a:r>
              <a:rPr dirty="0" sz="1200" spc="-20">
                <a:solidFill>
                  <a:srgbClr val="1a2b3c"/>
                </a:solidFill>
                <a:latin typeface="DejaVu Sans"/>
                <a:cs typeface="DejaVu Sans"/>
              </a:rPr>
              <a:t>Property</a:t>
            </a:r>
            <a:r>
              <a:rPr dirty="0" sz="1200">
                <a:solidFill>
                  <a:srgbClr val="1a2b3c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1a2b3c"/>
                </a:solidFill>
                <a:latin typeface="DejaVu Sans"/>
                <a:cs typeface="DejaVu Sans"/>
              </a:rPr>
              <a:t>Animation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dirty="0" sz="1200" spc="-15">
                <a:solidFill>
                  <a:srgbClr val="1a2b3c"/>
                </a:solidFill>
                <a:latin typeface="DejaVu Sans"/>
                <a:cs typeface="DejaVu Sans"/>
              </a:rPr>
              <a:t>và</a:t>
            </a:r>
            <a:r>
              <a:rPr dirty="0" sz="1200">
                <a:solidFill>
                  <a:srgbClr val="1a2b3c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1a2b3c"/>
                </a:solidFill>
                <a:latin typeface="DejaVu Sans"/>
                <a:cs typeface="DejaVu Sans"/>
              </a:rPr>
              <a:t>Drawable</a:t>
            </a:r>
            <a:r>
              <a:rPr dirty="0" sz="1200">
                <a:solidFill>
                  <a:srgbClr val="1a2b3c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1a2b3c"/>
                </a:solidFill>
                <a:latin typeface="DejaVu Sans"/>
                <a:cs typeface="DejaVu Sans"/>
              </a:rPr>
              <a:t>Animation.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669433" y="3041313"/>
            <a:ext cx="720846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00bcd4"/>
                </a:solidFill>
                <a:latin typeface="DejaVu Sans"/>
                <a:cs typeface="DejaVu Sans"/>
              </a:rPr>
              <a:t>Android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621636" y="3041313"/>
            <a:ext cx="808190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00bcd4"/>
                </a:solidFill>
                <a:latin typeface="DejaVu Sans"/>
                <a:cs typeface="DejaVu Sans"/>
              </a:rPr>
              <a:t>Hoạt</a:t>
            </a:r>
            <a:r>
              <a:rPr dirty="0" sz="100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00bcd4"/>
                </a:solidFill>
                <a:latin typeface="DejaVu Sans"/>
                <a:cs typeface="DejaVu Sans"/>
              </a:rPr>
              <a:t>ảnh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9525445" y="3041313"/>
            <a:ext cx="783541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ff9800"/>
                </a:solidFill>
                <a:latin typeface="DejaVu Sans"/>
                <a:cs typeface="DejaVu Sans"/>
              </a:rPr>
              <a:t>Property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0540304" y="3041313"/>
            <a:ext cx="835172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ff9800"/>
                </a:solidFill>
                <a:latin typeface="DejaVu Sans"/>
                <a:cs typeface="DejaVu Sans"/>
              </a:rPr>
              <a:t>Drawable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9821167" y="3877250"/>
            <a:ext cx="1237310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spc="-28" b="1">
                <a:solidFill>
                  <a:srgbClr val="1a2b3c"/>
                </a:solidFill>
                <a:latin typeface="DejaVu Sans"/>
                <a:cs typeface="DejaVu Sans"/>
              </a:rPr>
              <a:t>Triển</a:t>
            </a:r>
            <a:r>
              <a:rPr dirty="0" sz="1500" spc="40" b="1">
                <a:solidFill>
                  <a:srgbClr val="1a2b3c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1a2b3c"/>
                </a:solidFill>
                <a:latin typeface="DejaVu Sans"/>
                <a:cs typeface="DejaVu Sans"/>
              </a:rPr>
              <a:t>Khai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965155" y="3934400"/>
            <a:ext cx="1861478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1a2b3c"/>
                </a:solidFill>
                <a:latin typeface="DejaVu Sans"/>
                <a:cs typeface="DejaVu Sans"/>
              </a:rPr>
              <a:t>Material</a:t>
            </a:r>
            <a:r>
              <a:rPr dirty="0" sz="1500" b="1">
                <a:solidFill>
                  <a:srgbClr val="1a2b3c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1a2b3c"/>
                </a:solidFill>
                <a:latin typeface="DejaVu Sans"/>
                <a:cs typeface="DejaVu Sans"/>
              </a:rPr>
              <a:t>Design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9821167" y="4172525"/>
            <a:ext cx="1639179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1a2b3c"/>
                </a:solidFill>
                <a:latin typeface="DejaVu Sans"/>
                <a:cs typeface="DejaVu Sans"/>
              </a:rPr>
              <a:t>MotionLayout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456163" y="4364534"/>
            <a:ext cx="2306509" cy="4310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1a2b3c"/>
                </a:solidFill>
                <a:latin typeface="DejaVu Sans"/>
                <a:cs typeface="DejaVu Sans"/>
              </a:rPr>
              <a:t>Sử</a:t>
            </a:r>
            <a:r>
              <a:rPr dirty="0" sz="1200">
                <a:solidFill>
                  <a:srgbClr val="1a2b3c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1a2b3c"/>
                </a:solidFill>
                <a:latin typeface="DejaVu Sans"/>
                <a:cs typeface="DejaVu Sans"/>
              </a:rPr>
              <a:t>dụng</a:t>
            </a:r>
            <a:r>
              <a:rPr dirty="0" sz="1200">
                <a:solidFill>
                  <a:srgbClr val="1a2b3c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1a2b3c"/>
                </a:solidFill>
                <a:latin typeface="DejaVu Sans"/>
                <a:cs typeface="DejaVu Sans"/>
              </a:rPr>
              <a:t>các</a:t>
            </a:r>
            <a:r>
              <a:rPr dirty="0" sz="1200">
                <a:solidFill>
                  <a:srgbClr val="1a2b3c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1a2b3c"/>
                </a:solidFill>
                <a:latin typeface="DejaVu Sans"/>
                <a:cs typeface="DejaVu Sans"/>
              </a:rPr>
              <a:t>thành</a:t>
            </a:r>
            <a:r>
              <a:rPr dirty="0" sz="1200">
                <a:solidFill>
                  <a:srgbClr val="1a2b3c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1a2b3c"/>
                </a:solidFill>
                <a:latin typeface="DejaVu Sans"/>
                <a:cs typeface="DejaVu Sans"/>
              </a:rPr>
              <a:t>phần</a:t>
            </a:r>
            <a:r>
              <a:rPr dirty="0" sz="1200">
                <a:solidFill>
                  <a:srgbClr val="1a2b3c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1a2b3c"/>
                </a:solidFill>
                <a:latin typeface="DejaVu Sans"/>
                <a:cs typeface="DejaVu Sans"/>
              </a:rPr>
              <a:t>như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dirty="0" sz="1200" spc="-14">
                <a:solidFill>
                  <a:srgbClr val="1a2b3c"/>
                </a:solidFill>
                <a:latin typeface="DejaVu Sans"/>
                <a:cs typeface="DejaVu Sans"/>
              </a:rPr>
              <a:t>Button,</a:t>
            </a:r>
            <a:r>
              <a:rPr dirty="0" sz="1200">
                <a:solidFill>
                  <a:srgbClr val="1a2b3c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1a2b3c"/>
                </a:solidFill>
                <a:latin typeface="DejaVu Sans"/>
                <a:cs typeface="DejaVu Sans"/>
              </a:rPr>
              <a:t>AppBar,</a:t>
            </a:r>
            <a:r>
              <a:rPr dirty="0" sz="1200">
                <a:solidFill>
                  <a:srgbClr val="1a2b3c"/>
                </a:solidFill>
                <a:latin typeface="DejaVu Sans"/>
                <a:cs typeface="DejaVu Sans"/>
              </a:rPr>
              <a:t> </a:t>
            </a:r>
            <a:r>
              <a:rPr dirty="0" sz="1200" spc="-20">
                <a:solidFill>
                  <a:srgbClr val="1a2b3c"/>
                </a:solidFill>
                <a:latin typeface="DejaVu Sans"/>
                <a:cs typeface="DejaVu Sans"/>
              </a:rPr>
              <a:t>Card,</a:t>
            </a:r>
            <a:r>
              <a:rPr dirty="0" sz="1200">
                <a:solidFill>
                  <a:srgbClr val="1a2b3c"/>
                </a:solidFill>
                <a:latin typeface="DejaVu Sans"/>
                <a:cs typeface="DejaVu Sans"/>
              </a:rPr>
              <a:t> </a:t>
            </a:r>
            <a:r>
              <a:rPr dirty="0" sz="1200" spc="-51">
                <a:solidFill>
                  <a:srgbClr val="1a2b3c"/>
                </a:solidFill>
                <a:latin typeface="DejaVu Sans"/>
                <a:cs typeface="DejaVu Sans"/>
              </a:rPr>
              <a:t>FAB.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9312175" y="4535984"/>
            <a:ext cx="2290609" cy="4310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1a2b3c"/>
                </a:solidFill>
                <a:latin typeface="DejaVu Sans"/>
                <a:cs typeface="DejaVu Sans"/>
              </a:rPr>
              <a:t>Xây</a:t>
            </a:r>
            <a:r>
              <a:rPr dirty="0" sz="1200">
                <a:solidFill>
                  <a:srgbClr val="1a2b3c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1a2b3c"/>
                </a:solidFill>
                <a:latin typeface="DejaVu Sans"/>
                <a:cs typeface="DejaVu Sans"/>
              </a:rPr>
              <a:t>dựng</a:t>
            </a:r>
            <a:r>
              <a:rPr dirty="0" sz="1200">
                <a:solidFill>
                  <a:srgbClr val="1a2b3c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1a2b3c"/>
                </a:solidFill>
                <a:latin typeface="DejaVu Sans"/>
                <a:cs typeface="DejaVu Sans"/>
              </a:rPr>
              <a:t>chuyển</a:t>
            </a:r>
            <a:r>
              <a:rPr dirty="0" sz="1200">
                <a:solidFill>
                  <a:srgbClr val="1a2b3c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1a2b3c"/>
                </a:solidFill>
                <a:latin typeface="DejaVu Sans"/>
                <a:cs typeface="DejaVu Sans"/>
              </a:rPr>
              <a:t>động</a:t>
            </a:r>
            <a:r>
              <a:rPr dirty="0" sz="1200">
                <a:solidFill>
                  <a:srgbClr val="1a2b3c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1a2b3c"/>
                </a:solidFill>
                <a:latin typeface="DejaVu Sans"/>
                <a:cs typeface="DejaVu Sans"/>
              </a:rPr>
              <a:t>phức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dirty="0" sz="1200" spc="-11">
                <a:solidFill>
                  <a:srgbClr val="1a2b3c"/>
                </a:solidFill>
                <a:latin typeface="DejaVu Sans"/>
                <a:cs typeface="DejaVu Sans"/>
              </a:rPr>
              <a:t>tạp</a:t>
            </a:r>
            <a:r>
              <a:rPr dirty="0" sz="1200" spc="-10">
                <a:solidFill>
                  <a:srgbClr val="1a2b3c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1a2b3c"/>
                </a:solidFill>
                <a:latin typeface="DejaVu Sans"/>
                <a:cs typeface="DejaVu Sans"/>
              </a:rPr>
              <a:t>với</a:t>
            </a:r>
            <a:r>
              <a:rPr dirty="0" sz="1200">
                <a:solidFill>
                  <a:srgbClr val="1a2b3c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1a2b3c"/>
                </a:solidFill>
                <a:latin typeface="DejaVu Sans"/>
                <a:cs typeface="DejaVu Sans"/>
              </a:rPr>
              <a:t>MotionLayout.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669433" y="4955838"/>
            <a:ext cx="1249720" cy="5300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00bcd4"/>
                </a:solidFill>
                <a:latin typeface="DejaVu Sans"/>
                <a:cs typeface="DejaVu Sans"/>
              </a:rPr>
              <a:t>UI</a:t>
            </a:r>
            <a:r>
              <a:rPr dirty="0" sz="100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00bcd4"/>
                </a:solidFill>
                <a:latin typeface="DejaVu Sans"/>
                <a:cs typeface="DejaVu Sans"/>
              </a:rPr>
              <a:t>Components</a:t>
            </a:r>
          </a:p>
          <a:p>
            <a:pPr marL="0" marR="0">
              <a:lnSpc>
                <a:spcPts val="1173"/>
              </a:lnSpc>
              <a:spcBef>
                <a:spcPts val="1526"/>
              </a:spcBef>
              <a:spcAft>
                <a:spcPts val="0"/>
              </a:spcAft>
            </a:pPr>
            <a:r>
              <a:rPr dirty="0" sz="1000" b="1">
                <a:solidFill>
                  <a:srgbClr val="00bcd4"/>
                </a:solidFill>
                <a:latin typeface="DejaVu Sans"/>
                <a:cs typeface="DejaVu Sans"/>
              </a:rPr>
              <a:t>Material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9525445" y="5298738"/>
            <a:ext cx="651899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ff9800"/>
                </a:solidFill>
                <a:latin typeface="DejaVu Sans"/>
                <a:cs typeface="DejaVu Sans"/>
              </a:rPr>
              <a:t>Motion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0408740" y="5298738"/>
            <a:ext cx="644086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ff9800"/>
                </a:solidFill>
                <a:latin typeface="DejaVu Sans"/>
                <a:cs typeface="DejaVu Sans"/>
              </a:rPr>
              <a:t>Layout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682674" y="6154479"/>
            <a:ext cx="5322326" cy="75114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"Chuyển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động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 spc="-10">
                <a:solidFill>
                  <a:srgbClr val="d1d5db"/>
                </a:solidFill>
                <a:latin typeface="DejaVu Sans"/>
                <a:cs typeface="DejaVu Sans"/>
              </a:rPr>
              <a:t>trong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UI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không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chỉ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làm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đẹp,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mà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còn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hướng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dẫn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người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dùng,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tạo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cảm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giác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trực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quan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xây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dựng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cá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tính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thương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hiệu."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6266556" y="6154479"/>
            <a:ext cx="1927145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00bcd4"/>
                </a:solidFill>
                <a:latin typeface="DejaVu Sans"/>
                <a:cs typeface="DejaVu Sans"/>
              </a:rPr>
              <a:t>Nguồn</a:t>
            </a:r>
            <a:r>
              <a:rPr dirty="0" sz="135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00bcd4"/>
                </a:solidFill>
                <a:latin typeface="DejaVu Sans"/>
                <a:cs typeface="DejaVu Sans"/>
              </a:rPr>
              <a:t>tham</a:t>
            </a:r>
            <a:r>
              <a:rPr dirty="0" sz="135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00bcd4"/>
                </a:solidFill>
                <a:latin typeface="DejaVu Sans"/>
                <a:cs typeface="DejaVu Sans"/>
              </a:rPr>
              <a:t>khảo: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6266556" y="6479838"/>
            <a:ext cx="2976100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bcd4"/>
                </a:solidFill>
                <a:latin typeface="DejaVu Sans"/>
                <a:cs typeface="DejaVu Sans"/>
              </a:rPr>
              <a:t>•</a:t>
            </a:r>
            <a:r>
              <a:rPr dirty="0" sz="1000" spc="258">
                <a:solidFill>
                  <a:srgbClr val="00bcd4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Understanding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motion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-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Material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Design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2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6266556" y="6689388"/>
            <a:ext cx="3949097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bcd4"/>
                </a:solidFill>
                <a:latin typeface="DejaVu Sans"/>
                <a:cs typeface="DejaVu Sans"/>
              </a:rPr>
              <a:t>•</a:t>
            </a:r>
            <a:r>
              <a:rPr dirty="0" sz="1000" spc="258">
                <a:solidFill>
                  <a:srgbClr val="00bcd4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Manage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motion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and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widget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animation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with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MotionLayout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6266556" y="6908463"/>
            <a:ext cx="2541687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bcd4"/>
                </a:solidFill>
                <a:latin typeface="DejaVu Sans"/>
                <a:cs typeface="DejaVu Sans"/>
              </a:rPr>
              <a:t>•</a:t>
            </a:r>
            <a:r>
              <a:rPr dirty="0" sz="1000" spc="258">
                <a:solidFill>
                  <a:srgbClr val="00bcd4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Material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Design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for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Android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|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Views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2598092" y="7002959"/>
            <a:ext cx="3479568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6b7280"/>
                </a:solidFill>
                <a:latin typeface="DejaVu Sans"/>
                <a:cs typeface="DejaVu Sans"/>
              </a:rPr>
              <a:t>—</a:t>
            </a:r>
            <a:r>
              <a:rPr dirty="0" sz="1200" spc="-31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6b7280"/>
                </a:solidFill>
                <a:latin typeface="DejaVu Sans"/>
                <a:cs typeface="DejaVu Sans"/>
              </a:rPr>
              <a:t>Understanding</a:t>
            </a:r>
            <a:r>
              <a:rPr dirty="0" sz="1200" spc="-1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6b7280"/>
                </a:solidFill>
                <a:latin typeface="DejaVu Sans"/>
                <a:cs typeface="DejaVu Sans"/>
              </a:rPr>
              <a:t>motion</a:t>
            </a:r>
            <a:r>
              <a:rPr dirty="0" sz="12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6b7280"/>
                </a:solidFill>
                <a:latin typeface="DejaVu Sans"/>
                <a:cs typeface="DejaVu Sans"/>
              </a:rPr>
              <a:t>-</a:t>
            </a:r>
            <a:r>
              <a:rPr dirty="0" sz="1200" spc="-17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6b7280"/>
                </a:solidFill>
                <a:latin typeface="DejaVu Sans"/>
                <a:cs typeface="DejaVu Sans"/>
              </a:rPr>
              <a:t>Material</a:t>
            </a:r>
            <a:r>
              <a:rPr dirty="0" sz="12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6b7280"/>
                </a:solidFill>
                <a:latin typeface="DejaVu Sans"/>
                <a:cs typeface="DejaVu Sans"/>
              </a:rPr>
              <a:t>Design</a:t>
            </a:r>
            <a:r>
              <a:rPr dirty="0" sz="1200" spc="-1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6b7280"/>
                </a:solidFill>
                <a:latin typeface="DejaVu Sans"/>
                <a:cs typeface="DejaVu Sans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7752842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864816" y="333807"/>
            <a:ext cx="8614587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2" b="1">
                <a:solidFill>
                  <a:srgbClr val="e0e0e0"/>
                </a:solidFill>
                <a:latin typeface="DejaVu Sans"/>
                <a:cs typeface="DejaVu Sans"/>
              </a:rPr>
              <a:t>Tại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1" b="1">
                <a:solidFill>
                  <a:srgbClr val="e0e0e0"/>
                </a:solidFill>
                <a:latin typeface="DejaVu Sans"/>
                <a:cs typeface="DejaVu Sans"/>
              </a:rPr>
              <a:t>sao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e0e0e0"/>
                </a:solidFill>
                <a:latin typeface="DejaVu Sans"/>
                <a:cs typeface="DejaVu Sans"/>
              </a:rPr>
              <a:t>hoạt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e0e0e0"/>
                </a:solidFill>
                <a:latin typeface="DejaVu Sans"/>
                <a:cs typeface="DejaVu Sans"/>
              </a:rPr>
              <a:t>ảnh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00bcd4"/>
                </a:solidFill>
                <a:latin typeface="DejaVu Sans"/>
                <a:cs typeface="DejaVu Sans"/>
              </a:rPr>
              <a:t>quan</a:t>
            </a:r>
            <a:r>
              <a:rPr dirty="0" sz="405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4050" spc="-11" b="1">
                <a:solidFill>
                  <a:srgbClr val="00bcd4"/>
                </a:solidFill>
                <a:latin typeface="DejaVu Sans"/>
                <a:cs typeface="DejaVu Sans"/>
              </a:rPr>
              <a:t>trọng?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96081" y="2428837"/>
            <a:ext cx="2961381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Cải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thiện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Tương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tác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713237" y="2428837"/>
            <a:ext cx="2917634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Phản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hồi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-47" b="1">
                <a:solidFill>
                  <a:srgbClr val="e0e0e0"/>
                </a:solidFill>
                <a:latin typeface="DejaVu Sans"/>
                <a:cs typeface="DejaVu Sans"/>
              </a:rPr>
              <a:t>Trực</a:t>
            </a:r>
            <a:r>
              <a:rPr dirty="0" sz="2000" spc="62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quan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509247" y="2428837"/>
            <a:ext cx="3116374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Chuyển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đổi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1" b="1">
                <a:solidFill>
                  <a:srgbClr val="e0e0e0"/>
                </a:solidFill>
                <a:latin typeface="DejaVu Sans"/>
                <a:cs typeface="DejaVu Sans"/>
              </a:rPr>
              <a:t>Mượt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5" b="1">
                <a:solidFill>
                  <a:srgbClr val="e0e0e0"/>
                </a:solidFill>
                <a:latin typeface="DejaVu Sans"/>
                <a:cs typeface="DejaVu Sans"/>
              </a:rPr>
              <a:t>mà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17215" y="2860480"/>
            <a:ext cx="2919160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083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Hoạt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ảnh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hướng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dẫn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người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dùng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hiểu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 spc="-31">
                <a:solidFill>
                  <a:srgbClr val="d1d5db"/>
                </a:solidFill>
                <a:latin typeface="DejaVu Sans"/>
                <a:cs typeface="DejaVu Sans"/>
              </a:rPr>
              <a:t>rõ</a:t>
            </a:r>
            <a:r>
              <a:rPr dirty="0" sz="1350" spc="25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hành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động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trạng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thái.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629000" y="2860480"/>
            <a:ext cx="3086050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Cung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cấp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phản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hồi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tức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thì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cho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mọi</a:t>
            </a:r>
          </a:p>
          <a:p>
            <a:pPr marL="399157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thao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tác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của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người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dùng.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584554" y="2860480"/>
            <a:ext cx="2965925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Hoạt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ảnh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định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hướng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người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dùng</a:t>
            </a:r>
          </a:p>
          <a:p>
            <a:pPr marL="183653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qua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màn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hình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ứng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dụng.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424433" y="3575610"/>
            <a:ext cx="785408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8">
                <a:solidFill>
                  <a:srgbClr val="e0e0e0"/>
                </a:solidFill>
                <a:latin typeface="DejaVu Sans"/>
                <a:cs typeface="DejaVu Sans"/>
              </a:rPr>
              <a:t>Dễ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dùng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569219" y="3575610"/>
            <a:ext cx="730447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69">
                <a:solidFill>
                  <a:srgbClr val="e0e0e0"/>
                </a:solidFill>
                <a:latin typeface="DejaVu Sans"/>
                <a:cs typeface="DejaVu Sans"/>
              </a:rPr>
              <a:t>Rõ</a:t>
            </a:r>
            <a:r>
              <a:rPr dirty="0" sz="1200" spc="46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e0e0e0"/>
                </a:solidFill>
                <a:latin typeface="DejaVu Sans"/>
                <a:cs typeface="DejaVu Sans"/>
              </a:rPr>
              <a:t>ràng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044380" y="3575610"/>
            <a:ext cx="1144236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Nhanh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chóng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547990" y="3575610"/>
            <a:ext cx="922292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Minh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bạch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9235230" y="3575610"/>
            <a:ext cx="746188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1">
                <a:solidFill>
                  <a:srgbClr val="e0e0e0"/>
                </a:solidFill>
                <a:latin typeface="DejaVu Sans"/>
                <a:cs typeface="DejaVu Sans"/>
              </a:rPr>
              <a:t>Liên</a:t>
            </a:r>
            <a:r>
              <a:rPr dirty="0" sz="1200" spc="-1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e0e0e0"/>
                </a:solidFill>
                <a:latin typeface="DejaVu Sans"/>
                <a:cs typeface="DejaVu Sans"/>
              </a:rPr>
              <a:t>tục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0340875" y="3575610"/>
            <a:ext cx="729210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8">
                <a:solidFill>
                  <a:srgbClr val="e0e0e0"/>
                </a:solidFill>
                <a:latin typeface="DejaVu Sans"/>
                <a:cs typeface="DejaVu Sans"/>
              </a:rPr>
              <a:t>Dễ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e0e0e0"/>
                </a:solidFill>
                <a:latin typeface="DejaVu Sans"/>
                <a:cs typeface="DejaVu Sans"/>
              </a:rPr>
              <a:t>hiểu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479976" y="4716346"/>
            <a:ext cx="1954255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 b="1">
                <a:solidFill>
                  <a:srgbClr val="00bcd4"/>
                </a:solidFill>
                <a:latin typeface="DejaVu Sans"/>
                <a:cs typeface="DejaVu Sans"/>
              </a:rPr>
              <a:t>Ví</a:t>
            </a:r>
            <a:r>
              <a:rPr dirty="0" sz="170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00bcd4"/>
                </a:solidFill>
                <a:latin typeface="DejaVu Sans"/>
                <a:cs typeface="DejaVu Sans"/>
              </a:rPr>
              <a:t>dụ:</a:t>
            </a:r>
            <a:r>
              <a:rPr dirty="0" sz="170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00bcd4"/>
                </a:solidFill>
                <a:latin typeface="DejaVu Sans"/>
                <a:cs typeface="DejaVu Sans"/>
              </a:rPr>
              <a:t>Nút</a:t>
            </a:r>
            <a:r>
              <a:rPr dirty="0" sz="170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00bcd4"/>
                </a:solidFill>
                <a:latin typeface="DejaVu Sans"/>
                <a:cs typeface="DejaVu Sans"/>
              </a:rPr>
              <a:t>bấm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693246" y="5136955"/>
            <a:ext cx="2518501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Nhấn: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Nút</a:t>
            </a:r>
            <a:r>
              <a:rPr dirty="0" sz="1350" spc="-91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fbbf24"/>
                </a:solidFill>
                <a:latin typeface="DejaVu Sans"/>
                <a:cs typeface="DejaVu Sans"/>
              </a:rPr>
              <a:t>co</a:t>
            </a:r>
            <a:r>
              <a:rPr dirty="0" sz="1350">
                <a:solidFill>
                  <a:srgbClr val="fbbf24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fbbf24"/>
                </a:solidFill>
                <a:latin typeface="DejaVu Sans"/>
                <a:cs typeface="DejaVu Sans"/>
              </a:rPr>
              <a:t>lại</a:t>
            </a:r>
            <a:r>
              <a:rPr dirty="0" sz="1350" spc="-92">
                <a:solidFill>
                  <a:srgbClr val="fbbf24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nhẹ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nhàng.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693246" y="5479855"/>
            <a:ext cx="3492821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Nhả: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Nút</a:t>
            </a:r>
            <a:r>
              <a:rPr dirty="0" sz="1350" spc="-91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fbbf24"/>
                </a:solidFill>
                <a:latin typeface="DejaVu Sans"/>
                <a:cs typeface="DejaVu Sans"/>
              </a:rPr>
              <a:t>giãn</a:t>
            </a:r>
            <a:r>
              <a:rPr dirty="0" sz="1350">
                <a:solidFill>
                  <a:srgbClr val="fbbf24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fbbf24"/>
                </a:solidFill>
                <a:latin typeface="DejaVu Sans"/>
                <a:cs typeface="DejaVu Sans"/>
              </a:rPr>
              <a:t>ra</a:t>
            </a:r>
            <a:r>
              <a:rPr dirty="0" sz="1350" spc="-93">
                <a:solidFill>
                  <a:srgbClr val="fbbf24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về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trạng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thái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ban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đầu.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432648" y="6792797"/>
            <a:ext cx="5280001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0">
                <a:solidFill>
                  <a:srgbClr val="d1d5db"/>
                </a:solidFill>
                <a:latin typeface="DejaVu Sans"/>
                <a:cs typeface="DejaVu Sans"/>
              </a:rPr>
              <a:t>"Motion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d1d5db"/>
                </a:solidFill>
                <a:latin typeface="DejaVu Sans"/>
                <a:cs typeface="DejaVu Sans"/>
              </a:rPr>
              <a:t>helps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34">
                <a:solidFill>
                  <a:srgbClr val="d1d5db"/>
                </a:solidFill>
                <a:latin typeface="DejaVu Sans"/>
                <a:cs typeface="DejaVu Sans"/>
              </a:rPr>
              <a:t>make</a:t>
            </a:r>
            <a:r>
              <a:rPr dirty="0" sz="1700" spc="15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a</a:t>
            </a:r>
            <a:r>
              <a:rPr dirty="0" sz="1700" spc="-18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5">
                <a:solidFill>
                  <a:srgbClr val="d1d5db"/>
                </a:solidFill>
                <a:latin typeface="DejaVu Sans"/>
                <a:cs typeface="DejaVu Sans"/>
              </a:rPr>
              <a:t>UI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8">
                <a:solidFill>
                  <a:srgbClr val="d1d5db"/>
                </a:solidFill>
                <a:latin typeface="DejaVu Sans"/>
                <a:cs typeface="DejaVu Sans"/>
              </a:rPr>
              <a:t>expressive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d1d5db"/>
                </a:solidFill>
                <a:latin typeface="DejaVu Sans"/>
                <a:cs typeface="DejaVu Sans"/>
              </a:rPr>
              <a:t>and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d1d5db"/>
                </a:solidFill>
                <a:latin typeface="DejaVu Sans"/>
                <a:cs typeface="DejaVu Sans"/>
              </a:rPr>
              <a:t>easy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to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6432648" y="7097597"/>
            <a:ext cx="696009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0">
                <a:solidFill>
                  <a:srgbClr val="d1d5db"/>
                </a:solidFill>
                <a:latin typeface="DejaVu Sans"/>
                <a:cs typeface="DejaVu Sans"/>
              </a:rPr>
              <a:t>use."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8813898" y="7414939"/>
            <a:ext cx="3359904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Source: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Understanding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motion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-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Material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Design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2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7752842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864816" y="333807"/>
            <a:ext cx="8614587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2" b="1">
                <a:solidFill>
                  <a:srgbClr val="e0e0e0"/>
                </a:solidFill>
                <a:latin typeface="DejaVu Sans"/>
                <a:cs typeface="DejaVu Sans"/>
              </a:rPr>
              <a:t>Tại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1" b="1">
                <a:solidFill>
                  <a:srgbClr val="e0e0e0"/>
                </a:solidFill>
                <a:latin typeface="DejaVu Sans"/>
                <a:cs typeface="DejaVu Sans"/>
              </a:rPr>
              <a:t>sao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e0e0e0"/>
                </a:solidFill>
                <a:latin typeface="DejaVu Sans"/>
                <a:cs typeface="DejaVu Sans"/>
              </a:rPr>
              <a:t>hoạt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e0e0e0"/>
                </a:solidFill>
                <a:latin typeface="DejaVu Sans"/>
                <a:cs typeface="DejaVu Sans"/>
              </a:rPr>
              <a:t>ảnh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00bcd4"/>
                </a:solidFill>
                <a:latin typeface="DejaVu Sans"/>
                <a:cs typeface="DejaVu Sans"/>
              </a:rPr>
              <a:t>quan</a:t>
            </a:r>
            <a:r>
              <a:rPr dirty="0" sz="405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4050" spc="-11" b="1">
                <a:solidFill>
                  <a:srgbClr val="00bcd4"/>
                </a:solidFill>
                <a:latin typeface="DejaVu Sans"/>
                <a:cs typeface="DejaVu Sans"/>
              </a:rPr>
              <a:t>trọng?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96081" y="2428837"/>
            <a:ext cx="2961381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Cải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thiện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Tương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tác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713237" y="2428837"/>
            <a:ext cx="2917634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Phản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hồi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-47" b="1">
                <a:solidFill>
                  <a:srgbClr val="e0e0e0"/>
                </a:solidFill>
                <a:latin typeface="DejaVu Sans"/>
                <a:cs typeface="DejaVu Sans"/>
              </a:rPr>
              <a:t>Trực</a:t>
            </a:r>
            <a:r>
              <a:rPr dirty="0" sz="2000" spc="62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quan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509247" y="2428837"/>
            <a:ext cx="3116374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Chuyển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đổi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1" b="1">
                <a:solidFill>
                  <a:srgbClr val="e0e0e0"/>
                </a:solidFill>
                <a:latin typeface="DejaVu Sans"/>
                <a:cs typeface="DejaVu Sans"/>
              </a:rPr>
              <a:t>Mượt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5" b="1">
                <a:solidFill>
                  <a:srgbClr val="e0e0e0"/>
                </a:solidFill>
                <a:latin typeface="DejaVu Sans"/>
                <a:cs typeface="DejaVu Sans"/>
              </a:rPr>
              <a:t>mà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17215" y="2860480"/>
            <a:ext cx="2919160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083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Hoạt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ảnh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hướng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dẫn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người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dùng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hiểu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 spc="-31">
                <a:solidFill>
                  <a:srgbClr val="d1d5db"/>
                </a:solidFill>
                <a:latin typeface="DejaVu Sans"/>
                <a:cs typeface="DejaVu Sans"/>
              </a:rPr>
              <a:t>rõ</a:t>
            </a:r>
            <a:r>
              <a:rPr dirty="0" sz="1350" spc="25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hành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động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trạng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thái.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629000" y="2860480"/>
            <a:ext cx="3086050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Cung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cấp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phản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hồi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tức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thì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cho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mọi</a:t>
            </a:r>
          </a:p>
          <a:p>
            <a:pPr marL="399157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thao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tác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của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người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dùng.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584554" y="2860480"/>
            <a:ext cx="2965925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Hoạt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ảnh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định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hướng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người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dùng</a:t>
            </a:r>
          </a:p>
          <a:p>
            <a:pPr marL="183653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qua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màn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hình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ứng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dụng.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424433" y="3575610"/>
            <a:ext cx="785408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8">
                <a:solidFill>
                  <a:srgbClr val="e0e0e0"/>
                </a:solidFill>
                <a:latin typeface="DejaVu Sans"/>
                <a:cs typeface="DejaVu Sans"/>
              </a:rPr>
              <a:t>Dễ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dùng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569219" y="3575610"/>
            <a:ext cx="730447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69">
                <a:solidFill>
                  <a:srgbClr val="e0e0e0"/>
                </a:solidFill>
                <a:latin typeface="DejaVu Sans"/>
                <a:cs typeface="DejaVu Sans"/>
              </a:rPr>
              <a:t>Rõ</a:t>
            </a:r>
            <a:r>
              <a:rPr dirty="0" sz="1200" spc="46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e0e0e0"/>
                </a:solidFill>
                <a:latin typeface="DejaVu Sans"/>
                <a:cs typeface="DejaVu Sans"/>
              </a:rPr>
              <a:t>ràng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044380" y="3575610"/>
            <a:ext cx="1144236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Nhanh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chóng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547990" y="3575610"/>
            <a:ext cx="922292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Minh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bạch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9235230" y="3575610"/>
            <a:ext cx="746188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1">
                <a:solidFill>
                  <a:srgbClr val="e0e0e0"/>
                </a:solidFill>
                <a:latin typeface="DejaVu Sans"/>
                <a:cs typeface="DejaVu Sans"/>
              </a:rPr>
              <a:t>Liên</a:t>
            </a:r>
            <a:r>
              <a:rPr dirty="0" sz="1200" spc="-1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e0e0e0"/>
                </a:solidFill>
                <a:latin typeface="DejaVu Sans"/>
                <a:cs typeface="DejaVu Sans"/>
              </a:rPr>
              <a:t>tục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0340875" y="3575610"/>
            <a:ext cx="729210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8">
                <a:solidFill>
                  <a:srgbClr val="e0e0e0"/>
                </a:solidFill>
                <a:latin typeface="DejaVu Sans"/>
                <a:cs typeface="DejaVu Sans"/>
              </a:rPr>
              <a:t>Dễ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e0e0e0"/>
                </a:solidFill>
                <a:latin typeface="DejaVu Sans"/>
                <a:cs typeface="DejaVu Sans"/>
              </a:rPr>
              <a:t>hiểu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479976" y="4716346"/>
            <a:ext cx="1954255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 b="1">
                <a:solidFill>
                  <a:srgbClr val="00bcd4"/>
                </a:solidFill>
                <a:latin typeface="DejaVu Sans"/>
                <a:cs typeface="DejaVu Sans"/>
              </a:rPr>
              <a:t>Ví</a:t>
            </a:r>
            <a:r>
              <a:rPr dirty="0" sz="170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00bcd4"/>
                </a:solidFill>
                <a:latin typeface="DejaVu Sans"/>
                <a:cs typeface="DejaVu Sans"/>
              </a:rPr>
              <a:t>dụ:</a:t>
            </a:r>
            <a:r>
              <a:rPr dirty="0" sz="170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00bcd4"/>
                </a:solidFill>
                <a:latin typeface="DejaVu Sans"/>
                <a:cs typeface="DejaVu Sans"/>
              </a:rPr>
              <a:t>Nút</a:t>
            </a:r>
            <a:r>
              <a:rPr dirty="0" sz="170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00bcd4"/>
                </a:solidFill>
                <a:latin typeface="DejaVu Sans"/>
                <a:cs typeface="DejaVu Sans"/>
              </a:rPr>
              <a:t>bấm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693246" y="5136955"/>
            <a:ext cx="2518501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Nhấn: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Nút</a:t>
            </a:r>
            <a:r>
              <a:rPr dirty="0" sz="1350" spc="-91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fbbf24"/>
                </a:solidFill>
                <a:latin typeface="DejaVu Sans"/>
                <a:cs typeface="DejaVu Sans"/>
              </a:rPr>
              <a:t>co</a:t>
            </a:r>
            <a:r>
              <a:rPr dirty="0" sz="1350">
                <a:solidFill>
                  <a:srgbClr val="fbbf24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fbbf24"/>
                </a:solidFill>
                <a:latin typeface="DejaVu Sans"/>
                <a:cs typeface="DejaVu Sans"/>
              </a:rPr>
              <a:t>lại</a:t>
            </a:r>
            <a:r>
              <a:rPr dirty="0" sz="1350" spc="-92">
                <a:solidFill>
                  <a:srgbClr val="fbbf24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nhẹ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nhàng.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693246" y="5479855"/>
            <a:ext cx="3492821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Nhả: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Nút</a:t>
            </a:r>
            <a:r>
              <a:rPr dirty="0" sz="1350" spc="-91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fbbf24"/>
                </a:solidFill>
                <a:latin typeface="DejaVu Sans"/>
                <a:cs typeface="DejaVu Sans"/>
              </a:rPr>
              <a:t>giãn</a:t>
            </a:r>
            <a:r>
              <a:rPr dirty="0" sz="1350">
                <a:solidFill>
                  <a:srgbClr val="fbbf24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fbbf24"/>
                </a:solidFill>
                <a:latin typeface="DejaVu Sans"/>
                <a:cs typeface="DejaVu Sans"/>
              </a:rPr>
              <a:t>ra</a:t>
            </a:r>
            <a:r>
              <a:rPr dirty="0" sz="1350" spc="-93">
                <a:solidFill>
                  <a:srgbClr val="fbbf24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về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trạng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thái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ban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đầu.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432648" y="6792797"/>
            <a:ext cx="5280001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0">
                <a:solidFill>
                  <a:srgbClr val="d1d5db"/>
                </a:solidFill>
                <a:latin typeface="DejaVu Sans"/>
                <a:cs typeface="DejaVu Sans"/>
              </a:rPr>
              <a:t>"Motion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d1d5db"/>
                </a:solidFill>
                <a:latin typeface="DejaVu Sans"/>
                <a:cs typeface="DejaVu Sans"/>
              </a:rPr>
              <a:t>helps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34">
                <a:solidFill>
                  <a:srgbClr val="d1d5db"/>
                </a:solidFill>
                <a:latin typeface="DejaVu Sans"/>
                <a:cs typeface="DejaVu Sans"/>
              </a:rPr>
              <a:t>make</a:t>
            </a:r>
            <a:r>
              <a:rPr dirty="0" sz="1700" spc="15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a</a:t>
            </a:r>
            <a:r>
              <a:rPr dirty="0" sz="1700" spc="-18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5">
                <a:solidFill>
                  <a:srgbClr val="d1d5db"/>
                </a:solidFill>
                <a:latin typeface="DejaVu Sans"/>
                <a:cs typeface="DejaVu Sans"/>
              </a:rPr>
              <a:t>UI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8">
                <a:solidFill>
                  <a:srgbClr val="d1d5db"/>
                </a:solidFill>
                <a:latin typeface="DejaVu Sans"/>
                <a:cs typeface="DejaVu Sans"/>
              </a:rPr>
              <a:t>expressive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d1d5db"/>
                </a:solidFill>
                <a:latin typeface="DejaVu Sans"/>
                <a:cs typeface="DejaVu Sans"/>
              </a:rPr>
              <a:t>and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d1d5db"/>
                </a:solidFill>
                <a:latin typeface="DejaVu Sans"/>
                <a:cs typeface="DejaVu Sans"/>
              </a:rPr>
              <a:t>easy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to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6432648" y="7097597"/>
            <a:ext cx="696009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0">
                <a:solidFill>
                  <a:srgbClr val="d1d5db"/>
                </a:solidFill>
                <a:latin typeface="DejaVu Sans"/>
                <a:cs typeface="DejaVu Sans"/>
              </a:rPr>
              <a:t>use."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8813898" y="7414939"/>
            <a:ext cx="3359904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Source: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Understanding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motion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-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Material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Design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2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1048600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464766" y="761925"/>
            <a:ext cx="9414776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2" b="1">
                <a:solidFill>
                  <a:srgbClr val="e5e7eb"/>
                </a:solidFill>
                <a:latin typeface="DejaVu Sans"/>
                <a:cs typeface="DejaVu Sans"/>
              </a:rPr>
              <a:t>Các</a:t>
            </a:r>
            <a:r>
              <a:rPr dirty="0" sz="4050" b="1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4050" spc="-10" b="1">
                <a:solidFill>
                  <a:srgbClr val="e5e7eb"/>
                </a:solidFill>
                <a:latin typeface="DejaVu Sans"/>
                <a:cs typeface="DejaVu Sans"/>
              </a:rPr>
              <a:t>loại</a:t>
            </a:r>
            <a:r>
              <a:rPr dirty="0" sz="4050" b="1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4050" spc="-14" b="1">
                <a:solidFill>
                  <a:srgbClr val="00bcd4"/>
                </a:solidFill>
                <a:latin typeface="DejaVu Sans"/>
                <a:cs typeface="DejaVu Sans"/>
              </a:rPr>
              <a:t>Hoạt</a:t>
            </a:r>
            <a:r>
              <a:rPr dirty="0" sz="405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00bcd4"/>
                </a:solidFill>
                <a:latin typeface="DejaVu Sans"/>
                <a:cs typeface="DejaVu Sans"/>
              </a:rPr>
              <a:t>ảnh</a:t>
            </a:r>
            <a:r>
              <a:rPr dirty="0" sz="405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4050" spc="-10" b="1">
                <a:solidFill>
                  <a:srgbClr val="e5e7eb"/>
                </a:solidFill>
                <a:latin typeface="DejaVu Sans"/>
                <a:cs typeface="DejaVu Sans"/>
              </a:rPr>
              <a:t>trong</a:t>
            </a:r>
            <a:r>
              <a:rPr dirty="0" sz="4050" b="1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4050" spc="-11" b="1">
                <a:solidFill>
                  <a:srgbClr val="e5e7eb"/>
                </a:solidFill>
                <a:latin typeface="DejaVu Sans"/>
                <a:cs typeface="DejaVu Sans"/>
              </a:rPr>
              <a:t>Android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01774" y="2549980"/>
            <a:ext cx="3684528" cy="410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dirty="0" sz="2500" spc="10" b="1">
                <a:solidFill>
                  <a:srgbClr val="00bcd4"/>
                </a:solidFill>
                <a:latin typeface="DejaVu Sans"/>
                <a:cs typeface="DejaVu Sans"/>
              </a:rPr>
              <a:t>Property</a:t>
            </a:r>
            <a:r>
              <a:rPr dirty="0" sz="250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2500" spc="11" b="1">
                <a:solidFill>
                  <a:srgbClr val="00bcd4"/>
                </a:solidFill>
                <a:latin typeface="DejaVu Sans"/>
                <a:cs typeface="DejaVu Sans"/>
              </a:rPr>
              <a:t>Animation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560640" y="2549980"/>
            <a:ext cx="2971620" cy="410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dirty="0" sz="2500" b="1">
                <a:solidFill>
                  <a:srgbClr val="00bcd4"/>
                </a:solidFill>
                <a:latin typeface="DejaVu Sans"/>
                <a:cs typeface="DejaVu Sans"/>
              </a:rPr>
              <a:t>View</a:t>
            </a:r>
            <a:r>
              <a:rPr dirty="0" sz="2500" spc="27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2500" spc="11" b="1">
                <a:solidFill>
                  <a:srgbClr val="00bcd4"/>
                </a:solidFill>
                <a:latin typeface="DejaVu Sans"/>
                <a:cs typeface="DejaVu Sans"/>
              </a:rPr>
              <a:t>Animation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291381" y="3144969"/>
            <a:ext cx="3953926" cy="5569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Hoạt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ảnh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thuộc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tính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thực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tế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của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đối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tượng.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750247" y="3144969"/>
            <a:ext cx="4415628" cy="5569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Chuyển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động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trên</a:t>
            </a:r>
            <a:r>
              <a:rPr dirty="0" sz="1500" spc="17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thuộc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tính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cơ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bản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của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 spc="-28">
                <a:solidFill>
                  <a:srgbClr val="d1d5db"/>
                </a:solidFill>
                <a:latin typeface="DejaVu Sans"/>
                <a:cs typeface="DejaVu Sans"/>
              </a:rPr>
              <a:t>View.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291381" y="3821244"/>
            <a:ext cx="4032580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Kiểm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soát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thay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đổi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giá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trị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theo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thời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gian.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750247" y="3821244"/>
            <a:ext cx="3996864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Đơn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giản,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hoạt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động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trực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tiếp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trên</a:t>
            </a:r>
            <a:r>
              <a:rPr dirty="0" sz="1500" spc="17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 spc="-28">
                <a:solidFill>
                  <a:srgbClr val="d1d5db"/>
                </a:solidFill>
                <a:latin typeface="DejaVu Sans"/>
                <a:cs typeface="DejaVu Sans"/>
              </a:rPr>
              <a:t>View.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400323" y="5003853"/>
            <a:ext cx="1325484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4">
                <a:solidFill>
                  <a:srgbClr val="e5e7eb"/>
                </a:solidFill>
                <a:latin typeface="DejaVu Sans"/>
                <a:cs typeface="DejaVu Sans"/>
              </a:rPr>
              <a:t>ObjectAnimator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084760" y="5003853"/>
            <a:ext cx="1260798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21">
                <a:solidFill>
                  <a:srgbClr val="e5e7eb"/>
                </a:solidFill>
                <a:latin typeface="DejaVu Sans"/>
                <a:cs typeface="DejaVu Sans"/>
              </a:rPr>
              <a:t>ValueAnimator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859189" y="5003853"/>
            <a:ext cx="554221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2">
                <a:solidFill>
                  <a:srgbClr val="e5e7eb"/>
                </a:solidFill>
                <a:latin typeface="DejaVu Sans"/>
                <a:cs typeface="DejaVu Sans"/>
              </a:rPr>
              <a:t>Scale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7772696" y="5003853"/>
            <a:ext cx="648076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23">
                <a:solidFill>
                  <a:srgbClr val="e5e7eb"/>
                </a:solidFill>
                <a:latin typeface="DejaVu Sans"/>
                <a:cs typeface="DejaVu Sans"/>
              </a:rPr>
              <a:t>Rotate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8773268" y="5003853"/>
            <a:ext cx="516518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37">
                <a:solidFill>
                  <a:srgbClr val="e5e7eb"/>
                </a:solidFill>
                <a:latin typeface="DejaVu Sans"/>
                <a:cs typeface="DejaVu Sans"/>
              </a:rPr>
              <a:t>Fade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101774" y="6731455"/>
            <a:ext cx="3813522" cy="410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dirty="0" sz="2500" spc="11" b="1">
                <a:solidFill>
                  <a:srgbClr val="00bcd4"/>
                </a:solidFill>
                <a:latin typeface="DejaVu Sans"/>
                <a:cs typeface="DejaVu Sans"/>
              </a:rPr>
              <a:t>Drawable</a:t>
            </a:r>
            <a:r>
              <a:rPr dirty="0" sz="250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2500" spc="11" b="1">
                <a:solidFill>
                  <a:srgbClr val="00bcd4"/>
                </a:solidFill>
                <a:latin typeface="DejaVu Sans"/>
                <a:cs typeface="DejaVu Sans"/>
              </a:rPr>
              <a:t>Animation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560640" y="6731455"/>
            <a:ext cx="2629628" cy="8010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dirty="0" sz="2500" b="1">
                <a:solidFill>
                  <a:srgbClr val="00bcd4"/>
                </a:solidFill>
                <a:latin typeface="DejaVu Sans"/>
                <a:cs typeface="DejaVu Sans"/>
              </a:rPr>
              <a:t>MotionLayout</a:t>
            </a:r>
          </a:p>
          <a:p>
            <a:pPr marL="0" marR="0">
              <a:lnSpc>
                <a:spcPts val="2932"/>
              </a:lnSpc>
              <a:spcBef>
                <a:spcPts val="192"/>
              </a:spcBef>
              <a:spcAft>
                <a:spcPts val="0"/>
              </a:spcAft>
            </a:pPr>
            <a:r>
              <a:rPr dirty="0" sz="2500" spc="11" b="1">
                <a:solidFill>
                  <a:srgbClr val="00bcd4"/>
                </a:solidFill>
                <a:latin typeface="DejaVu Sans"/>
                <a:cs typeface="DejaVu Sans"/>
              </a:rPr>
              <a:t>Animations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291381" y="7326444"/>
            <a:ext cx="4339592" cy="642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Hiển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thị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chuỗi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Drawable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theo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thứ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tự.</a:t>
            </a:r>
          </a:p>
          <a:p>
            <a:pPr marL="0" marR="0">
              <a:lnSpc>
                <a:spcPts val="1760"/>
              </a:lnSpc>
              <a:spcBef>
                <a:spcPts val="1239"/>
              </a:spcBef>
              <a:spcAft>
                <a:spcPts val="0"/>
              </a:spcAft>
            </a:pP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Tạo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hoạt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ảnh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khung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hình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(frame-by-frame).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750247" y="7707444"/>
            <a:ext cx="4115734" cy="5569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Quản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lý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chuyển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động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hoạt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ảnh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widget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phức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tạp.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750247" y="8393244"/>
            <a:ext cx="3948596" cy="5569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Cầu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nối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giữa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chuyển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đổi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layout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xử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lý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motion.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400323" y="9185328"/>
            <a:ext cx="1623604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4">
                <a:solidFill>
                  <a:srgbClr val="e5e7eb"/>
                </a:solidFill>
                <a:latin typeface="DejaVu Sans"/>
                <a:cs typeface="DejaVu Sans"/>
              </a:rPr>
              <a:t>AnimationDrawable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6859189" y="9185328"/>
            <a:ext cx="1718667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2">
                <a:solidFill>
                  <a:srgbClr val="e5e7eb"/>
                </a:solidFill>
                <a:latin typeface="DejaVu Sans"/>
                <a:cs typeface="DejaVu Sans"/>
              </a:rPr>
              <a:t>ConstraintLayout</a:t>
            </a:r>
            <a:r>
              <a:rPr dirty="0" sz="12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e5e7eb"/>
                </a:solidFill>
                <a:latin typeface="DejaVu Sans"/>
                <a:cs typeface="DejaVu Sans"/>
              </a:rPr>
              <a:t>2.0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8937276" y="9185328"/>
            <a:ext cx="1114072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4">
                <a:solidFill>
                  <a:srgbClr val="e5e7eb"/>
                </a:solidFill>
                <a:latin typeface="DejaVu Sans"/>
                <a:cs typeface="DejaVu Sans"/>
              </a:rPr>
              <a:t>MotionScene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5704879" y="10062381"/>
            <a:ext cx="6212788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Source: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Manage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motion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and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widget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animation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with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MotionLayout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|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Views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|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Android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Developers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1048600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464766" y="761925"/>
            <a:ext cx="9414776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2" b="1">
                <a:solidFill>
                  <a:srgbClr val="e5e7eb"/>
                </a:solidFill>
                <a:latin typeface="DejaVu Sans"/>
                <a:cs typeface="DejaVu Sans"/>
              </a:rPr>
              <a:t>Các</a:t>
            </a:r>
            <a:r>
              <a:rPr dirty="0" sz="4050" b="1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4050" spc="-10" b="1">
                <a:solidFill>
                  <a:srgbClr val="e5e7eb"/>
                </a:solidFill>
                <a:latin typeface="DejaVu Sans"/>
                <a:cs typeface="DejaVu Sans"/>
              </a:rPr>
              <a:t>loại</a:t>
            </a:r>
            <a:r>
              <a:rPr dirty="0" sz="4050" b="1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4050" spc="-14" b="1">
                <a:solidFill>
                  <a:srgbClr val="00bcd4"/>
                </a:solidFill>
                <a:latin typeface="DejaVu Sans"/>
                <a:cs typeface="DejaVu Sans"/>
              </a:rPr>
              <a:t>Hoạt</a:t>
            </a:r>
            <a:r>
              <a:rPr dirty="0" sz="405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00bcd4"/>
                </a:solidFill>
                <a:latin typeface="DejaVu Sans"/>
                <a:cs typeface="DejaVu Sans"/>
              </a:rPr>
              <a:t>ảnh</a:t>
            </a:r>
            <a:r>
              <a:rPr dirty="0" sz="405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4050" spc="-10" b="1">
                <a:solidFill>
                  <a:srgbClr val="e5e7eb"/>
                </a:solidFill>
                <a:latin typeface="DejaVu Sans"/>
                <a:cs typeface="DejaVu Sans"/>
              </a:rPr>
              <a:t>trong</a:t>
            </a:r>
            <a:r>
              <a:rPr dirty="0" sz="4050" b="1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4050" spc="-11" b="1">
                <a:solidFill>
                  <a:srgbClr val="e5e7eb"/>
                </a:solidFill>
                <a:latin typeface="DejaVu Sans"/>
                <a:cs typeface="DejaVu Sans"/>
              </a:rPr>
              <a:t>Android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01774" y="2549980"/>
            <a:ext cx="3684528" cy="410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dirty="0" sz="2500" spc="10" b="1">
                <a:solidFill>
                  <a:srgbClr val="00bcd4"/>
                </a:solidFill>
                <a:latin typeface="DejaVu Sans"/>
                <a:cs typeface="DejaVu Sans"/>
              </a:rPr>
              <a:t>Property</a:t>
            </a:r>
            <a:r>
              <a:rPr dirty="0" sz="250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2500" spc="11" b="1">
                <a:solidFill>
                  <a:srgbClr val="00bcd4"/>
                </a:solidFill>
                <a:latin typeface="DejaVu Sans"/>
                <a:cs typeface="DejaVu Sans"/>
              </a:rPr>
              <a:t>Animation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560640" y="2549980"/>
            <a:ext cx="2971620" cy="410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dirty="0" sz="2500" b="1">
                <a:solidFill>
                  <a:srgbClr val="00bcd4"/>
                </a:solidFill>
                <a:latin typeface="DejaVu Sans"/>
                <a:cs typeface="DejaVu Sans"/>
              </a:rPr>
              <a:t>View</a:t>
            </a:r>
            <a:r>
              <a:rPr dirty="0" sz="2500" spc="27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2500" spc="11" b="1">
                <a:solidFill>
                  <a:srgbClr val="00bcd4"/>
                </a:solidFill>
                <a:latin typeface="DejaVu Sans"/>
                <a:cs typeface="DejaVu Sans"/>
              </a:rPr>
              <a:t>Animation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291381" y="3144969"/>
            <a:ext cx="3953926" cy="5569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Hoạt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ảnh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thuộc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tính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thực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tế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của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đối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tượng.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750247" y="3144969"/>
            <a:ext cx="4415628" cy="5569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Chuyển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động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trên</a:t>
            </a:r>
            <a:r>
              <a:rPr dirty="0" sz="1500" spc="17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thuộc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tính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cơ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bản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của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 spc="-28">
                <a:solidFill>
                  <a:srgbClr val="d1d5db"/>
                </a:solidFill>
                <a:latin typeface="DejaVu Sans"/>
                <a:cs typeface="DejaVu Sans"/>
              </a:rPr>
              <a:t>View.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291381" y="3821244"/>
            <a:ext cx="4032580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Kiểm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soát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thay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đổi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giá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trị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theo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thời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gian.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750247" y="3821244"/>
            <a:ext cx="3996864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Đơn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giản,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hoạt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động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trực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tiếp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trên</a:t>
            </a:r>
            <a:r>
              <a:rPr dirty="0" sz="1500" spc="17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 spc="-28">
                <a:solidFill>
                  <a:srgbClr val="d1d5db"/>
                </a:solidFill>
                <a:latin typeface="DejaVu Sans"/>
                <a:cs typeface="DejaVu Sans"/>
              </a:rPr>
              <a:t>View.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400323" y="5003853"/>
            <a:ext cx="1325484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4">
                <a:solidFill>
                  <a:srgbClr val="e5e7eb"/>
                </a:solidFill>
                <a:latin typeface="DejaVu Sans"/>
                <a:cs typeface="DejaVu Sans"/>
              </a:rPr>
              <a:t>ObjectAnimator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084760" y="5003853"/>
            <a:ext cx="1260798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21">
                <a:solidFill>
                  <a:srgbClr val="e5e7eb"/>
                </a:solidFill>
                <a:latin typeface="DejaVu Sans"/>
                <a:cs typeface="DejaVu Sans"/>
              </a:rPr>
              <a:t>ValueAnimator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859189" y="5003853"/>
            <a:ext cx="554221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2">
                <a:solidFill>
                  <a:srgbClr val="e5e7eb"/>
                </a:solidFill>
                <a:latin typeface="DejaVu Sans"/>
                <a:cs typeface="DejaVu Sans"/>
              </a:rPr>
              <a:t>Scale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7772696" y="5003853"/>
            <a:ext cx="648076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23">
                <a:solidFill>
                  <a:srgbClr val="e5e7eb"/>
                </a:solidFill>
                <a:latin typeface="DejaVu Sans"/>
                <a:cs typeface="DejaVu Sans"/>
              </a:rPr>
              <a:t>Rotate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8773268" y="5003853"/>
            <a:ext cx="516518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37">
                <a:solidFill>
                  <a:srgbClr val="e5e7eb"/>
                </a:solidFill>
                <a:latin typeface="DejaVu Sans"/>
                <a:cs typeface="DejaVu Sans"/>
              </a:rPr>
              <a:t>Fade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101774" y="6731455"/>
            <a:ext cx="3813522" cy="410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dirty="0" sz="2500" spc="11" b="1">
                <a:solidFill>
                  <a:srgbClr val="00bcd4"/>
                </a:solidFill>
                <a:latin typeface="DejaVu Sans"/>
                <a:cs typeface="DejaVu Sans"/>
              </a:rPr>
              <a:t>Drawable</a:t>
            </a:r>
            <a:r>
              <a:rPr dirty="0" sz="250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2500" spc="11" b="1">
                <a:solidFill>
                  <a:srgbClr val="00bcd4"/>
                </a:solidFill>
                <a:latin typeface="DejaVu Sans"/>
                <a:cs typeface="DejaVu Sans"/>
              </a:rPr>
              <a:t>Animation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560640" y="6731455"/>
            <a:ext cx="2629628" cy="8010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dirty="0" sz="2500" b="1">
                <a:solidFill>
                  <a:srgbClr val="00bcd4"/>
                </a:solidFill>
                <a:latin typeface="DejaVu Sans"/>
                <a:cs typeface="DejaVu Sans"/>
              </a:rPr>
              <a:t>MotionLayout</a:t>
            </a:r>
          </a:p>
          <a:p>
            <a:pPr marL="0" marR="0">
              <a:lnSpc>
                <a:spcPts val="2932"/>
              </a:lnSpc>
              <a:spcBef>
                <a:spcPts val="192"/>
              </a:spcBef>
              <a:spcAft>
                <a:spcPts val="0"/>
              </a:spcAft>
            </a:pPr>
            <a:r>
              <a:rPr dirty="0" sz="2500" spc="11" b="1">
                <a:solidFill>
                  <a:srgbClr val="00bcd4"/>
                </a:solidFill>
                <a:latin typeface="DejaVu Sans"/>
                <a:cs typeface="DejaVu Sans"/>
              </a:rPr>
              <a:t>Animations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291381" y="7326444"/>
            <a:ext cx="4339592" cy="642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Hiển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thị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chuỗi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Drawable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theo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thứ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tự.</a:t>
            </a:r>
          </a:p>
          <a:p>
            <a:pPr marL="0" marR="0">
              <a:lnSpc>
                <a:spcPts val="1760"/>
              </a:lnSpc>
              <a:spcBef>
                <a:spcPts val="1239"/>
              </a:spcBef>
              <a:spcAft>
                <a:spcPts val="0"/>
              </a:spcAft>
            </a:pP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Tạo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hoạt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ảnh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khung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hình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(frame-by-frame).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750247" y="7707444"/>
            <a:ext cx="4115734" cy="5569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Quản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lý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chuyển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động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hoạt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ảnh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widget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phức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tạp.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750247" y="8393244"/>
            <a:ext cx="3948596" cy="5569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Cầu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nối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giữa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chuyển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đổi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layout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xử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lý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motion.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400323" y="9185328"/>
            <a:ext cx="1623604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4">
                <a:solidFill>
                  <a:srgbClr val="e5e7eb"/>
                </a:solidFill>
                <a:latin typeface="DejaVu Sans"/>
                <a:cs typeface="DejaVu Sans"/>
              </a:rPr>
              <a:t>AnimationDrawable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6859189" y="9185328"/>
            <a:ext cx="1718667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2">
                <a:solidFill>
                  <a:srgbClr val="e5e7eb"/>
                </a:solidFill>
                <a:latin typeface="DejaVu Sans"/>
                <a:cs typeface="DejaVu Sans"/>
              </a:rPr>
              <a:t>ConstraintLayout</a:t>
            </a:r>
            <a:r>
              <a:rPr dirty="0" sz="12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e5e7eb"/>
                </a:solidFill>
                <a:latin typeface="DejaVu Sans"/>
                <a:cs typeface="DejaVu Sans"/>
              </a:rPr>
              <a:t>2.0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8937276" y="9185328"/>
            <a:ext cx="1114072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4">
                <a:solidFill>
                  <a:srgbClr val="e5e7eb"/>
                </a:solidFill>
                <a:latin typeface="DejaVu Sans"/>
                <a:cs typeface="DejaVu Sans"/>
              </a:rPr>
              <a:t>MotionScene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5704879" y="10062381"/>
            <a:ext cx="6212788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Source: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Manage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motion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and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widget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animation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with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MotionLayout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|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Views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|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Android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Developers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99822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224706" y="381940"/>
            <a:ext cx="9894977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2" b="1">
                <a:solidFill>
                  <a:srgbClr val="e0e0e0"/>
                </a:solidFill>
                <a:latin typeface="DejaVu Sans"/>
                <a:cs typeface="DejaVu Sans"/>
              </a:rPr>
              <a:t>Tổng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e0e0e0"/>
                </a:solidFill>
                <a:latin typeface="DejaVu Sans"/>
                <a:cs typeface="DejaVu Sans"/>
              </a:rPr>
              <a:t>quan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1" b="1">
                <a:solidFill>
                  <a:srgbClr val="e0e0e0"/>
                </a:solidFill>
                <a:latin typeface="DejaVu Sans"/>
                <a:cs typeface="DejaVu Sans"/>
              </a:rPr>
              <a:t>về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0" b="1">
                <a:solidFill>
                  <a:srgbClr val="00bcd4"/>
                </a:solidFill>
                <a:latin typeface="DejaVu Sans"/>
                <a:cs typeface="DejaVu Sans"/>
              </a:rPr>
              <a:t>Property</a:t>
            </a:r>
            <a:r>
              <a:rPr dirty="0" sz="405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4050" spc="-11" b="1">
                <a:solidFill>
                  <a:srgbClr val="00bcd4"/>
                </a:solidFill>
                <a:latin typeface="DejaVu Sans"/>
                <a:cs typeface="DejaVu Sans"/>
              </a:rPr>
              <a:t>Animation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11597" y="1345004"/>
            <a:ext cx="4885748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20">
                <a:solidFill>
                  <a:srgbClr val="d1d5db"/>
                </a:solidFill>
                <a:latin typeface="DejaVu Sans"/>
                <a:cs typeface="DejaVu Sans"/>
              </a:rPr>
              <a:t>Property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d1d5db"/>
                </a:solidFill>
                <a:latin typeface="DejaVu Sans"/>
                <a:cs typeface="DejaVu Sans"/>
              </a:rPr>
              <a:t>Animation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d1d5db"/>
                </a:solidFill>
                <a:latin typeface="DejaVu Sans"/>
                <a:cs typeface="DejaVu Sans"/>
              </a:rPr>
              <a:t>thay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d1d5db"/>
                </a:solidFill>
                <a:latin typeface="DejaVu Sans"/>
                <a:cs typeface="DejaVu Sans"/>
              </a:rPr>
              <a:t>đổi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linh</a:t>
            </a:r>
            <a:r>
              <a:rPr dirty="0" sz="17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d1d5db"/>
                </a:solidFill>
                <a:latin typeface="DejaVu Sans"/>
                <a:cs typeface="DejaVu Sans"/>
              </a:rPr>
              <a:t>hoạt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d1d5db"/>
                </a:solidFill>
                <a:latin typeface="DejaVu Sans"/>
                <a:cs typeface="DejaVu Sans"/>
              </a:rPr>
              <a:t>bất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d1d5db"/>
                </a:solidFill>
                <a:latin typeface="DejaVu Sans"/>
                <a:cs typeface="DejaVu Sans"/>
              </a:rPr>
              <a:t>kỳ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517926" y="1583129"/>
            <a:ext cx="3788878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 b="1">
                <a:solidFill>
                  <a:srgbClr val="e0e0e0"/>
                </a:solidFill>
                <a:latin typeface="DejaVu Sans"/>
                <a:cs typeface="DejaVu Sans"/>
              </a:rPr>
              <a:t>Sức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7" b="1">
                <a:solidFill>
                  <a:srgbClr val="e0e0e0"/>
                </a:solidFill>
                <a:latin typeface="DejaVu Sans"/>
                <a:cs typeface="DejaVu Sans"/>
              </a:rPr>
              <a:t>mạnh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e0e0e0"/>
                </a:solidFill>
                <a:latin typeface="DejaVu Sans"/>
                <a:cs typeface="DejaVu Sans"/>
              </a:rPr>
              <a:t>của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 b="1">
                <a:solidFill>
                  <a:srgbClr val="e0e0e0"/>
                </a:solidFill>
                <a:latin typeface="DejaVu Sans"/>
                <a:cs typeface="DejaVu Sans"/>
              </a:rPr>
              <a:t>ObjectAnimator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11597" y="1640279"/>
            <a:ext cx="4542075" cy="8865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1">
                <a:solidFill>
                  <a:srgbClr val="d1d5db"/>
                </a:solidFill>
                <a:latin typeface="DejaVu Sans"/>
                <a:cs typeface="DejaVu Sans"/>
              </a:rPr>
              <a:t>thuộc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tính</a:t>
            </a:r>
            <a:r>
              <a:rPr dirty="0" sz="17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d1d5db"/>
                </a:solidFill>
                <a:latin typeface="DejaVu Sans"/>
                <a:cs typeface="DejaVu Sans"/>
              </a:rPr>
              <a:t>nào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d1d5db"/>
                </a:solidFill>
                <a:latin typeface="DejaVu Sans"/>
                <a:cs typeface="DejaVu Sans"/>
              </a:rPr>
              <a:t>của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d1d5db"/>
                </a:solidFill>
                <a:latin typeface="DejaVu Sans"/>
                <a:cs typeface="DejaVu Sans"/>
              </a:rPr>
              <a:t>đối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d1d5db"/>
                </a:solidFill>
                <a:latin typeface="DejaVu Sans"/>
                <a:cs typeface="DejaVu Sans"/>
              </a:rPr>
              <a:t>tượng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5">
                <a:solidFill>
                  <a:srgbClr val="d1d5db"/>
                </a:solidFill>
                <a:latin typeface="DejaVu Sans"/>
                <a:cs typeface="DejaVu Sans"/>
              </a:rPr>
              <a:t>UI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d1d5db"/>
                </a:solidFill>
                <a:latin typeface="DejaVu Sans"/>
                <a:cs typeface="DejaVu Sans"/>
              </a:rPr>
              <a:t>theo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d1d5db"/>
                </a:solidFill>
                <a:latin typeface="DejaVu Sans"/>
                <a:cs typeface="DejaVu Sans"/>
              </a:rPr>
              <a:t>thời</a:t>
            </a:r>
          </a:p>
          <a:p>
            <a:pPr marL="0" marR="0">
              <a:lnSpc>
                <a:spcPts val="1955"/>
              </a:lnSpc>
              <a:spcBef>
                <a:spcPts val="444"/>
              </a:spcBef>
              <a:spcAft>
                <a:spcPts val="0"/>
              </a:spcAft>
            </a:pPr>
            <a:r>
              <a:rPr dirty="0" sz="1700" spc="-10">
                <a:solidFill>
                  <a:srgbClr val="d1d5db"/>
                </a:solidFill>
                <a:latin typeface="DejaVu Sans"/>
                <a:cs typeface="DejaVu Sans"/>
              </a:rPr>
              <a:t>gian,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d1d5db"/>
                </a:solidFill>
                <a:latin typeface="DejaVu Sans"/>
                <a:cs typeface="DejaVu Sans"/>
              </a:rPr>
              <a:t>tạo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d1d5db"/>
                </a:solidFill>
                <a:latin typeface="DejaVu Sans"/>
                <a:cs typeface="DejaVu Sans"/>
              </a:rPr>
              <a:t>hiệu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d1d5db"/>
                </a:solidFill>
                <a:latin typeface="DejaVu Sans"/>
                <a:cs typeface="DejaVu Sans"/>
              </a:rPr>
              <a:t>ứng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d1d5db"/>
                </a:solidFill>
                <a:latin typeface="DejaVu Sans"/>
                <a:cs typeface="DejaVu Sans"/>
              </a:rPr>
              <a:t>động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5">
                <a:solidFill>
                  <a:srgbClr val="d1d5db"/>
                </a:solidFill>
                <a:latin typeface="DejaVu Sans"/>
                <a:cs typeface="DejaVu Sans"/>
              </a:rPr>
              <a:t>mượt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20">
                <a:solidFill>
                  <a:srgbClr val="d1d5db"/>
                </a:solidFill>
                <a:latin typeface="DejaVu Sans"/>
                <a:cs typeface="DejaVu Sans"/>
              </a:rPr>
              <a:t>mà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tự</a:t>
            </a:r>
          </a:p>
          <a:p>
            <a:pPr marL="0" marR="0">
              <a:lnSpc>
                <a:spcPts val="1955"/>
              </a:lnSpc>
              <a:spcBef>
                <a:spcPts val="319"/>
              </a:spcBef>
              <a:spcAft>
                <a:spcPts val="0"/>
              </a:spcAft>
            </a:pPr>
            <a:r>
              <a:rPr dirty="0" sz="1700" spc="-11">
                <a:solidFill>
                  <a:srgbClr val="d1d5db"/>
                </a:solidFill>
                <a:latin typeface="DejaVu Sans"/>
                <a:cs typeface="DejaVu Sans"/>
              </a:rPr>
              <a:t>nhiên.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17926" y="2032313"/>
            <a:ext cx="5069778" cy="7416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Công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cụ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chính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để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tạo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 spc="-10">
                <a:solidFill>
                  <a:srgbClr val="d1d5db"/>
                </a:solidFill>
                <a:latin typeface="DejaVu Sans"/>
                <a:cs typeface="DejaVu Sans"/>
              </a:rPr>
              <a:t>Property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Animation,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cho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phép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thay</a:t>
            </a:r>
          </a:p>
          <a:p>
            <a:pPr marL="0" marR="0">
              <a:lnSpc>
                <a:spcPts val="1564"/>
              </a:lnSpc>
              <a:spcBef>
                <a:spcPts val="335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đổi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thuộc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tính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như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`alpha`,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`translationX`,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`rotation`,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nhiều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hơn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nữa.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645919" y="2995847"/>
            <a:ext cx="831246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d1d5db"/>
                </a:solidFill>
                <a:latin typeface="DejaVu Sans"/>
                <a:cs typeface="DejaVu Sans"/>
              </a:rPr>
              <a:t>Linh</a:t>
            </a:r>
            <a:r>
              <a:rPr dirty="0" sz="1000" b="1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d1d5db"/>
                </a:solidFill>
                <a:latin typeface="DejaVu Sans"/>
                <a:cs typeface="DejaVu Sans"/>
              </a:rPr>
              <a:t>hoạt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666135" y="2995847"/>
            <a:ext cx="1424895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d1d5db"/>
                </a:solidFill>
                <a:latin typeface="DejaVu Sans"/>
                <a:cs typeface="DejaVu Sans"/>
              </a:rPr>
              <a:t>Kiểm</a:t>
            </a:r>
            <a:r>
              <a:rPr dirty="0" sz="1000" b="1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d1d5db"/>
                </a:solidFill>
                <a:latin typeface="DejaVu Sans"/>
                <a:cs typeface="DejaVu Sans"/>
              </a:rPr>
              <a:t>soát</a:t>
            </a:r>
            <a:r>
              <a:rPr dirty="0" sz="1000" b="1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d1d5db"/>
                </a:solidFill>
                <a:latin typeface="DejaVu Sans"/>
                <a:cs typeface="DejaVu Sans"/>
              </a:rPr>
              <a:t>chi</a:t>
            </a:r>
            <a:r>
              <a:rPr dirty="0" sz="1000" b="1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d1d5db"/>
                </a:solidFill>
                <a:latin typeface="DejaVu Sans"/>
                <a:cs typeface="DejaVu Sans"/>
              </a:rPr>
              <a:t>tiết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53231" y="3060258"/>
            <a:ext cx="3476681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Ra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spc="10" b="1">
                <a:solidFill>
                  <a:srgbClr val="e0e0e0"/>
                </a:solidFill>
                <a:latin typeface="DejaVu Sans"/>
                <a:cs typeface="DejaVu Sans"/>
              </a:rPr>
              <a:t>mắt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từ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Android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3.0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(API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11)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981223" y="3500672"/>
            <a:ext cx="1593391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00bcd4"/>
                </a:solidFill>
                <a:latin typeface="DejaVu Sans"/>
                <a:cs typeface="DejaVu Sans"/>
              </a:rPr>
              <a:t>Thời</a:t>
            </a:r>
            <a:r>
              <a:rPr dirty="0" sz="100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00bcd4"/>
                </a:solidFill>
                <a:latin typeface="DejaVu Sans"/>
                <a:cs typeface="DejaVu Sans"/>
              </a:rPr>
              <a:t>điểm</a:t>
            </a:r>
            <a:r>
              <a:rPr dirty="0" sz="100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00bcd4"/>
                </a:solidFill>
                <a:latin typeface="DejaVu Sans"/>
                <a:cs typeface="DejaVu Sans"/>
              </a:rPr>
              <a:t>giới</a:t>
            </a:r>
            <a:r>
              <a:rPr dirty="0" sz="100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00bcd4"/>
                </a:solidFill>
                <a:latin typeface="DejaVu Sans"/>
                <a:cs typeface="DejaVu Sans"/>
              </a:rPr>
              <a:t>thiệu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763589" y="3500672"/>
            <a:ext cx="1709134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00bcd4"/>
                </a:solidFill>
                <a:latin typeface="DejaVu Sans"/>
                <a:cs typeface="DejaVu Sans"/>
              </a:rPr>
              <a:t>Khả</a:t>
            </a:r>
            <a:r>
              <a:rPr dirty="0" sz="100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00bcd4"/>
                </a:solidFill>
                <a:latin typeface="DejaVu Sans"/>
                <a:cs typeface="DejaVu Sans"/>
              </a:rPr>
              <a:t>năng</a:t>
            </a:r>
            <a:r>
              <a:rPr dirty="0" sz="100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00bcd4"/>
                </a:solidFill>
                <a:latin typeface="DejaVu Sans"/>
                <a:cs typeface="DejaVu Sans"/>
              </a:rPr>
              <a:t>tương</a:t>
            </a:r>
            <a:r>
              <a:rPr dirty="0" sz="100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00bcd4"/>
                </a:solidFill>
                <a:latin typeface="DejaVu Sans"/>
                <a:cs typeface="DejaVu Sans"/>
              </a:rPr>
              <a:t>thích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201042" y="8060129"/>
            <a:ext cx="5274367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4" b="1">
                <a:solidFill>
                  <a:srgbClr val="e0e0e0"/>
                </a:solidFill>
                <a:latin typeface="DejaVu Sans"/>
                <a:cs typeface="DejaVu Sans"/>
              </a:rPr>
              <a:t>Tầm</a:t>
            </a:r>
            <a:r>
              <a:rPr dirty="0" sz="1700" spc="-15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e0e0e0"/>
                </a:solidFill>
                <a:latin typeface="DejaVu Sans"/>
                <a:cs typeface="DejaVu Sans"/>
              </a:rPr>
              <a:t>quan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1" b="1">
                <a:solidFill>
                  <a:srgbClr val="e0e0e0"/>
                </a:solidFill>
                <a:latin typeface="DejaVu Sans"/>
                <a:cs typeface="DejaVu Sans"/>
              </a:rPr>
              <a:t>trọng</a:t>
            </a:r>
            <a:r>
              <a:rPr dirty="0" sz="1700" spc="-1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e0e0e0"/>
                </a:solidFill>
                <a:latin typeface="DejaVu Sans"/>
                <a:cs typeface="DejaVu Sans"/>
              </a:rPr>
              <a:t>của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e0e0e0"/>
                </a:solidFill>
                <a:latin typeface="DejaVu Sans"/>
                <a:cs typeface="DejaVu Sans"/>
              </a:rPr>
              <a:t>Chuyển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e0e0e0"/>
                </a:solidFill>
                <a:latin typeface="DejaVu Sans"/>
                <a:cs typeface="DejaVu Sans"/>
              </a:rPr>
              <a:t>động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1" b="1">
                <a:solidFill>
                  <a:srgbClr val="e0e0e0"/>
                </a:solidFill>
                <a:latin typeface="DejaVu Sans"/>
                <a:cs typeface="DejaVu Sans"/>
              </a:rPr>
              <a:t>trong</a:t>
            </a:r>
            <a:r>
              <a:rPr dirty="0" sz="1700" spc="-1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7" b="1">
                <a:solidFill>
                  <a:srgbClr val="e0e0e0"/>
                </a:solidFill>
                <a:latin typeface="DejaVu Sans"/>
                <a:cs typeface="DejaVu Sans"/>
              </a:rPr>
              <a:t>UI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201042" y="8452163"/>
            <a:ext cx="10306203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Motion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giúp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UI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trở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nên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biểu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cảm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dễ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sử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dụng.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Nó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thông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báo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cho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người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dùng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bằng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cách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làm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nổi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bật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mối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quan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hệ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giữa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phần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tử,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khả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năng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kết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quả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hành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động.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329035" y="9110897"/>
            <a:ext cx="1861747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spc="-23" b="1">
                <a:solidFill>
                  <a:srgbClr val="ff9800"/>
                </a:solidFill>
                <a:latin typeface="DejaVu Sans"/>
                <a:cs typeface="DejaVu Sans"/>
              </a:rPr>
              <a:t>Trải</a:t>
            </a:r>
            <a:r>
              <a:rPr dirty="0" sz="1000" spc="28" b="1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ff9800"/>
                </a:solidFill>
                <a:latin typeface="DejaVu Sans"/>
                <a:cs typeface="DejaVu Sans"/>
              </a:rPr>
              <a:t>nghiệm</a:t>
            </a:r>
            <a:r>
              <a:rPr dirty="0" sz="1000" b="1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ff9800"/>
                </a:solidFill>
                <a:latin typeface="DejaVu Sans"/>
                <a:cs typeface="DejaVu Sans"/>
              </a:rPr>
              <a:t>người</a:t>
            </a:r>
            <a:r>
              <a:rPr dirty="0" sz="1000" b="1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ff9800"/>
                </a:solidFill>
                <a:latin typeface="DejaVu Sans"/>
                <a:cs typeface="DejaVu Sans"/>
              </a:rPr>
              <a:t>dùng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3379737" y="9110897"/>
            <a:ext cx="1163987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ff9800"/>
                </a:solidFill>
                <a:latin typeface="DejaVu Sans"/>
                <a:cs typeface="DejaVu Sans"/>
              </a:rPr>
              <a:t>Tính</a:t>
            </a:r>
            <a:r>
              <a:rPr dirty="0" sz="1000" b="1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ff9800"/>
                </a:solidFill>
                <a:latin typeface="DejaVu Sans"/>
                <a:cs typeface="DejaVu Sans"/>
              </a:rPr>
              <a:t>biểu</a:t>
            </a:r>
            <a:r>
              <a:rPr dirty="0" sz="1000" b="1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ff9800"/>
                </a:solidFill>
                <a:latin typeface="DejaVu Sans"/>
                <a:cs typeface="DejaVu Sans"/>
              </a:rPr>
              <a:t>cảm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8557765" y="9644297"/>
            <a:ext cx="3359904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Source: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Understanding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motion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-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Material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Design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2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99822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224706" y="381940"/>
            <a:ext cx="9894977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2" b="1">
                <a:solidFill>
                  <a:srgbClr val="e0e0e0"/>
                </a:solidFill>
                <a:latin typeface="DejaVu Sans"/>
                <a:cs typeface="DejaVu Sans"/>
              </a:rPr>
              <a:t>Tổng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e0e0e0"/>
                </a:solidFill>
                <a:latin typeface="DejaVu Sans"/>
                <a:cs typeface="DejaVu Sans"/>
              </a:rPr>
              <a:t>quan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1" b="1">
                <a:solidFill>
                  <a:srgbClr val="e0e0e0"/>
                </a:solidFill>
                <a:latin typeface="DejaVu Sans"/>
                <a:cs typeface="DejaVu Sans"/>
              </a:rPr>
              <a:t>về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0" b="1">
                <a:solidFill>
                  <a:srgbClr val="00bcd4"/>
                </a:solidFill>
                <a:latin typeface="DejaVu Sans"/>
                <a:cs typeface="DejaVu Sans"/>
              </a:rPr>
              <a:t>Property</a:t>
            </a:r>
            <a:r>
              <a:rPr dirty="0" sz="405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4050" spc="-11" b="1">
                <a:solidFill>
                  <a:srgbClr val="00bcd4"/>
                </a:solidFill>
                <a:latin typeface="DejaVu Sans"/>
                <a:cs typeface="DejaVu Sans"/>
              </a:rPr>
              <a:t>Animation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11597" y="1345004"/>
            <a:ext cx="4885748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20">
                <a:solidFill>
                  <a:srgbClr val="d1d5db"/>
                </a:solidFill>
                <a:latin typeface="DejaVu Sans"/>
                <a:cs typeface="DejaVu Sans"/>
              </a:rPr>
              <a:t>Property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d1d5db"/>
                </a:solidFill>
                <a:latin typeface="DejaVu Sans"/>
                <a:cs typeface="DejaVu Sans"/>
              </a:rPr>
              <a:t>Animation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d1d5db"/>
                </a:solidFill>
                <a:latin typeface="DejaVu Sans"/>
                <a:cs typeface="DejaVu Sans"/>
              </a:rPr>
              <a:t>thay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d1d5db"/>
                </a:solidFill>
                <a:latin typeface="DejaVu Sans"/>
                <a:cs typeface="DejaVu Sans"/>
              </a:rPr>
              <a:t>đổi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linh</a:t>
            </a:r>
            <a:r>
              <a:rPr dirty="0" sz="17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d1d5db"/>
                </a:solidFill>
                <a:latin typeface="DejaVu Sans"/>
                <a:cs typeface="DejaVu Sans"/>
              </a:rPr>
              <a:t>hoạt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d1d5db"/>
                </a:solidFill>
                <a:latin typeface="DejaVu Sans"/>
                <a:cs typeface="DejaVu Sans"/>
              </a:rPr>
              <a:t>bất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d1d5db"/>
                </a:solidFill>
                <a:latin typeface="DejaVu Sans"/>
                <a:cs typeface="DejaVu Sans"/>
              </a:rPr>
              <a:t>kỳ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517926" y="1583129"/>
            <a:ext cx="3788878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 b="1">
                <a:solidFill>
                  <a:srgbClr val="e0e0e0"/>
                </a:solidFill>
                <a:latin typeface="DejaVu Sans"/>
                <a:cs typeface="DejaVu Sans"/>
              </a:rPr>
              <a:t>Sức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7" b="1">
                <a:solidFill>
                  <a:srgbClr val="e0e0e0"/>
                </a:solidFill>
                <a:latin typeface="DejaVu Sans"/>
                <a:cs typeface="DejaVu Sans"/>
              </a:rPr>
              <a:t>mạnh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e0e0e0"/>
                </a:solidFill>
                <a:latin typeface="DejaVu Sans"/>
                <a:cs typeface="DejaVu Sans"/>
              </a:rPr>
              <a:t>của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 b="1">
                <a:solidFill>
                  <a:srgbClr val="e0e0e0"/>
                </a:solidFill>
                <a:latin typeface="DejaVu Sans"/>
                <a:cs typeface="DejaVu Sans"/>
              </a:rPr>
              <a:t>ObjectAnimator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11597" y="1640279"/>
            <a:ext cx="4542075" cy="8865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1">
                <a:solidFill>
                  <a:srgbClr val="d1d5db"/>
                </a:solidFill>
                <a:latin typeface="DejaVu Sans"/>
                <a:cs typeface="DejaVu Sans"/>
              </a:rPr>
              <a:t>thuộc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tính</a:t>
            </a:r>
            <a:r>
              <a:rPr dirty="0" sz="17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d1d5db"/>
                </a:solidFill>
                <a:latin typeface="DejaVu Sans"/>
                <a:cs typeface="DejaVu Sans"/>
              </a:rPr>
              <a:t>nào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d1d5db"/>
                </a:solidFill>
                <a:latin typeface="DejaVu Sans"/>
                <a:cs typeface="DejaVu Sans"/>
              </a:rPr>
              <a:t>của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d1d5db"/>
                </a:solidFill>
                <a:latin typeface="DejaVu Sans"/>
                <a:cs typeface="DejaVu Sans"/>
              </a:rPr>
              <a:t>đối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d1d5db"/>
                </a:solidFill>
                <a:latin typeface="DejaVu Sans"/>
                <a:cs typeface="DejaVu Sans"/>
              </a:rPr>
              <a:t>tượng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5">
                <a:solidFill>
                  <a:srgbClr val="d1d5db"/>
                </a:solidFill>
                <a:latin typeface="DejaVu Sans"/>
                <a:cs typeface="DejaVu Sans"/>
              </a:rPr>
              <a:t>UI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d1d5db"/>
                </a:solidFill>
                <a:latin typeface="DejaVu Sans"/>
                <a:cs typeface="DejaVu Sans"/>
              </a:rPr>
              <a:t>theo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d1d5db"/>
                </a:solidFill>
                <a:latin typeface="DejaVu Sans"/>
                <a:cs typeface="DejaVu Sans"/>
              </a:rPr>
              <a:t>thời</a:t>
            </a:r>
          </a:p>
          <a:p>
            <a:pPr marL="0" marR="0">
              <a:lnSpc>
                <a:spcPts val="1955"/>
              </a:lnSpc>
              <a:spcBef>
                <a:spcPts val="444"/>
              </a:spcBef>
              <a:spcAft>
                <a:spcPts val="0"/>
              </a:spcAft>
            </a:pPr>
            <a:r>
              <a:rPr dirty="0" sz="1700" spc="-10">
                <a:solidFill>
                  <a:srgbClr val="d1d5db"/>
                </a:solidFill>
                <a:latin typeface="DejaVu Sans"/>
                <a:cs typeface="DejaVu Sans"/>
              </a:rPr>
              <a:t>gian,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d1d5db"/>
                </a:solidFill>
                <a:latin typeface="DejaVu Sans"/>
                <a:cs typeface="DejaVu Sans"/>
              </a:rPr>
              <a:t>tạo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d1d5db"/>
                </a:solidFill>
                <a:latin typeface="DejaVu Sans"/>
                <a:cs typeface="DejaVu Sans"/>
              </a:rPr>
              <a:t>hiệu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d1d5db"/>
                </a:solidFill>
                <a:latin typeface="DejaVu Sans"/>
                <a:cs typeface="DejaVu Sans"/>
              </a:rPr>
              <a:t>ứng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d1d5db"/>
                </a:solidFill>
                <a:latin typeface="DejaVu Sans"/>
                <a:cs typeface="DejaVu Sans"/>
              </a:rPr>
              <a:t>động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5">
                <a:solidFill>
                  <a:srgbClr val="d1d5db"/>
                </a:solidFill>
                <a:latin typeface="DejaVu Sans"/>
                <a:cs typeface="DejaVu Sans"/>
              </a:rPr>
              <a:t>mượt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20">
                <a:solidFill>
                  <a:srgbClr val="d1d5db"/>
                </a:solidFill>
                <a:latin typeface="DejaVu Sans"/>
                <a:cs typeface="DejaVu Sans"/>
              </a:rPr>
              <a:t>mà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tự</a:t>
            </a:r>
          </a:p>
          <a:p>
            <a:pPr marL="0" marR="0">
              <a:lnSpc>
                <a:spcPts val="1955"/>
              </a:lnSpc>
              <a:spcBef>
                <a:spcPts val="319"/>
              </a:spcBef>
              <a:spcAft>
                <a:spcPts val="0"/>
              </a:spcAft>
            </a:pPr>
            <a:r>
              <a:rPr dirty="0" sz="1700" spc="-11">
                <a:solidFill>
                  <a:srgbClr val="d1d5db"/>
                </a:solidFill>
                <a:latin typeface="DejaVu Sans"/>
                <a:cs typeface="DejaVu Sans"/>
              </a:rPr>
              <a:t>nhiên.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17926" y="2032313"/>
            <a:ext cx="5069778" cy="7416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Công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cụ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chính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để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tạo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 spc="-10">
                <a:solidFill>
                  <a:srgbClr val="d1d5db"/>
                </a:solidFill>
                <a:latin typeface="DejaVu Sans"/>
                <a:cs typeface="DejaVu Sans"/>
              </a:rPr>
              <a:t>Property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Animation,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cho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phép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thay</a:t>
            </a:r>
          </a:p>
          <a:p>
            <a:pPr marL="0" marR="0">
              <a:lnSpc>
                <a:spcPts val="1564"/>
              </a:lnSpc>
              <a:spcBef>
                <a:spcPts val="335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đổi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thuộc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tính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như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`alpha`,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`translationX`,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`rotation`,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nhiều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hơn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nữa.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645919" y="2995847"/>
            <a:ext cx="831246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d1d5db"/>
                </a:solidFill>
                <a:latin typeface="DejaVu Sans"/>
                <a:cs typeface="DejaVu Sans"/>
              </a:rPr>
              <a:t>Linh</a:t>
            </a:r>
            <a:r>
              <a:rPr dirty="0" sz="1000" b="1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d1d5db"/>
                </a:solidFill>
                <a:latin typeface="DejaVu Sans"/>
                <a:cs typeface="DejaVu Sans"/>
              </a:rPr>
              <a:t>hoạt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666135" y="2995847"/>
            <a:ext cx="1424895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d1d5db"/>
                </a:solidFill>
                <a:latin typeface="DejaVu Sans"/>
                <a:cs typeface="DejaVu Sans"/>
              </a:rPr>
              <a:t>Kiểm</a:t>
            </a:r>
            <a:r>
              <a:rPr dirty="0" sz="1000" b="1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d1d5db"/>
                </a:solidFill>
                <a:latin typeface="DejaVu Sans"/>
                <a:cs typeface="DejaVu Sans"/>
              </a:rPr>
              <a:t>soát</a:t>
            </a:r>
            <a:r>
              <a:rPr dirty="0" sz="1000" b="1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d1d5db"/>
                </a:solidFill>
                <a:latin typeface="DejaVu Sans"/>
                <a:cs typeface="DejaVu Sans"/>
              </a:rPr>
              <a:t>chi</a:t>
            </a:r>
            <a:r>
              <a:rPr dirty="0" sz="1000" b="1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d1d5db"/>
                </a:solidFill>
                <a:latin typeface="DejaVu Sans"/>
                <a:cs typeface="DejaVu Sans"/>
              </a:rPr>
              <a:t>tiết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53231" y="3060258"/>
            <a:ext cx="3476681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Ra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spc="10" b="1">
                <a:solidFill>
                  <a:srgbClr val="e0e0e0"/>
                </a:solidFill>
                <a:latin typeface="DejaVu Sans"/>
                <a:cs typeface="DejaVu Sans"/>
              </a:rPr>
              <a:t>mắt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từ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Android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3.0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(API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11)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981223" y="3500672"/>
            <a:ext cx="1593391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00bcd4"/>
                </a:solidFill>
                <a:latin typeface="DejaVu Sans"/>
                <a:cs typeface="DejaVu Sans"/>
              </a:rPr>
              <a:t>Thời</a:t>
            </a:r>
            <a:r>
              <a:rPr dirty="0" sz="100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00bcd4"/>
                </a:solidFill>
                <a:latin typeface="DejaVu Sans"/>
                <a:cs typeface="DejaVu Sans"/>
              </a:rPr>
              <a:t>điểm</a:t>
            </a:r>
            <a:r>
              <a:rPr dirty="0" sz="100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00bcd4"/>
                </a:solidFill>
                <a:latin typeface="DejaVu Sans"/>
                <a:cs typeface="DejaVu Sans"/>
              </a:rPr>
              <a:t>giới</a:t>
            </a:r>
            <a:r>
              <a:rPr dirty="0" sz="100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00bcd4"/>
                </a:solidFill>
                <a:latin typeface="DejaVu Sans"/>
                <a:cs typeface="DejaVu Sans"/>
              </a:rPr>
              <a:t>thiệu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763589" y="3500672"/>
            <a:ext cx="1709134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00bcd4"/>
                </a:solidFill>
                <a:latin typeface="DejaVu Sans"/>
                <a:cs typeface="DejaVu Sans"/>
              </a:rPr>
              <a:t>Khả</a:t>
            </a:r>
            <a:r>
              <a:rPr dirty="0" sz="100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00bcd4"/>
                </a:solidFill>
                <a:latin typeface="DejaVu Sans"/>
                <a:cs typeface="DejaVu Sans"/>
              </a:rPr>
              <a:t>năng</a:t>
            </a:r>
            <a:r>
              <a:rPr dirty="0" sz="100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00bcd4"/>
                </a:solidFill>
                <a:latin typeface="DejaVu Sans"/>
                <a:cs typeface="DejaVu Sans"/>
              </a:rPr>
              <a:t>tương</a:t>
            </a:r>
            <a:r>
              <a:rPr dirty="0" sz="100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00bcd4"/>
                </a:solidFill>
                <a:latin typeface="DejaVu Sans"/>
                <a:cs typeface="DejaVu Sans"/>
              </a:rPr>
              <a:t>thích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201042" y="8060129"/>
            <a:ext cx="5274367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4" b="1">
                <a:solidFill>
                  <a:srgbClr val="e0e0e0"/>
                </a:solidFill>
                <a:latin typeface="DejaVu Sans"/>
                <a:cs typeface="DejaVu Sans"/>
              </a:rPr>
              <a:t>Tầm</a:t>
            </a:r>
            <a:r>
              <a:rPr dirty="0" sz="1700" spc="-15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e0e0e0"/>
                </a:solidFill>
                <a:latin typeface="DejaVu Sans"/>
                <a:cs typeface="DejaVu Sans"/>
              </a:rPr>
              <a:t>quan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1" b="1">
                <a:solidFill>
                  <a:srgbClr val="e0e0e0"/>
                </a:solidFill>
                <a:latin typeface="DejaVu Sans"/>
                <a:cs typeface="DejaVu Sans"/>
              </a:rPr>
              <a:t>trọng</a:t>
            </a:r>
            <a:r>
              <a:rPr dirty="0" sz="1700" spc="-1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e0e0e0"/>
                </a:solidFill>
                <a:latin typeface="DejaVu Sans"/>
                <a:cs typeface="DejaVu Sans"/>
              </a:rPr>
              <a:t>của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e0e0e0"/>
                </a:solidFill>
                <a:latin typeface="DejaVu Sans"/>
                <a:cs typeface="DejaVu Sans"/>
              </a:rPr>
              <a:t>Chuyển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e0e0e0"/>
                </a:solidFill>
                <a:latin typeface="DejaVu Sans"/>
                <a:cs typeface="DejaVu Sans"/>
              </a:rPr>
              <a:t>động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1" b="1">
                <a:solidFill>
                  <a:srgbClr val="e0e0e0"/>
                </a:solidFill>
                <a:latin typeface="DejaVu Sans"/>
                <a:cs typeface="DejaVu Sans"/>
              </a:rPr>
              <a:t>trong</a:t>
            </a:r>
            <a:r>
              <a:rPr dirty="0" sz="1700" spc="-1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7" b="1">
                <a:solidFill>
                  <a:srgbClr val="e0e0e0"/>
                </a:solidFill>
                <a:latin typeface="DejaVu Sans"/>
                <a:cs typeface="DejaVu Sans"/>
              </a:rPr>
              <a:t>UI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201042" y="8452163"/>
            <a:ext cx="10306203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Motion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giúp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UI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trở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nên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biểu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cảm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dễ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sử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dụng.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Nó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thông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báo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cho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người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dùng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bằng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cách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làm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nổi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bật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mối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quan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hệ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giữa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phần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tử,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khả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năng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kết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quả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hành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động.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329035" y="9110897"/>
            <a:ext cx="1861747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spc="-23" b="1">
                <a:solidFill>
                  <a:srgbClr val="ff9800"/>
                </a:solidFill>
                <a:latin typeface="DejaVu Sans"/>
                <a:cs typeface="DejaVu Sans"/>
              </a:rPr>
              <a:t>Trải</a:t>
            </a:r>
            <a:r>
              <a:rPr dirty="0" sz="1000" spc="28" b="1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ff9800"/>
                </a:solidFill>
                <a:latin typeface="DejaVu Sans"/>
                <a:cs typeface="DejaVu Sans"/>
              </a:rPr>
              <a:t>nghiệm</a:t>
            </a:r>
            <a:r>
              <a:rPr dirty="0" sz="1000" b="1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ff9800"/>
                </a:solidFill>
                <a:latin typeface="DejaVu Sans"/>
                <a:cs typeface="DejaVu Sans"/>
              </a:rPr>
              <a:t>người</a:t>
            </a:r>
            <a:r>
              <a:rPr dirty="0" sz="1000" b="1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ff9800"/>
                </a:solidFill>
                <a:latin typeface="DejaVu Sans"/>
                <a:cs typeface="DejaVu Sans"/>
              </a:rPr>
              <a:t>dùng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3379737" y="9110897"/>
            <a:ext cx="1163987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ff9800"/>
                </a:solidFill>
                <a:latin typeface="DejaVu Sans"/>
                <a:cs typeface="DejaVu Sans"/>
              </a:rPr>
              <a:t>Tính</a:t>
            </a:r>
            <a:r>
              <a:rPr dirty="0" sz="1000" b="1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ff9800"/>
                </a:solidFill>
                <a:latin typeface="DejaVu Sans"/>
                <a:cs typeface="DejaVu Sans"/>
              </a:rPr>
              <a:t>biểu</a:t>
            </a:r>
            <a:r>
              <a:rPr dirty="0" sz="1000" b="1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ff9800"/>
                </a:solidFill>
                <a:latin typeface="DejaVu Sans"/>
                <a:cs typeface="DejaVu Sans"/>
              </a:rPr>
              <a:t>cảm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8557765" y="9644297"/>
            <a:ext cx="3359904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Source: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Understanding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motion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-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Material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Design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2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7093966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909589" y="322631"/>
            <a:ext cx="6525072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5" b="1">
                <a:solidFill>
                  <a:srgbClr val="e0e0e0"/>
                </a:solidFill>
                <a:latin typeface="DejaVu Sans"/>
                <a:cs typeface="DejaVu Sans"/>
              </a:rPr>
              <a:t>Ví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e0e0e0"/>
                </a:solidFill>
                <a:latin typeface="DejaVu Sans"/>
                <a:cs typeface="DejaVu Sans"/>
              </a:rPr>
              <a:t>dụ: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68" b="1">
                <a:solidFill>
                  <a:srgbClr val="e0e0e0"/>
                </a:solidFill>
                <a:latin typeface="DejaVu Sans"/>
                <a:cs typeface="DejaVu Sans"/>
              </a:rPr>
              <a:t>Fade</a:t>
            </a:r>
            <a:r>
              <a:rPr dirty="0" sz="4050" spc="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1" b="1">
                <a:solidFill>
                  <a:srgbClr val="e0e0e0"/>
                </a:solidFill>
                <a:latin typeface="DejaVu Sans"/>
                <a:cs typeface="DejaVu Sans"/>
              </a:rPr>
              <a:t>Animation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85516" y="990420"/>
            <a:ext cx="6268146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4">
                <a:solidFill>
                  <a:srgbClr val="00bcd4"/>
                </a:solidFill>
                <a:latin typeface="DejaVu Sans"/>
                <a:cs typeface="DejaVu Sans"/>
              </a:rPr>
              <a:t>Nâng</a:t>
            </a:r>
            <a:r>
              <a:rPr dirty="0" sz="1700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00bcd4"/>
                </a:solidFill>
                <a:latin typeface="DejaVu Sans"/>
                <a:cs typeface="DejaVu Sans"/>
              </a:rPr>
              <a:t>tầm</a:t>
            </a:r>
            <a:r>
              <a:rPr dirty="0" sz="1700" spc="-15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700" spc="-69">
                <a:solidFill>
                  <a:srgbClr val="00bcd4"/>
                </a:solidFill>
                <a:latin typeface="DejaVu Sans"/>
                <a:cs typeface="DejaVu Sans"/>
              </a:rPr>
              <a:t>Trải</a:t>
            </a:r>
            <a:r>
              <a:rPr dirty="0" sz="1700" spc="57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00bcd4"/>
                </a:solidFill>
                <a:latin typeface="DejaVu Sans"/>
                <a:cs typeface="DejaVu Sans"/>
              </a:rPr>
              <a:t>nghiệm</a:t>
            </a:r>
            <a:r>
              <a:rPr dirty="0" sz="1700" spc="-15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700" spc="-14">
                <a:solidFill>
                  <a:srgbClr val="00bcd4"/>
                </a:solidFill>
                <a:latin typeface="DejaVu Sans"/>
                <a:cs typeface="DejaVu Sans"/>
              </a:rPr>
              <a:t>Người</a:t>
            </a:r>
            <a:r>
              <a:rPr dirty="0" sz="1700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00bcd4"/>
                </a:solidFill>
                <a:latin typeface="DejaVu Sans"/>
                <a:cs typeface="DejaVu Sans"/>
              </a:rPr>
              <a:t>dùng</a:t>
            </a:r>
            <a:r>
              <a:rPr dirty="0" sz="1700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00bcd4"/>
                </a:solidFill>
                <a:latin typeface="DejaVu Sans"/>
                <a:cs typeface="DejaVu Sans"/>
              </a:rPr>
              <a:t>với</a:t>
            </a:r>
            <a:r>
              <a:rPr dirty="0" sz="1700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700" spc="-14">
                <a:solidFill>
                  <a:srgbClr val="00bcd4"/>
                </a:solidFill>
                <a:latin typeface="DejaVu Sans"/>
                <a:cs typeface="DejaVu Sans"/>
              </a:rPr>
              <a:t>Hoạt</a:t>
            </a:r>
            <a:r>
              <a:rPr dirty="0" sz="1700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00bcd4"/>
                </a:solidFill>
                <a:latin typeface="DejaVu Sans"/>
                <a:cs typeface="DejaVu Sans"/>
              </a:rPr>
              <a:t>ảnh</a:t>
            </a:r>
            <a:r>
              <a:rPr dirty="0" sz="1700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700" spc="-14">
                <a:solidFill>
                  <a:srgbClr val="00bcd4"/>
                </a:solidFill>
                <a:latin typeface="DejaVu Sans"/>
                <a:cs typeface="DejaVu Sans"/>
              </a:rPr>
              <a:t>Đơn</a:t>
            </a:r>
            <a:r>
              <a:rPr dirty="0" sz="1700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00bcd4"/>
                </a:solidFill>
                <a:latin typeface="DejaVu Sans"/>
                <a:cs typeface="DejaVu Sans"/>
              </a:rPr>
              <a:t>giản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135040" y="1736388"/>
            <a:ext cx="579640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000000"/>
                </a:solidFill>
                <a:latin typeface="DejaVu Sans"/>
                <a:cs typeface="DejaVu Sans"/>
              </a:rPr>
              <a:t>Kotlin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815928" y="1736388"/>
            <a:ext cx="1005795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000000"/>
                </a:solidFill>
                <a:latin typeface="DejaVu Sans"/>
                <a:cs typeface="DejaVu Sans"/>
              </a:rPr>
              <a:t>Android</a:t>
            </a:r>
            <a:r>
              <a:rPr dirty="0" sz="1000" b="1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000000"/>
                </a:solidFill>
                <a:latin typeface="DejaVu Sans"/>
                <a:cs typeface="DejaVu Sans"/>
              </a:rPr>
              <a:t>API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36984" y="2162077"/>
            <a:ext cx="1650266" cy="255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12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ff9800"/>
                </a:solidFill>
                <a:latin typeface="Liberation Mono"/>
                <a:cs typeface="Liberation Mono"/>
              </a:rPr>
              <a:t>val</a:t>
            </a:r>
            <a:r>
              <a:rPr dirty="0" sz="1500" spc="532">
                <a:solidFill>
                  <a:srgbClr val="ff9800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e0e0e0"/>
                </a:solidFill>
                <a:latin typeface="Liberation Mono"/>
                <a:cs typeface="Liberation Mono"/>
              </a:rPr>
              <a:t>fadeOut</a:t>
            </a:r>
            <a:r>
              <a:rPr dirty="0" sz="1500">
                <a:solidFill>
                  <a:srgbClr val="e0e0e0"/>
                </a:solidFill>
                <a:latin typeface="Liberation Mono"/>
                <a:cs typeface="Liberation Mono"/>
              </a:rPr>
              <a:t> </a:t>
            </a:r>
            <a:r>
              <a:rPr dirty="0" sz="1500">
                <a:solidFill>
                  <a:srgbClr val="e0e0e0"/>
                </a:solidFill>
                <a:latin typeface="Liberation Mono"/>
                <a:cs typeface="Liberation Mono"/>
              </a:rPr>
              <a:t>=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36984" y="2457352"/>
            <a:ext cx="5106779" cy="255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12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Liberation Mono"/>
                <a:cs typeface="Liberation Mono"/>
              </a:rPr>
              <a:t>ObjectAnimator.ofFloat(myView,</a:t>
            </a:r>
            <a:r>
              <a:rPr dirty="0" sz="1500">
                <a:solidFill>
                  <a:srgbClr val="e0e0e0"/>
                </a:solidFill>
                <a:latin typeface="Liberation Mono"/>
                <a:cs typeface="Liberation Mono"/>
              </a:rPr>
              <a:t> </a:t>
            </a:r>
            <a:r>
              <a:rPr dirty="0" sz="1500">
                <a:solidFill>
                  <a:srgbClr val="00bcd4"/>
                </a:solidFill>
                <a:latin typeface="Liberation Mono"/>
                <a:cs typeface="Liberation Mono"/>
              </a:rPr>
              <a:t>"alpha"</a:t>
            </a:r>
            <a:r>
              <a:rPr dirty="0" sz="1500">
                <a:solidFill>
                  <a:srgbClr val="e0e0e0"/>
                </a:solidFill>
                <a:latin typeface="Liberation Mono"/>
                <a:cs typeface="Liberation Mono"/>
              </a:rPr>
              <a:t>,</a:t>
            </a:r>
            <a:r>
              <a:rPr dirty="0" sz="1500" spc="15">
                <a:solidFill>
                  <a:srgbClr val="e0e0e0"/>
                </a:solidFill>
                <a:latin typeface="Liberation Mono"/>
                <a:cs typeface="Liberation Mono"/>
              </a:rPr>
              <a:t> </a:t>
            </a:r>
            <a:r>
              <a:rPr dirty="0" sz="1500">
                <a:solidFill>
                  <a:srgbClr val="00bcd4"/>
                </a:solidFill>
                <a:latin typeface="Liberation Mono"/>
                <a:cs typeface="Liberation Mono"/>
              </a:rPr>
              <a:t>1f</a:t>
            </a:r>
            <a:r>
              <a:rPr dirty="0" sz="1500">
                <a:solidFill>
                  <a:srgbClr val="e0e0e0"/>
                </a:solidFill>
                <a:latin typeface="Liberation Mono"/>
                <a:cs typeface="Liberation Mono"/>
              </a:rPr>
              <a:t>,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560640" y="2586936"/>
            <a:ext cx="3279271" cy="410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dirty="0" sz="2500" spc="10" b="1">
                <a:solidFill>
                  <a:srgbClr val="e0e0e0"/>
                </a:solidFill>
                <a:latin typeface="DejaVu Sans"/>
                <a:cs typeface="DejaVu Sans"/>
              </a:rPr>
              <a:t>Hiệu</a:t>
            </a:r>
            <a:r>
              <a:rPr dirty="0" sz="2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500" spc="14" b="1">
                <a:solidFill>
                  <a:srgbClr val="e0e0e0"/>
                </a:solidFill>
                <a:latin typeface="DejaVu Sans"/>
                <a:cs typeface="DejaVu Sans"/>
              </a:rPr>
              <a:t>Ứng</a:t>
            </a:r>
            <a:r>
              <a:rPr dirty="0" sz="2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500" spc="18" b="1">
                <a:solidFill>
                  <a:srgbClr val="e0e0e0"/>
                </a:solidFill>
                <a:latin typeface="DejaVu Sans"/>
                <a:cs typeface="DejaVu Sans"/>
              </a:rPr>
              <a:t>Mờ</a:t>
            </a:r>
            <a:r>
              <a:rPr dirty="0" sz="2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500" spc="14" b="1">
                <a:solidFill>
                  <a:srgbClr val="e0e0e0"/>
                </a:solidFill>
                <a:latin typeface="DejaVu Sans"/>
                <a:cs typeface="DejaVu Sans"/>
              </a:rPr>
              <a:t>Dần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36984" y="2762152"/>
            <a:ext cx="498167" cy="255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12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0bcd4"/>
                </a:solidFill>
                <a:latin typeface="Liberation Mono"/>
                <a:cs typeface="Liberation Mono"/>
              </a:rPr>
              <a:t>0f</a:t>
            </a:r>
            <a:r>
              <a:rPr dirty="0" sz="1500">
                <a:solidFill>
                  <a:srgbClr val="e0e0e0"/>
                </a:solidFill>
                <a:latin typeface="Liberation Mono"/>
                <a:cs typeface="Liberation Mono"/>
              </a:rPr>
              <a:t>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36984" y="3057427"/>
            <a:ext cx="2802380" cy="55090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12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Liberation Mono"/>
                <a:cs typeface="Liberation Mono"/>
              </a:rPr>
              <a:t>fadeOut.duration</a:t>
            </a:r>
            <a:r>
              <a:rPr dirty="0" sz="1500">
                <a:solidFill>
                  <a:srgbClr val="e0e0e0"/>
                </a:solidFill>
                <a:latin typeface="Liberation Mono"/>
                <a:cs typeface="Liberation Mono"/>
              </a:rPr>
              <a:t> </a:t>
            </a:r>
            <a:r>
              <a:rPr dirty="0" sz="1500">
                <a:solidFill>
                  <a:srgbClr val="e0e0e0"/>
                </a:solidFill>
                <a:latin typeface="Liberation Mono"/>
                <a:cs typeface="Liberation Mono"/>
              </a:rPr>
              <a:t>=</a:t>
            </a:r>
            <a:r>
              <a:rPr dirty="0" sz="1500" spc="15">
                <a:solidFill>
                  <a:srgbClr val="e0e0e0"/>
                </a:solidFill>
                <a:latin typeface="Liberation Mono"/>
                <a:cs typeface="Liberation Mono"/>
              </a:rPr>
              <a:t> </a:t>
            </a:r>
            <a:r>
              <a:rPr dirty="0" sz="1500">
                <a:solidFill>
                  <a:srgbClr val="00bcd4"/>
                </a:solidFill>
                <a:latin typeface="Liberation Mono"/>
                <a:cs typeface="Liberation Mono"/>
              </a:rPr>
              <a:t>1000</a:t>
            </a:r>
          </a:p>
          <a:p>
            <a:pPr marL="0" marR="0">
              <a:lnSpc>
                <a:spcPts val="1712"/>
              </a:lnSpc>
              <a:spcBef>
                <a:spcPts val="612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Liberation Mono"/>
                <a:cs typeface="Liberation Mono"/>
              </a:rPr>
              <a:t>fadeOut.start()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560640" y="3086675"/>
            <a:ext cx="4832509" cy="5664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Giảm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độ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spc="10">
                <a:solidFill>
                  <a:srgbClr val="e0e0e0"/>
                </a:solidFill>
                <a:latin typeface="DejaVu Sans"/>
                <a:cs typeface="DejaVu Sans"/>
              </a:rPr>
              <a:t>mờ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của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một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View</a:t>
            </a:r>
            <a:r>
              <a:rPr dirty="0" sz="1500" spc="18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từ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100%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(hiển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thị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đầy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đủ)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xuống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0%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(trong</a:t>
            </a:r>
            <a:r>
              <a:rPr dirty="0" sz="1500" spc="1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suốt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hoàn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toàn).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868714" y="3888284"/>
            <a:ext cx="1417927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Thời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e0e0e0"/>
                </a:solidFill>
                <a:latin typeface="DejaVu Sans"/>
                <a:cs typeface="DejaVu Sans"/>
              </a:rPr>
              <a:t>gian: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1</a:t>
            </a:r>
            <a:r>
              <a:rPr dirty="0" sz="1200" spc="-23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e0e0e0"/>
                </a:solidFill>
                <a:latin typeface="DejaVu Sans"/>
                <a:cs typeface="DejaVu Sans"/>
              </a:rPr>
              <a:t>Giây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122312" y="4324170"/>
            <a:ext cx="4430050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0">
                <a:solidFill>
                  <a:srgbClr val="e0e0e0"/>
                </a:solidFill>
                <a:latin typeface="DejaVu Sans"/>
                <a:cs typeface="DejaVu Sans"/>
              </a:rPr>
              <a:t>Giảm</a:t>
            </a:r>
            <a:r>
              <a:rPr dirty="0" sz="1700" spc="-15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độ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20">
                <a:solidFill>
                  <a:srgbClr val="e0e0e0"/>
                </a:solidFill>
                <a:latin typeface="DejaVu Sans"/>
                <a:cs typeface="DejaVu Sans"/>
              </a:rPr>
              <a:t>mờ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từ</a:t>
            </a:r>
            <a:r>
              <a:rPr dirty="0" sz="1700" spc="-1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100%</a:t>
            </a: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→</a:t>
            </a:r>
            <a:r>
              <a:rPr dirty="0" sz="1700" spc="-23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0%</a:t>
            </a: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20">
                <a:solidFill>
                  <a:srgbClr val="e0e0e0"/>
                </a:solidFill>
                <a:latin typeface="DejaVu Sans"/>
                <a:cs typeface="DejaVu Sans"/>
              </a:rPr>
              <a:t>trong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1</a:t>
            </a:r>
            <a:r>
              <a:rPr dirty="0" sz="1700" spc="-2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e0e0e0"/>
                </a:solidFill>
                <a:latin typeface="DejaVu Sans"/>
                <a:cs typeface="DejaVu Sans"/>
              </a:rPr>
              <a:t>giây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9267824" y="4441488"/>
            <a:ext cx="703656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000000"/>
                </a:solidFill>
                <a:latin typeface="DejaVu Sans"/>
                <a:cs typeface="DejaVu Sans"/>
              </a:rPr>
              <a:t>Opacity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0074919" y="4441488"/>
            <a:ext cx="553387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000000"/>
                </a:solidFill>
                <a:latin typeface="DejaVu Sans"/>
                <a:cs typeface="DejaVu Sans"/>
              </a:rPr>
              <a:t>UI/UX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0731697" y="4441488"/>
            <a:ext cx="890429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000000"/>
                </a:solidFill>
                <a:latin typeface="DejaVu Sans"/>
                <a:cs typeface="DejaVu Sans"/>
              </a:rPr>
              <a:t>Animation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551556" y="5659934"/>
            <a:ext cx="3379630" cy="6405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2">
                <a:solidFill>
                  <a:srgbClr val="e0e0e0"/>
                </a:solidFill>
                <a:latin typeface="DejaVu Sans"/>
                <a:cs typeface="DejaVu Sans"/>
              </a:rPr>
              <a:t>"Motion</a:t>
            </a:r>
            <a:r>
              <a:rPr dirty="0" sz="1200" spc="-1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e0e0e0"/>
                </a:solidFill>
                <a:latin typeface="DejaVu Sans"/>
                <a:cs typeface="DejaVu Sans"/>
              </a:rPr>
              <a:t>helps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31">
                <a:solidFill>
                  <a:srgbClr val="e0e0e0"/>
                </a:solidFill>
                <a:latin typeface="DejaVu Sans"/>
                <a:cs typeface="DejaVu Sans"/>
              </a:rPr>
              <a:t>make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a</a:t>
            </a:r>
            <a:r>
              <a:rPr dirty="0" sz="1200" spc="-23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e0e0e0"/>
                </a:solidFill>
                <a:latin typeface="DejaVu Sans"/>
                <a:cs typeface="DejaVu Sans"/>
              </a:rPr>
              <a:t>UI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e0e0e0"/>
                </a:solidFill>
                <a:latin typeface="DejaVu Sans"/>
                <a:cs typeface="DejaVu Sans"/>
              </a:rPr>
              <a:t>expressive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&amp;</a:t>
            </a:r>
            <a:r>
              <a:rPr dirty="0" sz="1200" spc="-27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e0e0e0"/>
                </a:solidFill>
                <a:latin typeface="DejaVu Sans"/>
                <a:cs typeface="DejaVu Sans"/>
              </a:rPr>
              <a:t>easy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0">
                <a:solidFill>
                  <a:srgbClr val="e0e0e0"/>
                </a:solidFill>
                <a:latin typeface="DejaVu Sans"/>
                <a:cs typeface="DejaVu Sans"/>
              </a:rPr>
              <a:t>to</a:t>
            </a:r>
            <a:r>
              <a:rPr dirty="0" sz="1200" spc="-12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use.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It</a:t>
            </a:r>
            <a:r>
              <a:rPr dirty="0" sz="1200" spc="-1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e0e0e0"/>
                </a:solidFill>
                <a:latin typeface="DejaVu Sans"/>
                <a:cs typeface="DejaVu Sans"/>
              </a:rPr>
              <a:t>highlights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e0e0e0"/>
                </a:solidFill>
                <a:latin typeface="DejaVu Sans"/>
                <a:cs typeface="DejaVu Sans"/>
              </a:rPr>
              <a:t>relationships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&amp;</a:t>
            </a:r>
            <a:r>
              <a:rPr dirty="0" sz="1200" spc="-27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e0e0e0"/>
                </a:solidFill>
                <a:latin typeface="DejaVu Sans"/>
                <a:cs typeface="DejaVu Sans"/>
              </a:rPr>
              <a:t>action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dirty="0" sz="1200" spc="-14">
                <a:solidFill>
                  <a:srgbClr val="e0e0e0"/>
                </a:solidFill>
                <a:latin typeface="DejaVu Sans"/>
                <a:cs typeface="DejaVu Sans"/>
              </a:rPr>
              <a:t>outcomes."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4418408" y="5659934"/>
            <a:ext cx="3476652" cy="6405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2">
                <a:solidFill>
                  <a:srgbClr val="e0e0e0"/>
                </a:solidFill>
                <a:latin typeface="DejaVu Sans"/>
                <a:cs typeface="DejaVu Sans"/>
              </a:rPr>
              <a:t>APIs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hoạt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ảnh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cho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phép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e0e0e0"/>
                </a:solidFill>
                <a:latin typeface="DejaVu Sans"/>
                <a:cs typeface="DejaVu Sans"/>
              </a:rPr>
              <a:t>tùy</a:t>
            </a:r>
            <a:r>
              <a:rPr dirty="0" sz="1200" spc="-1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e0e0e0"/>
                </a:solidFill>
                <a:latin typeface="DejaVu Sans"/>
                <a:cs typeface="DejaVu Sans"/>
              </a:rPr>
              <a:t>chỉnh</a:t>
            </a:r>
            <a:r>
              <a:rPr dirty="0" sz="1200" spc="-1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&amp;</a:t>
            </a:r>
            <a:r>
              <a:rPr dirty="0" sz="1200" spc="-27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e0e0e0"/>
                </a:solidFill>
                <a:latin typeface="DejaVu Sans"/>
                <a:cs typeface="DejaVu Sans"/>
              </a:rPr>
              <a:t>tích</a:t>
            </a:r>
            <a:r>
              <a:rPr dirty="0" sz="1200" spc="-12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hợp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chuyển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động,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nâng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e0e0e0"/>
                </a:solidFill>
                <a:latin typeface="DejaVu Sans"/>
                <a:cs typeface="DejaVu Sans"/>
              </a:rPr>
              <a:t>cao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e0e0e0"/>
                </a:solidFill>
                <a:latin typeface="DejaVu Sans"/>
                <a:cs typeface="DejaVu Sans"/>
              </a:rPr>
              <a:t>trải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e0e0e0"/>
                </a:solidFill>
                <a:latin typeface="DejaVu Sans"/>
                <a:cs typeface="DejaVu Sans"/>
              </a:rPr>
              <a:t>nghiệm</a:t>
            </a:r>
            <a:r>
              <a:rPr dirty="0" sz="1200" spc="-18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người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dùng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20">
                <a:solidFill>
                  <a:srgbClr val="e0e0e0"/>
                </a:solidFill>
                <a:latin typeface="DejaVu Sans"/>
                <a:cs typeface="DejaVu Sans"/>
              </a:rPr>
              <a:t>trên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7">
                <a:solidFill>
                  <a:srgbClr val="e0e0e0"/>
                </a:solidFill>
                <a:latin typeface="DejaVu Sans"/>
                <a:cs typeface="DejaVu Sans"/>
              </a:rPr>
              <a:t>Android.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8285260" y="5659934"/>
            <a:ext cx="3456460" cy="6405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8">
                <a:solidFill>
                  <a:srgbClr val="e0e0e0"/>
                </a:solidFill>
                <a:latin typeface="DejaVu Sans"/>
                <a:cs typeface="DejaVu Sans"/>
              </a:rPr>
              <a:t>Hệ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e0e0e0"/>
                </a:solidFill>
                <a:latin typeface="DejaVu Sans"/>
                <a:cs typeface="DejaVu Sans"/>
              </a:rPr>
              <a:t>thống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e0e0e0"/>
                </a:solidFill>
                <a:latin typeface="DejaVu Sans"/>
                <a:cs typeface="DejaVu Sans"/>
              </a:rPr>
              <a:t>Material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e0e0e0"/>
                </a:solidFill>
                <a:latin typeface="DejaVu Sans"/>
                <a:cs typeface="DejaVu Sans"/>
              </a:rPr>
              <a:t>Motion</a:t>
            </a:r>
            <a:r>
              <a:rPr dirty="0" sz="1200" spc="-1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cung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e0e0e0"/>
                </a:solidFill>
                <a:latin typeface="DejaVu Sans"/>
                <a:cs typeface="DejaVu Sans"/>
              </a:rPr>
              <a:t>cấp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e0e0e0"/>
                </a:solidFill>
                <a:latin typeface="DejaVu Sans"/>
                <a:cs typeface="DejaVu Sans"/>
              </a:rPr>
              <a:t>các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20">
                <a:solidFill>
                  <a:srgbClr val="e0e0e0"/>
                </a:solidFill>
                <a:latin typeface="DejaVu Sans"/>
                <a:cs typeface="DejaVu Sans"/>
              </a:rPr>
              <a:t>mẫu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chuyển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đổi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để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e0e0e0"/>
                </a:solidFill>
                <a:latin typeface="DejaVu Sans"/>
                <a:cs typeface="DejaVu Sans"/>
              </a:rPr>
              <a:t>định</a:t>
            </a:r>
            <a:r>
              <a:rPr dirty="0" sz="1200" spc="-1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hướng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người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dùng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&amp;</a:t>
            </a:r>
            <a:r>
              <a:rPr dirty="0" sz="1200" spc="-27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e0e0e0"/>
                </a:solidFill>
                <a:latin typeface="DejaVu Sans"/>
                <a:cs typeface="DejaVu Sans"/>
              </a:rPr>
              <a:t>tùy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dirty="0" sz="1200" spc="-12">
                <a:solidFill>
                  <a:srgbClr val="e0e0e0"/>
                </a:solidFill>
                <a:latin typeface="DejaVu Sans"/>
                <a:cs typeface="DejaVu Sans"/>
              </a:rPr>
              <a:t>chỉnh</a:t>
            </a:r>
            <a:r>
              <a:rPr dirty="0" sz="1200" spc="-1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e0e0e0"/>
                </a:solidFill>
                <a:latin typeface="DejaVu Sans"/>
                <a:cs typeface="DejaVu Sans"/>
              </a:rPr>
              <a:t>giao</a:t>
            </a:r>
            <a:r>
              <a:rPr dirty="0" sz="1200" spc="-1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e0e0e0"/>
                </a:solidFill>
                <a:latin typeface="DejaVu Sans"/>
                <a:cs typeface="DejaVu Sans"/>
              </a:rPr>
              <a:t>diện</a:t>
            </a:r>
            <a:r>
              <a:rPr dirty="0" sz="1200" spc="-1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ứng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dụng.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222622" y="6375063"/>
            <a:ext cx="2836500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Understanding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motion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-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Material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Design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2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5523904" y="6375063"/>
            <a:ext cx="2402087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Material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Design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for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Android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|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Views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8433047" y="6375063"/>
            <a:ext cx="3359714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Building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Beautiful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 spc="-10">
                <a:solidFill>
                  <a:srgbClr val="9ca3af"/>
                </a:solidFill>
                <a:latin typeface="DejaVu Sans"/>
                <a:cs typeface="DejaVu Sans"/>
              </a:rPr>
              <a:t>Transitions</a:t>
            </a:r>
            <a:r>
              <a:rPr dirty="0" sz="1000" spc="17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with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Material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Motion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7093966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909589" y="322631"/>
            <a:ext cx="6525072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5" b="1">
                <a:solidFill>
                  <a:srgbClr val="e0e0e0"/>
                </a:solidFill>
                <a:latin typeface="DejaVu Sans"/>
                <a:cs typeface="DejaVu Sans"/>
              </a:rPr>
              <a:t>Ví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e0e0e0"/>
                </a:solidFill>
                <a:latin typeface="DejaVu Sans"/>
                <a:cs typeface="DejaVu Sans"/>
              </a:rPr>
              <a:t>dụ: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68" b="1">
                <a:solidFill>
                  <a:srgbClr val="e0e0e0"/>
                </a:solidFill>
                <a:latin typeface="DejaVu Sans"/>
                <a:cs typeface="DejaVu Sans"/>
              </a:rPr>
              <a:t>Fade</a:t>
            </a:r>
            <a:r>
              <a:rPr dirty="0" sz="4050" spc="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1" b="1">
                <a:solidFill>
                  <a:srgbClr val="e0e0e0"/>
                </a:solidFill>
                <a:latin typeface="DejaVu Sans"/>
                <a:cs typeface="DejaVu Sans"/>
              </a:rPr>
              <a:t>Animation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85516" y="990420"/>
            <a:ext cx="6268146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4">
                <a:solidFill>
                  <a:srgbClr val="00bcd4"/>
                </a:solidFill>
                <a:latin typeface="DejaVu Sans"/>
                <a:cs typeface="DejaVu Sans"/>
              </a:rPr>
              <a:t>Nâng</a:t>
            </a:r>
            <a:r>
              <a:rPr dirty="0" sz="1700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00bcd4"/>
                </a:solidFill>
                <a:latin typeface="DejaVu Sans"/>
                <a:cs typeface="DejaVu Sans"/>
              </a:rPr>
              <a:t>tầm</a:t>
            </a:r>
            <a:r>
              <a:rPr dirty="0" sz="1700" spc="-15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700" spc="-69">
                <a:solidFill>
                  <a:srgbClr val="00bcd4"/>
                </a:solidFill>
                <a:latin typeface="DejaVu Sans"/>
                <a:cs typeface="DejaVu Sans"/>
              </a:rPr>
              <a:t>Trải</a:t>
            </a:r>
            <a:r>
              <a:rPr dirty="0" sz="1700" spc="57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00bcd4"/>
                </a:solidFill>
                <a:latin typeface="DejaVu Sans"/>
                <a:cs typeface="DejaVu Sans"/>
              </a:rPr>
              <a:t>nghiệm</a:t>
            </a:r>
            <a:r>
              <a:rPr dirty="0" sz="1700" spc="-15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700" spc="-14">
                <a:solidFill>
                  <a:srgbClr val="00bcd4"/>
                </a:solidFill>
                <a:latin typeface="DejaVu Sans"/>
                <a:cs typeface="DejaVu Sans"/>
              </a:rPr>
              <a:t>Người</a:t>
            </a:r>
            <a:r>
              <a:rPr dirty="0" sz="1700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00bcd4"/>
                </a:solidFill>
                <a:latin typeface="DejaVu Sans"/>
                <a:cs typeface="DejaVu Sans"/>
              </a:rPr>
              <a:t>dùng</a:t>
            </a:r>
            <a:r>
              <a:rPr dirty="0" sz="1700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00bcd4"/>
                </a:solidFill>
                <a:latin typeface="DejaVu Sans"/>
                <a:cs typeface="DejaVu Sans"/>
              </a:rPr>
              <a:t>với</a:t>
            </a:r>
            <a:r>
              <a:rPr dirty="0" sz="1700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700" spc="-14">
                <a:solidFill>
                  <a:srgbClr val="00bcd4"/>
                </a:solidFill>
                <a:latin typeface="DejaVu Sans"/>
                <a:cs typeface="DejaVu Sans"/>
              </a:rPr>
              <a:t>Hoạt</a:t>
            </a:r>
            <a:r>
              <a:rPr dirty="0" sz="1700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00bcd4"/>
                </a:solidFill>
                <a:latin typeface="DejaVu Sans"/>
                <a:cs typeface="DejaVu Sans"/>
              </a:rPr>
              <a:t>ảnh</a:t>
            </a:r>
            <a:r>
              <a:rPr dirty="0" sz="1700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700" spc="-14">
                <a:solidFill>
                  <a:srgbClr val="00bcd4"/>
                </a:solidFill>
                <a:latin typeface="DejaVu Sans"/>
                <a:cs typeface="DejaVu Sans"/>
              </a:rPr>
              <a:t>Đơn</a:t>
            </a:r>
            <a:r>
              <a:rPr dirty="0" sz="1700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00bcd4"/>
                </a:solidFill>
                <a:latin typeface="DejaVu Sans"/>
                <a:cs typeface="DejaVu Sans"/>
              </a:rPr>
              <a:t>giản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135040" y="1736388"/>
            <a:ext cx="579640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000000"/>
                </a:solidFill>
                <a:latin typeface="DejaVu Sans"/>
                <a:cs typeface="DejaVu Sans"/>
              </a:rPr>
              <a:t>Kotlin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815928" y="1736388"/>
            <a:ext cx="1005795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000000"/>
                </a:solidFill>
                <a:latin typeface="DejaVu Sans"/>
                <a:cs typeface="DejaVu Sans"/>
              </a:rPr>
              <a:t>Android</a:t>
            </a:r>
            <a:r>
              <a:rPr dirty="0" sz="1000" b="1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000000"/>
                </a:solidFill>
                <a:latin typeface="DejaVu Sans"/>
                <a:cs typeface="DejaVu Sans"/>
              </a:rPr>
              <a:t>API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36984" y="2162077"/>
            <a:ext cx="1650266" cy="255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12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ff9800"/>
                </a:solidFill>
                <a:latin typeface="Liberation Mono"/>
                <a:cs typeface="Liberation Mono"/>
              </a:rPr>
              <a:t>val</a:t>
            </a:r>
            <a:r>
              <a:rPr dirty="0" sz="1500" spc="532">
                <a:solidFill>
                  <a:srgbClr val="ff9800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e0e0e0"/>
                </a:solidFill>
                <a:latin typeface="Liberation Mono"/>
                <a:cs typeface="Liberation Mono"/>
              </a:rPr>
              <a:t>fadeOut</a:t>
            </a:r>
            <a:r>
              <a:rPr dirty="0" sz="1500">
                <a:solidFill>
                  <a:srgbClr val="e0e0e0"/>
                </a:solidFill>
                <a:latin typeface="Liberation Mono"/>
                <a:cs typeface="Liberation Mono"/>
              </a:rPr>
              <a:t> </a:t>
            </a:r>
            <a:r>
              <a:rPr dirty="0" sz="1500">
                <a:solidFill>
                  <a:srgbClr val="e0e0e0"/>
                </a:solidFill>
                <a:latin typeface="Liberation Mono"/>
                <a:cs typeface="Liberation Mono"/>
              </a:rPr>
              <a:t>=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36984" y="2457352"/>
            <a:ext cx="5106779" cy="255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12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Liberation Mono"/>
                <a:cs typeface="Liberation Mono"/>
              </a:rPr>
              <a:t>ObjectAnimator.ofFloat(myView,</a:t>
            </a:r>
            <a:r>
              <a:rPr dirty="0" sz="1500">
                <a:solidFill>
                  <a:srgbClr val="e0e0e0"/>
                </a:solidFill>
                <a:latin typeface="Liberation Mono"/>
                <a:cs typeface="Liberation Mono"/>
              </a:rPr>
              <a:t> </a:t>
            </a:r>
            <a:r>
              <a:rPr dirty="0" sz="1500">
                <a:solidFill>
                  <a:srgbClr val="00bcd4"/>
                </a:solidFill>
                <a:latin typeface="Liberation Mono"/>
                <a:cs typeface="Liberation Mono"/>
              </a:rPr>
              <a:t>"alpha"</a:t>
            </a:r>
            <a:r>
              <a:rPr dirty="0" sz="1500">
                <a:solidFill>
                  <a:srgbClr val="e0e0e0"/>
                </a:solidFill>
                <a:latin typeface="Liberation Mono"/>
                <a:cs typeface="Liberation Mono"/>
              </a:rPr>
              <a:t>,</a:t>
            </a:r>
            <a:r>
              <a:rPr dirty="0" sz="1500" spc="15">
                <a:solidFill>
                  <a:srgbClr val="e0e0e0"/>
                </a:solidFill>
                <a:latin typeface="Liberation Mono"/>
                <a:cs typeface="Liberation Mono"/>
              </a:rPr>
              <a:t> </a:t>
            </a:r>
            <a:r>
              <a:rPr dirty="0" sz="1500">
                <a:solidFill>
                  <a:srgbClr val="00bcd4"/>
                </a:solidFill>
                <a:latin typeface="Liberation Mono"/>
                <a:cs typeface="Liberation Mono"/>
              </a:rPr>
              <a:t>1f</a:t>
            </a:r>
            <a:r>
              <a:rPr dirty="0" sz="1500">
                <a:solidFill>
                  <a:srgbClr val="e0e0e0"/>
                </a:solidFill>
                <a:latin typeface="Liberation Mono"/>
                <a:cs typeface="Liberation Mono"/>
              </a:rPr>
              <a:t>,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560640" y="2586936"/>
            <a:ext cx="3279271" cy="410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dirty="0" sz="2500" spc="10" b="1">
                <a:solidFill>
                  <a:srgbClr val="e0e0e0"/>
                </a:solidFill>
                <a:latin typeface="DejaVu Sans"/>
                <a:cs typeface="DejaVu Sans"/>
              </a:rPr>
              <a:t>Hiệu</a:t>
            </a:r>
            <a:r>
              <a:rPr dirty="0" sz="2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500" spc="14" b="1">
                <a:solidFill>
                  <a:srgbClr val="e0e0e0"/>
                </a:solidFill>
                <a:latin typeface="DejaVu Sans"/>
                <a:cs typeface="DejaVu Sans"/>
              </a:rPr>
              <a:t>Ứng</a:t>
            </a:r>
            <a:r>
              <a:rPr dirty="0" sz="2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500" spc="18" b="1">
                <a:solidFill>
                  <a:srgbClr val="e0e0e0"/>
                </a:solidFill>
                <a:latin typeface="DejaVu Sans"/>
                <a:cs typeface="DejaVu Sans"/>
              </a:rPr>
              <a:t>Mờ</a:t>
            </a:r>
            <a:r>
              <a:rPr dirty="0" sz="2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500" spc="14" b="1">
                <a:solidFill>
                  <a:srgbClr val="e0e0e0"/>
                </a:solidFill>
                <a:latin typeface="DejaVu Sans"/>
                <a:cs typeface="DejaVu Sans"/>
              </a:rPr>
              <a:t>Dần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36984" y="2762152"/>
            <a:ext cx="498167" cy="255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12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0bcd4"/>
                </a:solidFill>
                <a:latin typeface="Liberation Mono"/>
                <a:cs typeface="Liberation Mono"/>
              </a:rPr>
              <a:t>0f</a:t>
            </a:r>
            <a:r>
              <a:rPr dirty="0" sz="1500">
                <a:solidFill>
                  <a:srgbClr val="e0e0e0"/>
                </a:solidFill>
                <a:latin typeface="Liberation Mono"/>
                <a:cs typeface="Liberation Mono"/>
              </a:rPr>
              <a:t>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36984" y="3057427"/>
            <a:ext cx="2802380" cy="55090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12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Liberation Mono"/>
                <a:cs typeface="Liberation Mono"/>
              </a:rPr>
              <a:t>fadeOut.duration</a:t>
            </a:r>
            <a:r>
              <a:rPr dirty="0" sz="1500">
                <a:solidFill>
                  <a:srgbClr val="e0e0e0"/>
                </a:solidFill>
                <a:latin typeface="Liberation Mono"/>
                <a:cs typeface="Liberation Mono"/>
              </a:rPr>
              <a:t> </a:t>
            </a:r>
            <a:r>
              <a:rPr dirty="0" sz="1500">
                <a:solidFill>
                  <a:srgbClr val="e0e0e0"/>
                </a:solidFill>
                <a:latin typeface="Liberation Mono"/>
                <a:cs typeface="Liberation Mono"/>
              </a:rPr>
              <a:t>=</a:t>
            </a:r>
            <a:r>
              <a:rPr dirty="0" sz="1500" spc="15">
                <a:solidFill>
                  <a:srgbClr val="e0e0e0"/>
                </a:solidFill>
                <a:latin typeface="Liberation Mono"/>
                <a:cs typeface="Liberation Mono"/>
              </a:rPr>
              <a:t> </a:t>
            </a:r>
            <a:r>
              <a:rPr dirty="0" sz="1500">
                <a:solidFill>
                  <a:srgbClr val="00bcd4"/>
                </a:solidFill>
                <a:latin typeface="Liberation Mono"/>
                <a:cs typeface="Liberation Mono"/>
              </a:rPr>
              <a:t>1000</a:t>
            </a:r>
          </a:p>
          <a:p>
            <a:pPr marL="0" marR="0">
              <a:lnSpc>
                <a:spcPts val="1712"/>
              </a:lnSpc>
              <a:spcBef>
                <a:spcPts val="612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Liberation Mono"/>
                <a:cs typeface="Liberation Mono"/>
              </a:rPr>
              <a:t>fadeOut.start()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560640" y="3086675"/>
            <a:ext cx="4832509" cy="5664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Giảm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độ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spc="10">
                <a:solidFill>
                  <a:srgbClr val="e0e0e0"/>
                </a:solidFill>
                <a:latin typeface="DejaVu Sans"/>
                <a:cs typeface="DejaVu Sans"/>
              </a:rPr>
              <a:t>mờ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của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một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View</a:t>
            </a:r>
            <a:r>
              <a:rPr dirty="0" sz="1500" spc="18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từ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100%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(hiển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thị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đầy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đủ)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xuống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0%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(trong</a:t>
            </a:r>
            <a:r>
              <a:rPr dirty="0" sz="1500" spc="1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suốt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hoàn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toàn).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868714" y="3888284"/>
            <a:ext cx="1417927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Thời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e0e0e0"/>
                </a:solidFill>
                <a:latin typeface="DejaVu Sans"/>
                <a:cs typeface="DejaVu Sans"/>
              </a:rPr>
              <a:t>gian: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1</a:t>
            </a:r>
            <a:r>
              <a:rPr dirty="0" sz="1200" spc="-23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e0e0e0"/>
                </a:solidFill>
                <a:latin typeface="DejaVu Sans"/>
                <a:cs typeface="DejaVu Sans"/>
              </a:rPr>
              <a:t>Giây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122312" y="4324170"/>
            <a:ext cx="4430050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0">
                <a:solidFill>
                  <a:srgbClr val="e0e0e0"/>
                </a:solidFill>
                <a:latin typeface="DejaVu Sans"/>
                <a:cs typeface="DejaVu Sans"/>
              </a:rPr>
              <a:t>Giảm</a:t>
            </a:r>
            <a:r>
              <a:rPr dirty="0" sz="1700" spc="-15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độ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20">
                <a:solidFill>
                  <a:srgbClr val="e0e0e0"/>
                </a:solidFill>
                <a:latin typeface="DejaVu Sans"/>
                <a:cs typeface="DejaVu Sans"/>
              </a:rPr>
              <a:t>mờ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từ</a:t>
            </a:r>
            <a:r>
              <a:rPr dirty="0" sz="1700" spc="-1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100%</a:t>
            </a: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→</a:t>
            </a:r>
            <a:r>
              <a:rPr dirty="0" sz="1700" spc="-23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0%</a:t>
            </a: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20">
                <a:solidFill>
                  <a:srgbClr val="e0e0e0"/>
                </a:solidFill>
                <a:latin typeface="DejaVu Sans"/>
                <a:cs typeface="DejaVu Sans"/>
              </a:rPr>
              <a:t>trong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1</a:t>
            </a:r>
            <a:r>
              <a:rPr dirty="0" sz="1700" spc="-2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e0e0e0"/>
                </a:solidFill>
                <a:latin typeface="DejaVu Sans"/>
                <a:cs typeface="DejaVu Sans"/>
              </a:rPr>
              <a:t>giây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9267824" y="4441488"/>
            <a:ext cx="703656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000000"/>
                </a:solidFill>
                <a:latin typeface="DejaVu Sans"/>
                <a:cs typeface="DejaVu Sans"/>
              </a:rPr>
              <a:t>Opacity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0074919" y="4441488"/>
            <a:ext cx="553387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000000"/>
                </a:solidFill>
                <a:latin typeface="DejaVu Sans"/>
                <a:cs typeface="DejaVu Sans"/>
              </a:rPr>
              <a:t>UI/UX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0731697" y="4441488"/>
            <a:ext cx="890429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000000"/>
                </a:solidFill>
                <a:latin typeface="DejaVu Sans"/>
                <a:cs typeface="DejaVu Sans"/>
              </a:rPr>
              <a:t>Animation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551556" y="5659934"/>
            <a:ext cx="3379630" cy="6405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2">
                <a:solidFill>
                  <a:srgbClr val="e0e0e0"/>
                </a:solidFill>
                <a:latin typeface="DejaVu Sans"/>
                <a:cs typeface="DejaVu Sans"/>
              </a:rPr>
              <a:t>"Motion</a:t>
            </a:r>
            <a:r>
              <a:rPr dirty="0" sz="1200" spc="-1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e0e0e0"/>
                </a:solidFill>
                <a:latin typeface="DejaVu Sans"/>
                <a:cs typeface="DejaVu Sans"/>
              </a:rPr>
              <a:t>helps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31">
                <a:solidFill>
                  <a:srgbClr val="e0e0e0"/>
                </a:solidFill>
                <a:latin typeface="DejaVu Sans"/>
                <a:cs typeface="DejaVu Sans"/>
              </a:rPr>
              <a:t>make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a</a:t>
            </a:r>
            <a:r>
              <a:rPr dirty="0" sz="1200" spc="-23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e0e0e0"/>
                </a:solidFill>
                <a:latin typeface="DejaVu Sans"/>
                <a:cs typeface="DejaVu Sans"/>
              </a:rPr>
              <a:t>UI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e0e0e0"/>
                </a:solidFill>
                <a:latin typeface="DejaVu Sans"/>
                <a:cs typeface="DejaVu Sans"/>
              </a:rPr>
              <a:t>expressive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&amp;</a:t>
            </a:r>
            <a:r>
              <a:rPr dirty="0" sz="1200" spc="-27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e0e0e0"/>
                </a:solidFill>
                <a:latin typeface="DejaVu Sans"/>
                <a:cs typeface="DejaVu Sans"/>
              </a:rPr>
              <a:t>easy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0">
                <a:solidFill>
                  <a:srgbClr val="e0e0e0"/>
                </a:solidFill>
                <a:latin typeface="DejaVu Sans"/>
                <a:cs typeface="DejaVu Sans"/>
              </a:rPr>
              <a:t>to</a:t>
            </a:r>
            <a:r>
              <a:rPr dirty="0" sz="1200" spc="-12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use.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It</a:t>
            </a:r>
            <a:r>
              <a:rPr dirty="0" sz="1200" spc="-1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e0e0e0"/>
                </a:solidFill>
                <a:latin typeface="DejaVu Sans"/>
                <a:cs typeface="DejaVu Sans"/>
              </a:rPr>
              <a:t>highlights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e0e0e0"/>
                </a:solidFill>
                <a:latin typeface="DejaVu Sans"/>
                <a:cs typeface="DejaVu Sans"/>
              </a:rPr>
              <a:t>relationships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&amp;</a:t>
            </a:r>
            <a:r>
              <a:rPr dirty="0" sz="1200" spc="-27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e0e0e0"/>
                </a:solidFill>
                <a:latin typeface="DejaVu Sans"/>
                <a:cs typeface="DejaVu Sans"/>
              </a:rPr>
              <a:t>action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dirty="0" sz="1200" spc="-14">
                <a:solidFill>
                  <a:srgbClr val="e0e0e0"/>
                </a:solidFill>
                <a:latin typeface="DejaVu Sans"/>
                <a:cs typeface="DejaVu Sans"/>
              </a:rPr>
              <a:t>outcomes."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4418408" y="5659934"/>
            <a:ext cx="3476652" cy="6405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2">
                <a:solidFill>
                  <a:srgbClr val="e0e0e0"/>
                </a:solidFill>
                <a:latin typeface="DejaVu Sans"/>
                <a:cs typeface="DejaVu Sans"/>
              </a:rPr>
              <a:t>APIs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hoạt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ảnh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cho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phép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e0e0e0"/>
                </a:solidFill>
                <a:latin typeface="DejaVu Sans"/>
                <a:cs typeface="DejaVu Sans"/>
              </a:rPr>
              <a:t>tùy</a:t>
            </a:r>
            <a:r>
              <a:rPr dirty="0" sz="1200" spc="-1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e0e0e0"/>
                </a:solidFill>
                <a:latin typeface="DejaVu Sans"/>
                <a:cs typeface="DejaVu Sans"/>
              </a:rPr>
              <a:t>chỉnh</a:t>
            </a:r>
            <a:r>
              <a:rPr dirty="0" sz="1200" spc="-1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&amp;</a:t>
            </a:r>
            <a:r>
              <a:rPr dirty="0" sz="1200" spc="-27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e0e0e0"/>
                </a:solidFill>
                <a:latin typeface="DejaVu Sans"/>
                <a:cs typeface="DejaVu Sans"/>
              </a:rPr>
              <a:t>tích</a:t>
            </a:r>
            <a:r>
              <a:rPr dirty="0" sz="1200" spc="-12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hợp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chuyển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động,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nâng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e0e0e0"/>
                </a:solidFill>
                <a:latin typeface="DejaVu Sans"/>
                <a:cs typeface="DejaVu Sans"/>
              </a:rPr>
              <a:t>cao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e0e0e0"/>
                </a:solidFill>
                <a:latin typeface="DejaVu Sans"/>
                <a:cs typeface="DejaVu Sans"/>
              </a:rPr>
              <a:t>trải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e0e0e0"/>
                </a:solidFill>
                <a:latin typeface="DejaVu Sans"/>
                <a:cs typeface="DejaVu Sans"/>
              </a:rPr>
              <a:t>nghiệm</a:t>
            </a:r>
            <a:r>
              <a:rPr dirty="0" sz="1200" spc="-18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người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dùng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20">
                <a:solidFill>
                  <a:srgbClr val="e0e0e0"/>
                </a:solidFill>
                <a:latin typeface="DejaVu Sans"/>
                <a:cs typeface="DejaVu Sans"/>
              </a:rPr>
              <a:t>trên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7">
                <a:solidFill>
                  <a:srgbClr val="e0e0e0"/>
                </a:solidFill>
                <a:latin typeface="DejaVu Sans"/>
                <a:cs typeface="DejaVu Sans"/>
              </a:rPr>
              <a:t>Android.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8285260" y="5659934"/>
            <a:ext cx="3456460" cy="6405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8">
                <a:solidFill>
                  <a:srgbClr val="e0e0e0"/>
                </a:solidFill>
                <a:latin typeface="DejaVu Sans"/>
                <a:cs typeface="DejaVu Sans"/>
              </a:rPr>
              <a:t>Hệ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e0e0e0"/>
                </a:solidFill>
                <a:latin typeface="DejaVu Sans"/>
                <a:cs typeface="DejaVu Sans"/>
              </a:rPr>
              <a:t>thống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e0e0e0"/>
                </a:solidFill>
                <a:latin typeface="DejaVu Sans"/>
                <a:cs typeface="DejaVu Sans"/>
              </a:rPr>
              <a:t>Material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e0e0e0"/>
                </a:solidFill>
                <a:latin typeface="DejaVu Sans"/>
                <a:cs typeface="DejaVu Sans"/>
              </a:rPr>
              <a:t>Motion</a:t>
            </a:r>
            <a:r>
              <a:rPr dirty="0" sz="1200" spc="-1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cung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e0e0e0"/>
                </a:solidFill>
                <a:latin typeface="DejaVu Sans"/>
                <a:cs typeface="DejaVu Sans"/>
              </a:rPr>
              <a:t>cấp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e0e0e0"/>
                </a:solidFill>
                <a:latin typeface="DejaVu Sans"/>
                <a:cs typeface="DejaVu Sans"/>
              </a:rPr>
              <a:t>các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20">
                <a:solidFill>
                  <a:srgbClr val="e0e0e0"/>
                </a:solidFill>
                <a:latin typeface="DejaVu Sans"/>
                <a:cs typeface="DejaVu Sans"/>
              </a:rPr>
              <a:t>mẫu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chuyển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đổi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để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e0e0e0"/>
                </a:solidFill>
                <a:latin typeface="DejaVu Sans"/>
                <a:cs typeface="DejaVu Sans"/>
              </a:rPr>
              <a:t>định</a:t>
            </a:r>
            <a:r>
              <a:rPr dirty="0" sz="1200" spc="-1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hướng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người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dùng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&amp;</a:t>
            </a:r>
            <a:r>
              <a:rPr dirty="0" sz="1200" spc="-27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e0e0e0"/>
                </a:solidFill>
                <a:latin typeface="DejaVu Sans"/>
                <a:cs typeface="DejaVu Sans"/>
              </a:rPr>
              <a:t>tùy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dirty="0" sz="1200" spc="-12">
                <a:solidFill>
                  <a:srgbClr val="e0e0e0"/>
                </a:solidFill>
                <a:latin typeface="DejaVu Sans"/>
                <a:cs typeface="DejaVu Sans"/>
              </a:rPr>
              <a:t>chỉnh</a:t>
            </a:r>
            <a:r>
              <a:rPr dirty="0" sz="1200" spc="-1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e0e0e0"/>
                </a:solidFill>
                <a:latin typeface="DejaVu Sans"/>
                <a:cs typeface="DejaVu Sans"/>
              </a:rPr>
              <a:t>giao</a:t>
            </a:r>
            <a:r>
              <a:rPr dirty="0" sz="1200" spc="-1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e0e0e0"/>
                </a:solidFill>
                <a:latin typeface="DejaVu Sans"/>
                <a:cs typeface="DejaVu Sans"/>
              </a:rPr>
              <a:t>diện</a:t>
            </a:r>
            <a:r>
              <a:rPr dirty="0" sz="1200" spc="-1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ứng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dụng.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222622" y="6375063"/>
            <a:ext cx="2836500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Understanding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motion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-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Material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Design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2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5523904" y="6375063"/>
            <a:ext cx="2402087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Material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Design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for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Android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|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Views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8433047" y="6375063"/>
            <a:ext cx="3359714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Building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Beautiful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 spc="-10">
                <a:solidFill>
                  <a:srgbClr val="9ca3af"/>
                </a:solidFill>
                <a:latin typeface="DejaVu Sans"/>
                <a:cs typeface="DejaVu Sans"/>
              </a:rPr>
              <a:t>Transitions</a:t>
            </a:r>
            <a:r>
              <a:rPr dirty="0" sz="1000" spc="17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with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Material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Motion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7998333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430339" y="355785"/>
            <a:ext cx="5518834" cy="78308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866"/>
              </a:lnSpc>
              <a:spcBef>
                <a:spcPts val="0"/>
              </a:spcBef>
              <a:spcAft>
                <a:spcPts val="0"/>
              </a:spcAft>
            </a:pPr>
            <a:r>
              <a:rPr dirty="0" sz="5050" spc="-61" b="1">
                <a:solidFill>
                  <a:srgbClr val="00bcd4"/>
                </a:solidFill>
                <a:latin typeface="DejaVu Sans"/>
                <a:cs typeface="DejaVu Sans"/>
              </a:rPr>
              <a:t>Value</a:t>
            </a:r>
            <a:r>
              <a:rPr dirty="0" sz="5050" b="1">
                <a:solidFill>
                  <a:srgbClr val="e0e0e0"/>
                </a:solidFill>
                <a:latin typeface="DejaVu Sans"/>
                <a:cs typeface="DejaVu Sans"/>
              </a:rPr>
              <a:t>Animator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87053" y="1609037"/>
            <a:ext cx="3772110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1" b="1">
                <a:solidFill>
                  <a:srgbClr val="e0e0e0"/>
                </a:solidFill>
                <a:latin typeface="DejaVu Sans"/>
                <a:cs typeface="DejaVu Sans"/>
              </a:rPr>
              <a:t>Linh</a:t>
            </a:r>
            <a:r>
              <a:rPr dirty="0" sz="1700" spc="-1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e0e0e0"/>
                </a:solidFill>
                <a:latin typeface="DejaVu Sans"/>
                <a:cs typeface="DejaVu Sans"/>
              </a:rPr>
              <a:t>hoạt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e0e0e0"/>
                </a:solidFill>
                <a:latin typeface="DejaVu Sans"/>
                <a:cs typeface="DejaVu Sans"/>
              </a:rPr>
              <a:t>hơn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 b="1">
                <a:solidFill>
                  <a:srgbClr val="e0e0e0"/>
                </a:solidFill>
                <a:latin typeface="DejaVu Sans"/>
                <a:cs typeface="DejaVu Sans"/>
              </a:rPr>
              <a:t>ObjectAnimator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889104" y="1780487"/>
            <a:ext cx="1639213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 b="1">
                <a:solidFill>
                  <a:srgbClr val="e0e0e0"/>
                </a:solidFill>
                <a:latin typeface="DejaVu Sans"/>
                <a:cs typeface="DejaVu Sans"/>
              </a:rPr>
              <a:t>Ví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e0e0e0"/>
                </a:solidFill>
                <a:latin typeface="DejaVu Sans"/>
                <a:cs typeface="DejaVu Sans"/>
              </a:rPr>
              <a:t>dụ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1" b="1">
                <a:solidFill>
                  <a:srgbClr val="e0e0e0"/>
                </a:solidFill>
                <a:latin typeface="DejaVu Sans"/>
                <a:cs typeface="DejaVu Sans"/>
              </a:rPr>
              <a:t>cơ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e0e0e0"/>
                </a:solidFill>
                <a:latin typeface="DejaVu Sans"/>
                <a:cs typeface="DejaVu Sans"/>
              </a:rPr>
              <a:t>bản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78060" y="2049451"/>
            <a:ext cx="5091832" cy="4310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Cung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cấp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quyền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d1d5db"/>
                </a:solidFill>
                <a:latin typeface="DejaVu Sans"/>
                <a:cs typeface="DejaVu Sans"/>
              </a:rPr>
              <a:t>kiểm</a:t>
            </a:r>
            <a:r>
              <a:rPr dirty="0" sz="1200" spc="-2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soát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d1d5db"/>
                </a:solidFill>
                <a:latin typeface="DejaVu Sans"/>
                <a:cs typeface="DejaVu Sans"/>
              </a:rPr>
              <a:t>trực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tiếp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hơn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d1d5db"/>
                </a:solidFill>
                <a:latin typeface="DejaVu Sans"/>
                <a:cs typeface="DejaVu Sans"/>
              </a:rPr>
              <a:t>việc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tính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toán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giá</a:t>
            </a:r>
            <a:r>
              <a:rPr dirty="0" sz="1200" spc="-11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trị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hoạt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ảnh.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607819" y="2417457"/>
            <a:ext cx="5168065" cy="142208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c678dd"/>
                </a:solidFill>
                <a:latin typeface="Liberation Mono"/>
                <a:cs typeface="Liberation Mono"/>
              </a:rPr>
              <a:t>val</a:t>
            </a:r>
            <a:r>
              <a:rPr dirty="0" sz="1350" spc="469">
                <a:solidFill>
                  <a:srgbClr val="c678dd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abb2bf"/>
                </a:solidFill>
                <a:latin typeface="Liberation Mono"/>
                <a:cs typeface="Liberation Mono"/>
              </a:rPr>
              <a:t>animator</a:t>
            </a:r>
            <a:r>
              <a:rPr dirty="0" sz="1350">
                <a:solidFill>
                  <a:srgbClr val="abb2bf"/>
                </a:solidFill>
                <a:latin typeface="Liberation Mono"/>
                <a:cs typeface="Liberation Mono"/>
              </a:rPr>
              <a:t> </a:t>
            </a:r>
            <a:r>
              <a:rPr dirty="0" sz="1350">
                <a:solidFill>
                  <a:srgbClr val="abb2bf"/>
                </a:solidFill>
                <a:latin typeface="Liberation Mono"/>
                <a:cs typeface="Liberation Mono"/>
              </a:rPr>
              <a:t>=</a:t>
            </a:r>
            <a:r>
              <a:rPr dirty="0" sz="1350">
                <a:solidFill>
                  <a:srgbClr val="abb2bf"/>
                </a:solidFill>
                <a:latin typeface="Liberation Mono"/>
                <a:cs typeface="Liberation Mono"/>
              </a:rPr>
              <a:t> </a:t>
            </a:r>
            <a:r>
              <a:rPr dirty="0" sz="1350">
                <a:solidFill>
                  <a:srgbClr val="e5c07b"/>
                </a:solidFill>
                <a:latin typeface="Liberation Mono"/>
                <a:cs typeface="Liberation Mono"/>
              </a:rPr>
              <a:t>ValueAnimator</a:t>
            </a:r>
            <a:r>
              <a:rPr dirty="0" sz="1350">
                <a:solidFill>
                  <a:srgbClr val="abb2bf"/>
                </a:solidFill>
                <a:latin typeface="Liberation Mono"/>
                <a:cs typeface="Liberation Mono"/>
              </a:rPr>
              <a:t>.</a:t>
            </a:r>
            <a:r>
              <a:rPr dirty="0" sz="1350">
                <a:solidFill>
                  <a:srgbClr val="61afef"/>
                </a:solidFill>
                <a:latin typeface="Liberation Mono"/>
                <a:cs typeface="Liberation Mono"/>
              </a:rPr>
              <a:t>ofInt</a:t>
            </a:r>
            <a:r>
              <a:rPr dirty="0" sz="1350">
                <a:solidFill>
                  <a:srgbClr val="abb2bf"/>
                </a:solidFill>
                <a:latin typeface="Liberation Mono"/>
                <a:cs typeface="Liberation Mono"/>
              </a:rPr>
              <a:t>(</a:t>
            </a:r>
            <a:r>
              <a:rPr dirty="0" sz="1350">
                <a:solidFill>
                  <a:srgbClr val="d19a66"/>
                </a:solidFill>
                <a:latin typeface="Liberation Mono"/>
                <a:cs typeface="Liberation Mono"/>
              </a:rPr>
              <a:t>0</a:t>
            </a:r>
            <a:r>
              <a:rPr dirty="0" sz="1350">
                <a:solidFill>
                  <a:srgbClr val="abb2bf"/>
                </a:solidFill>
                <a:latin typeface="Liberation Mono"/>
                <a:cs typeface="Liberation Mono"/>
              </a:rPr>
              <a:t>,</a:t>
            </a:r>
            <a:r>
              <a:rPr dirty="0" sz="1350">
                <a:solidFill>
                  <a:srgbClr val="abb2bf"/>
                </a:solidFill>
                <a:latin typeface="Liberation Mono"/>
                <a:cs typeface="Liberation Mono"/>
              </a:rPr>
              <a:t> </a:t>
            </a:r>
            <a:r>
              <a:rPr dirty="0" sz="1350">
                <a:solidFill>
                  <a:srgbClr val="d19a66"/>
                </a:solidFill>
                <a:latin typeface="Liberation Mono"/>
                <a:cs typeface="Liberation Mono"/>
              </a:rPr>
              <a:t>100</a:t>
            </a:r>
            <a:r>
              <a:rPr dirty="0" sz="1350">
                <a:solidFill>
                  <a:srgbClr val="abb2bf"/>
                </a:solidFill>
                <a:latin typeface="Liberation Mono"/>
                <a:cs typeface="Liberation Mono"/>
              </a:rPr>
              <a:t>)</a:t>
            </a:r>
          </a:p>
          <a:p>
            <a:pPr marL="0" marR="0">
              <a:lnSpc>
                <a:spcPts val="1522"/>
              </a:lnSpc>
              <a:spcBef>
                <a:spcPts val="352"/>
              </a:spcBef>
              <a:spcAft>
                <a:spcPts val="0"/>
              </a:spcAft>
            </a:pPr>
            <a:r>
              <a:rPr dirty="0" sz="1350">
                <a:solidFill>
                  <a:srgbClr val="abb2bf"/>
                </a:solidFill>
                <a:latin typeface="Liberation Mono"/>
                <a:cs typeface="Liberation Mono"/>
              </a:rPr>
              <a:t>animator.</a:t>
            </a:r>
            <a:r>
              <a:rPr dirty="0" sz="1350">
                <a:solidFill>
                  <a:srgbClr val="61afef"/>
                </a:solidFill>
                <a:latin typeface="Liberation Mono"/>
                <a:cs typeface="Liberation Mono"/>
              </a:rPr>
              <a:t>duration</a:t>
            </a:r>
            <a:r>
              <a:rPr dirty="0" sz="1350" spc="469">
                <a:solidFill>
                  <a:srgbClr val="61afef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abb2bf"/>
                </a:solidFill>
                <a:latin typeface="Liberation Mono"/>
                <a:cs typeface="Liberation Mono"/>
              </a:rPr>
              <a:t>=</a:t>
            </a:r>
            <a:r>
              <a:rPr dirty="0" sz="1350">
                <a:solidFill>
                  <a:srgbClr val="abb2bf"/>
                </a:solidFill>
                <a:latin typeface="Liberation Mono"/>
                <a:cs typeface="Liberation Mono"/>
              </a:rPr>
              <a:t> </a:t>
            </a:r>
            <a:r>
              <a:rPr dirty="0" sz="1350">
                <a:solidFill>
                  <a:srgbClr val="d19a66"/>
                </a:solidFill>
                <a:latin typeface="Liberation Mono"/>
                <a:cs typeface="Liberation Mono"/>
              </a:rPr>
              <a:t>2000L</a:t>
            </a:r>
            <a:r>
              <a:rPr dirty="0" sz="1350" spc="469">
                <a:solidFill>
                  <a:srgbClr val="d19a66"/>
                </a:solidFill>
                <a:latin typeface="Times New Roman"/>
                <a:cs typeface="Times New Roman"/>
              </a:rPr>
              <a:t> </a:t>
            </a:r>
            <a:r>
              <a:rPr dirty="0" sz="1350" i="1">
                <a:solidFill>
                  <a:srgbClr val="5c6370"/>
                </a:solidFill>
                <a:latin typeface="Liberation Mono"/>
                <a:cs typeface="Liberation Mono"/>
              </a:rPr>
              <a:t>//</a:t>
            </a:r>
            <a:r>
              <a:rPr dirty="0" sz="1350" i="1">
                <a:solidFill>
                  <a:srgbClr val="5c6370"/>
                </a:solidFill>
                <a:latin typeface="Liberation Mono"/>
                <a:cs typeface="Liberation Mono"/>
              </a:rPr>
              <a:t> </a:t>
            </a:r>
            <a:r>
              <a:rPr dirty="0" sz="1350" i="1">
                <a:solidFill>
                  <a:srgbClr val="5c6370"/>
                </a:solidFill>
                <a:latin typeface="Liberation Mono"/>
                <a:cs typeface="Liberation Mono"/>
              </a:rPr>
              <a:t>2</a:t>
            </a:r>
            <a:r>
              <a:rPr dirty="0" sz="1350" i="1">
                <a:solidFill>
                  <a:srgbClr val="5c6370"/>
                </a:solidFill>
                <a:latin typeface="Liberation Mono"/>
                <a:cs typeface="Liberation Mono"/>
              </a:rPr>
              <a:t> </a:t>
            </a:r>
            <a:r>
              <a:rPr dirty="0" sz="1350" i="1">
                <a:solidFill>
                  <a:srgbClr val="5c6370"/>
                </a:solidFill>
                <a:latin typeface="Liberation Mono"/>
                <a:cs typeface="Liberation Mono"/>
              </a:rPr>
              <a:t>seconds</a:t>
            </a:r>
          </a:p>
          <a:p>
            <a:pPr marL="0" marR="0">
              <a:lnSpc>
                <a:spcPts val="1522"/>
              </a:lnSpc>
              <a:spcBef>
                <a:spcPts val="352"/>
              </a:spcBef>
              <a:spcAft>
                <a:spcPts val="0"/>
              </a:spcAft>
            </a:pPr>
            <a:r>
              <a:rPr dirty="0" sz="1350">
                <a:solidFill>
                  <a:srgbClr val="abb2bf"/>
                </a:solidFill>
                <a:latin typeface="Liberation Mono"/>
                <a:cs typeface="Liberation Mono"/>
              </a:rPr>
              <a:t>animator.</a:t>
            </a:r>
            <a:r>
              <a:rPr dirty="0" sz="1350">
                <a:solidFill>
                  <a:srgbClr val="61afef"/>
                </a:solidFill>
                <a:latin typeface="Liberation Mono"/>
                <a:cs typeface="Liberation Mono"/>
              </a:rPr>
              <a:t>addUpdateListener</a:t>
            </a:r>
            <a:r>
              <a:rPr dirty="0" sz="1350" spc="469">
                <a:solidFill>
                  <a:srgbClr val="61afef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abb2bf"/>
                </a:solidFill>
                <a:latin typeface="Liberation Mono"/>
                <a:cs typeface="Liberation Mono"/>
              </a:rPr>
              <a:t>{</a:t>
            </a:r>
          </a:p>
          <a:p>
            <a:pPr marL="409426" marR="0">
              <a:lnSpc>
                <a:spcPts val="1522"/>
              </a:lnSpc>
              <a:spcBef>
                <a:spcPts val="302"/>
              </a:spcBef>
              <a:spcAft>
                <a:spcPts val="0"/>
              </a:spcAft>
            </a:pPr>
            <a:r>
              <a:rPr dirty="0" sz="1350">
                <a:solidFill>
                  <a:srgbClr val="c678dd"/>
                </a:solidFill>
                <a:latin typeface="Liberation Mono"/>
                <a:cs typeface="Liberation Mono"/>
              </a:rPr>
              <a:t>val</a:t>
            </a:r>
            <a:r>
              <a:rPr dirty="0" sz="1350" spc="469">
                <a:solidFill>
                  <a:srgbClr val="c678dd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abb2bf"/>
                </a:solidFill>
                <a:latin typeface="Liberation Mono"/>
                <a:cs typeface="Liberation Mono"/>
              </a:rPr>
              <a:t>value</a:t>
            </a:r>
            <a:r>
              <a:rPr dirty="0" sz="1350">
                <a:solidFill>
                  <a:srgbClr val="abb2bf"/>
                </a:solidFill>
                <a:latin typeface="Liberation Mono"/>
                <a:cs typeface="Liberation Mono"/>
              </a:rPr>
              <a:t> </a:t>
            </a:r>
            <a:r>
              <a:rPr dirty="0" sz="1350">
                <a:solidFill>
                  <a:srgbClr val="abb2bf"/>
                </a:solidFill>
                <a:latin typeface="Liberation Mono"/>
                <a:cs typeface="Liberation Mono"/>
              </a:rPr>
              <a:t>=</a:t>
            </a:r>
            <a:r>
              <a:rPr dirty="0" sz="1350">
                <a:solidFill>
                  <a:srgbClr val="abb2bf"/>
                </a:solidFill>
                <a:latin typeface="Liberation Mono"/>
                <a:cs typeface="Liberation Mono"/>
              </a:rPr>
              <a:t> </a:t>
            </a:r>
            <a:r>
              <a:rPr dirty="0" sz="1350">
                <a:solidFill>
                  <a:srgbClr val="abb2bf"/>
                </a:solidFill>
                <a:latin typeface="Liberation Mono"/>
                <a:cs typeface="Liberation Mono"/>
              </a:rPr>
              <a:t>it.</a:t>
            </a:r>
            <a:r>
              <a:rPr dirty="0" sz="1350">
                <a:solidFill>
                  <a:srgbClr val="61afef"/>
                </a:solidFill>
                <a:latin typeface="Liberation Mono"/>
                <a:cs typeface="Liberation Mono"/>
              </a:rPr>
              <a:t>animatedValue</a:t>
            </a:r>
            <a:r>
              <a:rPr dirty="0" sz="1350" spc="469">
                <a:solidFill>
                  <a:srgbClr val="61afef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c678dd"/>
                </a:solidFill>
                <a:latin typeface="Liberation Mono"/>
                <a:cs typeface="Liberation Mono"/>
              </a:rPr>
              <a:t>as</a:t>
            </a:r>
            <a:r>
              <a:rPr dirty="0" sz="1350" spc="469">
                <a:solidFill>
                  <a:srgbClr val="c678dd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e5c07b"/>
                </a:solidFill>
                <a:latin typeface="Liberation Mono"/>
                <a:cs typeface="Liberation Mono"/>
              </a:rPr>
              <a:t>Int</a:t>
            </a:r>
          </a:p>
          <a:p>
            <a:pPr marL="409403" marR="0">
              <a:lnSpc>
                <a:spcPts val="1522"/>
              </a:lnSpc>
              <a:spcBef>
                <a:spcPts val="352"/>
              </a:spcBef>
              <a:spcAft>
                <a:spcPts val="0"/>
              </a:spcAft>
            </a:pPr>
            <a:r>
              <a:rPr dirty="0" sz="1350">
                <a:solidFill>
                  <a:srgbClr val="abb2bf"/>
                </a:solidFill>
                <a:latin typeface="Liberation Mono"/>
                <a:cs typeface="Liberation Mono"/>
              </a:rPr>
              <a:t>textView.</a:t>
            </a:r>
            <a:r>
              <a:rPr dirty="0" sz="1350">
                <a:solidFill>
                  <a:srgbClr val="61afef"/>
                </a:solidFill>
                <a:latin typeface="Liberation Mono"/>
                <a:cs typeface="Liberation Mono"/>
              </a:rPr>
              <a:t>text</a:t>
            </a:r>
            <a:r>
              <a:rPr dirty="0" sz="1350" spc="469">
                <a:solidFill>
                  <a:srgbClr val="61afef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abb2bf"/>
                </a:solidFill>
                <a:latin typeface="Liberation Mono"/>
                <a:cs typeface="Liberation Mono"/>
              </a:rPr>
              <a:t>=</a:t>
            </a:r>
            <a:r>
              <a:rPr dirty="0" sz="1350">
                <a:solidFill>
                  <a:srgbClr val="abb2bf"/>
                </a:solidFill>
                <a:latin typeface="Liberation Mono"/>
                <a:cs typeface="Liberation Mono"/>
              </a:rPr>
              <a:t> </a:t>
            </a:r>
            <a:r>
              <a:rPr dirty="0" sz="1350">
                <a:solidFill>
                  <a:srgbClr val="abb2bf"/>
                </a:solidFill>
                <a:latin typeface="Liberation Mono"/>
                <a:cs typeface="Liberation Mono"/>
              </a:rPr>
              <a:t>value.</a:t>
            </a:r>
            <a:r>
              <a:rPr dirty="0" sz="1350">
                <a:solidFill>
                  <a:srgbClr val="61afef"/>
                </a:solidFill>
                <a:latin typeface="Liberation Mono"/>
                <a:cs typeface="Liberation Mono"/>
              </a:rPr>
              <a:t>toString</a:t>
            </a:r>
            <a:r>
              <a:rPr dirty="0" sz="1350">
                <a:solidFill>
                  <a:srgbClr val="abb2bf"/>
                </a:solidFill>
                <a:latin typeface="Liberation Mono"/>
                <a:cs typeface="Liberation Mono"/>
              </a:rPr>
              <a:t>()</a:t>
            </a:r>
            <a:r>
              <a:rPr dirty="0" sz="1350">
                <a:solidFill>
                  <a:srgbClr val="abb2bf"/>
                </a:solidFill>
                <a:latin typeface="Liberation Mono"/>
                <a:cs typeface="Liberation Mono"/>
              </a:rPr>
              <a:t> </a:t>
            </a:r>
            <a:r>
              <a:rPr dirty="0" sz="1350" i="1">
                <a:solidFill>
                  <a:srgbClr val="5c6370"/>
                </a:solidFill>
                <a:latin typeface="Liberation Mono"/>
                <a:cs typeface="Liberation Mono"/>
              </a:rPr>
              <a:t>//</a:t>
            </a:r>
            <a:r>
              <a:rPr dirty="0" sz="1350" i="1">
                <a:solidFill>
                  <a:srgbClr val="5c6370"/>
                </a:solidFill>
                <a:latin typeface="Liberation Mono"/>
                <a:cs typeface="Liberation Mono"/>
              </a:rPr>
              <a:t> </a:t>
            </a:r>
            <a:r>
              <a:rPr dirty="0" sz="1350" i="1">
                <a:solidFill>
                  <a:srgbClr val="5c6370"/>
                </a:solidFill>
                <a:latin typeface="Liberation Mono"/>
                <a:cs typeface="Liberation Mono"/>
              </a:rPr>
              <a:t>Update</a:t>
            </a:r>
            <a:r>
              <a:rPr dirty="0" sz="1350" i="1">
                <a:solidFill>
                  <a:srgbClr val="5c6370"/>
                </a:solidFill>
                <a:latin typeface="Liberation Mono"/>
                <a:cs typeface="Liberation Mono"/>
              </a:rPr>
              <a:t> </a:t>
            </a:r>
            <a:r>
              <a:rPr dirty="0" sz="1350" i="1">
                <a:solidFill>
                  <a:srgbClr val="5c6370"/>
                </a:solidFill>
                <a:latin typeface="Liberation Mono"/>
                <a:cs typeface="Liberation Mono"/>
              </a:rPr>
              <a:t>UI</a:t>
            </a:r>
          </a:p>
          <a:p>
            <a:pPr marL="0" marR="0">
              <a:lnSpc>
                <a:spcPts val="1522"/>
              </a:lnSpc>
              <a:spcBef>
                <a:spcPts val="352"/>
              </a:spcBef>
              <a:spcAft>
                <a:spcPts val="0"/>
              </a:spcAft>
            </a:pPr>
            <a:r>
              <a:rPr dirty="0" sz="1350">
                <a:solidFill>
                  <a:srgbClr val="abb2bf"/>
                </a:solidFill>
                <a:latin typeface="Liberation Mono"/>
                <a:cs typeface="Liberation Mono"/>
              </a:rPr>
              <a:t>}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76610" y="2640756"/>
            <a:ext cx="1591389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Khả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năng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tùy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biến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cao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187053" y="3618812"/>
            <a:ext cx="4289686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4" b="1">
                <a:solidFill>
                  <a:srgbClr val="e0e0e0"/>
                </a:solidFill>
                <a:latin typeface="DejaVu Sans"/>
                <a:cs typeface="DejaVu Sans"/>
              </a:rPr>
              <a:t>Tạo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0" b="1">
                <a:solidFill>
                  <a:srgbClr val="e0e0e0"/>
                </a:solidFill>
                <a:latin typeface="DejaVu Sans"/>
                <a:cs typeface="DejaVu Sans"/>
              </a:rPr>
              <a:t>giá</a:t>
            </a:r>
            <a:r>
              <a:rPr dirty="0" sz="1700" spc="-1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0" b="1">
                <a:solidFill>
                  <a:srgbClr val="e0e0e0"/>
                </a:solidFill>
                <a:latin typeface="DejaVu Sans"/>
                <a:cs typeface="DejaVu Sans"/>
              </a:rPr>
              <a:t>trị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e0e0e0"/>
                </a:solidFill>
                <a:latin typeface="DejaVu Sans"/>
                <a:cs typeface="DejaVu Sans"/>
              </a:rPr>
              <a:t>hoạt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e0e0e0"/>
                </a:solidFill>
                <a:latin typeface="DejaVu Sans"/>
                <a:cs typeface="DejaVu Sans"/>
              </a:rPr>
              <a:t>ảnh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 b="1">
                <a:solidFill>
                  <a:srgbClr val="e0e0e0"/>
                </a:solidFill>
                <a:latin typeface="DejaVu Sans"/>
                <a:cs typeface="DejaVu Sans"/>
              </a:rPr>
              <a:t>theo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 b="1">
                <a:solidFill>
                  <a:srgbClr val="e0e0e0"/>
                </a:solidFill>
                <a:latin typeface="DejaVu Sans"/>
                <a:cs typeface="DejaVu Sans"/>
              </a:rPr>
              <a:t>thời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1" b="1">
                <a:solidFill>
                  <a:srgbClr val="e0e0e0"/>
                </a:solidFill>
                <a:latin typeface="DejaVu Sans"/>
                <a:cs typeface="DejaVu Sans"/>
              </a:rPr>
              <a:t>gian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607819" y="3846207"/>
            <a:ext cx="1791270" cy="23145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abb2bf"/>
                </a:solidFill>
                <a:latin typeface="Liberation Mono"/>
                <a:cs typeface="Liberation Mono"/>
              </a:rPr>
              <a:t>animator.</a:t>
            </a:r>
            <a:r>
              <a:rPr dirty="0" sz="1350">
                <a:solidFill>
                  <a:srgbClr val="61afef"/>
                </a:solidFill>
                <a:latin typeface="Liberation Mono"/>
                <a:cs typeface="Liberation Mono"/>
              </a:rPr>
              <a:t>start</a:t>
            </a:r>
            <a:r>
              <a:rPr dirty="0" sz="1350">
                <a:solidFill>
                  <a:srgbClr val="abb2bf"/>
                </a:solidFill>
                <a:latin typeface="Liberation Mono"/>
                <a:cs typeface="Liberation Mono"/>
              </a:rPr>
              <a:t>()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78060" y="4059226"/>
            <a:ext cx="5083760" cy="4215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Tạo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ra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20">
                <a:solidFill>
                  <a:srgbClr val="d1d5db"/>
                </a:solidFill>
                <a:latin typeface="DejaVu Sans"/>
                <a:cs typeface="DejaVu Sans"/>
              </a:rPr>
              <a:t>một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d1d5db"/>
                </a:solidFill>
                <a:latin typeface="DejaVu Sans"/>
                <a:cs typeface="DejaVu Sans"/>
              </a:rPr>
              <a:t>tập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hợp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giá</a:t>
            </a:r>
            <a:r>
              <a:rPr dirty="0" sz="1200" spc="-11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trị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số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hoặc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đối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tượng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theo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20">
                <a:solidFill>
                  <a:srgbClr val="d1d5db"/>
                </a:solidFill>
                <a:latin typeface="DejaVu Sans"/>
                <a:cs typeface="DejaVu Sans"/>
              </a:rPr>
              <a:t>một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khoảng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thời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gian.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735811" y="4460031"/>
            <a:ext cx="517133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Kotlin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7606009" y="4460031"/>
            <a:ext cx="1340467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Android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Animation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976610" y="4641006"/>
            <a:ext cx="1556954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Độc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lập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với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thuộc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tính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006375" y="5486467"/>
            <a:ext cx="4540500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Tiến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trình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giá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trị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hoạt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ảnh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theo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thời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gian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813898" y="7660430"/>
            <a:ext cx="3359904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Source: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Understanding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motion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-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Material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Design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2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7998333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430339" y="355785"/>
            <a:ext cx="5518834" cy="78308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866"/>
              </a:lnSpc>
              <a:spcBef>
                <a:spcPts val="0"/>
              </a:spcBef>
              <a:spcAft>
                <a:spcPts val="0"/>
              </a:spcAft>
            </a:pPr>
            <a:r>
              <a:rPr dirty="0" sz="5050" spc="-61" b="1">
                <a:solidFill>
                  <a:srgbClr val="00bcd4"/>
                </a:solidFill>
                <a:latin typeface="DejaVu Sans"/>
                <a:cs typeface="DejaVu Sans"/>
              </a:rPr>
              <a:t>Value</a:t>
            </a:r>
            <a:r>
              <a:rPr dirty="0" sz="5050" b="1">
                <a:solidFill>
                  <a:srgbClr val="e0e0e0"/>
                </a:solidFill>
                <a:latin typeface="DejaVu Sans"/>
                <a:cs typeface="DejaVu Sans"/>
              </a:rPr>
              <a:t>Animator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87053" y="1609037"/>
            <a:ext cx="3772110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1" b="1">
                <a:solidFill>
                  <a:srgbClr val="e0e0e0"/>
                </a:solidFill>
                <a:latin typeface="DejaVu Sans"/>
                <a:cs typeface="DejaVu Sans"/>
              </a:rPr>
              <a:t>Linh</a:t>
            </a:r>
            <a:r>
              <a:rPr dirty="0" sz="1700" spc="-1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e0e0e0"/>
                </a:solidFill>
                <a:latin typeface="DejaVu Sans"/>
                <a:cs typeface="DejaVu Sans"/>
              </a:rPr>
              <a:t>hoạt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e0e0e0"/>
                </a:solidFill>
                <a:latin typeface="DejaVu Sans"/>
                <a:cs typeface="DejaVu Sans"/>
              </a:rPr>
              <a:t>hơn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 b="1">
                <a:solidFill>
                  <a:srgbClr val="e0e0e0"/>
                </a:solidFill>
                <a:latin typeface="DejaVu Sans"/>
                <a:cs typeface="DejaVu Sans"/>
              </a:rPr>
              <a:t>ObjectAnimator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889104" y="1780487"/>
            <a:ext cx="1639213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 b="1">
                <a:solidFill>
                  <a:srgbClr val="e0e0e0"/>
                </a:solidFill>
                <a:latin typeface="DejaVu Sans"/>
                <a:cs typeface="DejaVu Sans"/>
              </a:rPr>
              <a:t>Ví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e0e0e0"/>
                </a:solidFill>
                <a:latin typeface="DejaVu Sans"/>
                <a:cs typeface="DejaVu Sans"/>
              </a:rPr>
              <a:t>dụ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1" b="1">
                <a:solidFill>
                  <a:srgbClr val="e0e0e0"/>
                </a:solidFill>
                <a:latin typeface="DejaVu Sans"/>
                <a:cs typeface="DejaVu Sans"/>
              </a:rPr>
              <a:t>cơ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e0e0e0"/>
                </a:solidFill>
                <a:latin typeface="DejaVu Sans"/>
                <a:cs typeface="DejaVu Sans"/>
              </a:rPr>
              <a:t>bản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78060" y="2049451"/>
            <a:ext cx="5091832" cy="4310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Cung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cấp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quyền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d1d5db"/>
                </a:solidFill>
                <a:latin typeface="DejaVu Sans"/>
                <a:cs typeface="DejaVu Sans"/>
              </a:rPr>
              <a:t>kiểm</a:t>
            </a:r>
            <a:r>
              <a:rPr dirty="0" sz="1200" spc="-2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soát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d1d5db"/>
                </a:solidFill>
                <a:latin typeface="DejaVu Sans"/>
                <a:cs typeface="DejaVu Sans"/>
              </a:rPr>
              <a:t>trực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tiếp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hơn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d1d5db"/>
                </a:solidFill>
                <a:latin typeface="DejaVu Sans"/>
                <a:cs typeface="DejaVu Sans"/>
              </a:rPr>
              <a:t>việc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tính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toán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giá</a:t>
            </a:r>
            <a:r>
              <a:rPr dirty="0" sz="1200" spc="-11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trị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hoạt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ảnh.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607819" y="2417457"/>
            <a:ext cx="5168065" cy="142208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c678dd"/>
                </a:solidFill>
                <a:latin typeface="Liberation Mono"/>
                <a:cs typeface="Liberation Mono"/>
              </a:rPr>
              <a:t>val</a:t>
            </a:r>
            <a:r>
              <a:rPr dirty="0" sz="1350" spc="469">
                <a:solidFill>
                  <a:srgbClr val="c678dd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abb2bf"/>
                </a:solidFill>
                <a:latin typeface="Liberation Mono"/>
                <a:cs typeface="Liberation Mono"/>
              </a:rPr>
              <a:t>animator</a:t>
            </a:r>
            <a:r>
              <a:rPr dirty="0" sz="1350">
                <a:solidFill>
                  <a:srgbClr val="abb2bf"/>
                </a:solidFill>
                <a:latin typeface="Liberation Mono"/>
                <a:cs typeface="Liberation Mono"/>
              </a:rPr>
              <a:t> </a:t>
            </a:r>
            <a:r>
              <a:rPr dirty="0" sz="1350">
                <a:solidFill>
                  <a:srgbClr val="abb2bf"/>
                </a:solidFill>
                <a:latin typeface="Liberation Mono"/>
                <a:cs typeface="Liberation Mono"/>
              </a:rPr>
              <a:t>=</a:t>
            </a:r>
            <a:r>
              <a:rPr dirty="0" sz="1350">
                <a:solidFill>
                  <a:srgbClr val="abb2bf"/>
                </a:solidFill>
                <a:latin typeface="Liberation Mono"/>
                <a:cs typeface="Liberation Mono"/>
              </a:rPr>
              <a:t> </a:t>
            </a:r>
            <a:r>
              <a:rPr dirty="0" sz="1350">
                <a:solidFill>
                  <a:srgbClr val="e5c07b"/>
                </a:solidFill>
                <a:latin typeface="Liberation Mono"/>
                <a:cs typeface="Liberation Mono"/>
              </a:rPr>
              <a:t>ValueAnimator</a:t>
            </a:r>
            <a:r>
              <a:rPr dirty="0" sz="1350">
                <a:solidFill>
                  <a:srgbClr val="abb2bf"/>
                </a:solidFill>
                <a:latin typeface="Liberation Mono"/>
                <a:cs typeface="Liberation Mono"/>
              </a:rPr>
              <a:t>.</a:t>
            </a:r>
            <a:r>
              <a:rPr dirty="0" sz="1350">
                <a:solidFill>
                  <a:srgbClr val="61afef"/>
                </a:solidFill>
                <a:latin typeface="Liberation Mono"/>
                <a:cs typeface="Liberation Mono"/>
              </a:rPr>
              <a:t>ofInt</a:t>
            </a:r>
            <a:r>
              <a:rPr dirty="0" sz="1350">
                <a:solidFill>
                  <a:srgbClr val="abb2bf"/>
                </a:solidFill>
                <a:latin typeface="Liberation Mono"/>
                <a:cs typeface="Liberation Mono"/>
              </a:rPr>
              <a:t>(</a:t>
            </a:r>
            <a:r>
              <a:rPr dirty="0" sz="1350">
                <a:solidFill>
                  <a:srgbClr val="d19a66"/>
                </a:solidFill>
                <a:latin typeface="Liberation Mono"/>
                <a:cs typeface="Liberation Mono"/>
              </a:rPr>
              <a:t>0</a:t>
            </a:r>
            <a:r>
              <a:rPr dirty="0" sz="1350">
                <a:solidFill>
                  <a:srgbClr val="abb2bf"/>
                </a:solidFill>
                <a:latin typeface="Liberation Mono"/>
                <a:cs typeface="Liberation Mono"/>
              </a:rPr>
              <a:t>,</a:t>
            </a:r>
            <a:r>
              <a:rPr dirty="0" sz="1350">
                <a:solidFill>
                  <a:srgbClr val="abb2bf"/>
                </a:solidFill>
                <a:latin typeface="Liberation Mono"/>
                <a:cs typeface="Liberation Mono"/>
              </a:rPr>
              <a:t> </a:t>
            </a:r>
            <a:r>
              <a:rPr dirty="0" sz="1350">
                <a:solidFill>
                  <a:srgbClr val="d19a66"/>
                </a:solidFill>
                <a:latin typeface="Liberation Mono"/>
                <a:cs typeface="Liberation Mono"/>
              </a:rPr>
              <a:t>100</a:t>
            </a:r>
            <a:r>
              <a:rPr dirty="0" sz="1350">
                <a:solidFill>
                  <a:srgbClr val="abb2bf"/>
                </a:solidFill>
                <a:latin typeface="Liberation Mono"/>
                <a:cs typeface="Liberation Mono"/>
              </a:rPr>
              <a:t>)</a:t>
            </a:r>
          </a:p>
          <a:p>
            <a:pPr marL="0" marR="0">
              <a:lnSpc>
                <a:spcPts val="1522"/>
              </a:lnSpc>
              <a:spcBef>
                <a:spcPts val="352"/>
              </a:spcBef>
              <a:spcAft>
                <a:spcPts val="0"/>
              </a:spcAft>
            </a:pPr>
            <a:r>
              <a:rPr dirty="0" sz="1350">
                <a:solidFill>
                  <a:srgbClr val="abb2bf"/>
                </a:solidFill>
                <a:latin typeface="Liberation Mono"/>
                <a:cs typeface="Liberation Mono"/>
              </a:rPr>
              <a:t>animator.</a:t>
            </a:r>
            <a:r>
              <a:rPr dirty="0" sz="1350">
                <a:solidFill>
                  <a:srgbClr val="61afef"/>
                </a:solidFill>
                <a:latin typeface="Liberation Mono"/>
                <a:cs typeface="Liberation Mono"/>
              </a:rPr>
              <a:t>duration</a:t>
            </a:r>
            <a:r>
              <a:rPr dirty="0" sz="1350" spc="469">
                <a:solidFill>
                  <a:srgbClr val="61afef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abb2bf"/>
                </a:solidFill>
                <a:latin typeface="Liberation Mono"/>
                <a:cs typeface="Liberation Mono"/>
              </a:rPr>
              <a:t>=</a:t>
            </a:r>
            <a:r>
              <a:rPr dirty="0" sz="1350">
                <a:solidFill>
                  <a:srgbClr val="abb2bf"/>
                </a:solidFill>
                <a:latin typeface="Liberation Mono"/>
                <a:cs typeface="Liberation Mono"/>
              </a:rPr>
              <a:t> </a:t>
            </a:r>
            <a:r>
              <a:rPr dirty="0" sz="1350">
                <a:solidFill>
                  <a:srgbClr val="d19a66"/>
                </a:solidFill>
                <a:latin typeface="Liberation Mono"/>
                <a:cs typeface="Liberation Mono"/>
              </a:rPr>
              <a:t>2000L</a:t>
            </a:r>
            <a:r>
              <a:rPr dirty="0" sz="1350" spc="469">
                <a:solidFill>
                  <a:srgbClr val="d19a66"/>
                </a:solidFill>
                <a:latin typeface="Times New Roman"/>
                <a:cs typeface="Times New Roman"/>
              </a:rPr>
              <a:t> </a:t>
            </a:r>
            <a:r>
              <a:rPr dirty="0" sz="1350" i="1">
                <a:solidFill>
                  <a:srgbClr val="5c6370"/>
                </a:solidFill>
                <a:latin typeface="Liberation Mono"/>
                <a:cs typeface="Liberation Mono"/>
              </a:rPr>
              <a:t>//</a:t>
            </a:r>
            <a:r>
              <a:rPr dirty="0" sz="1350" i="1">
                <a:solidFill>
                  <a:srgbClr val="5c6370"/>
                </a:solidFill>
                <a:latin typeface="Liberation Mono"/>
                <a:cs typeface="Liberation Mono"/>
              </a:rPr>
              <a:t> </a:t>
            </a:r>
            <a:r>
              <a:rPr dirty="0" sz="1350" i="1">
                <a:solidFill>
                  <a:srgbClr val="5c6370"/>
                </a:solidFill>
                <a:latin typeface="Liberation Mono"/>
                <a:cs typeface="Liberation Mono"/>
              </a:rPr>
              <a:t>2</a:t>
            </a:r>
            <a:r>
              <a:rPr dirty="0" sz="1350" i="1">
                <a:solidFill>
                  <a:srgbClr val="5c6370"/>
                </a:solidFill>
                <a:latin typeface="Liberation Mono"/>
                <a:cs typeface="Liberation Mono"/>
              </a:rPr>
              <a:t> </a:t>
            </a:r>
            <a:r>
              <a:rPr dirty="0" sz="1350" i="1">
                <a:solidFill>
                  <a:srgbClr val="5c6370"/>
                </a:solidFill>
                <a:latin typeface="Liberation Mono"/>
                <a:cs typeface="Liberation Mono"/>
              </a:rPr>
              <a:t>seconds</a:t>
            </a:r>
          </a:p>
          <a:p>
            <a:pPr marL="0" marR="0">
              <a:lnSpc>
                <a:spcPts val="1522"/>
              </a:lnSpc>
              <a:spcBef>
                <a:spcPts val="352"/>
              </a:spcBef>
              <a:spcAft>
                <a:spcPts val="0"/>
              </a:spcAft>
            </a:pPr>
            <a:r>
              <a:rPr dirty="0" sz="1350">
                <a:solidFill>
                  <a:srgbClr val="abb2bf"/>
                </a:solidFill>
                <a:latin typeface="Liberation Mono"/>
                <a:cs typeface="Liberation Mono"/>
              </a:rPr>
              <a:t>animator.</a:t>
            </a:r>
            <a:r>
              <a:rPr dirty="0" sz="1350">
                <a:solidFill>
                  <a:srgbClr val="61afef"/>
                </a:solidFill>
                <a:latin typeface="Liberation Mono"/>
                <a:cs typeface="Liberation Mono"/>
              </a:rPr>
              <a:t>addUpdateListener</a:t>
            </a:r>
            <a:r>
              <a:rPr dirty="0" sz="1350" spc="469">
                <a:solidFill>
                  <a:srgbClr val="61afef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abb2bf"/>
                </a:solidFill>
                <a:latin typeface="Liberation Mono"/>
                <a:cs typeface="Liberation Mono"/>
              </a:rPr>
              <a:t>{</a:t>
            </a:r>
          </a:p>
          <a:p>
            <a:pPr marL="409426" marR="0">
              <a:lnSpc>
                <a:spcPts val="1522"/>
              </a:lnSpc>
              <a:spcBef>
                <a:spcPts val="302"/>
              </a:spcBef>
              <a:spcAft>
                <a:spcPts val="0"/>
              </a:spcAft>
            </a:pPr>
            <a:r>
              <a:rPr dirty="0" sz="1350">
                <a:solidFill>
                  <a:srgbClr val="c678dd"/>
                </a:solidFill>
                <a:latin typeface="Liberation Mono"/>
                <a:cs typeface="Liberation Mono"/>
              </a:rPr>
              <a:t>val</a:t>
            </a:r>
            <a:r>
              <a:rPr dirty="0" sz="1350" spc="469">
                <a:solidFill>
                  <a:srgbClr val="c678dd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abb2bf"/>
                </a:solidFill>
                <a:latin typeface="Liberation Mono"/>
                <a:cs typeface="Liberation Mono"/>
              </a:rPr>
              <a:t>value</a:t>
            </a:r>
            <a:r>
              <a:rPr dirty="0" sz="1350">
                <a:solidFill>
                  <a:srgbClr val="abb2bf"/>
                </a:solidFill>
                <a:latin typeface="Liberation Mono"/>
                <a:cs typeface="Liberation Mono"/>
              </a:rPr>
              <a:t> </a:t>
            </a:r>
            <a:r>
              <a:rPr dirty="0" sz="1350">
                <a:solidFill>
                  <a:srgbClr val="abb2bf"/>
                </a:solidFill>
                <a:latin typeface="Liberation Mono"/>
                <a:cs typeface="Liberation Mono"/>
              </a:rPr>
              <a:t>=</a:t>
            </a:r>
            <a:r>
              <a:rPr dirty="0" sz="1350">
                <a:solidFill>
                  <a:srgbClr val="abb2bf"/>
                </a:solidFill>
                <a:latin typeface="Liberation Mono"/>
                <a:cs typeface="Liberation Mono"/>
              </a:rPr>
              <a:t> </a:t>
            </a:r>
            <a:r>
              <a:rPr dirty="0" sz="1350">
                <a:solidFill>
                  <a:srgbClr val="abb2bf"/>
                </a:solidFill>
                <a:latin typeface="Liberation Mono"/>
                <a:cs typeface="Liberation Mono"/>
              </a:rPr>
              <a:t>it.</a:t>
            </a:r>
            <a:r>
              <a:rPr dirty="0" sz="1350">
                <a:solidFill>
                  <a:srgbClr val="61afef"/>
                </a:solidFill>
                <a:latin typeface="Liberation Mono"/>
                <a:cs typeface="Liberation Mono"/>
              </a:rPr>
              <a:t>animatedValue</a:t>
            </a:r>
            <a:r>
              <a:rPr dirty="0" sz="1350" spc="469">
                <a:solidFill>
                  <a:srgbClr val="61afef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c678dd"/>
                </a:solidFill>
                <a:latin typeface="Liberation Mono"/>
                <a:cs typeface="Liberation Mono"/>
              </a:rPr>
              <a:t>as</a:t>
            </a:r>
            <a:r>
              <a:rPr dirty="0" sz="1350" spc="469">
                <a:solidFill>
                  <a:srgbClr val="c678dd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e5c07b"/>
                </a:solidFill>
                <a:latin typeface="Liberation Mono"/>
                <a:cs typeface="Liberation Mono"/>
              </a:rPr>
              <a:t>Int</a:t>
            </a:r>
          </a:p>
          <a:p>
            <a:pPr marL="409403" marR="0">
              <a:lnSpc>
                <a:spcPts val="1522"/>
              </a:lnSpc>
              <a:spcBef>
                <a:spcPts val="352"/>
              </a:spcBef>
              <a:spcAft>
                <a:spcPts val="0"/>
              </a:spcAft>
            </a:pPr>
            <a:r>
              <a:rPr dirty="0" sz="1350">
                <a:solidFill>
                  <a:srgbClr val="abb2bf"/>
                </a:solidFill>
                <a:latin typeface="Liberation Mono"/>
                <a:cs typeface="Liberation Mono"/>
              </a:rPr>
              <a:t>textView.</a:t>
            </a:r>
            <a:r>
              <a:rPr dirty="0" sz="1350">
                <a:solidFill>
                  <a:srgbClr val="61afef"/>
                </a:solidFill>
                <a:latin typeface="Liberation Mono"/>
                <a:cs typeface="Liberation Mono"/>
              </a:rPr>
              <a:t>text</a:t>
            </a:r>
            <a:r>
              <a:rPr dirty="0" sz="1350" spc="469">
                <a:solidFill>
                  <a:srgbClr val="61afef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abb2bf"/>
                </a:solidFill>
                <a:latin typeface="Liberation Mono"/>
                <a:cs typeface="Liberation Mono"/>
              </a:rPr>
              <a:t>=</a:t>
            </a:r>
            <a:r>
              <a:rPr dirty="0" sz="1350">
                <a:solidFill>
                  <a:srgbClr val="abb2bf"/>
                </a:solidFill>
                <a:latin typeface="Liberation Mono"/>
                <a:cs typeface="Liberation Mono"/>
              </a:rPr>
              <a:t> </a:t>
            </a:r>
            <a:r>
              <a:rPr dirty="0" sz="1350">
                <a:solidFill>
                  <a:srgbClr val="abb2bf"/>
                </a:solidFill>
                <a:latin typeface="Liberation Mono"/>
                <a:cs typeface="Liberation Mono"/>
              </a:rPr>
              <a:t>value.</a:t>
            </a:r>
            <a:r>
              <a:rPr dirty="0" sz="1350">
                <a:solidFill>
                  <a:srgbClr val="61afef"/>
                </a:solidFill>
                <a:latin typeface="Liberation Mono"/>
                <a:cs typeface="Liberation Mono"/>
              </a:rPr>
              <a:t>toString</a:t>
            </a:r>
            <a:r>
              <a:rPr dirty="0" sz="1350">
                <a:solidFill>
                  <a:srgbClr val="abb2bf"/>
                </a:solidFill>
                <a:latin typeface="Liberation Mono"/>
                <a:cs typeface="Liberation Mono"/>
              </a:rPr>
              <a:t>()</a:t>
            </a:r>
            <a:r>
              <a:rPr dirty="0" sz="1350">
                <a:solidFill>
                  <a:srgbClr val="abb2bf"/>
                </a:solidFill>
                <a:latin typeface="Liberation Mono"/>
                <a:cs typeface="Liberation Mono"/>
              </a:rPr>
              <a:t> </a:t>
            </a:r>
            <a:r>
              <a:rPr dirty="0" sz="1350" i="1">
                <a:solidFill>
                  <a:srgbClr val="5c6370"/>
                </a:solidFill>
                <a:latin typeface="Liberation Mono"/>
                <a:cs typeface="Liberation Mono"/>
              </a:rPr>
              <a:t>//</a:t>
            </a:r>
            <a:r>
              <a:rPr dirty="0" sz="1350" i="1">
                <a:solidFill>
                  <a:srgbClr val="5c6370"/>
                </a:solidFill>
                <a:latin typeface="Liberation Mono"/>
                <a:cs typeface="Liberation Mono"/>
              </a:rPr>
              <a:t> </a:t>
            </a:r>
            <a:r>
              <a:rPr dirty="0" sz="1350" i="1">
                <a:solidFill>
                  <a:srgbClr val="5c6370"/>
                </a:solidFill>
                <a:latin typeface="Liberation Mono"/>
                <a:cs typeface="Liberation Mono"/>
              </a:rPr>
              <a:t>Update</a:t>
            </a:r>
            <a:r>
              <a:rPr dirty="0" sz="1350" i="1">
                <a:solidFill>
                  <a:srgbClr val="5c6370"/>
                </a:solidFill>
                <a:latin typeface="Liberation Mono"/>
                <a:cs typeface="Liberation Mono"/>
              </a:rPr>
              <a:t> </a:t>
            </a:r>
            <a:r>
              <a:rPr dirty="0" sz="1350" i="1">
                <a:solidFill>
                  <a:srgbClr val="5c6370"/>
                </a:solidFill>
                <a:latin typeface="Liberation Mono"/>
                <a:cs typeface="Liberation Mono"/>
              </a:rPr>
              <a:t>UI</a:t>
            </a:r>
          </a:p>
          <a:p>
            <a:pPr marL="0" marR="0">
              <a:lnSpc>
                <a:spcPts val="1522"/>
              </a:lnSpc>
              <a:spcBef>
                <a:spcPts val="352"/>
              </a:spcBef>
              <a:spcAft>
                <a:spcPts val="0"/>
              </a:spcAft>
            </a:pPr>
            <a:r>
              <a:rPr dirty="0" sz="1350">
                <a:solidFill>
                  <a:srgbClr val="abb2bf"/>
                </a:solidFill>
                <a:latin typeface="Liberation Mono"/>
                <a:cs typeface="Liberation Mono"/>
              </a:rPr>
              <a:t>}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76610" y="2640756"/>
            <a:ext cx="1591389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Khả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năng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tùy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biến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cao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187053" y="3618812"/>
            <a:ext cx="4289686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4" b="1">
                <a:solidFill>
                  <a:srgbClr val="e0e0e0"/>
                </a:solidFill>
                <a:latin typeface="DejaVu Sans"/>
                <a:cs typeface="DejaVu Sans"/>
              </a:rPr>
              <a:t>Tạo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0" b="1">
                <a:solidFill>
                  <a:srgbClr val="e0e0e0"/>
                </a:solidFill>
                <a:latin typeface="DejaVu Sans"/>
                <a:cs typeface="DejaVu Sans"/>
              </a:rPr>
              <a:t>giá</a:t>
            </a:r>
            <a:r>
              <a:rPr dirty="0" sz="1700" spc="-1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0" b="1">
                <a:solidFill>
                  <a:srgbClr val="e0e0e0"/>
                </a:solidFill>
                <a:latin typeface="DejaVu Sans"/>
                <a:cs typeface="DejaVu Sans"/>
              </a:rPr>
              <a:t>trị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e0e0e0"/>
                </a:solidFill>
                <a:latin typeface="DejaVu Sans"/>
                <a:cs typeface="DejaVu Sans"/>
              </a:rPr>
              <a:t>hoạt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e0e0e0"/>
                </a:solidFill>
                <a:latin typeface="DejaVu Sans"/>
                <a:cs typeface="DejaVu Sans"/>
              </a:rPr>
              <a:t>ảnh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 b="1">
                <a:solidFill>
                  <a:srgbClr val="e0e0e0"/>
                </a:solidFill>
                <a:latin typeface="DejaVu Sans"/>
                <a:cs typeface="DejaVu Sans"/>
              </a:rPr>
              <a:t>theo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 b="1">
                <a:solidFill>
                  <a:srgbClr val="e0e0e0"/>
                </a:solidFill>
                <a:latin typeface="DejaVu Sans"/>
                <a:cs typeface="DejaVu Sans"/>
              </a:rPr>
              <a:t>thời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1" b="1">
                <a:solidFill>
                  <a:srgbClr val="e0e0e0"/>
                </a:solidFill>
                <a:latin typeface="DejaVu Sans"/>
                <a:cs typeface="DejaVu Sans"/>
              </a:rPr>
              <a:t>gian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607819" y="3846207"/>
            <a:ext cx="1791270" cy="23145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abb2bf"/>
                </a:solidFill>
                <a:latin typeface="Liberation Mono"/>
                <a:cs typeface="Liberation Mono"/>
              </a:rPr>
              <a:t>animator.</a:t>
            </a:r>
            <a:r>
              <a:rPr dirty="0" sz="1350">
                <a:solidFill>
                  <a:srgbClr val="61afef"/>
                </a:solidFill>
                <a:latin typeface="Liberation Mono"/>
                <a:cs typeface="Liberation Mono"/>
              </a:rPr>
              <a:t>start</a:t>
            </a:r>
            <a:r>
              <a:rPr dirty="0" sz="1350">
                <a:solidFill>
                  <a:srgbClr val="abb2bf"/>
                </a:solidFill>
                <a:latin typeface="Liberation Mono"/>
                <a:cs typeface="Liberation Mono"/>
              </a:rPr>
              <a:t>()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78060" y="4059226"/>
            <a:ext cx="5083760" cy="4215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Tạo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ra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20">
                <a:solidFill>
                  <a:srgbClr val="d1d5db"/>
                </a:solidFill>
                <a:latin typeface="DejaVu Sans"/>
                <a:cs typeface="DejaVu Sans"/>
              </a:rPr>
              <a:t>một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d1d5db"/>
                </a:solidFill>
                <a:latin typeface="DejaVu Sans"/>
                <a:cs typeface="DejaVu Sans"/>
              </a:rPr>
              <a:t>tập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hợp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giá</a:t>
            </a:r>
            <a:r>
              <a:rPr dirty="0" sz="1200" spc="-11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trị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số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hoặc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đối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tượng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theo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20">
                <a:solidFill>
                  <a:srgbClr val="d1d5db"/>
                </a:solidFill>
                <a:latin typeface="DejaVu Sans"/>
                <a:cs typeface="DejaVu Sans"/>
              </a:rPr>
              <a:t>một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khoảng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thời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gian.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735811" y="4460031"/>
            <a:ext cx="517133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Kotlin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7606009" y="4460031"/>
            <a:ext cx="1340467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Android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Animation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976610" y="4641006"/>
            <a:ext cx="1556954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Độc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lập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với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thuộc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tính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006375" y="5486467"/>
            <a:ext cx="4540500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Tiến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trình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giá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trị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hoạt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ảnh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theo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thời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gian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813898" y="7660430"/>
            <a:ext cx="3359904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Source: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Understanding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motion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-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Material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Design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2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91313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275408" y="319843"/>
            <a:ext cx="5793462" cy="78308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866"/>
              </a:lnSpc>
              <a:spcBef>
                <a:spcPts val="0"/>
              </a:spcBef>
              <a:spcAft>
                <a:spcPts val="0"/>
              </a:spcAft>
            </a:pPr>
            <a:r>
              <a:rPr dirty="0" sz="5050" spc="-36" b="1">
                <a:solidFill>
                  <a:srgbClr val="e0e0e0"/>
                </a:solidFill>
                <a:latin typeface="DejaVu Sans"/>
                <a:cs typeface="DejaVu Sans"/>
              </a:rPr>
              <a:t>View</a:t>
            </a:r>
            <a:r>
              <a:rPr dirty="0" sz="5050" spc="23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5050" b="1">
                <a:solidFill>
                  <a:srgbClr val="00bcd4"/>
                </a:solidFill>
                <a:latin typeface="DejaVu Sans"/>
                <a:cs typeface="DejaVu Sans"/>
              </a:rPr>
              <a:t>Animation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84076" y="3312487"/>
            <a:ext cx="3045957" cy="410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dirty="0" sz="2500" spc="12" b="1">
                <a:solidFill>
                  <a:srgbClr val="e0e0e0"/>
                </a:solidFill>
                <a:latin typeface="DejaVu Sans"/>
                <a:cs typeface="DejaVu Sans"/>
              </a:rPr>
              <a:t>Khái</a:t>
            </a:r>
            <a:r>
              <a:rPr dirty="0" sz="2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500" spc="10" b="1">
                <a:solidFill>
                  <a:srgbClr val="e0e0e0"/>
                </a:solidFill>
                <a:latin typeface="DejaVu Sans"/>
                <a:cs typeface="DejaVu Sans"/>
              </a:rPr>
              <a:t>niệm</a:t>
            </a:r>
            <a:r>
              <a:rPr dirty="0" sz="2500" spc="15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500" spc="10" b="1">
                <a:solidFill>
                  <a:srgbClr val="e0e0e0"/>
                </a:solidFill>
                <a:latin typeface="DejaVu Sans"/>
                <a:cs typeface="DejaVu Sans"/>
              </a:rPr>
              <a:t>chính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059637" y="3508935"/>
            <a:ext cx="2110596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Minh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họa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chuyển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động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2D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75084" y="3906721"/>
            <a:ext cx="4259015" cy="3002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>
                <a:solidFill>
                  <a:srgbClr val="2dd4bf"/>
                </a:solidFill>
                <a:latin typeface="DejaVu Sans"/>
                <a:cs typeface="DejaVu Sans"/>
              </a:rPr>
              <a:t>•</a:t>
            </a:r>
            <a:r>
              <a:rPr dirty="0" sz="1700" spc="234">
                <a:solidFill>
                  <a:srgbClr val="2dd4bf"/>
                </a:solidFill>
                <a:latin typeface="Times New Roman"/>
                <a:cs typeface="Times New Roman"/>
              </a:rPr>
              <a:t> </a:t>
            </a:r>
            <a:r>
              <a:rPr dirty="0" sz="1700" spc="-15">
                <a:solidFill>
                  <a:srgbClr val="e0e0e0"/>
                </a:solidFill>
                <a:latin typeface="DejaVu Sans"/>
                <a:cs typeface="DejaVu Sans"/>
              </a:rPr>
              <a:t>Hỗ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trợ</a:t>
            </a:r>
            <a:r>
              <a:rPr dirty="0" sz="1700" spc="-1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e0e0e0"/>
                </a:solidFill>
                <a:latin typeface="DejaVu Sans"/>
                <a:cs typeface="DejaVu Sans"/>
              </a:rPr>
              <a:t>các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phép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e0e0e0"/>
                </a:solidFill>
                <a:latin typeface="DejaVu Sans"/>
                <a:cs typeface="DejaVu Sans"/>
              </a:rPr>
              <a:t>biến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đổi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5">
                <a:solidFill>
                  <a:srgbClr val="e0e0e0"/>
                </a:solidFill>
                <a:latin typeface="DejaVu Sans"/>
                <a:cs typeface="DejaVu Sans"/>
              </a:rPr>
              <a:t>2D: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1" i="1">
                <a:solidFill>
                  <a:srgbClr val="5eead4"/>
                </a:solidFill>
                <a:latin typeface="Liberation Mono"/>
                <a:cs typeface="Liberation Mono"/>
              </a:rPr>
              <a:t>scale,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75084" y="4230571"/>
            <a:ext cx="3163892" cy="3002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1" i="1">
                <a:solidFill>
                  <a:srgbClr val="5eead4"/>
                </a:solidFill>
                <a:latin typeface="Liberation Mono"/>
                <a:cs typeface="Liberation Mono"/>
              </a:rPr>
              <a:t>rotate,</a:t>
            </a:r>
            <a:r>
              <a:rPr dirty="0" sz="1700" spc="-11" i="1">
                <a:solidFill>
                  <a:srgbClr val="5eead4"/>
                </a:solidFill>
                <a:latin typeface="Liberation Mono"/>
                <a:cs typeface="Liberation Mono"/>
              </a:rPr>
              <a:t> </a:t>
            </a:r>
            <a:r>
              <a:rPr dirty="0" sz="1700" spc="-11" i="1">
                <a:solidFill>
                  <a:srgbClr val="5eead4"/>
                </a:solidFill>
                <a:latin typeface="Liberation Mono"/>
                <a:cs typeface="Liberation Mono"/>
              </a:rPr>
              <a:t>translate,</a:t>
            </a:r>
            <a:r>
              <a:rPr dirty="0" sz="1700" spc="-11" i="1">
                <a:solidFill>
                  <a:srgbClr val="5eead4"/>
                </a:solidFill>
                <a:latin typeface="Liberation Mono"/>
                <a:cs typeface="Liberation Mono"/>
              </a:rPr>
              <a:t> </a:t>
            </a:r>
            <a:r>
              <a:rPr dirty="0" sz="1700" spc="-11" i="1">
                <a:solidFill>
                  <a:srgbClr val="5eead4"/>
                </a:solidFill>
                <a:latin typeface="Liberation Mono"/>
                <a:cs typeface="Liberation Mono"/>
              </a:rPr>
              <a:t>fade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522540" y="4248112"/>
            <a:ext cx="3197876" cy="35263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Cấu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hình</a:t>
            </a:r>
          </a:p>
          <a:p>
            <a:pPr marL="1355675" marR="0">
              <a:lnSpc>
                <a:spcPts val="228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ff9800"/>
                </a:solidFill>
                <a:latin typeface="Liberation Mono"/>
                <a:cs typeface="Liberation Mono"/>
              </a:rPr>
              <a:t>fade_in.xml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75084" y="4716346"/>
            <a:ext cx="4866188" cy="29515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>
                <a:solidFill>
                  <a:srgbClr val="2dd4bf"/>
                </a:solidFill>
                <a:latin typeface="DejaVu Sans"/>
                <a:cs typeface="DejaVu Sans"/>
              </a:rPr>
              <a:t>•</a:t>
            </a:r>
            <a:r>
              <a:rPr dirty="0" sz="1700" spc="234">
                <a:solidFill>
                  <a:srgbClr val="2dd4bf"/>
                </a:solidFill>
                <a:latin typeface="Times New Roman"/>
                <a:cs typeface="Times New Roman"/>
              </a:rPr>
              <a:t> </a:t>
            </a:r>
            <a:r>
              <a:rPr dirty="0" sz="1700" spc="-11">
                <a:solidFill>
                  <a:srgbClr val="e0e0e0"/>
                </a:solidFill>
                <a:latin typeface="DejaVu Sans"/>
                <a:cs typeface="DejaVu Sans"/>
              </a:rPr>
              <a:t>Định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e0e0e0"/>
                </a:solidFill>
                <a:latin typeface="DejaVu Sans"/>
                <a:cs typeface="DejaVu Sans"/>
              </a:rPr>
              <a:t>nghĩa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20">
                <a:solidFill>
                  <a:srgbClr val="e0e0e0"/>
                </a:solidFill>
                <a:latin typeface="DejaVu Sans"/>
                <a:cs typeface="DejaVu Sans"/>
              </a:rPr>
              <a:t>trong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ﬁle</a:t>
            </a:r>
            <a:r>
              <a:rPr dirty="0" sz="1700" spc="-1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5">
                <a:solidFill>
                  <a:srgbClr val="e0e0e0"/>
                </a:solidFill>
                <a:latin typeface="DejaVu Sans"/>
                <a:cs typeface="DejaVu Sans"/>
              </a:rPr>
              <a:t>XML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e0e0e0"/>
                </a:solidFill>
                <a:latin typeface="DejaVu Sans"/>
                <a:cs typeface="DejaVu Sans"/>
              </a:rPr>
              <a:t>tại</a:t>
            </a:r>
            <a:r>
              <a:rPr dirty="0" sz="1700" spc="669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d1d5db"/>
                </a:solidFill>
                <a:latin typeface="Liberation Mono"/>
                <a:cs typeface="Liberation Mono"/>
              </a:rPr>
              <a:t>res/anim/</a:t>
            </a:r>
            <a:r>
              <a:rPr dirty="0" sz="1700" spc="247">
                <a:solidFill>
                  <a:srgbClr val="d1d5db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03076" y="5242485"/>
            <a:ext cx="849677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1">
                <a:solidFill>
                  <a:srgbClr val="5eead4"/>
                </a:solidFill>
                <a:latin typeface="DejaVu Sans"/>
                <a:cs typeface="DejaVu Sans"/>
              </a:rPr>
              <a:t>Linh</a:t>
            </a:r>
            <a:r>
              <a:rPr dirty="0" sz="1200" spc="-10">
                <a:solidFill>
                  <a:srgbClr val="5eead4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5eead4"/>
                </a:solidFill>
                <a:latin typeface="DejaVu Sans"/>
                <a:cs typeface="DejaVu Sans"/>
              </a:rPr>
              <a:t>hoạt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926877" y="5242485"/>
            <a:ext cx="1115928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8">
                <a:solidFill>
                  <a:srgbClr val="5eead4"/>
                </a:solidFill>
                <a:latin typeface="DejaVu Sans"/>
                <a:cs typeface="DejaVu Sans"/>
              </a:rPr>
              <a:t>Dễ</a:t>
            </a:r>
            <a:r>
              <a:rPr dirty="0" sz="1200">
                <a:solidFill>
                  <a:srgbClr val="5eead4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5eead4"/>
                </a:solidFill>
                <a:latin typeface="DejaVu Sans"/>
                <a:cs typeface="DejaVu Sans"/>
              </a:rPr>
              <a:t>triển</a:t>
            </a:r>
            <a:r>
              <a:rPr dirty="0" sz="1200" spc="-12">
                <a:solidFill>
                  <a:srgbClr val="5eead4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5eead4"/>
                </a:solidFill>
                <a:latin typeface="DejaVu Sans"/>
                <a:cs typeface="DejaVu Sans"/>
              </a:rPr>
              <a:t>khai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9458324" y="5230778"/>
            <a:ext cx="2917852" cy="255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12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abb2bf"/>
                </a:solidFill>
                <a:latin typeface="Liberation Mono"/>
                <a:cs typeface="Liberation Mono"/>
              </a:rPr>
              <a:t>&lt;</a:t>
            </a:r>
            <a:r>
              <a:rPr dirty="0" sz="1500">
                <a:solidFill>
                  <a:srgbClr val="e06c75"/>
                </a:solidFill>
                <a:latin typeface="Liberation Mono"/>
                <a:cs typeface="Liberation Mono"/>
              </a:rPr>
              <a:t>alpha</a:t>
            </a:r>
            <a:r>
              <a:rPr dirty="0" sz="1500" spc="534">
                <a:solidFill>
                  <a:srgbClr val="e06c75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d19a66"/>
                </a:solidFill>
                <a:latin typeface="Liberation Mono"/>
                <a:cs typeface="Liberation Mono"/>
              </a:rPr>
              <a:t>xmlns:android=</a:t>
            </a:r>
            <a:r>
              <a:rPr dirty="0" sz="1500">
                <a:solidFill>
                  <a:srgbClr val="98c379"/>
                </a:solidFill>
                <a:latin typeface="Liberation Mono"/>
                <a:cs typeface="Liberation Mono"/>
              </a:rPr>
              <a:t>"ht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9803903" y="5535578"/>
            <a:ext cx="2572295" cy="84617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12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d19a66"/>
                </a:solidFill>
                <a:latin typeface="Liberation Mono"/>
                <a:cs typeface="Liberation Mono"/>
              </a:rPr>
              <a:t>android:fromAlpha=</a:t>
            </a:r>
            <a:r>
              <a:rPr dirty="0" sz="1500">
                <a:solidFill>
                  <a:srgbClr val="98c379"/>
                </a:solidFill>
                <a:latin typeface="Liberation Mono"/>
                <a:cs typeface="Liberation Mono"/>
              </a:rPr>
              <a:t>"0.</a:t>
            </a:r>
          </a:p>
          <a:p>
            <a:pPr marL="0" marR="0">
              <a:lnSpc>
                <a:spcPts val="1712"/>
              </a:lnSpc>
              <a:spcBef>
                <a:spcPts val="612"/>
              </a:spcBef>
              <a:spcAft>
                <a:spcPts val="0"/>
              </a:spcAft>
            </a:pPr>
            <a:r>
              <a:rPr dirty="0" sz="1500">
                <a:solidFill>
                  <a:srgbClr val="d19a66"/>
                </a:solidFill>
                <a:latin typeface="Liberation Mono"/>
                <a:cs typeface="Liberation Mono"/>
              </a:rPr>
              <a:t>android:toAlpha=</a:t>
            </a:r>
            <a:r>
              <a:rPr dirty="0" sz="1500">
                <a:solidFill>
                  <a:srgbClr val="98c379"/>
                </a:solidFill>
                <a:latin typeface="Liberation Mono"/>
                <a:cs typeface="Liberation Mono"/>
              </a:rPr>
              <a:t>"1.0"</a:t>
            </a:r>
          </a:p>
          <a:p>
            <a:pPr marL="0" marR="0">
              <a:lnSpc>
                <a:spcPts val="1712"/>
              </a:lnSpc>
              <a:spcBef>
                <a:spcPts val="662"/>
              </a:spcBef>
              <a:spcAft>
                <a:spcPts val="0"/>
              </a:spcAft>
            </a:pPr>
            <a:r>
              <a:rPr dirty="0" sz="1500">
                <a:solidFill>
                  <a:srgbClr val="d19a66"/>
                </a:solidFill>
                <a:latin typeface="Liberation Mono"/>
                <a:cs typeface="Liberation Mono"/>
              </a:rPr>
              <a:t>android:duration=</a:t>
            </a:r>
            <a:r>
              <a:rPr dirty="0" sz="1500">
                <a:solidFill>
                  <a:srgbClr val="98c379"/>
                </a:solidFill>
                <a:latin typeface="Liberation Mono"/>
                <a:cs typeface="Liberation Mono"/>
              </a:rPr>
              <a:t>"100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8642894" y="6956985"/>
            <a:ext cx="3064450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4">
                <a:solidFill>
                  <a:srgbClr val="9ca3af"/>
                </a:solidFill>
                <a:latin typeface="DejaVu Sans"/>
                <a:cs typeface="DejaVu Sans"/>
              </a:rPr>
              <a:t>Alpha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9ca3af"/>
                </a:solidFill>
                <a:latin typeface="DejaVu Sans"/>
                <a:cs typeface="DejaVu Sans"/>
              </a:rPr>
              <a:t>(Độ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mờ):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9ca3af"/>
                </a:solidFill>
                <a:latin typeface="DejaVu Sans"/>
                <a:cs typeface="DejaVu Sans"/>
              </a:rPr>
              <a:t>0.0-1.0</a:t>
            </a:r>
            <a:r>
              <a:rPr dirty="0" sz="1200" spc="957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ff9800"/>
                </a:solidFill>
                <a:latin typeface="DejaVu Sans"/>
                <a:cs typeface="DejaVu Sans"/>
              </a:rPr>
              <a:t>Duration</a:t>
            </a:r>
            <a:r>
              <a:rPr dirty="0" sz="1200" spc="-1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ff9800"/>
                </a:solidFill>
                <a:latin typeface="DejaVu Sans"/>
                <a:cs typeface="DejaVu Sans"/>
              </a:rPr>
              <a:t>(ms)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932556" y="7965126"/>
            <a:ext cx="10700432" cy="261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"Chuyển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động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làm</a:t>
            </a:r>
            <a:r>
              <a:rPr dirty="0" sz="1500" spc="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cho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giao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diện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người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dùng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trở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nên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biểu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cảm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dễ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sử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dụng,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định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hướng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người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dùng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tăng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932556" y="8260401"/>
            <a:ext cx="2285098" cy="261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trải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nghiệm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tổng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thể."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8603455" y="8576989"/>
            <a:ext cx="3359904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Source: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Understanding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motion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-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Material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Design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2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91313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275408" y="319843"/>
            <a:ext cx="5793462" cy="78308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866"/>
              </a:lnSpc>
              <a:spcBef>
                <a:spcPts val="0"/>
              </a:spcBef>
              <a:spcAft>
                <a:spcPts val="0"/>
              </a:spcAft>
            </a:pPr>
            <a:r>
              <a:rPr dirty="0" sz="5050" spc="-36" b="1">
                <a:solidFill>
                  <a:srgbClr val="e0e0e0"/>
                </a:solidFill>
                <a:latin typeface="DejaVu Sans"/>
                <a:cs typeface="DejaVu Sans"/>
              </a:rPr>
              <a:t>View</a:t>
            </a:r>
            <a:r>
              <a:rPr dirty="0" sz="5050" spc="23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5050" b="1">
                <a:solidFill>
                  <a:srgbClr val="00bcd4"/>
                </a:solidFill>
                <a:latin typeface="DejaVu Sans"/>
                <a:cs typeface="DejaVu Sans"/>
              </a:rPr>
              <a:t>Animation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84076" y="3312487"/>
            <a:ext cx="3045957" cy="410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dirty="0" sz="2500" spc="12" b="1">
                <a:solidFill>
                  <a:srgbClr val="e0e0e0"/>
                </a:solidFill>
                <a:latin typeface="DejaVu Sans"/>
                <a:cs typeface="DejaVu Sans"/>
              </a:rPr>
              <a:t>Khái</a:t>
            </a:r>
            <a:r>
              <a:rPr dirty="0" sz="2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500" spc="10" b="1">
                <a:solidFill>
                  <a:srgbClr val="e0e0e0"/>
                </a:solidFill>
                <a:latin typeface="DejaVu Sans"/>
                <a:cs typeface="DejaVu Sans"/>
              </a:rPr>
              <a:t>niệm</a:t>
            </a:r>
            <a:r>
              <a:rPr dirty="0" sz="2500" spc="15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500" spc="10" b="1">
                <a:solidFill>
                  <a:srgbClr val="e0e0e0"/>
                </a:solidFill>
                <a:latin typeface="DejaVu Sans"/>
                <a:cs typeface="DejaVu Sans"/>
              </a:rPr>
              <a:t>chính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059637" y="3508935"/>
            <a:ext cx="2110596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Minh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họa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chuyển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động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2D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75084" y="3906721"/>
            <a:ext cx="4259015" cy="3002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>
                <a:solidFill>
                  <a:srgbClr val="2dd4bf"/>
                </a:solidFill>
                <a:latin typeface="DejaVu Sans"/>
                <a:cs typeface="DejaVu Sans"/>
              </a:rPr>
              <a:t>•</a:t>
            </a:r>
            <a:r>
              <a:rPr dirty="0" sz="1700" spc="234">
                <a:solidFill>
                  <a:srgbClr val="2dd4bf"/>
                </a:solidFill>
                <a:latin typeface="Times New Roman"/>
                <a:cs typeface="Times New Roman"/>
              </a:rPr>
              <a:t> </a:t>
            </a:r>
            <a:r>
              <a:rPr dirty="0" sz="1700" spc="-15">
                <a:solidFill>
                  <a:srgbClr val="e0e0e0"/>
                </a:solidFill>
                <a:latin typeface="DejaVu Sans"/>
                <a:cs typeface="DejaVu Sans"/>
              </a:rPr>
              <a:t>Hỗ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trợ</a:t>
            </a:r>
            <a:r>
              <a:rPr dirty="0" sz="1700" spc="-1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e0e0e0"/>
                </a:solidFill>
                <a:latin typeface="DejaVu Sans"/>
                <a:cs typeface="DejaVu Sans"/>
              </a:rPr>
              <a:t>các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phép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e0e0e0"/>
                </a:solidFill>
                <a:latin typeface="DejaVu Sans"/>
                <a:cs typeface="DejaVu Sans"/>
              </a:rPr>
              <a:t>biến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đổi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5">
                <a:solidFill>
                  <a:srgbClr val="e0e0e0"/>
                </a:solidFill>
                <a:latin typeface="DejaVu Sans"/>
                <a:cs typeface="DejaVu Sans"/>
              </a:rPr>
              <a:t>2D: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1" i="1">
                <a:solidFill>
                  <a:srgbClr val="5eead4"/>
                </a:solidFill>
                <a:latin typeface="Liberation Mono"/>
                <a:cs typeface="Liberation Mono"/>
              </a:rPr>
              <a:t>scale,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75084" y="4230571"/>
            <a:ext cx="3163892" cy="3002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1" i="1">
                <a:solidFill>
                  <a:srgbClr val="5eead4"/>
                </a:solidFill>
                <a:latin typeface="Liberation Mono"/>
                <a:cs typeface="Liberation Mono"/>
              </a:rPr>
              <a:t>rotate,</a:t>
            </a:r>
            <a:r>
              <a:rPr dirty="0" sz="1700" spc="-11" i="1">
                <a:solidFill>
                  <a:srgbClr val="5eead4"/>
                </a:solidFill>
                <a:latin typeface="Liberation Mono"/>
                <a:cs typeface="Liberation Mono"/>
              </a:rPr>
              <a:t> </a:t>
            </a:r>
            <a:r>
              <a:rPr dirty="0" sz="1700" spc="-11" i="1">
                <a:solidFill>
                  <a:srgbClr val="5eead4"/>
                </a:solidFill>
                <a:latin typeface="Liberation Mono"/>
                <a:cs typeface="Liberation Mono"/>
              </a:rPr>
              <a:t>translate,</a:t>
            </a:r>
            <a:r>
              <a:rPr dirty="0" sz="1700" spc="-11" i="1">
                <a:solidFill>
                  <a:srgbClr val="5eead4"/>
                </a:solidFill>
                <a:latin typeface="Liberation Mono"/>
                <a:cs typeface="Liberation Mono"/>
              </a:rPr>
              <a:t> </a:t>
            </a:r>
            <a:r>
              <a:rPr dirty="0" sz="1700" spc="-11" i="1">
                <a:solidFill>
                  <a:srgbClr val="5eead4"/>
                </a:solidFill>
                <a:latin typeface="Liberation Mono"/>
                <a:cs typeface="Liberation Mono"/>
              </a:rPr>
              <a:t>fade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522540" y="4248112"/>
            <a:ext cx="3197876" cy="35263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Cấu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hình</a:t>
            </a:r>
          </a:p>
          <a:p>
            <a:pPr marL="1355675" marR="0">
              <a:lnSpc>
                <a:spcPts val="228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ff9800"/>
                </a:solidFill>
                <a:latin typeface="Liberation Mono"/>
                <a:cs typeface="Liberation Mono"/>
              </a:rPr>
              <a:t>fade_in.xml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75084" y="4716346"/>
            <a:ext cx="4866188" cy="29515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>
                <a:solidFill>
                  <a:srgbClr val="2dd4bf"/>
                </a:solidFill>
                <a:latin typeface="DejaVu Sans"/>
                <a:cs typeface="DejaVu Sans"/>
              </a:rPr>
              <a:t>•</a:t>
            </a:r>
            <a:r>
              <a:rPr dirty="0" sz="1700" spc="234">
                <a:solidFill>
                  <a:srgbClr val="2dd4bf"/>
                </a:solidFill>
                <a:latin typeface="Times New Roman"/>
                <a:cs typeface="Times New Roman"/>
              </a:rPr>
              <a:t> </a:t>
            </a:r>
            <a:r>
              <a:rPr dirty="0" sz="1700" spc="-11">
                <a:solidFill>
                  <a:srgbClr val="e0e0e0"/>
                </a:solidFill>
                <a:latin typeface="DejaVu Sans"/>
                <a:cs typeface="DejaVu Sans"/>
              </a:rPr>
              <a:t>Định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e0e0e0"/>
                </a:solidFill>
                <a:latin typeface="DejaVu Sans"/>
                <a:cs typeface="DejaVu Sans"/>
              </a:rPr>
              <a:t>nghĩa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20">
                <a:solidFill>
                  <a:srgbClr val="e0e0e0"/>
                </a:solidFill>
                <a:latin typeface="DejaVu Sans"/>
                <a:cs typeface="DejaVu Sans"/>
              </a:rPr>
              <a:t>trong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ﬁle</a:t>
            </a:r>
            <a:r>
              <a:rPr dirty="0" sz="1700" spc="-1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5">
                <a:solidFill>
                  <a:srgbClr val="e0e0e0"/>
                </a:solidFill>
                <a:latin typeface="DejaVu Sans"/>
                <a:cs typeface="DejaVu Sans"/>
              </a:rPr>
              <a:t>XML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e0e0e0"/>
                </a:solidFill>
                <a:latin typeface="DejaVu Sans"/>
                <a:cs typeface="DejaVu Sans"/>
              </a:rPr>
              <a:t>tại</a:t>
            </a:r>
            <a:r>
              <a:rPr dirty="0" sz="1700" spc="669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d1d5db"/>
                </a:solidFill>
                <a:latin typeface="Liberation Mono"/>
                <a:cs typeface="Liberation Mono"/>
              </a:rPr>
              <a:t>res/anim/</a:t>
            </a:r>
            <a:r>
              <a:rPr dirty="0" sz="1700" spc="247">
                <a:solidFill>
                  <a:srgbClr val="d1d5db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03076" y="5242485"/>
            <a:ext cx="849677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1">
                <a:solidFill>
                  <a:srgbClr val="5eead4"/>
                </a:solidFill>
                <a:latin typeface="DejaVu Sans"/>
                <a:cs typeface="DejaVu Sans"/>
              </a:rPr>
              <a:t>Linh</a:t>
            </a:r>
            <a:r>
              <a:rPr dirty="0" sz="1200" spc="-10">
                <a:solidFill>
                  <a:srgbClr val="5eead4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5eead4"/>
                </a:solidFill>
                <a:latin typeface="DejaVu Sans"/>
                <a:cs typeface="DejaVu Sans"/>
              </a:rPr>
              <a:t>hoạt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926877" y="5242485"/>
            <a:ext cx="1115928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8">
                <a:solidFill>
                  <a:srgbClr val="5eead4"/>
                </a:solidFill>
                <a:latin typeface="DejaVu Sans"/>
                <a:cs typeface="DejaVu Sans"/>
              </a:rPr>
              <a:t>Dễ</a:t>
            </a:r>
            <a:r>
              <a:rPr dirty="0" sz="1200">
                <a:solidFill>
                  <a:srgbClr val="5eead4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5eead4"/>
                </a:solidFill>
                <a:latin typeface="DejaVu Sans"/>
                <a:cs typeface="DejaVu Sans"/>
              </a:rPr>
              <a:t>triển</a:t>
            </a:r>
            <a:r>
              <a:rPr dirty="0" sz="1200" spc="-12">
                <a:solidFill>
                  <a:srgbClr val="5eead4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5eead4"/>
                </a:solidFill>
                <a:latin typeface="DejaVu Sans"/>
                <a:cs typeface="DejaVu Sans"/>
              </a:rPr>
              <a:t>khai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9458324" y="5230778"/>
            <a:ext cx="2917852" cy="255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12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abb2bf"/>
                </a:solidFill>
                <a:latin typeface="Liberation Mono"/>
                <a:cs typeface="Liberation Mono"/>
              </a:rPr>
              <a:t>&lt;</a:t>
            </a:r>
            <a:r>
              <a:rPr dirty="0" sz="1500">
                <a:solidFill>
                  <a:srgbClr val="e06c75"/>
                </a:solidFill>
                <a:latin typeface="Liberation Mono"/>
                <a:cs typeface="Liberation Mono"/>
              </a:rPr>
              <a:t>alpha</a:t>
            </a:r>
            <a:r>
              <a:rPr dirty="0" sz="1500" spc="534">
                <a:solidFill>
                  <a:srgbClr val="e06c75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d19a66"/>
                </a:solidFill>
                <a:latin typeface="Liberation Mono"/>
                <a:cs typeface="Liberation Mono"/>
              </a:rPr>
              <a:t>xmlns:android=</a:t>
            </a:r>
            <a:r>
              <a:rPr dirty="0" sz="1500">
                <a:solidFill>
                  <a:srgbClr val="98c379"/>
                </a:solidFill>
                <a:latin typeface="Liberation Mono"/>
                <a:cs typeface="Liberation Mono"/>
              </a:rPr>
              <a:t>"ht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9803903" y="5535578"/>
            <a:ext cx="2572295" cy="84617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12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d19a66"/>
                </a:solidFill>
                <a:latin typeface="Liberation Mono"/>
                <a:cs typeface="Liberation Mono"/>
              </a:rPr>
              <a:t>android:fromAlpha=</a:t>
            </a:r>
            <a:r>
              <a:rPr dirty="0" sz="1500">
                <a:solidFill>
                  <a:srgbClr val="98c379"/>
                </a:solidFill>
                <a:latin typeface="Liberation Mono"/>
                <a:cs typeface="Liberation Mono"/>
              </a:rPr>
              <a:t>"0.</a:t>
            </a:r>
          </a:p>
          <a:p>
            <a:pPr marL="0" marR="0">
              <a:lnSpc>
                <a:spcPts val="1712"/>
              </a:lnSpc>
              <a:spcBef>
                <a:spcPts val="612"/>
              </a:spcBef>
              <a:spcAft>
                <a:spcPts val="0"/>
              </a:spcAft>
            </a:pPr>
            <a:r>
              <a:rPr dirty="0" sz="1500">
                <a:solidFill>
                  <a:srgbClr val="d19a66"/>
                </a:solidFill>
                <a:latin typeface="Liberation Mono"/>
                <a:cs typeface="Liberation Mono"/>
              </a:rPr>
              <a:t>android:toAlpha=</a:t>
            </a:r>
            <a:r>
              <a:rPr dirty="0" sz="1500">
                <a:solidFill>
                  <a:srgbClr val="98c379"/>
                </a:solidFill>
                <a:latin typeface="Liberation Mono"/>
                <a:cs typeface="Liberation Mono"/>
              </a:rPr>
              <a:t>"1.0"</a:t>
            </a:r>
          </a:p>
          <a:p>
            <a:pPr marL="0" marR="0">
              <a:lnSpc>
                <a:spcPts val="1712"/>
              </a:lnSpc>
              <a:spcBef>
                <a:spcPts val="662"/>
              </a:spcBef>
              <a:spcAft>
                <a:spcPts val="0"/>
              </a:spcAft>
            </a:pPr>
            <a:r>
              <a:rPr dirty="0" sz="1500">
                <a:solidFill>
                  <a:srgbClr val="d19a66"/>
                </a:solidFill>
                <a:latin typeface="Liberation Mono"/>
                <a:cs typeface="Liberation Mono"/>
              </a:rPr>
              <a:t>android:duration=</a:t>
            </a:r>
            <a:r>
              <a:rPr dirty="0" sz="1500">
                <a:solidFill>
                  <a:srgbClr val="98c379"/>
                </a:solidFill>
                <a:latin typeface="Liberation Mono"/>
                <a:cs typeface="Liberation Mono"/>
              </a:rPr>
              <a:t>"100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8642894" y="6956985"/>
            <a:ext cx="3064450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4">
                <a:solidFill>
                  <a:srgbClr val="9ca3af"/>
                </a:solidFill>
                <a:latin typeface="DejaVu Sans"/>
                <a:cs typeface="DejaVu Sans"/>
              </a:rPr>
              <a:t>Alpha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9ca3af"/>
                </a:solidFill>
                <a:latin typeface="DejaVu Sans"/>
                <a:cs typeface="DejaVu Sans"/>
              </a:rPr>
              <a:t>(Độ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mờ):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9ca3af"/>
                </a:solidFill>
                <a:latin typeface="DejaVu Sans"/>
                <a:cs typeface="DejaVu Sans"/>
              </a:rPr>
              <a:t>0.0-1.0</a:t>
            </a:r>
            <a:r>
              <a:rPr dirty="0" sz="1200" spc="957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ff9800"/>
                </a:solidFill>
                <a:latin typeface="DejaVu Sans"/>
                <a:cs typeface="DejaVu Sans"/>
              </a:rPr>
              <a:t>Duration</a:t>
            </a:r>
            <a:r>
              <a:rPr dirty="0" sz="1200" spc="-1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ff9800"/>
                </a:solidFill>
                <a:latin typeface="DejaVu Sans"/>
                <a:cs typeface="DejaVu Sans"/>
              </a:rPr>
              <a:t>(ms)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932556" y="7965126"/>
            <a:ext cx="10700432" cy="261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"Chuyển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động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làm</a:t>
            </a:r>
            <a:r>
              <a:rPr dirty="0" sz="1500" spc="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cho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giao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diện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người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dùng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trở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nên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biểu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cảm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dễ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sử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dụng,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định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hướng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người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dùng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tăng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932556" y="8260401"/>
            <a:ext cx="2285098" cy="261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trải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nghiệm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tổng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thể."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8603455" y="8576989"/>
            <a:ext cx="3359904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Source: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Understanding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motion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-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Material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Design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2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7885715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76249" y="356369"/>
            <a:ext cx="5472948" cy="4851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spc="18" b="1">
                <a:solidFill>
                  <a:srgbClr val="f3f4f6"/>
                </a:solidFill>
                <a:latin typeface="DejaVu Sans"/>
                <a:cs typeface="DejaVu Sans"/>
              </a:rPr>
              <a:t>Áp</a:t>
            </a:r>
            <a:r>
              <a:rPr dirty="0" sz="3000" b="1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dirty="0" sz="3000" spc="17" b="1">
                <a:solidFill>
                  <a:srgbClr val="f3f4f6"/>
                </a:solidFill>
                <a:latin typeface="DejaVu Sans"/>
                <a:cs typeface="DejaVu Sans"/>
              </a:rPr>
              <a:t>dụng</a:t>
            </a:r>
            <a:r>
              <a:rPr dirty="0" sz="3000" b="1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dirty="0" sz="3000" b="1">
                <a:solidFill>
                  <a:srgbClr val="2dd4bf"/>
                </a:solidFill>
                <a:latin typeface="DejaVu Sans"/>
                <a:cs typeface="DejaVu Sans"/>
              </a:rPr>
              <a:t>View</a:t>
            </a:r>
            <a:r>
              <a:rPr dirty="0" sz="3000" spc="34" b="1">
                <a:solidFill>
                  <a:srgbClr val="2dd4bf"/>
                </a:solidFill>
                <a:latin typeface="DejaVu Sans"/>
                <a:cs typeface="DejaVu Sans"/>
              </a:rPr>
              <a:t> </a:t>
            </a:r>
            <a:r>
              <a:rPr dirty="0" sz="3000" spc="15" b="1">
                <a:solidFill>
                  <a:srgbClr val="2dd4bf"/>
                </a:solidFill>
                <a:latin typeface="DejaVu Sans"/>
                <a:cs typeface="DejaVu Sans"/>
              </a:rPr>
              <a:t>Animation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79326" y="1380072"/>
            <a:ext cx="4546910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Tạo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-47" b="1">
                <a:solidFill>
                  <a:srgbClr val="e0e0e0"/>
                </a:solidFill>
                <a:latin typeface="DejaVu Sans"/>
                <a:cs typeface="DejaVu Sans"/>
              </a:rPr>
              <a:t>Trải</a:t>
            </a:r>
            <a:r>
              <a:rPr dirty="0" sz="2000" spc="58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Nghiệm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2" b="1">
                <a:solidFill>
                  <a:srgbClr val="e0e0e0"/>
                </a:solidFill>
                <a:latin typeface="DejaVu Sans"/>
                <a:cs typeface="DejaVu Sans"/>
              </a:rPr>
              <a:t>UI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Sống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1" b="1">
                <a:solidFill>
                  <a:srgbClr val="e0e0e0"/>
                </a:solidFill>
                <a:latin typeface="DejaVu Sans"/>
                <a:cs typeface="DejaVu Sans"/>
              </a:rPr>
              <a:t>Động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988967" y="1380072"/>
            <a:ext cx="2429544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Cú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Pháp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Cơ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Bản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70334" y="1944310"/>
            <a:ext cx="4907057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2dd4bf"/>
                </a:solidFill>
                <a:latin typeface="DejaVu Sans"/>
                <a:cs typeface="DejaVu Sans"/>
              </a:rPr>
              <a:t>●</a:t>
            </a:r>
            <a:r>
              <a:rPr dirty="0" sz="1500" spc="306">
                <a:solidFill>
                  <a:srgbClr val="2dd4bf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Hoạt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hình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làm</a:t>
            </a:r>
            <a:r>
              <a:rPr dirty="0" sz="1500" spc="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giao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diện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biểu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cảm,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dễ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sử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dụng.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650532" y="2113800"/>
            <a:ext cx="5782153" cy="23145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f97316"/>
                </a:solidFill>
                <a:latin typeface="Liberation Mono"/>
                <a:cs typeface="Liberation Mono"/>
              </a:rPr>
              <a:t>val</a:t>
            </a:r>
            <a:r>
              <a:rPr dirty="0" sz="1350" spc="469">
                <a:solidFill>
                  <a:srgbClr val="f97316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e5e7eb"/>
                </a:solidFill>
                <a:latin typeface="Liberation Mono"/>
                <a:cs typeface="Liberation Mono"/>
              </a:rPr>
              <a:t>anim</a:t>
            </a:r>
            <a:r>
              <a:rPr dirty="0" sz="1350">
                <a:solidFill>
                  <a:srgbClr val="e5e7eb"/>
                </a:solidFill>
                <a:latin typeface="Liberation Mono"/>
                <a:cs typeface="Liberation Mono"/>
              </a:rPr>
              <a:t> </a:t>
            </a:r>
            <a:r>
              <a:rPr dirty="0" sz="1350">
                <a:solidFill>
                  <a:srgbClr val="e5e7eb"/>
                </a:solidFill>
                <a:latin typeface="Liberation Mono"/>
                <a:cs typeface="Liberation Mono"/>
              </a:rPr>
              <a:t>=</a:t>
            </a:r>
            <a:r>
              <a:rPr dirty="0" sz="1350">
                <a:solidFill>
                  <a:srgbClr val="e5e7eb"/>
                </a:solidFill>
                <a:latin typeface="Liberation Mono"/>
                <a:cs typeface="Liberation Mono"/>
              </a:rPr>
              <a:t> </a:t>
            </a:r>
            <a:r>
              <a:rPr dirty="0" sz="1350">
                <a:solidFill>
                  <a:srgbClr val="38bdf8"/>
                </a:solidFill>
                <a:latin typeface="Liberation Mono"/>
                <a:cs typeface="Liberation Mono"/>
              </a:rPr>
              <a:t>AnimationUtils</a:t>
            </a:r>
            <a:r>
              <a:rPr dirty="0" sz="1350">
                <a:solidFill>
                  <a:srgbClr val="e5e7eb"/>
                </a:solidFill>
                <a:latin typeface="Liberation Mono"/>
                <a:cs typeface="Liberation Mono"/>
              </a:rPr>
              <a:t>.loadAnimation(</a:t>
            </a:r>
            <a:r>
              <a:rPr dirty="0" sz="1350">
                <a:solidFill>
                  <a:srgbClr val="f97316"/>
                </a:solidFill>
                <a:latin typeface="Liberation Mono"/>
                <a:cs typeface="Liberation Mono"/>
              </a:rPr>
              <a:t>this</a:t>
            </a:r>
            <a:r>
              <a:rPr dirty="0" sz="1350">
                <a:solidFill>
                  <a:srgbClr val="e5e7eb"/>
                </a:solidFill>
                <a:latin typeface="Liberation Mono"/>
                <a:cs typeface="Liberation Mono"/>
              </a:rPr>
              <a:t>,</a:t>
            </a:r>
            <a:r>
              <a:rPr dirty="0" sz="1350">
                <a:solidFill>
                  <a:srgbClr val="e5e7eb"/>
                </a:solidFill>
                <a:latin typeface="Liberation Mono"/>
                <a:cs typeface="Liberation Mono"/>
              </a:rPr>
              <a:t> </a:t>
            </a:r>
            <a:r>
              <a:rPr dirty="0" sz="1350">
                <a:solidFill>
                  <a:srgbClr val="38bdf8"/>
                </a:solidFill>
                <a:latin typeface="Liberation Mono"/>
                <a:cs typeface="Liberation Mono"/>
              </a:rPr>
              <a:t>R</a:t>
            </a:r>
            <a:r>
              <a:rPr dirty="0" sz="1350">
                <a:solidFill>
                  <a:srgbClr val="e5e7eb"/>
                </a:solidFill>
                <a:latin typeface="Liberation Mono"/>
                <a:cs typeface="Liberation Mono"/>
              </a:rPr>
              <a:t>.anim.fa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70334" y="2372935"/>
            <a:ext cx="4679351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2dd4bf"/>
                </a:solidFill>
                <a:latin typeface="DejaVu Sans"/>
                <a:cs typeface="DejaVu Sans"/>
              </a:rPr>
              <a:t>●</a:t>
            </a:r>
            <a:r>
              <a:rPr dirty="0" sz="1500" spc="306">
                <a:solidFill>
                  <a:srgbClr val="2dd4bf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Định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hướng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người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dùng,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làm</a:t>
            </a:r>
            <a:r>
              <a:rPr dirty="0" sz="1500" spc="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nổi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bật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mối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650532" y="2370975"/>
            <a:ext cx="3225282" cy="23145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8bdf8"/>
                </a:solidFill>
                <a:latin typeface="Liberation Mono"/>
                <a:cs typeface="Liberation Mono"/>
              </a:rPr>
              <a:t>imageView</a:t>
            </a:r>
            <a:r>
              <a:rPr dirty="0" sz="1350">
                <a:solidFill>
                  <a:srgbClr val="e5e7eb"/>
                </a:solidFill>
                <a:latin typeface="Liberation Mono"/>
                <a:cs typeface="Liberation Mono"/>
              </a:rPr>
              <a:t>.startAnimation(anim)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70334" y="2668210"/>
            <a:ext cx="997141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quan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hệ.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479976" y="2916615"/>
            <a:ext cx="4517135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Tải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và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bắt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đầu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hiệu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ứng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động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cho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một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 spc="-14">
                <a:solidFill>
                  <a:srgbClr val="9ca3af"/>
                </a:solidFill>
                <a:latin typeface="DejaVu Sans"/>
                <a:cs typeface="DejaVu Sans"/>
              </a:rPr>
              <a:t>View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cụ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thể.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70334" y="3096835"/>
            <a:ext cx="4962460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2dd4bf"/>
                </a:solidFill>
                <a:latin typeface="DejaVu Sans"/>
                <a:cs typeface="DejaVu Sans"/>
              </a:rPr>
              <a:t>●</a:t>
            </a:r>
            <a:r>
              <a:rPr dirty="0" sz="1500" spc="306">
                <a:solidFill>
                  <a:srgbClr val="2dd4bf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Thể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hiện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cá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tính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thương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hiệu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qua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chuyển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động.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607967" y="3384094"/>
            <a:ext cx="1538049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8">
                <a:solidFill>
                  <a:srgbClr val="e5e7eb"/>
                </a:solidFill>
                <a:latin typeface="DejaVu Sans"/>
                <a:cs typeface="DejaVu Sans"/>
              </a:rPr>
              <a:t>Android</a:t>
            </a:r>
            <a:r>
              <a:rPr dirty="0" sz="12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e5e7eb"/>
                </a:solidFill>
                <a:latin typeface="DejaVu Sans"/>
                <a:cs typeface="DejaVu Sans"/>
              </a:rPr>
              <a:t>Animation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8334969" y="3384094"/>
            <a:ext cx="1242494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2">
                <a:solidFill>
                  <a:srgbClr val="e5e7eb"/>
                </a:solidFill>
                <a:latin typeface="DejaVu Sans"/>
                <a:cs typeface="DejaVu Sans"/>
              </a:rPr>
              <a:t>AnimationUtils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9765803" y="3384094"/>
            <a:ext cx="1276440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8">
                <a:solidFill>
                  <a:srgbClr val="e5e7eb"/>
                </a:solidFill>
                <a:latin typeface="DejaVu Sans"/>
                <a:cs typeface="DejaVu Sans"/>
              </a:rPr>
              <a:t>XML</a:t>
            </a:r>
            <a:r>
              <a:rPr dirty="0" sz="12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200" spc="-23">
                <a:solidFill>
                  <a:srgbClr val="e5e7eb"/>
                </a:solidFill>
                <a:latin typeface="DejaVu Sans"/>
                <a:cs typeface="DejaVu Sans"/>
              </a:rPr>
              <a:t>Resources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988967" y="4477206"/>
            <a:ext cx="3089300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 b="1">
                <a:solidFill>
                  <a:srgbClr val="e0e0e0"/>
                </a:solidFill>
                <a:latin typeface="DejaVu Sans"/>
                <a:cs typeface="DejaVu Sans"/>
              </a:rPr>
              <a:t>Các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e0e0e0"/>
                </a:solidFill>
                <a:latin typeface="DejaVu Sans"/>
                <a:cs typeface="DejaVu Sans"/>
              </a:rPr>
              <a:t>Loại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e0e0e0"/>
                </a:solidFill>
                <a:latin typeface="DejaVu Sans"/>
                <a:cs typeface="DejaVu Sans"/>
              </a:rPr>
              <a:t>Hoạt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 b="1">
                <a:solidFill>
                  <a:srgbClr val="e0e0e0"/>
                </a:solidFill>
                <a:latin typeface="DejaVu Sans"/>
                <a:cs typeface="DejaVu Sans"/>
              </a:rPr>
              <a:t>Hình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e0e0e0"/>
                </a:solidFill>
                <a:latin typeface="DejaVu Sans"/>
                <a:cs typeface="DejaVu Sans"/>
              </a:rPr>
              <a:t>Khác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479976" y="5012115"/>
            <a:ext cx="2439442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5eead4"/>
                </a:solidFill>
                <a:latin typeface="DejaVu Sans"/>
                <a:cs typeface="DejaVu Sans"/>
              </a:rPr>
              <a:t>MotionLayout:</a:t>
            </a:r>
            <a:r>
              <a:rPr dirty="0" sz="1350" spc="-37" b="1">
                <a:solidFill>
                  <a:srgbClr val="5eead4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Kiểm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soát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479976" y="5269290"/>
            <a:ext cx="2749522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chuyển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động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widget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phức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tạp.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479976" y="5602665"/>
            <a:ext cx="2581048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5eead4"/>
                </a:solidFill>
                <a:latin typeface="DejaVu Sans"/>
                <a:cs typeface="DejaVu Sans"/>
              </a:rPr>
              <a:t>Material</a:t>
            </a:r>
            <a:r>
              <a:rPr dirty="0" sz="1350" b="1">
                <a:solidFill>
                  <a:srgbClr val="5eead4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5eead4"/>
                </a:solidFill>
                <a:latin typeface="DejaVu Sans"/>
                <a:cs typeface="DejaVu Sans"/>
              </a:rPr>
              <a:t>Motion:</a:t>
            </a:r>
            <a:r>
              <a:rPr dirty="0" sz="1350" spc="-40" b="1">
                <a:solidFill>
                  <a:srgbClr val="5eead4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Hệ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thống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898326" y="5851069"/>
            <a:ext cx="1648893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2">
                <a:solidFill>
                  <a:srgbClr val="e5e7eb"/>
                </a:solidFill>
                <a:latin typeface="DejaVu Sans"/>
                <a:cs typeface="DejaVu Sans"/>
              </a:rPr>
              <a:t>UI/UX</a:t>
            </a:r>
            <a:r>
              <a:rPr dirty="0" sz="1200" spc="-11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5e7eb"/>
                </a:solidFill>
                <a:latin typeface="DejaVu Sans"/>
                <a:cs typeface="DejaVu Sans"/>
              </a:rPr>
              <a:t>Enhancement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2736056" y="5851069"/>
            <a:ext cx="1246642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e5e7eb"/>
                </a:solidFill>
                <a:latin typeface="DejaVu Sans"/>
                <a:cs typeface="DejaVu Sans"/>
              </a:rPr>
              <a:t>User</a:t>
            </a:r>
            <a:r>
              <a:rPr dirty="0" sz="12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e5e7eb"/>
                </a:solidFill>
                <a:latin typeface="DejaVu Sans"/>
                <a:cs typeface="DejaVu Sans"/>
              </a:rPr>
              <a:t>Guidance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4171651" y="5851069"/>
            <a:ext cx="1216611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4">
                <a:solidFill>
                  <a:srgbClr val="e5e7eb"/>
                </a:solidFill>
                <a:latin typeface="DejaVu Sans"/>
                <a:cs typeface="DejaVu Sans"/>
              </a:rPr>
              <a:t>Brand</a:t>
            </a:r>
            <a:r>
              <a:rPr dirty="0" sz="12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e5e7eb"/>
                </a:solidFill>
                <a:latin typeface="DejaVu Sans"/>
                <a:cs typeface="DejaVu Sans"/>
              </a:rPr>
              <a:t>Identity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6479976" y="5859840"/>
            <a:ext cx="1981846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chuyển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đổi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nâng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 spc="-11">
                <a:solidFill>
                  <a:srgbClr val="d1d5db"/>
                </a:solidFill>
                <a:latin typeface="DejaVu Sans"/>
                <a:cs typeface="DejaVu Sans"/>
              </a:rPr>
              <a:t>cao.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198363" y="6801306"/>
            <a:ext cx="6125479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2">
                <a:solidFill>
                  <a:srgbClr val="e5e7eb"/>
                </a:solidFill>
                <a:latin typeface="DejaVu Sans"/>
                <a:cs typeface="DejaVu Sans"/>
              </a:rPr>
              <a:t>"Chuyển</a:t>
            </a:r>
            <a:r>
              <a:rPr dirty="0" sz="17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5e7eb"/>
                </a:solidFill>
                <a:latin typeface="DejaVu Sans"/>
                <a:cs typeface="DejaVu Sans"/>
              </a:rPr>
              <a:t>động</a:t>
            </a:r>
            <a:r>
              <a:rPr dirty="0" sz="17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e5e7eb"/>
                </a:solidFill>
                <a:latin typeface="DejaVu Sans"/>
                <a:cs typeface="DejaVu Sans"/>
              </a:rPr>
              <a:t>giúp</a:t>
            </a:r>
            <a:r>
              <a:rPr dirty="0" sz="17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700" spc="-15">
                <a:solidFill>
                  <a:srgbClr val="e5e7eb"/>
                </a:solidFill>
                <a:latin typeface="DejaVu Sans"/>
                <a:cs typeface="DejaVu Sans"/>
              </a:rPr>
              <a:t>UI</a:t>
            </a:r>
            <a:r>
              <a:rPr dirty="0" sz="17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700">
                <a:solidFill>
                  <a:srgbClr val="e5e7eb"/>
                </a:solidFill>
                <a:latin typeface="DejaVu Sans"/>
                <a:cs typeface="DejaVu Sans"/>
              </a:rPr>
              <a:t>trở</a:t>
            </a:r>
            <a:r>
              <a:rPr dirty="0" sz="1700" spc="-1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5e7eb"/>
                </a:solidFill>
                <a:latin typeface="DejaVu Sans"/>
                <a:cs typeface="DejaVu Sans"/>
              </a:rPr>
              <a:t>nên</a:t>
            </a:r>
            <a:r>
              <a:rPr dirty="0" sz="17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e5e7eb"/>
                </a:solidFill>
                <a:latin typeface="DejaVu Sans"/>
                <a:cs typeface="DejaVu Sans"/>
              </a:rPr>
              <a:t>biểu</a:t>
            </a:r>
            <a:r>
              <a:rPr dirty="0" sz="17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e5e7eb"/>
                </a:solidFill>
                <a:latin typeface="DejaVu Sans"/>
                <a:cs typeface="DejaVu Sans"/>
              </a:rPr>
              <a:t>cảm</a:t>
            </a:r>
            <a:r>
              <a:rPr dirty="0" sz="1700" spc="-15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e5e7eb"/>
                </a:solidFill>
                <a:latin typeface="DejaVu Sans"/>
                <a:cs typeface="DejaVu Sans"/>
              </a:rPr>
              <a:t>và</a:t>
            </a:r>
            <a:r>
              <a:rPr dirty="0" sz="17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5e7eb"/>
                </a:solidFill>
                <a:latin typeface="DejaVu Sans"/>
                <a:cs typeface="DejaVu Sans"/>
              </a:rPr>
              <a:t>dễ</a:t>
            </a:r>
            <a:r>
              <a:rPr dirty="0" sz="17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e5e7eb"/>
                </a:solidFill>
                <a:latin typeface="DejaVu Sans"/>
                <a:cs typeface="DejaVu Sans"/>
              </a:rPr>
              <a:t>sử</a:t>
            </a:r>
            <a:r>
              <a:rPr dirty="0" sz="17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e5e7eb"/>
                </a:solidFill>
                <a:latin typeface="DejaVu Sans"/>
                <a:cs typeface="DejaVu Sans"/>
              </a:rPr>
              <a:t>dụng."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1198363" y="7136944"/>
            <a:ext cx="2351398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—</a:t>
            </a:r>
            <a:r>
              <a:rPr dirty="0" sz="1200" spc="-31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9ca3af"/>
                </a:solidFill>
                <a:latin typeface="DejaVu Sans"/>
                <a:cs typeface="DejaVu Sans"/>
              </a:rPr>
              <a:t>Material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9ca3af"/>
                </a:solidFill>
                <a:latin typeface="DejaVu Sans"/>
                <a:cs typeface="DejaVu Sans"/>
              </a:rPr>
              <a:t>Design</a:t>
            </a:r>
            <a:r>
              <a:rPr dirty="0" sz="1200" spc="-1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9ca3af"/>
                </a:solidFill>
                <a:latin typeface="DejaVu Sans"/>
                <a:cs typeface="DejaVu Sans"/>
              </a:rPr>
              <a:t>Guidelines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8285856" y="7632998"/>
            <a:ext cx="3888003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Nguồn: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developer.android.com,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material.io,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moldstud.com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7885715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76249" y="356369"/>
            <a:ext cx="5472948" cy="4851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spc="18" b="1">
                <a:solidFill>
                  <a:srgbClr val="f3f4f6"/>
                </a:solidFill>
                <a:latin typeface="DejaVu Sans"/>
                <a:cs typeface="DejaVu Sans"/>
              </a:rPr>
              <a:t>Áp</a:t>
            </a:r>
            <a:r>
              <a:rPr dirty="0" sz="3000" b="1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dirty="0" sz="3000" spc="17" b="1">
                <a:solidFill>
                  <a:srgbClr val="f3f4f6"/>
                </a:solidFill>
                <a:latin typeface="DejaVu Sans"/>
                <a:cs typeface="DejaVu Sans"/>
              </a:rPr>
              <a:t>dụng</a:t>
            </a:r>
            <a:r>
              <a:rPr dirty="0" sz="3000" b="1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dirty="0" sz="3000" b="1">
                <a:solidFill>
                  <a:srgbClr val="2dd4bf"/>
                </a:solidFill>
                <a:latin typeface="DejaVu Sans"/>
                <a:cs typeface="DejaVu Sans"/>
              </a:rPr>
              <a:t>View</a:t>
            </a:r>
            <a:r>
              <a:rPr dirty="0" sz="3000" spc="34" b="1">
                <a:solidFill>
                  <a:srgbClr val="2dd4bf"/>
                </a:solidFill>
                <a:latin typeface="DejaVu Sans"/>
                <a:cs typeface="DejaVu Sans"/>
              </a:rPr>
              <a:t> </a:t>
            </a:r>
            <a:r>
              <a:rPr dirty="0" sz="3000" spc="15" b="1">
                <a:solidFill>
                  <a:srgbClr val="2dd4bf"/>
                </a:solidFill>
                <a:latin typeface="DejaVu Sans"/>
                <a:cs typeface="DejaVu Sans"/>
              </a:rPr>
              <a:t>Animation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79326" y="1380072"/>
            <a:ext cx="4546910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Tạo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-47" b="1">
                <a:solidFill>
                  <a:srgbClr val="e0e0e0"/>
                </a:solidFill>
                <a:latin typeface="DejaVu Sans"/>
                <a:cs typeface="DejaVu Sans"/>
              </a:rPr>
              <a:t>Trải</a:t>
            </a:r>
            <a:r>
              <a:rPr dirty="0" sz="2000" spc="58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Nghiệm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2" b="1">
                <a:solidFill>
                  <a:srgbClr val="e0e0e0"/>
                </a:solidFill>
                <a:latin typeface="DejaVu Sans"/>
                <a:cs typeface="DejaVu Sans"/>
              </a:rPr>
              <a:t>UI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Sống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1" b="1">
                <a:solidFill>
                  <a:srgbClr val="e0e0e0"/>
                </a:solidFill>
                <a:latin typeface="DejaVu Sans"/>
                <a:cs typeface="DejaVu Sans"/>
              </a:rPr>
              <a:t>Động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988967" y="1380072"/>
            <a:ext cx="2429544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Cú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Pháp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Cơ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Bản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70334" y="1944310"/>
            <a:ext cx="4907057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2dd4bf"/>
                </a:solidFill>
                <a:latin typeface="DejaVu Sans"/>
                <a:cs typeface="DejaVu Sans"/>
              </a:rPr>
              <a:t>●</a:t>
            </a:r>
            <a:r>
              <a:rPr dirty="0" sz="1500" spc="306">
                <a:solidFill>
                  <a:srgbClr val="2dd4bf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Hoạt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hình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làm</a:t>
            </a:r>
            <a:r>
              <a:rPr dirty="0" sz="1500" spc="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giao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diện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biểu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cảm,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dễ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sử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dụng.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650532" y="2113800"/>
            <a:ext cx="5782153" cy="23145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f97316"/>
                </a:solidFill>
                <a:latin typeface="Liberation Mono"/>
                <a:cs typeface="Liberation Mono"/>
              </a:rPr>
              <a:t>val</a:t>
            </a:r>
            <a:r>
              <a:rPr dirty="0" sz="1350" spc="469">
                <a:solidFill>
                  <a:srgbClr val="f97316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e5e7eb"/>
                </a:solidFill>
                <a:latin typeface="Liberation Mono"/>
                <a:cs typeface="Liberation Mono"/>
              </a:rPr>
              <a:t>anim</a:t>
            </a:r>
            <a:r>
              <a:rPr dirty="0" sz="1350">
                <a:solidFill>
                  <a:srgbClr val="e5e7eb"/>
                </a:solidFill>
                <a:latin typeface="Liberation Mono"/>
                <a:cs typeface="Liberation Mono"/>
              </a:rPr>
              <a:t> </a:t>
            </a:r>
            <a:r>
              <a:rPr dirty="0" sz="1350">
                <a:solidFill>
                  <a:srgbClr val="e5e7eb"/>
                </a:solidFill>
                <a:latin typeface="Liberation Mono"/>
                <a:cs typeface="Liberation Mono"/>
              </a:rPr>
              <a:t>=</a:t>
            </a:r>
            <a:r>
              <a:rPr dirty="0" sz="1350">
                <a:solidFill>
                  <a:srgbClr val="e5e7eb"/>
                </a:solidFill>
                <a:latin typeface="Liberation Mono"/>
                <a:cs typeface="Liberation Mono"/>
              </a:rPr>
              <a:t> </a:t>
            </a:r>
            <a:r>
              <a:rPr dirty="0" sz="1350">
                <a:solidFill>
                  <a:srgbClr val="38bdf8"/>
                </a:solidFill>
                <a:latin typeface="Liberation Mono"/>
                <a:cs typeface="Liberation Mono"/>
              </a:rPr>
              <a:t>AnimationUtils</a:t>
            </a:r>
            <a:r>
              <a:rPr dirty="0" sz="1350">
                <a:solidFill>
                  <a:srgbClr val="e5e7eb"/>
                </a:solidFill>
                <a:latin typeface="Liberation Mono"/>
                <a:cs typeface="Liberation Mono"/>
              </a:rPr>
              <a:t>.loadAnimation(</a:t>
            </a:r>
            <a:r>
              <a:rPr dirty="0" sz="1350">
                <a:solidFill>
                  <a:srgbClr val="f97316"/>
                </a:solidFill>
                <a:latin typeface="Liberation Mono"/>
                <a:cs typeface="Liberation Mono"/>
              </a:rPr>
              <a:t>this</a:t>
            </a:r>
            <a:r>
              <a:rPr dirty="0" sz="1350">
                <a:solidFill>
                  <a:srgbClr val="e5e7eb"/>
                </a:solidFill>
                <a:latin typeface="Liberation Mono"/>
                <a:cs typeface="Liberation Mono"/>
              </a:rPr>
              <a:t>,</a:t>
            </a:r>
            <a:r>
              <a:rPr dirty="0" sz="1350">
                <a:solidFill>
                  <a:srgbClr val="e5e7eb"/>
                </a:solidFill>
                <a:latin typeface="Liberation Mono"/>
                <a:cs typeface="Liberation Mono"/>
              </a:rPr>
              <a:t> </a:t>
            </a:r>
            <a:r>
              <a:rPr dirty="0" sz="1350">
                <a:solidFill>
                  <a:srgbClr val="38bdf8"/>
                </a:solidFill>
                <a:latin typeface="Liberation Mono"/>
                <a:cs typeface="Liberation Mono"/>
              </a:rPr>
              <a:t>R</a:t>
            </a:r>
            <a:r>
              <a:rPr dirty="0" sz="1350">
                <a:solidFill>
                  <a:srgbClr val="e5e7eb"/>
                </a:solidFill>
                <a:latin typeface="Liberation Mono"/>
                <a:cs typeface="Liberation Mono"/>
              </a:rPr>
              <a:t>.anim.fa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70334" y="2372935"/>
            <a:ext cx="4679351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2dd4bf"/>
                </a:solidFill>
                <a:latin typeface="DejaVu Sans"/>
                <a:cs typeface="DejaVu Sans"/>
              </a:rPr>
              <a:t>●</a:t>
            </a:r>
            <a:r>
              <a:rPr dirty="0" sz="1500" spc="306">
                <a:solidFill>
                  <a:srgbClr val="2dd4bf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Định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hướng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người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dùng,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làm</a:t>
            </a:r>
            <a:r>
              <a:rPr dirty="0" sz="1500" spc="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nổi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bật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mối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650532" y="2370975"/>
            <a:ext cx="3225282" cy="23145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8bdf8"/>
                </a:solidFill>
                <a:latin typeface="Liberation Mono"/>
                <a:cs typeface="Liberation Mono"/>
              </a:rPr>
              <a:t>imageView</a:t>
            </a:r>
            <a:r>
              <a:rPr dirty="0" sz="1350">
                <a:solidFill>
                  <a:srgbClr val="e5e7eb"/>
                </a:solidFill>
                <a:latin typeface="Liberation Mono"/>
                <a:cs typeface="Liberation Mono"/>
              </a:rPr>
              <a:t>.startAnimation(anim)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70334" y="2668210"/>
            <a:ext cx="997141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quan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hệ.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479976" y="2916615"/>
            <a:ext cx="4517135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Tải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và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bắt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đầu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hiệu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ứng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động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cho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một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 spc="-14">
                <a:solidFill>
                  <a:srgbClr val="9ca3af"/>
                </a:solidFill>
                <a:latin typeface="DejaVu Sans"/>
                <a:cs typeface="DejaVu Sans"/>
              </a:rPr>
              <a:t>View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cụ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thể.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70334" y="3096835"/>
            <a:ext cx="4962460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2dd4bf"/>
                </a:solidFill>
                <a:latin typeface="DejaVu Sans"/>
                <a:cs typeface="DejaVu Sans"/>
              </a:rPr>
              <a:t>●</a:t>
            </a:r>
            <a:r>
              <a:rPr dirty="0" sz="1500" spc="306">
                <a:solidFill>
                  <a:srgbClr val="2dd4bf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Thể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hiện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cá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tính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thương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hiệu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qua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chuyển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động.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607967" y="3384094"/>
            <a:ext cx="1538049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8">
                <a:solidFill>
                  <a:srgbClr val="e5e7eb"/>
                </a:solidFill>
                <a:latin typeface="DejaVu Sans"/>
                <a:cs typeface="DejaVu Sans"/>
              </a:rPr>
              <a:t>Android</a:t>
            </a:r>
            <a:r>
              <a:rPr dirty="0" sz="12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e5e7eb"/>
                </a:solidFill>
                <a:latin typeface="DejaVu Sans"/>
                <a:cs typeface="DejaVu Sans"/>
              </a:rPr>
              <a:t>Animation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8334969" y="3384094"/>
            <a:ext cx="1242494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2">
                <a:solidFill>
                  <a:srgbClr val="e5e7eb"/>
                </a:solidFill>
                <a:latin typeface="DejaVu Sans"/>
                <a:cs typeface="DejaVu Sans"/>
              </a:rPr>
              <a:t>AnimationUtils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9765803" y="3384094"/>
            <a:ext cx="1276440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8">
                <a:solidFill>
                  <a:srgbClr val="e5e7eb"/>
                </a:solidFill>
                <a:latin typeface="DejaVu Sans"/>
                <a:cs typeface="DejaVu Sans"/>
              </a:rPr>
              <a:t>XML</a:t>
            </a:r>
            <a:r>
              <a:rPr dirty="0" sz="12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200" spc="-23">
                <a:solidFill>
                  <a:srgbClr val="e5e7eb"/>
                </a:solidFill>
                <a:latin typeface="DejaVu Sans"/>
                <a:cs typeface="DejaVu Sans"/>
              </a:rPr>
              <a:t>Resources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988967" y="4477206"/>
            <a:ext cx="3089300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 b="1">
                <a:solidFill>
                  <a:srgbClr val="e0e0e0"/>
                </a:solidFill>
                <a:latin typeface="DejaVu Sans"/>
                <a:cs typeface="DejaVu Sans"/>
              </a:rPr>
              <a:t>Các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e0e0e0"/>
                </a:solidFill>
                <a:latin typeface="DejaVu Sans"/>
                <a:cs typeface="DejaVu Sans"/>
              </a:rPr>
              <a:t>Loại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e0e0e0"/>
                </a:solidFill>
                <a:latin typeface="DejaVu Sans"/>
                <a:cs typeface="DejaVu Sans"/>
              </a:rPr>
              <a:t>Hoạt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 b="1">
                <a:solidFill>
                  <a:srgbClr val="e0e0e0"/>
                </a:solidFill>
                <a:latin typeface="DejaVu Sans"/>
                <a:cs typeface="DejaVu Sans"/>
              </a:rPr>
              <a:t>Hình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e0e0e0"/>
                </a:solidFill>
                <a:latin typeface="DejaVu Sans"/>
                <a:cs typeface="DejaVu Sans"/>
              </a:rPr>
              <a:t>Khác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479976" y="5012115"/>
            <a:ext cx="2439442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5eead4"/>
                </a:solidFill>
                <a:latin typeface="DejaVu Sans"/>
                <a:cs typeface="DejaVu Sans"/>
              </a:rPr>
              <a:t>MotionLayout:</a:t>
            </a:r>
            <a:r>
              <a:rPr dirty="0" sz="1350" spc="-37" b="1">
                <a:solidFill>
                  <a:srgbClr val="5eead4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Kiểm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soát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479976" y="5269290"/>
            <a:ext cx="2749522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chuyển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động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widget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phức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tạp.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479976" y="5602665"/>
            <a:ext cx="2581048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5eead4"/>
                </a:solidFill>
                <a:latin typeface="DejaVu Sans"/>
                <a:cs typeface="DejaVu Sans"/>
              </a:rPr>
              <a:t>Material</a:t>
            </a:r>
            <a:r>
              <a:rPr dirty="0" sz="1350" b="1">
                <a:solidFill>
                  <a:srgbClr val="5eead4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5eead4"/>
                </a:solidFill>
                <a:latin typeface="DejaVu Sans"/>
                <a:cs typeface="DejaVu Sans"/>
              </a:rPr>
              <a:t>Motion:</a:t>
            </a:r>
            <a:r>
              <a:rPr dirty="0" sz="1350" spc="-40" b="1">
                <a:solidFill>
                  <a:srgbClr val="5eead4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Hệ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thống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898326" y="5851069"/>
            <a:ext cx="1648893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2">
                <a:solidFill>
                  <a:srgbClr val="e5e7eb"/>
                </a:solidFill>
                <a:latin typeface="DejaVu Sans"/>
                <a:cs typeface="DejaVu Sans"/>
              </a:rPr>
              <a:t>UI/UX</a:t>
            </a:r>
            <a:r>
              <a:rPr dirty="0" sz="1200" spc="-11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5e7eb"/>
                </a:solidFill>
                <a:latin typeface="DejaVu Sans"/>
                <a:cs typeface="DejaVu Sans"/>
              </a:rPr>
              <a:t>Enhancement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2736056" y="5851069"/>
            <a:ext cx="1246642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e5e7eb"/>
                </a:solidFill>
                <a:latin typeface="DejaVu Sans"/>
                <a:cs typeface="DejaVu Sans"/>
              </a:rPr>
              <a:t>User</a:t>
            </a:r>
            <a:r>
              <a:rPr dirty="0" sz="12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e5e7eb"/>
                </a:solidFill>
                <a:latin typeface="DejaVu Sans"/>
                <a:cs typeface="DejaVu Sans"/>
              </a:rPr>
              <a:t>Guidance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4171651" y="5851069"/>
            <a:ext cx="1216611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4">
                <a:solidFill>
                  <a:srgbClr val="e5e7eb"/>
                </a:solidFill>
                <a:latin typeface="DejaVu Sans"/>
                <a:cs typeface="DejaVu Sans"/>
              </a:rPr>
              <a:t>Brand</a:t>
            </a:r>
            <a:r>
              <a:rPr dirty="0" sz="12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e5e7eb"/>
                </a:solidFill>
                <a:latin typeface="DejaVu Sans"/>
                <a:cs typeface="DejaVu Sans"/>
              </a:rPr>
              <a:t>Identity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6479976" y="5859840"/>
            <a:ext cx="1981846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chuyển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đổi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nâng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 spc="-11">
                <a:solidFill>
                  <a:srgbClr val="d1d5db"/>
                </a:solidFill>
                <a:latin typeface="DejaVu Sans"/>
                <a:cs typeface="DejaVu Sans"/>
              </a:rPr>
              <a:t>cao.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198363" y="6801306"/>
            <a:ext cx="6125479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2">
                <a:solidFill>
                  <a:srgbClr val="e5e7eb"/>
                </a:solidFill>
                <a:latin typeface="DejaVu Sans"/>
                <a:cs typeface="DejaVu Sans"/>
              </a:rPr>
              <a:t>"Chuyển</a:t>
            </a:r>
            <a:r>
              <a:rPr dirty="0" sz="17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5e7eb"/>
                </a:solidFill>
                <a:latin typeface="DejaVu Sans"/>
                <a:cs typeface="DejaVu Sans"/>
              </a:rPr>
              <a:t>động</a:t>
            </a:r>
            <a:r>
              <a:rPr dirty="0" sz="17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e5e7eb"/>
                </a:solidFill>
                <a:latin typeface="DejaVu Sans"/>
                <a:cs typeface="DejaVu Sans"/>
              </a:rPr>
              <a:t>giúp</a:t>
            </a:r>
            <a:r>
              <a:rPr dirty="0" sz="17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700" spc="-15">
                <a:solidFill>
                  <a:srgbClr val="e5e7eb"/>
                </a:solidFill>
                <a:latin typeface="DejaVu Sans"/>
                <a:cs typeface="DejaVu Sans"/>
              </a:rPr>
              <a:t>UI</a:t>
            </a:r>
            <a:r>
              <a:rPr dirty="0" sz="17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700">
                <a:solidFill>
                  <a:srgbClr val="e5e7eb"/>
                </a:solidFill>
                <a:latin typeface="DejaVu Sans"/>
                <a:cs typeface="DejaVu Sans"/>
              </a:rPr>
              <a:t>trở</a:t>
            </a:r>
            <a:r>
              <a:rPr dirty="0" sz="1700" spc="-1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5e7eb"/>
                </a:solidFill>
                <a:latin typeface="DejaVu Sans"/>
                <a:cs typeface="DejaVu Sans"/>
              </a:rPr>
              <a:t>nên</a:t>
            </a:r>
            <a:r>
              <a:rPr dirty="0" sz="17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e5e7eb"/>
                </a:solidFill>
                <a:latin typeface="DejaVu Sans"/>
                <a:cs typeface="DejaVu Sans"/>
              </a:rPr>
              <a:t>biểu</a:t>
            </a:r>
            <a:r>
              <a:rPr dirty="0" sz="17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e5e7eb"/>
                </a:solidFill>
                <a:latin typeface="DejaVu Sans"/>
                <a:cs typeface="DejaVu Sans"/>
              </a:rPr>
              <a:t>cảm</a:t>
            </a:r>
            <a:r>
              <a:rPr dirty="0" sz="1700" spc="-15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e5e7eb"/>
                </a:solidFill>
                <a:latin typeface="DejaVu Sans"/>
                <a:cs typeface="DejaVu Sans"/>
              </a:rPr>
              <a:t>và</a:t>
            </a:r>
            <a:r>
              <a:rPr dirty="0" sz="17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5e7eb"/>
                </a:solidFill>
                <a:latin typeface="DejaVu Sans"/>
                <a:cs typeface="DejaVu Sans"/>
              </a:rPr>
              <a:t>dễ</a:t>
            </a:r>
            <a:r>
              <a:rPr dirty="0" sz="17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e5e7eb"/>
                </a:solidFill>
                <a:latin typeface="DejaVu Sans"/>
                <a:cs typeface="DejaVu Sans"/>
              </a:rPr>
              <a:t>sử</a:t>
            </a:r>
            <a:r>
              <a:rPr dirty="0" sz="17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e5e7eb"/>
                </a:solidFill>
                <a:latin typeface="DejaVu Sans"/>
                <a:cs typeface="DejaVu Sans"/>
              </a:rPr>
              <a:t>dụng."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1198363" y="7136944"/>
            <a:ext cx="2351398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—</a:t>
            </a:r>
            <a:r>
              <a:rPr dirty="0" sz="1200" spc="-31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9ca3af"/>
                </a:solidFill>
                <a:latin typeface="DejaVu Sans"/>
                <a:cs typeface="DejaVu Sans"/>
              </a:rPr>
              <a:t>Material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9ca3af"/>
                </a:solidFill>
                <a:latin typeface="DejaVu Sans"/>
                <a:cs typeface="DejaVu Sans"/>
              </a:rPr>
              <a:t>Design</a:t>
            </a:r>
            <a:r>
              <a:rPr dirty="0" sz="1200" spc="-1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9ca3af"/>
                </a:solidFill>
                <a:latin typeface="DejaVu Sans"/>
                <a:cs typeface="DejaVu Sans"/>
              </a:rPr>
              <a:t>Guidelines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8285856" y="7632998"/>
            <a:ext cx="3888003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Nguồn: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developer.android.com,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material.io,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moldstud.com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84455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065906" y="333807"/>
            <a:ext cx="8220785" cy="114852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1" b="1">
                <a:solidFill>
                  <a:srgbClr val="e5e7eb"/>
                </a:solidFill>
                <a:latin typeface="DejaVu Sans"/>
                <a:cs typeface="DejaVu Sans"/>
              </a:rPr>
              <a:t>Drawable</a:t>
            </a:r>
            <a:r>
              <a:rPr dirty="0" sz="4050" b="1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4050" spc="-11" b="1">
                <a:solidFill>
                  <a:srgbClr val="e5e7eb"/>
                </a:solidFill>
                <a:latin typeface="DejaVu Sans"/>
                <a:cs typeface="DejaVu Sans"/>
              </a:rPr>
              <a:t>Animation</a:t>
            </a:r>
            <a:r>
              <a:rPr dirty="0" sz="4050" b="1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4050" spc="-52" b="1">
                <a:solidFill>
                  <a:srgbClr val="00bcd4"/>
                </a:solidFill>
                <a:latin typeface="DejaVu Sans"/>
                <a:cs typeface="DejaVu Sans"/>
              </a:rPr>
              <a:t>(Frame</a:t>
            </a:r>
          </a:p>
          <a:p>
            <a:pPr marL="0" marR="0">
              <a:lnSpc>
                <a:spcPts val="4050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1" b="1">
                <a:solidFill>
                  <a:srgbClr val="00bcd4"/>
                </a:solidFill>
                <a:latin typeface="DejaVu Sans"/>
                <a:cs typeface="DejaVu Sans"/>
              </a:rPr>
              <a:t>Animation)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84076" y="1981162"/>
            <a:ext cx="2637031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f3f4f6"/>
                </a:solidFill>
                <a:latin typeface="DejaVu Sans"/>
                <a:cs typeface="DejaVu Sans"/>
              </a:rPr>
              <a:t>Khái</a:t>
            </a:r>
            <a:r>
              <a:rPr dirty="0" sz="2000" b="1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f3f4f6"/>
                </a:solidFill>
                <a:latin typeface="DejaVu Sans"/>
                <a:cs typeface="DejaVu Sans"/>
              </a:rPr>
              <a:t>niệm</a:t>
            </a:r>
            <a:r>
              <a:rPr dirty="0" sz="2000" spc="12" b="1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f3f4f6"/>
                </a:solidFill>
                <a:latin typeface="DejaVu Sans"/>
                <a:cs typeface="DejaVu Sans"/>
              </a:rPr>
              <a:t>cơ</a:t>
            </a:r>
            <a:r>
              <a:rPr dirty="0" sz="2000" b="1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f3f4f6"/>
                </a:solidFill>
                <a:latin typeface="DejaVu Sans"/>
                <a:cs typeface="DejaVu Sans"/>
              </a:rPr>
              <a:t>bản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031532" y="1981162"/>
            <a:ext cx="3299862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f3f4f6"/>
                </a:solidFill>
                <a:latin typeface="DejaVu Sans"/>
                <a:cs typeface="DejaVu Sans"/>
              </a:rPr>
              <a:t>Định</a:t>
            </a:r>
            <a:r>
              <a:rPr dirty="0" sz="2000" b="1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f3f4f6"/>
                </a:solidFill>
                <a:latin typeface="DejaVu Sans"/>
                <a:cs typeface="DejaVu Sans"/>
              </a:rPr>
              <a:t>nghĩa</a:t>
            </a:r>
            <a:r>
              <a:rPr dirty="0" sz="2000" b="1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f3f4f6"/>
                </a:solidFill>
                <a:latin typeface="DejaVu Sans"/>
                <a:cs typeface="DejaVu Sans"/>
              </a:rPr>
              <a:t>trong</a:t>
            </a:r>
            <a:r>
              <a:rPr dirty="0" sz="2000" b="1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dirty="0" sz="2000" spc="14" b="1">
                <a:solidFill>
                  <a:srgbClr val="f3f4f6"/>
                </a:solidFill>
                <a:latin typeface="DejaVu Sans"/>
                <a:cs typeface="DejaVu Sans"/>
              </a:rPr>
              <a:t>XML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45641" y="2619337"/>
            <a:ext cx="303418" cy="97431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fb923c"/>
                </a:solidFill>
                <a:latin typeface="DejaVu Sans"/>
                <a:cs typeface="DejaVu Sans"/>
              </a:rPr>
              <a:t>•</a:t>
            </a:r>
          </a:p>
          <a:p>
            <a:pPr marL="0" marR="0">
              <a:lnSpc>
                <a:spcPts val="2346"/>
              </a:lnSpc>
              <a:spcBef>
                <a:spcPts val="2728"/>
              </a:spcBef>
              <a:spcAft>
                <a:spcPts val="0"/>
              </a:spcAft>
            </a:pPr>
            <a:r>
              <a:rPr dirty="0" sz="2000">
                <a:solidFill>
                  <a:srgbClr val="fb923c"/>
                </a:solidFill>
                <a:latin typeface="DejaVu Sans"/>
                <a:cs typeface="DejaVu Sans"/>
              </a:rPr>
              <a:t>•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24694" y="2650176"/>
            <a:ext cx="3652740" cy="8998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Chuỗi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hình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ảnh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hiển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thị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theo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trình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tự</a:t>
            </a:r>
          </a:p>
          <a:p>
            <a:pPr marL="0" marR="0">
              <a:lnSpc>
                <a:spcPts val="1760"/>
              </a:lnSpc>
              <a:spcBef>
                <a:spcPts val="3214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Tạo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cảm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giác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chuyển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động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liên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tục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409853" y="2913628"/>
            <a:ext cx="4362718" cy="42636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074836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c9d1d9"/>
                </a:solidFill>
                <a:latin typeface="Liberation Mono"/>
                <a:cs typeface="Liberation Mono"/>
              </a:rPr>
              <a:t>&lt;</a:t>
            </a:r>
            <a:r>
              <a:rPr dirty="0" sz="1200" spc="-15">
                <a:solidFill>
                  <a:srgbClr val="7ee787"/>
                </a:solidFill>
                <a:latin typeface="Liberation Mono"/>
                <a:cs typeface="Liberation Mono"/>
              </a:rPr>
              <a:t>animation-list</a:t>
            </a:r>
            <a:r>
              <a:rPr dirty="0" sz="1200" spc="405">
                <a:solidFill>
                  <a:srgbClr val="7ee787"/>
                </a:solidFill>
                <a:latin typeface="Times New Roman"/>
                <a:cs typeface="Times New Roman"/>
              </a:rPr>
              <a:t> </a:t>
            </a:r>
            <a:r>
              <a:rPr dirty="0" sz="1200" spc="-15">
                <a:solidFill>
                  <a:srgbClr val="79c0ff"/>
                </a:solidFill>
                <a:latin typeface="Liberation Mono"/>
                <a:cs typeface="Liberation Mono"/>
              </a:rPr>
              <a:t>xmlns:android=</a:t>
            </a:r>
            <a:r>
              <a:rPr dirty="0" sz="1200" spc="-15">
                <a:solidFill>
                  <a:srgbClr val="a5d6ff"/>
                </a:solidFill>
                <a:latin typeface="Liberation Mono"/>
                <a:cs typeface="Liberation Mono"/>
              </a:rPr>
              <a:t>"..."</a:t>
            </a:r>
          </a:p>
          <a:p>
            <a:pPr marL="0" marR="0">
              <a:lnSpc>
                <a:spcPts val="1332"/>
              </a:lnSpc>
              <a:spcBef>
                <a:spcPts val="442"/>
              </a:spcBef>
              <a:spcAft>
                <a:spcPts val="0"/>
              </a:spcAft>
            </a:pPr>
            <a:r>
              <a:rPr dirty="0" sz="1200" spc="-15">
                <a:solidFill>
                  <a:srgbClr val="79c0ff"/>
                </a:solidFill>
                <a:latin typeface="Liberation Mono"/>
                <a:cs typeface="Liberation Mono"/>
              </a:rPr>
              <a:t>android:oneshot=</a:t>
            </a:r>
            <a:r>
              <a:rPr dirty="0" sz="1200" spc="-15">
                <a:solidFill>
                  <a:srgbClr val="a5d6ff"/>
                </a:solidFill>
                <a:latin typeface="Liberation Mono"/>
                <a:cs typeface="Liberation Mono"/>
              </a:rPr>
              <a:t>"false"</a:t>
            </a:r>
            <a:r>
              <a:rPr dirty="0" sz="1200">
                <a:solidFill>
                  <a:srgbClr val="c9d1d9"/>
                </a:solidFill>
                <a:latin typeface="Liberation Mono"/>
                <a:cs typeface="Liberation Mono"/>
              </a:rPr>
              <a:t>&gt;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051475" y="3342253"/>
            <a:ext cx="3825400" cy="42636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c9d1d9"/>
                </a:solidFill>
                <a:latin typeface="Liberation Mono"/>
                <a:cs typeface="Liberation Mono"/>
              </a:rPr>
              <a:t>&lt;</a:t>
            </a:r>
            <a:r>
              <a:rPr dirty="0" sz="1200" spc="-15">
                <a:solidFill>
                  <a:srgbClr val="7ee787"/>
                </a:solidFill>
                <a:latin typeface="Liberation Mono"/>
                <a:cs typeface="Liberation Mono"/>
              </a:rPr>
              <a:t>item</a:t>
            </a:r>
            <a:r>
              <a:rPr dirty="0" sz="1200" spc="405">
                <a:solidFill>
                  <a:srgbClr val="7ee787"/>
                </a:solidFill>
                <a:latin typeface="Times New Roman"/>
                <a:cs typeface="Times New Roman"/>
              </a:rPr>
              <a:t> </a:t>
            </a:r>
            <a:r>
              <a:rPr dirty="0" sz="1200" spc="-15">
                <a:solidFill>
                  <a:srgbClr val="79c0ff"/>
                </a:solidFill>
                <a:latin typeface="Liberation Mono"/>
                <a:cs typeface="Liberation Mono"/>
              </a:rPr>
              <a:t>android:drawable=</a:t>
            </a:r>
            <a:r>
              <a:rPr dirty="0" sz="1200" spc="-15">
                <a:solidFill>
                  <a:srgbClr val="a5d6ff"/>
                </a:solidFill>
                <a:latin typeface="Liberation Mono"/>
                <a:cs typeface="Liberation Mono"/>
              </a:rPr>
              <a:t>"@drawable/frame1"</a:t>
            </a:r>
          </a:p>
          <a:p>
            <a:pPr marL="537418" marR="0">
              <a:lnSpc>
                <a:spcPts val="1332"/>
              </a:lnSpc>
              <a:spcBef>
                <a:spcPts val="442"/>
              </a:spcBef>
              <a:spcAft>
                <a:spcPts val="0"/>
              </a:spcAft>
            </a:pPr>
            <a:r>
              <a:rPr dirty="0" sz="1200" spc="-15">
                <a:solidFill>
                  <a:srgbClr val="79c0ff"/>
                </a:solidFill>
                <a:latin typeface="Liberation Mono"/>
                <a:cs typeface="Liberation Mono"/>
              </a:rPr>
              <a:t>android:duration=</a:t>
            </a:r>
            <a:r>
              <a:rPr dirty="0" sz="1200" spc="-15">
                <a:solidFill>
                  <a:srgbClr val="a5d6ff"/>
                </a:solidFill>
                <a:latin typeface="Liberation Mono"/>
                <a:cs typeface="Liberation Mono"/>
              </a:rPr>
              <a:t>"200"</a:t>
            </a:r>
            <a:r>
              <a:rPr dirty="0" sz="1200" spc="405">
                <a:solidFill>
                  <a:srgbClr val="a5d6ff"/>
                </a:solidFill>
                <a:latin typeface="Times New Roman"/>
                <a:cs typeface="Times New Roman"/>
              </a:rPr>
              <a:t> </a:t>
            </a:r>
            <a:r>
              <a:rPr dirty="0" sz="1200" spc="-15">
                <a:solidFill>
                  <a:srgbClr val="c9d1d9"/>
                </a:solidFill>
                <a:latin typeface="Liberation Mono"/>
                <a:cs typeface="Liberation Mono"/>
              </a:rPr>
              <a:t>/&gt;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051475" y="3770878"/>
            <a:ext cx="3825400" cy="4168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c9d1d9"/>
                </a:solidFill>
                <a:latin typeface="Liberation Mono"/>
                <a:cs typeface="Liberation Mono"/>
              </a:rPr>
              <a:t>&lt;</a:t>
            </a:r>
            <a:r>
              <a:rPr dirty="0" sz="1200" spc="-15">
                <a:solidFill>
                  <a:srgbClr val="7ee787"/>
                </a:solidFill>
                <a:latin typeface="Liberation Mono"/>
                <a:cs typeface="Liberation Mono"/>
              </a:rPr>
              <a:t>item</a:t>
            </a:r>
            <a:r>
              <a:rPr dirty="0" sz="1200" spc="405">
                <a:solidFill>
                  <a:srgbClr val="7ee787"/>
                </a:solidFill>
                <a:latin typeface="Times New Roman"/>
                <a:cs typeface="Times New Roman"/>
              </a:rPr>
              <a:t> </a:t>
            </a:r>
            <a:r>
              <a:rPr dirty="0" sz="1200" spc="-15">
                <a:solidFill>
                  <a:srgbClr val="79c0ff"/>
                </a:solidFill>
                <a:latin typeface="Liberation Mono"/>
                <a:cs typeface="Liberation Mono"/>
              </a:rPr>
              <a:t>android:drawable=</a:t>
            </a:r>
            <a:r>
              <a:rPr dirty="0" sz="1200" spc="-15">
                <a:solidFill>
                  <a:srgbClr val="a5d6ff"/>
                </a:solidFill>
                <a:latin typeface="Liberation Mono"/>
                <a:cs typeface="Liberation Mono"/>
              </a:rPr>
              <a:t>"@drawable/frame2"</a:t>
            </a:r>
          </a:p>
          <a:p>
            <a:pPr marL="537418" marR="0">
              <a:lnSpc>
                <a:spcPts val="1332"/>
              </a:lnSpc>
              <a:spcBef>
                <a:spcPts val="367"/>
              </a:spcBef>
              <a:spcAft>
                <a:spcPts val="0"/>
              </a:spcAft>
            </a:pPr>
            <a:r>
              <a:rPr dirty="0" sz="1200" spc="-15">
                <a:solidFill>
                  <a:srgbClr val="79c0ff"/>
                </a:solidFill>
                <a:latin typeface="Liberation Mono"/>
                <a:cs typeface="Liberation Mono"/>
              </a:rPr>
              <a:t>android:duration=</a:t>
            </a:r>
            <a:r>
              <a:rPr dirty="0" sz="1200" spc="-15">
                <a:solidFill>
                  <a:srgbClr val="a5d6ff"/>
                </a:solidFill>
                <a:latin typeface="Liberation Mono"/>
                <a:cs typeface="Liberation Mono"/>
              </a:rPr>
              <a:t>"200"</a:t>
            </a:r>
            <a:r>
              <a:rPr dirty="0" sz="1200" spc="405">
                <a:solidFill>
                  <a:srgbClr val="a5d6ff"/>
                </a:solidFill>
                <a:latin typeface="Times New Roman"/>
                <a:cs typeface="Times New Roman"/>
              </a:rPr>
              <a:t> </a:t>
            </a:r>
            <a:r>
              <a:rPr dirty="0" sz="1200" spc="-15">
                <a:solidFill>
                  <a:srgbClr val="c9d1d9"/>
                </a:solidFill>
                <a:latin typeface="Liberation Mono"/>
                <a:cs typeface="Liberation Mono"/>
              </a:rPr>
              <a:t>/&gt;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693097" y="4199503"/>
            <a:ext cx="1676038" cy="20728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c9d1d9"/>
                </a:solidFill>
                <a:latin typeface="Liberation Mono"/>
                <a:cs typeface="Liberation Mono"/>
              </a:rPr>
              <a:t>&lt;/</a:t>
            </a:r>
            <a:r>
              <a:rPr dirty="0" sz="1200" spc="-15">
                <a:solidFill>
                  <a:srgbClr val="7ee787"/>
                </a:solidFill>
                <a:latin typeface="Liberation Mono"/>
                <a:cs typeface="Liberation Mono"/>
              </a:rPr>
              <a:t>animation-list</a:t>
            </a:r>
            <a:r>
              <a:rPr dirty="0" sz="1200">
                <a:solidFill>
                  <a:srgbClr val="c9d1d9"/>
                </a:solidFill>
                <a:latin typeface="Liberation Mono"/>
                <a:cs typeface="Liberation Mono"/>
              </a:rPr>
              <a:t>&gt;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607819" y="4947965"/>
            <a:ext cx="1957051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animation-list: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Container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8668344" y="4947965"/>
            <a:ext cx="1703075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item: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Mỗi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Khung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hình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607819" y="5290865"/>
            <a:ext cx="2199665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android:oneshot: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Chế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độ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lặp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910934" y="5290865"/>
            <a:ext cx="2231789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android:duration: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Thời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lượng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014989" y="6478471"/>
            <a:ext cx="2245491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 b="1">
                <a:solidFill>
                  <a:srgbClr val="e0e0e0"/>
                </a:solidFill>
                <a:latin typeface="DejaVu Sans"/>
                <a:cs typeface="DejaVu Sans"/>
              </a:rPr>
              <a:t>Ứng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e0e0e0"/>
                </a:solidFill>
                <a:latin typeface="DejaVu Sans"/>
                <a:cs typeface="DejaVu Sans"/>
              </a:rPr>
              <a:t>dụng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 b="1">
                <a:solidFill>
                  <a:srgbClr val="e0e0e0"/>
                </a:solidFill>
                <a:latin typeface="DejaVu Sans"/>
                <a:cs typeface="DejaVu Sans"/>
              </a:rPr>
              <a:t>thực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0" b="1">
                <a:solidFill>
                  <a:srgbClr val="e0e0e0"/>
                </a:solidFill>
                <a:latin typeface="DejaVu Sans"/>
                <a:cs typeface="DejaVu Sans"/>
              </a:rPr>
              <a:t>tế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7563146" y="6908605"/>
            <a:ext cx="4020663" cy="75114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Sử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dụng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cho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biểu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tượng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tải,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chuyển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đổi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trạng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thái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giao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diện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hoặc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hiệu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ứng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nhỏ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thu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hút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sự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chú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 spc="-196">
                <a:solidFill>
                  <a:srgbClr val="d1d5db"/>
                </a:solidFill>
                <a:latin typeface="DejaVu Sans"/>
                <a:cs typeface="DejaVu Sans"/>
              </a:rPr>
              <a:t>ý.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84455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065906" y="333807"/>
            <a:ext cx="8220785" cy="114852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1" b="1">
                <a:solidFill>
                  <a:srgbClr val="e5e7eb"/>
                </a:solidFill>
                <a:latin typeface="DejaVu Sans"/>
                <a:cs typeface="DejaVu Sans"/>
              </a:rPr>
              <a:t>Drawable</a:t>
            </a:r>
            <a:r>
              <a:rPr dirty="0" sz="4050" b="1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4050" spc="-11" b="1">
                <a:solidFill>
                  <a:srgbClr val="e5e7eb"/>
                </a:solidFill>
                <a:latin typeface="DejaVu Sans"/>
                <a:cs typeface="DejaVu Sans"/>
              </a:rPr>
              <a:t>Animation</a:t>
            </a:r>
            <a:r>
              <a:rPr dirty="0" sz="4050" b="1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4050" spc="-52" b="1">
                <a:solidFill>
                  <a:srgbClr val="00bcd4"/>
                </a:solidFill>
                <a:latin typeface="DejaVu Sans"/>
                <a:cs typeface="DejaVu Sans"/>
              </a:rPr>
              <a:t>(Frame</a:t>
            </a:r>
          </a:p>
          <a:p>
            <a:pPr marL="0" marR="0">
              <a:lnSpc>
                <a:spcPts val="4050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1" b="1">
                <a:solidFill>
                  <a:srgbClr val="00bcd4"/>
                </a:solidFill>
                <a:latin typeface="DejaVu Sans"/>
                <a:cs typeface="DejaVu Sans"/>
              </a:rPr>
              <a:t>Animation)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84076" y="1981162"/>
            <a:ext cx="2637031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f3f4f6"/>
                </a:solidFill>
                <a:latin typeface="DejaVu Sans"/>
                <a:cs typeface="DejaVu Sans"/>
              </a:rPr>
              <a:t>Khái</a:t>
            </a:r>
            <a:r>
              <a:rPr dirty="0" sz="2000" b="1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f3f4f6"/>
                </a:solidFill>
                <a:latin typeface="DejaVu Sans"/>
                <a:cs typeface="DejaVu Sans"/>
              </a:rPr>
              <a:t>niệm</a:t>
            </a:r>
            <a:r>
              <a:rPr dirty="0" sz="2000" spc="12" b="1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f3f4f6"/>
                </a:solidFill>
                <a:latin typeface="DejaVu Sans"/>
                <a:cs typeface="DejaVu Sans"/>
              </a:rPr>
              <a:t>cơ</a:t>
            </a:r>
            <a:r>
              <a:rPr dirty="0" sz="2000" b="1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f3f4f6"/>
                </a:solidFill>
                <a:latin typeface="DejaVu Sans"/>
                <a:cs typeface="DejaVu Sans"/>
              </a:rPr>
              <a:t>bản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031532" y="1981162"/>
            <a:ext cx="3299862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f3f4f6"/>
                </a:solidFill>
                <a:latin typeface="DejaVu Sans"/>
                <a:cs typeface="DejaVu Sans"/>
              </a:rPr>
              <a:t>Định</a:t>
            </a:r>
            <a:r>
              <a:rPr dirty="0" sz="2000" b="1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f3f4f6"/>
                </a:solidFill>
                <a:latin typeface="DejaVu Sans"/>
                <a:cs typeface="DejaVu Sans"/>
              </a:rPr>
              <a:t>nghĩa</a:t>
            </a:r>
            <a:r>
              <a:rPr dirty="0" sz="2000" b="1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f3f4f6"/>
                </a:solidFill>
                <a:latin typeface="DejaVu Sans"/>
                <a:cs typeface="DejaVu Sans"/>
              </a:rPr>
              <a:t>trong</a:t>
            </a:r>
            <a:r>
              <a:rPr dirty="0" sz="2000" b="1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dirty="0" sz="2000" spc="14" b="1">
                <a:solidFill>
                  <a:srgbClr val="f3f4f6"/>
                </a:solidFill>
                <a:latin typeface="DejaVu Sans"/>
                <a:cs typeface="DejaVu Sans"/>
              </a:rPr>
              <a:t>XML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45641" y="2619337"/>
            <a:ext cx="303418" cy="97431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fb923c"/>
                </a:solidFill>
                <a:latin typeface="DejaVu Sans"/>
                <a:cs typeface="DejaVu Sans"/>
              </a:rPr>
              <a:t>•</a:t>
            </a:r>
          </a:p>
          <a:p>
            <a:pPr marL="0" marR="0">
              <a:lnSpc>
                <a:spcPts val="2346"/>
              </a:lnSpc>
              <a:spcBef>
                <a:spcPts val="2728"/>
              </a:spcBef>
              <a:spcAft>
                <a:spcPts val="0"/>
              </a:spcAft>
            </a:pPr>
            <a:r>
              <a:rPr dirty="0" sz="2000">
                <a:solidFill>
                  <a:srgbClr val="fb923c"/>
                </a:solidFill>
                <a:latin typeface="DejaVu Sans"/>
                <a:cs typeface="DejaVu Sans"/>
              </a:rPr>
              <a:t>•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24694" y="2650176"/>
            <a:ext cx="3652740" cy="8998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Chuỗi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hình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ảnh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hiển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thị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theo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trình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tự</a:t>
            </a:r>
          </a:p>
          <a:p>
            <a:pPr marL="0" marR="0">
              <a:lnSpc>
                <a:spcPts val="1760"/>
              </a:lnSpc>
              <a:spcBef>
                <a:spcPts val="3214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Tạo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cảm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giác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chuyển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động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liên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tục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409853" y="2913628"/>
            <a:ext cx="4362718" cy="42636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074836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c9d1d9"/>
                </a:solidFill>
                <a:latin typeface="Liberation Mono"/>
                <a:cs typeface="Liberation Mono"/>
              </a:rPr>
              <a:t>&lt;</a:t>
            </a:r>
            <a:r>
              <a:rPr dirty="0" sz="1200" spc="-15">
                <a:solidFill>
                  <a:srgbClr val="7ee787"/>
                </a:solidFill>
                <a:latin typeface="Liberation Mono"/>
                <a:cs typeface="Liberation Mono"/>
              </a:rPr>
              <a:t>animation-list</a:t>
            </a:r>
            <a:r>
              <a:rPr dirty="0" sz="1200" spc="405">
                <a:solidFill>
                  <a:srgbClr val="7ee787"/>
                </a:solidFill>
                <a:latin typeface="Times New Roman"/>
                <a:cs typeface="Times New Roman"/>
              </a:rPr>
              <a:t> </a:t>
            </a:r>
            <a:r>
              <a:rPr dirty="0" sz="1200" spc="-15">
                <a:solidFill>
                  <a:srgbClr val="79c0ff"/>
                </a:solidFill>
                <a:latin typeface="Liberation Mono"/>
                <a:cs typeface="Liberation Mono"/>
              </a:rPr>
              <a:t>xmlns:android=</a:t>
            </a:r>
            <a:r>
              <a:rPr dirty="0" sz="1200" spc="-15">
                <a:solidFill>
                  <a:srgbClr val="a5d6ff"/>
                </a:solidFill>
                <a:latin typeface="Liberation Mono"/>
                <a:cs typeface="Liberation Mono"/>
              </a:rPr>
              <a:t>"..."</a:t>
            </a:r>
          </a:p>
          <a:p>
            <a:pPr marL="0" marR="0">
              <a:lnSpc>
                <a:spcPts val="1332"/>
              </a:lnSpc>
              <a:spcBef>
                <a:spcPts val="442"/>
              </a:spcBef>
              <a:spcAft>
                <a:spcPts val="0"/>
              </a:spcAft>
            </a:pPr>
            <a:r>
              <a:rPr dirty="0" sz="1200" spc="-15">
                <a:solidFill>
                  <a:srgbClr val="79c0ff"/>
                </a:solidFill>
                <a:latin typeface="Liberation Mono"/>
                <a:cs typeface="Liberation Mono"/>
              </a:rPr>
              <a:t>android:oneshot=</a:t>
            </a:r>
            <a:r>
              <a:rPr dirty="0" sz="1200" spc="-15">
                <a:solidFill>
                  <a:srgbClr val="a5d6ff"/>
                </a:solidFill>
                <a:latin typeface="Liberation Mono"/>
                <a:cs typeface="Liberation Mono"/>
              </a:rPr>
              <a:t>"false"</a:t>
            </a:r>
            <a:r>
              <a:rPr dirty="0" sz="1200">
                <a:solidFill>
                  <a:srgbClr val="c9d1d9"/>
                </a:solidFill>
                <a:latin typeface="Liberation Mono"/>
                <a:cs typeface="Liberation Mono"/>
              </a:rPr>
              <a:t>&gt;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051475" y="3342253"/>
            <a:ext cx="3825400" cy="42636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c9d1d9"/>
                </a:solidFill>
                <a:latin typeface="Liberation Mono"/>
                <a:cs typeface="Liberation Mono"/>
              </a:rPr>
              <a:t>&lt;</a:t>
            </a:r>
            <a:r>
              <a:rPr dirty="0" sz="1200" spc="-15">
                <a:solidFill>
                  <a:srgbClr val="7ee787"/>
                </a:solidFill>
                <a:latin typeface="Liberation Mono"/>
                <a:cs typeface="Liberation Mono"/>
              </a:rPr>
              <a:t>item</a:t>
            </a:r>
            <a:r>
              <a:rPr dirty="0" sz="1200" spc="405">
                <a:solidFill>
                  <a:srgbClr val="7ee787"/>
                </a:solidFill>
                <a:latin typeface="Times New Roman"/>
                <a:cs typeface="Times New Roman"/>
              </a:rPr>
              <a:t> </a:t>
            </a:r>
            <a:r>
              <a:rPr dirty="0" sz="1200" spc="-15">
                <a:solidFill>
                  <a:srgbClr val="79c0ff"/>
                </a:solidFill>
                <a:latin typeface="Liberation Mono"/>
                <a:cs typeface="Liberation Mono"/>
              </a:rPr>
              <a:t>android:drawable=</a:t>
            </a:r>
            <a:r>
              <a:rPr dirty="0" sz="1200" spc="-15">
                <a:solidFill>
                  <a:srgbClr val="a5d6ff"/>
                </a:solidFill>
                <a:latin typeface="Liberation Mono"/>
                <a:cs typeface="Liberation Mono"/>
              </a:rPr>
              <a:t>"@drawable/frame1"</a:t>
            </a:r>
          </a:p>
          <a:p>
            <a:pPr marL="537418" marR="0">
              <a:lnSpc>
                <a:spcPts val="1332"/>
              </a:lnSpc>
              <a:spcBef>
                <a:spcPts val="442"/>
              </a:spcBef>
              <a:spcAft>
                <a:spcPts val="0"/>
              </a:spcAft>
            </a:pPr>
            <a:r>
              <a:rPr dirty="0" sz="1200" spc="-15">
                <a:solidFill>
                  <a:srgbClr val="79c0ff"/>
                </a:solidFill>
                <a:latin typeface="Liberation Mono"/>
                <a:cs typeface="Liberation Mono"/>
              </a:rPr>
              <a:t>android:duration=</a:t>
            </a:r>
            <a:r>
              <a:rPr dirty="0" sz="1200" spc="-15">
                <a:solidFill>
                  <a:srgbClr val="a5d6ff"/>
                </a:solidFill>
                <a:latin typeface="Liberation Mono"/>
                <a:cs typeface="Liberation Mono"/>
              </a:rPr>
              <a:t>"200"</a:t>
            </a:r>
            <a:r>
              <a:rPr dirty="0" sz="1200" spc="405">
                <a:solidFill>
                  <a:srgbClr val="a5d6ff"/>
                </a:solidFill>
                <a:latin typeface="Times New Roman"/>
                <a:cs typeface="Times New Roman"/>
              </a:rPr>
              <a:t> </a:t>
            </a:r>
            <a:r>
              <a:rPr dirty="0" sz="1200" spc="-15">
                <a:solidFill>
                  <a:srgbClr val="c9d1d9"/>
                </a:solidFill>
                <a:latin typeface="Liberation Mono"/>
                <a:cs typeface="Liberation Mono"/>
              </a:rPr>
              <a:t>/&gt;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051475" y="3770878"/>
            <a:ext cx="3825400" cy="4168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c9d1d9"/>
                </a:solidFill>
                <a:latin typeface="Liberation Mono"/>
                <a:cs typeface="Liberation Mono"/>
              </a:rPr>
              <a:t>&lt;</a:t>
            </a:r>
            <a:r>
              <a:rPr dirty="0" sz="1200" spc="-15">
                <a:solidFill>
                  <a:srgbClr val="7ee787"/>
                </a:solidFill>
                <a:latin typeface="Liberation Mono"/>
                <a:cs typeface="Liberation Mono"/>
              </a:rPr>
              <a:t>item</a:t>
            </a:r>
            <a:r>
              <a:rPr dirty="0" sz="1200" spc="405">
                <a:solidFill>
                  <a:srgbClr val="7ee787"/>
                </a:solidFill>
                <a:latin typeface="Times New Roman"/>
                <a:cs typeface="Times New Roman"/>
              </a:rPr>
              <a:t> </a:t>
            </a:r>
            <a:r>
              <a:rPr dirty="0" sz="1200" spc="-15">
                <a:solidFill>
                  <a:srgbClr val="79c0ff"/>
                </a:solidFill>
                <a:latin typeface="Liberation Mono"/>
                <a:cs typeface="Liberation Mono"/>
              </a:rPr>
              <a:t>android:drawable=</a:t>
            </a:r>
            <a:r>
              <a:rPr dirty="0" sz="1200" spc="-15">
                <a:solidFill>
                  <a:srgbClr val="a5d6ff"/>
                </a:solidFill>
                <a:latin typeface="Liberation Mono"/>
                <a:cs typeface="Liberation Mono"/>
              </a:rPr>
              <a:t>"@drawable/frame2"</a:t>
            </a:r>
          </a:p>
          <a:p>
            <a:pPr marL="537418" marR="0">
              <a:lnSpc>
                <a:spcPts val="1332"/>
              </a:lnSpc>
              <a:spcBef>
                <a:spcPts val="367"/>
              </a:spcBef>
              <a:spcAft>
                <a:spcPts val="0"/>
              </a:spcAft>
            </a:pPr>
            <a:r>
              <a:rPr dirty="0" sz="1200" spc="-15">
                <a:solidFill>
                  <a:srgbClr val="79c0ff"/>
                </a:solidFill>
                <a:latin typeface="Liberation Mono"/>
                <a:cs typeface="Liberation Mono"/>
              </a:rPr>
              <a:t>android:duration=</a:t>
            </a:r>
            <a:r>
              <a:rPr dirty="0" sz="1200" spc="-15">
                <a:solidFill>
                  <a:srgbClr val="a5d6ff"/>
                </a:solidFill>
                <a:latin typeface="Liberation Mono"/>
                <a:cs typeface="Liberation Mono"/>
              </a:rPr>
              <a:t>"200"</a:t>
            </a:r>
            <a:r>
              <a:rPr dirty="0" sz="1200" spc="405">
                <a:solidFill>
                  <a:srgbClr val="a5d6ff"/>
                </a:solidFill>
                <a:latin typeface="Times New Roman"/>
                <a:cs typeface="Times New Roman"/>
              </a:rPr>
              <a:t> </a:t>
            </a:r>
            <a:r>
              <a:rPr dirty="0" sz="1200" spc="-15">
                <a:solidFill>
                  <a:srgbClr val="c9d1d9"/>
                </a:solidFill>
                <a:latin typeface="Liberation Mono"/>
                <a:cs typeface="Liberation Mono"/>
              </a:rPr>
              <a:t>/&gt;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693097" y="4199503"/>
            <a:ext cx="1676038" cy="20728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c9d1d9"/>
                </a:solidFill>
                <a:latin typeface="Liberation Mono"/>
                <a:cs typeface="Liberation Mono"/>
              </a:rPr>
              <a:t>&lt;/</a:t>
            </a:r>
            <a:r>
              <a:rPr dirty="0" sz="1200" spc="-15">
                <a:solidFill>
                  <a:srgbClr val="7ee787"/>
                </a:solidFill>
                <a:latin typeface="Liberation Mono"/>
                <a:cs typeface="Liberation Mono"/>
              </a:rPr>
              <a:t>animation-list</a:t>
            </a:r>
            <a:r>
              <a:rPr dirty="0" sz="1200">
                <a:solidFill>
                  <a:srgbClr val="c9d1d9"/>
                </a:solidFill>
                <a:latin typeface="Liberation Mono"/>
                <a:cs typeface="Liberation Mono"/>
              </a:rPr>
              <a:t>&gt;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607819" y="4947965"/>
            <a:ext cx="1957051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animation-list: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Container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8668344" y="4947965"/>
            <a:ext cx="1703075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item: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Mỗi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Khung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hình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607819" y="5290865"/>
            <a:ext cx="2199665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android:oneshot: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Chế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độ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lặp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910934" y="5290865"/>
            <a:ext cx="2231789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android:duration: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Thời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lượng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014989" y="6478471"/>
            <a:ext cx="2245491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 b="1">
                <a:solidFill>
                  <a:srgbClr val="e0e0e0"/>
                </a:solidFill>
                <a:latin typeface="DejaVu Sans"/>
                <a:cs typeface="DejaVu Sans"/>
              </a:rPr>
              <a:t>Ứng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e0e0e0"/>
                </a:solidFill>
                <a:latin typeface="DejaVu Sans"/>
                <a:cs typeface="DejaVu Sans"/>
              </a:rPr>
              <a:t>dụng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 b="1">
                <a:solidFill>
                  <a:srgbClr val="e0e0e0"/>
                </a:solidFill>
                <a:latin typeface="DejaVu Sans"/>
                <a:cs typeface="DejaVu Sans"/>
              </a:rPr>
              <a:t>thực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0" b="1">
                <a:solidFill>
                  <a:srgbClr val="e0e0e0"/>
                </a:solidFill>
                <a:latin typeface="DejaVu Sans"/>
                <a:cs typeface="DejaVu Sans"/>
              </a:rPr>
              <a:t>tế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7563146" y="6908605"/>
            <a:ext cx="4020663" cy="75114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Sử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dụng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cho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biểu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tượng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tải,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chuyển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đổi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trạng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thái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giao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diện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hoặc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hiệu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ứng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nhỏ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thu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hút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sự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chú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 spc="-196">
                <a:solidFill>
                  <a:srgbClr val="d1d5db"/>
                </a:solidFill>
                <a:latin typeface="DejaVu Sans"/>
                <a:cs typeface="DejaVu Sans"/>
              </a:rPr>
              <a:t>ý.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11268075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618505" y="381940"/>
            <a:ext cx="9107167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4" b="1">
                <a:solidFill>
                  <a:srgbClr val="e0e0e0"/>
                </a:solidFill>
                <a:latin typeface="DejaVu Sans"/>
                <a:cs typeface="DejaVu Sans"/>
              </a:rPr>
              <a:t>Khởi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e0e0e0"/>
                </a:solidFill>
                <a:latin typeface="DejaVu Sans"/>
                <a:cs typeface="DejaVu Sans"/>
              </a:rPr>
              <a:t>động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1" b="1">
                <a:solidFill>
                  <a:srgbClr val="00bcd4"/>
                </a:solidFill>
                <a:latin typeface="DejaVu Sans"/>
                <a:cs typeface="DejaVu Sans"/>
              </a:rPr>
              <a:t>Drawable</a:t>
            </a:r>
            <a:r>
              <a:rPr dirty="0" sz="405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4050" spc="-11" b="1">
                <a:solidFill>
                  <a:srgbClr val="ff9800"/>
                </a:solidFill>
                <a:latin typeface="DejaVu Sans"/>
                <a:cs typeface="DejaVu Sans"/>
              </a:rPr>
              <a:t>Animation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20774" y="1467320"/>
            <a:ext cx="3940821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ffffff"/>
                </a:solidFill>
                <a:latin typeface="DejaVu Sans"/>
                <a:cs typeface="DejaVu Sans"/>
              </a:rPr>
              <a:t>Drawable</a:t>
            </a:r>
            <a:r>
              <a:rPr dirty="0" sz="2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ffffff"/>
                </a:solidFill>
                <a:latin typeface="DejaVu Sans"/>
                <a:cs typeface="DejaVu Sans"/>
              </a:rPr>
              <a:t>Animation</a:t>
            </a:r>
            <a:r>
              <a:rPr dirty="0" sz="2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ffffff"/>
                </a:solidFill>
                <a:latin typeface="DejaVu Sans"/>
                <a:cs typeface="DejaVu Sans"/>
              </a:rPr>
              <a:t>là</a:t>
            </a:r>
            <a:r>
              <a:rPr dirty="0" sz="2000" spc="1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ffffff"/>
                </a:solidFill>
                <a:latin typeface="DejaVu Sans"/>
                <a:cs typeface="DejaVu Sans"/>
              </a:rPr>
              <a:t>gì?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607670" y="1820048"/>
            <a:ext cx="5581158" cy="23145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Liberation Mono"/>
                <a:cs typeface="Liberation Mono"/>
              </a:rPr>
              <a:t>imageView.setBackgroundResource(R.drawable.anim_list)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20774" y="1898963"/>
            <a:ext cx="4252471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Tạo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hiệu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ứng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động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bằng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cách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hiển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thị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chuỗi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Drawable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theo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trình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tự,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như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lật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từng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trang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sách.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607670" y="2077223"/>
            <a:ext cx="5782106" cy="23145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c084fc"/>
                </a:solidFill>
                <a:latin typeface="Liberation Mono"/>
                <a:cs typeface="Liberation Mono"/>
              </a:rPr>
              <a:t>val</a:t>
            </a:r>
            <a:r>
              <a:rPr dirty="0" sz="1350" spc="469">
                <a:solidFill>
                  <a:srgbClr val="c084fc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e0e0e0"/>
                </a:solidFill>
                <a:latin typeface="Liberation Mono"/>
                <a:cs typeface="Liberation Mono"/>
              </a:rPr>
              <a:t>animation</a:t>
            </a:r>
            <a:r>
              <a:rPr dirty="0" sz="1350">
                <a:solidFill>
                  <a:srgbClr val="e0e0e0"/>
                </a:solidFill>
                <a:latin typeface="Liberation Mono"/>
                <a:cs typeface="Liberation Mono"/>
              </a:rPr>
              <a:t> </a:t>
            </a:r>
            <a:r>
              <a:rPr dirty="0" sz="1350">
                <a:solidFill>
                  <a:srgbClr val="e0e0e0"/>
                </a:solidFill>
                <a:latin typeface="Liberation Mono"/>
                <a:cs typeface="Liberation Mono"/>
              </a:rPr>
              <a:t>=</a:t>
            </a:r>
            <a:r>
              <a:rPr dirty="0" sz="1350">
                <a:solidFill>
                  <a:srgbClr val="e0e0e0"/>
                </a:solidFill>
                <a:latin typeface="Liberation Mono"/>
                <a:cs typeface="Liberation Mono"/>
              </a:rPr>
              <a:t> </a:t>
            </a:r>
            <a:r>
              <a:rPr dirty="0" sz="1350">
                <a:solidFill>
                  <a:srgbClr val="e0e0e0"/>
                </a:solidFill>
                <a:latin typeface="Liberation Mono"/>
                <a:cs typeface="Liberation Mono"/>
              </a:rPr>
              <a:t>imageView.background</a:t>
            </a:r>
            <a:r>
              <a:rPr dirty="0" sz="1350">
                <a:solidFill>
                  <a:srgbClr val="e0e0e0"/>
                </a:solidFill>
                <a:latin typeface="Liberation Mono"/>
                <a:cs typeface="Liberation Mono"/>
              </a:rPr>
              <a:t> </a:t>
            </a:r>
            <a:r>
              <a:rPr dirty="0" sz="1350">
                <a:solidFill>
                  <a:srgbClr val="22d3ee"/>
                </a:solidFill>
                <a:latin typeface="Liberation Mono"/>
                <a:cs typeface="Liberation Mono"/>
              </a:rPr>
              <a:t>as</a:t>
            </a:r>
            <a:r>
              <a:rPr dirty="0" sz="1350" spc="469">
                <a:solidFill>
                  <a:srgbClr val="22d3ee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e0e0e0"/>
                </a:solidFill>
                <a:latin typeface="Liberation Mono"/>
                <a:cs typeface="Liberation Mono"/>
              </a:rPr>
              <a:t>AnimationDrawab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607670" y="2334398"/>
            <a:ext cx="1893700" cy="23145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Liberation Mono"/>
                <a:cs typeface="Liberation Mono"/>
              </a:rPr>
              <a:t>animation.start()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48766" y="2605322"/>
            <a:ext cx="1738192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bae6fd"/>
                </a:solidFill>
                <a:latin typeface="DejaVu Sans"/>
                <a:cs typeface="DejaVu Sans"/>
              </a:rPr>
              <a:t>Animation</a:t>
            </a:r>
            <a:r>
              <a:rPr dirty="0" sz="1000" b="1">
                <a:solidFill>
                  <a:srgbClr val="bae6fd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bae6fd"/>
                </a:solidFill>
                <a:latin typeface="DejaVu Sans"/>
                <a:cs typeface="DejaVu Sans"/>
              </a:rPr>
              <a:t>Framework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775941" y="2605322"/>
            <a:ext cx="916862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c7d2fe"/>
                </a:solidFill>
                <a:latin typeface="DejaVu Sans"/>
                <a:cs typeface="DejaVu Sans"/>
              </a:rPr>
              <a:t>Android</a:t>
            </a:r>
            <a:r>
              <a:rPr dirty="0" sz="1000" b="1">
                <a:solidFill>
                  <a:srgbClr val="c7d2fe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c7d2fe"/>
                </a:solidFill>
                <a:latin typeface="DejaVu Sans"/>
                <a:cs typeface="DejaVu Sans"/>
              </a:rPr>
              <a:t>UI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565105" y="3205397"/>
            <a:ext cx="579640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bbf7d0"/>
                </a:solidFill>
                <a:latin typeface="DejaVu Sans"/>
                <a:cs typeface="DejaVu Sans"/>
              </a:rPr>
              <a:t>Kotlin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331421" y="3205397"/>
            <a:ext cx="1125607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e9d5ff"/>
                </a:solidFill>
                <a:latin typeface="DejaVu Sans"/>
                <a:cs typeface="DejaVu Sans"/>
              </a:rPr>
              <a:t>Android</a:t>
            </a:r>
            <a:r>
              <a:rPr dirty="0" sz="1000" b="1">
                <a:solidFill>
                  <a:srgbClr val="e9d5ff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e9d5ff"/>
                </a:solidFill>
                <a:latin typeface="DejaVu Sans"/>
                <a:cs typeface="DejaVu Sans"/>
              </a:rPr>
              <a:t>Code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810666" y="3480113"/>
            <a:ext cx="4769015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Phù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hợp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cho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chuỗi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ảnh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động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đơn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giản,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có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thể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dự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đoán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trước.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522540" y="4116779"/>
            <a:ext cx="2581722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 b="1">
                <a:solidFill>
                  <a:srgbClr val="ffffff"/>
                </a:solidFill>
                <a:latin typeface="DejaVu Sans"/>
                <a:cs typeface="DejaVu Sans"/>
              </a:rPr>
              <a:t>Các</a:t>
            </a:r>
            <a:r>
              <a:rPr dirty="0" sz="17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ffffff"/>
                </a:solidFill>
                <a:latin typeface="DejaVu Sans"/>
                <a:cs typeface="DejaVu Sans"/>
              </a:rPr>
              <a:t>bước</a:t>
            </a:r>
            <a:r>
              <a:rPr dirty="0" sz="17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ffffff"/>
                </a:solidFill>
                <a:latin typeface="DejaVu Sans"/>
                <a:cs typeface="DejaVu Sans"/>
              </a:rPr>
              <a:t>khởi</a:t>
            </a:r>
            <a:r>
              <a:rPr dirty="0" sz="17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ffffff"/>
                </a:solidFill>
                <a:latin typeface="DejaVu Sans"/>
                <a:cs typeface="DejaVu Sans"/>
              </a:rPr>
              <a:t>động: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10666" y="4413563"/>
            <a:ext cx="4778035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Dễ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dàng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tích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hợp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điều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khiển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thông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qua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 spc="-20">
                <a:solidFill>
                  <a:srgbClr val="d1d5db"/>
                </a:solidFill>
                <a:latin typeface="DejaVu Sans"/>
                <a:cs typeface="DejaVu Sans"/>
              </a:rPr>
              <a:t>ImageView.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879132" y="4585013"/>
            <a:ext cx="4584397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00bcd4"/>
                </a:solidFill>
                <a:latin typeface="DejaVu Sans"/>
                <a:cs typeface="DejaVu Sans"/>
              </a:rPr>
              <a:t>Thiết</a:t>
            </a:r>
            <a:r>
              <a:rPr dirty="0" sz="135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00bcd4"/>
                </a:solidFill>
                <a:latin typeface="DejaVu Sans"/>
                <a:cs typeface="DejaVu Sans"/>
              </a:rPr>
              <a:t>lập</a:t>
            </a:r>
            <a:r>
              <a:rPr dirty="0" sz="135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00bcd4"/>
                </a:solidFill>
                <a:latin typeface="DejaVu Sans"/>
                <a:cs typeface="DejaVu Sans"/>
              </a:rPr>
              <a:t>nguồn:</a:t>
            </a:r>
            <a:r>
              <a:rPr dirty="0" sz="1350" spc="-4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Gán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ﬁle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XML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`anim_list`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vào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nền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879132" y="4842188"/>
            <a:ext cx="1490484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của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 spc="-20">
                <a:solidFill>
                  <a:srgbClr val="d1d5db"/>
                </a:solidFill>
                <a:latin typeface="DejaVu Sans"/>
                <a:cs typeface="DejaVu Sans"/>
              </a:rPr>
              <a:t>ImageView.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879132" y="5270813"/>
            <a:ext cx="4599744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00bcd4"/>
                </a:solidFill>
                <a:latin typeface="DejaVu Sans"/>
                <a:cs typeface="DejaVu Sans"/>
              </a:rPr>
              <a:t>Chuyển</a:t>
            </a:r>
            <a:r>
              <a:rPr dirty="0" sz="135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00bcd4"/>
                </a:solidFill>
                <a:latin typeface="DejaVu Sans"/>
                <a:cs typeface="DejaVu Sans"/>
              </a:rPr>
              <a:t>đổi</a:t>
            </a:r>
            <a:r>
              <a:rPr dirty="0" sz="135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00bcd4"/>
                </a:solidFill>
                <a:latin typeface="DejaVu Sans"/>
                <a:cs typeface="DejaVu Sans"/>
              </a:rPr>
              <a:t>kiểu:</a:t>
            </a:r>
            <a:r>
              <a:rPr dirty="0" sz="1350" spc="-4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Ép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kiểu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thuộc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tính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`background`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879132" y="5527988"/>
            <a:ext cx="2607198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thành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`AnimationDrawable`.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6879132" y="5956613"/>
            <a:ext cx="4499133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00bcd4"/>
                </a:solidFill>
                <a:latin typeface="DejaVu Sans"/>
                <a:cs typeface="DejaVu Sans"/>
              </a:rPr>
              <a:t>Bắt</a:t>
            </a:r>
            <a:r>
              <a:rPr dirty="0" sz="135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00bcd4"/>
                </a:solidFill>
                <a:latin typeface="DejaVu Sans"/>
                <a:cs typeface="DejaVu Sans"/>
              </a:rPr>
              <a:t>đầu</a:t>
            </a:r>
            <a:r>
              <a:rPr dirty="0" sz="135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00bcd4"/>
                </a:solidFill>
                <a:latin typeface="DejaVu Sans"/>
                <a:cs typeface="DejaVu Sans"/>
              </a:rPr>
              <a:t>Animation:</a:t>
            </a:r>
            <a:r>
              <a:rPr dirty="0" sz="1350" spc="-4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Gọi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phương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thức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`start()`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để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6879132" y="6204263"/>
            <a:ext cx="2190298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bắt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đầu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chuỗi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hoạt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ảnh.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087189" y="9442763"/>
            <a:ext cx="3377503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ffffff"/>
                </a:solidFill>
                <a:latin typeface="DejaVu Sans"/>
                <a:cs typeface="DejaVu Sans"/>
              </a:rPr>
              <a:t>Tầm</a:t>
            </a:r>
            <a:r>
              <a:rPr dirty="0" sz="135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ffffff"/>
                </a:solidFill>
                <a:latin typeface="DejaVu Sans"/>
                <a:cs typeface="DejaVu Sans"/>
              </a:rPr>
              <a:t>quan</a:t>
            </a:r>
            <a:r>
              <a:rPr dirty="0" sz="135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ffffff"/>
                </a:solidFill>
                <a:latin typeface="DejaVu Sans"/>
                <a:cs typeface="DejaVu Sans"/>
              </a:rPr>
              <a:t>trọng</a:t>
            </a:r>
            <a:r>
              <a:rPr dirty="0" sz="135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ffffff"/>
                </a:solidFill>
                <a:latin typeface="DejaVu Sans"/>
                <a:cs typeface="DejaVu Sans"/>
              </a:rPr>
              <a:t>của</a:t>
            </a:r>
            <a:r>
              <a:rPr dirty="0" sz="135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ffffff"/>
                </a:solidFill>
                <a:latin typeface="DejaVu Sans"/>
                <a:cs typeface="DejaVu Sans"/>
              </a:rPr>
              <a:t>chuyển</a:t>
            </a:r>
            <a:r>
              <a:rPr dirty="0" sz="135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ffffff"/>
                </a:solidFill>
                <a:latin typeface="DejaVu Sans"/>
                <a:cs typeface="DejaVu Sans"/>
              </a:rPr>
              <a:t>động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635347" y="9842813"/>
            <a:ext cx="5305457" cy="75114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"Chuyển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động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giúp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giao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diện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người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dùng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biểu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cảm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dễ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sử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dụng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hơn.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Nó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cung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cấp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phản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hồi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kịp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thời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chỉ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ra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trạng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thái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hành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động."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3322587" y="10682522"/>
            <a:ext cx="2755067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-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Understanding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motion,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Material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Design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11268075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618505" y="381940"/>
            <a:ext cx="9107167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4" b="1">
                <a:solidFill>
                  <a:srgbClr val="e0e0e0"/>
                </a:solidFill>
                <a:latin typeface="DejaVu Sans"/>
                <a:cs typeface="DejaVu Sans"/>
              </a:rPr>
              <a:t>Khởi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e0e0e0"/>
                </a:solidFill>
                <a:latin typeface="DejaVu Sans"/>
                <a:cs typeface="DejaVu Sans"/>
              </a:rPr>
              <a:t>động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1" b="1">
                <a:solidFill>
                  <a:srgbClr val="00bcd4"/>
                </a:solidFill>
                <a:latin typeface="DejaVu Sans"/>
                <a:cs typeface="DejaVu Sans"/>
              </a:rPr>
              <a:t>Drawable</a:t>
            </a:r>
            <a:r>
              <a:rPr dirty="0" sz="405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4050" spc="-11" b="1">
                <a:solidFill>
                  <a:srgbClr val="ff9800"/>
                </a:solidFill>
                <a:latin typeface="DejaVu Sans"/>
                <a:cs typeface="DejaVu Sans"/>
              </a:rPr>
              <a:t>Animation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20774" y="1467320"/>
            <a:ext cx="3940821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ffffff"/>
                </a:solidFill>
                <a:latin typeface="DejaVu Sans"/>
                <a:cs typeface="DejaVu Sans"/>
              </a:rPr>
              <a:t>Drawable</a:t>
            </a:r>
            <a:r>
              <a:rPr dirty="0" sz="2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ffffff"/>
                </a:solidFill>
                <a:latin typeface="DejaVu Sans"/>
                <a:cs typeface="DejaVu Sans"/>
              </a:rPr>
              <a:t>Animation</a:t>
            </a:r>
            <a:r>
              <a:rPr dirty="0" sz="2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ffffff"/>
                </a:solidFill>
                <a:latin typeface="DejaVu Sans"/>
                <a:cs typeface="DejaVu Sans"/>
              </a:rPr>
              <a:t>là</a:t>
            </a:r>
            <a:r>
              <a:rPr dirty="0" sz="2000" spc="1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ffffff"/>
                </a:solidFill>
                <a:latin typeface="DejaVu Sans"/>
                <a:cs typeface="DejaVu Sans"/>
              </a:rPr>
              <a:t>gì?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607670" y="1820048"/>
            <a:ext cx="5581158" cy="23145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Liberation Mono"/>
                <a:cs typeface="Liberation Mono"/>
              </a:rPr>
              <a:t>imageView.setBackgroundResource(R.drawable.anim_list)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20774" y="1898963"/>
            <a:ext cx="4252471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Tạo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hiệu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ứng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động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bằng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cách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hiển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thị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chuỗi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Drawable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theo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trình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tự,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như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lật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từng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trang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sách.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607670" y="2077223"/>
            <a:ext cx="5782106" cy="23145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c084fc"/>
                </a:solidFill>
                <a:latin typeface="Liberation Mono"/>
                <a:cs typeface="Liberation Mono"/>
              </a:rPr>
              <a:t>val</a:t>
            </a:r>
            <a:r>
              <a:rPr dirty="0" sz="1350" spc="469">
                <a:solidFill>
                  <a:srgbClr val="c084fc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e0e0e0"/>
                </a:solidFill>
                <a:latin typeface="Liberation Mono"/>
                <a:cs typeface="Liberation Mono"/>
              </a:rPr>
              <a:t>animation</a:t>
            </a:r>
            <a:r>
              <a:rPr dirty="0" sz="1350">
                <a:solidFill>
                  <a:srgbClr val="e0e0e0"/>
                </a:solidFill>
                <a:latin typeface="Liberation Mono"/>
                <a:cs typeface="Liberation Mono"/>
              </a:rPr>
              <a:t> </a:t>
            </a:r>
            <a:r>
              <a:rPr dirty="0" sz="1350">
                <a:solidFill>
                  <a:srgbClr val="e0e0e0"/>
                </a:solidFill>
                <a:latin typeface="Liberation Mono"/>
                <a:cs typeface="Liberation Mono"/>
              </a:rPr>
              <a:t>=</a:t>
            </a:r>
            <a:r>
              <a:rPr dirty="0" sz="1350">
                <a:solidFill>
                  <a:srgbClr val="e0e0e0"/>
                </a:solidFill>
                <a:latin typeface="Liberation Mono"/>
                <a:cs typeface="Liberation Mono"/>
              </a:rPr>
              <a:t> </a:t>
            </a:r>
            <a:r>
              <a:rPr dirty="0" sz="1350">
                <a:solidFill>
                  <a:srgbClr val="e0e0e0"/>
                </a:solidFill>
                <a:latin typeface="Liberation Mono"/>
                <a:cs typeface="Liberation Mono"/>
              </a:rPr>
              <a:t>imageView.background</a:t>
            </a:r>
            <a:r>
              <a:rPr dirty="0" sz="1350">
                <a:solidFill>
                  <a:srgbClr val="e0e0e0"/>
                </a:solidFill>
                <a:latin typeface="Liberation Mono"/>
                <a:cs typeface="Liberation Mono"/>
              </a:rPr>
              <a:t> </a:t>
            </a:r>
            <a:r>
              <a:rPr dirty="0" sz="1350">
                <a:solidFill>
                  <a:srgbClr val="22d3ee"/>
                </a:solidFill>
                <a:latin typeface="Liberation Mono"/>
                <a:cs typeface="Liberation Mono"/>
              </a:rPr>
              <a:t>as</a:t>
            </a:r>
            <a:r>
              <a:rPr dirty="0" sz="1350" spc="469">
                <a:solidFill>
                  <a:srgbClr val="22d3ee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e0e0e0"/>
                </a:solidFill>
                <a:latin typeface="Liberation Mono"/>
                <a:cs typeface="Liberation Mono"/>
              </a:rPr>
              <a:t>AnimationDrawab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607670" y="2334398"/>
            <a:ext cx="1893700" cy="23145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Liberation Mono"/>
                <a:cs typeface="Liberation Mono"/>
              </a:rPr>
              <a:t>animation.start()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48766" y="2605322"/>
            <a:ext cx="1738192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bae6fd"/>
                </a:solidFill>
                <a:latin typeface="DejaVu Sans"/>
                <a:cs typeface="DejaVu Sans"/>
              </a:rPr>
              <a:t>Animation</a:t>
            </a:r>
            <a:r>
              <a:rPr dirty="0" sz="1000" b="1">
                <a:solidFill>
                  <a:srgbClr val="bae6fd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bae6fd"/>
                </a:solidFill>
                <a:latin typeface="DejaVu Sans"/>
                <a:cs typeface="DejaVu Sans"/>
              </a:rPr>
              <a:t>Framework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775941" y="2605322"/>
            <a:ext cx="916862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c7d2fe"/>
                </a:solidFill>
                <a:latin typeface="DejaVu Sans"/>
                <a:cs typeface="DejaVu Sans"/>
              </a:rPr>
              <a:t>Android</a:t>
            </a:r>
            <a:r>
              <a:rPr dirty="0" sz="1000" b="1">
                <a:solidFill>
                  <a:srgbClr val="c7d2fe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c7d2fe"/>
                </a:solidFill>
                <a:latin typeface="DejaVu Sans"/>
                <a:cs typeface="DejaVu Sans"/>
              </a:rPr>
              <a:t>UI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565105" y="3205397"/>
            <a:ext cx="579640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bbf7d0"/>
                </a:solidFill>
                <a:latin typeface="DejaVu Sans"/>
                <a:cs typeface="DejaVu Sans"/>
              </a:rPr>
              <a:t>Kotlin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331421" y="3205397"/>
            <a:ext cx="1125607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e9d5ff"/>
                </a:solidFill>
                <a:latin typeface="DejaVu Sans"/>
                <a:cs typeface="DejaVu Sans"/>
              </a:rPr>
              <a:t>Android</a:t>
            </a:r>
            <a:r>
              <a:rPr dirty="0" sz="1000" b="1">
                <a:solidFill>
                  <a:srgbClr val="e9d5ff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e9d5ff"/>
                </a:solidFill>
                <a:latin typeface="DejaVu Sans"/>
                <a:cs typeface="DejaVu Sans"/>
              </a:rPr>
              <a:t>Code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810666" y="3480113"/>
            <a:ext cx="4769015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Phù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hợp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cho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chuỗi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ảnh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động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đơn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giản,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có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thể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dự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đoán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trước.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522540" y="4116779"/>
            <a:ext cx="2581722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 b="1">
                <a:solidFill>
                  <a:srgbClr val="ffffff"/>
                </a:solidFill>
                <a:latin typeface="DejaVu Sans"/>
                <a:cs typeface="DejaVu Sans"/>
              </a:rPr>
              <a:t>Các</a:t>
            </a:r>
            <a:r>
              <a:rPr dirty="0" sz="17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ffffff"/>
                </a:solidFill>
                <a:latin typeface="DejaVu Sans"/>
                <a:cs typeface="DejaVu Sans"/>
              </a:rPr>
              <a:t>bước</a:t>
            </a:r>
            <a:r>
              <a:rPr dirty="0" sz="17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ffffff"/>
                </a:solidFill>
                <a:latin typeface="DejaVu Sans"/>
                <a:cs typeface="DejaVu Sans"/>
              </a:rPr>
              <a:t>khởi</a:t>
            </a:r>
            <a:r>
              <a:rPr dirty="0" sz="17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ffffff"/>
                </a:solidFill>
                <a:latin typeface="DejaVu Sans"/>
                <a:cs typeface="DejaVu Sans"/>
              </a:rPr>
              <a:t>động: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10666" y="4413563"/>
            <a:ext cx="4778035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Dễ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dàng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tích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hợp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điều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khiển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thông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qua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 spc="-20">
                <a:solidFill>
                  <a:srgbClr val="d1d5db"/>
                </a:solidFill>
                <a:latin typeface="DejaVu Sans"/>
                <a:cs typeface="DejaVu Sans"/>
              </a:rPr>
              <a:t>ImageView.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879132" y="4585013"/>
            <a:ext cx="4584397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00bcd4"/>
                </a:solidFill>
                <a:latin typeface="DejaVu Sans"/>
                <a:cs typeface="DejaVu Sans"/>
              </a:rPr>
              <a:t>Thiết</a:t>
            </a:r>
            <a:r>
              <a:rPr dirty="0" sz="135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00bcd4"/>
                </a:solidFill>
                <a:latin typeface="DejaVu Sans"/>
                <a:cs typeface="DejaVu Sans"/>
              </a:rPr>
              <a:t>lập</a:t>
            </a:r>
            <a:r>
              <a:rPr dirty="0" sz="135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00bcd4"/>
                </a:solidFill>
                <a:latin typeface="DejaVu Sans"/>
                <a:cs typeface="DejaVu Sans"/>
              </a:rPr>
              <a:t>nguồn:</a:t>
            </a:r>
            <a:r>
              <a:rPr dirty="0" sz="1350" spc="-4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Gán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ﬁle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XML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`anim_list`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vào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nền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879132" y="4842188"/>
            <a:ext cx="1490484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của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 spc="-20">
                <a:solidFill>
                  <a:srgbClr val="d1d5db"/>
                </a:solidFill>
                <a:latin typeface="DejaVu Sans"/>
                <a:cs typeface="DejaVu Sans"/>
              </a:rPr>
              <a:t>ImageView.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879132" y="5270813"/>
            <a:ext cx="4599744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00bcd4"/>
                </a:solidFill>
                <a:latin typeface="DejaVu Sans"/>
                <a:cs typeface="DejaVu Sans"/>
              </a:rPr>
              <a:t>Chuyển</a:t>
            </a:r>
            <a:r>
              <a:rPr dirty="0" sz="135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00bcd4"/>
                </a:solidFill>
                <a:latin typeface="DejaVu Sans"/>
                <a:cs typeface="DejaVu Sans"/>
              </a:rPr>
              <a:t>đổi</a:t>
            </a:r>
            <a:r>
              <a:rPr dirty="0" sz="135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00bcd4"/>
                </a:solidFill>
                <a:latin typeface="DejaVu Sans"/>
                <a:cs typeface="DejaVu Sans"/>
              </a:rPr>
              <a:t>kiểu:</a:t>
            </a:r>
            <a:r>
              <a:rPr dirty="0" sz="1350" spc="-4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Ép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kiểu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thuộc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tính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`background`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879132" y="5527988"/>
            <a:ext cx="2607198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thành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`AnimationDrawable`.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6879132" y="5956613"/>
            <a:ext cx="4499133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00bcd4"/>
                </a:solidFill>
                <a:latin typeface="DejaVu Sans"/>
                <a:cs typeface="DejaVu Sans"/>
              </a:rPr>
              <a:t>Bắt</a:t>
            </a:r>
            <a:r>
              <a:rPr dirty="0" sz="135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00bcd4"/>
                </a:solidFill>
                <a:latin typeface="DejaVu Sans"/>
                <a:cs typeface="DejaVu Sans"/>
              </a:rPr>
              <a:t>đầu</a:t>
            </a:r>
            <a:r>
              <a:rPr dirty="0" sz="135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00bcd4"/>
                </a:solidFill>
                <a:latin typeface="DejaVu Sans"/>
                <a:cs typeface="DejaVu Sans"/>
              </a:rPr>
              <a:t>Animation:</a:t>
            </a:r>
            <a:r>
              <a:rPr dirty="0" sz="1350" spc="-4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Gọi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phương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thức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`start()`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để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6879132" y="6204263"/>
            <a:ext cx="2190298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bắt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đầu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chuỗi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hoạt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ảnh.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087189" y="9442763"/>
            <a:ext cx="3377503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ffffff"/>
                </a:solidFill>
                <a:latin typeface="DejaVu Sans"/>
                <a:cs typeface="DejaVu Sans"/>
              </a:rPr>
              <a:t>Tầm</a:t>
            </a:r>
            <a:r>
              <a:rPr dirty="0" sz="135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ffffff"/>
                </a:solidFill>
                <a:latin typeface="DejaVu Sans"/>
                <a:cs typeface="DejaVu Sans"/>
              </a:rPr>
              <a:t>quan</a:t>
            </a:r>
            <a:r>
              <a:rPr dirty="0" sz="135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ffffff"/>
                </a:solidFill>
                <a:latin typeface="DejaVu Sans"/>
                <a:cs typeface="DejaVu Sans"/>
              </a:rPr>
              <a:t>trọng</a:t>
            </a:r>
            <a:r>
              <a:rPr dirty="0" sz="135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ffffff"/>
                </a:solidFill>
                <a:latin typeface="DejaVu Sans"/>
                <a:cs typeface="DejaVu Sans"/>
              </a:rPr>
              <a:t>của</a:t>
            </a:r>
            <a:r>
              <a:rPr dirty="0" sz="135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ffffff"/>
                </a:solidFill>
                <a:latin typeface="DejaVu Sans"/>
                <a:cs typeface="DejaVu Sans"/>
              </a:rPr>
              <a:t>chuyển</a:t>
            </a:r>
            <a:r>
              <a:rPr dirty="0" sz="135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ffffff"/>
                </a:solidFill>
                <a:latin typeface="DejaVu Sans"/>
                <a:cs typeface="DejaVu Sans"/>
              </a:rPr>
              <a:t>động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635347" y="9842813"/>
            <a:ext cx="5305457" cy="75114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"Chuyển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động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giúp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giao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diện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người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dùng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biểu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cảm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dễ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sử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dụng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hơn.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Nó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cung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cấp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phản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hồi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kịp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thời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chỉ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ra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trạng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thái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hành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động."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3322587" y="10682522"/>
            <a:ext cx="2755067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-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Understanding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motion,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Material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Design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7019185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80999" y="308667"/>
            <a:ext cx="7888232" cy="78308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866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spc="15">
                <a:solidFill>
                  <a:srgbClr val="e0e0e0"/>
                </a:solidFill>
                <a:latin typeface="DejaVu Sans"/>
                <a:cs typeface="DejaVu Sans"/>
              </a:rPr>
              <a:t>Tổng</a:t>
            </a:r>
            <a:r>
              <a:rPr dirty="0" sz="3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3000" spc="15">
                <a:solidFill>
                  <a:srgbClr val="e0e0e0"/>
                </a:solidFill>
                <a:latin typeface="DejaVu Sans"/>
                <a:cs typeface="DejaVu Sans"/>
              </a:rPr>
              <a:t>quan</a:t>
            </a:r>
            <a:r>
              <a:rPr dirty="0" sz="3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3000" spc="14">
                <a:solidFill>
                  <a:srgbClr val="e0e0e0"/>
                </a:solidFill>
                <a:latin typeface="DejaVu Sans"/>
                <a:cs typeface="DejaVu Sans"/>
              </a:rPr>
              <a:t>về</a:t>
            </a:r>
            <a:r>
              <a:rPr dirty="0" sz="3000" spc="39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5050" spc="-20" b="1">
                <a:solidFill>
                  <a:srgbClr val="00bcd4"/>
                </a:solidFill>
                <a:latin typeface="DejaVu Sans"/>
                <a:cs typeface="DejaVu Sans"/>
              </a:rPr>
              <a:t>MotionLayout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72331" y="1638121"/>
            <a:ext cx="4086885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1">
                <a:solidFill>
                  <a:srgbClr val="e0e0e0"/>
                </a:solidFill>
                <a:latin typeface="DejaVu Sans"/>
                <a:cs typeface="DejaVu Sans"/>
              </a:rPr>
              <a:t>Là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5">
                <a:solidFill>
                  <a:srgbClr val="e0e0e0"/>
                </a:solidFill>
                <a:latin typeface="DejaVu Sans"/>
                <a:cs typeface="DejaVu Sans"/>
              </a:rPr>
              <a:t>một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phần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e0e0e0"/>
                </a:solidFill>
                <a:latin typeface="DejaVu Sans"/>
                <a:cs typeface="DejaVu Sans"/>
              </a:rPr>
              <a:t>của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ff9800"/>
                </a:solidFill>
                <a:latin typeface="DejaVu Sans"/>
                <a:cs typeface="DejaVu Sans"/>
              </a:rPr>
              <a:t>ConstraintLayout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272331" y="1942921"/>
            <a:ext cx="776957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2" b="1">
                <a:solidFill>
                  <a:srgbClr val="ff9800"/>
                </a:solidFill>
                <a:latin typeface="DejaVu Sans"/>
                <a:cs typeface="DejaVu Sans"/>
              </a:rPr>
              <a:t>2.0+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339304" y="2326939"/>
            <a:ext cx="916862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Android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UI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402234" y="2326939"/>
            <a:ext cx="1217796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Layout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System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272331" y="2733496"/>
            <a:ext cx="4364960" cy="5817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4">
                <a:solidFill>
                  <a:srgbClr val="e0e0e0"/>
                </a:solidFill>
                <a:latin typeface="DejaVu Sans"/>
                <a:cs typeface="DejaVu Sans"/>
              </a:rPr>
              <a:t>Cho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phép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e0e0e0"/>
                </a:solidFill>
                <a:latin typeface="DejaVu Sans"/>
                <a:cs typeface="DejaVu Sans"/>
              </a:rPr>
              <a:t>tạo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ff9800"/>
                </a:solidFill>
                <a:latin typeface="DejaVu Sans"/>
                <a:cs typeface="DejaVu Sans"/>
              </a:rPr>
              <a:t>hoạt</a:t>
            </a:r>
            <a:r>
              <a:rPr dirty="0" sz="1700" b="1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ff9800"/>
                </a:solidFill>
                <a:latin typeface="DejaVu Sans"/>
                <a:cs typeface="DejaVu Sans"/>
              </a:rPr>
              <a:t>ảnh</a:t>
            </a:r>
            <a:r>
              <a:rPr dirty="0" sz="1700" b="1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700" b="1">
                <a:solidFill>
                  <a:srgbClr val="ff9800"/>
                </a:solidFill>
                <a:latin typeface="DejaVu Sans"/>
                <a:cs typeface="DejaVu Sans"/>
              </a:rPr>
              <a:t>&amp;</a:t>
            </a:r>
            <a:r>
              <a:rPr dirty="0" sz="1700" spc="-25" b="1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ff9800"/>
                </a:solidFill>
                <a:latin typeface="DejaVu Sans"/>
                <a:cs typeface="DejaVu Sans"/>
              </a:rPr>
              <a:t>chuyển</a:t>
            </a:r>
            <a:r>
              <a:rPr dirty="0" sz="1700" b="1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ff9800"/>
                </a:solidFill>
                <a:latin typeface="DejaVu Sans"/>
                <a:cs typeface="DejaVu Sans"/>
              </a:rPr>
              <a:t>đổi</a:t>
            </a:r>
          </a:p>
          <a:p>
            <a:pPr marL="0" marR="0">
              <a:lnSpc>
                <a:spcPts val="1955"/>
              </a:lnSpc>
              <a:spcBef>
                <a:spcPts val="319"/>
              </a:spcBef>
              <a:spcAft>
                <a:spcPts val="0"/>
              </a:spcAft>
            </a:pPr>
            <a:r>
              <a:rPr dirty="0" sz="1700" spc="-15" b="1">
                <a:solidFill>
                  <a:srgbClr val="ff9800"/>
                </a:solidFill>
                <a:latin typeface="DejaVu Sans"/>
                <a:cs typeface="DejaVu Sans"/>
              </a:rPr>
              <a:t>phức</a:t>
            </a:r>
            <a:r>
              <a:rPr dirty="0" sz="1700" b="1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700" spc="-12" b="1">
                <a:solidFill>
                  <a:srgbClr val="ff9800"/>
                </a:solidFill>
                <a:latin typeface="DejaVu Sans"/>
                <a:cs typeface="DejaVu Sans"/>
              </a:rPr>
              <a:t>tạp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339304" y="3422314"/>
            <a:ext cx="1316470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Complex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Motion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801838" y="3422314"/>
            <a:ext cx="907309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Rich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UI/UX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451376" y="3745409"/>
            <a:ext cx="3327060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7">
                <a:solidFill>
                  <a:srgbClr val="d1d5db"/>
                </a:solidFill>
                <a:latin typeface="DejaVu Sans"/>
                <a:cs typeface="DejaVu Sans"/>
              </a:rPr>
              <a:t>Ví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dụ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hoạt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ảnh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phức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d1d5db"/>
                </a:solidFill>
                <a:latin typeface="DejaVu Sans"/>
                <a:cs typeface="DejaVu Sans"/>
              </a:rPr>
              <a:t>tạp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với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MotionLayout.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272331" y="3828871"/>
            <a:ext cx="4001642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Khai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báo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hoạt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ảnh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20">
                <a:solidFill>
                  <a:srgbClr val="e0e0e0"/>
                </a:solidFill>
                <a:latin typeface="DejaVu Sans"/>
                <a:cs typeface="DejaVu Sans"/>
              </a:rPr>
              <a:t>trong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5">
                <a:solidFill>
                  <a:srgbClr val="e0e0e0"/>
                </a:solidFill>
                <a:latin typeface="DejaVu Sans"/>
                <a:cs typeface="DejaVu Sans"/>
              </a:rPr>
              <a:t>XML,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b="1">
                <a:solidFill>
                  <a:srgbClr val="ff9800"/>
                </a:solidFill>
                <a:latin typeface="DejaVu Sans"/>
                <a:cs typeface="DejaVu Sans"/>
              </a:rPr>
              <a:t>ít</a:t>
            </a:r>
            <a:r>
              <a:rPr dirty="0" sz="1700" spc="-10" b="1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700" spc="-21" b="1">
                <a:solidFill>
                  <a:srgbClr val="ff9800"/>
                </a:solidFill>
                <a:latin typeface="DejaVu Sans"/>
                <a:cs typeface="DejaVu Sans"/>
              </a:rPr>
              <a:t>mã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272331" y="4124146"/>
            <a:ext cx="932289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 b="1">
                <a:solidFill>
                  <a:srgbClr val="ff9800"/>
                </a:solidFill>
                <a:latin typeface="DejaVu Sans"/>
                <a:cs typeface="DejaVu Sans"/>
              </a:rPr>
              <a:t>Kotlin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888955" y="4315400"/>
            <a:ext cx="4561875" cy="5664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"Motion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giúp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người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dùng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hiểu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cách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các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yếu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tố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trong</a:t>
            </a:r>
            <a:r>
              <a:rPr dirty="0" sz="1500" spc="12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chuyển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đổi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có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liên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quan."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339304" y="4517689"/>
            <a:ext cx="976502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Declarative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461765" y="4517689"/>
            <a:ext cx="1244411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Code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Eﬃciency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960685" y="5296475"/>
            <a:ext cx="2713050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Định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hướng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Người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dùng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4841676" y="5296475"/>
            <a:ext cx="2497234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Phản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hồi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&amp;</a:t>
            </a:r>
            <a:r>
              <a:rPr dirty="0" sz="1500" spc="14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spc="-27" b="1">
                <a:solidFill>
                  <a:srgbClr val="e0e0e0"/>
                </a:solidFill>
                <a:latin typeface="DejaVu Sans"/>
                <a:cs typeface="DejaVu Sans"/>
              </a:rPr>
              <a:t>Trạng</a:t>
            </a:r>
            <a:r>
              <a:rPr dirty="0" sz="1500" spc="4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thái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8722815" y="5296475"/>
            <a:ext cx="2499320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Nâng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cao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spc="-36" b="1">
                <a:solidFill>
                  <a:srgbClr val="e0e0e0"/>
                </a:solidFill>
                <a:latin typeface="DejaVu Sans"/>
                <a:cs typeface="DejaVu Sans"/>
              </a:rPr>
              <a:t>Trải</a:t>
            </a:r>
            <a:r>
              <a:rPr dirty="0" sz="1500" spc="43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nghiệm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551556" y="5707559"/>
            <a:ext cx="3199724" cy="4215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Giúp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người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dùng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điều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hướng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hiểu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20">
                <a:solidFill>
                  <a:srgbClr val="d1d5db"/>
                </a:solidFill>
                <a:latin typeface="DejaVu Sans"/>
                <a:cs typeface="DejaVu Sans"/>
              </a:rPr>
              <a:t>mối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quan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hệ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giữa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phần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tử</a:t>
            </a: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UI.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4432547" y="5707559"/>
            <a:ext cx="3299026" cy="4215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Cung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cấp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phản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hồi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kịp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thời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chỉ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ra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trạng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thái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của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hành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động.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8313687" y="5707559"/>
            <a:ext cx="3445629" cy="4215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Thêm</a:t>
            </a:r>
            <a:r>
              <a:rPr dirty="0" sz="1200" spc="-17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cá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tính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làm</a:t>
            </a:r>
            <a:r>
              <a:rPr dirty="0" sz="1200" spc="-2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phong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phú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d1d5db"/>
                </a:solidFill>
                <a:latin typeface="DejaVu Sans"/>
                <a:cs typeface="DejaVu Sans"/>
              </a:rPr>
              <a:t>trải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nghiệm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tương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d1d5db"/>
                </a:solidFill>
                <a:latin typeface="DejaVu Sans"/>
                <a:cs typeface="DejaVu Sans"/>
              </a:rPr>
              <a:t>tác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người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dùng.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6362104" y="6384588"/>
            <a:ext cx="5174606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Nguồn: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Views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|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Android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Developers,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Understanding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motion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-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Material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Design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2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7019185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80999" y="308667"/>
            <a:ext cx="7888232" cy="78308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866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spc="15">
                <a:solidFill>
                  <a:srgbClr val="e0e0e0"/>
                </a:solidFill>
                <a:latin typeface="DejaVu Sans"/>
                <a:cs typeface="DejaVu Sans"/>
              </a:rPr>
              <a:t>Tổng</a:t>
            </a:r>
            <a:r>
              <a:rPr dirty="0" sz="3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3000" spc="15">
                <a:solidFill>
                  <a:srgbClr val="e0e0e0"/>
                </a:solidFill>
                <a:latin typeface="DejaVu Sans"/>
                <a:cs typeface="DejaVu Sans"/>
              </a:rPr>
              <a:t>quan</a:t>
            </a:r>
            <a:r>
              <a:rPr dirty="0" sz="3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3000" spc="14">
                <a:solidFill>
                  <a:srgbClr val="e0e0e0"/>
                </a:solidFill>
                <a:latin typeface="DejaVu Sans"/>
                <a:cs typeface="DejaVu Sans"/>
              </a:rPr>
              <a:t>về</a:t>
            </a:r>
            <a:r>
              <a:rPr dirty="0" sz="3000" spc="39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5050" spc="-20" b="1">
                <a:solidFill>
                  <a:srgbClr val="00bcd4"/>
                </a:solidFill>
                <a:latin typeface="DejaVu Sans"/>
                <a:cs typeface="DejaVu Sans"/>
              </a:rPr>
              <a:t>MotionLayout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72331" y="1638121"/>
            <a:ext cx="4086885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1">
                <a:solidFill>
                  <a:srgbClr val="e0e0e0"/>
                </a:solidFill>
                <a:latin typeface="DejaVu Sans"/>
                <a:cs typeface="DejaVu Sans"/>
              </a:rPr>
              <a:t>Là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5">
                <a:solidFill>
                  <a:srgbClr val="e0e0e0"/>
                </a:solidFill>
                <a:latin typeface="DejaVu Sans"/>
                <a:cs typeface="DejaVu Sans"/>
              </a:rPr>
              <a:t>một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phần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e0e0e0"/>
                </a:solidFill>
                <a:latin typeface="DejaVu Sans"/>
                <a:cs typeface="DejaVu Sans"/>
              </a:rPr>
              <a:t>của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ff9800"/>
                </a:solidFill>
                <a:latin typeface="DejaVu Sans"/>
                <a:cs typeface="DejaVu Sans"/>
              </a:rPr>
              <a:t>ConstraintLayout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272331" y="1942921"/>
            <a:ext cx="776957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2" b="1">
                <a:solidFill>
                  <a:srgbClr val="ff9800"/>
                </a:solidFill>
                <a:latin typeface="DejaVu Sans"/>
                <a:cs typeface="DejaVu Sans"/>
              </a:rPr>
              <a:t>2.0+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339304" y="2326939"/>
            <a:ext cx="916862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Android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UI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402234" y="2326939"/>
            <a:ext cx="1217796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Layout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System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272331" y="2733496"/>
            <a:ext cx="4364960" cy="5817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4">
                <a:solidFill>
                  <a:srgbClr val="e0e0e0"/>
                </a:solidFill>
                <a:latin typeface="DejaVu Sans"/>
                <a:cs typeface="DejaVu Sans"/>
              </a:rPr>
              <a:t>Cho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phép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e0e0e0"/>
                </a:solidFill>
                <a:latin typeface="DejaVu Sans"/>
                <a:cs typeface="DejaVu Sans"/>
              </a:rPr>
              <a:t>tạo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ff9800"/>
                </a:solidFill>
                <a:latin typeface="DejaVu Sans"/>
                <a:cs typeface="DejaVu Sans"/>
              </a:rPr>
              <a:t>hoạt</a:t>
            </a:r>
            <a:r>
              <a:rPr dirty="0" sz="1700" b="1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ff9800"/>
                </a:solidFill>
                <a:latin typeface="DejaVu Sans"/>
                <a:cs typeface="DejaVu Sans"/>
              </a:rPr>
              <a:t>ảnh</a:t>
            </a:r>
            <a:r>
              <a:rPr dirty="0" sz="1700" b="1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700" b="1">
                <a:solidFill>
                  <a:srgbClr val="ff9800"/>
                </a:solidFill>
                <a:latin typeface="DejaVu Sans"/>
                <a:cs typeface="DejaVu Sans"/>
              </a:rPr>
              <a:t>&amp;</a:t>
            </a:r>
            <a:r>
              <a:rPr dirty="0" sz="1700" spc="-25" b="1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ff9800"/>
                </a:solidFill>
                <a:latin typeface="DejaVu Sans"/>
                <a:cs typeface="DejaVu Sans"/>
              </a:rPr>
              <a:t>chuyển</a:t>
            </a:r>
            <a:r>
              <a:rPr dirty="0" sz="1700" b="1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ff9800"/>
                </a:solidFill>
                <a:latin typeface="DejaVu Sans"/>
                <a:cs typeface="DejaVu Sans"/>
              </a:rPr>
              <a:t>đổi</a:t>
            </a:r>
          </a:p>
          <a:p>
            <a:pPr marL="0" marR="0">
              <a:lnSpc>
                <a:spcPts val="1955"/>
              </a:lnSpc>
              <a:spcBef>
                <a:spcPts val="319"/>
              </a:spcBef>
              <a:spcAft>
                <a:spcPts val="0"/>
              </a:spcAft>
            </a:pPr>
            <a:r>
              <a:rPr dirty="0" sz="1700" spc="-15" b="1">
                <a:solidFill>
                  <a:srgbClr val="ff9800"/>
                </a:solidFill>
                <a:latin typeface="DejaVu Sans"/>
                <a:cs typeface="DejaVu Sans"/>
              </a:rPr>
              <a:t>phức</a:t>
            </a:r>
            <a:r>
              <a:rPr dirty="0" sz="1700" b="1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700" spc="-12" b="1">
                <a:solidFill>
                  <a:srgbClr val="ff9800"/>
                </a:solidFill>
                <a:latin typeface="DejaVu Sans"/>
                <a:cs typeface="DejaVu Sans"/>
              </a:rPr>
              <a:t>tạp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339304" y="3422314"/>
            <a:ext cx="1316470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Complex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Motion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801838" y="3422314"/>
            <a:ext cx="907309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Rich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UI/UX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451376" y="3745409"/>
            <a:ext cx="3327060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7">
                <a:solidFill>
                  <a:srgbClr val="d1d5db"/>
                </a:solidFill>
                <a:latin typeface="DejaVu Sans"/>
                <a:cs typeface="DejaVu Sans"/>
              </a:rPr>
              <a:t>Ví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dụ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hoạt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ảnh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phức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d1d5db"/>
                </a:solidFill>
                <a:latin typeface="DejaVu Sans"/>
                <a:cs typeface="DejaVu Sans"/>
              </a:rPr>
              <a:t>tạp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với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MotionLayout.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272331" y="3828871"/>
            <a:ext cx="4001642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Khai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báo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hoạt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ảnh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20">
                <a:solidFill>
                  <a:srgbClr val="e0e0e0"/>
                </a:solidFill>
                <a:latin typeface="DejaVu Sans"/>
                <a:cs typeface="DejaVu Sans"/>
              </a:rPr>
              <a:t>trong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5">
                <a:solidFill>
                  <a:srgbClr val="e0e0e0"/>
                </a:solidFill>
                <a:latin typeface="DejaVu Sans"/>
                <a:cs typeface="DejaVu Sans"/>
              </a:rPr>
              <a:t>XML,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b="1">
                <a:solidFill>
                  <a:srgbClr val="ff9800"/>
                </a:solidFill>
                <a:latin typeface="DejaVu Sans"/>
                <a:cs typeface="DejaVu Sans"/>
              </a:rPr>
              <a:t>ít</a:t>
            </a:r>
            <a:r>
              <a:rPr dirty="0" sz="1700" spc="-10" b="1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700" spc="-21" b="1">
                <a:solidFill>
                  <a:srgbClr val="ff9800"/>
                </a:solidFill>
                <a:latin typeface="DejaVu Sans"/>
                <a:cs typeface="DejaVu Sans"/>
              </a:rPr>
              <a:t>mã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272331" y="4124146"/>
            <a:ext cx="932289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 b="1">
                <a:solidFill>
                  <a:srgbClr val="ff9800"/>
                </a:solidFill>
                <a:latin typeface="DejaVu Sans"/>
                <a:cs typeface="DejaVu Sans"/>
              </a:rPr>
              <a:t>Kotlin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888955" y="4315400"/>
            <a:ext cx="4561875" cy="5664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"Motion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giúp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người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dùng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hiểu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cách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các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yếu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tố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trong</a:t>
            </a:r>
            <a:r>
              <a:rPr dirty="0" sz="1500" spc="12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chuyển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đổi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có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liên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quan."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339304" y="4517689"/>
            <a:ext cx="976502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Declarative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461765" y="4517689"/>
            <a:ext cx="1244411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Code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Eﬃciency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960685" y="5296475"/>
            <a:ext cx="2713050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Định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hướng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Người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dùng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4841676" y="5296475"/>
            <a:ext cx="2497234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Phản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hồi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&amp;</a:t>
            </a:r>
            <a:r>
              <a:rPr dirty="0" sz="1500" spc="14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spc="-27" b="1">
                <a:solidFill>
                  <a:srgbClr val="e0e0e0"/>
                </a:solidFill>
                <a:latin typeface="DejaVu Sans"/>
                <a:cs typeface="DejaVu Sans"/>
              </a:rPr>
              <a:t>Trạng</a:t>
            </a:r>
            <a:r>
              <a:rPr dirty="0" sz="1500" spc="4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thái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8722815" y="5296475"/>
            <a:ext cx="2499320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Nâng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cao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spc="-36" b="1">
                <a:solidFill>
                  <a:srgbClr val="e0e0e0"/>
                </a:solidFill>
                <a:latin typeface="DejaVu Sans"/>
                <a:cs typeface="DejaVu Sans"/>
              </a:rPr>
              <a:t>Trải</a:t>
            </a:r>
            <a:r>
              <a:rPr dirty="0" sz="1500" spc="43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nghiệm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551556" y="5707559"/>
            <a:ext cx="3199724" cy="4215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Giúp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người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dùng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điều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hướng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hiểu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20">
                <a:solidFill>
                  <a:srgbClr val="d1d5db"/>
                </a:solidFill>
                <a:latin typeface="DejaVu Sans"/>
                <a:cs typeface="DejaVu Sans"/>
              </a:rPr>
              <a:t>mối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quan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hệ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giữa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phần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tử</a:t>
            </a: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UI.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4432547" y="5707559"/>
            <a:ext cx="3299026" cy="4215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Cung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cấp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phản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hồi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kịp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thời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chỉ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ra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trạng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thái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của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hành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động.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8313687" y="5707559"/>
            <a:ext cx="3445629" cy="4215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Thêm</a:t>
            </a:r>
            <a:r>
              <a:rPr dirty="0" sz="1200" spc="-17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cá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tính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làm</a:t>
            </a:r>
            <a:r>
              <a:rPr dirty="0" sz="1200" spc="-2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phong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phú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d1d5db"/>
                </a:solidFill>
                <a:latin typeface="DejaVu Sans"/>
                <a:cs typeface="DejaVu Sans"/>
              </a:rPr>
              <a:t>trải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nghiệm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tương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d1d5db"/>
                </a:solidFill>
                <a:latin typeface="DejaVu Sans"/>
                <a:cs typeface="DejaVu Sans"/>
              </a:rPr>
              <a:t>tác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người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dùng.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6362104" y="6384588"/>
            <a:ext cx="5174606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Nguồn: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Views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|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Android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Developers,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Understanding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motion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-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Material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Design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2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73787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80999" y="375723"/>
            <a:ext cx="3600259" cy="4671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378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spc="15" b="1">
                <a:solidFill>
                  <a:srgbClr val="e0e0e0"/>
                </a:solidFill>
                <a:latin typeface="Liberation Sans"/>
                <a:cs typeface="Liberation Sans"/>
              </a:rPr>
              <a:t>Ví</a:t>
            </a:r>
            <a:r>
              <a:rPr dirty="0" sz="3000" b="1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e0e0e0"/>
                </a:solidFill>
                <a:latin typeface="Liberation Sans"/>
                <a:cs typeface="Liberation Sans"/>
              </a:rPr>
              <a:t>d</a:t>
            </a:r>
            <a:r>
              <a:rPr dirty="0" sz="3000" spc="1971" b="1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3000" spc="12" b="1" i="1">
                <a:solidFill>
                  <a:srgbClr val="00bcd4"/>
                </a:solidFill>
                <a:latin typeface="Liberation Sans"/>
                <a:cs typeface="Liberation Sans"/>
              </a:rPr>
              <a:t>MotionScene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75084" y="1253613"/>
            <a:ext cx="3750206" cy="32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ffffff"/>
                </a:solidFill>
                <a:latin typeface="Liberation Sans"/>
                <a:cs typeface="Liberation Sans"/>
              </a:rPr>
              <a:t>MotionLayout</a:t>
            </a:r>
            <a:r>
              <a:rPr dirty="0" sz="2000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ffffff"/>
                </a:solidFill>
                <a:latin typeface="Liberation Sans"/>
                <a:cs typeface="Liberation Sans"/>
              </a:rPr>
              <a:t>&amp;</a:t>
            </a:r>
            <a:r>
              <a:rPr dirty="0" sz="2000" spc="15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ffffff"/>
                </a:solidFill>
                <a:latin typeface="Liberation Sans"/>
                <a:cs typeface="Liberation Sans"/>
              </a:rPr>
              <a:t>MotionScene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226641" y="1778283"/>
            <a:ext cx="1410963" cy="2526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ffffff"/>
                </a:solidFill>
                <a:latin typeface="Liberation Sans"/>
                <a:cs typeface="Liberation Sans"/>
              </a:rPr>
              <a:t>MotionLayout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226641" y="2061135"/>
            <a:ext cx="2902413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d1d5db"/>
                </a:solidFill>
                <a:latin typeface="Liberation Sans"/>
                <a:cs typeface="Liberation Sans"/>
              </a:rPr>
              <a:t>Qu</a:t>
            </a:r>
            <a:r>
              <a:rPr dirty="0" sz="1200" spc="15">
                <a:solidFill>
                  <a:srgbClr val="d1d5db"/>
                </a:solidFill>
                <a:latin typeface="DejaVu Sans"/>
                <a:cs typeface="DejaVu Sans"/>
              </a:rPr>
              <a:t>ả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n</a:t>
            </a:r>
            <a:r>
              <a:rPr dirty="0" sz="1200" spc="-2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lý</a:t>
            </a:r>
            <a:r>
              <a:rPr dirty="0" sz="1200" spc="-14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Liberation Sans"/>
                <a:cs typeface="Liberation Sans"/>
              </a:rPr>
              <a:t>chuy</a:t>
            </a:r>
            <a:r>
              <a:rPr dirty="0" sz="1200" spc="11">
                <a:solidFill>
                  <a:srgbClr val="d1d5db"/>
                </a:solidFill>
                <a:latin typeface="DejaVu Sans"/>
                <a:cs typeface="DejaVu Sans"/>
              </a:rPr>
              <a:t>ể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n</a:t>
            </a:r>
            <a:r>
              <a:rPr dirty="0" sz="1200" spc="-2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Liberation Sans"/>
                <a:cs typeface="Liberation Sans"/>
              </a:rPr>
              <a:t>đ</a:t>
            </a:r>
            <a:r>
              <a:rPr dirty="0" sz="1200" spc="15">
                <a:solidFill>
                  <a:srgbClr val="d1d5db"/>
                </a:solidFill>
                <a:latin typeface="DejaVu Sans"/>
                <a:cs typeface="DejaVu Sans"/>
              </a:rPr>
              <a:t>ộ</a:t>
            </a:r>
            <a:r>
              <a:rPr dirty="0" sz="1200" spc="-14">
                <a:solidFill>
                  <a:srgbClr val="d1d5db"/>
                </a:solidFill>
                <a:latin typeface="Liberation Sans"/>
                <a:cs typeface="Liberation Sans"/>
              </a:rPr>
              <a:t>ng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&amp;</a:t>
            </a:r>
            <a:r>
              <a:rPr dirty="0" sz="1200" spc="-23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Liberation Sans"/>
                <a:cs typeface="Liberation Sans"/>
              </a:rPr>
              <a:t>ho</a:t>
            </a:r>
            <a:r>
              <a:rPr dirty="0" sz="1200" spc="15">
                <a:solidFill>
                  <a:srgbClr val="d1d5db"/>
                </a:solidFill>
                <a:latin typeface="DejaVu Sans"/>
                <a:cs typeface="DejaVu Sans"/>
              </a:rPr>
              <a:t>ạ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t</a:t>
            </a:r>
            <a:r>
              <a:rPr dirty="0" sz="1200" spc="-14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dirty="0" sz="1200" spc="15">
                <a:solidFill>
                  <a:srgbClr val="d1d5db"/>
                </a:solidFill>
                <a:latin typeface="DejaVu Sans"/>
                <a:cs typeface="DejaVu Sans"/>
              </a:rPr>
              <a:t>ả</a:t>
            </a:r>
            <a:r>
              <a:rPr dirty="0" sz="1200" spc="-14">
                <a:solidFill>
                  <a:srgbClr val="d1d5db"/>
                </a:solidFill>
                <a:latin typeface="Liberation Sans"/>
                <a:cs typeface="Liberation Sans"/>
              </a:rPr>
              <a:t>nh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dirty="0" sz="1200" spc="-11">
                <a:solidFill>
                  <a:srgbClr val="d1d5db"/>
                </a:solidFill>
                <a:latin typeface="Liberation Sans"/>
                <a:cs typeface="Liberation Sans"/>
              </a:rPr>
              <a:t>widget.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226641" y="2464083"/>
            <a:ext cx="1347299" cy="2526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ffffff"/>
                </a:solidFill>
                <a:latin typeface="Liberation Sans"/>
                <a:cs typeface="Liberation Sans"/>
              </a:rPr>
              <a:t>MotionScene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226641" y="2737410"/>
            <a:ext cx="3528580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20">
                <a:solidFill>
                  <a:srgbClr val="d1d5db"/>
                </a:solidFill>
                <a:latin typeface="Liberation Sans"/>
                <a:cs typeface="Liberation Sans"/>
              </a:rPr>
              <a:t>Mô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t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ả</a:t>
            </a:r>
            <a:r>
              <a:rPr dirty="0" sz="1200" spc="40">
                <a:solidFill>
                  <a:srgbClr val="d1d5db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d1d5db"/>
                </a:solidFill>
                <a:latin typeface="Liberation Sans"/>
                <a:cs typeface="Liberation Sans"/>
              </a:rPr>
              <a:t>toàn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Liberation Sans"/>
                <a:cs typeface="Liberation Sans"/>
              </a:rPr>
              <a:t>b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ộ</a:t>
            </a:r>
            <a:r>
              <a:rPr dirty="0" sz="1200" spc="41">
                <a:solidFill>
                  <a:srgbClr val="d1d5db"/>
                </a:solidFill>
                <a:latin typeface="Times New Roman"/>
                <a:cs typeface="Times New Roman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Liberation Sans"/>
                <a:cs typeface="Liberation Sans"/>
              </a:rPr>
              <a:t>chuy</a:t>
            </a:r>
            <a:r>
              <a:rPr dirty="0" sz="1200" spc="11">
                <a:solidFill>
                  <a:srgbClr val="d1d5db"/>
                </a:solidFill>
                <a:latin typeface="DejaVu Sans"/>
                <a:cs typeface="DejaVu Sans"/>
              </a:rPr>
              <a:t>ể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n</a:t>
            </a:r>
            <a:r>
              <a:rPr dirty="0" sz="1200" spc="-2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Liberation Sans"/>
                <a:cs typeface="Liberation Sans"/>
              </a:rPr>
              <a:t>đ</a:t>
            </a:r>
            <a:r>
              <a:rPr dirty="0" sz="1200" spc="15">
                <a:solidFill>
                  <a:srgbClr val="d1d5db"/>
                </a:solidFill>
                <a:latin typeface="DejaVu Sans"/>
                <a:cs typeface="DejaVu Sans"/>
              </a:rPr>
              <a:t>ộ</a:t>
            </a:r>
            <a:r>
              <a:rPr dirty="0" sz="1200" spc="-14">
                <a:solidFill>
                  <a:srgbClr val="d1d5db"/>
                </a:solidFill>
                <a:latin typeface="Liberation Sans"/>
                <a:cs typeface="Liberation Sans"/>
              </a:rPr>
              <a:t>ng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dirty="0" sz="1200" spc="-10">
                <a:solidFill>
                  <a:srgbClr val="d1d5db"/>
                </a:solidFill>
                <a:latin typeface="Liberation Sans"/>
                <a:cs typeface="Liberation Sans"/>
              </a:rPr>
              <a:t>gi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ữ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a</a:t>
            </a:r>
            <a:r>
              <a:rPr dirty="0" sz="1200" spc="-2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Liberation Sans"/>
                <a:cs typeface="Liberation Sans"/>
              </a:rPr>
              <a:t>các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tr</a:t>
            </a:r>
            <a:r>
              <a:rPr dirty="0" sz="1200" spc="15">
                <a:solidFill>
                  <a:srgbClr val="d1d5db"/>
                </a:solidFill>
                <a:latin typeface="DejaVu Sans"/>
                <a:cs typeface="DejaVu Sans"/>
              </a:rPr>
              <a:t>ạ</a:t>
            </a:r>
            <a:r>
              <a:rPr dirty="0" sz="1200" spc="-14">
                <a:solidFill>
                  <a:srgbClr val="d1d5db"/>
                </a:solidFill>
                <a:latin typeface="Liberation Sans"/>
                <a:cs typeface="Liberation Sans"/>
              </a:rPr>
              <a:t>ng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dirty="0" sz="1200" spc="-10">
                <a:solidFill>
                  <a:srgbClr val="d1d5db"/>
                </a:solidFill>
                <a:latin typeface="Liberation Sans"/>
                <a:cs typeface="Liberation Sans"/>
              </a:rPr>
              <a:t>thái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dirty="0" sz="1200" spc="-11">
                <a:solidFill>
                  <a:srgbClr val="d1d5db"/>
                </a:solidFill>
                <a:latin typeface="Liberation Sans"/>
                <a:cs typeface="Liberation Sans"/>
              </a:rPr>
              <a:t>UI.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75084" y="3127935"/>
            <a:ext cx="4629180" cy="2119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2" i="1">
                <a:solidFill>
                  <a:srgbClr val="9ca3af"/>
                </a:solidFill>
                <a:latin typeface="Liberation Sans"/>
                <a:cs typeface="Liberation Sans"/>
              </a:rPr>
              <a:t>"C</a:t>
            </a:r>
            <a:r>
              <a:rPr dirty="0" sz="1200" spc="15">
                <a:solidFill>
                  <a:srgbClr val="9ca3af"/>
                </a:solidFill>
                <a:latin typeface="DejaVu Sans"/>
                <a:cs typeface="DejaVu Sans"/>
              </a:rPr>
              <a:t>ầ</a:t>
            </a:r>
            <a:r>
              <a:rPr dirty="0" sz="1200" i="1">
                <a:solidFill>
                  <a:srgbClr val="9ca3af"/>
                </a:solidFill>
                <a:latin typeface="Liberation Sans"/>
                <a:cs typeface="Liberation Sans"/>
              </a:rPr>
              <a:t>u</a:t>
            </a:r>
            <a:r>
              <a:rPr dirty="0" sz="1200" spc="-20" i="1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1200" spc="-14" i="1">
                <a:solidFill>
                  <a:srgbClr val="9ca3af"/>
                </a:solidFill>
                <a:latin typeface="Liberation Sans"/>
                <a:cs typeface="Liberation Sans"/>
              </a:rPr>
              <a:t>n</a:t>
            </a:r>
            <a:r>
              <a:rPr dirty="0" sz="1200" spc="15">
                <a:solidFill>
                  <a:srgbClr val="9ca3af"/>
                </a:solidFill>
                <a:latin typeface="DejaVu Sans"/>
                <a:cs typeface="DejaVu Sans"/>
              </a:rPr>
              <a:t>ố</a:t>
            </a:r>
            <a:r>
              <a:rPr dirty="0" sz="1200" i="1">
                <a:solidFill>
                  <a:srgbClr val="9ca3af"/>
                </a:solidFill>
                <a:latin typeface="Liberation Sans"/>
                <a:cs typeface="Liberation Sans"/>
              </a:rPr>
              <a:t>i</a:t>
            </a:r>
            <a:r>
              <a:rPr dirty="0" sz="1200" spc="-11" i="1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1200" spc="-10" i="1">
                <a:solidFill>
                  <a:srgbClr val="9ca3af"/>
                </a:solidFill>
                <a:latin typeface="Liberation Sans"/>
                <a:cs typeface="Liberation Sans"/>
              </a:rPr>
              <a:t>gi</a:t>
            </a:r>
            <a:r>
              <a:rPr dirty="0" sz="1200" spc="-10">
                <a:solidFill>
                  <a:srgbClr val="9ca3af"/>
                </a:solidFill>
                <a:latin typeface="DejaVu Sans"/>
                <a:cs typeface="DejaVu Sans"/>
              </a:rPr>
              <a:t>ữ</a:t>
            </a:r>
            <a:r>
              <a:rPr dirty="0" sz="1200" i="1">
                <a:solidFill>
                  <a:srgbClr val="9ca3af"/>
                </a:solidFill>
                <a:latin typeface="Liberation Sans"/>
                <a:cs typeface="Liberation Sans"/>
              </a:rPr>
              <a:t>a</a:t>
            </a:r>
            <a:r>
              <a:rPr dirty="0" sz="1200" spc="-20" i="1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1200" spc="-12" i="1">
                <a:solidFill>
                  <a:srgbClr val="9ca3af"/>
                </a:solidFill>
                <a:latin typeface="Liberation Sans"/>
                <a:cs typeface="Liberation Sans"/>
              </a:rPr>
              <a:t>chuy</a:t>
            </a:r>
            <a:r>
              <a:rPr dirty="0" sz="1200" spc="11">
                <a:solidFill>
                  <a:srgbClr val="9ca3af"/>
                </a:solidFill>
                <a:latin typeface="DejaVu Sans"/>
                <a:cs typeface="DejaVu Sans"/>
              </a:rPr>
              <a:t>ể</a:t>
            </a:r>
            <a:r>
              <a:rPr dirty="0" sz="1200" i="1">
                <a:solidFill>
                  <a:srgbClr val="9ca3af"/>
                </a:solidFill>
                <a:latin typeface="Liberation Sans"/>
                <a:cs typeface="Liberation Sans"/>
              </a:rPr>
              <a:t>n</a:t>
            </a:r>
            <a:r>
              <a:rPr dirty="0" sz="1200" spc="-20" i="1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1200" i="1">
                <a:solidFill>
                  <a:srgbClr val="9ca3af"/>
                </a:solidFill>
                <a:latin typeface="Liberation Sans"/>
                <a:cs typeface="Liberation Sans"/>
              </a:rPr>
              <a:t>ti</a:t>
            </a:r>
            <a:r>
              <a:rPr dirty="0" sz="1200" spc="11">
                <a:solidFill>
                  <a:srgbClr val="9ca3af"/>
                </a:solidFill>
                <a:latin typeface="DejaVu Sans"/>
                <a:cs typeface="DejaVu Sans"/>
              </a:rPr>
              <a:t>ế</a:t>
            </a:r>
            <a:r>
              <a:rPr dirty="0" sz="1200" i="1">
                <a:solidFill>
                  <a:srgbClr val="9ca3af"/>
                </a:solidFill>
                <a:latin typeface="Liberation Sans"/>
                <a:cs typeface="Liberation Sans"/>
              </a:rPr>
              <a:t>p</a:t>
            </a:r>
            <a:r>
              <a:rPr dirty="0" sz="1200" spc="-20" i="1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1200" spc="-14" i="1">
                <a:solidFill>
                  <a:srgbClr val="9ca3af"/>
                </a:solidFill>
                <a:latin typeface="Liberation Sans"/>
                <a:cs typeface="Liberation Sans"/>
              </a:rPr>
              <a:t>b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ố</a:t>
            </a:r>
            <a:r>
              <a:rPr dirty="0" sz="1200" spc="41">
                <a:solidFill>
                  <a:srgbClr val="9ca3af"/>
                </a:solidFill>
                <a:latin typeface="Times New Roman"/>
                <a:cs typeface="Times New Roman"/>
              </a:rPr>
              <a:t> </a:t>
            </a:r>
            <a:r>
              <a:rPr dirty="0" sz="1200" spc="-11" i="1">
                <a:solidFill>
                  <a:srgbClr val="9ca3af"/>
                </a:solidFill>
                <a:latin typeface="Liberation Sans"/>
                <a:cs typeface="Liberation Sans"/>
              </a:rPr>
              <a:t>c</a:t>
            </a:r>
            <a:r>
              <a:rPr dirty="0" sz="1200" spc="-10">
                <a:solidFill>
                  <a:srgbClr val="9ca3af"/>
                </a:solidFill>
                <a:latin typeface="DejaVu Sans"/>
                <a:cs typeface="DejaVu Sans"/>
              </a:rPr>
              <a:t>ụ</a:t>
            </a:r>
            <a:r>
              <a:rPr dirty="0" sz="1200" i="1">
                <a:solidFill>
                  <a:srgbClr val="9ca3af"/>
                </a:solidFill>
                <a:latin typeface="Liberation Sans"/>
                <a:cs typeface="Liberation Sans"/>
              </a:rPr>
              <a:t>c</a:t>
            </a:r>
            <a:r>
              <a:rPr dirty="0" sz="1200" spc="-18" i="1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1200" spc="-11" i="1">
                <a:solidFill>
                  <a:srgbClr val="9ca3af"/>
                </a:solidFill>
                <a:latin typeface="Liberation Sans"/>
                <a:cs typeface="Liberation Sans"/>
              </a:rPr>
              <a:t>và</a:t>
            </a:r>
            <a:r>
              <a:rPr dirty="0" sz="1200" i="1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1200" spc="-11" i="1">
                <a:solidFill>
                  <a:srgbClr val="9ca3af"/>
                </a:solidFill>
                <a:latin typeface="Liberation Sans"/>
                <a:cs typeface="Liberation Sans"/>
              </a:rPr>
              <a:t>x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ử</a:t>
            </a:r>
            <a:r>
              <a:rPr dirty="0" sz="1200" spc="15">
                <a:solidFill>
                  <a:srgbClr val="9ca3af"/>
                </a:solidFill>
                <a:latin typeface="Times New Roman"/>
                <a:cs typeface="Times New Roman"/>
              </a:rPr>
              <a:t> </a:t>
            </a:r>
            <a:r>
              <a:rPr dirty="0" sz="1200" i="1">
                <a:solidFill>
                  <a:srgbClr val="9ca3af"/>
                </a:solidFill>
                <a:latin typeface="Liberation Sans"/>
                <a:cs typeface="Liberation Sans"/>
              </a:rPr>
              <a:t>lý</a:t>
            </a:r>
            <a:r>
              <a:rPr dirty="0" sz="1200" spc="-14" i="1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1200" spc="-12" i="1">
                <a:solidFill>
                  <a:srgbClr val="9ca3af"/>
                </a:solidFill>
                <a:latin typeface="Liberation Sans"/>
                <a:cs typeface="Liberation Sans"/>
              </a:rPr>
              <a:t>chuy</a:t>
            </a:r>
            <a:r>
              <a:rPr dirty="0" sz="1200" spc="11">
                <a:solidFill>
                  <a:srgbClr val="9ca3af"/>
                </a:solidFill>
                <a:latin typeface="DejaVu Sans"/>
                <a:cs typeface="DejaVu Sans"/>
              </a:rPr>
              <a:t>ể</a:t>
            </a:r>
            <a:r>
              <a:rPr dirty="0" sz="1200" i="1">
                <a:solidFill>
                  <a:srgbClr val="9ca3af"/>
                </a:solidFill>
                <a:latin typeface="Liberation Sans"/>
                <a:cs typeface="Liberation Sans"/>
              </a:rPr>
              <a:t>n</a:t>
            </a:r>
            <a:r>
              <a:rPr dirty="0" sz="1200" spc="-20" i="1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1200" spc="-14" i="1">
                <a:solidFill>
                  <a:srgbClr val="9ca3af"/>
                </a:solidFill>
                <a:latin typeface="Liberation Sans"/>
                <a:cs typeface="Liberation Sans"/>
              </a:rPr>
              <a:t>đ</a:t>
            </a:r>
            <a:r>
              <a:rPr dirty="0" sz="1200" spc="15">
                <a:solidFill>
                  <a:srgbClr val="9ca3af"/>
                </a:solidFill>
                <a:latin typeface="DejaVu Sans"/>
                <a:cs typeface="DejaVu Sans"/>
              </a:rPr>
              <a:t>ộ</a:t>
            </a:r>
            <a:r>
              <a:rPr dirty="0" sz="1200" spc="-14" i="1">
                <a:solidFill>
                  <a:srgbClr val="9ca3af"/>
                </a:solidFill>
                <a:latin typeface="Liberation Sans"/>
                <a:cs typeface="Liberation Sans"/>
              </a:rPr>
              <a:t>ng</a:t>
            </a:r>
            <a:r>
              <a:rPr dirty="0" sz="1200" i="1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1200" spc="-14" i="1">
                <a:solidFill>
                  <a:srgbClr val="9ca3af"/>
                </a:solidFill>
                <a:latin typeface="Liberation Sans"/>
                <a:cs typeface="Liberation Sans"/>
              </a:rPr>
              <a:t>ph</a:t>
            </a:r>
            <a:r>
              <a:rPr dirty="0" sz="1200" spc="-10">
                <a:solidFill>
                  <a:srgbClr val="9ca3af"/>
                </a:solidFill>
                <a:latin typeface="DejaVu Sans"/>
                <a:cs typeface="DejaVu Sans"/>
              </a:rPr>
              <a:t>ứ</a:t>
            </a:r>
            <a:r>
              <a:rPr dirty="0" sz="1200" i="1">
                <a:solidFill>
                  <a:srgbClr val="9ca3af"/>
                </a:solidFill>
                <a:latin typeface="Liberation Sans"/>
                <a:cs typeface="Liberation Sans"/>
              </a:rPr>
              <a:t>c</a:t>
            </a:r>
            <a:r>
              <a:rPr dirty="0" sz="1200" spc="-18" i="1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1200" i="1">
                <a:solidFill>
                  <a:srgbClr val="9ca3af"/>
                </a:solidFill>
                <a:latin typeface="Liberation Sans"/>
                <a:cs typeface="Liberation Sans"/>
              </a:rPr>
              <a:t>t</a:t>
            </a:r>
            <a:r>
              <a:rPr dirty="0" sz="1200" spc="15">
                <a:solidFill>
                  <a:srgbClr val="9ca3af"/>
                </a:solidFill>
                <a:latin typeface="DejaVu Sans"/>
                <a:cs typeface="DejaVu Sans"/>
              </a:rPr>
              <a:t>ạ</a:t>
            </a:r>
            <a:r>
              <a:rPr dirty="0" sz="1200" spc="-10" i="1">
                <a:solidFill>
                  <a:srgbClr val="9ca3af"/>
                </a:solidFill>
                <a:latin typeface="Liberation Sans"/>
                <a:cs typeface="Liberation Sans"/>
              </a:rPr>
              <a:t>p."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682132" y="3478992"/>
            <a:ext cx="757119" cy="181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6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e5e7eb"/>
                </a:solidFill>
                <a:latin typeface="Liberation Sans"/>
                <a:cs typeface="Liberation Sans"/>
              </a:rPr>
              <a:t>Android</a:t>
            </a:r>
            <a:r>
              <a:rPr dirty="0" sz="1000">
                <a:solidFill>
                  <a:srgbClr val="e5e7eb"/>
                </a:solidFill>
                <a:latin typeface="Liberation Sans"/>
                <a:cs typeface="Liberation Sans"/>
              </a:rPr>
              <a:t> </a:t>
            </a:r>
            <a:r>
              <a:rPr dirty="0" sz="1000">
                <a:solidFill>
                  <a:srgbClr val="e5e7eb"/>
                </a:solidFill>
                <a:latin typeface="Liberation Sans"/>
                <a:cs typeface="Liberation Sans"/>
              </a:rPr>
              <a:t>UI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632995" y="3478992"/>
            <a:ext cx="1041608" cy="181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6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e5e7eb"/>
                </a:solidFill>
                <a:latin typeface="Liberation Sans"/>
                <a:cs typeface="Liberation Sans"/>
              </a:rPr>
              <a:t>Material</a:t>
            </a:r>
            <a:r>
              <a:rPr dirty="0" sz="1000">
                <a:solidFill>
                  <a:srgbClr val="e5e7eb"/>
                </a:solidFill>
                <a:latin typeface="Liberation Sans"/>
                <a:cs typeface="Liberation Sans"/>
              </a:rPr>
              <a:t> </a:t>
            </a:r>
            <a:r>
              <a:rPr dirty="0" sz="1000">
                <a:solidFill>
                  <a:srgbClr val="e5e7eb"/>
                </a:solidFill>
                <a:latin typeface="Liberation Sans"/>
                <a:cs typeface="Liberation Sans"/>
              </a:rPr>
              <a:t>Design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541566" y="4215888"/>
            <a:ext cx="2672212" cy="32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ffffff"/>
                </a:solidFill>
                <a:latin typeface="Liberation Sans"/>
                <a:cs typeface="Liberation Sans"/>
              </a:rPr>
              <a:t>Đi</a:t>
            </a:r>
            <a:r>
              <a:rPr dirty="0" sz="2000" spc="711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ffffff"/>
                </a:solidFill>
                <a:latin typeface="Liberation Sans"/>
                <a:cs typeface="Liberation Sans"/>
              </a:rPr>
              <a:t>u</a:t>
            </a:r>
            <a:r>
              <a:rPr dirty="0" sz="2000" spc="14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ffffff"/>
                </a:solidFill>
                <a:latin typeface="Liberation Sans"/>
                <a:cs typeface="Liberation Sans"/>
              </a:rPr>
              <a:t>khi</a:t>
            </a:r>
            <a:r>
              <a:rPr dirty="0" sz="2000" spc="715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ffffff"/>
                </a:solidFill>
                <a:latin typeface="Liberation Sans"/>
                <a:cs typeface="Liberation Sans"/>
              </a:rPr>
              <a:t>n</a:t>
            </a:r>
            <a:r>
              <a:rPr dirty="0" sz="2000" spc="14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ffffff"/>
                </a:solidFill>
                <a:latin typeface="Liberation Sans"/>
                <a:cs typeface="Liberation Sans"/>
              </a:rPr>
              <a:t>Ho</a:t>
            </a:r>
            <a:r>
              <a:rPr dirty="0" sz="2000" spc="642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ffffff"/>
                </a:solidFill>
                <a:latin typeface="Liberation Sans"/>
                <a:cs typeface="Liberation Sans"/>
              </a:rPr>
              <a:t>t</a:t>
            </a:r>
            <a:r>
              <a:rPr dirty="0" sz="2000" spc="1210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ffffff"/>
                </a:solidFill>
                <a:latin typeface="Liberation Sans"/>
                <a:cs typeface="Liberation Sans"/>
              </a:rPr>
              <a:t>nh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36984" y="4454013"/>
            <a:ext cx="4511076" cy="32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ffffff"/>
                </a:solidFill>
                <a:latin typeface="Liberation Sans"/>
                <a:cs typeface="Liberation Sans"/>
              </a:rPr>
              <a:t>Đ</a:t>
            </a:r>
            <a:r>
              <a:rPr dirty="0" sz="2000" spc="-18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ffffff"/>
                </a:solidFill>
                <a:latin typeface="Liberation Sans"/>
                <a:cs typeface="Liberation Sans"/>
              </a:rPr>
              <a:t>nh</a:t>
            </a:r>
            <a:r>
              <a:rPr dirty="0" sz="2000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ffffff"/>
                </a:solidFill>
                <a:latin typeface="Liberation Sans"/>
                <a:cs typeface="Liberation Sans"/>
              </a:rPr>
              <a:t>nghĩa</a:t>
            </a:r>
            <a:r>
              <a:rPr dirty="0" sz="2000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2000" spc="-101" b="1">
                <a:solidFill>
                  <a:srgbClr val="ffffff"/>
                </a:solidFill>
                <a:latin typeface="Liberation Sans"/>
                <a:cs typeface="Liberation Sans"/>
              </a:rPr>
              <a:t>Tr</a:t>
            </a:r>
            <a:r>
              <a:rPr dirty="0" sz="2000" spc="751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ffffff"/>
                </a:solidFill>
                <a:latin typeface="Liberation Sans"/>
                <a:cs typeface="Liberation Sans"/>
              </a:rPr>
              <a:t>ng</a:t>
            </a:r>
            <a:r>
              <a:rPr dirty="0" sz="2000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ffffff"/>
                </a:solidFill>
                <a:latin typeface="Liberation Sans"/>
                <a:cs typeface="Liberation Sans"/>
              </a:rPr>
              <a:t>thái</a:t>
            </a:r>
            <a:r>
              <a:rPr dirty="0" sz="2000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ffffff"/>
                </a:solidFill>
                <a:latin typeface="Liberation Sans"/>
                <a:cs typeface="Liberation Sans"/>
              </a:rPr>
              <a:t>&amp;</a:t>
            </a:r>
            <a:r>
              <a:rPr dirty="0" sz="2000" spc="15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ffffff"/>
                </a:solidFill>
                <a:latin typeface="Liberation Sans"/>
                <a:cs typeface="Liberation Sans"/>
              </a:rPr>
              <a:t>Chuy</a:t>
            </a:r>
            <a:r>
              <a:rPr dirty="0" sz="2000" spc="717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ffffff"/>
                </a:solidFill>
                <a:latin typeface="Liberation Sans"/>
                <a:cs typeface="Liberation Sans"/>
              </a:rPr>
              <a:t>n</a:t>
            </a:r>
            <a:r>
              <a:rPr dirty="0" sz="2000" spc="14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ffffff"/>
                </a:solidFill>
                <a:latin typeface="Liberation Sans"/>
                <a:cs typeface="Liberation Sans"/>
              </a:rPr>
              <a:t>đ</a:t>
            </a:r>
            <a:r>
              <a:rPr dirty="0" sz="2000" spc="653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ffffff"/>
                </a:solidFill>
                <a:latin typeface="Liberation Sans"/>
                <a:cs typeface="Liberation Sans"/>
              </a:rPr>
              <a:t>i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8093123" y="4740557"/>
            <a:ext cx="973940" cy="2526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ffffff"/>
                </a:solidFill>
                <a:latin typeface="Liberation Sans"/>
                <a:cs typeface="Liberation Sans"/>
              </a:rPr>
              <a:t>OnSwipe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45641" y="4927405"/>
            <a:ext cx="5318676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i="1">
                <a:solidFill>
                  <a:srgbClr val="d1d5db"/>
                </a:solidFill>
                <a:latin typeface="ARVFNE+Liberation Sans Italic"/>
                <a:cs typeface="ARVFNE+Liberation Sans Italic"/>
              </a:rPr>
              <a:t>M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ộ</a:t>
            </a:r>
            <a:r>
              <a:rPr dirty="0" sz="1350" i="1">
                <a:solidFill>
                  <a:srgbClr val="d1d5db"/>
                </a:solidFill>
                <a:latin typeface="ARVFNE+Liberation Sans Italic"/>
                <a:cs typeface="ARVFNE+Liberation Sans Italic"/>
              </a:rPr>
              <a:t>t</a:t>
            </a:r>
            <a:r>
              <a:rPr dirty="0" sz="1350" i="1">
                <a:solidFill>
                  <a:srgbClr val="d1d5db"/>
                </a:solidFill>
                <a:latin typeface="ARVFNE+Liberation Sans Italic"/>
                <a:cs typeface="ARVFNE+Liberation Sans Italic"/>
              </a:rPr>
              <a:t> </a:t>
            </a:r>
            <a:r>
              <a:rPr dirty="0" sz="1350" b="1" i="1">
                <a:solidFill>
                  <a:srgbClr val="ffffff"/>
                </a:solidFill>
                <a:latin typeface="Liberation Sans"/>
                <a:cs typeface="Liberation Sans"/>
              </a:rPr>
              <a:t>Transition</a:t>
            </a:r>
            <a:r>
              <a:rPr dirty="0" sz="1350" spc="37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 i="1">
                <a:solidFill>
                  <a:srgbClr val="d1d5db"/>
                </a:solidFill>
                <a:latin typeface="ARVFNE+Liberation Sans Italic"/>
                <a:cs typeface="ARVFNE+Liberation Sans Italic"/>
              </a:rPr>
              <a:t>đ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ị</a:t>
            </a:r>
            <a:r>
              <a:rPr dirty="0" sz="1350" i="1">
                <a:solidFill>
                  <a:srgbClr val="d1d5db"/>
                </a:solidFill>
                <a:latin typeface="ARVFNE+Liberation Sans Italic"/>
                <a:cs typeface="ARVFNE+Liberation Sans Italic"/>
              </a:rPr>
              <a:t>nh</a:t>
            </a:r>
            <a:r>
              <a:rPr dirty="0" sz="1350" i="1">
                <a:solidFill>
                  <a:srgbClr val="d1d5db"/>
                </a:solidFill>
                <a:latin typeface="ARVFNE+Liberation Sans Italic"/>
                <a:cs typeface="ARVFNE+Liberation Sans Italic"/>
              </a:rPr>
              <a:t> </a:t>
            </a:r>
            <a:r>
              <a:rPr dirty="0" sz="1350" i="1">
                <a:solidFill>
                  <a:srgbClr val="d1d5db"/>
                </a:solidFill>
                <a:latin typeface="ARVFNE+Liberation Sans Italic"/>
                <a:cs typeface="ARVFNE+Liberation Sans Italic"/>
              </a:rPr>
              <a:t>nghĩa</a:t>
            </a:r>
            <a:r>
              <a:rPr dirty="0" sz="1350" i="1">
                <a:solidFill>
                  <a:srgbClr val="d1d5db"/>
                </a:solidFill>
                <a:latin typeface="ARVFNE+Liberation Sans Italic"/>
                <a:cs typeface="ARVFNE+Liberation Sans Italic"/>
              </a:rPr>
              <a:t> </a:t>
            </a:r>
            <a:r>
              <a:rPr dirty="0" sz="1350" i="1">
                <a:solidFill>
                  <a:srgbClr val="d1d5db"/>
                </a:solidFill>
                <a:latin typeface="ARVFNE+Liberation Sans Italic"/>
                <a:cs typeface="ARVFNE+Liberation Sans Italic"/>
              </a:rPr>
              <a:t>cách</a:t>
            </a:r>
            <a:r>
              <a:rPr dirty="0" sz="1350" i="1">
                <a:solidFill>
                  <a:srgbClr val="d1d5db"/>
                </a:solidFill>
                <a:latin typeface="ARVFNE+Liberation Sans Italic"/>
                <a:cs typeface="ARVFNE+Liberation Sans Italic"/>
              </a:rPr>
              <a:t> </a:t>
            </a:r>
            <a:r>
              <a:rPr dirty="0" sz="1350" i="1">
                <a:solidFill>
                  <a:srgbClr val="d1d5db"/>
                </a:solidFill>
                <a:latin typeface="ARVFNE+Liberation Sans Italic"/>
                <a:cs typeface="ARVFNE+Liberation Sans Italic"/>
              </a:rPr>
              <a:t>các</a:t>
            </a:r>
            <a:r>
              <a:rPr dirty="0" sz="1350" i="1">
                <a:solidFill>
                  <a:srgbClr val="d1d5db"/>
                </a:solidFill>
                <a:latin typeface="ARVFNE+Liberation Sans Italic"/>
                <a:cs typeface="ARVFNE+Liberation Sans Italic"/>
              </a:rPr>
              <a:t> </a:t>
            </a:r>
            <a:r>
              <a:rPr dirty="0" sz="1350" i="1">
                <a:solidFill>
                  <a:srgbClr val="d1d5db"/>
                </a:solidFill>
                <a:latin typeface="ARVFNE+Liberation Sans Italic"/>
                <a:cs typeface="ARVFNE+Liberation Sans Italic"/>
              </a:rPr>
              <a:t>ch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ế</a:t>
            </a:r>
            <a:r>
              <a:rPr dirty="0" sz="1350" spc="30">
                <a:solidFill>
                  <a:srgbClr val="d1d5db"/>
                </a:solidFill>
                <a:latin typeface="Times New Roman"/>
                <a:cs typeface="Times New Roman"/>
              </a:rPr>
              <a:t> </a:t>
            </a:r>
            <a:r>
              <a:rPr dirty="0" sz="1350" i="1">
                <a:solidFill>
                  <a:srgbClr val="d1d5db"/>
                </a:solidFill>
                <a:latin typeface="ARVFNE+Liberation Sans Italic"/>
                <a:cs typeface="ARVFNE+Liberation Sans Italic"/>
              </a:rPr>
              <a:t>đ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ộ</a:t>
            </a:r>
            <a:r>
              <a:rPr dirty="0" sz="1350" spc="34">
                <a:solidFill>
                  <a:srgbClr val="d1d5db"/>
                </a:solidFill>
                <a:latin typeface="Times New Roman"/>
                <a:cs typeface="Times New Roman"/>
              </a:rPr>
              <a:t> </a:t>
            </a:r>
            <a:r>
              <a:rPr dirty="0" sz="1350" i="1">
                <a:solidFill>
                  <a:srgbClr val="d1d5db"/>
                </a:solidFill>
                <a:latin typeface="ARVFNE+Liberation Sans Italic"/>
                <a:cs typeface="ARVFNE+Liberation Sans Italic"/>
              </a:rPr>
              <a:t>xem</a:t>
            </a:r>
            <a:r>
              <a:rPr dirty="0" sz="1350" i="1">
                <a:solidFill>
                  <a:srgbClr val="d1d5db"/>
                </a:solidFill>
                <a:latin typeface="ARVFNE+Liberation Sans Italic"/>
                <a:cs typeface="ARVFNE+Liberation Sans Italic"/>
              </a:rPr>
              <a:t> </a:t>
            </a:r>
            <a:r>
              <a:rPr dirty="0" sz="1350" i="1">
                <a:solidFill>
                  <a:srgbClr val="d1d5db"/>
                </a:solidFill>
                <a:latin typeface="ARVFNE+Liberation Sans Italic"/>
                <a:cs typeface="ARVFNE+Liberation Sans Italic"/>
              </a:rPr>
              <a:t>di</a:t>
            </a:r>
            <a:r>
              <a:rPr dirty="0" sz="1350" i="1">
                <a:solidFill>
                  <a:srgbClr val="d1d5db"/>
                </a:solidFill>
                <a:latin typeface="ARVFNE+Liberation Sans Italic"/>
                <a:cs typeface="ARVFNE+Liberation Sans Italic"/>
              </a:rPr>
              <a:t> </a:t>
            </a:r>
            <a:r>
              <a:rPr dirty="0" sz="1350" i="1">
                <a:solidFill>
                  <a:srgbClr val="d1d5db"/>
                </a:solidFill>
                <a:latin typeface="ARVFNE+Liberation Sans Italic"/>
                <a:cs typeface="ARVFNE+Liberation Sans Italic"/>
              </a:rPr>
              <a:t>chuy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ể</a:t>
            </a:r>
            <a:r>
              <a:rPr dirty="0" sz="1350" i="1">
                <a:solidFill>
                  <a:srgbClr val="d1d5db"/>
                </a:solidFill>
                <a:latin typeface="ARVFNE+Liberation Sans Italic"/>
                <a:cs typeface="ARVFNE+Liberation Sans Italic"/>
              </a:rPr>
              <a:t>n</a:t>
            </a:r>
            <a:r>
              <a:rPr dirty="0" sz="1350" i="1">
                <a:solidFill>
                  <a:srgbClr val="d1d5db"/>
                </a:solidFill>
                <a:latin typeface="ARVFNE+Liberation Sans Italic"/>
                <a:cs typeface="ARVFNE+Liberation Sans Italic"/>
              </a:rPr>
              <a:t> </a:t>
            </a:r>
            <a:r>
              <a:rPr dirty="0" sz="1350" i="1">
                <a:solidFill>
                  <a:srgbClr val="d1d5db"/>
                </a:solidFill>
                <a:latin typeface="ARVFNE+Liberation Sans Italic"/>
                <a:cs typeface="ARVFNE+Liberation Sans Italic"/>
              </a:rPr>
              <a:t>gi</a:t>
            </a:r>
            <a:r>
              <a:rPr dirty="0" sz="1350" spc="-31">
                <a:solidFill>
                  <a:srgbClr val="d1d5db"/>
                </a:solidFill>
                <a:latin typeface="DejaVu Sans"/>
                <a:cs typeface="DejaVu Sans"/>
              </a:rPr>
              <a:t>ữ</a:t>
            </a:r>
            <a:r>
              <a:rPr dirty="0" sz="1350" i="1">
                <a:solidFill>
                  <a:srgbClr val="d1d5db"/>
                </a:solidFill>
                <a:latin typeface="ARVFNE+Liberation Sans Italic"/>
                <a:cs typeface="ARVFNE+Liberation Sans Italic"/>
              </a:rPr>
              <a:t>a</a:t>
            </a:r>
            <a:r>
              <a:rPr dirty="0" sz="1350" i="1">
                <a:solidFill>
                  <a:srgbClr val="d1d5db"/>
                </a:solidFill>
                <a:latin typeface="ARVFNE+Liberation Sans Italic"/>
                <a:cs typeface="ARVFNE+Liberation Sans Italic"/>
              </a:rPr>
              <a:t> </a:t>
            </a:r>
            <a:r>
              <a:rPr dirty="0" sz="1350" i="1">
                <a:solidFill>
                  <a:srgbClr val="d1d5db"/>
                </a:solidFill>
                <a:latin typeface="ARVFNE+Liberation Sans Italic"/>
                <a:cs typeface="ARVFNE+Liberation Sans Italic"/>
              </a:rPr>
              <a:t>các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093123" y="5023410"/>
            <a:ext cx="3474376" cy="2119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1">
                <a:solidFill>
                  <a:srgbClr val="d1d5db"/>
                </a:solidFill>
                <a:latin typeface="Liberation Sans"/>
                <a:cs typeface="Liberation Sans"/>
              </a:rPr>
              <a:t>Kích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Liberation Sans"/>
                <a:cs typeface="Liberation Sans"/>
              </a:rPr>
              <a:t>ho</a:t>
            </a:r>
            <a:r>
              <a:rPr dirty="0" sz="1200" spc="15">
                <a:solidFill>
                  <a:srgbClr val="d1d5db"/>
                </a:solidFill>
                <a:latin typeface="DejaVu Sans"/>
                <a:cs typeface="DejaVu Sans"/>
              </a:rPr>
              <a:t>ạ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t</a:t>
            </a:r>
            <a:r>
              <a:rPr dirty="0" sz="1200" spc="-14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Liberation Sans"/>
                <a:cs typeface="Liberation Sans"/>
              </a:rPr>
              <a:t>ho</a:t>
            </a:r>
            <a:r>
              <a:rPr dirty="0" sz="1200" spc="15">
                <a:solidFill>
                  <a:srgbClr val="d1d5db"/>
                </a:solidFill>
                <a:latin typeface="DejaVu Sans"/>
                <a:cs typeface="DejaVu Sans"/>
              </a:rPr>
              <a:t>ạ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t</a:t>
            </a:r>
            <a:r>
              <a:rPr dirty="0" sz="1200" spc="-14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dirty="0" sz="1200" spc="15">
                <a:solidFill>
                  <a:srgbClr val="d1d5db"/>
                </a:solidFill>
                <a:latin typeface="DejaVu Sans"/>
                <a:cs typeface="DejaVu Sans"/>
              </a:rPr>
              <a:t>ả</a:t>
            </a:r>
            <a:r>
              <a:rPr dirty="0" sz="1200" spc="-14">
                <a:solidFill>
                  <a:srgbClr val="d1d5db"/>
                </a:solidFill>
                <a:latin typeface="Liberation Sans"/>
                <a:cs typeface="Liberation Sans"/>
              </a:rPr>
              <a:t>nh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Liberation Sans"/>
                <a:cs typeface="Liberation Sans"/>
              </a:rPr>
              <a:t>qua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t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ươ</a:t>
            </a:r>
            <a:r>
              <a:rPr dirty="0" sz="1200" spc="-14">
                <a:solidFill>
                  <a:srgbClr val="d1d5db"/>
                </a:solidFill>
                <a:latin typeface="Liberation Sans"/>
                <a:cs typeface="Liberation Sans"/>
              </a:rPr>
              <a:t>ng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dirty="0" sz="1200" spc="-10">
                <a:solidFill>
                  <a:srgbClr val="d1d5db"/>
                </a:solidFill>
                <a:latin typeface="Liberation Sans"/>
                <a:cs typeface="Liberation Sans"/>
              </a:rPr>
              <a:t>tác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Liberation Sans"/>
                <a:cs typeface="Liberation Sans"/>
              </a:rPr>
              <a:t>vu</a:t>
            </a:r>
            <a:r>
              <a:rPr dirty="0" sz="1200" spc="15">
                <a:solidFill>
                  <a:srgbClr val="d1d5db"/>
                </a:solidFill>
                <a:latin typeface="DejaVu Sans"/>
                <a:cs typeface="DejaVu Sans"/>
              </a:rPr>
              <a:t>ố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t</a:t>
            </a:r>
            <a:r>
              <a:rPr dirty="0" sz="1200" spc="-14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dirty="0" sz="1200" spc="-11">
                <a:solidFill>
                  <a:srgbClr val="d1d5db"/>
                </a:solidFill>
                <a:latin typeface="Liberation Sans"/>
                <a:cs typeface="Liberation Sans"/>
              </a:rPr>
              <a:t>c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ủ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a</a:t>
            </a:r>
            <a:r>
              <a:rPr dirty="0" sz="1200" spc="-2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Liberation Sans"/>
                <a:cs typeface="Liberation Sans"/>
              </a:rPr>
              <a:t>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ườ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i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845641" y="5188498"/>
            <a:ext cx="2152581" cy="2287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 i="1">
                <a:solidFill>
                  <a:srgbClr val="ffffff"/>
                </a:solidFill>
                <a:latin typeface="Liberation Sans"/>
                <a:cs typeface="Liberation Sans"/>
              </a:rPr>
              <a:t>ConstraintSet</a:t>
            </a:r>
            <a:r>
              <a:rPr dirty="0" sz="1350" spc="37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 i="1">
                <a:solidFill>
                  <a:srgbClr val="d1d5db"/>
                </a:solidFill>
                <a:latin typeface="ARVFNE+Liberation Sans Italic"/>
                <a:cs typeface="ARVFNE+Liberation Sans Italic"/>
              </a:rPr>
              <a:t>khác</a:t>
            </a:r>
            <a:r>
              <a:rPr dirty="0" sz="1350" i="1">
                <a:solidFill>
                  <a:srgbClr val="d1d5db"/>
                </a:solidFill>
                <a:latin typeface="ARVFNE+Liberation Sans Italic"/>
                <a:cs typeface="ARVFNE+Liberation Sans Italic"/>
              </a:rPr>
              <a:t> </a:t>
            </a:r>
            <a:r>
              <a:rPr dirty="0" sz="1350" i="1">
                <a:solidFill>
                  <a:srgbClr val="d1d5db"/>
                </a:solidFill>
                <a:latin typeface="ARVFNE+Liberation Sans Italic"/>
                <a:cs typeface="ARVFNE+Liberation Sans Italic"/>
              </a:rPr>
              <a:t>nhau.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8093123" y="5236387"/>
            <a:ext cx="526144" cy="2049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4">
                <a:solidFill>
                  <a:srgbClr val="d1d5db"/>
                </a:solidFill>
                <a:latin typeface="Liberation Sans"/>
                <a:cs typeface="Liberation Sans"/>
              </a:rPr>
              <a:t>dùng.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188541" y="5616857"/>
            <a:ext cx="1080547" cy="2526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ffffff"/>
                </a:solidFill>
                <a:latin typeface="Liberation Sans"/>
                <a:cs typeface="Liberation Sans"/>
              </a:rPr>
              <a:t>Transition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8093123" y="5635907"/>
            <a:ext cx="1411338" cy="2526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ffffff"/>
                </a:solidFill>
                <a:latin typeface="Liberation Sans"/>
                <a:cs typeface="Liberation Sans"/>
              </a:rPr>
              <a:t>ConstraintSet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188541" y="5899710"/>
            <a:ext cx="3868355" cy="2119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8">
                <a:solidFill>
                  <a:srgbClr val="d1d5db"/>
                </a:solidFill>
                <a:latin typeface="Liberation Sans"/>
                <a:cs typeface="Liberation Sans"/>
              </a:rPr>
              <a:t>C</a:t>
            </a:r>
            <a:r>
              <a:rPr dirty="0" sz="1200" spc="15">
                <a:solidFill>
                  <a:srgbClr val="d1d5db"/>
                </a:solidFill>
                <a:latin typeface="DejaVu Sans"/>
                <a:cs typeface="DejaVu Sans"/>
              </a:rPr>
              <a:t>ấ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u</a:t>
            </a:r>
            <a:r>
              <a:rPr dirty="0" sz="1200" spc="-2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dirty="0" sz="1200" spc="-10">
                <a:solidFill>
                  <a:srgbClr val="d1d5db"/>
                </a:solidFill>
                <a:latin typeface="Liberation Sans"/>
                <a:cs typeface="Liberation Sans"/>
              </a:rPr>
              <a:t>hình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Liberation Sans"/>
                <a:cs typeface="Liberation Sans"/>
              </a:rPr>
              <a:t>ho</a:t>
            </a:r>
            <a:r>
              <a:rPr dirty="0" sz="1200" spc="15">
                <a:solidFill>
                  <a:srgbClr val="d1d5db"/>
                </a:solidFill>
                <a:latin typeface="DejaVu Sans"/>
                <a:cs typeface="DejaVu Sans"/>
              </a:rPr>
              <a:t>ạ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t</a:t>
            </a:r>
            <a:r>
              <a:rPr dirty="0" sz="1200" spc="-14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dirty="0" sz="1200" spc="15">
                <a:solidFill>
                  <a:srgbClr val="d1d5db"/>
                </a:solidFill>
                <a:latin typeface="DejaVu Sans"/>
                <a:cs typeface="DejaVu Sans"/>
              </a:rPr>
              <a:t>ả</a:t>
            </a:r>
            <a:r>
              <a:rPr dirty="0" sz="1200" spc="-14">
                <a:solidFill>
                  <a:srgbClr val="d1d5db"/>
                </a:solidFill>
                <a:latin typeface="Liberation Sans"/>
                <a:cs typeface="Liberation Sans"/>
              </a:rPr>
              <a:t>nh,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Liberation Sans"/>
                <a:cs typeface="Liberation Sans"/>
              </a:rPr>
              <a:t>bao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Liberation Sans"/>
                <a:cs typeface="Liberation Sans"/>
              </a:rPr>
              <a:t>g</a:t>
            </a:r>
            <a:r>
              <a:rPr dirty="0" sz="1200" spc="15">
                <a:solidFill>
                  <a:srgbClr val="d1d5db"/>
                </a:solidFill>
                <a:latin typeface="DejaVu Sans"/>
                <a:cs typeface="DejaVu Sans"/>
              </a:rPr>
              <a:t>ồ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m</a:t>
            </a:r>
            <a:r>
              <a:rPr dirty="0" sz="1200" spc="-27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dirty="0" sz="1200" spc="-10">
                <a:solidFill>
                  <a:srgbClr val="d1d5db"/>
                </a:solidFill>
                <a:latin typeface="Liberation Sans"/>
                <a:cs typeface="Liberation Sans"/>
              </a:rPr>
              <a:t>th</a:t>
            </a:r>
            <a:r>
              <a:rPr dirty="0" sz="1200" spc="15">
                <a:solidFill>
                  <a:srgbClr val="d1d5db"/>
                </a:solidFill>
                <a:latin typeface="DejaVu Sans"/>
                <a:cs typeface="DejaVu Sans"/>
              </a:rPr>
              <a:t>ờ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i</a:t>
            </a:r>
            <a:r>
              <a:rPr dirty="0" sz="1200" spc="-11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l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ượ</a:t>
            </a:r>
            <a:r>
              <a:rPr dirty="0" sz="1200" spc="-14">
                <a:solidFill>
                  <a:srgbClr val="d1d5db"/>
                </a:solidFill>
                <a:latin typeface="Liberation Sans"/>
                <a:cs typeface="Liberation Sans"/>
              </a:rPr>
              <a:t>ng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dirty="0" sz="1200" spc="-10">
                <a:solidFill>
                  <a:srgbClr val="d1d5db"/>
                </a:solidFill>
                <a:latin typeface="Liberation Sans"/>
                <a:cs typeface="Liberation Sans"/>
              </a:rPr>
              <a:t>(ví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Liberation Sans"/>
                <a:cs typeface="Liberation Sans"/>
              </a:rPr>
              <a:t>d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ụ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:</a:t>
            </a:r>
            <a:r>
              <a:rPr dirty="0" sz="1200" spc="-14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Liberation Sans"/>
                <a:cs typeface="Liberation Sans"/>
              </a:rPr>
              <a:t>300ms).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8093123" y="5918760"/>
            <a:ext cx="3523360" cy="2119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8">
                <a:solidFill>
                  <a:srgbClr val="d1d5db"/>
                </a:solidFill>
                <a:latin typeface="Liberation Sans"/>
                <a:cs typeface="Liberation Sans"/>
              </a:rPr>
              <a:t>Đ</a:t>
            </a:r>
            <a:r>
              <a:rPr dirty="0" sz="1200" spc="15">
                <a:solidFill>
                  <a:srgbClr val="d1d5db"/>
                </a:solidFill>
                <a:latin typeface="DejaVu Sans"/>
                <a:cs typeface="DejaVu Sans"/>
              </a:rPr>
              <a:t>ặ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t</a:t>
            </a:r>
            <a:r>
              <a:rPr dirty="0" sz="1200" spc="-14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dirty="0" sz="1200" spc="-10">
                <a:solidFill>
                  <a:srgbClr val="d1d5db"/>
                </a:solidFill>
                <a:latin typeface="Liberation Sans"/>
                <a:cs typeface="Liberation Sans"/>
              </a:rPr>
              <a:t>thu</a:t>
            </a:r>
            <a:r>
              <a:rPr dirty="0" sz="1200" spc="15">
                <a:solidFill>
                  <a:srgbClr val="d1d5db"/>
                </a:solidFill>
                <a:latin typeface="DejaVu Sans"/>
                <a:cs typeface="DejaVu Sans"/>
              </a:rPr>
              <a:t>ộ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c</a:t>
            </a:r>
            <a:r>
              <a:rPr dirty="0" sz="1200" spc="-18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tính</a:t>
            </a:r>
            <a:r>
              <a:rPr dirty="0" sz="1200" spc="-1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Liberation Sans"/>
                <a:cs typeface="Liberation Sans"/>
              </a:rPr>
              <a:t>cho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Liberation Sans"/>
                <a:cs typeface="Liberation Sans"/>
              </a:rPr>
              <a:t>các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Liberation Sans"/>
                <a:cs typeface="Liberation Sans"/>
              </a:rPr>
              <a:t>ch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ế</a:t>
            </a:r>
            <a:r>
              <a:rPr dirty="0" sz="1200" spc="37">
                <a:solidFill>
                  <a:srgbClr val="d1d5db"/>
                </a:solidFill>
                <a:latin typeface="Times New Roman"/>
                <a:cs typeface="Times New Roman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Liberation Sans"/>
                <a:cs typeface="Liberation Sans"/>
              </a:rPr>
              <a:t>đ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ộ</a:t>
            </a:r>
            <a:r>
              <a:rPr dirty="0" sz="1200" spc="41">
                <a:solidFill>
                  <a:srgbClr val="d1d5db"/>
                </a:solidFill>
                <a:latin typeface="Times New Roman"/>
                <a:cs typeface="Times New Roman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Liberation Sans"/>
                <a:cs typeface="Liberation Sans"/>
              </a:rPr>
              <a:t>xem</a:t>
            </a:r>
            <a:r>
              <a:rPr dirty="0" sz="1200" spc="-14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ở</a:t>
            </a:r>
            <a:r>
              <a:rPr dirty="0" sz="1200" spc="41">
                <a:solidFill>
                  <a:srgbClr val="d1d5db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tr</a:t>
            </a:r>
            <a:r>
              <a:rPr dirty="0" sz="1200" spc="15">
                <a:solidFill>
                  <a:srgbClr val="d1d5db"/>
                </a:solidFill>
                <a:latin typeface="DejaVu Sans"/>
                <a:cs typeface="DejaVu Sans"/>
              </a:rPr>
              <a:t>ạ</a:t>
            </a:r>
            <a:r>
              <a:rPr dirty="0" sz="1200" spc="-14">
                <a:solidFill>
                  <a:srgbClr val="d1d5db"/>
                </a:solidFill>
                <a:latin typeface="Liberation Sans"/>
                <a:cs typeface="Liberation Sans"/>
              </a:rPr>
              <a:t>ng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dirty="0" sz="1200" spc="-10">
                <a:solidFill>
                  <a:srgbClr val="d1d5db"/>
                </a:solidFill>
                <a:latin typeface="Liberation Sans"/>
                <a:cs typeface="Liberation Sans"/>
              </a:rPr>
              <a:t>thái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dirty="0" sz="1200" spc="-11">
                <a:solidFill>
                  <a:srgbClr val="d1d5db"/>
                </a:solidFill>
                <a:latin typeface="Liberation Sans"/>
                <a:cs typeface="Liberation Sans"/>
              </a:rPr>
              <a:t>c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ụ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8093123" y="6128310"/>
            <a:ext cx="413638" cy="2119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0">
                <a:solidFill>
                  <a:srgbClr val="d1d5db"/>
                </a:solidFill>
                <a:latin typeface="Liberation Sans"/>
                <a:cs typeface="Liberation Sans"/>
              </a:rPr>
              <a:t>th</a:t>
            </a:r>
            <a:r>
              <a:rPr dirty="0" sz="1200" spc="11">
                <a:solidFill>
                  <a:srgbClr val="d1d5db"/>
                </a:solidFill>
                <a:latin typeface="DejaVu Sans"/>
                <a:cs typeface="DejaVu Sans"/>
              </a:rPr>
              <a:t>ể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.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601539" y="6388382"/>
            <a:ext cx="589892" cy="2526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ff9800"/>
                </a:solidFill>
                <a:latin typeface="Liberation Sans"/>
                <a:cs typeface="Liberation Sans"/>
              </a:rPr>
              <a:t>Start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2765524" y="6388382"/>
            <a:ext cx="515070" cy="2526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00bcd4"/>
                </a:solidFill>
                <a:latin typeface="Liberation Sans"/>
                <a:cs typeface="Liberation Sans"/>
              </a:rPr>
              <a:t>End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7541566" y="6537885"/>
            <a:ext cx="3058831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2" i="1">
                <a:solidFill>
                  <a:srgbClr val="9ca3af"/>
                </a:solidFill>
                <a:latin typeface="Liberation Sans"/>
                <a:cs typeface="Liberation Sans"/>
              </a:rPr>
              <a:t>"H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ỗ</a:t>
            </a:r>
            <a:r>
              <a:rPr dirty="0" sz="1200" spc="41">
                <a:solidFill>
                  <a:srgbClr val="9ca3af"/>
                </a:solidFill>
                <a:latin typeface="Times New Roman"/>
                <a:cs typeface="Times New Roman"/>
              </a:rPr>
              <a:t> </a:t>
            </a:r>
            <a:r>
              <a:rPr dirty="0" sz="1200" i="1">
                <a:solidFill>
                  <a:srgbClr val="9ca3af"/>
                </a:solidFill>
                <a:latin typeface="Liberation Sans"/>
                <a:cs typeface="Liberation Sans"/>
              </a:rPr>
              <a:t>tr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ợ</a:t>
            </a:r>
            <a:r>
              <a:rPr dirty="0" sz="1200" spc="41">
                <a:solidFill>
                  <a:srgbClr val="9ca3af"/>
                </a:solidFill>
                <a:latin typeface="Times New Roman"/>
                <a:cs typeface="Times New Roman"/>
              </a:rPr>
              <a:t> </a:t>
            </a:r>
            <a:r>
              <a:rPr dirty="0" sz="1200" spc="-10" i="1">
                <a:solidFill>
                  <a:srgbClr val="9ca3af"/>
                </a:solidFill>
                <a:latin typeface="Liberation Sans"/>
                <a:cs typeface="Liberation Sans"/>
              </a:rPr>
              <a:t>tùy</a:t>
            </a:r>
            <a:r>
              <a:rPr dirty="0" sz="1200" i="1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1200" spc="-12" i="1">
                <a:solidFill>
                  <a:srgbClr val="9ca3af"/>
                </a:solidFill>
                <a:latin typeface="Liberation Sans"/>
                <a:cs typeface="Liberation Sans"/>
              </a:rPr>
              <a:t>ch</a:t>
            </a:r>
            <a:r>
              <a:rPr dirty="0" sz="1200" spc="-33">
                <a:solidFill>
                  <a:srgbClr val="9ca3af"/>
                </a:solidFill>
                <a:latin typeface="DejaVu Sans"/>
                <a:cs typeface="DejaVu Sans"/>
              </a:rPr>
              <a:t>ỉ</a:t>
            </a:r>
            <a:r>
              <a:rPr dirty="0" sz="1200" spc="-14" i="1">
                <a:solidFill>
                  <a:srgbClr val="9ca3af"/>
                </a:solidFill>
                <a:latin typeface="Liberation Sans"/>
                <a:cs typeface="Liberation Sans"/>
              </a:rPr>
              <a:t>nh</a:t>
            </a:r>
            <a:r>
              <a:rPr dirty="0" sz="1200" i="1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1200" spc="-10" i="1">
                <a:solidFill>
                  <a:srgbClr val="9ca3af"/>
                </a:solidFill>
                <a:latin typeface="Liberation Sans"/>
                <a:cs typeface="Liberation Sans"/>
              </a:rPr>
              <a:t>bi</a:t>
            </a:r>
            <a:r>
              <a:rPr dirty="0" sz="1200" spc="11">
                <a:solidFill>
                  <a:srgbClr val="9ca3af"/>
                </a:solidFill>
                <a:latin typeface="DejaVu Sans"/>
                <a:cs typeface="DejaVu Sans"/>
              </a:rPr>
              <a:t>ể</a:t>
            </a:r>
            <a:r>
              <a:rPr dirty="0" sz="1200" i="1">
                <a:solidFill>
                  <a:srgbClr val="9ca3af"/>
                </a:solidFill>
                <a:latin typeface="Liberation Sans"/>
                <a:cs typeface="Liberation Sans"/>
              </a:rPr>
              <a:t>u</a:t>
            </a:r>
            <a:r>
              <a:rPr dirty="0" sz="1200" spc="-20" i="1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1200" spc="-11" i="1">
                <a:solidFill>
                  <a:srgbClr val="9ca3af"/>
                </a:solidFill>
                <a:latin typeface="Liberation Sans"/>
                <a:cs typeface="Liberation Sans"/>
              </a:rPr>
              <a:t>c</a:t>
            </a:r>
            <a:r>
              <a:rPr dirty="0" sz="1200" spc="15">
                <a:solidFill>
                  <a:srgbClr val="9ca3af"/>
                </a:solidFill>
                <a:latin typeface="DejaVu Sans"/>
                <a:cs typeface="DejaVu Sans"/>
              </a:rPr>
              <a:t>ả</a:t>
            </a:r>
            <a:r>
              <a:rPr dirty="0" sz="1200" i="1">
                <a:solidFill>
                  <a:srgbClr val="9ca3af"/>
                </a:solidFill>
                <a:latin typeface="Liberation Sans"/>
                <a:cs typeface="Liberation Sans"/>
              </a:rPr>
              <a:t>m</a:t>
            </a:r>
            <a:r>
              <a:rPr dirty="0" sz="1200" spc="-27" i="1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1200" spc="-11" i="1">
                <a:solidFill>
                  <a:srgbClr val="9ca3af"/>
                </a:solidFill>
                <a:latin typeface="Liberation Sans"/>
                <a:cs typeface="Liberation Sans"/>
              </a:rPr>
              <a:t>và</a:t>
            </a:r>
            <a:r>
              <a:rPr dirty="0" sz="1200" i="1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1200" spc="-14" i="1">
                <a:solidFill>
                  <a:srgbClr val="9ca3af"/>
                </a:solidFill>
                <a:latin typeface="Liberation Sans"/>
                <a:cs typeface="Liberation Sans"/>
              </a:rPr>
              <a:t>phong</a:t>
            </a:r>
            <a:r>
              <a:rPr dirty="0" sz="1200" i="1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1200" spc="-11" i="1">
                <a:solidFill>
                  <a:srgbClr val="9ca3af"/>
                </a:solidFill>
                <a:latin typeface="Liberation Sans"/>
                <a:cs typeface="Liberation Sans"/>
              </a:rPr>
              <a:t>cách."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7650508" y="6998777"/>
            <a:ext cx="4267158" cy="18111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6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9ca3af"/>
                </a:solidFill>
                <a:latin typeface="Liberation Sans"/>
                <a:cs typeface="Liberation Sans"/>
              </a:rPr>
              <a:t>Source:</a:t>
            </a:r>
            <a:r>
              <a:rPr dirty="0" sz="1000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1000">
                <a:solidFill>
                  <a:srgbClr val="9ca3af"/>
                </a:solidFill>
                <a:latin typeface="Liberation Sans"/>
                <a:cs typeface="Liberation Sans"/>
              </a:rPr>
              <a:t>Manage</a:t>
            </a:r>
            <a:r>
              <a:rPr dirty="0" sz="1000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1000">
                <a:solidFill>
                  <a:srgbClr val="9ca3af"/>
                </a:solidFill>
                <a:latin typeface="Liberation Sans"/>
                <a:cs typeface="Liberation Sans"/>
              </a:rPr>
              <a:t>motion</a:t>
            </a:r>
            <a:r>
              <a:rPr dirty="0" sz="1000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1000">
                <a:solidFill>
                  <a:srgbClr val="9ca3af"/>
                </a:solidFill>
                <a:latin typeface="Liberation Sans"/>
                <a:cs typeface="Liberation Sans"/>
              </a:rPr>
              <a:t>and</a:t>
            </a:r>
            <a:r>
              <a:rPr dirty="0" sz="1000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1000">
                <a:solidFill>
                  <a:srgbClr val="9ca3af"/>
                </a:solidFill>
                <a:latin typeface="Liberation Sans"/>
                <a:cs typeface="Liberation Sans"/>
              </a:rPr>
              <a:t>widget</a:t>
            </a:r>
            <a:r>
              <a:rPr dirty="0" sz="1000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1000">
                <a:solidFill>
                  <a:srgbClr val="9ca3af"/>
                </a:solidFill>
                <a:latin typeface="Liberation Sans"/>
                <a:cs typeface="Liberation Sans"/>
              </a:rPr>
              <a:t>animation</a:t>
            </a:r>
            <a:r>
              <a:rPr dirty="0" sz="1000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1000">
                <a:solidFill>
                  <a:srgbClr val="9ca3af"/>
                </a:solidFill>
                <a:latin typeface="Liberation Sans"/>
                <a:cs typeface="Liberation Sans"/>
              </a:rPr>
              <a:t>with</a:t>
            </a:r>
            <a:r>
              <a:rPr dirty="0" sz="1000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1000">
                <a:solidFill>
                  <a:srgbClr val="9ca3af"/>
                </a:solidFill>
                <a:latin typeface="Liberation Sans"/>
                <a:cs typeface="Liberation Sans"/>
              </a:rPr>
              <a:t>MotionLayout</a:t>
            </a:r>
            <a:r>
              <a:rPr dirty="0" sz="1000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1000">
                <a:solidFill>
                  <a:srgbClr val="9ca3af"/>
                </a:solidFill>
                <a:latin typeface="Liberation Sans"/>
                <a:cs typeface="Liberation Sans"/>
              </a:rPr>
              <a:t>|</a:t>
            </a:r>
            <a:r>
              <a:rPr dirty="0" sz="1000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1000">
                <a:solidFill>
                  <a:srgbClr val="9ca3af"/>
                </a:solidFill>
                <a:latin typeface="Liberation Sans"/>
                <a:cs typeface="Liberation Sans"/>
              </a:rPr>
              <a:t>Views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73787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80999" y="375723"/>
            <a:ext cx="3600259" cy="4671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378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spc="15" b="1">
                <a:solidFill>
                  <a:srgbClr val="e0e0e0"/>
                </a:solidFill>
                <a:latin typeface="Liberation Sans"/>
                <a:cs typeface="Liberation Sans"/>
              </a:rPr>
              <a:t>Ví</a:t>
            </a:r>
            <a:r>
              <a:rPr dirty="0" sz="3000" b="1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e0e0e0"/>
                </a:solidFill>
                <a:latin typeface="Liberation Sans"/>
                <a:cs typeface="Liberation Sans"/>
              </a:rPr>
              <a:t>d</a:t>
            </a:r>
            <a:r>
              <a:rPr dirty="0" sz="3000" spc="1971" b="1">
                <a:solidFill>
                  <a:srgbClr val="e0e0e0"/>
                </a:solidFill>
                <a:latin typeface="Liberation Sans"/>
                <a:cs typeface="Liberation Sans"/>
              </a:rPr>
              <a:t> </a:t>
            </a:r>
            <a:r>
              <a:rPr dirty="0" sz="3000" spc="12" b="1" i="1">
                <a:solidFill>
                  <a:srgbClr val="00bcd4"/>
                </a:solidFill>
                <a:latin typeface="Liberation Sans"/>
                <a:cs typeface="Liberation Sans"/>
              </a:rPr>
              <a:t>MotionScene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75084" y="1253613"/>
            <a:ext cx="3750206" cy="32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ffffff"/>
                </a:solidFill>
                <a:latin typeface="Liberation Sans"/>
                <a:cs typeface="Liberation Sans"/>
              </a:rPr>
              <a:t>MotionLayout</a:t>
            </a:r>
            <a:r>
              <a:rPr dirty="0" sz="2000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ffffff"/>
                </a:solidFill>
                <a:latin typeface="Liberation Sans"/>
                <a:cs typeface="Liberation Sans"/>
              </a:rPr>
              <a:t>&amp;</a:t>
            </a:r>
            <a:r>
              <a:rPr dirty="0" sz="2000" spc="15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ffffff"/>
                </a:solidFill>
                <a:latin typeface="Liberation Sans"/>
                <a:cs typeface="Liberation Sans"/>
              </a:rPr>
              <a:t>MotionScene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226641" y="1778283"/>
            <a:ext cx="1410963" cy="2526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ffffff"/>
                </a:solidFill>
                <a:latin typeface="Liberation Sans"/>
                <a:cs typeface="Liberation Sans"/>
              </a:rPr>
              <a:t>MotionLayout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226641" y="2061135"/>
            <a:ext cx="2902413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d1d5db"/>
                </a:solidFill>
                <a:latin typeface="Liberation Sans"/>
                <a:cs typeface="Liberation Sans"/>
              </a:rPr>
              <a:t>Qu</a:t>
            </a:r>
            <a:r>
              <a:rPr dirty="0" sz="1200" spc="15">
                <a:solidFill>
                  <a:srgbClr val="d1d5db"/>
                </a:solidFill>
                <a:latin typeface="DejaVu Sans"/>
                <a:cs typeface="DejaVu Sans"/>
              </a:rPr>
              <a:t>ả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n</a:t>
            </a:r>
            <a:r>
              <a:rPr dirty="0" sz="1200" spc="-2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lý</a:t>
            </a:r>
            <a:r>
              <a:rPr dirty="0" sz="1200" spc="-14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Liberation Sans"/>
                <a:cs typeface="Liberation Sans"/>
              </a:rPr>
              <a:t>chuy</a:t>
            </a:r>
            <a:r>
              <a:rPr dirty="0" sz="1200" spc="11">
                <a:solidFill>
                  <a:srgbClr val="d1d5db"/>
                </a:solidFill>
                <a:latin typeface="DejaVu Sans"/>
                <a:cs typeface="DejaVu Sans"/>
              </a:rPr>
              <a:t>ể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n</a:t>
            </a:r>
            <a:r>
              <a:rPr dirty="0" sz="1200" spc="-2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Liberation Sans"/>
                <a:cs typeface="Liberation Sans"/>
              </a:rPr>
              <a:t>đ</a:t>
            </a:r>
            <a:r>
              <a:rPr dirty="0" sz="1200" spc="15">
                <a:solidFill>
                  <a:srgbClr val="d1d5db"/>
                </a:solidFill>
                <a:latin typeface="DejaVu Sans"/>
                <a:cs typeface="DejaVu Sans"/>
              </a:rPr>
              <a:t>ộ</a:t>
            </a:r>
            <a:r>
              <a:rPr dirty="0" sz="1200" spc="-14">
                <a:solidFill>
                  <a:srgbClr val="d1d5db"/>
                </a:solidFill>
                <a:latin typeface="Liberation Sans"/>
                <a:cs typeface="Liberation Sans"/>
              </a:rPr>
              <a:t>ng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&amp;</a:t>
            </a:r>
            <a:r>
              <a:rPr dirty="0" sz="1200" spc="-23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Liberation Sans"/>
                <a:cs typeface="Liberation Sans"/>
              </a:rPr>
              <a:t>ho</a:t>
            </a:r>
            <a:r>
              <a:rPr dirty="0" sz="1200" spc="15">
                <a:solidFill>
                  <a:srgbClr val="d1d5db"/>
                </a:solidFill>
                <a:latin typeface="DejaVu Sans"/>
                <a:cs typeface="DejaVu Sans"/>
              </a:rPr>
              <a:t>ạ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t</a:t>
            </a:r>
            <a:r>
              <a:rPr dirty="0" sz="1200" spc="-14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dirty="0" sz="1200" spc="15">
                <a:solidFill>
                  <a:srgbClr val="d1d5db"/>
                </a:solidFill>
                <a:latin typeface="DejaVu Sans"/>
                <a:cs typeface="DejaVu Sans"/>
              </a:rPr>
              <a:t>ả</a:t>
            </a:r>
            <a:r>
              <a:rPr dirty="0" sz="1200" spc="-14">
                <a:solidFill>
                  <a:srgbClr val="d1d5db"/>
                </a:solidFill>
                <a:latin typeface="Liberation Sans"/>
                <a:cs typeface="Liberation Sans"/>
              </a:rPr>
              <a:t>nh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dirty="0" sz="1200" spc="-11">
                <a:solidFill>
                  <a:srgbClr val="d1d5db"/>
                </a:solidFill>
                <a:latin typeface="Liberation Sans"/>
                <a:cs typeface="Liberation Sans"/>
              </a:rPr>
              <a:t>widget.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226641" y="2464083"/>
            <a:ext cx="1347299" cy="2526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ffffff"/>
                </a:solidFill>
                <a:latin typeface="Liberation Sans"/>
                <a:cs typeface="Liberation Sans"/>
              </a:rPr>
              <a:t>MotionScene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226641" y="2737410"/>
            <a:ext cx="3528580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20">
                <a:solidFill>
                  <a:srgbClr val="d1d5db"/>
                </a:solidFill>
                <a:latin typeface="Liberation Sans"/>
                <a:cs typeface="Liberation Sans"/>
              </a:rPr>
              <a:t>Mô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t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ả</a:t>
            </a:r>
            <a:r>
              <a:rPr dirty="0" sz="1200" spc="40">
                <a:solidFill>
                  <a:srgbClr val="d1d5db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d1d5db"/>
                </a:solidFill>
                <a:latin typeface="Liberation Sans"/>
                <a:cs typeface="Liberation Sans"/>
              </a:rPr>
              <a:t>toàn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Liberation Sans"/>
                <a:cs typeface="Liberation Sans"/>
              </a:rPr>
              <a:t>b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ộ</a:t>
            </a:r>
            <a:r>
              <a:rPr dirty="0" sz="1200" spc="41">
                <a:solidFill>
                  <a:srgbClr val="d1d5db"/>
                </a:solidFill>
                <a:latin typeface="Times New Roman"/>
                <a:cs typeface="Times New Roman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Liberation Sans"/>
                <a:cs typeface="Liberation Sans"/>
              </a:rPr>
              <a:t>chuy</a:t>
            </a:r>
            <a:r>
              <a:rPr dirty="0" sz="1200" spc="11">
                <a:solidFill>
                  <a:srgbClr val="d1d5db"/>
                </a:solidFill>
                <a:latin typeface="DejaVu Sans"/>
                <a:cs typeface="DejaVu Sans"/>
              </a:rPr>
              <a:t>ể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n</a:t>
            </a:r>
            <a:r>
              <a:rPr dirty="0" sz="1200" spc="-2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Liberation Sans"/>
                <a:cs typeface="Liberation Sans"/>
              </a:rPr>
              <a:t>đ</a:t>
            </a:r>
            <a:r>
              <a:rPr dirty="0" sz="1200" spc="15">
                <a:solidFill>
                  <a:srgbClr val="d1d5db"/>
                </a:solidFill>
                <a:latin typeface="DejaVu Sans"/>
                <a:cs typeface="DejaVu Sans"/>
              </a:rPr>
              <a:t>ộ</a:t>
            </a:r>
            <a:r>
              <a:rPr dirty="0" sz="1200" spc="-14">
                <a:solidFill>
                  <a:srgbClr val="d1d5db"/>
                </a:solidFill>
                <a:latin typeface="Liberation Sans"/>
                <a:cs typeface="Liberation Sans"/>
              </a:rPr>
              <a:t>ng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dirty="0" sz="1200" spc="-10">
                <a:solidFill>
                  <a:srgbClr val="d1d5db"/>
                </a:solidFill>
                <a:latin typeface="Liberation Sans"/>
                <a:cs typeface="Liberation Sans"/>
              </a:rPr>
              <a:t>gi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ữ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a</a:t>
            </a:r>
            <a:r>
              <a:rPr dirty="0" sz="1200" spc="-2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Liberation Sans"/>
                <a:cs typeface="Liberation Sans"/>
              </a:rPr>
              <a:t>các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tr</a:t>
            </a:r>
            <a:r>
              <a:rPr dirty="0" sz="1200" spc="15">
                <a:solidFill>
                  <a:srgbClr val="d1d5db"/>
                </a:solidFill>
                <a:latin typeface="DejaVu Sans"/>
                <a:cs typeface="DejaVu Sans"/>
              </a:rPr>
              <a:t>ạ</a:t>
            </a:r>
            <a:r>
              <a:rPr dirty="0" sz="1200" spc="-14">
                <a:solidFill>
                  <a:srgbClr val="d1d5db"/>
                </a:solidFill>
                <a:latin typeface="Liberation Sans"/>
                <a:cs typeface="Liberation Sans"/>
              </a:rPr>
              <a:t>ng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dirty="0" sz="1200" spc="-10">
                <a:solidFill>
                  <a:srgbClr val="d1d5db"/>
                </a:solidFill>
                <a:latin typeface="Liberation Sans"/>
                <a:cs typeface="Liberation Sans"/>
              </a:rPr>
              <a:t>thái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dirty="0" sz="1200" spc="-11">
                <a:solidFill>
                  <a:srgbClr val="d1d5db"/>
                </a:solidFill>
                <a:latin typeface="Liberation Sans"/>
                <a:cs typeface="Liberation Sans"/>
              </a:rPr>
              <a:t>UI.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75084" y="3127935"/>
            <a:ext cx="4629180" cy="2119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2" i="1">
                <a:solidFill>
                  <a:srgbClr val="9ca3af"/>
                </a:solidFill>
                <a:latin typeface="Liberation Sans"/>
                <a:cs typeface="Liberation Sans"/>
              </a:rPr>
              <a:t>"C</a:t>
            </a:r>
            <a:r>
              <a:rPr dirty="0" sz="1200" spc="15">
                <a:solidFill>
                  <a:srgbClr val="9ca3af"/>
                </a:solidFill>
                <a:latin typeface="DejaVu Sans"/>
                <a:cs typeface="DejaVu Sans"/>
              </a:rPr>
              <a:t>ầ</a:t>
            </a:r>
            <a:r>
              <a:rPr dirty="0" sz="1200" i="1">
                <a:solidFill>
                  <a:srgbClr val="9ca3af"/>
                </a:solidFill>
                <a:latin typeface="Liberation Sans"/>
                <a:cs typeface="Liberation Sans"/>
              </a:rPr>
              <a:t>u</a:t>
            </a:r>
            <a:r>
              <a:rPr dirty="0" sz="1200" spc="-20" i="1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1200" spc="-14" i="1">
                <a:solidFill>
                  <a:srgbClr val="9ca3af"/>
                </a:solidFill>
                <a:latin typeface="Liberation Sans"/>
                <a:cs typeface="Liberation Sans"/>
              </a:rPr>
              <a:t>n</a:t>
            </a:r>
            <a:r>
              <a:rPr dirty="0" sz="1200" spc="15">
                <a:solidFill>
                  <a:srgbClr val="9ca3af"/>
                </a:solidFill>
                <a:latin typeface="DejaVu Sans"/>
                <a:cs typeface="DejaVu Sans"/>
              </a:rPr>
              <a:t>ố</a:t>
            </a:r>
            <a:r>
              <a:rPr dirty="0" sz="1200" i="1">
                <a:solidFill>
                  <a:srgbClr val="9ca3af"/>
                </a:solidFill>
                <a:latin typeface="Liberation Sans"/>
                <a:cs typeface="Liberation Sans"/>
              </a:rPr>
              <a:t>i</a:t>
            </a:r>
            <a:r>
              <a:rPr dirty="0" sz="1200" spc="-11" i="1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1200" spc="-10" i="1">
                <a:solidFill>
                  <a:srgbClr val="9ca3af"/>
                </a:solidFill>
                <a:latin typeface="Liberation Sans"/>
                <a:cs typeface="Liberation Sans"/>
              </a:rPr>
              <a:t>gi</a:t>
            </a:r>
            <a:r>
              <a:rPr dirty="0" sz="1200" spc="-10">
                <a:solidFill>
                  <a:srgbClr val="9ca3af"/>
                </a:solidFill>
                <a:latin typeface="DejaVu Sans"/>
                <a:cs typeface="DejaVu Sans"/>
              </a:rPr>
              <a:t>ữ</a:t>
            </a:r>
            <a:r>
              <a:rPr dirty="0" sz="1200" i="1">
                <a:solidFill>
                  <a:srgbClr val="9ca3af"/>
                </a:solidFill>
                <a:latin typeface="Liberation Sans"/>
                <a:cs typeface="Liberation Sans"/>
              </a:rPr>
              <a:t>a</a:t>
            </a:r>
            <a:r>
              <a:rPr dirty="0" sz="1200" spc="-20" i="1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1200" spc="-12" i="1">
                <a:solidFill>
                  <a:srgbClr val="9ca3af"/>
                </a:solidFill>
                <a:latin typeface="Liberation Sans"/>
                <a:cs typeface="Liberation Sans"/>
              </a:rPr>
              <a:t>chuy</a:t>
            </a:r>
            <a:r>
              <a:rPr dirty="0" sz="1200" spc="11">
                <a:solidFill>
                  <a:srgbClr val="9ca3af"/>
                </a:solidFill>
                <a:latin typeface="DejaVu Sans"/>
                <a:cs typeface="DejaVu Sans"/>
              </a:rPr>
              <a:t>ể</a:t>
            </a:r>
            <a:r>
              <a:rPr dirty="0" sz="1200" i="1">
                <a:solidFill>
                  <a:srgbClr val="9ca3af"/>
                </a:solidFill>
                <a:latin typeface="Liberation Sans"/>
                <a:cs typeface="Liberation Sans"/>
              </a:rPr>
              <a:t>n</a:t>
            </a:r>
            <a:r>
              <a:rPr dirty="0" sz="1200" spc="-20" i="1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1200" i="1">
                <a:solidFill>
                  <a:srgbClr val="9ca3af"/>
                </a:solidFill>
                <a:latin typeface="Liberation Sans"/>
                <a:cs typeface="Liberation Sans"/>
              </a:rPr>
              <a:t>ti</a:t>
            </a:r>
            <a:r>
              <a:rPr dirty="0" sz="1200" spc="11">
                <a:solidFill>
                  <a:srgbClr val="9ca3af"/>
                </a:solidFill>
                <a:latin typeface="DejaVu Sans"/>
                <a:cs typeface="DejaVu Sans"/>
              </a:rPr>
              <a:t>ế</a:t>
            </a:r>
            <a:r>
              <a:rPr dirty="0" sz="1200" i="1">
                <a:solidFill>
                  <a:srgbClr val="9ca3af"/>
                </a:solidFill>
                <a:latin typeface="Liberation Sans"/>
                <a:cs typeface="Liberation Sans"/>
              </a:rPr>
              <a:t>p</a:t>
            </a:r>
            <a:r>
              <a:rPr dirty="0" sz="1200" spc="-20" i="1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1200" spc="-14" i="1">
                <a:solidFill>
                  <a:srgbClr val="9ca3af"/>
                </a:solidFill>
                <a:latin typeface="Liberation Sans"/>
                <a:cs typeface="Liberation Sans"/>
              </a:rPr>
              <a:t>b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ố</a:t>
            </a:r>
            <a:r>
              <a:rPr dirty="0" sz="1200" spc="41">
                <a:solidFill>
                  <a:srgbClr val="9ca3af"/>
                </a:solidFill>
                <a:latin typeface="Times New Roman"/>
                <a:cs typeface="Times New Roman"/>
              </a:rPr>
              <a:t> </a:t>
            </a:r>
            <a:r>
              <a:rPr dirty="0" sz="1200" spc="-11" i="1">
                <a:solidFill>
                  <a:srgbClr val="9ca3af"/>
                </a:solidFill>
                <a:latin typeface="Liberation Sans"/>
                <a:cs typeface="Liberation Sans"/>
              </a:rPr>
              <a:t>c</a:t>
            </a:r>
            <a:r>
              <a:rPr dirty="0" sz="1200" spc="-10">
                <a:solidFill>
                  <a:srgbClr val="9ca3af"/>
                </a:solidFill>
                <a:latin typeface="DejaVu Sans"/>
                <a:cs typeface="DejaVu Sans"/>
              </a:rPr>
              <a:t>ụ</a:t>
            </a:r>
            <a:r>
              <a:rPr dirty="0" sz="1200" i="1">
                <a:solidFill>
                  <a:srgbClr val="9ca3af"/>
                </a:solidFill>
                <a:latin typeface="Liberation Sans"/>
                <a:cs typeface="Liberation Sans"/>
              </a:rPr>
              <a:t>c</a:t>
            </a:r>
            <a:r>
              <a:rPr dirty="0" sz="1200" spc="-18" i="1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1200" spc="-11" i="1">
                <a:solidFill>
                  <a:srgbClr val="9ca3af"/>
                </a:solidFill>
                <a:latin typeface="Liberation Sans"/>
                <a:cs typeface="Liberation Sans"/>
              </a:rPr>
              <a:t>và</a:t>
            </a:r>
            <a:r>
              <a:rPr dirty="0" sz="1200" i="1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1200" spc="-11" i="1">
                <a:solidFill>
                  <a:srgbClr val="9ca3af"/>
                </a:solidFill>
                <a:latin typeface="Liberation Sans"/>
                <a:cs typeface="Liberation Sans"/>
              </a:rPr>
              <a:t>x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ử</a:t>
            </a:r>
            <a:r>
              <a:rPr dirty="0" sz="1200" spc="15">
                <a:solidFill>
                  <a:srgbClr val="9ca3af"/>
                </a:solidFill>
                <a:latin typeface="Times New Roman"/>
                <a:cs typeface="Times New Roman"/>
              </a:rPr>
              <a:t> </a:t>
            </a:r>
            <a:r>
              <a:rPr dirty="0" sz="1200" i="1">
                <a:solidFill>
                  <a:srgbClr val="9ca3af"/>
                </a:solidFill>
                <a:latin typeface="Liberation Sans"/>
                <a:cs typeface="Liberation Sans"/>
              </a:rPr>
              <a:t>lý</a:t>
            </a:r>
            <a:r>
              <a:rPr dirty="0" sz="1200" spc="-14" i="1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1200" spc="-12" i="1">
                <a:solidFill>
                  <a:srgbClr val="9ca3af"/>
                </a:solidFill>
                <a:latin typeface="Liberation Sans"/>
                <a:cs typeface="Liberation Sans"/>
              </a:rPr>
              <a:t>chuy</a:t>
            </a:r>
            <a:r>
              <a:rPr dirty="0" sz="1200" spc="11">
                <a:solidFill>
                  <a:srgbClr val="9ca3af"/>
                </a:solidFill>
                <a:latin typeface="DejaVu Sans"/>
                <a:cs typeface="DejaVu Sans"/>
              </a:rPr>
              <a:t>ể</a:t>
            </a:r>
            <a:r>
              <a:rPr dirty="0" sz="1200" i="1">
                <a:solidFill>
                  <a:srgbClr val="9ca3af"/>
                </a:solidFill>
                <a:latin typeface="Liberation Sans"/>
                <a:cs typeface="Liberation Sans"/>
              </a:rPr>
              <a:t>n</a:t>
            </a:r>
            <a:r>
              <a:rPr dirty="0" sz="1200" spc="-20" i="1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1200" spc="-14" i="1">
                <a:solidFill>
                  <a:srgbClr val="9ca3af"/>
                </a:solidFill>
                <a:latin typeface="Liberation Sans"/>
                <a:cs typeface="Liberation Sans"/>
              </a:rPr>
              <a:t>đ</a:t>
            </a:r>
            <a:r>
              <a:rPr dirty="0" sz="1200" spc="15">
                <a:solidFill>
                  <a:srgbClr val="9ca3af"/>
                </a:solidFill>
                <a:latin typeface="DejaVu Sans"/>
                <a:cs typeface="DejaVu Sans"/>
              </a:rPr>
              <a:t>ộ</a:t>
            </a:r>
            <a:r>
              <a:rPr dirty="0" sz="1200" spc="-14" i="1">
                <a:solidFill>
                  <a:srgbClr val="9ca3af"/>
                </a:solidFill>
                <a:latin typeface="Liberation Sans"/>
                <a:cs typeface="Liberation Sans"/>
              </a:rPr>
              <a:t>ng</a:t>
            </a:r>
            <a:r>
              <a:rPr dirty="0" sz="1200" i="1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1200" spc="-14" i="1">
                <a:solidFill>
                  <a:srgbClr val="9ca3af"/>
                </a:solidFill>
                <a:latin typeface="Liberation Sans"/>
                <a:cs typeface="Liberation Sans"/>
              </a:rPr>
              <a:t>ph</a:t>
            </a:r>
            <a:r>
              <a:rPr dirty="0" sz="1200" spc="-10">
                <a:solidFill>
                  <a:srgbClr val="9ca3af"/>
                </a:solidFill>
                <a:latin typeface="DejaVu Sans"/>
                <a:cs typeface="DejaVu Sans"/>
              </a:rPr>
              <a:t>ứ</a:t>
            </a:r>
            <a:r>
              <a:rPr dirty="0" sz="1200" i="1">
                <a:solidFill>
                  <a:srgbClr val="9ca3af"/>
                </a:solidFill>
                <a:latin typeface="Liberation Sans"/>
                <a:cs typeface="Liberation Sans"/>
              </a:rPr>
              <a:t>c</a:t>
            </a:r>
            <a:r>
              <a:rPr dirty="0" sz="1200" spc="-18" i="1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1200" i="1">
                <a:solidFill>
                  <a:srgbClr val="9ca3af"/>
                </a:solidFill>
                <a:latin typeface="Liberation Sans"/>
                <a:cs typeface="Liberation Sans"/>
              </a:rPr>
              <a:t>t</a:t>
            </a:r>
            <a:r>
              <a:rPr dirty="0" sz="1200" spc="15">
                <a:solidFill>
                  <a:srgbClr val="9ca3af"/>
                </a:solidFill>
                <a:latin typeface="DejaVu Sans"/>
                <a:cs typeface="DejaVu Sans"/>
              </a:rPr>
              <a:t>ạ</a:t>
            </a:r>
            <a:r>
              <a:rPr dirty="0" sz="1200" spc="-10" i="1">
                <a:solidFill>
                  <a:srgbClr val="9ca3af"/>
                </a:solidFill>
                <a:latin typeface="Liberation Sans"/>
                <a:cs typeface="Liberation Sans"/>
              </a:rPr>
              <a:t>p."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682132" y="3478992"/>
            <a:ext cx="757119" cy="181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6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e5e7eb"/>
                </a:solidFill>
                <a:latin typeface="Liberation Sans"/>
                <a:cs typeface="Liberation Sans"/>
              </a:rPr>
              <a:t>Android</a:t>
            </a:r>
            <a:r>
              <a:rPr dirty="0" sz="1000">
                <a:solidFill>
                  <a:srgbClr val="e5e7eb"/>
                </a:solidFill>
                <a:latin typeface="Liberation Sans"/>
                <a:cs typeface="Liberation Sans"/>
              </a:rPr>
              <a:t> </a:t>
            </a:r>
            <a:r>
              <a:rPr dirty="0" sz="1000">
                <a:solidFill>
                  <a:srgbClr val="e5e7eb"/>
                </a:solidFill>
                <a:latin typeface="Liberation Sans"/>
                <a:cs typeface="Liberation Sans"/>
              </a:rPr>
              <a:t>UI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632995" y="3478992"/>
            <a:ext cx="1041608" cy="181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6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e5e7eb"/>
                </a:solidFill>
                <a:latin typeface="Liberation Sans"/>
                <a:cs typeface="Liberation Sans"/>
              </a:rPr>
              <a:t>Material</a:t>
            </a:r>
            <a:r>
              <a:rPr dirty="0" sz="1000">
                <a:solidFill>
                  <a:srgbClr val="e5e7eb"/>
                </a:solidFill>
                <a:latin typeface="Liberation Sans"/>
                <a:cs typeface="Liberation Sans"/>
              </a:rPr>
              <a:t> </a:t>
            </a:r>
            <a:r>
              <a:rPr dirty="0" sz="1000">
                <a:solidFill>
                  <a:srgbClr val="e5e7eb"/>
                </a:solidFill>
                <a:latin typeface="Liberation Sans"/>
                <a:cs typeface="Liberation Sans"/>
              </a:rPr>
              <a:t>Design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541566" y="4215888"/>
            <a:ext cx="2672212" cy="32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ffffff"/>
                </a:solidFill>
                <a:latin typeface="Liberation Sans"/>
                <a:cs typeface="Liberation Sans"/>
              </a:rPr>
              <a:t>Đi</a:t>
            </a:r>
            <a:r>
              <a:rPr dirty="0" sz="2000" spc="711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ffffff"/>
                </a:solidFill>
                <a:latin typeface="Liberation Sans"/>
                <a:cs typeface="Liberation Sans"/>
              </a:rPr>
              <a:t>u</a:t>
            </a:r>
            <a:r>
              <a:rPr dirty="0" sz="2000" spc="14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ffffff"/>
                </a:solidFill>
                <a:latin typeface="Liberation Sans"/>
                <a:cs typeface="Liberation Sans"/>
              </a:rPr>
              <a:t>khi</a:t>
            </a:r>
            <a:r>
              <a:rPr dirty="0" sz="2000" spc="715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ffffff"/>
                </a:solidFill>
                <a:latin typeface="Liberation Sans"/>
                <a:cs typeface="Liberation Sans"/>
              </a:rPr>
              <a:t>n</a:t>
            </a:r>
            <a:r>
              <a:rPr dirty="0" sz="2000" spc="14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ffffff"/>
                </a:solidFill>
                <a:latin typeface="Liberation Sans"/>
                <a:cs typeface="Liberation Sans"/>
              </a:rPr>
              <a:t>Ho</a:t>
            </a:r>
            <a:r>
              <a:rPr dirty="0" sz="2000" spc="642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ffffff"/>
                </a:solidFill>
                <a:latin typeface="Liberation Sans"/>
                <a:cs typeface="Liberation Sans"/>
              </a:rPr>
              <a:t>t</a:t>
            </a:r>
            <a:r>
              <a:rPr dirty="0" sz="2000" spc="1210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ffffff"/>
                </a:solidFill>
                <a:latin typeface="Liberation Sans"/>
                <a:cs typeface="Liberation Sans"/>
              </a:rPr>
              <a:t>nh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36984" y="4454013"/>
            <a:ext cx="4511076" cy="32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ffffff"/>
                </a:solidFill>
                <a:latin typeface="Liberation Sans"/>
                <a:cs typeface="Liberation Sans"/>
              </a:rPr>
              <a:t>Đ</a:t>
            </a:r>
            <a:r>
              <a:rPr dirty="0" sz="2000" spc="-18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ffffff"/>
                </a:solidFill>
                <a:latin typeface="Liberation Sans"/>
                <a:cs typeface="Liberation Sans"/>
              </a:rPr>
              <a:t>nh</a:t>
            </a:r>
            <a:r>
              <a:rPr dirty="0" sz="2000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ffffff"/>
                </a:solidFill>
                <a:latin typeface="Liberation Sans"/>
                <a:cs typeface="Liberation Sans"/>
              </a:rPr>
              <a:t>nghĩa</a:t>
            </a:r>
            <a:r>
              <a:rPr dirty="0" sz="2000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2000" spc="-101" b="1">
                <a:solidFill>
                  <a:srgbClr val="ffffff"/>
                </a:solidFill>
                <a:latin typeface="Liberation Sans"/>
                <a:cs typeface="Liberation Sans"/>
              </a:rPr>
              <a:t>Tr</a:t>
            </a:r>
            <a:r>
              <a:rPr dirty="0" sz="2000" spc="751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ffffff"/>
                </a:solidFill>
                <a:latin typeface="Liberation Sans"/>
                <a:cs typeface="Liberation Sans"/>
              </a:rPr>
              <a:t>ng</a:t>
            </a:r>
            <a:r>
              <a:rPr dirty="0" sz="2000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ffffff"/>
                </a:solidFill>
                <a:latin typeface="Liberation Sans"/>
                <a:cs typeface="Liberation Sans"/>
              </a:rPr>
              <a:t>thái</a:t>
            </a:r>
            <a:r>
              <a:rPr dirty="0" sz="2000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ffffff"/>
                </a:solidFill>
                <a:latin typeface="Liberation Sans"/>
                <a:cs typeface="Liberation Sans"/>
              </a:rPr>
              <a:t>&amp;</a:t>
            </a:r>
            <a:r>
              <a:rPr dirty="0" sz="2000" spc="15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ffffff"/>
                </a:solidFill>
                <a:latin typeface="Liberation Sans"/>
                <a:cs typeface="Liberation Sans"/>
              </a:rPr>
              <a:t>Chuy</a:t>
            </a:r>
            <a:r>
              <a:rPr dirty="0" sz="2000" spc="717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ffffff"/>
                </a:solidFill>
                <a:latin typeface="Liberation Sans"/>
                <a:cs typeface="Liberation Sans"/>
              </a:rPr>
              <a:t>n</a:t>
            </a:r>
            <a:r>
              <a:rPr dirty="0" sz="2000" spc="14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ffffff"/>
                </a:solidFill>
                <a:latin typeface="Liberation Sans"/>
                <a:cs typeface="Liberation Sans"/>
              </a:rPr>
              <a:t>đ</a:t>
            </a:r>
            <a:r>
              <a:rPr dirty="0" sz="2000" spc="653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ffffff"/>
                </a:solidFill>
                <a:latin typeface="Liberation Sans"/>
                <a:cs typeface="Liberation Sans"/>
              </a:rPr>
              <a:t>i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8093123" y="4740557"/>
            <a:ext cx="973940" cy="2526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ffffff"/>
                </a:solidFill>
                <a:latin typeface="Liberation Sans"/>
                <a:cs typeface="Liberation Sans"/>
              </a:rPr>
              <a:t>OnSwipe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45641" y="4927405"/>
            <a:ext cx="5318676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i="1">
                <a:solidFill>
                  <a:srgbClr val="d1d5db"/>
                </a:solidFill>
                <a:latin typeface="ARVFNE+Liberation Sans Italic"/>
                <a:cs typeface="ARVFNE+Liberation Sans Italic"/>
              </a:rPr>
              <a:t>M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ộ</a:t>
            </a:r>
            <a:r>
              <a:rPr dirty="0" sz="1350" i="1">
                <a:solidFill>
                  <a:srgbClr val="d1d5db"/>
                </a:solidFill>
                <a:latin typeface="ARVFNE+Liberation Sans Italic"/>
                <a:cs typeface="ARVFNE+Liberation Sans Italic"/>
              </a:rPr>
              <a:t>t</a:t>
            </a:r>
            <a:r>
              <a:rPr dirty="0" sz="1350" i="1">
                <a:solidFill>
                  <a:srgbClr val="d1d5db"/>
                </a:solidFill>
                <a:latin typeface="ARVFNE+Liberation Sans Italic"/>
                <a:cs typeface="ARVFNE+Liberation Sans Italic"/>
              </a:rPr>
              <a:t> </a:t>
            </a:r>
            <a:r>
              <a:rPr dirty="0" sz="1350" b="1" i="1">
                <a:solidFill>
                  <a:srgbClr val="ffffff"/>
                </a:solidFill>
                <a:latin typeface="Liberation Sans"/>
                <a:cs typeface="Liberation Sans"/>
              </a:rPr>
              <a:t>Transition</a:t>
            </a:r>
            <a:r>
              <a:rPr dirty="0" sz="1350" spc="37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 i="1">
                <a:solidFill>
                  <a:srgbClr val="d1d5db"/>
                </a:solidFill>
                <a:latin typeface="ARVFNE+Liberation Sans Italic"/>
                <a:cs typeface="ARVFNE+Liberation Sans Italic"/>
              </a:rPr>
              <a:t>đ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ị</a:t>
            </a:r>
            <a:r>
              <a:rPr dirty="0" sz="1350" i="1">
                <a:solidFill>
                  <a:srgbClr val="d1d5db"/>
                </a:solidFill>
                <a:latin typeface="ARVFNE+Liberation Sans Italic"/>
                <a:cs typeface="ARVFNE+Liberation Sans Italic"/>
              </a:rPr>
              <a:t>nh</a:t>
            </a:r>
            <a:r>
              <a:rPr dirty="0" sz="1350" i="1">
                <a:solidFill>
                  <a:srgbClr val="d1d5db"/>
                </a:solidFill>
                <a:latin typeface="ARVFNE+Liberation Sans Italic"/>
                <a:cs typeface="ARVFNE+Liberation Sans Italic"/>
              </a:rPr>
              <a:t> </a:t>
            </a:r>
            <a:r>
              <a:rPr dirty="0" sz="1350" i="1">
                <a:solidFill>
                  <a:srgbClr val="d1d5db"/>
                </a:solidFill>
                <a:latin typeface="ARVFNE+Liberation Sans Italic"/>
                <a:cs typeface="ARVFNE+Liberation Sans Italic"/>
              </a:rPr>
              <a:t>nghĩa</a:t>
            </a:r>
            <a:r>
              <a:rPr dirty="0" sz="1350" i="1">
                <a:solidFill>
                  <a:srgbClr val="d1d5db"/>
                </a:solidFill>
                <a:latin typeface="ARVFNE+Liberation Sans Italic"/>
                <a:cs typeface="ARVFNE+Liberation Sans Italic"/>
              </a:rPr>
              <a:t> </a:t>
            </a:r>
            <a:r>
              <a:rPr dirty="0" sz="1350" i="1">
                <a:solidFill>
                  <a:srgbClr val="d1d5db"/>
                </a:solidFill>
                <a:latin typeface="ARVFNE+Liberation Sans Italic"/>
                <a:cs typeface="ARVFNE+Liberation Sans Italic"/>
              </a:rPr>
              <a:t>cách</a:t>
            </a:r>
            <a:r>
              <a:rPr dirty="0" sz="1350" i="1">
                <a:solidFill>
                  <a:srgbClr val="d1d5db"/>
                </a:solidFill>
                <a:latin typeface="ARVFNE+Liberation Sans Italic"/>
                <a:cs typeface="ARVFNE+Liberation Sans Italic"/>
              </a:rPr>
              <a:t> </a:t>
            </a:r>
            <a:r>
              <a:rPr dirty="0" sz="1350" i="1">
                <a:solidFill>
                  <a:srgbClr val="d1d5db"/>
                </a:solidFill>
                <a:latin typeface="ARVFNE+Liberation Sans Italic"/>
                <a:cs typeface="ARVFNE+Liberation Sans Italic"/>
              </a:rPr>
              <a:t>các</a:t>
            </a:r>
            <a:r>
              <a:rPr dirty="0" sz="1350" i="1">
                <a:solidFill>
                  <a:srgbClr val="d1d5db"/>
                </a:solidFill>
                <a:latin typeface="ARVFNE+Liberation Sans Italic"/>
                <a:cs typeface="ARVFNE+Liberation Sans Italic"/>
              </a:rPr>
              <a:t> </a:t>
            </a:r>
            <a:r>
              <a:rPr dirty="0" sz="1350" i="1">
                <a:solidFill>
                  <a:srgbClr val="d1d5db"/>
                </a:solidFill>
                <a:latin typeface="ARVFNE+Liberation Sans Italic"/>
                <a:cs typeface="ARVFNE+Liberation Sans Italic"/>
              </a:rPr>
              <a:t>ch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ế</a:t>
            </a:r>
            <a:r>
              <a:rPr dirty="0" sz="1350" spc="30">
                <a:solidFill>
                  <a:srgbClr val="d1d5db"/>
                </a:solidFill>
                <a:latin typeface="Times New Roman"/>
                <a:cs typeface="Times New Roman"/>
              </a:rPr>
              <a:t> </a:t>
            </a:r>
            <a:r>
              <a:rPr dirty="0" sz="1350" i="1">
                <a:solidFill>
                  <a:srgbClr val="d1d5db"/>
                </a:solidFill>
                <a:latin typeface="ARVFNE+Liberation Sans Italic"/>
                <a:cs typeface="ARVFNE+Liberation Sans Italic"/>
              </a:rPr>
              <a:t>đ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ộ</a:t>
            </a:r>
            <a:r>
              <a:rPr dirty="0" sz="1350" spc="34">
                <a:solidFill>
                  <a:srgbClr val="d1d5db"/>
                </a:solidFill>
                <a:latin typeface="Times New Roman"/>
                <a:cs typeface="Times New Roman"/>
              </a:rPr>
              <a:t> </a:t>
            </a:r>
            <a:r>
              <a:rPr dirty="0" sz="1350" i="1">
                <a:solidFill>
                  <a:srgbClr val="d1d5db"/>
                </a:solidFill>
                <a:latin typeface="ARVFNE+Liberation Sans Italic"/>
                <a:cs typeface="ARVFNE+Liberation Sans Italic"/>
              </a:rPr>
              <a:t>xem</a:t>
            </a:r>
            <a:r>
              <a:rPr dirty="0" sz="1350" i="1">
                <a:solidFill>
                  <a:srgbClr val="d1d5db"/>
                </a:solidFill>
                <a:latin typeface="ARVFNE+Liberation Sans Italic"/>
                <a:cs typeface="ARVFNE+Liberation Sans Italic"/>
              </a:rPr>
              <a:t> </a:t>
            </a:r>
            <a:r>
              <a:rPr dirty="0" sz="1350" i="1">
                <a:solidFill>
                  <a:srgbClr val="d1d5db"/>
                </a:solidFill>
                <a:latin typeface="ARVFNE+Liberation Sans Italic"/>
                <a:cs typeface="ARVFNE+Liberation Sans Italic"/>
              </a:rPr>
              <a:t>di</a:t>
            </a:r>
            <a:r>
              <a:rPr dirty="0" sz="1350" i="1">
                <a:solidFill>
                  <a:srgbClr val="d1d5db"/>
                </a:solidFill>
                <a:latin typeface="ARVFNE+Liberation Sans Italic"/>
                <a:cs typeface="ARVFNE+Liberation Sans Italic"/>
              </a:rPr>
              <a:t> </a:t>
            </a:r>
            <a:r>
              <a:rPr dirty="0" sz="1350" i="1">
                <a:solidFill>
                  <a:srgbClr val="d1d5db"/>
                </a:solidFill>
                <a:latin typeface="ARVFNE+Liberation Sans Italic"/>
                <a:cs typeface="ARVFNE+Liberation Sans Italic"/>
              </a:rPr>
              <a:t>chuy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ể</a:t>
            </a:r>
            <a:r>
              <a:rPr dirty="0" sz="1350" i="1">
                <a:solidFill>
                  <a:srgbClr val="d1d5db"/>
                </a:solidFill>
                <a:latin typeface="ARVFNE+Liberation Sans Italic"/>
                <a:cs typeface="ARVFNE+Liberation Sans Italic"/>
              </a:rPr>
              <a:t>n</a:t>
            </a:r>
            <a:r>
              <a:rPr dirty="0" sz="1350" i="1">
                <a:solidFill>
                  <a:srgbClr val="d1d5db"/>
                </a:solidFill>
                <a:latin typeface="ARVFNE+Liberation Sans Italic"/>
                <a:cs typeface="ARVFNE+Liberation Sans Italic"/>
              </a:rPr>
              <a:t> </a:t>
            </a:r>
            <a:r>
              <a:rPr dirty="0" sz="1350" i="1">
                <a:solidFill>
                  <a:srgbClr val="d1d5db"/>
                </a:solidFill>
                <a:latin typeface="ARVFNE+Liberation Sans Italic"/>
                <a:cs typeface="ARVFNE+Liberation Sans Italic"/>
              </a:rPr>
              <a:t>gi</a:t>
            </a:r>
            <a:r>
              <a:rPr dirty="0" sz="1350" spc="-31">
                <a:solidFill>
                  <a:srgbClr val="d1d5db"/>
                </a:solidFill>
                <a:latin typeface="DejaVu Sans"/>
                <a:cs typeface="DejaVu Sans"/>
              </a:rPr>
              <a:t>ữ</a:t>
            </a:r>
            <a:r>
              <a:rPr dirty="0" sz="1350" i="1">
                <a:solidFill>
                  <a:srgbClr val="d1d5db"/>
                </a:solidFill>
                <a:latin typeface="ARVFNE+Liberation Sans Italic"/>
                <a:cs typeface="ARVFNE+Liberation Sans Italic"/>
              </a:rPr>
              <a:t>a</a:t>
            </a:r>
            <a:r>
              <a:rPr dirty="0" sz="1350" i="1">
                <a:solidFill>
                  <a:srgbClr val="d1d5db"/>
                </a:solidFill>
                <a:latin typeface="ARVFNE+Liberation Sans Italic"/>
                <a:cs typeface="ARVFNE+Liberation Sans Italic"/>
              </a:rPr>
              <a:t> </a:t>
            </a:r>
            <a:r>
              <a:rPr dirty="0" sz="1350" i="1">
                <a:solidFill>
                  <a:srgbClr val="d1d5db"/>
                </a:solidFill>
                <a:latin typeface="ARVFNE+Liberation Sans Italic"/>
                <a:cs typeface="ARVFNE+Liberation Sans Italic"/>
              </a:rPr>
              <a:t>các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093123" y="5023410"/>
            <a:ext cx="3474376" cy="2119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1">
                <a:solidFill>
                  <a:srgbClr val="d1d5db"/>
                </a:solidFill>
                <a:latin typeface="Liberation Sans"/>
                <a:cs typeface="Liberation Sans"/>
              </a:rPr>
              <a:t>Kích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Liberation Sans"/>
                <a:cs typeface="Liberation Sans"/>
              </a:rPr>
              <a:t>ho</a:t>
            </a:r>
            <a:r>
              <a:rPr dirty="0" sz="1200" spc="15">
                <a:solidFill>
                  <a:srgbClr val="d1d5db"/>
                </a:solidFill>
                <a:latin typeface="DejaVu Sans"/>
                <a:cs typeface="DejaVu Sans"/>
              </a:rPr>
              <a:t>ạ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t</a:t>
            </a:r>
            <a:r>
              <a:rPr dirty="0" sz="1200" spc="-14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Liberation Sans"/>
                <a:cs typeface="Liberation Sans"/>
              </a:rPr>
              <a:t>ho</a:t>
            </a:r>
            <a:r>
              <a:rPr dirty="0" sz="1200" spc="15">
                <a:solidFill>
                  <a:srgbClr val="d1d5db"/>
                </a:solidFill>
                <a:latin typeface="DejaVu Sans"/>
                <a:cs typeface="DejaVu Sans"/>
              </a:rPr>
              <a:t>ạ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t</a:t>
            </a:r>
            <a:r>
              <a:rPr dirty="0" sz="1200" spc="-14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dirty="0" sz="1200" spc="15">
                <a:solidFill>
                  <a:srgbClr val="d1d5db"/>
                </a:solidFill>
                <a:latin typeface="DejaVu Sans"/>
                <a:cs typeface="DejaVu Sans"/>
              </a:rPr>
              <a:t>ả</a:t>
            </a:r>
            <a:r>
              <a:rPr dirty="0" sz="1200" spc="-14">
                <a:solidFill>
                  <a:srgbClr val="d1d5db"/>
                </a:solidFill>
                <a:latin typeface="Liberation Sans"/>
                <a:cs typeface="Liberation Sans"/>
              </a:rPr>
              <a:t>nh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Liberation Sans"/>
                <a:cs typeface="Liberation Sans"/>
              </a:rPr>
              <a:t>qua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t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ươ</a:t>
            </a:r>
            <a:r>
              <a:rPr dirty="0" sz="1200" spc="-14">
                <a:solidFill>
                  <a:srgbClr val="d1d5db"/>
                </a:solidFill>
                <a:latin typeface="Liberation Sans"/>
                <a:cs typeface="Liberation Sans"/>
              </a:rPr>
              <a:t>ng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dirty="0" sz="1200" spc="-10">
                <a:solidFill>
                  <a:srgbClr val="d1d5db"/>
                </a:solidFill>
                <a:latin typeface="Liberation Sans"/>
                <a:cs typeface="Liberation Sans"/>
              </a:rPr>
              <a:t>tác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Liberation Sans"/>
                <a:cs typeface="Liberation Sans"/>
              </a:rPr>
              <a:t>vu</a:t>
            </a:r>
            <a:r>
              <a:rPr dirty="0" sz="1200" spc="15">
                <a:solidFill>
                  <a:srgbClr val="d1d5db"/>
                </a:solidFill>
                <a:latin typeface="DejaVu Sans"/>
                <a:cs typeface="DejaVu Sans"/>
              </a:rPr>
              <a:t>ố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t</a:t>
            </a:r>
            <a:r>
              <a:rPr dirty="0" sz="1200" spc="-14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dirty="0" sz="1200" spc="-11">
                <a:solidFill>
                  <a:srgbClr val="d1d5db"/>
                </a:solidFill>
                <a:latin typeface="Liberation Sans"/>
                <a:cs typeface="Liberation Sans"/>
              </a:rPr>
              <a:t>c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ủ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a</a:t>
            </a:r>
            <a:r>
              <a:rPr dirty="0" sz="1200" spc="-2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Liberation Sans"/>
                <a:cs typeface="Liberation Sans"/>
              </a:rPr>
              <a:t>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ườ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i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845641" y="5188498"/>
            <a:ext cx="2152581" cy="2287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 i="1">
                <a:solidFill>
                  <a:srgbClr val="ffffff"/>
                </a:solidFill>
                <a:latin typeface="Liberation Sans"/>
                <a:cs typeface="Liberation Sans"/>
              </a:rPr>
              <a:t>ConstraintSet</a:t>
            </a:r>
            <a:r>
              <a:rPr dirty="0" sz="1350" spc="37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350" i="1">
                <a:solidFill>
                  <a:srgbClr val="d1d5db"/>
                </a:solidFill>
                <a:latin typeface="ARVFNE+Liberation Sans Italic"/>
                <a:cs typeface="ARVFNE+Liberation Sans Italic"/>
              </a:rPr>
              <a:t>khác</a:t>
            </a:r>
            <a:r>
              <a:rPr dirty="0" sz="1350" i="1">
                <a:solidFill>
                  <a:srgbClr val="d1d5db"/>
                </a:solidFill>
                <a:latin typeface="ARVFNE+Liberation Sans Italic"/>
                <a:cs typeface="ARVFNE+Liberation Sans Italic"/>
              </a:rPr>
              <a:t> </a:t>
            </a:r>
            <a:r>
              <a:rPr dirty="0" sz="1350" i="1">
                <a:solidFill>
                  <a:srgbClr val="d1d5db"/>
                </a:solidFill>
                <a:latin typeface="ARVFNE+Liberation Sans Italic"/>
                <a:cs typeface="ARVFNE+Liberation Sans Italic"/>
              </a:rPr>
              <a:t>nhau.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8093123" y="5236387"/>
            <a:ext cx="526144" cy="2049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4">
                <a:solidFill>
                  <a:srgbClr val="d1d5db"/>
                </a:solidFill>
                <a:latin typeface="Liberation Sans"/>
                <a:cs typeface="Liberation Sans"/>
              </a:rPr>
              <a:t>dùng.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188541" y="5616857"/>
            <a:ext cx="1080547" cy="2526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ffffff"/>
                </a:solidFill>
                <a:latin typeface="Liberation Sans"/>
                <a:cs typeface="Liberation Sans"/>
              </a:rPr>
              <a:t>Transition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8093123" y="5635907"/>
            <a:ext cx="1411338" cy="2526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ffffff"/>
                </a:solidFill>
                <a:latin typeface="Liberation Sans"/>
                <a:cs typeface="Liberation Sans"/>
              </a:rPr>
              <a:t>ConstraintSet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188541" y="5899710"/>
            <a:ext cx="3868355" cy="2119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8">
                <a:solidFill>
                  <a:srgbClr val="d1d5db"/>
                </a:solidFill>
                <a:latin typeface="Liberation Sans"/>
                <a:cs typeface="Liberation Sans"/>
              </a:rPr>
              <a:t>C</a:t>
            </a:r>
            <a:r>
              <a:rPr dirty="0" sz="1200" spc="15">
                <a:solidFill>
                  <a:srgbClr val="d1d5db"/>
                </a:solidFill>
                <a:latin typeface="DejaVu Sans"/>
                <a:cs typeface="DejaVu Sans"/>
              </a:rPr>
              <a:t>ấ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u</a:t>
            </a:r>
            <a:r>
              <a:rPr dirty="0" sz="1200" spc="-2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dirty="0" sz="1200" spc="-10">
                <a:solidFill>
                  <a:srgbClr val="d1d5db"/>
                </a:solidFill>
                <a:latin typeface="Liberation Sans"/>
                <a:cs typeface="Liberation Sans"/>
              </a:rPr>
              <a:t>hình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Liberation Sans"/>
                <a:cs typeface="Liberation Sans"/>
              </a:rPr>
              <a:t>ho</a:t>
            </a:r>
            <a:r>
              <a:rPr dirty="0" sz="1200" spc="15">
                <a:solidFill>
                  <a:srgbClr val="d1d5db"/>
                </a:solidFill>
                <a:latin typeface="DejaVu Sans"/>
                <a:cs typeface="DejaVu Sans"/>
              </a:rPr>
              <a:t>ạ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t</a:t>
            </a:r>
            <a:r>
              <a:rPr dirty="0" sz="1200" spc="-14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dirty="0" sz="1200" spc="15">
                <a:solidFill>
                  <a:srgbClr val="d1d5db"/>
                </a:solidFill>
                <a:latin typeface="DejaVu Sans"/>
                <a:cs typeface="DejaVu Sans"/>
              </a:rPr>
              <a:t>ả</a:t>
            </a:r>
            <a:r>
              <a:rPr dirty="0" sz="1200" spc="-14">
                <a:solidFill>
                  <a:srgbClr val="d1d5db"/>
                </a:solidFill>
                <a:latin typeface="Liberation Sans"/>
                <a:cs typeface="Liberation Sans"/>
              </a:rPr>
              <a:t>nh,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Liberation Sans"/>
                <a:cs typeface="Liberation Sans"/>
              </a:rPr>
              <a:t>bao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Liberation Sans"/>
                <a:cs typeface="Liberation Sans"/>
              </a:rPr>
              <a:t>g</a:t>
            </a:r>
            <a:r>
              <a:rPr dirty="0" sz="1200" spc="15">
                <a:solidFill>
                  <a:srgbClr val="d1d5db"/>
                </a:solidFill>
                <a:latin typeface="DejaVu Sans"/>
                <a:cs typeface="DejaVu Sans"/>
              </a:rPr>
              <a:t>ồ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m</a:t>
            </a:r>
            <a:r>
              <a:rPr dirty="0" sz="1200" spc="-27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dirty="0" sz="1200" spc="-10">
                <a:solidFill>
                  <a:srgbClr val="d1d5db"/>
                </a:solidFill>
                <a:latin typeface="Liberation Sans"/>
                <a:cs typeface="Liberation Sans"/>
              </a:rPr>
              <a:t>th</a:t>
            </a:r>
            <a:r>
              <a:rPr dirty="0" sz="1200" spc="15">
                <a:solidFill>
                  <a:srgbClr val="d1d5db"/>
                </a:solidFill>
                <a:latin typeface="DejaVu Sans"/>
                <a:cs typeface="DejaVu Sans"/>
              </a:rPr>
              <a:t>ờ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i</a:t>
            </a:r>
            <a:r>
              <a:rPr dirty="0" sz="1200" spc="-11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l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ượ</a:t>
            </a:r>
            <a:r>
              <a:rPr dirty="0" sz="1200" spc="-14">
                <a:solidFill>
                  <a:srgbClr val="d1d5db"/>
                </a:solidFill>
                <a:latin typeface="Liberation Sans"/>
                <a:cs typeface="Liberation Sans"/>
              </a:rPr>
              <a:t>ng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dirty="0" sz="1200" spc="-10">
                <a:solidFill>
                  <a:srgbClr val="d1d5db"/>
                </a:solidFill>
                <a:latin typeface="Liberation Sans"/>
                <a:cs typeface="Liberation Sans"/>
              </a:rPr>
              <a:t>(ví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Liberation Sans"/>
                <a:cs typeface="Liberation Sans"/>
              </a:rPr>
              <a:t>d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ụ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:</a:t>
            </a:r>
            <a:r>
              <a:rPr dirty="0" sz="1200" spc="-14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Liberation Sans"/>
                <a:cs typeface="Liberation Sans"/>
              </a:rPr>
              <a:t>300ms).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8093123" y="5918760"/>
            <a:ext cx="3523360" cy="2119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8">
                <a:solidFill>
                  <a:srgbClr val="d1d5db"/>
                </a:solidFill>
                <a:latin typeface="Liberation Sans"/>
                <a:cs typeface="Liberation Sans"/>
              </a:rPr>
              <a:t>Đ</a:t>
            </a:r>
            <a:r>
              <a:rPr dirty="0" sz="1200" spc="15">
                <a:solidFill>
                  <a:srgbClr val="d1d5db"/>
                </a:solidFill>
                <a:latin typeface="DejaVu Sans"/>
                <a:cs typeface="DejaVu Sans"/>
              </a:rPr>
              <a:t>ặ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t</a:t>
            </a:r>
            <a:r>
              <a:rPr dirty="0" sz="1200" spc="-14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dirty="0" sz="1200" spc="-10">
                <a:solidFill>
                  <a:srgbClr val="d1d5db"/>
                </a:solidFill>
                <a:latin typeface="Liberation Sans"/>
                <a:cs typeface="Liberation Sans"/>
              </a:rPr>
              <a:t>thu</a:t>
            </a:r>
            <a:r>
              <a:rPr dirty="0" sz="1200" spc="15">
                <a:solidFill>
                  <a:srgbClr val="d1d5db"/>
                </a:solidFill>
                <a:latin typeface="DejaVu Sans"/>
                <a:cs typeface="DejaVu Sans"/>
              </a:rPr>
              <a:t>ộ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c</a:t>
            </a:r>
            <a:r>
              <a:rPr dirty="0" sz="1200" spc="-18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tính</a:t>
            </a:r>
            <a:r>
              <a:rPr dirty="0" sz="1200" spc="-1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Liberation Sans"/>
                <a:cs typeface="Liberation Sans"/>
              </a:rPr>
              <a:t>cho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Liberation Sans"/>
                <a:cs typeface="Liberation Sans"/>
              </a:rPr>
              <a:t>các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Liberation Sans"/>
                <a:cs typeface="Liberation Sans"/>
              </a:rPr>
              <a:t>ch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ế</a:t>
            </a:r>
            <a:r>
              <a:rPr dirty="0" sz="1200" spc="37">
                <a:solidFill>
                  <a:srgbClr val="d1d5db"/>
                </a:solidFill>
                <a:latin typeface="Times New Roman"/>
                <a:cs typeface="Times New Roman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Liberation Sans"/>
                <a:cs typeface="Liberation Sans"/>
              </a:rPr>
              <a:t>đ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ộ</a:t>
            </a:r>
            <a:r>
              <a:rPr dirty="0" sz="1200" spc="41">
                <a:solidFill>
                  <a:srgbClr val="d1d5db"/>
                </a:solidFill>
                <a:latin typeface="Times New Roman"/>
                <a:cs typeface="Times New Roman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Liberation Sans"/>
                <a:cs typeface="Liberation Sans"/>
              </a:rPr>
              <a:t>xem</a:t>
            </a:r>
            <a:r>
              <a:rPr dirty="0" sz="1200" spc="-14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ở</a:t>
            </a:r>
            <a:r>
              <a:rPr dirty="0" sz="1200" spc="41">
                <a:solidFill>
                  <a:srgbClr val="d1d5db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tr</a:t>
            </a:r>
            <a:r>
              <a:rPr dirty="0" sz="1200" spc="15">
                <a:solidFill>
                  <a:srgbClr val="d1d5db"/>
                </a:solidFill>
                <a:latin typeface="DejaVu Sans"/>
                <a:cs typeface="DejaVu Sans"/>
              </a:rPr>
              <a:t>ạ</a:t>
            </a:r>
            <a:r>
              <a:rPr dirty="0" sz="1200" spc="-14">
                <a:solidFill>
                  <a:srgbClr val="d1d5db"/>
                </a:solidFill>
                <a:latin typeface="Liberation Sans"/>
                <a:cs typeface="Liberation Sans"/>
              </a:rPr>
              <a:t>ng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dirty="0" sz="1200" spc="-10">
                <a:solidFill>
                  <a:srgbClr val="d1d5db"/>
                </a:solidFill>
                <a:latin typeface="Liberation Sans"/>
                <a:cs typeface="Liberation Sans"/>
              </a:rPr>
              <a:t>thái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dirty="0" sz="1200" spc="-11">
                <a:solidFill>
                  <a:srgbClr val="d1d5db"/>
                </a:solidFill>
                <a:latin typeface="Liberation Sans"/>
                <a:cs typeface="Liberation Sans"/>
              </a:rPr>
              <a:t>c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ụ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8093123" y="6128310"/>
            <a:ext cx="413638" cy="2119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0">
                <a:solidFill>
                  <a:srgbClr val="d1d5db"/>
                </a:solidFill>
                <a:latin typeface="Liberation Sans"/>
                <a:cs typeface="Liberation Sans"/>
              </a:rPr>
              <a:t>th</a:t>
            </a:r>
            <a:r>
              <a:rPr dirty="0" sz="1200" spc="11">
                <a:solidFill>
                  <a:srgbClr val="d1d5db"/>
                </a:solidFill>
                <a:latin typeface="DejaVu Sans"/>
                <a:cs typeface="DejaVu Sans"/>
              </a:rPr>
              <a:t>ể</a:t>
            </a:r>
            <a:r>
              <a:rPr dirty="0" sz="1200">
                <a:solidFill>
                  <a:srgbClr val="d1d5db"/>
                </a:solidFill>
                <a:latin typeface="Liberation Sans"/>
                <a:cs typeface="Liberation Sans"/>
              </a:rPr>
              <a:t>.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601539" y="6388382"/>
            <a:ext cx="589892" cy="2526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ff9800"/>
                </a:solidFill>
                <a:latin typeface="Liberation Sans"/>
                <a:cs typeface="Liberation Sans"/>
              </a:rPr>
              <a:t>Start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2765524" y="6388382"/>
            <a:ext cx="515070" cy="2526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00bcd4"/>
                </a:solidFill>
                <a:latin typeface="Liberation Sans"/>
                <a:cs typeface="Liberation Sans"/>
              </a:rPr>
              <a:t>End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7541566" y="6537885"/>
            <a:ext cx="3058831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2" i="1">
                <a:solidFill>
                  <a:srgbClr val="9ca3af"/>
                </a:solidFill>
                <a:latin typeface="Liberation Sans"/>
                <a:cs typeface="Liberation Sans"/>
              </a:rPr>
              <a:t>"H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ỗ</a:t>
            </a:r>
            <a:r>
              <a:rPr dirty="0" sz="1200" spc="41">
                <a:solidFill>
                  <a:srgbClr val="9ca3af"/>
                </a:solidFill>
                <a:latin typeface="Times New Roman"/>
                <a:cs typeface="Times New Roman"/>
              </a:rPr>
              <a:t> </a:t>
            </a:r>
            <a:r>
              <a:rPr dirty="0" sz="1200" i="1">
                <a:solidFill>
                  <a:srgbClr val="9ca3af"/>
                </a:solidFill>
                <a:latin typeface="Liberation Sans"/>
                <a:cs typeface="Liberation Sans"/>
              </a:rPr>
              <a:t>tr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ợ</a:t>
            </a:r>
            <a:r>
              <a:rPr dirty="0" sz="1200" spc="41">
                <a:solidFill>
                  <a:srgbClr val="9ca3af"/>
                </a:solidFill>
                <a:latin typeface="Times New Roman"/>
                <a:cs typeface="Times New Roman"/>
              </a:rPr>
              <a:t> </a:t>
            </a:r>
            <a:r>
              <a:rPr dirty="0" sz="1200" spc="-10" i="1">
                <a:solidFill>
                  <a:srgbClr val="9ca3af"/>
                </a:solidFill>
                <a:latin typeface="Liberation Sans"/>
                <a:cs typeface="Liberation Sans"/>
              </a:rPr>
              <a:t>tùy</a:t>
            </a:r>
            <a:r>
              <a:rPr dirty="0" sz="1200" i="1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1200" spc="-12" i="1">
                <a:solidFill>
                  <a:srgbClr val="9ca3af"/>
                </a:solidFill>
                <a:latin typeface="Liberation Sans"/>
                <a:cs typeface="Liberation Sans"/>
              </a:rPr>
              <a:t>ch</a:t>
            </a:r>
            <a:r>
              <a:rPr dirty="0" sz="1200" spc="-33">
                <a:solidFill>
                  <a:srgbClr val="9ca3af"/>
                </a:solidFill>
                <a:latin typeface="DejaVu Sans"/>
                <a:cs typeface="DejaVu Sans"/>
              </a:rPr>
              <a:t>ỉ</a:t>
            </a:r>
            <a:r>
              <a:rPr dirty="0" sz="1200" spc="-14" i="1">
                <a:solidFill>
                  <a:srgbClr val="9ca3af"/>
                </a:solidFill>
                <a:latin typeface="Liberation Sans"/>
                <a:cs typeface="Liberation Sans"/>
              </a:rPr>
              <a:t>nh</a:t>
            </a:r>
            <a:r>
              <a:rPr dirty="0" sz="1200" i="1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1200" spc="-10" i="1">
                <a:solidFill>
                  <a:srgbClr val="9ca3af"/>
                </a:solidFill>
                <a:latin typeface="Liberation Sans"/>
                <a:cs typeface="Liberation Sans"/>
              </a:rPr>
              <a:t>bi</a:t>
            </a:r>
            <a:r>
              <a:rPr dirty="0" sz="1200" spc="11">
                <a:solidFill>
                  <a:srgbClr val="9ca3af"/>
                </a:solidFill>
                <a:latin typeface="DejaVu Sans"/>
                <a:cs typeface="DejaVu Sans"/>
              </a:rPr>
              <a:t>ể</a:t>
            </a:r>
            <a:r>
              <a:rPr dirty="0" sz="1200" i="1">
                <a:solidFill>
                  <a:srgbClr val="9ca3af"/>
                </a:solidFill>
                <a:latin typeface="Liberation Sans"/>
                <a:cs typeface="Liberation Sans"/>
              </a:rPr>
              <a:t>u</a:t>
            </a:r>
            <a:r>
              <a:rPr dirty="0" sz="1200" spc="-20" i="1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1200" spc="-11" i="1">
                <a:solidFill>
                  <a:srgbClr val="9ca3af"/>
                </a:solidFill>
                <a:latin typeface="Liberation Sans"/>
                <a:cs typeface="Liberation Sans"/>
              </a:rPr>
              <a:t>c</a:t>
            </a:r>
            <a:r>
              <a:rPr dirty="0" sz="1200" spc="15">
                <a:solidFill>
                  <a:srgbClr val="9ca3af"/>
                </a:solidFill>
                <a:latin typeface="DejaVu Sans"/>
                <a:cs typeface="DejaVu Sans"/>
              </a:rPr>
              <a:t>ả</a:t>
            </a:r>
            <a:r>
              <a:rPr dirty="0" sz="1200" i="1">
                <a:solidFill>
                  <a:srgbClr val="9ca3af"/>
                </a:solidFill>
                <a:latin typeface="Liberation Sans"/>
                <a:cs typeface="Liberation Sans"/>
              </a:rPr>
              <a:t>m</a:t>
            </a:r>
            <a:r>
              <a:rPr dirty="0" sz="1200" spc="-27" i="1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1200" spc="-11" i="1">
                <a:solidFill>
                  <a:srgbClr val="9ca3af"/>
                </a:solidFill>
                <a:latin typeface="Liberation Sans"/>
                <a:cs typeface="Liberation Sans"/>
              </a:rPr>
              <a:t>và</a:t>
            </a:r>
            <a:r>
              <a:rPr dirty="0" sz="1200" i="1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1200" spc="-14" i="1">
                <a:solidFill>
                  <a:srgbClr val="9ca3af"/>
                </a:solidFill>
                <a:latin typeface="Liberation Sans"/>
                <a:cs typeface="Liberation Sans"/>
              </a:rPr>
              <a:t>phong</a:t>
            </a:r>
            <a:r>
              <a:rPr dirty="0" sz="1200" i="1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1200" spc="-11" i="1">
                <a:solidFill>
                  <a:srgbClr val="9ca3af"/>
                </a:solidFill>
                <a:latin typeface="Liberation Sans"/>
                <a:cs typeface="Liberation Sans"/>
              </a:rPr>
              <a:t>cách."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7650508" y="6998777"/>
            <a:ext cx="4267158" cy="18111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26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9ca3af"/>
                </a:solidFill>
                <a:latin typeface="Liberation Sans"/>
                <a:cs typeface="Liberation Sans"/>
              </a:rPr>
              <a:t>Source:</a:t>
            </a:r>
            <a:r>
              <a:rPr dirty="0" sz="1000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1000">
                <a:solidFill>
                  <a:srgbClr val="9ca3af"/>
                </a:solidFill>
                <a:latin typeface="Liberation Sans"/>
                <a:cs typeface="Liberation Sans"/>
              </a:rPr>
              <a:t>Manage</a:t>
            </a:r>
            <a:r>
              <a:rPr dirty="0" sz="1000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1000">
                <a:solidFill>
                  <a:srgbClr val="9ca3af"/>
                </a:solidFill>
                <a:latin typeface="Liberation Sans"/>
                <a:cs typeface="Liberation Sans"/>
              </a:rPr>
              <a:t>motion</a:t>
            </a:r>
            <a:r>
              <a:rPr dirty="0" sz="1000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1000">
                <a:solidFill>
                  <a:srgbClr val="9ca3af"/>
                </a:solidFill>
                <a:latin typeface="Liberation Sans"/>
                <a:cs typeface="Liberation Sans"/>
              </a:rPr>
              <a:t>and</a:t>
            </a:r>
            <a:r>
              <a:rPr dirty="0" sz="1000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1000">
                <a:solidFill>
                  <a:srgbClr val="9ca3af"/>
                </a:solidFill>
                <a:latin typeface="Liberation Sans"/>
                <a:cs typeface="Liberation Sans"/>
              </a:rPr>
              <a:t>widget</a:t>
            </a:r>
            <a:r>
              <a:rPr dirty="0" sz="1000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1000">
                <a:solidFill>
                  <a:srgbClr val="9ca3af"/>
                </a:solidFill>
                <a:latin typeface="Liberation Sans"/>
                <a:cs typeface="Liberation Sans"/>
              </a:rPr>
              <a:t>animation</a:t>
            </a:r>
            <a:r>
              <a:rPr dirty="0" sz="1000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1000">
                <a:solidFill>
                  <a:srgbClr val="9ca3af"/>
                </a:solidFill>
                <a:latin typeface="Liberation Sans"/>
                <a:cs typeface="Liberation Sans"/>
              </a:rPr>
              <a:t>with</a:t>
            </a:r>
            <a:r>
              <a:rPr dirty="0" sz="1000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1000">
                <a:solidFill>
                  <a:srgbClr val="9ca3af"/>
                </a:solidFill>
                <a:latin typeface="Liberation Sans"/>
                <a:cs typeface="Liberation Sans"/>
              </a:rPr>
              <a:t>MotionLayout</a:t>
            </a:r>
            <a:r>
              <a:rPr dirty="0" sz="1000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1000">
                <a:solidFill>
                  <a:srgbClr val="9ca3af"/>
                </a:solidFill>
                <a:latin typeface="Liberation Sans"/>
                <a:cs typeface="Liberation Sans"/>
              </a:rPr>
              <a:t>|</a:t>
            </a:r>
            <a:r>
              <a:rPr dirty="0" sz="1000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dirty="0" sz="1000">
                <a:solidFill>
                  <a:srgbClr val="9ca3af"/>
                </a:solidFill>
                <a:latin typeface="Liberation Sans"/>
                <a:cs typeface="Liberation Sans"/>
              </a:rPr>
              <a:t>Views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80999" y="334315"/>
            <a:ext cx="7685906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1" b="1">
                <a:solidFill>
                  <a:srgbClr val="e0e0e0"/>
                </a:solidFill>
                <a:latin typeface="DejaVu Sans"/>
                <a:cs typeface="DejaVu Sans"/>
              </a:rPr>
              <a:t>Giới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0" b="1">
                <a:solidFill>
                  <a:srgbClr val="e0e0e0"/>
                </a:solidFill>
                <a:latin typeface="DejaVu Sans"/>
                <a:cs typeface="DejaVu Sans"/>
              </a:rPr>
              <a:t>thiệu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1" b="1">
                <a:solidFill>
                  <a:srgbClr val="00bcd4"/>
                </a:solidFill>
                <a:latin typeface="DejaVu Sans"/>
                <a:cs typeface="DejaVu Sans"/>
              </a:rPr>
              <a:t>Material</a:t>
            </a:r>
            <a:r>
              <a:rPr dirty="0" sz="405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4050" spc="-11" b="1">
                <a:solidFill>
                  <a:srgbClr val="00bcd4"/>
                </a:solidFill>
                <a:latin typeface="DejaVu Sans"/>
                <a:cs typeface="DejaVu Sans"/>
              </a:rPr>
              <a:t>Design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511152" y="1895945"/>
            <a:ext cx="2337550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Tính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nhất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quán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432648" y="1895945"/>
            <a:ext cx="2171435" cy="6790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1" b="1">
                <a:solidFill>
                  <a:srgbClr val="e0e0e0"/>
                </a:solidFill>
                <a:latin typeface="DejaVu Sans"/>
                <a:cs typeface="DejaVu Sans"/>
              </a:rPr>
              <a:t>Khả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năng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tiếp</a:t>
            </a:r>
          </a:p>
          <a:p>
            <a:pPr marL="0" marR="0">
              <a:lnSpc>
                <a:spcPts val="2346"/>
              </a:lnSpc>
              <a:spcBef>
                <a:spcPts val="353"/>
              </a:spcBef>
              <a:spcAft>
                <a:spcPts val="0"/>
              </a:spcAft>
            </a:pP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cận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51556" y="1981670"/>
            <a:ext cx="2374536" cy="6790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1" b="1">
                <a:solidFill>
                  <a:srgbClr val="e0e0e0"/>
                </a:solidFill>
                <a:latin typeface="DejaVu Sans"/>
                <a:cs typeface="DejaVu Sans"/>
              </a:rPr>
              <a:t>Ngôn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ngữ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Thiết</a:t>
            </a:r>
          </a:p>
          <a:p>
            <a:pPr marL="0" marR="0">
              <a:lnSpc>
                <a:spcPts val="2346"/>
              </a:lnSpc>
              <a:spcBef>
                <a:spcPts val="353"/>
              </a:spcBef>
              <a:spcAft>
                <a:spcPts val="0"/>
              </a:spcAft>
            </a:pP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kế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của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Google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511152" y="2327588"/>
            <a:ext cx="2308055" cy="7416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Đảm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bảo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giao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diện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và</a:t>
            </a:r>
          </a:p>
          <a:p>
            <a:pPr marL="0" marR="0">
              <a:lnSpc>
                <a:spcPts val="1564"/>
              </a:lnSpc>
              <a:spcBef>
                <a:spcPts val="335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hành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vi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thống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nhất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 spc="-12">
                <a:solidFill>
                  <a:srgbClr val="e0e0e0"/>
                </a:solidFill>
                <a:latin typeface="DejaVu Sans"/>
                <a:cs typeface="DejaVu Sans"/>
              </a:rPr>
              <a:t>trên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mọi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thiết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bị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và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ứng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dụng.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316044" y="2315045"/>
            <a:ext cx="2041192" cy="6790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ffffff"/>
                </a:solidFill>
                <a:latin typeface="DejaVu Sans"/>
                <a:cs typeface="DejaVu Sans"/>
              </a:rPr>
              <a:t>Chuyển</a:t>
            </a:r>
            <a:r>
              <a:rPr dirty="0" sz="2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ffffff"/>
                </a:solidFill>
                <a:latin typeface="DejaVu Sans"/>
                <a:cs typeface="DejaVu Sans"/>
              </a:rPr>
              <a:t>động</a:t>
            </a:r>
          </a:p>
          <a:p>
            <a:pPr marL="0" marR="0">
              <a:lnSpc>
                <a:spcPts val="2346"/>
              </a:lnSpc>
              <a:spcBef>
                <a:spcPts val="353"/>
              </a:spcBef>
              <a:spcAft>
                <a:spcPts val="0"/>
              </a:spcAft>
            </a:pPr>
            <a:r>
              <a:rPr dirty="0" sz="2000" b="1">
                <a:solidFill>
                  <a:srgbClr val="ffffff"/>
                </a:solidFill>
                <a:latin typeface="DejaVu Sans"/>
                <a:cs typeface="DejaVu Sans"/>
              </a:rPr>
              <a:t>làm</a:t>
            </a:r>
            <a:r>
              <a:rPr dirty="0" sz="2000" spc="14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ffffff"/>
                </a:solidFill>
                <a:latin typeface="DejaVu Sans"/>
                <a:cs typeface="DejaVu Sans"/>
              </a:rPr>
              <a:t>phản</a:t>
            </a:r>
            <a:r>
              <a:rPr dirty="0" sz="2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ffffff"/>
                </a:solidFill>
                <a:latin typeface="DejaVu Sans"/>
                <a:cs typeface="DejaVu Sans"/>
              </a:rPr>
              <a:t>hồi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432648" y="2660963"/>
            <a:ext cx="2269040" cy="75114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Thiết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kế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hòa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nhập,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dễ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sử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dụng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cho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mọi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đối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tượng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người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dùng.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51556" y="2746688"/>
            <a:ext cx="2155149" cy="75114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Hệ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thống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thiết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kế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toàn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diện,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trực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quan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cho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trải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nghiệm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đa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nền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tảng.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9316044" y="3080818"/>
            <a:ext cx="2355636" cy="6310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4">
                <a:solidFill>
                  <a:srgbClr val="ffffff"/>
                </a:solidFill>
                <a:latin typeface="DejaVu Sans"/>
                <a:cs typeface="DejaVu Sans"/>
              </a:rPr>
              <a:t>Motion</a:t>
            </a:r>
            <a:r>
              <a:rPr dirty="0" sz="1200" spc="-1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ffffff"/>
                </a:solidFill>
                <a:latin typeface="DejaVu Sans"/>
                <a:cs typeface="DejaVu Sans"/>
              </a:rPr>
              <a:t>cung</a:t>
            </a:r>
            <a:r>
              <a:rPr dirty="0" sz="12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ffffff"/>
                </a:solidFill>
                <a:latin typeface="DejaVu Sans"/>
                <a:cs typeface="DejaVu Sans"/>
              </a:rPr>
              <a:t>cấp</a:t>
            </a:r>
            <a:r>
              <a:rPr dirty="0" sz="12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ffffff"/>
                </a:solidFill>
                <a:latin typeface="DejaVu Sans"/>
                <a:cs typeface="DejaVu Sans"/>
              </a:rPr>
              <a:t>phản</a:t>
            </a:r>
            <a:r>
              <a:rPr dirty="0" sz="12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ffffff"/>
                </a:solidFill>
                <a:latin typeface="DejaVu Sans"/>
                <a:cs typeface="DejaVu Sans"/>
              </a:rPr>
              <a:t>hồi</a:t>
            </a:r>
            <a:r>
              <a:rPr dirty="0" sz="12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DejaVu Sans"/>
                <a:cs typeface="DejaVu Sans"/>
              </a:rPr>
              <a:t>kịp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2">
                <a:solidFill>
                  <a:srgbClr val="ffffff"/>
                </a:solidFill>
                <a:latin typeface="DejaVu Sans"/>
                <a:cs typeface="DejaVu Sans"/>
              </a:rPr>
              <a:t>thời</a:t>
            </a:r>
            <a:r>
              <a:rPr dirty="0" sz="12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ffffff"/>
                </a:solidFill>
                <a:latin typeface="DejaVu Sans"/>
                <a:cs typeface="DejaVu Sans"/>
              </a:rPr>
              <a:t>và</a:t>
            </a:r>
            <a:r>
              <a:rPr dirty="0" sz="12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ffffff"/>
                </a:solidFill>
                <a:latin typeface="DejaVu Sans"/>
                <a:cs typeface="DejaVu Sans"/>
              </a:rPr>
              <a:t>cho</a:t>
            </a:r>
            <a:r>
              <a:rPr dirty="0" sz="12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ffffff"/>
                </a:solidFill>
                <a:latin typeface="DejaVu Sans"/>
                <a:cs typeface="DejaVu Sans"/>
              </a:rPr>
              <a:t>biết</a:t>
            </a:r>
            <a:r>
              <a:rPr dirty="0" sz="12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ffffff"/>
                </a:solidFill>
                <a:latin typeface="DejaVu Sans"/>
                <a:cs typeface="DejaVu Sans"/>
              </a:rPr>
              <a:t>trạng</a:t>
            </a:r>
            <a:r>
              <a:rPr dirty="0" sz="1200" spc="-1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ffffff"/>
                </a:solidFill>
                <a:latin typeface="DejaVu Sans"/>
                <a:cs typeface="DejaVu Sans"/>
              </a:rPr>
              <a:t>thái</a:t>
            </a:r>
          </a:p>
          <a:p>
            <a:pPr marL="0" marR="0">
              <a:lnSpc>
                <a:spcPts val="1368"/>
              </a:lnSpc>
              <a:spcBef>
                <a:spcPts val="281"/>
              </a:spcBef>
              <a:spcAft>
                <a:spcPts val="0"/>
              </a:spcAft>
            </a:pPr>
            <a:r>
              <a:rPr dirty="0" sz="1200" spc="-15">
                <a:solidFill>
                  <a:srgbClr val="ffffff"/>
                </a:solidFill>
                <a:latin typeface="DejaVu Sans"/>
                <a:cs typeface="DejaVu Sans"/>
              </a:rPr>
              <a:t>hành</a:t>
            </a:r>
            <a:r>
              <a:rPr dirty="0" sz="12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ffffff"/>
                </a:solidFill>
                <a:latin typeface="DejaVu Sans"/>
                <a:cs typeface="DejaVu Sans"/>
              </a:rPr>
              <a:t>động</a:t>
            </a:r>
            <a:r>
              <a:rPr dirty="0" sz="12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ffffff"/>
                </a:solidFill>
                <a:latin typeface="DejaVu Sans"/>
                <a:cs typeface="DejaVu Sans"/>
              </a:rPr>
              <a:t>của</a:t>
            </a:r>
            <a:r>
              <a:rPr dirty="0" sz="12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ffffff"/>
                </a:solidFill>
                <a:latin typeface="DejaVu Sans"/>
                <a:cs typeface="DejaVu Sans"/>
              </a:rPr>
              <a:t>người</a:t>
            </a:r>
            <a:r>
              <a:rPr dirty="0" sz="12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ffffff"/>
                </a:solidFill>
                <a:latin typeface="DejaVu Sans"/>
                <a:cs typeface="DejaVu Sans"/>
              </a:rPr>
              <a:t>dùng.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681709" y="3813488"/>
            <a:ext cx="1806804" cy="5320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Quy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tắc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thống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nhất</a:t>
            </a:r>
          </a:p>
          <a:p>
            <a:pPr marL="0" marR="0">
              <a:lnSpc>
                <a:spcPts val="1564"/>
              </a:lnSpc>
              <a:spcBef>
                <a:spcPts val="71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Dễ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nhận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diện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603205" y="3813488"/>
            <a:ext cx="1886701" cy="5320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Màu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sắc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tương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phản</a:t>
            </a:r>
          </a:p>
          <a:p>
            <a:pPr marL="0" marR="0">
              <a:lnSpc>
                <a:spcPts val="1564"/>
              </a:lnSpc>
              <a:spcBef>
                <a:spcPts val="71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Điều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hướng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 spc="-31">
                <a:solidFill>
                  <a:srgbClr val="e0e0e0"/>
                </a:solidFill>
                <a:latin typeface="DejaVu Sans"/>
                <a:cs typeface="DejaVu Sans"/>
              </a:rPr>
              <a:t>rõ</a:t>
            </a:r>
            <a:r>
              <a:rPr dirty="0" sz="1350" spc="25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ràng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58117" y="3843572"/>
            <a:ext cx="1445212" cy="4919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1a2b3c"/>
                </a:solidFill>
                <a:latin typeface="DejaVu Sans"/>
                <a:cs typeface="DejaVu Sans"/>
              </a:rPr>
              <a:t>Hệ</a:t>
            </a:r>
            <a:r>
              <a:rPr dirty="0" sz="1000" b="1">
                <a:solidFill>
                  <a:srgbClr val="1a2b3c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1a2b3c"/>
                </a:solidFill>
                <a:latin typeface="DejaVu Sans"/>
                <a:cs typeface="DejaVu Sans"/>
              </a:rPr>
              <a:t>thống</a:t>
            </a:r>
            <a:r>
              <a:rPr dirty="0" sz="1000" b="1">
                <a:solidFill>
                  <a:srgbClr val="1a2b3c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1a2b3c"/>
                </a:solidFill>
                <a:latin typeface="DejaVu Sans"/>
                <a:cs typeface="DejaVu Sans"/>
              </a:rPr>
              <a:t>Thiết</a:t>
            </a:r>
            <a:r>
              <a:rPr dirty="0" sz="1000" b="1">
                <a:solidFill>
                  <a:srgbClr val="1a2b3c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1a2b3c"/>
                </a:solidFill>
                <a:latin typeface="DejaVu Sans"/>
                <a:cs typeface="DejaVu Sans"/>
              </a:rPr>
              <a:t>kế</a:t>
            </a:r>
          </a:p>
          <a:p>
            <a:pPr marL="0" marR="0">
              <a:lnSpc>
                <a:spcPts val="1173"/>
              </a:lnSpc>
              <a:spcBef>
                <a:spcPts val="1226"/>
              </a:spcBef>
              <a:spcAft>
                <a:spcPts val="0"/>
              </a:spcAft>
            </a:pPr>
            <a:r>
              <a:rPr dirty="0" sz="1000" b="1">
                <a:solidFill>
                  <a:srgbClr val="1a2b3c"/>
                </a:solidFill>
                <a:latin typeface="DejaVu Sans"/>
                <a:cs typeface="DejaVu Sans"/>
              </a:rPr>
              <a:t>Đa</a:t>
            </a:r>
            <a:r>
              <a:rPr dirty="0" sz="1000" b="1">
                <a:solidFill>
                  <a:srgbClr val="1a2b3c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1a2b3c"/>
                </a:solidFill>
                <a:latin typeface="DejaVu Sans"/>
                <a:cs typeface="DejaVu Sans"/>
              </a:rPr>
              <a:t>Nền</a:t>
            </a:r>
            <a:r>
              <a:rPr dirty="0" sz="1000" b="1">
                <a:solidFill>
                  <a:srgbClr val="1a2b3c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1a2b3c"/>
                </a:solidFill>
                <a:latin typeface="DejaVu Sans"/>
                <a:cs typeface="DejaVu Sans"/>
              </a:rPr>
              <a:t>Tảng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9422605" y="3891197"/>
            <a:ext cx="1522958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Phản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hồi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trực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quan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9422605" y="4148372"/>
            <a:ext cx="1683946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spc="-23" b="1">
                <a:solidFill>
                  <a:srgbClr val="ffffff"/>
                </a:solidFill>
                <a:latin typeface="DejaVu Sans"/>
                <a:cs typeface="DejaVu Sans"/>
              </a:rPr>
              <a:t>Trải</a:t>
            </a:r>
            <a:r>
              <a:rPr dirty="0" sz="1000" spc="28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nghiệm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mượt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mà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36984" y="5048720"/>
            <a:ext cx="5281479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1" b="1">
                <a:solidFill>
                  <a:srgbClr val="00bcd4"/>
                </a:solidFill>
                <a:latin typeface="DejaVu Sans"/>
                <a:cs typeface="DejaVu Sans"/>
              </a:rPr>
              <a:t>Ứng</a:t>
            </a:r>
            <a:r>
              <a:rPr dirty="0" sz="200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0bcd4"/>
                </a:solidFill>
                <a:latin typeface="DejaVu Sans"/>
                <a:cs typeface="DejaVu Sans"/>
              </a:rPr>
              <a:t>dụng</a:t>
            </a:r>
            <a:r>
              <a:rPr dirty="0" sz="200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0bcd4"/>
                </a:solidFill>
                <a:latin typeface="DejaVu Sans"/>
                <a:cs typeface="DejaVu Sans"/>
              </a:rPr>
              <a:t>rộng</a:t>
            </a:r>
            <a:r>
              <a:rPr dirty="0" sz="200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00bcd4"/>
                </a:solidFill>
                <a:latin typeface="DejaVu Sans"/>
                <a:cs typeface="DejaVu Sans"/>
              </a:rPr>
              <a:t>rãi</a:t>
            </a:r>
            <a:r>
              <a:rPr dirty="0" sz="200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00bcd4"/>
                </a:solidFill>
                <a:latin typeface="DejaVu Sans"/>
                <a:cs typeface="DejaVu Sans"/>
              </a:rPr>
              <a:t>trong</a:t>
            </a:r>
            <a:r>
              <a:rPr dirty="0" sz="200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0bcd4"/>
                </a:solidFill>
                <a:latin typeface="DejaVu Sans"/>
                <a:cs typeface="DejaVu Sans"/>
              </a:rPr>
              <a:t>Android</a:t>
            </a:r>
            <a:r>
              <a:rPr dirty="0" sz="200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2000" spc="12" b="1">
                <a:solidFill>
                  <a:srgbClr val="00bcd4"/>
                </a:solidFill>
                <a:latin typeface="DejaVu Sans"/>
                <a:cs typeface="DejaVu Sans"/>
              </a:rPr>
              <a:t>UI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993576" y="5565333"/>
            <a:ext cx="2745763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API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hỗ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trợ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hiệu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ứng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&amp;</a:t>
            </a:r>
            <a:r>
              <a:rPr dirty="0" sz="1500" spc="12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bóng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623148" y="5565333"/>
            <a:ext cx="2798440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Theme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Material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cho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Widget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993576" y="5955858"/>
            <a:ext cx="3338319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spc="-17">
                <a:solidFill>
                  <a:srgbClr val="e0e0e0"/>
                </a:solidFill>
                <a:latin typeface="DejaVu Sans"/>
                <a:cs typeface="DejaVu Sans"/>
              </a:rPr>
              <a:t>Vector</a:t>
            </a:r>
            <a:r>
              <a:rPr dirty="0" sz="1500" spc="25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drawables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có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thể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spc="10">
                <a:solidFill>
                  <a:srgbClr val="e0e0e0"/>
                </a:solidFill>
                <a:latin typeface="DejaVu Sans"/>
                <a:cs typeface="DejaVu Sans"/>
              </a:rPr>
              <a:t>mở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rộng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6623148" y="5955858"/>
            <a:ext cx="4076558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MotionLayout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cho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chuyển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động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phức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tạp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5989885" y="6605822"/>
            <a:ext cx="6269232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Source: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developer.android.com,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m2.material.io,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beebom.com,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codelabs.developers.google.com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80999" y="334315"/>
            <a:ext cx="7685906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1" b="1">
                <a:solidFill>
                  <a:srgbClr val="e0e0e0"/>
                </a:solidFill>
                <a:latin typeface="DejaVu Sans"/>
                <a:cs typeface="DejaVu Sans"/>
              </a:rPr>
              <a:t>Giới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0" b="1">
                <a:solidFill>
                  <a:srgbClr val="e0e0e0"/>
                </a:solidFill>
                <a:latin typeface="DejaVu Sans"/>
                <a:cs typeface="DejaVu Sans"/>
              </a:rPr>
              <a:t>thiệu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1" b="1">
                <a:solidFill>
                  <a:srgbClr val="00bcd4"/>
                </a:solidFill>
                <a:latin typeface="DejaVu Sans"/>
                <a:cs typeface="DejaVu Sans"/>
              </a:rPr>
              <a:t>Material</a:t>
            </a:r>
            <a:r>
              <a:rPr dirty="0" sz="405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4050" spc="-11" b="1">
                <a:solidFill>
                  <a:srgbClr val="00bcd4"/>
                </a:solidFill>
                <a:latin typeface="DejaVu Sans"/>
                <a:cs typeface="DejaVu Sans"/>
              </a:rPr>
              <a:t>Design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511152" y="1895945"/>
            <a:ext cx="2337550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Tính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nhất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quán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432648" y="1895945"/>
            <a:ext cx="2171435" cy="6790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1" b="1">
                <a:solidFill>
                  <a:srgbClr val="e0e0e0"/>
                </a:solidFill>
                <a:latin typeface="DejaVu Sans"/>
                <a:cs typeface="DejaVu Sans"/>
              </a:rPr>
              <a:t>Khả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năng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tiếp</a:t>
            </a:r>
          </a:p>
          <a:p>
            <a:pPr marL="0" marR="0">
              <a:lnSpc>
                <a:spcPts val="2346"/>
              </a:lnSpc>
              <a:spcBef>
                <a:spcPts val="353"/>
              </a:spcBef>
              <a:spcAft>
                <a:spcPts val="0"/>
              </a:spcAft>
            </a:pP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cận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51556" y="1981670"/>
            <a:ext cx="2374536" cy="6790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1" b="1">
                <a:solidFill>
                  <a:srgbClr val="e0e0e0"/>
                </a:solidFill>
                <a:latin typeface="DejaVu Sans"/>
                <a:cs typeface="DejaVu Sans"/>
              </a:rPr>
              <a:t>Ngôn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ngữ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Thiết</a:t>
            </a:r>
          </a:p>
          <a:p>
            <a:pPr marL="0" marR="0">
              <a:lnSpc>
                <a:spcPts val="2346"/>
              </a:lnSpc>
              <a:spcBef>
                <a:spcPts val="353"/>
              </a:spcBef>
              <a:spcAft>
                <a:spcPts val="0"/>
              </a:spcAft>
            </a:pP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kế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của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Google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511152" y="2327588"/>
            <a:ext cx="2308055" cy="7416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Đảm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bảo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giao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diện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và</a:t>
            </a:r>
          </a:p>
          <a:p>
            <a:pPr marL="0" marR="0">
              <a:lnSpc>
                <a:spcPts val="1564"/>
              </a:lnSpc>
              <a:spcBef>
                <a:spcPts val="335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hành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vi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thống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nhất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 spc="-12">
                <a:solidFill>
                  <a:srgbClr val="e0e0e0"/>
                </a:solidFill>
                <a:latin typeface="DejaVu Sans"/>
                <a:cs typeface="DejaVu Sans"/>
              </a:rPr>
              <a:t>trên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mọi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thiết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bị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và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ứng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dụng.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316044" y="2315045"/>
            <a:ext cx="2041192" cy="6790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ffffff"/>
                </a:solidFill>
                <a:latin typeface="DejaVu Sans"/>
                <a:cs typeface="DejaVu Sans"/>
              </a:rPr>
              <a:t>Chuyển</a:t>
            </a:r>
            <a:r>
              <a:rPr dirty="0" sz="2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ffffff"/>
                </a:solidFill>
                <a:latin typeface="DejaVu Sans"/>
                <a:cs typeface="DejaVu Sans"/>
              </a:rPr>
              <a:t>động</a:t>
            </a:r>
          </a:p>
          <a:p>
            <a:pPr marL="0" marR="0">
              <a:lnSpc>
                <a:spcPts val="2346"/>
              </a:lnSpc>
              <a:spcBef>
                <a:spcPts val="353"/>
              </a:spcBef>
              <a:spcAft>
                <a:spcPts val="0"/>
              </a:spcAft>
            </a:pPr>
            <a:r>
              <a:rPr dirty="0" sz="2000" b="1">
                <a:solidFill>
                  <a:srgbClr val="ffffff"/>
                </a:solidFill>
                <a:latin typeface="DejaVu Sans"/>
                <a:cs typeface="DejaVu Sans"/>
              </a:rPr>
              <a:t>làm</a:t>
            </a:r>
            <a:r>
              <a:rPr dirty="0" sz="2000" spc="14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ffffff"/>
                </a:solidFill>
                <a:latin typeface="DejaVu Sans"/>
                <a:cs typeface="DejaVu Sans"/>
              </a:rPr>
              <a:t>phản</a:t>
            </a:r>
            <a:r>
              <a:rPr dirty="0" sz="2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ffffff"/>
                </a:solidFill>
                <a:latin typeface="DejaVu Sans"/>
                <a:cs typeface="DejaVu Sans"/>
              </a:rPr>
              <a:t>hồi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432648" y="2660963"/>
            <a:ext cx="2269040" cy="75114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Thiết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kế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hòa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nhập,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dễ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sử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dụng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cho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mọi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đối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tượng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người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dùng.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51556" y="2746688"/>
            <a:ext cx="2155149" cy="75114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Hệ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thống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thiết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kế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toàn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diện,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trực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quan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cho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trải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nghiệm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đa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nền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tảng.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9316044" y="3080818"/>
            <a:ext cx="2355636" cy="6310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4">
                <a:solidFill>
                  <a:srgbClr val="ffffff"/>
                </a:solidFill>
                <a:latin typeface="DejaVu Sans"/>
                <a:cs typeface="DejaVu Sans"/>
              </a:rPr>
              <a:t>Motion</a:t>
            </a:r>
            <a:r>
              <a:rPr dirty="0" sz="1200" spc="-1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ffffff"/>
                </a:solidFill>
                <a:latin typeface="DejaVu Sans"/>
                <a:cs typeface="DejaVu Sans"/>
              </a:rPr>
              <a:t>cung</a:t>
            </a:r>
            <a:r>
              <a:rPr dirty="0" sz="12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ffffff"/>
                </a:solidFill>
                <a:latin typeface="DejaVu Sans"/>
                <a:cs typeface="DejaVu Sans"/>
              </a:rPr>
              <a:t>cấp</a:t>
            </a:r>
            <a:r>
              <a:rPr dirty="0" sz="12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ffffff"/>
                </a:solidFill>
                <a:latin typeface="DejaVu Sans"/>
                <a:cs typeface="DejaVu Sans"/>
              </a:rPr>
              <a:t>phản</a:t>
            </a:r>
            <a:r>
              <a:rPr dirty="0" sz="12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ffffff"/>
                </a:solidFill>
                <a:latin typeface="DejaVu Sans"/>
                <a:cs typeface="DejaVu Sans"/>
              </a:rPr>
              <a:t>hồi</a:t>
            </a:r>
            <a:r>
              <a:rPr dirty="0" sz="12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DejaVu Sans"/>
                <a:cs typeface="DejaVu Sans"/>
              </a:rPr>
              <a:t>kịp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2">
                <a:solidFill>
                  <a:srgbClr val="ffffff"/>
                </a:solidFill>
                <a:latin typeface="DejaVu Sans"/>
                <a:cs typeface="DejaVu Sans"/>
              </a:rPr>
              <a:t>thời</a:t>
            </a:r>
            <a:r>
              <a:rPr dirty="0" sz="12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ffffff"/>
                </a:solidFill>
                <a:latin typeface="DejaVu Sans"/>
                <a:cs typeface="DejaVu Sans"/>
              </a:rPr>
              <a:t>và</a:t>
            </a:r>
            <a:r>
              <a:rPr dirty="0" sz="12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ffffff"/>
                </a:solidFill>
                <a:latin typeface="DejaVu Sans"/>
                <a:cs typeface="DejaVu Sans"/>
              </a:rPr>
              <a:t>cho</a:t>
            </a:r>
            <a:r>
              <a:rPr dirty="0" sz="12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ffffff"/>
                </a:solidFill>
                <a:latin typeface="DejaVu Sans"/>
                <a:cs typeface="DejaVu Sans"/>
              </a:rPr>
              <a:t>biết</a:t>
            </a:r>
            <a:r>
              <a:rPr dirty="0" sz="12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ffffff"/>
                </a:solidFill>
                <a:latin typeface="DejaVu Sans"/>
                <a:cs typeface="DejaVu Sans"/>
              </a:rPr>
              <a:t>trạng</a:t>
            </a:r>
            <a:r>
              <a:rPr dirty="0" sz="1200" spc="-1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ffffff"/>
                </a:solidFill>
                <a:latin typeface="DejaVu Sans"/>
                <a:cs typeface="DejaVu Sans"/>
              </a:rPr>
              <a:t>thái</a:t>
            </a:r>
          </a:p>
          <a:p>
            <a:pPr marL="0" marR="0">
              <a:lnSpc>
                <a:spcPts val="1368"/>
              </a:lnSpc>
              <a:spcBef>
                <a:spcPts val="281"/>
              </a:spcBef>
              <a:spcAft>
                <a:spcPts val="0"/>
              </a:spcAft>
            </a:pPr>
            <a:r>
              <a:rPr dirty="0" sz="1200" spc="-15">
                <a:solidFill>
                  <a:srgbClr val="ffffff"/>
                </a:solidFill>
                <a:latin typeface="DejaVu Sans"/>
                <a:cs typeface="DejaVu Sans"/>
              </a:rPr>
              <a:t>hành</a:t>
            </a:r>
            <a:r>
              <a:rPr dirty="0" sz="12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ffffff"/>
                </a:solidFill>
                <a:latin typeface="DejaVu Sans"/>
                <a:cs typeface="DejaVu Sans"/>
              </a:rPr>
              <a:t>động</a:t>
            </a:r>
            <a:r>
              <a:rPr dirty="0" sz="12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ffffff"/>
                </a:solidFill>
                <a:latin typeface="DejaVu Sans"/>
                <a:cs typeface="DejaVu Sans"/>
              </a:rPr>
              <a:t>của</a:t>
            </a:r>
            <a:r>
              <a:rPr dirty="0" sz="12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ffffff"/>
                </a:solidFill>
                <a:latin typeface="DejaVu Sans"/>
                <a:cs typeface="DejaVu Sans"/>
              </a:rPr>
              <a:t>người</a:t>
            </a:r>
            <a:r>
              <a:rPr dirty="0" sz="12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ffffff"/>
                </a:solidFill>
                <a:latin typeface="DejaVu Sans"/>
                <a:cs typeface="DejaVu Sans"/>
              </a:rPr>
              <a:t>dùng.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681709" y="3813488"/>
            <a:ext cx="1806804" cy="5320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Quy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tắc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thống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nhất</a:t>
            </a:r>
          </a:p>
          <a:p>
            <a:pPr marL="0" marR="0">
              <a:lnSpc>
                <a:spcPts val="1564"/>
              </a:lnSpc>
              <a:spcBef>
                <a:spcPts val="71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Dễ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nhận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diện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603205" y="3813488"/>
            <a:ext cx="1886701" cy="5320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Màu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sắc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tương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phản</a:t>
            </a:r>
          </a:p>
          <a:p>
            <a:pPr marL="0" marR="0">
              <a:lnSpc>
                <a:spcPts val="1564"/>
              </a:lnSpc>
              <a:spcBef>
                <a:spcPts val="71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Điều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hướng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 spc="-31">
                <a:solidFill>
                  <a:srgbClr val="e0e0e0"/>
                </a:solidFill>
                <a:latin typeface="DejaVu Sans"/>
                <a:cs typeface="DejaVu Sans"/>
              </a:rPr>
              <a:t>rõ</a:t>
            </a:r>
            <a:r>
              <a:rPr dirty="0" sz="1350" spc="25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ràng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58117" y="3843572"/>
            <a:ext cx="1445212" cy="4919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1a2b3c"/>
                </a:solidFill>
                <a:latin typeface="DejaVu Sans"/>
                <a:cs typeface="DejaVu Sans"/>
              </a:rPr>
              <a:t>Hệ</a:t>
            </a:r>
            <a:r>
              <a:rPr dirty="0" sz="1000" b="1">
                <a:solidFill>
                  <a:srgbClr val="1a2b3c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1a2b3c"/>
                </a:solidFill>
                <a:latin typeface="DejaVu Sans"/>
                <a:cs typeface="DejaVu Sans"/>
              </a:rPr>
              <a:t>thống</a:t>
            </a:r>
            <a:r>
              <a:rPr dirty="0" sz="1000" b="1">
                <a:solidFill>
                  <a:srgbClr val="1a2b3c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1a2b3c"/>
                </a:solidFill>
                <a:latin typeface="DejaVu Sans"/>
                <a:cs typeface="DejaVu Sans"/>
              </a:rPr>
              <a:t>Thiết</a:t>
            </a:r>
            <a:r>
              <a:rPr dirty="0" sz="1000" b="1">
                <a:solidFill>
                  <a:srgbClr val="1a2b3c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1a2b3c"/>
                </a:solidFill>
                <a:latin typeface="DejaVu Sans"/>
                <a:cs typeface="DejaVu Sans"/>
              </a:rPr>
              <a:t>kế</a:t>
            </a:r>
          </a:p>
          <a:p>
            <a:pPr marL="0" marR="0">
              <a:lnSpc>
                <a:spcPts val="1173"/>
              </a:lnSpc>
              <a:spcBef>
                <a:spcPts val="1226"/>
              </a:spcBef>
              <a:spcAft>
                <a:spcPts val="0"/>
              </a:spcAft>
            </a:pPr>
            <a:r>
              <a:rPr dirty="0" sz="1000" b="1">
                <a:solidFill>
                  <a:srgbClr val="1a2b3c"/>
                </a:solidFill>
                <a:latin typeface="DejaVu Sans"/>
                <a:cs typeface="DejaVu Sans"/>
              </a:rPr>
              <a:t>Đa</a:t>
            </a:r>
            <a:r>
              <a:rPr dirty="0" sz="1000" b="1">
                <a:solidFill>
                  <a:srgbClr val="1a2b3c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1a2b3c"/>
                </a:solidFill>
                <a:latin typeface="DejaVu Sans"/>
                <a:cs typeface="DejaVu Sans"/>
              </a:rPr>
              <a:t>Nền</a:t>
            </a:r>
            <a:r>
              <a:rPr dirty="0" sz="1000" b="1">
                <a:solidFill>
                  <a:srgbClr val="1a2b3c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1a2b3c"/>
                </a:solidFill>
                <a:latin typeface="DejaVu Sans"/>
                <a:cs typeface="DejaVu Sans"/>
              </a:rPr>
              <a:t>Tảng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9422605" y="3891197"/>
            <a:ext cx="1522958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Phản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hồi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trực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quan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9422605" y="4148372"/>
            <a:ext cx="1683946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spc="-23" b="1">
                <a:solidFill>
                  <a:srgbClr val="ffffff"/>
                </a:solidFill>
                <a:latin typeface="DejaVu Sans"/>
                <a:cs typeface="DejaVu Sans"/>
              </a:rPr>
              <a:t>Trải</a:t>
            </a:r>
            <a:r>
              <a:rPr dirty="0" sz="1000" spc="28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nghiệm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mượt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mà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36984" y="5048720"/>
            <a:ext cx="5281479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1" b="1">
                <a:solidFill>
                  <a:srgbClr val="00bcd4"/>
                </a:solidFill>
                <a:latin typeface="DejaVu Sans"/>
                <a:cs typeface="DejaVu Sans"/>
              </a:rPr>
              <a:t>Ứng</a:t>
            </a:r>
            <a:r>
              <a:rPr dirty="0" sz="200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0bcd4"/>
                </a:solidFill>
                <a:latin typeface="DejaVu Sans"/>
                <a:cs typeface="DejaVu Sans"/>
              </a:rPr>
              <a:t>dụng</a:t>
            </a:r>
            <a:r>
              <a:rPr dirty="0" sz="200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0bcd4"/>
                </a:solidFill>
                <a:latin typeface="DejaVu Sans"/>
                <a:cs typeface="DejaVu Sans"/>
              </a:rPr>
              <a:t>rộng</a:t>
            </a:r>
            <a:r>
              <a:rPr dirty="0" sz="200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00bcd4"/>
                </a:solidFill>
                <a:latin typeface="DejaVu Sans"/>
                <a:cs typeface="DejaVu Sans"/>
              </a:rPr>
              <a:t>rãi</a:t>
            </a:r>
            <a:r>
              <a:rPr dirty="0" sz="200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00bcd4"/>
                </a:solidFill>
                <a:latin typeface="DejaVu Sans"/>
                <a:cs typeface="DejaVu Sans"/>
              </a:rPr>
              <a:t>trong</a:t>
            </a:r>
            <a:r>
              <a:rPr dirty="0" sz="200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0bcd4"/>
                </a:solidFill>
                <a:latin typeface="DejaVu Sans"/>
                <a:cs typeface="DejaVu Sans"/>
              </a:rPr>
              <a:t>Android</a:t>
            </a:r>
            <a:r>
              <a:rPr dirty="0" sz="200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2000" spc="12" b="1">
                <a:solidFill>
                  <a:srgbClr val="00bcd4"/>
                </a:solidFill>
                <a:latin typeface="DejaVu Sans"/>
                <a:cs typeface="DejaVu Sans"/>
              </a:rPr>
              <a:t>UI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993576" y="5565333"/>
            <a:ext cx="2745763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API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hỗ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trợ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hiệu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ứng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&amp;</a:t>
            </a:r>
            <a:r>
              <a:rPr dirty="0" sz="1500" spc="12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bóng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623148" y="5565333"/>
            <a:ext cx="2798440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Theme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Material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cho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Widget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993576" y="5955858"/>
            <a:ext cx="3338319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spc="-17">
                <a:solidFill>
                  <a:srgbClr val="e0e0e0"/>
                </a:solidFill>
                <a:latin typeface="DejaVu Sans"/>
                <a:cs typeface="DejaVu Sans"/>
              </a:rPr>
              <a:t>Vector</a:t>
            </a:r>
            <a:r>
              <a:rPr dirty="0" sz="1500" spc="25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drawables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có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thể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spc="10">
                <a:solidFill>
                  <a:srgbClr val="e0e0e0"/>
                </a:solidFill>
                <a:latin typeface="DejaVu Sans"/>
                <a:cs typeface="DejaVu Sans"/>
              </a:rPr>
              <a:t>mở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rộng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6623148" y="5955858"/>
            <a:ext cx="4076558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MotionLayout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cho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chuyển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động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phức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tạp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5989885" y="6605822"/>
            <a:ext cx="6269232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Source: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developer.android.com,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m2.material.io,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beebom.com,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codelabs.developers.google.com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96774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80999" y="334315"/>
            <a:ext cx="7232353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2" b="1">
                <a:solidFill>
                  <a:srgbClr val="e0e0e0"/>
                </a:solidFill>
                <a:latin typeface="DejaVu Sans"/>
                <a:cs typeface="DejaVu Sans"/>
              </a:rPr>
              <a:t>Các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1" b="1">
                <a:solidFill>
                  <a:srgbClr val="e0e0e0"/>
                </a:solidFill>
                <a:latin typeface="DejaVu Sans"/>
                <a:cs typeface="DejaVu Sans"/>
              </a:rPr>
              <a:t>thành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e0e0e0"/>
                </a:solidFill>
                <a:latin typeface="DejaVu Sans"/>
                <a:cs typeface="DejaVu Sans"/>
              </a:rPr>
              <a:t>phần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1" b="1">
                <a:solidFill>
                  <a:srgbClr val="00bcd4"/>
                </a:solidFill>
                <a:latin typeface="DejaVu Sans"/>
                <a:cs typeface="DejaVu Sans"/>
              </a:rPr>
              <a:t>Material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84076" y="2010245"/>
            <a:ext cx="3112235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1" b="1">
                <a:solidFill>
                  <a:srgbClr val="e0e0e0"/>
                </a:solidFill>
                <a:latin typeface="DejaVu Sans"/>
                <a:cs typeface="DejaVu Sans"/>
              </a:rPr>
              <a:t>Nền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tảng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2" b="1">
                <a:solidFill>
                  <a:srgbClr val="e0e0e0"/>
                </a:solidFill>
                <a:latin typeface="DejaVu Sans"/>
                <a:cs typeface="DejaVu Sans"/>
              </a:rPr>
              <a:t>UI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hiện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đại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75084" y="2527613"/>
            <a:ext cx="4180559" cy="75114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khối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xây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dựng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thiết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kế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tiên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tiến,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đảm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bảo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trải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nghiệm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người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dùng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liền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mạch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trực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quan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 spc="-12">
                <a:solidFill>
                  <a:srgbClr val="d1d5db"/>
                </a:solidFill>
                <a:latin typeface="DejaVu Sans"/>
                <a:cs typeface="DejaVu Sans"/>
              </a:rPr>
              <a:t>trên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Android.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356400" y="4526354"/>
            <a:ext cx="1290979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7" b="1">
                <a:solidFill>
                  <a:srgbClr val="e0e0e0"/>
                </a:solidFill>
                <a:latin typeface="DejaVu Sans"/>
                <a:cs typeface="DejaVu Sans"/>
              </a:rPr>
              <a:t>CardView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46112" y="4564454"/>
            <a:ext cx="1967835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1" b="1">
                <a:solidFill>
                  <a:srgbClr val="e0e0e0"/>
                </a:solidFill>
                <a:latin typeface="DejaVu Sans"/>
                <a:cs typeface="DejaVu Sans"/>
              </a:rPr>
              <a:t>MaterialButton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927103" y="4564454"/>
            <a:ext cx="2723762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1" b="1">
                <a:solidFill>
                  <a:srgbClr val="e0e0e0"/>
                </a:solidFill>
                <a:latin typeface="DejaVu Sans"/>
                <a:cs typeface="DejaVu Sans"/>
              </a:rPr>
              <a:t>FloatingActionButton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356400" y="4900093"/>
            <a:ext cx="2196931" cy="6405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Container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linh</a:t>
            </a: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hoạt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hiển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thị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nội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dung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theo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d1d5db"/>
                </a:solidFill>
                <a:latin typeface="DejaVu Sans"/>
                <a:cs typeface="DejaVu Sans"/>
              </a:rPr>
              <a:t>nhóm,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có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bóng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đổ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góc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bo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d1d5db"/>
                </a:solidFill>
                <a:latin typeface="DejaVu Sans"/>
                <a:cs typeface="DejaVu Sans"/>
              </a:rPr>
              <a:t>tròn.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94270" y="4985818"/>
            <a:ext cx="3323149" cy="6405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7">
                <a:solidFill>
                  <a:srgbClr val="d1d5db"/>
                </a:solidFill>
                <a:latin typeface="DejaVu Sans"/>
                <a:cs typeface="DejaVu Sans"/>
              </a:rPr>
              <a:t>Nút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tương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d1d5db"/>
                </a:solidFill>
                <a:latin typeface="DejaVu Sans"/>
                <a:cs typeface="DejaVu Sans"/>
              </a:rPr>
              <a:t>tác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đa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dạng,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tuân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thủ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chặt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chẽ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hướng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dẫn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Material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Design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về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hình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ảnh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trạng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d1d5db"/>
                </a:solidFill>
                <a:latin typeface="DejaVu Sans"/>
                <a:cs typeface="DejaVu Sans"/>
              </a:rPr>
              <a:t>thái.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475261" y="4985818"/>
            <a:ext cx="3249095" cy="6405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7">
                <a:solidFill>
                  <a:srgbClr val="d1d5db"/>
                </a:solidFill>
                <a:latin typeface="DejaVu Sans"/>
                <a:cs typeface="DejaVu Sans"/>
              </a:rPr>
              <a:t>Nút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hành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động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nổi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bật,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được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sử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dụng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cho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thao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d1d5db"/>
                </a:solidFill>
                <a:latin typeface="DejaVu Sans"/>
                <a:cs typeface="DejaVu Sans"/>
              </a:rPr>
              <a:t>tác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chính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phổ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biến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nhất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của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người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dùng.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50106" y="6510572"/>
            <a:ext cx="792061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bcd4"/>
                </a:solidFill>
                <a:latin typeface="DejaVu Sans"/>
                <a:cs typeface="DejaVu Sans"/>
              </a:rPr>
              <a:t>Tương</a:t>
            </a:r>
            <a:r>
              <a:rPr dirty="0" sz="1000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bcd4"/>
                </a:solidFill>
                <a:latin typeface="DejaVu Sans"/>
                <a:cs typeface="DejaVu Sans"/>
              </a:rPr>
              <a:t>tác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906488" y="6510572"/>
            <a:ext cx="851934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bcd4"/>
                </a:solidFill>
                <a:latin typeface="DejaVu Sans"/>
                <a:cs typeface="DejaVu Sans"/>
              </a:rPr>
              <a:t>Hành</a:t>
            </a:r>
            <a:r>
              <a:rPr dirty="0" sz="1000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bcd4"/>
                </a:solidFill>
                <a:latin typeface="DejaVu Sans"/>
                <a:cs typeface="DejaVu Sans"/>
              </a:rPr>
              <a:t>động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731096" y="6510572"/>
            <a:ext cx="1241911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ff9800"/>
                </a:solidFill>
                <a:latin typeface="DejaVu Sans"/>
                <a:cs typeface="DejaVu Sans"/>
              </a:rPr>
              <a:t>Hành</a:t>
            </a:r>
            <a:r>
              <a:rPr dirty="0" sz="100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ff9800"/>
                </a:solidFill>
                <a:latin typeface="DejaVu Sans"/>
                <a:cs typeface="DejaVu Sans"/>
              </a:rPr>
              <a:t>động</a:t>
            </a:r>
            <a:r>
              <a:rPr dirty="0" sz="100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ff9800"/>
                </a:solidFill>
                <a:latin typeface="DejaVu Sans"/>
                <a:cs typeface="DejaVu Sans"/>
              </a:rPr>
              <a:t>chính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237386" y="6510572"/>
            <a:ext cx="612568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ff9800"/>
                </a:solidFill>
                <a:latin typeface="DejaVu Sans"/>
                <a:cs typeface="DejaVu Sans"/>
              </a:rPr>
              <a:t>Nổi</a:t>
            </a:r>
            <a:r>
              <a:rPr dirty="0" sz="100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ff9800"/>
                </a:solidFill>
                <a:latin typeface="DejaVu Sans"/>
                <a:cs typeface="DejaVu Sans"/>
              </a:rPr>
              <a:t>bật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612236" y="6510572"/>
            <a:ext cx="1133354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bcd4"/>
                </a:solidFill>
                <a:latin typeface="DejaVu Sans"/>
                <a:cs typeface="DejaVu Sans"/>
              </a:rPr>
              <a:t>Nhóm</a:t>
            </a:r>
            <a:r>
              <a:rPr dirty="0" sz="1000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bcd4"/>
                </a:solidFill>
                <a:latin typeface="DejaVu Sans"/>
                <a:cs typeface="DejaVu Sans"/>
              </a:rPr>
              <a:t>nội</a:t>
            </a:r>
            <a:r>
              <a:rPr dirty="0" sz="1000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bcd4"/>
                </a:solidFill>
                <a:latin typeface="DejaVu Sans"/>
                <a:cs typeface="DejaVu Sans"/>
              </a:rPr>
              <a:t>dung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0010030" y="6510572"/>
            <a:ext cx="778499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spc="-34">
                <a:solidFill>
                  <a:srgbClr val="00bcd4"/>
                </a:solidFill>
                <a:latin typeface="DejaVu Sans"/>
                <a:cs typeface="DejaVu Sans"/>
              </a:rPr>
              <a:t>Trực</a:t>
            </a:r>
            <a:r>
              <a:rPr dirty="0" sz="1000" spc="40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bcd4"/>
                </a:solidFill>
                <a:latin typeface="DejaVu Sans"/>
                <a:cs typeface="DejaVu Sans"/>
              </a:rPr>
              <a:t>quan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4927103" y="7383854"/>
            <a:ext cx="2100024" cy="5817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8" b="1">
                <a:solidFill>
                  <a:srgbClr val="e0e0e0"/>
                </a:solidFill>
                <a:latin typeface="DejaVu Sans"/>
                <a:cs typeface="DejaVu Sans"/>
              </a:rPr>
              <a:t>AppBarLayout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+</a:t>
            </a:r>
          </a:p>
          <a:p>
            <a:pPr marL="0" marR="0">
              <a:lnSpc>
                <a:spcPts val="1955"/>
              </a:lnSpc>
              <a:spcBef>
                <a:spcPts val="319"/>
              </a:spcBef>
              <a:spcAft>
                <a:spcPts val="0"/>
              </a:spcAft>
            </a:pPr>
            <a:r>
              <a:rPr dirty="0" sz="1700" spc="-43" b="1">
                <a:solidFill>
                  <a:srgbClr val="e0e0e0"/>
                </a:solidFill>
                <a:latin typeface="DejaVu Sans"/>
                <a:cs typeface="DejaVu Sans"/>
              </a:rPr>
              <a:t>Toolbar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046112" y="7421954"/>
            <a:ext cx="2919620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 b="1">
                <a:solidFill>
                  <a:srgbClr val="e0e0e0"/>
                </a:solidFill>
                <a:latin typeface="DejaVu Sans"/>
                <a:cs typeface="DejaVu Sans"/>
              </a:rPr>
              <a:t>BottomNavigationView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594270" y="7843318"/>
            <a:ext cx="3263818" cy="640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Thanh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điều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hướng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cố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định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ở</a:t>
            </a:r>
            <a:r>
              <a:rPr dirty="0" sz="1200" spc="-23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phía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dưới,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giúp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người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dùng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dễ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dàng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chuyển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đổi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giữa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phần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chính.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4475261" y="8052868"/>
            <a:ext cx="3352353" cy="640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Thanh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ứng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dụng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ở</a:t>
            </a:r>
            <a:r>
              <a:rPr dirty="0" sz="1200" spc="-23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20">
                <a:solidFill>
                  <a:srgbClr val="d1d5db"/>
                </a:solidFill>
                <a:latin typeface="DejaVu Sans"/>
                <a:cs typeface="DejaVu Sans"/>
              </a:rPr>
              <a:t>trên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cùng,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chứa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tiêu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đề,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nút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d1d5db"/>
                </a:solidFill>
                <a:latin typeface="DejaVu Sans"/>
                <a:cs typeface="DejaVu Sans"/>
              </a:rPr>
              <a:t>menu,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hành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động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quan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trọng.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850106" y="8863247"/>
            <a:ext cx="890620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ff9800"/>
                </a:solidFill>
                <a:latin typeface="DejaVu Sans"/>
                <a:cs typeface="DejaVu Sans"/>
              </a:rPr>
              <a:t>Điều</a:t>
            </a:r>
            <a:r>
              <a:rPr dirty="0" sz="100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ff9800"/>
                </a:solidFill>
                <a:latin typeface="DejaVu Sans"/>
                <a:cs typeface="DejaVu Sans"/>
              </a:rPr>
              <a:t>hướng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2005161" y="8863247"/>
            <a:ext cx="1135601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spc="-34">
                <a:solidFill>
                  <a:srgbClr val="ff9800"/>
                </a:solidFill>
                <a:latin typeface="DejaVu Sans"/>
                <a:cs typeface="DejaVu Sans"/>
              </a:rPr>
              <a:t>Truy</a:t>
            </a:r>
            <a:r>
              <a:rPr dirty="0" sz="1000" spc="4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ff9800"/>
                </a:solidFill>
                <a:latin typeface="DejaVu Sans"/>
                <a:cs typeface="DejaVu Sans"/>
              </a:rPr>
              <a:t>cập</a:t>
            </a:r>
            <a:r>
              <a:rPr dirty="0" sz="100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ff9800"/>
                </a:solidFill>
                <a:latin typeface="DejaVu Sans"/>
                <a:cs typeface="DejaVu Sans"/>
              </a:rPr>
              <a:t>nhanh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4731096" y="8863247"/>
            <a:ext cx="622760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bcd4"/>
                </a:solidFill>
                <a:latin typeface="DejaVu Sans"/>
                <a:cs typeface="DejaVu Sans"/>
              </a:rPr>
              <a:t>Tiêu</a:t>
            </a:r>
            <a:r>
              <a:rPr dirty="0" sz="1000" spc="14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bcd4"/>
                </a:solidFill>
                <a:latin typeface="DejaVu Sans"/>
                <a:cs typeface="DejaVu Sans"/>
              </a:rPr>
              <a:t>đề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5618261" y="8863247"/>
            <a:ext cx="851934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bcd4"/>
                </a:solidFill>
                <a:latin typeface="DejaVu Sans"/>
                <a:cs typeface="DejaVu Sans"/>
              </a:rPr>
              <a:t>Hành</a:t>
            </a:r>
            <a:r>
              <a:rPr dirty="0" sz="1000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bcd4"/>
                </a:solidFill>
                <a:latin typeface="DejaVu Sans"/>
                <a:cs typeface="DejaVu Sans"/>
              </a:rPr>
              <a:t>động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6184701" y="9253772"/>
            <a:ext cx="5989127" cy="35856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Source: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Material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Design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for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Android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|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Views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-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Android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Developers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•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Understanding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motion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-</a:t>
            </a:r>
          </a:p>
          <a:p>
            <a:pPr marL="403175" marR="0">
              <a:lnSpc>
                <a:spcPts val="1173"/>
              </a:lnSpc>
              <a:spcBef>
                <a:spcPts val="126"/>
              </a:spcBef>
              <a:spcAft>
                <a:spcPts val="0"/>
              </a:spcAft>
            </a:pP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Material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Design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2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•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Manage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motion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and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widget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animation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with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MotionLayout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|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Views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96774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80999" y="334315"/>
            <a:ext cx="7232353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2" b="1">
                <a:solidFill>
                  <a:srgbClr val="e0e0e0"/>
                </a:solidFill>
                <a:latin typeface="DejaVu Sans"/>
                <a:cs typeface="DejaVu Sans"/>
              </a:rPr>
              <a:t>Các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1" b="1">
                <a:solidFill>
                  <a:srgbClr val="e0e0e0"/>
                </a:solidFill>
                <a:latin typeface="DejaVu Sans"/>
                <a:cs typeface="DejaVu Sans"/>
              </a:rPr>
              <a:t>thành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e0e0e0"/>
                </a:solidFill>
                <a:latin typeface="DejaVu Sans"/>
                <a:cs typeface="DejaVu Sans"/>
              </a:rPr>
              <a:t>phần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1" b="1">
                <a:solidFill>
                  <a:srgbClr val="00bcd4"/>
                </a:solidFill>
                <a:latin typeface="DejaVu Sans"/>
                <a:cs typeface="DejaVu Sans"/>
              </a:rPr>
              <a:t>Material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84076" y="2010245"/>
            <a:ext cx="3112235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1" b="1">
                <a:solidFill>
                  <a:srgbClr val="e0e0e0"/>
                </a:solidFill>
                <a:latin typeface="DejaVu Sans"/>
                <a:cs typeface="DejaVu Sans"/>
              </a:rPr>
              <a:t>Nền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tảng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2" b="1">
                <a:solidFill>
                  <a:srgbClr val="e0e0e0"/>
                </a:solidFill>
                <a:latin typeface="DejaVu Sans"/>
                <a:cs typeface="DejaVu Sans"/>
              </a:rPr>
              <a:t>UI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hiện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đại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75084" y="2527613"/>
            <a:ext cx="4180559" cy="75114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khối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xây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dựng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thiết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kế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tiên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tiến,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đảm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bảo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trải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nghiệm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người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dùng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liền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mạch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trực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quan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 spc="-12">
                <a:solidFill>
                  <a:srgbClr val="d1d5db"/>
                </a:solidFill>
                <a:latin typeface="DejaVu Sans"/>
                <a:cs typeface="DejaVu Sans"/>
              </a:rPr>
              <a:t>trên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Android.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356400" y="4526354"/>
            <a:ext cx="1290979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7" b="1">
                <a:solidFill>
                  <a:srgbClr val="e0e0e0"/>
                </a:solidFill>
                <a:latin typeface="DejaVu Sans"/>
                <a:cs typeface="DejaVu Sans"/>
              </a:rPr>
              <a:t>CardView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46112" y="4564454"/>
            <a:ext cx="1967835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1" b="1">
                <a:solidFill>
                  <a:srgbClr val="e0e0e0"/>
                </a:solidFill>
                <a:latin typeface="DejaVu Sans"/>
                <a:cs typeface="DejaVu Sans"/>
              </a:rPr>
              <a:t>MaterialButton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927103" y="4564454"/>
            <a:ext cx="2723762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1" b="1">
                <a:solidFill>
                  <a:srgbClr val="e0e0e0"/>
                </a:solidFill>
                <a:latin typeface="DejaVu Sans"/>
                <a:cs typeface="DejaVu Sans"/>
              </a:rPr>
              <a:t>FloatingActionButton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356400" y="4900093"/>
            <a:ext cx="2196931" cy="6405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Container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linh</a:t>
            </a: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hoạt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hiển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thị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nội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dung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theo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d1d5db"/>
                </a:solidFill>
                <a:latin typeface="DejaVu Sans"/>
                <a:cs typeface="DejaVu Sans"/>
              </a:rPr>
              <a:t>nhóm,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có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bóng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đổ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góc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bo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d1d5db"/>
                </a:solidFill>
                <a:latin typeface="DejaVu Sans"/>
                <a:cs typeface="DejaVu Sans"/>
              </a:rPr>
              <a:t>tròn.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94270" y="4985818"/>
            <a:ext cx="3323149" cy="6405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7">
                <a:solidFill>
                  <a:srgbClr val="d1d5db"/>
                </a:solidFill>
                <a:latin typeface="DejaVu Sans"/>
                <a:cs typeface="DejaVu Sans"/>
              </a:rPr>
              <a:t>Nút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tương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d1d5db"/>
                </a:solidFill>
                <a:latin typeface="DejaVu Sans"/>
                <a:cs typeface="DejaVu Sans"/>
              </a:rPr>
              <a:t>tác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đa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dạng,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tuân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thủ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chặt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chẽ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hướng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dẫn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Material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Design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về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hình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ảnh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trạng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d1d5db"/>
                </a:solidFill>
                <a:latin typeface="DejaVu Sans"/>
                <a:cs typeface="DejaVu Sans"/>
              </a:rPr>
              <a:t>thái.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475261" y="4985818"/>
            <a:ext cx="3249095" cy="6405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7">
                <a:solidFill>
                  <a:srgbClr val="d1d5db"/>
                </a:solidFill>
                <a:latin typeface="DejaVu Sans"/>
                <a:cs typeface="DejaVu Sans"/>
              </a:rPr>
              <a:t>Nút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hành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động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nổi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bật,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được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sử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dụng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cho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thao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d1d5db"/>
                </a:solidFill>
                <a:latin typeface="DejaVu Sans"/>
                <a:cs typeface="DejaVu Sans"/>
              </a:rPr>
              <a:t>tác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chính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phổ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biến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nhất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của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người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dùng.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50106" y="6510572"/>
            <a:ext cx="792061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bcd4"/>
                </a:solidFill>
                <a:latin typeface="DejaVu Sans"/>
                <a:cs typeface="DejaVu Sans"/>
              </a:rPr>
              <a:t>Tương</a:t>
            </a:r>
            <a:r>
              <a:rPr dirty="0" sz="1000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bcd4"/>
                </a:solidFill>
                <a:latin typeface="DejaVu Sans"/>
                <a:cs typeface="DejaVu Sans"/>
              </a:rPr>
              <a:t>tác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906488" y="6510572"/>
            <a:ext cx="851934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bcd4"/>
                </a:solidFill>
                <a:latin typeface="DejaVu Sans"/>
                <a:cs typeface="DejaVu Sans"/>
              </a:rPr>
              <a:t>Hành</a:t>
            </a:r>
            <a:r>
              <a:rPr dirty="0" sz="1000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bcd4"/>
                </a:solidFill>
                <a:latin typeface="DejaVu Sans"/>
                <a:cs typeface="DejaVu Sans"/>
              </a:rPr>
              <a:t>động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731096" y="6510572"/>
            <a:ext cx="1241911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ff9800"/>
                </a:solidFill>
                <a:latin typeface="DejaVu Sans"/>
                <a:cs typeface="DejaVu Sans"/>
              </a:rPr>
              <a:t>Hành</a:t>
            </a:r>
            <a:r>
              <a:rPr dirty="0" sz="100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ff9800"/>
                </a:solidFill>
                <a:latin typeface="DejaVu Sans"/>
                <a:cs typeface="DejaVu Sans"/>
              </a:rPr>
              <a:t>động</a:t>
            </a:r>
            <a:r>
              <a:rPr dirty="0" sz="100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ff9800"/>
                </a:solidFill>
                <a:latin typeface="DejaVu Sans"/>
                <a:cs typeface="DejaVu Sans"/>
              </a:rPr>
              <a:t>chính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237386" y="6510572"/>
            <a:ext cx="612568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ff9800"/>
                </a:solidFill>
                <a:latin typeface="DejaVu Sans"/>
                <a:cs typeface="DejaVu Sans"/>
              </a:rPr>
              <a:t>Nổi</a:t>
            </a:r>
            <a:r>
              <a:rPr dirty="0" sz="100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ff9800"/>
                </a:solidFill>
                <a:latin typeface="DejaVu Sans"/>
                <a:cs typeface="DejaVu Sans"/>
              </a:rPr>
              <a:t>bật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612236" y="6510572"/>
            <a:ext cx="1133354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bcd4"/>
                </a:solidFill>
                <a:latin typeface="DejaVu Sans"/>
                <a:cs typeface="DejaVu Sans"/>
              </a:rPr>
              <a:t>Nhóm</a:t>
            </a:r>
            <a:r>
              <a:rPr dirty="0" sz="1000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bcd4"/>
                </a:solidFill>
                <a:latin typeface="DejaVu Sans"/>
                <a:cs typeface="DejaVu Sans"/>
              </a:rPr>
              <a:t>nội</a:t>
            </a:r>
            <a:r>
              <a:rPr dirty="0" sz="1000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bcd4"/>
                </a:solidFill>
                <a:latin typeface="DejaVu Sans"/>
                <a:cs typeface="DejaVu Sans"/>
              </a:rPr>
              <a:t>dung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0010030" y="6510572"/>
            <a:ext cx="778499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spc="-34">
                <a:solidFill>
                  <a:srgbClr val="00bcd4"/>
                </a:solidFill>
                <a:latin typeface="DejaVu Sans"/>
                <a:cs typeface="DejaVu Sans"/>
              </a:rPr>
              <a:t>Trực</a:t>
            </a:r>
            <a:r>
              <a:rPr dirty="0" sz="1000" spc="40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bcd4"/>
                </a:solidFill>
                <a:latin typeface="DejaVu Sans"/>
                <a:cs typeface="DejaVu Sans"/>
              </a:rPr>
              <a:t>quan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4927103" y="7383854"/>
            <a:ext cx="2100024" cy="5817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8" b="1">
                <a:solidFill>
                  <a:srgbClr val="e0e0e0"/>
                </a:solidFill>
                <a:latin typeface="DejaVu Sans"/>
                <a:cs typeface="DejaVu Sans"/>
              </a:rPr>
              <a:t>AppBarLayout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+</a:t>
            </a:r>
          </a:p>
          <a:p>
            <a:pPr marL="0" marR="0">
              <a:lnSpc>
                <a:spcPts val="1955"/>
              </a:lnSpc>
              <a:spcBef>
                <a:spcPts val="319"/>
              </a:spcBef>
              <a:spcAft>
                <a:spcPts val="0"/>
              </a:spcAft>
            </a:pPr>
            <a:r>
              <a:rPr dirty="0" sz="1700" spc="-43" b="1">
                <a:solidFill>
                  <a:srgbClr val="e0e0e0"/>
                </a:solidFill>
                <a:latin typeface="DejaVu Sans"/>
                <a:cs typeface="DejaVu Sans"/>
              </a:rPr>
              <a:t>Toolbar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046112" y="7421954"/>
            <a:ext cx="2919620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 b="1">
                <a:solidFill>
                  <a:srgbClr val="e0e0e0"/>
                </a:solidFill>
                <a:latin typeface="DejaVu Sans"/>
                <a:cs typeface="DejaVu Sans"/>
              </a:rPr>
              <a:t>BottomNavigationView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594270" y="7843318"/>
            <a:ext cx="3263818" cy="640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Thanh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điều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hướng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cố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định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ở</a:t>
            </a:r>
            <a:r>
              <a:rPr dirty="0" sz="1200" spc="-23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phía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dưới,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giúp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người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dùng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dễ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dàng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chuyển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đổi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giữa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phần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chính.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4475261" y="8052868"/>
            <a:ext cx="3352353" cy="640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Thanh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ứng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dụng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ở</a:t>
            </a:r>
            <a:r>
              <a:rPr dirty="0" sz="1200" spc="-23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20">
                <a:solidFill>
                  <a:srgbClr val="d1d5db"/>
                </a:solidFill>
                <a:latin typeface="DejaVu Sans"/>
                <a:cs typeface="DejaVu Sans"/>
              </a:rPr>
              <a:t>trên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cùng,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chứa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tiêu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đề,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nút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d1d5db"/>
                </a:solidFill>
                <a:latin typeface="DejaVu Sans"/>
                <a:cs typeface="DejaVu Sans"/>
              </a:rPr>
              <a:t>menu,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hành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động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quan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trọng.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850106" y="8863247"/>
            <a:ext cx="890620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ff9800"/>
                </a:solidFill>
                <a:latin typeface="DejaVu Sans"/>
                <a:cs typeface="DejaVu Sans"/>
              </a:rPr>
              <a:t>Điều</a:t>
            </a:r>
            <a:r>
              <a:rPr dirty="0" sz="100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ff9800"/>
                </a:solidFill>
                <a:latin typeface="DejaVu Sans"/>
                <a:cs typeface="DejaVu Sans"/>
              </a:rPr>
              <a:t>hướng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2005161" y="8863247"/>
            <a:ext cx="1135601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spc="-34">
                <a:solidFill>
                  <a:srgbClr val="ff9800"/>
                </a:solidFill>
                <a:latin typeface="DejaVu Sans"/>
                <a:cs typeface="DejaVu Sans"/>
              </a:rPr>
              <a:t>Truy</a:t>
            </a:r>
            <a:r>
              <a:rPr dirty="0" sz="1000" spc="4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ff9800"/>
                </a:solidFill>
                <a:latin typeface="DejaVu Sans"/>
                <a:cs typeface="DejaVu Sans"/>
              </a:rPr>
              <a:t>cập</a:t>
            </a:r>
            <a:r>
              <a:rPr dirty="0" sz="100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ff9800"/>
                </a:solidFill>
                <a:latin typeface="DejaVu Sans"/>
                <a:cs typeface="DejaVu Sans"/>
              </a:rPr>
              <a:t>nhanh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4731096" y="8863247"/>
            <a:ext cx="622760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bcd4"/>
                </a:solidFill>
                <a:latin typeface="DejaVu Sans"/>
                <a:cs typeface="DejaVu Sans"/>
              </a:rPr>
              <a:t>Tiêu</a:t>
            </a:r>
            <a:r>
              <a:rPr dirty="0" sz="1000" spc="14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bcd4"/>
                </a:solidFill>
                <a:latin typeface="DejaVu Sans"/>
                <a:cs typeface="DejaVu Sans"/>
              </a:rPr>
              <a:t>đề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5618261" y="8863247"/>
            <a:ext cx="851934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bcd4"/>
                </a:solidFill>
                <a:latin typeface="DejaVu Sans"/>
                <a:cs typeface="DejaVu Sans"/>
              </a:rPr>
              <a:t>Hành</a:t>
            </a:r>
            <a:r>
              <a:rPr dirty="0" sz="1000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bcd4"/>
                </a:solidFill>
                <a:latin typeface="DejaVu Sans"/>
                <a:cs typeface="DejaVu Sans"/>
              </a:rPr>
              <a:t>động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6184701" y="9253772"/>
            <a:ext cx="5989127" cy="35856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Source: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Material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Design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for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Android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|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Views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-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Android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Developers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•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Understanding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motion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-</a:t>
            </a:r>
          </a:p>
          <a:p>
            <a:pPr marL="403175" marR="0">
              <a:lnSpc>
                <a:spcPts val="1173"/>
              </a:lnSpc>
              <a:spcBef>
                <a:spcPts val="126"/>
              </a:spcBef>
              <a:spcAft>
                <a:spcPts val="0"/>
              </a:spcAft>
            </a:pP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Material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Design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2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•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Manage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motion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and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widget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animation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with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MotionLayout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|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Views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26690" y="367976"/>
            <a:ext cx="5597894" cy="78308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866"/>
              </a:lnSpc>
              <a:spcBef>
                <a:spcPts val="0"/>
              </a:spcBef>
              <a:spcAft>
                <a:spcPts val="0"/>
              </a:spcAft>
            </a:pPr>
            <a:r>
              <a:rPr dirty="0" sz="5050" b="1">
                <a:solidFill>
                  <a:srgbClr val="00bcd4"/>
                </a:solidFill>
                <a:latin typeface="DejaVu Sans"/>
                <a:cs typeface="DejaVu Sans"/>
              </a:rPr>
              <a:t>Material</a:t>
            </a:r>
            <a:r>
              <a:rPr dirty="0" sz="5050" b="1">
                <a:solidFill>
                  <a:srgbClr val="e0e0e0"/>
                </a:solidFill>
                <a:latin typeface="DejaVu Sans"/>
                <a:cs typeface="DejaVu Sans"/>
              </a:rPr>
              <a:t>Button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574779" y="1620023"/>
            <a:ext cx="5273870" cy="99345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6b7280"/>
                </a:solidFill>
                <a:latin typeface="Liberation Mono"/>
                <a:cs typeface="Liberation Mono"/>
              </a:rPr>
              <a:t>&lt;</a:t>
            </a:r>
            <a:r>
              <a:rPr dirty="0" sz="1350">
                <a:solidFill>
                  <a:srgbClr val="f472b6"/>
                </a:solidFill>
                <a:latin typeface="Liberation Mono"/>
                <a:cs typeface="Liberation Mono"/>
              </a:rPr>
              <a:t>com.google.android.material.button.MaterialButton</a:t>
            </a:r>
          </a:p>
          <a:p>
            <a:pPr marL="409426" marR="0">
              <a:lnSpc>
                <a:spcPts val="1522"/>
              </a:lnSpc>
              <a:spcBef>
                <a:spcPts val="502"/>
              </a:spcBef>
              <a:spcAft>
                <a:spcPts val="0"/>
              </a:spcAft>
            </a:pPr>
            <a:r>
              <a:rPr dirty="0" sz="1350">
                <a:solidFill>
                  <a:srgbClr val="fb923c"/>
                </a:solidFill>
                <a:latin typeface="Liberation Mono"/>
                <a:cs typeface="Liberation Mono"/>
              </a:rPr>
              <a:t>android:layout_width</a:t>
            </a:r>
            <a:r>
              <a:rPr dirty="0" sz="1350">
                <a:solidFill>
                  <a:srgbClr val="e0e0e0"/>
                </a:solidFill>
                <a:latin typeface="Liberation Mono"/>
                <a:cs typeface="Liberation Mono"/>
              </a:rPr>
              <a:t>=</a:t>
            </a:r>
            <a:r>
              <a:rPr dirty="0" sz="1350">
                <a:solidFill>
                  <a:srgbClr val="2dd4bf"/>
                </a:solidFill>
                <a:latin typeface="Liberation Mono"/>
                <a:cs typeface="Liberation Mono"/>
              </a:rPr>
              <a:t>"wrap_content"</a:t>
            </a:r>
          </a:p>
          <a:p>
            <a:pPr marL="409426" marR="0">
              <a:lnSpc>
                <a:spcPts val="1522"/>
              </a:lnSpc>
              <a:spcBef>
                <a:spcPts val="552"/>
              </a:spcBef>
              <a:spcAft>
                <a:spcPts val="0"/>
              </a:spcAft>
            </a:pPr>
            <a:r>
              <a:rPr dirty="0" sz="1350">
                <a:solidFill>
                  <a:srgbClr val="fb923c"/>
                </a:solidFill>
                <a:latin typeface="Liberation Mono"/>
                <a:cs typeface="Liberation Mono"/>
              </a:rPr>
              <a:t>android:layout_height</a:t>
            </a:r>
            <a:r>
              <a:rPr dirty="0" sz="1350">
                <a:solidFill>
                  <a:srgbClr val="e0e0e0"/>
                </a:solidFill>
                <a:latin typeface="Liberation Mono"/>
                <a:cs typeface="Liberation Mono"/>
              </a:rPr>
              <a:t>=</a:t>
            </a:r>
            <a:r>
              <a:rPr dirty="0" sz="1350">
                <a:solidFill>
                  <a:srgbClr val="2dd4bf"/>
                </a:solidFill>
                <a:latin typeface="Liberation Mono"/>
                <a:cs typeface="Liberation Mono"/>
              </a:rPr>
              <a:t>"wrap_content"</a:t>
            </a:r>
          </a:p>
          <a:p>
            <a:pPr marL="409426" marR="0">
              <a:lnSpc>
                <a:spcPts val="1522"/>
              </a:lnSpc>
              <a:spcBef>
                <a:spcPts val="427"/>
              </a:spcBef>
              <a:spcAft>
                <a:spcPts val="0"/>
              </a:spcAft>
            </a:pPr>
            <a:r>
              <a:rPr dirty="0" sz="1350">
                <a:solidFill>
                  <a:srgbClr val="fb923c"/>
                </a:solidFill>
                <a:latin typeface="Liberation Mono"/>
                <a:cs typeface="Liberation Mono"/>
              </a:rPr>
              <a:t>android:text</a:t>
            </a:r>
            <a:r>
              <a:rPr dirty="0" sz="1350">
                <a:solidFill>
                  <a:srgbClr val="e0e0e0"/>
                </a:solidFill>
                <a:latin typeface="Liberation Mono"/>
                <a:cs typeface="Liberation Mono"/>
              </a:rPr>
              <a:t>=</a:t>
            </a:r>
            <a:r>
              <a:rPr dirty="0" sz="1350">
                <a:solidFill>
                  <a:srgbClr val="2dd4bf"/>
                </a:solidFill>
                <a:latin typeface="Liberation Mono"/>
                <a:cs typeface="Liberation Mono"/>
              </a:rPr>
              <a:t>"Submit"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82674" y="1659329"/>
            <a:ext cx="4896274" cy="8865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A</a:t>
            </a:r>
            <a:r>
              <a:rPr dirty="0" sz="1700" spc="-2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d1d5db"/>
                </a:solidFill>
                <a:latin typeface="DejaVu Sans"/>
                <a:cs typeface="DejaVu Sans"/>
              </a:rPr>
              <a:t>Material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d1d5db"/>
                </a:solidFill>
                <a:latin typeface="DejaVu Sans"/>
                <a:cs typeface="DejaVu Sans"/>
              </a:rPr>
              <a:t>Design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d1d5db"/>
                </a:solidFill>
                <a:latin typeface="DejaVu Sans"/>
                <a:cs typeface="DejaVu Sans"/>
              </a:rPr>
              <a:t>compliant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d1d5db"/>
                </a:solidFill>
                <a:latin typeface="DejaVu Sans"/>
                <a:cs typeface="DejaVu Sans"/>
              </a:rPr>
              <a:t>button,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d1d5db"/>
                </a:solidFill>
                <a:latin typeface="DejaVu Sans"/>
                <a:cs typeface="DejaVu Sans"/>
              </a:rPr>
              <a:t>oﬀering</a:t>
            </a:r>
          </a:p>
          <a:p>
            <a:pPr marL="0" marR="0">
              <a:lnSpc>
                <a:spcPts val="1955"/>
              </a:lnSpc>
              <a:spcBef>
                <a:spcPts val="319"/>
              </a:spcBef>
              <a:spcAft>
                <a:spcPts val="0"/>
              </a:spcAft>
            </a:pPr>
            <a:r>
              <a:rPr dirty="0" sz="1700" spc="-12">
                <a:solidFill>
                  <a:srgbClr val="d1d5db"/>
                </a:solidFill>
                <a:latin typeface="DejaVu Sans"/>
                <a:cs typeface="DejaVu Sans"/>
              </a:rPr>
              <a:t>enhanced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styling</a:t>
            </a:r>
            <a:r>
              <a:rPr dirty="0" sz="17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d1d5db"/>
                </a:solidFill>
                <a:latin typeface="DejaVu Sans"/>
                <a:cs typeface="DejaVu Sans"/>
              </a:rPr>
              <a:t>and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d1d5db"/>
                </a:solidFill>
                <a:latin typeface="DejaVu Sans"/>
                <a:cs typeface="DejaVu Sans"/>
              </a:rPr>
              <a:t>behavior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d1d5db"/>
                </a:solidFill>
                <a:latin typeface="DejaVu Sans"/>
                <a:cs typeface="DejaVu Sans"/>
              </a:rPr>
              <a:t>for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7">
                <a:solidFill>
                  <a:srgbClr val="d1d5db"/>
                </a:solidFill>
                <a:latin typeface="DejaVu Sans"/>
                <a:cs typeface="DejaVu Sans"/>
              </a:rPr>
              <a:t>Android</a:t>
            </a:r>
          </a:p>
          <a:p>
            <a:pPr marL="0" marR="0">
              <a:lnSpc>
                <a:spcPts val="1955"/>
              </a:lnSpc>
              <a:spcBef>
                <a:spcPts val="444"/>
              </a:spcBef>
              <a:spcAft>
                <a:spcPts val="0"/>
              </a:spcAft>
            </a:pPr>
            <a:r>
              <a:rPr dirty="0" sz="1700" spc="-10">
                <a:solidFill>
                  <a:srgbClr val="d1d5db"/>
                </a:solidFill>
                <a:latin typeface="DejaVu Sans"/>
                <a:cs typeface="DejaVu Sans"/>
              </a:rPr>
              <a:t>applications.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984205" y="2639198"/>
            <a:ext cx="5270293" cy="23145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fb923c"/>
                </a:solidFill>
                <a:latin typeface="Liberation Mono"/>
                <a:cs typeface="Liberation Mono"/>
              </a:rPr>
              <a:t>style</a:t>
            </a:r>
            <a:r>
              <a:rPr dirty="0" sz="1350">
                <a:solidFill>
                  <a:srgbClr val="e0e0e0"/>
                </a:solidFill>
                <a:latin typeface="Liberation Mono"/>
                <a:cs typeface="Liberation Mono"/>
              </a:rPr>
              <a:t>=</a:t>
            </a:r>
            <a:r>
              <a:rPr dirty="0" sz="1350">
                <a:solidFill>
                  <a:srgbClr val="2dd4bf"/>
                </a:solidFill>
                <a:latin typeface="Liberation Mono"/>
                <a:cs typeface="Liberation Mono"/>
              </a:rPr>
              <a:t>"@style/Widget.MaterialComponents.Button"</a:t>
            </a:r>
            <a:r>
              <a:rPr dirty="0" sz="1350" spc="469">
                <a:solidFill>
                  <a:srgbClr val="2dd4bf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6b7280"/>
                </a:solidFill>
                <a:latin typeface="Liberation Mono"/>
                <a:cs typeface="Liberation Mono"/>
              </a:rPr>
              <a:t>/&gt;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06239" y="3355533"/>
            <a:ext cx="2021110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Standard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UI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Widget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106239" y="4203258"/>
            <a:ext cx="2847382" cy="19761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Material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Design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Compliance</a:t>
            </a:r>
          </a:p>
          <a:p>
            <a:pPr marL="0" marR="0">
              <a:lnSpc>
                <a:spcPts val="1760"/>
              </a:lnSpc>
              <a:spcBef>
                <a:spcPts val="4939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Customizable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Styling</a:t>
            </a:r>
          </a:p>
          <a:p>
            <a:pPr marL="0" marR="0">
              <a:lnSpc>
                <a:spcPts val="1760"/>
              </a:lnSpc>
              <a:spcBef>
                <a:spcPts val="4989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Seamless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Integration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604074" y="6520097"/>
            <a:ext cx="4313534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Source: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Material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Design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for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Android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|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Views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-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Android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Developers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26690" y="367976"/>
            <a:ext cx="5597894" cy="78308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866"/>
              </a:lnSpc>
              <a:spcBef>
                <a:spcPts val="0"/>
              </a:spcBef>
              <a:spcAft>
                <a:spcPts val="0"/>
              </a:spcAft>
            </a:pPr>
            <a:r>
              <a:rPr dirty="0" sz="5050" b="1">
                <a:solidFill>
                  <a:srgbClr val="00bcd4"/>
                </a:solidFill>
                <a:latin typeface="DejaVu Sans"/>
                <a:cs typeface="DejaVu Sans"/>
              </a:rPr>
              <a:t>Material</a:t>
            </a:r>
            <a:r>
              <a:rPr dirty="0" sz="5050" b="1">
                <a:solidFill>
                  <a:srgbClr val="e0e0e0"/>
                </a:solidFill>
                <a:latin typeface="DejaVu Sans"/>
                <a:cs typeface="DejaVu Sans"/>
              </a:rPr>
              <a:t>Button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574779" y="1620023"/>
            <a:ext cx="5273870" cy="99345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6b7280"/>
                </a:solidFill>
                <a:latin typeface="Liberation Mono"/>
                <a:cs typeface="Liberation Mono"/>
              </a:rPr>
              <a:t>&lt;</a:t>
            </a:r>
            <a:r>
              <a:rPr dirty="0" sz="1350">
                <a:solidFill>
                  <a:srgbClr val="f472b6"/>
                </a:solidFill>
                <a:latin typeface="Liberation Mono"/>
                <a:cs typeface="Liberation Mono"/>
              </a:rPr>
              <a:t>com.google.android.material.button.MaterialButton</a:t>
            </a:r>
          </a:p>
          <a:p>
            <a:pPr marL="409426" marR="0">
              <a:lnSpc>
                <a:spcPts val="1522"/>
              </a:lnSpc>
              <a:spcBef>
                <a:spcPts val="502"/>
              </a:spcBef>
              <a:spcAft>
                <a:spcPts val="0"/>
              </a:spcAft>
            </a:pPr>
            <a:r>
              <a:rPr dirty="0" sz="1350">
                <a:solidFill>
                  <a:srgbClr val="fb923c"/>
                </a:solidFill>
                <a:latin typeface="Liberation Mono"/>
                <a:cs typeface="Liberation Mono"/>
              </a:rPr>
              <a:t>android:layout_width</a:t>
            </a:r>
            <a:r>
              <a:rPr dirty="0" sz="1350">
                <a:solidFill>
                  <a:srgbClr val="e0e0e0"/>
                </a:solidFill>
                <a:latin typeface="Liberation Mono"/>
                <a:cs typeface="Liberation Mono"/>
              </a:rPr>
              <a:t>=</a:t>
            </a:r>
            <a:r>
              <a:rPr dirty="0" sz="1350">
                <a:solidFill>
                  <a:srgbClr val="2dd4bf"/>
                </a:solidFill>
                <a:latin typeface="Liberation Mono"/>
                <a:cs typeface="Liberation Mono"/>
              </a:rPr>
              <a:t>"wrap_content"</a:t>
            </a:r>
          </a:p>
          <a:p>
            <a:pPr marL="409426" marR="0">
              <a:lnSpc>
                <a:spcPts val="1522"/>
              </a:lnSpc>
              <a:spcBef>
                <a:spcPts val="552"/>
              </a:spcBef>
              <a:spcAft>
                <a:spcPts val="0"/>
              </a:spcAft>
            </a:pPr>
            <a:r>
              <a:rPr dirty="0" sz="1350">
                <a:solidFill>
                  <a:srgbClr val="fb923c"/>
                </a:solidFill>
                <a:latin typeface="Liberation Mono"/>
                <a:cs typeface="Liberation Mono"/>
              </a:rPr>
              <a:t>android:layout_height</a:t>
            </a:r>
            <a:r>
              <a:rPr dirty="0" sz="1350">
                <a:solidFill>
                  <a:srgbClr val="e0e0e0"/>
                </a:solidFill>
                <a:latin typeface="Liberation Mono"/>
                <a:cs typeface="Liberation Mono"/>
              </a:rPr>
              <a:t>=</a:t>
            </a:r>
            <a:r>
              <a:rPr dirty="0" sz="1350">
                <a:solidFill>
                  <a:srgbClr val="2dd4bf"/>
                </a:solidFill>
                <a:latin typeface="Liberation Mono"/>
                <a:cs typeface="Liberation Mono"/>
              </a:rPr>
              <a:t>"wrap_content"</a:t>
            </a:r>
          </a:p>
          <a:p>
            <a:pPr marL="409426" marR="0">
              <a:lnSpc>
                <a:spcPts val="1522"/>
              </a:lnSpc>
              <a:spcBef>
                <a:spcPts val="427"/>
              </a:spcBef>
              <a:spcAft>
                <a:spcPts val="0"/>
              </a:spcAft>
            </a:pPr>
            <a:r>
              <a:rPr dirty="0" sz="1350">
                <a:solidFill>
                  <a:srgbClr val="fb923c"/>
                </a:solidFill>
                <a:latin typeface="Liberation Mono"/>
                <a:cs typeface="Liberation Mono"/>
              </a:rPr>
              <a:t>android:text</a:t>
            </a:r>
            <a:r>
              <a:rPr dirty="0" sz="1350">
                <a:solidFill>
                  <a:srgbClr val="e0e0e0"/>
                </a:solidFill>
                <a:latin typeface="Liberation Mono"/>
                <a:cs typeface="Liberation Mono"/>
              </a:rPr>
              <a:t>=</a:t>
            </a:r>
            <a:r>
              <a:rPr dirty="0" sz="1350">
                <a:solidFill>
                  <a:srgbClr val="2dd4bf"/>
                </a:solidFill>
                <a:latin typeface="Liberation Mono"/>
                <a:cs typeface="Liberation Mono"/>
              </a:rPr>
              <a:t>"Submit"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82674" y="1659329"/>
            <a:ext cx="4896274" cy="8865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A</a:t>
            </a:r>
            <a:r>
              <a:rPr dirty="0" sz="1700" spc="-2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d1d5db"/>
                </a:solidFill>
                <a:latin typeface="DejaVu Sans"/>
                <a:cs typeface="DejaVu Sans"/>
              </a:rPr>
              <a:t>Material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d1d5db"/>
                </a:solidFill>
                <a:latin typeface="DejaVu Sans"/>
                <a:cs typeface="DejaVu Sans"/>
              </a:rPr>
              <a:t>Design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d1d5db"/>
                </a:solidFill>
                <a:latin typeface="DejaVu Sans"/>
                <a:cs typeface="DejaVu Sans"/>
              </a:rPr>
              <a:t>compliant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d1d5db"/>
                </a:solidFill>
                <a:latin typeface="DejaVu Sans"/>
                <a:cs typeface="DejaVu Sans"/>
              </a:rPr>
              <a:t>button,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d1d5db"/>
                </a:solidFill>
                <a:latin typeface="DejaVu Sans"/>
                <a:cs typeface="DejaVu Sans"/>
              </a:rPr>
              <a:t>oﬀering</a:t>
            </a:r>
          </a:p>
          <a:p>
            <a:pPr marL="0" marR="0">
              <a:lnSpc>
                <a:spcPts val="1955"/>
              </a:lnSpc>
              <a:spcBef>
                <a:spcPts val="319"/>
              </a:spcBef>
              <a:spcAft>
                <a:spcPts val="0"/>
              </a:spcAft>
            </a:pPr>
            <a:r>
              <a:rPr dirty="0" sz="1700" spc="-12">
                <a:solidFill>
                  <a:srgbClr val="d1d5db"/>
                </a:solidFill>
                <a:latin typeface="DejaVu Sans"/>
                <a:cs typeface="DejaVu Sans"/>
              </a:rPr>
              <a:t>enhanced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styling</a:t>
            </a:r>
            <a:r>
              <a:rPr dirty="0" sz="17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d1d5db"/>
                </a:solidFill>
                <a:latin typeface="DejaVu Sans"/>
                <a:cs typeface="DejaVu Sans"/>
              </a:rPr>
              <a:t>and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d1d5db"/>
                </a:solidFill>
                <a:latin typeface="DejaVu Sans"/>
                <a:cs typeface="DejaVu Sans"/>
              </a:rPr>
              <a:t>behavior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d1d5db"/>
                </a:solidFill>
                <a:latin typeface="DejaVu Sans"/>
                <a:cs typeface="DejaVu Sans"/>
              </a:rPr>
              <a:t>for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7">
                <a:solidFill>
                  <a:srgbClr val="d1d5db"/>
                </a:solidFill>
                <a:latin typeface="DejaVu Sans"/>
                <a:cs typeface="DejaVu Sans"/>
              </a:rPr>
              <a:t>Android</a:t>
            </a:r>
          </a:p>
          <a:p>
            <a:pPr marL="0" marR="0">
              <a:lnSpc>
                <a:spcPts val="1955"/>
              </a:lnSpc>
              <a:spcBef>
                <a:spcPts val="444"/>
              </a:spcBef>
              <a:spcAft>
                <a:spcPts val="0"/>
              </a:spcAft>
            </a:pPr>
            <a:r>
              <a:rPr dirty="0" sz="1700" spc="-10">
                <a:solidFill>
                  <a:srgbClr val="d1d5db"/>
                </a:solidFill>
                <a:latin typeface="DejaVu Sans"/>
                <a:cs typeface="DejaVu Sans"/>
              </a:rPr>
              <a:t>applications.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984205" y="2639198"/>
            <a:ext cx="5270293" cy="23145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fb923c"/>
                </a:solidFill>
                <a:latin typeface="Liberation Mono"/>
                <a:cs typeface="Liberation Mono"/>
              </a:rPr>
              <a:t>style</a:t>
            </a:r>
            <a:r>
              <a:rPr dirty="0" sz="1350">
                <a:solidFill>
                  <a:srgbClr val="e0e0e0"/>
                </a:solidFill>
                <a:latin typeface="Liberation Mono"/>
                <a:cs typeface="Liberation Mono"/>
              </a:rPr>
              <a:t>=</a:t>
            </a:r>
            <a:r>
              <a:rPr dirty="0" sz="1350">
                <a:solidFill>
                  <a:srgbClr val="2dd4bf"/>
                </a:solidFill>
                <a:latin typeface="Liberation Mono"/>
                <a:cs typeface="Liberation Mono"/>
              </a:rPr>
              <a:t>"@style/Widget.MaterialComponents.Button"</a:t>
            </a:r>
            <a:r>
              <a:rPr dirty="0" sz="1350" spc="469">
                <a:solidFill>
                  <a:srgbClr val="2dd4bf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6b7280"/>
                </a:solidFill>
                <a:latin typeface="Liberation Mono"/>
                <a:cs typeface="Liberation Mono"/>
              </a:rPr>
              <a:t>/&gt;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06239" y="3355533"/>
            <a:ext cx="2021110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Standard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UI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Widget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106239" y="4203258"/>
            <a:ext cx="2847382" cy="19761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Material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Design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Compliance</a:t>
            </a:r>
          </a:p>
          <a:p>
            <a:pPr marL="0" marR="0">
              <a:lnSpc>
                <a:spcPts val="1760"/>
              </a:lnSpc>
              <a:spcBef>
                <a:spcPts val="4939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Customizable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Styling</a:t>
            </a:r>
          </a:p>
          <a:p>
            <a:pPr marL="0" marR="0">
              <a:lnSpc>
                <a:spcPts val="1760"/>
              </a:lnSpc>
              <a:spcBef>
                <a:spcPts val="4989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Seamless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Integration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604074" y="6520097"/>
            <a:ext cx="4313534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Source: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Material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Design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for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Android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|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Views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-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Android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Developers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81534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80999" y="334315"/>
            <a:ext cx="8402693" cy="9542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0" b="1">
                <a:solidFill>
                  <a:srgbClr val="e0e0e0"/>
                </a:solidFill>
                <a:latin typeface="DejaVu Sans"/>
                <a:cs typeface="DejaVu Sans"/>
              </a:rPr>
              <a:t>Floating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0" b="1">
                <a:solidFill>
                  <a:srgbClr val="e0e0e0"/>
                </a:solidFill>
                <a:latin typeface="DejaVu Sans"/>
                <a:cs typeface="DejaVu Sans"/>
              </a:rPr>
              <a:t>Action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1" b="1">
                <a:solidFill>
                  <a:srgbClr val="e0e0e0"/>
                </a:solidFill>
                <a:latin typeface="DejaVu Sans"/>
                <a:cs typeface="DejaVu Sans"/>
              </a:rPr>
              <a:t>Button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02" b="1">
                <a:solidFill>
                  <a:srgbClr val="ff9800"/>
                </a:solidFill>
                <a:latin typeface="DejaVu Sans"/>
                <a:cs typeface="DejaVu Sans"/>
              </a:rPr>
              <a:t>(FAB)</a:t>
            </a:r>
          </a:p>
          <a:p>
            <a:pPr marL="0" marR="0">
              <a:lnSpc>
                <a:spcPts val="1955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700" spc="-14">
                <a:solidFill>
                  <a:srgbClr val="d1d5db"/>
                </a:solidFill>
                <a:latin typeface="DejaVu Sans"/>
                <a:cs typeface="DejaVu Sans"/>
              </a:rPr>
              <a:t>Nút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21">
                <a:solidFill>
                  <a:srgbClr val="d1d5db"/>
                </a:solidFill>
                <a:latin typeface="DejaVu Sans"/>
                <a:cs typeface="DejaVu Sans"/>
              </a:rPr>
              <a:t>tròn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d1d5db"/>
                </a:solidFill>
                <a:latin typeface="DejaVu Sans"/>
                <a:cs typeface="DejaVu Sans"/>
              </a:rPr>
              <a:t>cho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d1d5db"/>
                </a:solidFill>
                <a:latin typeface="DejaVu Sans"/>
                <a:cs typeface="DejaVu Sans"/>
              </a:rPr>
              <a:t>hành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d1d5db"/>
                </a:solidFill>
                <a:latin typeface="DejaVu Sans"/>
                <a:cs typeface="DejaVu Sans"/>
              </a:rPr>
              <a:t>động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d1d5db"/>
                </a:solidFill>
                <a:latin typeface="DejaVu Sans"/>
                <a:cs typeface="DejaVu Sans"/>
              </a:rPr>
              <a:t>chính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522540" y="1767122"/>
            <a:ext cx="1291785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Material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Design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394548" y="2079938"/>
            <a:ext cx="5259739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A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 spc="-14">
                <a:solidFill>
                  <a:srgbClr val="e0e0e0"/>
                </a:solidFill>
                <a:latin typeface="DejaVu Sans"/>
                <a:cs typeface="DejaVu Sans"/>
              </a:rPr>
              <a:t>core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Material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Design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component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for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promoting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a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primary,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394548" y="2337113"/>
            <a:ext cx="5369681" cy="75114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constructive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action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on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a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screen.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It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visually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ﬂoats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above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other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UI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elements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to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provide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immediate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access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to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the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most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common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task.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394548" y="3707958"/>
            <a:ext cx="1533181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00bcd4"/>
                </a:solidFill>
                <a:latin typeface="DejaVu Sans"/>
                <a:cs typeface="DejaVu Sans"/>
              </a:rPr>
              <a:t>Android</a:t>
            </a:r>
            <a:r>
              <a:rPr dirty="0" sz="150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500" spc="10" b="1">
                <a:solidFill>
                  <a:srgbClr val="00bcd4"/>
                </a:solidFill>
                <a:latin typeface="DejaVu Sans"/>
                <a:cs typeface="DejaVu Sans"/>
              </a:rPr>
              <a:t>XML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565105" y="4257161"/>
            <a:ext cx="5798826" cy="4168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f9a8d4"/>
                </a:solidFill>
                <a:latin typeface="Liberation Mono"/>
                <a:cs typeface="Liberation Mono"/>
              </a:rPr>
              <a:t>&lt;com.google.android.material.floatingactionbutton.FloatingActio</a:t>
            </a:r>
          </a:p>
          <a:p>
            <a:pPr marL="358378" marR="0">
              <a:lnSpc>
                <a:spcPts val="1332"/>
              </a:lnSpc>
              <a:spcBef>
                <a:spcPts val="367"/>
              </a:spcBef>
              <a:spcAft>
                <a:spcPts val="0"/>
              </a:spcAft>
            </a:pPr>
            <a:r>
              <a:rPr dirty="0" sz="1200" spc="-15">
                <a:solidFill>
                  <a:srgbClr val="93c5fd"/>
                </a:solidFill>
                <a:latin typeface="Liberation Mono"/>
                <a:cs typeface="Liberation Mono"/>
              </a:rPr>
              <a:t>android:id</a:t>
            </a:r>
            <a:r>
              <a:rPr dirty="0" sz="1200" spc="-15">
                <a:solidFill>
                  <a:srgbClr val="e2e8f0"/>
                </a:solidFill>
                <a:latin typeface="Liberation Mono"/>
                <a:cs typeface="Liberation Mono"/>
              </a:rPr>
              <a:t>=</a:t>
            </a:r>
            <a:r>
              <a:rPr dirty="0" sz="1200" spc="-15">
                <a:solidFill>
                  <a:srgbClr val="a7f3d0"/>
                </a:solidFill>
                <a:latin typeface="Liberation Mono"/>
                <a:cs typeface="Liberation Mono"/>
              </a:rPr>
              <a:t>"@+id/fab"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923483" y="4676261"/>
            <a:ext cx="3378927" cy="63591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93c5fd"/>
                </a:solidFill>
                <a:latin typeface="Liberation Mono"/>
                <a:cs typeface="Liberation Mono"/>
              </a:rPr>
              <a:t>android:layout_width</a:t>
            </a:r>
            <a:r>
              <a:rPr dirty="0" sz="1200" spc="-15">
                <a:solidFill>
                  <a:srgbClr val="e2e8f0"/>
                </a:solidFill>
                <a:latin typeface="Liberation Mono"/>
                <a:cs typeface="Liberation Mono"/>
              </a:rPr>
              <a:t>=</a:t>
            </a:r>
            <a:r>
              <a:rPr dirty="0" sz="1200" spc="-15">
                <a:solidFill>
                  <a:srgbClr val="a7f3d0"/>
                </a:solidFill>
                <a:latin typeface="Liberation Mono"/>
                <a:cs typeface="Liberation Mono"/>
              </a:rPr>
              <a:t>"wrap_content"</a:t>
            </a:r>
          </a:p>
          <a:p>
            <a:pPr marL="0" marR="0">
              <a:lnSpc>
                <a:spcPts val="1332"/>
              </a:lnSpc>
              <a:spcBef>
                <a:spcPts val="442"/>
              </a:spcBef>
              <a:spcAft>
                <a:spcPts val="0"/>
              </a:spcAft>
            </a:pPr>
            <a:r>
              <a:rPr dirty="0" sz="1200" spc="-15">
                <a:solidFill>
                  <a:srgbClr val="93c5fd"/>
                </a:solidFill>
                <a:latin typeface="Liberation Mono"/>
                <a:cs typeface="Liberation Mono"/>
              </a:rPr>
              <a:t>android:layout_height</a:t>
            </a:r>
            <a:r>
              <a:rPr dirty="0" sz="1200" spc="-15">
                <a:solidFill>
                  <a:srgbClr val="e2e8f0"/>
                </a:solidFill>
                <a:latin typeface="Liberation Mono"/>
                <a:cs typeface="Liberation Mono"/>
              </a:rPr>
              <a:t>=</a:t>
            </a:r>
            <a:r>
              <a:rPr dirty="0" sz="1200" spc="-15">
                <a:solidFill>
                  <a:srgbClr val="a7f3d0"/>
                </a:solidFill>
                <a:latin typeface="Liberation Mono"/>
                <a:cs typeface="Liberation Mono"/>
              </a:rPr>
              <a:t>"wrap_content"</a:t>
            </a:r>
          </a:p>
          <a:p>
            <a:pPr marL="0" marR="0">
              <a:lnSpc>
                <a:spcPts val="1332"/>
              </a:lnSpc>
              <a:spcBef>
                <a:spcPts val="317"/>
              </a:spcBef>
              <a:spcAft>
                <a:spcPts val="0"/>
              </a:spcAft>
            </a:pPr>
            <a:r>
              <a:rPr dirty="0" sz="1200" spc="-15">
                <a:solidFill>
                  <a:srgbClr val="93c5fd"/>
                </a:solidFill>
                <a:latin typeface="Liberation Mono"/>
                <a:cs typeface="Liberation Mono"/>
              </a:rPr>
              <a:t>android:src</a:t>
            </a:r>
            <a:r>
              <a:rPr dirty="0" sz="1200" spc="-15">
                <a:solidFill>
                  <a:srgbClr val="e2e8f0"/>
                </a:solidFill>
                <a:latin typeface="Liberation Mono"/>
                <a:cs typeface="Liberation Mono"/>
              </a:rPr>
              <a:t>=</a:t>
            </a:r>
            <a:r>
              <a:rPr dirty="0" sz="1200" spc="-15">
                <a:solidFill>
                  <a:srgbClr val="a7f3d0"/>
                </a:solidFill>
                <a:latin typeface="Liberation Mono"/>
                <a:cs typeface="Liberation Mono"/>
              </a:rPr>
              <a:t>"@drawable/ic_add"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923483" y="5323961"/>
            <a:ext cx="2481725" cy="20728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93c5fd"/>
                </a:solidFill>
                <a:latin typeface="Liberation Mono"/>
                <a:cs typeface="Liberation Mono"/>
              </a:rPr>
              <a:t>app:tint</a:t>
            </a:r>
            <a:r>
              <a:rPr dirty="0" sz="1200" spc="-15">
                <a:solidFill>
                  <a:srgbClr val="e2e8f0"/>
                </a:solidFill>
                <a:latin typeface="Liberation Mono"/>
                <a:cs typeface="Liberation Mono"/>
              </a:rPr>
              <a:t>=</a:t>
            </a:r>
            <a:r>
              <a:rPr dirty="0" sz="1200" spc="-15">
                <a:solidFill>
                  <a:srgbClr val="a7f3d0"/>
                </a:solidFill>
                <a:latin typeface="Liberation Mono"/>
                <a:cs typeface="Liberation Mono"/>
              </a:rPr>
              <a:t>"@color/white"</a:t>
            </a:r>
            <a:r>
              <a:rPr dirty="0" sz="1200" spc="405">
                <a:solidFill>
                  <a:srgbClr val="a7f3d0"/>
                </a:solidFill>
                <a:latin typeface="Times New Roman"/>
                <a:cs typeface="Times New Roman"/>
              </a:rPr>
              <a:t> </a:t>
            </a:r>
            <a:r>
              <a:rPr dirty="0" sz="1200" spc="-15">
                <a:solidFill>
                  <a:srgbClr val="f9a8d4"/>
                </a:solidFill>
                <a:latin typeface="Liberation Mono"/>
                <a:cs typeface="Liberation Mono"/>
              </a:rPr>
              <a:t>/&gt;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51556" y="6184458"/>
            <a:ext cx="1723012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00bcd4"/>
                </a:solidFill>
                <a:latin typeface="DejaVu Sans"/>
                <a:cs typeface="DejaVu Sans"/>
              </a:rPr>
              <a:t>Key</a:t>
            </a:r>
            <a:r>
              <a:rPr dirty="0" sz="1500" spc="15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0bcd4"/>
                </a:solidFill>
                <a:latin typeface="DejaVu Sans"/>
                <a:cs typeface="DejaVu Sans"/>
              </a:rPr>
              <a:t>Attributes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908149" y="6604313"/>
            <a:ext cx="2437422" cy="10083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Primary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Call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to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Action</a:t>
            </a:r>
          </a:p>
          <a:p>
            <a:pPr marL="0" marR="0">
              <a:lnSpc>
                <a:spcPts val="1564"/>
              </a:lnSpc>
              <a:spcBef>
                <a:spcPts val="1435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Highly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Visible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&amp;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Accessible</a:t>
            </a:r>
          </a:p>
          <a:p>
            <a:pPr marL="0" marR="0">
              <a:lnSpc>
                <a:spcPts val="1564"/>
              </a:lnSpc>
              <a:spcBef>
                <a:spcPts val="146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Distinct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Circular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Shape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81534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80999" y="334315"/>
            <a:ext cx="8402693" cy="9542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0" b="1">
                <a:solidFill>
                  <a:srgbClr val="e0e0e0"/>
                </a:solidFill>
                <a:latin typeface="DejaVu Sans"/>
                <a:cs typeface="DejaVu Sans"/>
              </a:rPr>
              <a:t>Floating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0" b="1">
                <a:solidFill>
                  <a:srgbClr val="e0e0e0"/>
                </a:solidFill>
                <a:latin typeface="DejaVu Sans"/>
                <a:cs typeface="DejaVu Sans"/>
              </a:rPr>
              <a:t>Action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1" b="1">
                <a:solidFill>
                  <a:srgbClr val="e0e0e0"/>
                </a:solidFill>
                <a:latin typeface="DejaVu Sans"/>
                <a:cs typeface="DejaVu Sans"/>
              </a:rPr>
              <a:t>Button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02" b="1">
                <a:solidFill>
                  <a:srgbClr val="ff9800"/>
                </a:solidFill>
                <a:latin typeface="DejaVu Sans"/>
                <a:cs typeface="DejaVu Sans"/>
              </a:rPr>
              <a:t>(FAB)</a:t>
            </a:r>
          </a:p>
          <a:p>
            <a:pPr marL="0" marR="0">
              <a:lnSpc>
                <a:spcPts val="1955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700" spc="-14">
                <a:solidFill>
                  <a:srgbClr val="d1d5db"/>
                </a:solidFill>
                <a:latin typeface="DejaVu Sans"/>
                <a:cs typeface="DejaVu Sans"/>
              </a:rPr>
              <a:t>Nút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21">
                <a:solidFill>
                  <a:srgbClr val="d1d5db"/>
                </a:solidFill>
                <a:latin typeface="DejaVu Sans"/>
                <a:cs typeface="DejaVu Sans"/>
              </a:rPr>
              <a:t>tròn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d1d5db"/>
                </a:solidFill>
                <a:latin typeface="DejaVu Sans"/>
                <a:cs typeface="DejaVu Sans"/>
              </a:rPr>
              <a:t>cho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d1d5db"/>
                </a:solidFill>
                <a:latin typeface="DejaVu Sans"/>
                <a:cs typeface="DejaVu Sans"/>
              </a:rPr>
              <a:t>hành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d1d5db"/>
                </a:solidFill>
                <a:latin typeface="DejaVu Sans"/>
                <a:cs typeface="DejaVu Sans"/>
              </a:rPr>
              <a:t>động</a:t>
            </a:r>
            <a:r>
              <a:rPr dirty="0" sz="17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d1d5db"/>
                </a:solidFill>
                <a:latin typeface="DejaVu Sans"/>
                <a:cs typeface="DejaVu Sans"/>
              </a:rPr>
              <a:t>chính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522540" y="1767122"/>
            <a:ext cx="1291785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Material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Design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394548" y="2079938"/>
            <a:ext cx="5259739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A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 spc="-14">
                <a:solidFill>
                  <a:srgbClr val="e0e0e0"/>
                </a:solidFill>
                <a:latin typeface="DejaVu Sans"/>
                <a:cs typeface="DejaVu Sans"/>
              </a:rPr>
              <a:t>core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Material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Design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component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for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promoting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a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primary,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394548" y="2337113"/>
            <a:ext cx="5369681" cy="75114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constructive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action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on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a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screen.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It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visually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ﬂoats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above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other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UI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elements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to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provide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immediate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access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to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the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most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common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task.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394548" y="3707958"/>
            <a:ext cx="1533181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00bcd4"/>
                </a:solidFill>
                <a:latin typeface="DejaVu Sans"/>
                <a:cs typeface="DejaVu Sans"/>
              </a:rPr>
              <a:t>Android</a:t>
            </a:r>
            <a:r>
              <a:rPr dirty="0" sz="150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500" spc="10" b="1">
                <a:solidFill>
                  <a:srgbClr val="00bcd4"/>
                </a:solidFill>
                <a:latin typeface="DejaVu Sans"/>
                <a:cs typeface="DejaVu Sans"/>
              </a:rPr>
              <a:t>XML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565105" y="4257161"/>
            <a:ext cx="5798826" cy="4168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f9a8d4"/>
                </a:solidFill>
                <a:latin typeface="Liberation Mono"/>
                <a:cs typeface="Liberation Mono"/>
              </a:rPr>
              <a:t>&lt;com.google.android.material.floatingactionbutton.FloatingActio</a:t>
            </a:r>
          </a:p>
          <a:p>
            <a:pPr marL="358378" marR="0">
              <a:lnSpc>
                <a:spcPts val="1332"/>
              </a:lnSpc>
              <a:spcBef>
                <a:spcPts val="367"/>
              </a:spcBef>
              <a:spcAft>
                <a:spcPts val="0"/>
              </a:spcAft>
            </a:pPr>
            <a:r>
              <a:rPr dirty="0" sz="1200" spc="-15">
                <a:solidFill>
                  <a:srgbClr val="93c5fd"/>
                </a:solidFill>
                <a:latin typeface="Liberation Mono"/>
                <a:cs typeface="Liberation Mono"/>
              </a:rPr>
              <a:t>android:id</a:t>
            </a:r>
            <a:r>
              <a:rPr dirty="0" sz="1200" spc="-15">
                <a:solidFill>
                  <a:srgbClr val="e2e8f0"/>
                </a:solidFill>
                <a:latin typeface="Liberation Mono"/>
                <a:cs typeface="Liberation Mono"/>
              </a:rPr>
              <a:t>=</a:t>
            </a:r>
            <a:r>
              <a:rPr dirty="0" sz="1200" spc="-15">
                <a:solidFill>
                  <a:srgbClr val="a7f3d0"/>
                </a:solidFill>
                <a:latin typeface="Liberation Mono"/>
                <a:cs typeface="Liberation Mono"/>
              </a:rPr>
              <a:t>"@+id/fab"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923483" y="4676261"/>
            <a:ext cx="3378927" cy="63591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93c5fd"/>
                </a:solidFill>
                <a:latin typeface="Liberation Mono"/>
                <a:cs typeface="Liberation Mono"/>
              </a:rPr>
              <a:t>android:layout_width</a:t>
            </a:r>
            <a:r>
              <a:rPr dirty="0" sz="1200" spc="-15">
                <a:solidFill>
                  <a:srgbClr val="e2e8f0"/>
                </a:solidFill>
                <a:latin typeface="Liberation Mono"/>
                <a:cs typeface="Liberation Mono"/>
              </a:rPr>
              <a:t>=</a:t>
            </a:r>
            <a:r>
              <a:rPr dirty="0" sz="1200" spc="-15">
                <a:solidFill>
                  <a:srgbClr val="a7f3d0"/>
                </a:solidFill>
                <a:latin typeface="Liberation Mono"/>
                <a:cs typeface="Liberation Mono"/>
              </a:rPr>
              <a:t>"wrap_content"</a:t>
            </a:r>
          </a:p>
          <a:p>
            <a:pPr marL="0" marR="0">
              <a:lnSpc>
                <a:spcPts val="1332"/>
              </a:lnSpc>
              <a:spcBef>
                <a:spcPts val="442"/>
              </a:spcBef>
              <a:spcAft>
                <a:spcPts val="0"/>
              </a:spcAft>
            </a:pPr>
            <a:r>
              <a:rPr dirty="0" sz="1200" spc="-15">
                <a:solidFill>
                  <a:srgbClr val="93c5fd"/>
                </a:solidFill>
                <a:latin typeface="Liberation Mono"/>
                <a:cs typeface="Liberation Mono"/>
              </a:rPr>
              <a:t>android:layout_height</a:t>
            </a:r>
            <a:r>
              <a:rPr dirty="0" sz="1200" spc="-15">
                <a:solidFill>
                  <a:srgbClr val="e2e8f0"/>
                </a:solidFill>
                <a:latin typeface="Liberation Mono"/>
                <a:cs typeface="Liberation Mono"/>
              </a:rPr>
              <a:t>=</a:t>
            </a:r>
            <a:r>
              <a:rPr dirty="0" sz="1200" spc="-15">
                <a:solidFill>
                  <a:srgbClr val="a7f3d0"/>
                </a:solidFill>
                <a:latin typeface="Liberation Mono"/>
                <a:cs typeface="Liberation Mono"/>
              </a:rPr>
              <a:t>"wrap_content"</a:t>
            </a:r>
          </a:p>
          <a:p>
            <a:pPr marL="0" marR="0">
              <a:lnSpc>
                <a:spcPts val="1332"/>
              </a:lnSpc>
              <a:spcBef>
                <a:spcPts val="317"/>
              </a:spcBef>
              <a:spcAft>
                <a:spcPts val="0"/>
              </a:spcAft>
            </a:pPr>
            <a:r>
              <a:rPr dirty="0" sz="1200" spc="-15">
                <a:solidFill>
                  <a:srgbClr val="93c5fd"/>
                </a:solidFill>
                <a:latin typeface="Liberation Mono"/>
                <a:cs typeface="Liberation Mono"/>
              </a:rPr>
              <a:t>android:src</a:t>
            </a:r>
            <a:r>
              <a:rPr dirty="0" sz="1200" spc="-15">
                <a:solidFill>
                  <a:srgbClr val="e2e8f0"/>
                </a:solidFill>
                <a:latin typeface="Liberation Mono"/>
                <a:cs typeface="Liberation Mono"/>
              </a:rPr>
              <a:t>=</a:t>
            </a:r>
            <a:r>
              <a:rPr dirty="0" sz="1200" spc="-15">
                <a:solidFill>
                  <a:srgbClr val="a7f3d0"/>
                </a:solidFill>
                <a:latin typeface="Liberation Mono"/>
                <a:cs typeface="Liberation Mono"/>
              </a:rPr>
              <a:t>"@drawable/ic_add"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923483" y="5323961"/>
            <a:ext cx="2481725" cy="20728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93c5fd"/>
                </a:solidFill>
                <a:latin typeface="Liberation Mono"/>
                <a:cs typeface="Liberation Mono"/>
              </a:rPr>
              <a:t>app:tint</a:t>
            </a:r>
            <a:r>
              <a:rPr dirty="0" sz="1200" spc="-15">
                <a:solidFill>
                  <a:srgbClr val="e2e8f0"/>
                </a:solidFill>
                <a:latin typeface="Liberation Mono"/>
                <a:cs typeface="Liberation Mono"/>
              </a:rPr>
              <a:t>=</a:t>
            </a:r>
            <a:r>
              <a:rPr dirty="0" sz="1200" spc="-15">
                <a:solidFill>
                  <a:srgbClr val="a7f3d0"/>
                </a:solidFill>
                <a:latin typeface="Liberation Mono"/>
                <a:cs typeface="Liberation Mono"/>
              </a:rPr>
              <a:t>"@color/white"</a:t>
            </a:r>
            <a:r>
              <a:rPr dirty="0" sz="1200" spc="405">
                <a:solidFill>
                  <a:srgbClr val="a7f3d0"/>
                </a:solidFill>
                <a:latin typeface="Times New Roman"/>
                <a:cs typeface="Times New Roman"/>
              </a:rPr>
              <a:t> </a:t>
            </a:r>
            <a:r>
              <a:rPr dirty="0" sz="1200" spc="-15">
                <a:solidFill>
                  <a:srgbClr val="f9a8d4"/>
                </a:solidFill>
                <a:latin typeface="Liberation Mono"/>
                <a:cs typeface="Liberation Mono"/>
              </a:rPr>
              <a:t>/&gt;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51556" y="6184458"/>
            <a:ext cx="1723012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00bcd4"/>
                </a:solidFill>
                <a:latin typeface="DejaVu Sans"/>
                <a:cs typeface="DejaVu Sans"/>
              </a:rPr>
              <a:t>Key</a:t>
            </a:r>
            <a:r>
              <a:rPr dirty="0" sz="1500" spc="15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0bcd4"/>
                </a:solidFill>
                <a:latin typeface="DejaVu Sans"/>
                <a:cs typeface="DejaVu Sans"/>
              </a:rPr>
              <a:t>Attributes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908149" y="6604313"/>
            <a:ext cx="2437422" cy="10083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Primary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Call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to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Action</a:t>
            </a:r>
          </a:p>
          <a:p>
            <a:pPr marL="0" marR="0">
              <a:lnSpc>
                <a:spcPts val="1564"/>
              </a:lnSpc>
              <a:spcBef>
                <a:spcPts val="1435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Highly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Visible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&amp;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Accessible</a:t>
            </a:r>
          </a:p>
          <a:p>
            <a:pPr marL="0" marR="0">
              <a:lnSpc>
                <a:spcPts val="1564"/>
              </a:lnSpc>
              <a:spcBef>
                <a:spcPts val="146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Distinct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Circular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Shape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90805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084635" y="346209"/>
            <a:ext cx="8174907" cy="4851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spc="15" b="1">
                <a:solidFill>
                  <a:srgbClr val="e0e0e0"/>
                </a:solidFill>
                <a:latin typeface="DejaVu Sans"/>
                <a:cs typeface="DejaVu Sans"/>
              </a:rPr>
              <a:t>Card</a:t>
            </a:r>
            <a:r>
              <a:rPr dirty="0" sz="3000" b="1">
                <a:solidFill>
                  <a:srgbClr val="00bcd4"/>
                </a:solidFill>
                <a:latin typeface="DejaVu Sans"/>
                <a:cs typeface="DejaVu Sans"/>
              </a:rPr>
              <a:t>View</a:t>
            </a:r>
            <a:r>
              <a:rPr dirty="0" sz="3000" b="1">
                <a:solidFill>
                  <a:srgbClr val="e0e0e0"/>
                </a:solidFill>
                <a:latin typeface="DejaVu Sans"/>
                <a:cs typeface="DejaVu Sans"/>
              </a:rPr>
              <a:t>:</a:t>
            </a:r>
            <a:r>
              <a:rPr dirty="0" sz="3000" spc="18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3000" spc="17" b="1">
                <a:solidFill>
                  <a:srgbClr val="e0e0e0"/>
                </a:solidFill>
                <a:latin typeface="DejaVu Sans"/>
                <a:cs typeface="DejaVu Sans"/>
              </a:rPr>
              <a:t>Nhóm</a:t>
            </a:r>
            <a:r>
              <a:rPr dirty="0" sz="3000" spc="15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3000" spc="18" b="1">
                <a:solidFill>
                  <a:srgbClr val="e0e0e0"/>
                </a:solidFill>
                <a:latin typeface="DejaVu Sans"/>
                <a:cs typeface="DejaVu Sans"/>
              </a:rPr>
              <a:t>Nội</a:t>
            </a:r>
            <a:r>
              <a:rPr dirty="0" sz="3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3000" spc="18" b="1">
                <a:solidFill>
                  <a:srgbClr val="e0e0e0"/>
                </a:solidFill>
                <a:latin typeface="DejaVu Sans"/>
                <a:cs typeface="DejaVu Sans"/>
              </a:rPr>
              <a:t>Dung</a:t>
            </a:r>
            <a:r>
              <a:rPr dirty="0" sz="3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3000" spc="-72" b="1">
                <a:solidFill>
                  <a:srgbClr val="e0e0e0"/>
                </a:solidFill>
                <a:latin typeface="DejaVu Sans"/>
                <a:cs typeface="DejaVu Sans"/>
              </a:rPr>
              <a:t>Trực</a:t>
            </a:r>
            <a:r>
              <a:rPr dirty="0" sz="3000" spc="93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3000" spc="17" b="1">
                <a:solidFill>
                  <a:srgbClr val="e0e0e0"/>
                </a:solidFill>
                <a:latin typeface="DejaVu Sans"/>
                <a:cs typeface="DejaVu Sans"/>
              </a:rPr>
              <a:t>Quan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0999" y="391854"/>
            <a:ext cx="369593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18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17984" y="1115000"/>
            <a:ext cx="3370291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Widget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spc="10" b="1">
                <a:solidFill>
                  <a:srgbClr val="e0e0e0"/>
                </a:solidFill>
                <a:latin typeface="DejaVu Sans"/>
                <a:cs typeface="DejaVu Sans"/>
              </a:rPr>
              <a:t>UI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cơ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bản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của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Android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51556" y="1934904"/>
            <a:ext cx="4221989" cy="75114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Được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sử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dụng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để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nhóm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các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thành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phần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UI,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tạo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ra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các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khối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nội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dung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độc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lập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và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có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thể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tương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tác,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mang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lại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sự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 spc="-31">
                <a:solidFill>
                  <a:srgbClr val="e0e0e0"/>
                </a:solidFill>
                <a:latin typeface="DejaVu Sans"/>
                <a:cs typeface="DejaVu Sans"/>
              </a:rPr>
              <a:t>rõ</a:t>
            </a:r>
            <a:r>
              <a:rPr dirty="0" sz="1350" spc="25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ràng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và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phân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cấp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trực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quan.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8117" y="2860338"/>
            <a:ext cx="1291784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000000"/>
                </a:solidFill>
                <a:latin typeface="DejaVu Sans"/>
                <a:cs typeface="DejaVu Sans"/>
              </a:rPr>
              <a:t>Material</a:t>
            </a:r>
            <a:r>
              <a:rPr dirty="0" sz="1000" b="1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000000"/>
                </a:solidFill>
                <a:latin typeface="DejaVu Sans"/>
                <a:cs typeface="DejaVu Sans"/>
              </a:rPr>
              <a:t>Design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095946" y="2860338"/>
            <a:ext cx="857988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000000"/>
                </a:solidFill>
                <a:latin typeface="DejaVu Sans"/>
                <a:cs typeface="DejaVu Sans"/>
              </a:rPr>
              <a:t>Container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099940" y="2860338"/>
            <a:ext cx="824546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Elevation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51556" y="3610550"/>
            <a:ext cx="1876655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spc="10" b="1">
                <a:solidFill>
                  <a:srgbClr val="ffffff"/>
                </a:solidFill>
                <a:latin typeface="DejaVu Sans"/>
                <a:cs typeface="DejaVu Sans"/>
              </a:rPr>
              <a:t>Ưu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điểm</a:t>
            </a:r>
            <a:r>
              <a:rPr dirty="0" sz="1500" spc="1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nổi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bật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27335" y="4001829"/>
            <a:ext cx="3045945" cy="10083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Nâng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cao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thẩm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mỹ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giao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diện</a:t>
            </a:r>
          </a:p>
          <a:p>
            <a:pPr marL="0" marR="0">
              <a:lnSpc>
                <a:spcPts val="1564"/>
              </a:lnSpc>
              <a:spcBef>
                <a:spcPts val="146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Tạo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bóng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đổ,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góc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bo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dễ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dàng</a:t>
            </a:r>
          </a:p>
          <a:p>
            <a:pPr marL="0" marR="0">
              <a:lnSpc>
                <a:spcPts val="1564"/>
              </a:lnSpc>
              <a:spcBef>
                <a:spcPts val="1435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Cải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thiện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khả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năng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đọc,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tương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tác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51556" y="5392479"/>
            <a:ext cx="2174678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d1d5db"/>
                </a:solidFill>
                <a:latin typeface="DejaVu Sans"/>
                <a:cs typeface="DejaVu Sans"/>
              </a:rPr>
              <a:t>Cấu</a:t>
            </a:r>
            <a:r>
              <a:rPr dirty="0" sz="1350" b="1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 spc="-40" b="1">
                <a:solidFill>
                  <a:srgbClr val="d1d5db"/>
                </a:solidFill>
                <a:latin typeface="DejaVu Sans"/>
                <a:cs typeface="DejaVu Sans"/>
              </a:rPr>
              <a:t>Trúc</a:t>
            </a:r>
            <a:r>
              <a:rPr dirty="0" sz="1350" spc="34" b="1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d1d5db"/>
                </a:solidFill>
                <a:latin typeface="DejaVu Sans"/>
                <a:cs typeface="DejaVu Sans"/>
              </a:rPr>
              <a:t>XML</a:t>
            </a:r>
            <a:r>
              <a:rPr dirty="0" sz="1350" b="1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d1d5db"/>
                </a:solidFill>
                <a:latin typeface="DejaVu Sans"/>
                <a:cs typeface="DejaVu Sans"/>
              </a:rPr>
              <a:t>Cơ</a:t>
            </a:r>
            <a:r>
              <a:rPr dirty="0" sz="1350" b="1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d1d5db"/>
                </a:solidFill>
                <a:latin typeface="DejaVu Sans"/>
                <a:cs typeface="DejaVu Sans"/>
              </a:rPr>
              <a:t>Bản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79549" y="5855202"/>
            <a:ext cx="3914954" cy="84546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e0e0e0"/>
                </a:solidFill>
                <a:latin typeface="Liberation Mono"/>
                <a:cs typeface="Liberation Mono"/>
              </a:rPr>
              <a:t>&lt;</a:t>
            </a:r>
            <a:r>
              <a:rPr dirty="0" sz="1200" spc="-15">
                <a:solidFill>
                  <a:srgbClr val="89ddff"/>
                </a:solidFill>
                <a:latin typeface="Liberation Mono"/>
                <a:cs typeface="Liberation Mono"/>
              </a:rPr>
              <a:t>androidx.cardview.widget.CardView</a:t>
            </a:r>
          </a:p>
          <a:p>
            <a:pPr marL="358378" marR="0">
              <a:lnSpc>
                <a:spcPts val="1332"/>
              </a:lnSpc>
              <a:spcBef>
                <a:spcPts val="442"/>
              </a:spcBef>
              <a:spcAft>
                <a:spcPts val="0"/>
              </a:spcAft>
            </a:pPr>
            <a:r>
              <a:rPr dirty="0" sz="1200" spc="-15">
                <a:solidFill>
                  <a:srgbClr val="f8b44f"/>
                </a:solidFill>
                <a:latin typeface="Liberation Mono"/>
                <a:cs typeface="Liberation Mono"/>
              </a:rPr>
              <a:t>android:layout_width</a:t>
            </a:r>
            <a:r>
              <a:rPr dirty="0" sz="1200" spc="-15">
                <a:solidFill>
                  <a:srgbClr val="e0e0e0"/>
                </a:solidFill>
                <a:latin typeface="Liberation Mono"/>
                <a:cs typeface="Liberation Mono"/>
              </a:rPr>
              <a:t>="</a:t>
            </a:r>
            <a:r>
              <a:rPr dirty="0" sz="1200" spc="-15">
                <a:solidFill>
                  <a:srgbClr val="a6e22e"/>
                </a:solidFill>
                <a:latin typeface="Liberation Mono"/>
                <a:cs typeface="Liberation Mono"/>
              </a:rPr>
              <a:t>"match_parent"</a:t>
            </a:r>
            <a:r>
              <a:rPr dirty="0" sz="1200">
                <a:solidFill>
                  <a:srgbClr val="e0e0e0"/>
                </a:solidFill>
                <a:latin typeface="Liberation Mono"/>
                <a:cs typeface="Liberation Mono"/>
              </a:rPr>
              <a:t>"</a:t>
            </a:r>
          </a:p>
          <a:p>
            <a:pPr marL="358378" marR="0">
              <a:lnSpc>
                <a:spcPts val="1332"/>
              </a:lnSpc>
              <a:spcBef>
                <a:spcPts val="317"/>
              </a:spcBef>
              <a:spcAft>
                <a:spcPts val="0"/>
              </a:spcAft>
            </a:pPr>
            <a:r>
              <a:rPr dirty="0" sz="1200" spc="-15">
                <a:solidFill>
                  <a:srgbClr val="f8b44f"/>
                </a:solidFill>
                <a:latin typeface="Liberation Mono"/>
                <a:cs typeface="Liberation Mono"/>
              </a:rPr>
              <a:t>android:layout_height</a:t>
            </a:r>
            <a:r>
              <a:rPr dirty="0" sz="1200" spc="-15">
                <a:solidFill>
                  <a:srgbClr val="e0e0e0"/>
                </a:solidFill>
                <a:latin typeface="Liberation Mono"/>
                <a:cs typeface="Liberation Mono"/>
              </a:rPr>
              <a:t>="</a:t>
            </a:r>
            <a:r>
              <a:rPr dirty="0" sz="1200" spc="-15">
                <a:solidFill>
                  <a:srgbClr val="a6e22e"/>
                </a:solidFill>
                <a:latin typeface="Liberation Mono"/>
                <a:cs typeface="Liberation Mono"/>
              </a:rPr>
              <a:t>"wrap_content"</a:t>
            </a:r>
            <a:r>
              <a:rPr dirty="0" sz="1200">
                <a:solidFill>
                  <a:srgbClr val="e0e0e0"/>
                </a:solidFill>
                <a:latin typeface="Liberation Mono"/>
                <a:cs typeface="Liberation Mono"/>
              </a:rPr>
              <a:t>"</a:t>
            </a:r>
          </a:p>
          <a:p>
            <a:pPr marL="358378" marR="0">
              <a:lnSpc>
                <a:spcPts val="1332"/>
              </a:lnSpc>
              <a:spcBef>
                <a:spcPts val="367"/>
              </a:spcBef>
              <a:spcAft>
                <a:spcPts val="0"/>
              </a:spcAft>
            </a:pPr>
            <a:r>
              <a:rPr dirty="0" sz="1200" spc="-15">
                <a:solidFill>
                  <a:srgbClr val="f8b44f"/>
                </a:solidFill>
                <a:latin typeface="Liberation Mono"/>
                <a:cs typeface="Liberation Mono"/>
              </a:rPr>
              <a:t>app:cardCornerRadius</a:t>
            </a:r>
            <a:r>
              <a:rPr dirty="0" sz="1200" spc="-15">
                <a:solidFill>
                  <a:srgbClr val="e0e0e0"/>
                </a:solidFill>
                <a:latin typeface="Liberation Mono"/>
                <a:cs typeface="Liberation Mono"/>
              </a:rPr>
              <a:t>="</a:t>
            </a:r>
            <a:r>
              <a:rPr dirty="0" sz="1200" spc="-15">
                <a:solidFill>
                  <a:srgbClr val="a6e22e"/>
                </a:solidFill>
                <a:latin typeface="Liberation Mono"/>
                <a:cs typeface="Liberation Mono"/>
              </a:rPr>
              <a:t>"</a:t>
            </a:r>
            <a:r>
              <a:rPr dirty="0" sz="1200" spc="-15">
                <a:solidFill>
                  <a:srgbClr val="ff9800"/>
                </a:solidFill>
                <a:latin typeface="Liberation Mono"/>
                <a:cs typeface="Liberation Mono"/>
              </a:rPr>
              <a:t>8dp</a:t>
            </a:r>
            <a:r>
              <a:rPr dirty="0" sz="1200" spc="-15">
                <a:solidFill>
                  <a:srgbClr val="a6e22e"/>
                </a:solidFill>
                <a:latin typeface="Liberation Mono"/>
                <a:cs typeface="Liberation Mono"/>
              </a:rPr>
              <a:t>"</a:t>
            </a:r>
            <a:r>
              <a:rPr dirty="0" sz="1200">
                <a:solidFill>
                  <a:srgbClr val="e0e0e0"/>
                </a:solidFill>
                <a:latin typeface="Liberation Mono"/>
                <a:cs typeface="Liberation Mono"/>
              </a:rPr>
              <a:t>"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7601246" y="6248220"/>
            <a:ext cx="2156770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4" b="1">
                <a:solidFill>
                  <a:srgbClr val="e0e0e0"/>
                </a:solidFill>
                <a:latin typeface="DejaVu Sans"/>
                <a:cs typeface="DejaVu Sans"/>
              </a:rPr>
              <a:t>Thuộc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0" b="1">
                <a:solidFill>
                  <a:srgbClr val="e0e0e0"/>
                </a:solidFill>
                <a:latin typeface="DejaVu Sans"/>
                <a:cs typeface="DejaVu Sans"/>
              </a:rPr>
              <a:t>tính</a:t>
            </a:r>
            <a:r>
              <a:rPr dirty="0" sz="1700" spc="-1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1" b="1">
                <a:solidFill>
                  <a:srgbClr val="e0e0e0"/>
                </a:solidFill>
                <a:latin typeface="DejaVu Sans"/>
                <a:cs typeface="DejaVu Sans"/>
              </a:rPr>
              <a:t>chính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7835800" y="6668829"/>
            <a:ext cx="3258859" cy="10083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ffffff"/>
                </a:solidFill>
                <a:latin typeface="DejaVu Sans"/>
                <a:cs typeface="DejaVu Sans"/>
              </a:rPr>
              <a:t>cardCornerRadius:</a:t>
            </a:r>
            <a:r>
              <a:rPr dirty="0" sz="1350" spc="-4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Độ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bo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 spc="-12">
                <a:solidFill>
                  <a:srgbClr val="d1d5db"/>
                </a:solidFill>
                <a:latin typeface="DejaVu Sans"/>
                <a:cs typeface="DejaVu Sans"/>
              </a:rPr>
              <a:t>tròn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góc</a:t>
            </a:r>
          </a:p>
          <a:p>
            <a:pPr marL="0" marR="0">
              <a:lnSpc>
                <a:spcPts val="1564"/>
              </a:lnSpc>
              <a:spcBef>
                <a:spcPts val="1460"/>
              </a:spcBef>
              <a:spcAft>
                <a:spcPts val="0"/>
              </a:spcAft>
            </a:pPr>
            <a:r>
              <a:rPr dirty="0" sz="1350" b="1">
                <a:solidFill>
                  <a:srgbClr val="ffffff"/>
                </a:solidFill>
                <a:latin typeface="DejaVu Sans"/>
                <a:cs typeface="DejaVu Sans"/>
              </a:rPr>
              <a:t>cardElevation:</a:t>
            </a:r>
            <a:r>
              <a:rPr dirty="0" sz="1350" spc="-4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Độ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cao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đổ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bóng</a:t>
            </a:r>
          </a:p>
          <a:p>
            <a:pPr marL="0" marR="0">
              <a:lnSpc>
                <a:spcPts val="1564"/>
              </a:lnSpc>
              <a:spcBef>
                <a:spcPts val="1435"/>
              </a:spcBef>
              <a:spcAft>
                <a:spcPts val="0"/>
              </a:spcAft>
            </a:pPr>
            <a:r>
              <a:rPr dirty="0" sz="1350" b="1">
                <a:solidFill>
                  <a:srgbClr val="ffffff"/>
                </a:solidFill>
                <a:latin typeface="DejaVu Sans"/>
                <a:cs typeface="DejaVu Sans"/>
              </a:rPr>
              <a:t>cardBackgroundColor:</a:t>
            </a:r>
            <a:r>
              <a:rPr dirty="0" sz="1350" spc="-4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Màu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nền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037927" y="6712453"/>
            <a:ext cx="2482669" cy="20728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f8b44f"/>
                </a:solidFill>
                <a:latin typeface="Liberation Mono"/>
                <a:cs typeface="Liberation Mono"/>
              </a:rPr>
              <a:t>app:cardElevation</a:t>
            </a:r>
            <a:r>
              <a:rPr dirty="0" sz="1200" spc="-15">
                <a:solidFill>
                  <a:srgbClr val="e0e0e0"/>
                </a:solidFill>
                <a:latin typeface="Liberation Mono"/>
                <a:cs typeface="Liberation Mono"/>
              </a:rPr>
              <a:t>="</a:t>
            </a:r>
            <a:r>
              <a:rPr dirty="0" sz="1200" spc="-15">
                <a:solidFill>
                  <a:srgbClr val="a6e22e"/>
                </a:solidFill>
                <a:latin typeface="Liberation Mono"/>
                <a:cs typeface="Liberation Mono"/>
              </a:rPr>
              <a:t>"</a:t>
            </a:r>
            <a:r>
              <a:rPr dirty="0" sz="1200" spc="-15">
                <a:solidFill>
                  <a:srgbClr val="00bcd4"/>
                </a:solidFill>
                <a:latin typeface="Liberation Mono"/>
                <a:cs typeface="Liberation Mono"/>
              </a:rPr>
              <a:t>4dp</a:t>
            </a:r>
            <a:r>
              <a:rPr dirty="0" sz="1200" spc="-15">
                <a:solidFill>
                  <a:srgbClr val="a6e22e"/>
                </a:solidFill>
                <a:latin typeface="Liberation Mono"/>
                <a:cs typeface="Liberation Mono"/>
              </a:rPr>
              <a:t>"</a:t>
            </a:r>
            <a:r>
              <a:rPr dirty="0" sz="1200" spc="-15">
                <a:solidFill>
                  <a:srgbClr val="e0e0e0"/>
                </a:solidFill>
                <a:latin typeface="Liberation Mono"/>
                <a:cs typeface="Liberation Mono"/>
              </a:rPr>
              <a:t>"&gt;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037866" y="7126784"/>
            <a:ext cx="2482154" cy="43113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6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75715e"/>
                </a:solidFill>
                <a:latin typeface="Liberation Mono"/>
                <a:cs typeface="Liberation Mono"/>
              </a:rPr>
              <a:t>&lt;!--</a:t>
            </a:r>
            <a:r>
              <a:rPr dirty="0" sz="1200" spc="-15">
                <a:solidFill>
                  <a:srgbClr val="75715e"/>
                </a:solidFill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75715e"/>
                </a:solidFill>
                <a:latin typeface="Liberation Mono"/>
                <a:cs typeface="Liberation Mono"/>
              </a:rPr>
              <a:t>N</a:t>
            </a:r>
            <a:r>
              <a:rPr dirty="0" sz="1200" spc="-15">
                <a:solidFill>
                  <a:srgbClr val="75715e"/>
                </a:solidFill>
                <a:latin typeface="DejaVu Sans Mono"/>
                <a:cs typeface="DejaVu Sans Mono"/>
              </a:rPr>
              <a:t>ộ</a:t>
            </a:r>
            <a:r>
              <a:rPr dirty="0" sz="1200">
                <a:solidFill>
                  <a:srgbClr val="75715e"/>
                </a:solidFill>
                <a:latin typeface="Liberation Mono"/>
                <a:cs typeface="Liberation Mono"/>
              </a:rPr>
              <a:t>i</a:t>
            </a:r>
            <a:r>
              <a:rPr dirty="0" sz="1200" spc="-30">
                <a:solidFill>
                  <a:srgbClr val="75715e"/>
                </a:solidFill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75715e"/>
                </a:solidFill>
                <a:latin typeface="Liberation Mono"/>
                <a:cs typeface="Liberation Mono"/>
              </a:rPr>
              <a:t>dung</a:t>
            </a:r>
            <a:r>
              <a:rPr dirty="0" sz="1200" spc="-15">
                <a:solidFill>
                  <a:srgbClr val="75715e"/>
                </a:solidFill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75715e"/>
                </a:solidFill>
                <a:latin typeface="Liberation Mono"/>
                <a:cs typeface="Liberation Mono"/>
              </a:rPr>
              <a:t>c</a:t>
            </a:r>
            <a:r>
              <a:rPr dirty="0" sz="1200" spc="-360">
                <a:solidFill>
                  <a:srgbClr val="75715e"/>
                </a:solidFill>
                <a:latin typeface="DejaVu Sans Mono"/>
                <a:cs typeface="DejaVu Sans Mono"/>
              </a:rPr>
              <a:t>̉u</a:t>
            </a:r>
            <a:r>
              <a:rPr dirty="0" sz="1200">
                <a:solidFill>
                  <a:srgbClr val="75715e"/>
                </a:solidFill>
                <a:latin typeface="Liberation Mono"/>
                <a:cs typeface="Liberation Mono"/>
              </a:rPr>
              <a:t>a</a:t>
            </a:r>
            <a:r>
              <a:rPr dirty="0" sz="1200" spc="-30">
                <a:solidFill>
                  <a:srgbClr val="75715e"/>
                </a:solidFill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75715e"/>
                </a:solidFill>
                <a:latin typeface="Liberation Mono"/>
                <a:cs typeface="Liberation Mono"/>
              </a:rPr>
              <a:t>Card</a:t>
            </a:r>
            <a:r>
              <a:rPr dirty="0" sz="1200" spc="-15">
                <a:solidFill>
                  <a:srgbClr val="75715e"/>
                </a:solidFill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75715e"/>
                </a:solidFill>
                <a:latin typeface="Liberation Mono"/>
                <a:cs typeface="Liberation Mono"/>
              </a:rPr>
              <a:t>--&gt;</a:t>
            </a:r>
          </a:p>
          <a:p>
            <a:pPr marL="0" marR="0">
              <a:lnSpc>
                <a:spcPts val="1332"/>
              </a:lnSpc>
              <a:spcBef>
                <a:spcPts val="317"/>
              </a:spcBef>
              <a:spcAft>
                <a:spcPts val="0"/>
              </a:spcAft>
            </a:pPr>
            <a:r>
              <a:rPr dirty="0" sz="1200" spc="-14">
                <a:solidFill>
                  <a:srgbClr val="e0e0e0"/>
                </a:solidFill>
                <a:latin typeface="Liberation Mono"/>
                <a:cs typeface="Liberation Mono"/>
              </a:rPr>
              <a:t>&lt;</a:t>
            </a:r>
            <a:r>
              <a:rPr dirty="0" sz="1200" spc="-15">
                <a:solidFill>
                  <a:srgbClr val="89ddff"/>
                </a:solidFill>
                <a:latin typeface="Liberation Mono"/>
                <a:cs typeface="Liberation Mono"/>
              </a:rPr>
              <a:t>TextView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79549" y="7569703"/>
            <a:ext cx="4273332" cy="845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716756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f8b44f"/>
                </a:solidFill>
                <a:latin typeface="Liberation Mono"/>
                <a:cs typeface="Liberation Mono"/>
              </a:rPr>
              <a:t>android:layout_width</a:t>
            </a:r>
            <a:r>
              <a:rPr dirty="0" sz="1200" spc="-15">
                <a:solidFill>
                  <a:srgbClr val="e0e0e0"/>
                </a:solidFill>
                <a:latin typeface="Liberation Mono"/>
                <a:cs typeface="Liberation Mono"/>
              </a:rPr>
              <a:t>="</a:t>
            </a:r>
            <a:r>
              <a:rPr dirty="0" sz="1200" spc="-15">
                <a:solidFill>
                  <a:srgbClr val="a6e22e"/>
                </a:solidFill>
                <a:latin typeface="Liberation Mono"/>
                <a:cs typeface="Liberation Mono"/>
              </a:rPr>
              <a:t>"wrap_content"</a:t>
            </a:r>
            <a:r>
              <a:rPr dirty="0" sz="1200">
                <a:solidFill>
                  <a:srgbClr val="e0e0e0"/>
                </a:solidFill>
                <a:latin typeface="Liberation Mono"/>
                <a:cs typeface="Liberation Mono"/>
              </a:rPr>
              <a:t>"</a:t>
            </a:r>
          </a:p>
          <a:p>
            <a:pPr marL="716756" marR="0">
              <a:lnSpc>
                <a:spcPts val="1332"/>
              </a:lnSpc>
              <a:spcBef>
                <a:spcPts val="367"/>
              </a:spcBef>
              <a:spcAft>
                <a:spcPts val="0"/>
              </a:spcAft>
            </a:pPr>
            <a:r>
              <a:rPr dirty="0" sz="1200" spc="-15">
                <a:solidFill>
                  <a:srgbClr val="f8b44f"/>
                </a:solidFill>
                <a:latin typeface="Liberation Mono"/>
                <a:cs typeface="Liberation Mono"/>
              </a:rPr>
              <a:t>android:layout_height</a:t>
            </a:r>
            <a:r>
              <a:rPr dirty="0" sz="1200" spc="-15">
                <a:solidFill>
                  <a:srgbClr val="e0e0e0"/>
                </a:solidFill>
                <a:latin typeface="Liberation Mono"/>
                <a:cs typeface="Liberation Mono"/>
              </a:rPr>
              <a:t>="</a:t>
            </a:r>
            <a:r>
              <a:rPr dirty="0" sz="1200" spc="-15">
                <a:solidFill>
                  <a:srgbClr val="a6e22e"/>
                </a:solidFill>
                <a:latin typeface="Liberation Mono"/>
                <a:cs typeface="Liberation Mono"/>
              </a:rPr>
              <a:t>"wrap_content"</a:t>
            </a:r>
            <a:r>
              <a:rPr dirty="0" sz="1200">
                <a:solidFill>
                  <a:srgbClr val="e0e0e0"/>
                </a:solidFill>
                <a:latin typeface="Liberation Mono"/>
                <a:cs typeface="Liberation Mono"/>
              </a:rPr>
              <a:t>"</a:t>
            </a:r>
          </a:p>
          <a:p>
            <a:pPr marL="716756" marR="0">
              <a:lnSpc>
                <a:spcPts val="1368"/>
              </a:lnSpc>
              <a:spcBef>
                <a:spcPts val="205"/>
              </a:spcBef>
              <a:spcAft>
                <a:spcPts val="0"/>
              </a:spcAft>
            </a:pPr>
            <a:r>
              <a:rPr dirty="0" sz="1200" spc="-15">
                <a:solidFill>
                  <a:srgbClr val="f8b44f"/>
                </a:solidFill>
                <a:latin typeface="Liberation Mono"/>
                <a:cs typeface="Liberation Mono"/>
              </a:rPr>
              <a:t>android:text</a:t>
            </a:r>
            <a:r>
              <a:rPr dirty="0" sz="1200" spc="-15">
                <a:solidFill>
                  <a:srgbClr val="e0e0e0"/>
                </a:solidFill>
                <a:latin typeface="Liberation Mono"/>
                <a:cs typeface="Liberation Mono"/>
              </a:rPr>
              <a:t>="</a:t>
            </a:r>
            <a:r>
              <a:rPr dirty="0" sz="1200" spc="-15">
                <a:solidFill>
                  <a:srgbClr val="a6e22e"/>
                </a:solidFill>
                <a:latin typeface="Liberation Mono"/>
                <a:cs typeface="Liberation Mono"/>
              </a:rPr>
              <a:t>"Ví</a:t>
            </a:r>
            <a:r>
              <a:rPr dirty="0" sz="1200" spc="-15">
                <a:solidFill>
                  <a:srgbClr val="a6e22e"/>
                </a:solidFill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a6e22e"/>
                </a:solidFill>
                <a:latin typeface="Liberation Mono"/>
                <a:cs typeface="Liberation Mono"/>
              </a:rPr>
              <a:t>d</a:t>
            </a:r>
            <a:r>
              <a:rPr dirty="0" sz="1200">
                <a:solidFill>
                  <a:srgbClr val="a6e22e"/>
                </a:solidFill>
                <a:latin typeface="DejaVu Sans Mono"/>
                <a:cs typeface="DejaVu Sans Mono"/>
              </a:rPr>
              <a:t>ụ</a:t>
            </a:r>
            <a:r>
              <a:rPr dirty="0" sz="1200" spc="391">
                <a:solidFill>
                  <a:srgbClr val="a6e22e"/>
                </a:solidFill>
                <a:latin typeface="Times New Roman"/>
                <a:cs typeface="Times New Roman"/>
              </a:rPr>
              <a:t> </a:t>
            </a:r>
            <a:r>
              <a:rPr dirty="0" sz="1200" spc="-15">
                <a:solidFill>
                  <a:srgbClr val="a6e22e"/>
                </a:solidFill>
                <a:latin typeface="Liberation Mono"/>
                <a:cs typeface="Liberation Mono"/>
              </a:rPr>
              <a:t>Card"</a:t>
            </a:r>
            <a:r>
              <a:rPr dirty="0" sz="1200" spc="-15">
                <a:solidFill>
                  <a:srgbClr val="e0e0e0"/>
                </a:solidFill>
                <a:latin typeface="Liberation Mono"/>
                <a:cs typeface="Liberation Mono"/>
              </a:rPr>
              <a:t>"/&gt;</a:t>
            </a:r>
          </a:p>
          <a:p>
            <a:pPr marL="0" marR="0">
              <a:lnSpc>
                <a:spcPts val="1332"/>
              </a:lnSpc>
              <a:spcBef>
                <a:spcPts val="392"/>
              </a:spcBef>
              <a:spcAft>
                <a:spcPts val="0"/>
              </a:spcAft>
            </a:pPr>
            <a:r>
              <a:rPr dirty="0" sz="1200" spc="-15">
                <a:solidFill>
                  <a:srgbClr val="e0e0e0"/>
                </a:solidFill>
                <a:latin typeface="Liberation Mono"/>
                <a:cs typeface="Liberation Mono"/>
              </a:rPr>
              <a:t>&lt;/</a:t>
            </a:r>
            <a:r>
              <a:rPr dirty="0" sz="1200" spc="-15">
                <a:solidFill>
                  <a:srgbClr val="89ddff"/>
                </a:solidFill>
                <a:latin typeface="Liberation Mono"/>
                <a:cs typeface="Liberation Mono"/>
              </a:rPr>
              <a:t>androidx.cardview.widget.CardView</a:t>
            </a:r>
            <a:r>
              <a:rPr dirty="0" sz="1200">
                <a:solidFill>
                  <a:srgbClr val="e0e0e0"/>
                </a:solidFill>
                <a:latin typeface="Liberation Mono"/>
                <a:cs typeface="Liberation Mono"/>
              </a:rPr>
              <a:t>&gt;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7882383" y="8822988"/>
            <a:ext cx="4291472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Nguồn: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Material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Design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for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Android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|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Views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-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Android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Developers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90805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084635" y="346209"/>
            <a:ext cx="8174907" cy="4851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spc="15" b="1">
                <a:solidFill>
                  <a:srgbClr val="e0e0e0"/>
                </a:solidFill>
                <a:latin typeface="DejaVu Sans"/>
                <a:cs typeface="DejaVu Sans"/>
              </a:rPr>
              <a:t>Card</a:t>
            </a:r>
            <a:r>
              <a:rPr dirty="0" sz="3000" b="1">
                <a:solidFill>
                  <a:srgbClr val="00bcd4"/>
                </a:solidFill>
                <a:latin typeface="DejaVu Sans"/>
                <a:cs typeface="DejaVu Sans"/>
              </a:rPr>
              <a:t>View</a:t>
            </a:r>
            <a:r>
              <a:rPr dirty="0" sz="3000" b="1">
                <a:solidFill>
                  <a:srgbClr val="e0e0e0"/>
                </a:solidFill>
                <a:latin typeface="DejaVu Sans"/>
                <a:cs typeface="DejaVu Sans"/>
              </a:rPr>
              <a:t>:</a:t>
            </a:r>
            <a:r>
              <a:rPr dirty="0" sz="3000" spc="18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3000" spc="17" b="1">
                <a:solidFill>
                  <a:srgbClr val="e0e0e0"/>
                </a:solidFill>
                <a:latin typeface="DejaVu Sans"/>
                <a:cs typeface="DejaVu Sans"/>
              </a:rPr>
              <a:t>Nhóm</a:t>
            </a:r>
            <a:r>
              <a:rPr dirty="0" sz="3000" spc="15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3000" spc="18" b="1">
                <a:solidFill>
                  <a:srgbClr val="e0e0e0"/>
                </a:solidFill>
                <a:latin typeface="DejaVu Sans"/>
                <a:cs typeface="DejaVu Sans"/>
              </a:rPr>
              <a:t>Nội</a:t>
            </a:r>
            <a:r>
              <a:rPr dirty="0" sz="3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3000" spc="18" b="1">
                <a:solidFill>
                  <a:srgbClr val="e0e0e0"/>
                </a:solidFill>
                <a:latin typeface="DejaVu Sans"/>
                <a:cs typeface="DejaVu Sans"/>
              </a:rPr>
              <a:t>Dung</a:t>
            </a:r>
            <a:r>
              <a:rPr dirty="0" sz="3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3000" spc="-72" b="1">
                <a:solidFill>
                  <a:srgbClr val="e0e0e0"/>
                </a:solidFill>
                <a:latin typeface="DejaVu Sans"/>
                <a:cs typeface="DejaVu Sans"/>
              </a:rPr>
              <a:t>Trực</a:t>
            </a:r>
            <a:r>
              <a:rPr dirty="0" sz="3000" spc="93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3000" spc="17" b="1">
                <a:solidFill>
                  <a:srgbClr val="e0e0e0"/>
                </a:solidFill>
                <a:latin typeface="DejaVu Sans"/>
                <a:cs typeface="DejaVu Sans"/>
              </a:rPr>
              <a:t>Quan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0999" y="391854"/>
            <a:ext cx="369593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9ca3af"/>
                </a:solidFill>
                <a:latin typeface="DejaVu Sans"/>
                <a:cs typeface="DejaVu Sans"/>
              </a:rPr>
              <a:t>18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17984" y="1115000"/>
            <a:ext cx="3370291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Widget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spc="10" b="1">
                <a:solidFill>
                  <a:srgbClr val="e0e0e0"/>
                </a:solidFill>
                <a:latin typeface="DejaVu Sans"/>
                <a:cs typeface="DejaVu Sans"/>
              </a:rPr>
              <a:t>UI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cơ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bản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của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Android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51556" y="1934904"/>
            <a:ext cx="4221989" cy="75114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Được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sử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dụng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để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nhóm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các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thành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phần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UI,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tạo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ra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các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khối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nội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dung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độc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lập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và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có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thể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tương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tác,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mang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lại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sự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 spc="-31">
                <a:solidFill>
                  <a:srgbClr val="e0e0e0"/>
                </a:solidFill>
                <a:latin typeface="DejaVu Sans"/>
                <a:cs typeface="DejaVu Sans"/>
              </a:rPr>
              <a:t>rõ</a:t>
            </a:r>
            <a:r>
              <a:rPr dirty="0" sz="1350" spc="25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ràng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và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phân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cấp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trực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quan.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8117" y="2860338"/>
            <a:ext cx="1291784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000000"/>
                </a:solidFill>
                <a:latin typeface="DejaVu Sans"/>
                <a:cs typeface="DejaVu Sans"/>
              </a:rPr>
              <a:t>Material</a:t>
            </a:r>
            <a:r>
              <a:rPr dirty="0" sz="1000" b="1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000000"/>
                </a:solidFill>
                <a:latin typeface="DejaVu Sans"/>
                <a:cs typeface="DejaVu Sans"/>
              </a:rPr>
              <a:t>Design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095946" y="2860338"/>
            <a:ext cx="857988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000000"/>
                </a:solidFill>
                <a:latin typeface="DejaVu Sans"/>
                <a:cs typeface="DejaVu Sans"/>
              </a:rPr>
              <a:t>Container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099940" y="2860338"/>
            <a:ext cx="824546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Elevation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51556" y="3610550"/>
            <a:ext cx="1876655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spc="10" b="1">
                <a:solidFill>
                  <a:srgbClr val="ffffff"/>
                </a:solidFill>
                <a:latin typeface="DejaVu Sans"/>
                <a:cs typeface="DejaVu Sans"/>
              </a:rPr>
              <a:t>Ưu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điểm</a:t>
            </a:r>
            <a:r>
              <a:rPr dirty="0" sz="1500" spc="1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nổi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bật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27335" y="4001829"/>
            <a:ext cx="3045945" cy="10083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Nâng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cao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thẩm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mỹ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giao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diện</a:t>
            </a:r>
          </a:p>
          <a:p>
            <a:pPr marL="0" marR="0">
              <a:lnSpc>
                <a:spcPts val="1564"/>
              </a:lnSpc>
              <a:spcBef>
                <a:spcPts val="146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Tạo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bóng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đổ,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góc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bo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dễ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dàng</a:t>
            </a:r>
          </a:p>
          <a:p>
            <a:pPr marL="0" marR="0">
              <a:lnSpc>
                <a:spcPts val="1564"/>
              </a:lnSpc>
              <a:spcBef>
                <a:spcPts val="1435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Cải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thiện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khả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năng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đọc,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tương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tác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51556" y="5392479"/>
            <a:ext cx="2174678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d1d5db"/>
                </a:solidFill>
                <a:latin typeface="DejaVu Sans"/>
                <a:cs typeface="DejaVu Sans"/>
              </a:rPr>
              <a:t>Cấu</a:t>
            </a:r>
            <a:r>
              <a:rPr dirty="0" sz="1350" b="1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 spc="-40" b="1">
                <a:solidFill>
                  <a:srgbClr val="d1d5db"/>
                </a:solidFill>
                <a:latin typeface="DejaVu Sans"/>
                <a:cs typeface="DejaVu Sans"/>
              </a:rPr>
              <a:t>Trúc</a:t>
            </a:r>
            <a:r>
              <a:rPr dirty="0" sz="1350" spc="34" b="1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d1d5db"/>
                </a:solidFill>
                <a:latin typeface="DejaVu Sans"/>
                <a:cs typeface="DejaVu Sans"/>
              </a:rPr>
              <a:t>XML</a:t>
            </a:r>
            <a:r>
              <a:rPr dirty="0" sz="1350" b="1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d1d5db"/>
                </a:solidFill>
                <a:latin typeface="DejaVu Sans"/>
                <a:cs typeface="DejaVu Sans"/>
              </a:rPr>
              <a:t>Cơ</a:t>
            </a:r>
            <a:r>
              <a:rPr dirty="0" sz="1350" b="1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d1d5db"/>
                </a:solidFill>
                <a:latin typeface="DejaVu Sans"/>
                <a:cs typeface="DejaVu Sans"/>
              </a:rPr>
              <a:t>Bản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79549" y="5855202"/>
            <a:ext cx="3914954" cy="84546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e0e0e0"/>
                </a:solidFill>
                <a:latin typeface="Liberation Mono"/>
                <a:cs typeface="Liberation Mono"/>
              </a:rPr>
              <a:t>&lt;</a:t>
            </a:r>
            <a:r>
              <a:rPr dirty="0" sz="1200" spc="-15">
                <a:solidFill>
                  <a:srgbClr val="89ddff"/>
                </a:solidFill>
                <a:latin typeface="Liberation Mono"/>
                <a:cs typeface="Liberation Mono"/>
              </a:rPr>
              <a:t>androidx.cardview.widget.CardView</a:t>
            </a:r>
          </a:p>
          <a:p>
            <a:pPr marL="358378" marR="0">
              <a:lnSpc>
                <a:spcPts val="1332"/>
              </a:lnSpc>
              <a:spcBef>
                <a:spcPts val="442"/>
              </a:spcBef>
              <a:spcAft>
                <a:spcPts val="0"/>
              </a:spcAft>
            </a:pPr>
            <a:r>
              <a:rPr dirty="0" sz="1200" spc="-15">
                <a:solidFill>
                  <a:srgbClr val="f8b44f"/>
                </a:solidFill>
                <a:latin typeface="Liberation Mono"/>
                <a:cs typeface="Liberation Mono"/>
              </a:rPr>
              <a:t>android:layout_width</a:t>
            </a:r>
            <a:r>
              <a:rPr dirty="0" sz="1200" spc="-15">
                <a:solidFill>
                  <a:srgbClr val="e0e0e0"/>
                </a:solidFill>
                <a:latin typeface="Liberation Mono"/>
                <a:cs typeface="Liberation Mono"/>
              </a:rPr>
              <a:t>="</a:t>
            </a:r>
            <a:r>
              <a:rPr dirty="0" sz="1200" spc="-15">
                <a:solidFill>
                  <a:srgbClr val="a6e22e"/>
                </a:solidFill>
                <a:latin typeface="Liberation Mono"/>
                <a:cs typeface="Liberation Mono"/>
              </a:rPr>
              <a:t>"match_parent"</a:t>
            </a:r>
            <a:r>
              <a:rPr dirty="0" sz="1200">
                <a:solidFill>
                  <a:srgbClr val="e0e0e0"/>
                </a:solidFill>
                <a:latin typeface="Liberation Mono"/>
                <a:cs typeface="Liberation Mono"/>
              </a:rPr>
              <a:t>"</a:t>
            </a:r>
          </a:p>
          <a:p>
            <a:pPr marL="358378" marR="0">
              <a:lnSpc>
                <a:spcPts val="1332"/>
              </a:lnSpc>
              <a:spcBef>
                <a:spcPts val="317"/>
              </a:spcBef>
              <a:spcAft>
                <a:spcPts val="0"/>
              </a:spcAft>
            </a:pPr>
            <a:r>
              <a:rPr dirty="0" sz="1200" spc="-15">
                <a:solidFill>
                  <a:srgbClr val="f8b44f"/>
                </a:solidFill>
                <a:latin typeface="Liberation Mono"/>
                <a:cs typeface="Liberation Mono"/>
              </a:rPr>
              <a:t>android:layout_height</a:t>
            </a:r>
            <a:r>
              <a:rPr dirty="0" sz="1200" spc="-15">
                <a:solidFill>
                  <a:srgbClr val="e0e0e0"/>
                </a:solidFill>
                <a:latin typeface="Liberation Mono"/>
                <a:cs typeface="Liberation Mono"/>
              </a:rPr>
              <a:t>="</a:t>
            </a:r>
            <a:r>
              <a:rPr dirty="0" sz="1200" spc="-15">
                <a:solidFill>
                  <a:srgbClr val="a6e22e"/>
                </a:solidFill>
                <a:latin typeface="Liberation Mono"/>
                <a:cs typeface="Liberation Mono"/>
              </a:rPr>
              <a:t>"wrap_content"</a:t>
            </a:r>
            <a:r>
              <a:rPr dirty="0" sz="1200">
                <a:solidFill>
                  <a:srgbClr val="e0e0e0"/>
                </a:solidFill>
                <a:latin typeface="Liberation Mono"/>
                <a:cs typeface="Liberation Mono"/>
              </a:rPr>
              <a:t>"</a:t>
            </a:r>
          </a:p>
          <a:p>
            <a:pPr marL="358378" marR="0">
              <a:lnSpc>
                <a:spcPts val="1332"/>
              </a:lnSpc>
              <a:spcBef>
                <a:spcPts val="367"/>
              </a:spcBef>
              <a:spcAft>
                <a:spcPts val="0"/>
              </a:spcAft>
            </a:pPr>
            <a:r>
              <a:rPr dirty="0" sz="1200" spc="-15">
                <a:solidFill>
                  <a:srgbClr val="f8b44f"/>
                </a:solidFill>
                <a:latin typeface="Liberation Mono"/>
                <a:cs typeface="Liberation Mono"/>
              </a:rPr>
              <a:t>app:cardCornerRadius</a:t>
            </a:r>
            <a:r>
              <a:rPr dirty="0" sz="1200" spc="-15">
                <a:solidFill>
                  <a:srgbClr val="e0e0e0"/>
                </a:solidFill>
                <a:latin typeface="Liberation Mono"/>
                <a:cs typeface="Liberation Mono"/>
              </a:rPr>
              <a:t>="</a:t>
            </a:r>
            <a:r>
              <a:rPr dirty="0" sz="1200" spc="-15">
                <a:solidFill>
                  <a:srgbClr val="a6e22e"/>
                </a:solidFill>
                <a:latin typeface="Liberation Mono"/>
                <a:cs typeface="Liberation Mono"/>
              </a:rPr>
              <a:t>"</a:t>
            </a:r>
            <a:r>
              <a:rPr dirty="0" sz="1200" spc="-15">
                <a:solidFill>
                  <a:srgbClr val="ff9800"/>
                </a:solidFill>
                <a:latin typeface="Liberation Mono"/>
                <a:cs typeface="Liberation Mono"/>
              </a:rPr>
              <a:t>8dp</a:t>
            </a:r>
            <a:r>
              <a:rPr dirty="0" sz="1200" spc="-15">
                <a:solidFill>
                  <a:srgbClr val="a6e22e"/>
                </a:solidFill>
                <a:latin typeface="Liberation Mono"/>
                <a:cs typeface="Liberation Mono"/>
              </a:rPr>
              <a:t>"</a:t>
            </a:r>
            <a:r>
              <a:rPr dirty="0" sz="1200">
                <a:solidFill>
                  <a:srgbClr val="e0e0e0"/>
                </a:solidFill>
                <a:latin typeface="Liberation Mono"/>
                <a:cs typeface="Liberation Mono"/>
              </a:rPr>
              <a:t>"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7601246" y="6248220"/>
            <a:ext cx="2156770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4" b="1">
                <a:solidFill>
                  <a:srgbClr val="e0e0e0"/>
                </a:solidFill>
                <a:latin typeface="DejaVu Sans"/>
                <a:cs typeface="DejaVu Sans"/>
              </a:rPr>
              <a:t>Thuộc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0" b="1">
                <a:solidFill>
                  <a:srgbClr val="e0e0e0"/>
                </a:solidFill>
                <a:latin typeface="DejaVu Sans"/>
                <a:cs typeface="DejaVu Sans"/>
              </a:rPr>
              <a:t>tính</a:t>
            </a:r>
            <a:r>
              <a:rPr dirty="0" sz="1700" spc="-1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1" b="1">
                <a:solidFill>
                  <a:srgbClr val="e0e0e0"/>
                </a:solidFill>
                <a:latin typeface="DejaVu Sans"/>
                <a:cs typeface="DejaVu Sans"/>
              </a:rPr>
              <a:t>chính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7835800" y="6668829"/>
            <a:ext cx="3258859" cy="10083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ffffff"/>
                </a:solidFill>
                <a:latin typeface="DejaVu Sans"/>
                <a:cs typeface="DejaVu Sans"/>
              </a:rPr>
              <a:t>cardCornerRadius:</a:t>
            </a:r>
            <a:r>
              <a:rPr dirty="0" sz="1350" spc="-4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Độ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bo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 spc="-12">
                <a:solidFill>
                  <a:srgbClr val="d1d5db"/>
                </a:solidFill>
                <a:latin typeface="DejaVu Sans"/>
                <a:cs typeface="DejaVu Sans"/>
              </a:rPr>
              <a:t>tròn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góc</a:t>
            </a:r>
          </a:p>
          <a:p>
            <a:pPr marL="0" marR="0">
              <a:lnSpc>
                <a:spcPts val="1564"/>
              </a:lnSpc>
              <a:spcBef>
                <a:spcPts val="1460"/>
              </a:spcBef>
              <a:spcAft>
                <a:spcPts val="0"/>
              </a:spcAft>
            </a:pPr>
            <a:r>
              <a:rPr dirty="0" sz="1350" b="1">
                <a:solidFill>
                  <a:srgbClr val="ffffff"/>
                </a:solidFill>
                <a:latin typeface="DejaVu Sans"/>
                <a:cs typeface="DejaVu Sans"/>
              </a:rPr>
              <a:t>cardElevation:</a:t>
            </a:r>
            <a:r>
              <a:rPr dirty="0" sz="1350" spc="-4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Độ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cao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đổ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bóng</a:t>
            </a:r>
          </a:p>
          <a:p>
            <a:pPr marL="0" marR="0">
              <a:lnSpc>
                <a:spcPts val="1564"/>
              </a:lnSpc>
              <a:spcBef>
                <a:spcPts val="1435"/>
              </a:spcBef>
              <a:spcAft>
                <a:spcPts val="0"/>
              </a:spcAft>
            </a:pPr>
            <a:r>
              <a:rPr dirty="0" sz="1350" b="1">
                <a:solidFill>
                  <a:srgbClr val="ffffff"/>
                </a:solidFill>
                <a:latin typeface="DejaVu Sans"/>
                <a:cs typeface="DejaVu Sans"/>
              </a:rPr>
              <a:t>cardBackgroundColor:</a:t>
            </a:r>
            <a:r>
              <a:rPr dirty="0" sz="1350" spc="-4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Màu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nền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037927" y="6712453"/>
            <a:ext cx="2482669" cy="20728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f8b44f"/>
                </a:solidFill>
                <a:latin typeface="Liberation Mono"/>
                <a:cs typeface="Liberation Mono"/>
              </a:rPr>
              <a:t>app:cardElevation</a:t>
            </a:r>
            <a:r>
              <a:rPr dirty="0" sz="1200" spc="-15">
                <a:solidFill>
                  <a:srgbClr val="e0e0e0"/>
                </a:solidFill>
                <a:latin typeface="Liberation Mono"/>
                <a:cs typeface="Liberation Mono"/>
              </a:rPr>
              <a:t>="</a:t>
            </a:r>
            <a:r>
              <a:rPr dirty="0" sz="1200" spc="-15">
                <a:solidFill>
                  <a:srgbClr val="a6e22e"/>
                </a:solidFill>
                <a:latin typeface="Liberation Mono"/>
                <a:cs typeface="Liberation Mono"/>
              </a:rPr>
              <a:t>"</a:t>
            </a:r>
            <a:r>
              <a:rPr dirty="0" sz="1200" spc="-15">
                <a:solidFill>
                  <a:srgbClr val="00bcd4"/>
                </a:solidFill>
                <a:latin typeface="Liberation Mono"/>
                <a:cs typeface="Liberation Mono"/>
              </a:rPr>
              <a:t>4dp</a:t>
            </a:r>
            <a:r>
              <a:rPr dirty="0" sz="1200" spc="-15">
                <a:solidFill>
                  <a:srgbClr val="a6e22e"/>
                </a:solidFill>
                <a:latin typeface="Liberation Mono"/>
                <a:cs typeface="Liberation Mono"/>
              </a:rPr>
              <a:t>"</a:t>
            </a:r>
            <a:r>
              <a:rPr dirty="0" sz="1200" spc="-15">
                <a:solidFill>
                  <a:srgbClr val="e0e0e0"/>
                </a:solidFill>
                <a:latin typeface="Liberation Mono"/>
                <a:cs typeface="Liberation Mono"/>
              </a:rPr>
              <a:t>"&gt;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037866" y="7126784"/>
            <a:ext cx="2482154" cy="43113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6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75715e"/>
                </a:solidFill>
                <a:latin typeface="Liberation Mono"/>
                <a:cs typeface="Liberation Mono"/>
              </a:rPr>
              <a:t>&lt;!--</a:t>
            </a:r>
            <a:r>
              <a:rPr dirty="0" sz="1200" spc="-15">
                <a:solidFill>
                  <a:srgbClr val="75715e"/>
                </a:solidFill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75715e"/>
                </a:solidFill>
                <a:latin typeface="Liberation Mono"/>
                <a:cs typeface="Liberation Mono"/>
              </a:rPr>
              <a:t>N</a:t>
            </a:r>
            <a:r>
              <a:rPr dirty="0" sz="1200" spc="-15">
                <a:solidFill>
                  <a:srgbClr val="75715e"/>
                </a:solidFill>
                <a:latin typeface="DejaVu Sans Mono"/>
                <a:cs typeface="DejaVu Sans Mono"/>
              </a:rPr>
              <a:t>ộ</a:t>
            </a:r>
            <a:r>
              <a:rPr dirty="0" sz="1200">
                <a:solidFill>
                  <a:srgbClr val="75715e"/>
                </a:solidFill>
                <a:latin typeface="Liberation Mono"/>
                <a:cs typeface="Liberation Mono"/>
              </a:rPr>
              <a:t>i</a:t>
            </a:r>
            <a:r>
              <a:rPr dirty="0" sz="1200" spc="-30">
                <a:solidFill>
                  <a:srgbClr val="75715e"/>
                </a:solidFill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75715e"/>
                </a:solidFill>
                <a:latin typeface="Liberation Mono"/>
                <a:cs typeface="Liberation Mono"/>
              </a:rPr>
              <a:t>dung</a:t>
            </a:r>
            <a:r>
              <a:rPr dirty="0" sz="1200" spc="-15">
                <a:solidFill>
                  <a:srgbClr val="75715e"/>
                </a:solidFill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75715e"/>
                </a:solidFill>
                <a:latin typeface="Liberation Mono"/>
                <a:cs typeface="Liberation Mono"/>
              </a:rPr>
              <a:t>c</a:t>
            </a:r>
            <a:r>
              <a:rPr dirty="0" sz="1200" spc="-360">
                <a:solidFill>
                  <a:srgbClr val="75715e"/>
                </a:solidFill>
                <a:latin typeface="DejaVu Sans Mono"/>
                <a:cs typeface="DejaVu Sans Mono"/>
              </a:rPr>
              <a:t>̉u</a:t>
            </a:r>
            <a:r>
              <a:rPr dirty="0" sz="1200">
                <a:solidFill>
                  <a:srgbClr val="75715e"/>
                </a:solidFill>
                <a:latin typeface="Liberation Mono"/>
                <a:cs typeface="Liberation Mono"/>
              </a:rPr>
              <a:t>a</a:t>
            </a:r>
            <a:r>
              <a:rPr dirty="0" sz="1200" spc="-30">
                <a:solidFill>
                  <a:srgbClr val="75715e"/>
                </a:solidFill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75715e"/>
                </a:solidFill>
                <a:latin typeface="Liberation Mono"/>
                <a:cs typeface="Liberation Mono"/>
              </a:rPr>
              <a:t>Card</a:t>
            </a:r>
            <a:r>
              <a:rPr dirty="0" sz="1200" spc="-15">
                <a:solidFill>
                  <a:srgbClr val="75715e"/>
                </a:solidFill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75715e"/>
                </a:solidFill>
                <a:latin typeface="Liberation Mono"/>
                <a:cs typeface="Liberation Mono"/>
              </a:rPr>
              <a:t>--&gt;</a:t>
            </a:r>
          </a:p>
          <a:p>
            <a:pPr marL="0" marR="0">
              <a:lnSpc>
                <a:spcPts val="1332"/>
              </a:lnSpc>
              <a:spcBef>
                <a:spcPts val="317"/>
              </a:spcBef>
              <a:spcAft>
                <a:spcPts val="0"/>
              </a:spcAft>
            </a:pPr>
            <a:r>
              <a:rPr dirty="0" sz="1200" spc="-14">
                <a:solidFill>
                  <a:srgbClr val="e0e0e0"/>
                </a:solidFill>
                <a:latin typeface="Liberation Mono"/>
                <a:cs typeface="Liberation Mono"/>
              </a:rPr>
              <a:t>&lt;</a:t>
            </a:r>
            <a:r>
              <a:rPr dirty="0" sz="1200" spc="-15">
                <a:solidFill>
                  <a:srgbClr val="89ddff"/>
                </a:solidFill>
                <a:latin typeface="Liberation Mono"/>
                <a:cs typeface="Liberation Mono"/>
              </a:rPr>
              <a:t>TextView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79549" y="7569703"/>
            <a:ext cx="4273332" cy="845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716756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f8b44f"/>
                </a:solidFill>
                <a:latin typeface="Liberation Mono"/>
                <a:cs typeface="Liberation Mono"/>
              </a:rPr>
              <a:t>android:layout_width</a:t>
            </a:r>
            <a:r>
              <a:rPr dirty="0" sz="1200" spc="-15">
                <a:solidFill>
                  <a:srgbClr val="e0e0e0"/>
                </a:solidFill>
                <a:latin typeface="Liberation Mono"/>
                <a:cs typeface="Liberation Mono"/>
              </a:rPr>
              <a:t>="</a:t>
            </a:r>
            <a:r>
              <a:rPr dirty="0" sz="1200" spc="-15">
                <a:solidFill>
                  <a:srgbClr val="a6e22e"/>
                </a:solidFill>
                <a:latin typeface="Liberation Mono"/>
                <a:cs typeface="Liberation Mono"/>
              </a:rPr>
              <a:t>"wrap_content"</a:t>
            </a:r>
            <a:r>
              <a:rPr dirty="0" sz="1200">
                <a:solidFill>
                  <a:srgbClr val="e0e0e0"/>
                </a:solidFill>
                <a:latin typeface="Liberation Mono"/>
                <a:cs typeface="Liberation Mono"/>
              </a:rPr>
              <a:t>"</a:t>
            </a:r>
          </a:p>
          <a:p>
            <a:pPr marL="716756" marR="0">
              <a:lnSpc>
                <a:spcPts val="1332"/>
              </a:lnSpc>
              <a:spcBef>
                <a:spcPts val="367"/>
              </a:spcBef>
              <a:spcAft>
                <a:spcPts val="0"/>
              </a:spcAft>
            </a:pPr>
            <a:r>
              <a:rPr dirty="0" sz="1200" spc="-15">
                <a:solidFill>
                  <a:srgbClr val="f8b44f"/>
                </a:solidFill>
                <a:latin typeface="Liberation Mono"/>
                <a:cs typeface="Liberation Mono"/>
              </a:rPr>
              <a:t>android:layout_height</a:t>
            </a:r>
            <a:r>
              <a:rPr dirty="0" sz="1200" spc="-15">
                <a:solidFill>
                  <a:srgbClr val="e0e0e0"/>
                </a:solidFill>
                <a:latin typeface="Liberation Mono"/>
                <a:cs typeface="Liberation Mono"/>
              </a:rPr>
              <a:t>="</a:t>
            </a:r>
            <a:r>
              <a:rPr dirty="0" sz="1200" spc="-15">
                <a:solidFill>
                  <a:srgbClr val="a6e22e"/>
                </a:solidFill>
                <a:latin typeface="Liberation Mono"/>
                <a:cs typeface="Liberation Mono"/>
              </a:rPr>
              <a:t>"wrap_content"</a:t>
            </a:r>
            <a:r>
              <a:rPr dirty="0" sz="1200">
                <a:solidFill>
                  <a:srgbClr val="e0e0e0"/>
                </a:solidFill>
                <a:latin typeface="Liberation Mono"/>
                <a:cs typeface="Liberation Mono"/>
              </a:rPr>
              <a:t>"</a:t>
            </a:r>
          </a:p>
          <a:p>
            <a:pPr marL="716756" marR="0">
              <a:lnSpc>
                <a:spcPts val="1368"/>
              </a:lnSpc>
              <a:spcBef>
                <a:spcPts val="205"/>
              </a:spcBef>
              <a:spcAft>
                <a:spcPts val="0"/>
              </a:spcAft>
            </a:pPr>
            <a:r>
              <a:rPr dirty="0" sz="1200" spc="-15">
                <a:solidFill>
                  <a:srgbClr val="f8b44f"/>
                </a:solidFill>
                <a:latin typeface="Liberation Mono"/>
                <a:cs typeface="Liberation Mono"/>
              </a:rPr>
              <a:t>android:text</a:t>
            </a:r>
            <a:r>
              <a:rPr dirty="0" sz="1200" spc="-15">
                <a:solidFill>
                  <a:srgbClr val="e0e0e0"/>
                </a:solidFill>
                <a:latin typeface="Liberation Mono"/>
                <a:cs typeface="Liberation Mono"/>
              </a:rPr>
              <a:t>="</a:t>
            </a:r>
            <a:r>
              <a:rPr dirty="0" sz="1200" spc="-15">
                <a:solidFill>
                  <a:srgbClr val="a6e22e"/>
                </a:solidFill>
                <a:latin typeface="Liberation Mono"/>
                <a:cs typeface="Liberation Mono"/>
              </a:rPr>
              <a:t>"Ví</a:t>
            </a:r>
            <a:r>
              <a:rPr dirty="0" sz="1200" spc="-15">
                <a:solidFill>
                  <a:srgbClr val="a6e22e"/>
                </a:solidFill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a6e22e"/>
                </a:solidFill>
                <a:latin typeface="Liberation Mono"/>
                <a:cs typeface="Liberation Mono"/>
              </a:rPr>
              <a:t>d</a:t>
            </a:r>
            <a:r>
              <a:rPr dirty="0" sz="1200">
                <a:solidFill>
                  <a:srgbClr val="a6e22e"/>
                </a:solidFill>
                <a:latin typeface="DejaVu Sans Mono"/>
                <a:cs typeface="DejaVu Sans Mono"/>
              </a:rPr>
              <a:t>ụ</a:t>
            </a:r>
            <a:r>
              <a:rPr dirty="0" sz="1200" spc="391">
                <a:solidFill>
                  <a:srgbClr val="a6e22e"/>
                </a:solidFill>
                <a:latin typeface="Times New Roman"/>
                <a:cs typeface="Times New Roman"/>
              </a:rPr>
              <a:t> </a:t>
            </a:r>
            <a:r>
              <a:rPr dirty="0" sz="1200" spc="-15">
                <a:solidFill>
                  <a:srgbClr val="a6e22e"/>
                </a:solidFill>
                <a:latin typeface="Liberation Mono"/>
                <a:cs typeface="Liberation Mono"/>
              </a:rPr>
              <a:t>Card"</a:t>
            </a:r>
            <a:r>
              <a:rPr dirty="0" sz="1200" spc="-15">
                <a:solidFill>
                  <a:srgbClr val="e0e0e0"/>
                </a:solidFill>
                <a:latin typeface="Liberation Mono"/>
                <a:cs typeface="Liberation Mono"/>
              </a:rPr>
              <a:t>"/&gt;</a:t>
            </a:r>
          </a:p>
          <a:p>
            <a:pPr marL="0" marR="0">
              <a:lnSpc>
                <a:spcPts val="1332"/>
              </a:lnSpc>
              <a:spcBef>
                <a:spcPts val="392"/>
              </a:spcBef>
              <a:spcAft>
                <a:spcPts val="0"/>
              </a:spcAft>
            </a:pPr>
            <a:r>
              <a:rPr dirty="0" sz="1200" spc="-15">
                <a:solidFill>
                  <a:srgbClr val="e0e0e0"/>
                </a:solidFill>
                <a:latin typeface="Liberation Mono"/>
                <a:cs typeface="Liberation Mono"/>
              </a:rPr>
              <a:t>&lt;/</a:t>
            </a:r>
            <a:r>
              <a:rPr dirty="0" sz="1200" spc="-15">
                <a:solidFill>
                  <a:srgbClr val="89ddff"/>
                </a:solidFill>
                <a:latin typeface="Liberation Mono"/>
                <a:cs typeface="Liberation Mono"/>
              </a:rPr>
              <a:t>androidx.cardview.widget.CardView</a:t>
            </a:r>
            <a:r>
              <a:rPr dirty="0" sz="1200">
                <a:solidFill>
                  <a:srgbClr val="e0e0e0"/>
                </a:solidFill>
                <a:latin typeface="Liberation Mono"/>
                <a:cs typeface="Liberation Mono"/>
              </a:rPr>
              <a:t>&gt;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7882383" y="8822988"/>
            <a:ext cx="4291472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Nguồn: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Material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Design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for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Android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|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Views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-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Android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Developers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86995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26690" y="436931"/>
            <a:ext cx="5197439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4" b="1">
                <a:solidFill>
                  <a:srgbClr val="e0e0e0"/>
                </a:solidFill>
                <a:latin typeface="DejaVu Sans"/>
                <a:cs typeface="DejaVu Sans"/>
              </a:rPr>
              <a:t>AppBar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b="1">
                <a:solidFill>
                  <a:srgbClr val="00bcd4"/>
                </a:solidFill>
                <a:latin typeface="DejaVu Sans"/>
                <a:cs typeface="DejaVu Sans"/>
              </a:rPr>
              <a:t>&amp;</a:t>
            </a:r>
            <a:r>
              <a:rPr dirty="0" sz="4050" spc="-23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4050" spc="-87" b="1">
                <a:solidFill>
                  <a:srgbClr val="00bcd4"/>
                </a:solidFill>
                <a:latin typeface="DejaVu Sans"/>
                <a:cs typeface="DejaVu Sans"/>
              </a:rPr>
              <a:t>Toolbar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415831" y="1457145"/>
            <a:ext cx="2343382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 b="1">
                <a:solidFill>
                  <a:srgbClr val="ffffff"/>
                </a:solidFill>
                <a:latin typeface="DejaVu Sans"/>
                <a:cs typeface="DejaVu Sans"/>
              </a:rPr>
              <a:t>Cấu</a:t>
            </a:r>
            <a:r>
              <a:rPr dirty="0" sz="17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700" spc="-11" b="1">
                <a:solidFill>
                  <a:srgbClr val="ffffff"/>
                </a:solidFill>
                <a:latin typeface="DejaVu Sans"/>
                <a:cs typeface="DejaVu Sans"/>
              </a:rPr>
              <a:t>trúc</a:t>
            </a:r>
            <a:r>
              <a:rPr dirty="0" sz="17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700" spc="-18" b="1">
                <a:solidFill>
                  <a:srgbClr val="ffffff"/>
                </a:solidFill>
                <a:latin typeface="DejaVu Sans"/>
                <a:cs typeface="DejaVu Sans"/>
              </a:rPr>
              <a:t>XML</a:t>
            </a:r>
            <a:r>
              <a:rPr dirty="0" sz="17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700" spc="-18" b="1">
                <a:solidFill>
                  <a:srgbClr val="ffffff"/>
                </a:solidFill>
                <a:latin typeface="DejaVu Sans"/>
                <a:cs typeface="DejaVu Sans"/>
              </a:rPr>
              <a:t>mẫu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586387" y="2054727"/>
            <a:ext cx="4454437" cy="84546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cbd5e1"/>
                </a:solidFill>
                <a:latin typeface="Liberation Mono"/>
                <a:cs typeface="Liberation Mono"/>
              </a:rPr>
              <a:t>&lt;com.google.android.material.appbar.AppBarLayout</a:t>
            </a:r>
          </a:p>
          <a:p>
            <a:pPr marL="358317" marR="0">
              <a:lnSpc>
                <a:spcPts val="1332"/>
              </a:lnSpc>
              <a:spcBef>
                <a:spcPts val="367"/>
              </a:spcBef>
              <a:spcAft>
                <a:spcPts val="0"/>
              </a:spcAft>
            </a:pPr>
            <a:r>
              <a:rPr dirty="0" sz="1200" spc="-15">
                <a:solidFill>
                  <a:srgbClr val="cbd5e1"/>
                </a:solidFill>
                <a:latin typeface="Liberation Mono"/>
                <a:cs typeface="Liberation Mono"/>
              </a:rPr>
              <a:t>android:layout_width="match_parent"</a:t>
            </a:r>
          </a:p>
          <a:p>
            <a:pPr marL="358317" marR="0">
              <a:lnSpc>
                <a:spcPts val="1332"/>
              </a:lnSpc>
              <a:spcBef>
                <a:spcPts val="392"/>
              </a:spcBef>
              <a:spcAft>
                <a:spcPts val="0"/>
              </a:spcAft>
            </a:pPr>
            <a:r>
              <a:rPr dirty="0" sz="1200" spc="-15">
                <a:solidFill>
                  <a:srgbClr val="cbd5e1"/>
                </a:solidFill>
                <a:latin typeface="Liberation Mono"/>
                <a:cs typeface="Liberation Mono"/>
              </a:rPr>
              <a:t>android:layout_height="wrap_content"&gt;</a:t>
            </a:r>
          </a:p>
          <a:p>
            <a:pPr marL="358317" marR="0">
              <a:lnSpc>
                <a:spcPts val="1332"/>
              </a:lnSpc>
              <a:spcBef>
                <a:spcPts val="367"/>
              </a:spcBef>
              <a:spcAft>
                <a:spcPts val="0"/>
              </a:spcAft>
            </a:pPr>
            <a:r>
              <a:rPr dirty="0" sz="1200" spc="-15">
                <a:solidFill>
                  <a:srgbClr val="cbd5e1"/>
                </a:solidFill>
                <a:latin typeface="Liberation Mono"/>
                <a:cs typeface="Liberation Mono"/>
              </a:rPr>
              <a:t>&lt;androidx.appcompat.widget.Toolbar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20774" y="2808186"/>
            <a:ext cx="2414777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2" b="1">
                <a:solidFill>
                  <a:srgbClr val="ffffff"/>
                </a:solidFill>
                <a:latin typeface="DejaVu Sans"/>
                <a:cs typeface="DejaVu Sans"/>
              </a:rPr>
              <a:t>Mục</a:t>
            </a:r>
            <a:r>
              <a:rPr dirty="0" sz="2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ffffff"/>
                </a:solidFill>
                <a:latin typeface="DejaVu Sans"/>
                <a:cs typeface="DejaVu Sans"/>
              </a:rPr>
              <a:t>đích</a:t>
            </a:r>
            <a:r>
              <a:rPr dirty="0" sz="2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ffffff"/>
                </a:solidFill>
                <a:latin typeface="DejaVu Sans"/>
                <a:cs typeface="DejaVu Sans"/>
              </a:rPr>
              <a:t>cốt</a:t>
            </a:r>
            <a:r>
              <a:rPr dirty="0" sz="2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ffffff"/>
                </a:solidFill>
                <a:latin typeface="DejaVu Sans"/>
                <a:cs typeface="DejaVu Sans"/>
              </a:rPr>
              <a:t>lõi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303023" y="2911977"/>
            <a:ext cx="2303418" cy="20728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cbd5e1"/>
                </a:solidFill>
                <a:latin typeface="Liberation Mono"/>
                <a:cs typeface="Liberation Mono"/>
              </a:rPr>
              <a:t>android:id="@id/toolbar"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586387" y="3121527"/>
            <a:ext cx="4900155" cy="63591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716635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cbd5e1"/>
                </a:solidFill>
                <a:latin typeface="Liberation Mono"/>
                <a:cs typeface="Liberation Mono"/>
              </a:rPr>
              <a:t>android:layout_width="match_parent"</a:t>
            </a:r>
          </a:p>
          <a:p>
            <a:pPr marL="716635" marR="0">
              <a:lnSpc>
                <a:spcPts val="1332"/>
              </a:lnSpc>
              <a:spcBef>
                <a:spcPts val="367"/>
              </a:spcBef>
              <a:spcAft>
                <a:spcPts val="0"/>
              </a:spcAft>
            </a:pPr>
            <a:r>
              <a:rPr dirty="0" sz="1200" spc="-15">
                <a:solidFill>
                  <a:srgbClr val="cbd5e1"/>
                </a:solidFill>
                <a:latin typeface="Liberation Mono"/>
                <a:cs typeface="Liberation Mono"/>
              </a:rPr>
              <a:t>android:layout_height="?attr/actionBarSize"/&gt;</a:t>
            </a:r>
          </a:p>
          <a:p>
            <a:pPr marL="0" marR="0">
              <a:lnSpc>
                <a:spcPts val="1332"/>
              </a:lnSpc>
              <a:spcBef>
                <a:spcPts val="392"/>
              </a:spcBef>
              <a:spcAft>
                <a:spcPts val="0"/>
              </a:spcAft>
            </a:pPr>
            <a:r>
              <a:rPr dirty="0" sz="1200" spc="-15">
                <a:solidFill>
                  <a:srgbClr val="cbd5e1"/>
                </a:solidFill>
                <a:latin typeface="Liberation Mono"/>
                <a:cs typeface="Liberation Mono"/>
              </a:rPr>
              <a:t>&lt;/com.google.android.material.appbar.AppBarLayout&gt;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385738" y="3449379"/>
            <a:ext cx="3445698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Cung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cấp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thanh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điều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hướng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nhất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quán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385738" y="4087554"/>
            <a:ext cx="3219927" cy="874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Có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thể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chứa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menu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&amp;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các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hành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động</a:t>
            </a:r>
          </a:p>
          <a:p>
            <a:pPr marL="0" marR="0">
              <a:lnSpc>
                <a:spcPts val="1564"/>
              </a:lnSpc>
              <a:spcBef>
                <a:spcPts val="341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Hỗ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trợ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các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hành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động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chính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119168" y="6202104"/>
            <a:ext cx="1881753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94a3b8"/>
                </a:solidFill>
                <a:latin typeface="DejaVu Sans"/>
                <a:cs typeface="DejaVu Sans"/>
              </a:rPr>
              <a:t>Ví</a:t>
            </a:r>
            <a:r>
              <a:rPr dirty="0" sz="1350" b="1">
                <a:solidFill>
                  <a:srgbClr val="94a3b8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94a3b8"/>
                </a:solidFill>
                <a:latin typeface="DejaVu Sans"/>
                <a:cs typeface="DejaVu Sans"/>
              </a:rPr>
              <a:t>dụ</a:t>
            </a:r>
            <a:r>
              <a:rPr dirty="0" sz="1350" b="1">
                <a:solidFill>
                  <a:srgbClr val="94a3b8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94a3b8"/>
                </a:solidFill>
                <a:latin typeface="DejaVu Sans"/>
                <a:cs typeface="DejaVu Sans"/>
              </a:rPr>
              <a:t>vị</a:t>
            </a:r>
            <a:r>
              <a:rPr dirty="0" sz="1350" b="1">
                <a:solidFill>
                  <a:srgbClr val="94a3b8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94a3b8"/>
                </a:solidFill>
                <a:latin typeface="DejaVu Sans"/>
                <a:cs typeface="DejaVu Sans"/>
              </a:rPr>
              <a:t>trí</a:t>
            </a:r>
            <a:r>
              <a:rPr dirty="0" sz="1350" b="1">
                <a:solidFill>
                  <a:srgbClr val="94a3b8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94a3b8"/>
                </a:solidFill>
                <a:latin typeface="DejaVu Sans"/>
                <a:cs typeface="DejaVu Sans"/>
              </a:rPr>
              <a:t>trên</a:t>
            </a:r>
            <a:r>
              <a:rPr dirty="0" sz="1350" b="1">
                <a:solidFill>
                  <a:srgbClr val="94a3b8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94a3b8"/>
                </a:solidFill>
                <a:latin typeface="DejaVu Sans"/>
                <a:cs typeface="DejaVu Sans"/>
              </a:rPr>
              <a:t>UI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20774" y="7094436"/>
            <a:ext cx="6386677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1" b="1">
                <a:solidFill>
                  <a:srgbClr val="ffffff"/>
                </a:solidFill>
                <a:latin typeface="DejaVu Sans"/>
                <a:cs typeface="DejaVu Sans"/>
              </a:rPr>
              <a:t>Nâng</a:t>
            </a:r>
            <a:r>
              <a:rPr dirty="0" sz="2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ffffff"/>
                </a:solidFill>
                <a:latin typeface="DejaVu Sans"/>
                <a:cs typeface="DejaVu Sans"/>
              </a:rPr>
              <a:t>tầm</a:t>
            </a:r>
            <a:r>
              <a:rPr dirty="0" sz="2000" spc="12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ffffff"/>
                </a:solidFill>
                <a:latin typeface="DejaVu Sans"/>
                <a:cs typeface="DejaVu Sans"/>
              </a:rPr>
              <a:t>trải</a:t>
            </a:r>
            <a:r>
              <a:rPr dirty="0" sz="2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ffffff"/>
                </a:solidFill>
                <a:latin typeface="DejaVu Sans"/>
                <a:cs typeface="DejaVu Sans"/>
              </a:rPr>
              <a:t>nghiệm</a:t>
            </a:r>
            <a:r>
              <a:rPr dirty="0" sz="2000" spc="11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ffffff"/>
                </a:solidFill>
                <a:latin typeface="DejaVu Sans"/>
                <a:cs typeface="DejaVu Sans"/>
              </a:rPr>
              <a:t>với</a:t>
            </a:r>
            <a:r>
              <a:rPr dirty="0" sz="2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ffffff"/>
                </a:solidFill>
                <a:latin typeface="DejaVu Sans"/>
                <a:cs typeface="DejaVu Sans"/>
              </a:rPr>
              <a:t>AppBar</a:t>
            </a:r>
            <a:r>
              <a:rPr dirty="0" sz="2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ffffff"/>
                </a:solidFill>
                <a:latin typeface="DejaVu Sans"/>
                <a:cs typeface="DejaVu Sans"/>
              </a:rPr>
              <a:t>&amp;</a:t>
            </a:r>
            <a:r>
              <a:rPr dirty="0" sz="2000" spc="18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ffffff"/>
                </a:solidFill>
                <a:latin typeface="DejaVu Sans"/>
                <a:cs typeface="DejaVu Sans"/>
              </a:rPr>
              <a:t>Motion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172616" y="7716579"/>
            <a:ext cx="2076534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Tối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ưu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hóa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phản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hồi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UI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825602" y="7716579"/>
            <a:ext cx="3024218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Điều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hướng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trực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quan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&amp;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mượt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mà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478588" y="7716579"/>
            <a:ext cx="3068092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Tích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hợp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với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Material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Components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3819375" y="8441988"/>
            <a:ext cx="8354412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Source: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Material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Design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for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Android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|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Views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-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Android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Developers,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Building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Beautiful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 spc="-10">
                <a:solidFill>
                  <a:srgbClr val="6b7280"/>
                </a:solidFill>
                <a:latin typeface="DejaVu Sans"/>
                <a:cs typeface="DejaVu Sans"/>
              </a:rPr>
              <a:t>Transitions</a:t>
            </a:r>
            <a:r>
              <a:rPr dirty="0" sz="1000" spc="17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with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Material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Motion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for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Android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86995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26690" y="436931"/>
            <a:ext cx="5197439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4" b="1">
                <a:solidFill>
                  <a:srgbClr val="e0e0e0"/>
                </a:solidFill>
                <a:latin typeface="DejaVu Sans"/>
                <a:cs typeface="DejaVu Sans"/>
              </a:rPr>
              <a:t>AppBar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b="1">
                <a:solidFill>
                  <a:srgbClr val="00bcd4"/>
                </a:solidFill>
                <a:latin typeface="DejaVu Sans"/>
                <a:cs typeface="DejaVu Sans"/>
              </a:rPr>
              <a:t>&amp;</a:t>
            </a:r>
            <a:r>
              <a:rPr dirty="0" sz="4050" spc="-23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4050" spc="-87" b="1">
                <a:solidFill>
                  <a:srgbClr val="00bcd4"/>
                </a:solidFill>
                <a:latin typeface="DejaVu Sans"/>
                <a:cs typeface="DejaVu Sans"/>
              </a:rPr>
              <a:t>Toolbar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415831" y="1457145"/>
            <a:ext cx="2343382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 b="1">
                <a:solidFill>
                  <a:srgbClr val="ffffff"/>
                </a:solidFill>
                <a:latin typeface="DejaVu Sans"/>
                <a:cs typeface="DejaVu Sans"/>
              </a:rPr>
              <a:t>Cấu</a:t>
            </a:r>
            <a:r>
              <a:rPr dirty="0" sz="17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700" spc="-11" b="1">
                <a:solidFill>
                  <a:srgbClr val="ffffff"/>
                </a:solidFill>
                <a:latin typeface="DejaVu Sans"/>
                <a:cs typeface="DejaVu Sans"/>
              </a:rPr>
              <a:t>trúc</a:t>
            </a:r>
            <a:r>
              <a:rPr dirty="0" sz="17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700" spc="-18" b="1">
                <a:solidFill>
                  <a:srgbClr val="ffffff"/>
                </a:solidFill>
                <a:latin typeface="DejaVu Sans"/>
                <a:cs typeface="DejaVu Sans"/>
              </a:rPr>
              <a:t>XML</a:t>
            </a:r>
            <a:r>
              <a:rPr dirty="0" sz="17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700" spc="-18" b="1">
                <a:solidFill>
                  <a:srgbClr val="ffffff"/>
                </a:solidFill>
                <a:latin typeface="DejaVu Sans"/>
                <a:cs typeface="DejaVu Sans"/>
              </a:rPr>
              <a:t>mẫu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586387" y="2054727"/>
            <a:ext cx="4454437" cy="84546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cbd5e1"/>
                </a:solidFill>
                <a:latin typeface="Liberation Mono"/>
                <a:cs typeface="Liberation Mono"/>
              </a:rPr>
              <a:t>&lt;com.google.android.material.appbar.AppBarLayout</a:t>
            </a:r>
          </a:p>
          <a:p>
            <a:pPr marL="358317" marR="0">
              <a:lnSpc>
                <a:spcPts val="1332"/>
              </a:lnSpc>
              <a:spcBef>
                <a:spcPts val="367"/>
              </a:spcBef>
              <a:spcAft>
                <a:spcPts val="0"/>
              </a:spcAft>
            </a:pPr>
            <a:r>
              <a:rPr dirty="0" sz="1200" spc="-15">
                <a:solidFill>
                  <a:srgbClr val="cbd5e1"/>
                </a:solidFill>
                <a:latin typeface="Liberation Mono"/>
                <a:cs typeface="Liberation Mono"/>
              </a:rPr>
              <a:t>android:layout_width="match_parent"</a:t>
            </a:r>
          </a:p>
          <a:p>
            <a:pPr marL="358317" marR="0">
              <a:lnSpc>
                <a:spcPts val="1332"/>
              </a:lnSpc>
              <a:spcBef>
                <a:spcPts val="392"/>
              </a:spcBef>
              <a:spcAft>
                <a:spcPts val="0"/>
              </a:spcAft>
            </a:pPr>
            <a:r>
              <a:rPr dirty="0" sz="1200" spc="-15">
                <a:solidFill>
                  <a:srgbClr val="cbd5e1"/>
                </a:solidFill>
                <a:latin typeface="Liberation Mono"/>
                <a:cs typeface="Liberation Mono"/>
              </a:rPr>
              <a:t>android:layout_height="wrap_content"&gt;</a:t>
            </a:r>
          </a:p>
          <a:p>
            <a:pPr marL="358317" marR="0">
              <a:lnSpc>
                <a:spcPts val="1332"/>
              </a:lnSpc>
              <a:spcBef>
                <a:spcPts val="367"/>
              </a:spcBef>
              <a:spcAft>
                <a:spcPts val="0"/>
              </a:spcAft>
            </a:pPr>
            <a:r>
              <a:rPr dirty="0" sz="1200" spc="-15">
                <a:solidFill>
                  <a:srgbClr val="cbd5e1"/>
                </a:solidFill>
                <a:latin typeface="Liberation Mono"/>
                <a:cs typeface="Liberation Mono"/>
              </a:rPr>
              <a:t>&lt;androidx.appcompat.widget.Toolbar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20774" y="2808186"/>
            <a:ext cx="2414777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2" b="1">
                <a:solidFill>
                  <a:srgbClr val="ffffff"/>
                </a:solidFill>
                <a:latin typeface="DejaVu Sans"/>
                <a:cs typeface="DejaVu Sans"/>
              </a:rPr>
              <a:t>Mục</a:t>
            </a:r>
            <a:r>
              <a:rPr dirty="0" sz="2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ffffff"/>
                </a:solidFill>
                <a:latin typeface="DejaVu Sans"/>
                <a:cs typeface="DejaVu Sans"/>
              </a:rPr>
              <a:t>đích</a:t>
            </a:r>
            <a:r>
              <a:rPr dirty="0" sz="2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ffffff"/>
                </a:solidFill>
                <a:latin typeface="DejaVu Sans"/>
                <a:cs typeface="DejaVu Sans"/>
              </a:rPr>
              <a:t>cốt</a:t>
            </a:r>
            <a:r>
              <a:rPr dirty="0" sz="2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ffffff"/>
                </a:solidFill>
                <a:latin typeface="DejaVu Sans"/>
                <a:cs typeface="DejaVu Sans"/>
              </a:rPr>
              <a:t>lõi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303023" y="2911977"/>
            <a:ext cx="2303418" cy="20728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cbd5e1"/>
                </a:solidFill>
                <a:latin typeface="Liberation Mono"/>
                <a:cs typeface="Liberation Mono"/>
              </a:rPr>
              <a:t>android:id="@id/toolbar"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586387" y="3121527"/>
            <a:ext cx="4900155" cy="63591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716635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cbd5e1"/>
                </a:solidFill>
                <a:latin typeface="Liberation Mono"/>
                <a:cs typeface="Liberation Mono"/>
              </a:rPr>
              <a:t>android:layout_width="match_parent"</a:t>
            </a:r>
          </a:p>
          <a:p>
            <a:pPr marL="716635" marR="0">
              <a:lnSpc>
                <a:spcPts val="1332"/>
              </a:lnSpc>
              <a:spcBef>
                <a:spcPts val="367"/>
              </a:spcBef>
              <a:spcAft>
                <a:spcPts val="0"/>
              </a:spcAft>
            </a:pPr>
            <a:r>
              <a:rPr dirty="0" sz="1200" spc="-15">
                <a:solidFill>
                  <a:srgbClr val="cbd5e1"/>
                </a:solidFill>
                <a:latin typeface="Liberation Mono"/>
                <a:cs typeface="Liberation Mono"/>
              </a:rPr>
              <a:t>android:layout_height="?attr/actionBarSize"/&gt;</a:t>
            </a:r>
          </a:p>
          <a:p>
            <a:pPr marL="0" marR="0">
              <a:lnSpc>
                <a:spcPts val="1332"/>
              </a:lnSpc>
              <a:spcBef>
                <a:spcPts val="392"/>
              </a:spcBef>
              <a:spcAft>
                <a:spcPts val="0"/>
              </a:spcAft>
            </a:pPr>
            <a:r>
              <a:rPr dirty="0" sz="1200" spc="-15">
                <a:solidFill>
                  <a:srgbClr val="cbd5e1"/>
                </a:solidFill>
                <a:latin typeface="Liberation Mono"/>
                <a:cs typeface="Liberation Mono"/>
              </a:rPr>
              <a:t>&lt;/com.google.android.material.appbar.AppBarLayout&gt;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385738" y="3449379"/>
            <a:ext cx="3445698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Cung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cấp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thanh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điều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hướng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nhất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quán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385738" y="4087554"/>
            <a:ext cx="3219927" cy="874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Có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thể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chứa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menu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&amp;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các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hành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động</a:t>
            </a:r>
          </a:p>
          <a:p>
            <a:pPr marL="0" marR="0">
              <a:lnSpc>
                <a:spcPts val="1564"/>
              </a:lnSpc>
              <a:spcBef>
                <a:spcPts val="341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Hỗ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trợ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các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hành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động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chính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119168" y="6202104"/>
            <a:ext cx="1881753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94a3b8"/>
                </a:solidFill>
                <a:latin typeface="DejaVu Sans"/>
                <a:cs typeface="DejaVu Sans"/>
              </a:rPr>
              <a:t>Ví</a:t>
            </a:r>
            <a:r>
              <a:rPr dirty="0" sz="1350" b="1">
                <a:solidFill>
                  <a:srgbClr val="94a3b8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94a3b8"/>
                </a:solidFill>
                <a:latin typeface="DejaVu Sans"/>
                <a:cs typeface="DejaVu Sans"/>
              </a:rPr>
              <a:t>dụ</a:t>
            </a:r>
            <a:r>
              <a:rPr dirty="0" sz="1350" b="1">
                <a:solidFill>
                  <a:srgbClr val="94a3b8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94a3b8"/>
                </a:solidFill>
                <a:latin typeface="DejaVu Sans"/>
                <a:cs typeface="DejaVu Sans"/>
              </a:rPr>
              <a:t>vị</a:t>
            </a:r>
            <a:r>
              <a:rPr dirty="0" sz="1350" b="1">
                <a:solidFill>
                  <a:srgbClr val="94a3b8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94a3b8"/>
                </a:solidFill>
                <a:latin typeface="DejaVu Sans"/>
                <a:cs typeface="DejaVu Sans"/>
              </a:rPr>
              <a:t>trí</a:t>
            </a:r>
            <a:r>
              <a:rPr dirty="0" sz="1350" b="1">
                <a:solidFill>
                  <a:srgbClr val="94a3b8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94a3b8"/>
                </a:solidFill>
                <a:latin typeface="DejaVu Sans"/>
                <a:cs typeface="DejaVu Sans"/>
              </a:rPr>
              <a:t>trên</a:t>
            </a:r>
            <a:r>
              <a:rPr dirty="0" sz="1350" b="1">
                <a:solidFill>
                  <a:srgbClr val="94a3b8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94a3b8"/>
                </a:solidFill>
                <a:latin typeface="DejaVu Sans"/>
                <a:cs typeface="DejaVu Sans"/>
              </a:rPr>
              <a:t>UI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20774" y="7094436"/>
            <a:ext cx="6386677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1" b="1">
                <a:solidFill>
                  <a:srgbClr val="ffffff"/>
                </a:solidFill>
                <a:latin typeface="DejaVu Sans"/>
                <a:cs typeface="DejaVu Sans"/>
              </a:rPr>
              <a:t>Nâng</a:t>
            </a:r>
            <a:r>
              <a:rPr dirty="0" sz="2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ffffff"/>
                </a:solidFill>
                <a:latin typeface="DejaVu Sans"/>
                <a:cs typeface="DejaVu Sans"/>
              </a:rPr>
              <a:t>tầm</a:t>
            </a:r>
            <a:r>
              <a:rPr dirty="0" sz="2000" spc="12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ffffff"/>
                </a:solidFill>
                <a:latin typeface="DejaVu Sans"/>
                <a:cs typeface="DejaVu Sans"/>
              </a:rPr>
              <a:t>trải</a:t>
            </a:r>
            <a:r>
              <a:rPr dirty="0" sz="2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ffffff"/>
                </a:solidFill>
                <a:latin typeface="DejaVu Sans"/>
                <a:cs typeface="DejaVu Sans"/>
              </a:rPr>
              <a:t>nghiệm</a:t>
            </a:r>
            <a:r>
              <a:rPr dirty="0" sz="2000" spc="11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ffffff"/>
                </a:solidFill>
                <a:latin typeface="DejaVu Sans"/>
                <a:cs typeface="DejaVu Sans"/>
              </a:rPr>
              <a:t>với</a:t>
            </a:r>
            <a:r>
              <a:rPr dirty="0" sz="2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ffffff"/>
                </a:solidFill>
                <a:latin typeface="DejaVu Sans"/>
                <a:cs typeface="DejaVu Sans"/>
              </a:rPr>
              <a:t>AppBar</a:t>
            </a:r>
            <a:r>
              <a:rPr dirty="0" sz="2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ffffff"/>
                </a:solidFill>
                <a:latin typeface="DejaVu Sans"/>
                <a:cs typeface="DejaVu Sans"/>
              </a:rPr>
              <a:t>&amp;</a:t>
            </a:r>
            <a:r>
              <a:rPr dirty="0" sz="2000" spc="18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ffffff"/>
                </a:solidFill>
                <a:latin typeface="DejaVu Sans"/>
                <a:cs typeface="DejaVu Sans"/>
              </a:rPr>
              <a:t>Motion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172616" y="7716579"/>
            <a:ext cx="2076534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Tối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ưu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hóa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phản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hồi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UI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825602" y="7716579"/>
            <a:ext cx="3024218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Điều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hướng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trực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quan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&amp;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mượt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mà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478588" y="7716579"/>
            <a:ext cx="3068092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Tích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hợp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với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Material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Components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3819375" y="8441988"/>
            <a:ext cx="8354412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Source: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Material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Design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for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Android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|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Views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-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Android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Developers,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Building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Beautiful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 spc="-10">
                <a:solidFill>
                  <a:srgbClr val="6b7280"/>
                </a:solidFill>
                <a:latin typeface="DejaVu Sans"/>
                <a:cs typeface="DejaVu Sans"/>
              </a:rPr>
              <a:t>Transitions</a:t>
            </a:r>
            <a:r>
              <a:rPr dirty="0" sz="1000" spc="17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with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Material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Motion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for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Android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980020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780406" y="333300"/>
            <a:ext cx="6793729" cy="10024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1" b="1">
                <a:solidFill>
                  <a:srgbClr val="00bcd4"/>
                </a:solidFill>
                <a:latin typeface="DejaVu Sans"/>
                <a:cs typeface="DejaVu Sans"/>
              </a:rPr>
              <a:t>BottomNavi</a:t>
            </a:r>
            <a:r>
              <a:rPr dirty="0" sz="4050" spc="-18" b="1">
                <a:solidFill>
                  <a:srgbClr val="e0e0e0"/>
                </a:solidFill>
                <a:latin typeface="DejaVu Sans"/>
                <a:cs typeface="DejaVu Sans"/>
              </a:rPr>
              <a:t>gationView</a:t>
            </a:r>
          </a:p>
          <a:p>
            <a:pPr marL="55661" marR="0">
              <a:lnSpc>
                <a:spcPts val="2346"/>
              </a:lnSpc>
              <a:spcBef>
                <a:spcPts val="552"/>
              </a:spcBef>
              <a:spcAft>
                <a:spcPts val="0"/>
              </a:spcAft>
            </a:pPr>
            <a:r>
              <a:rPr dirty="0" sz="2000" spc="10">
                <a:solidFill>
                  <a:srgbClr val="ff9800"/>
                </a:solidFill>
                <a:latin typeface="DejaVu Sans"/>
                <a:cs typeface="DejaVu Sans"/>
              </a:rPr>
              <a:t>Component</a:t>
            </a:r>
            <a:r>
              <a:rPr dirty="0" sz="200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2000">
                <a:solidFill>
                  <a:srgbClr val="ff9800"/>
                </a:solidFill>
                <a:latin typeface="DejaVu Sans"/>
                <a:cs typeface="DejaVu Sans"/>
              </a:rPr>
              <a:t>Điều</a:t>
            </a:r>
            <a:r>
              <a:rPr dirty="0" sz="200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2000" spc="10">
                <a:solidFill>
                  <a:srgbClr val="ff9800"/>
                </a:solidFill>
                <a:latin typeface="DejaVu Sans"/>
                <a:cs typeface="DejaVu Sans"/>
              </a:rPr>
              <a:t>Hướng</a:t>
            </a:r>
            <a:r>
              <a:rPr dirty="0" sz="200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2000">
                <a:solidFill>
                  <a:srgbClr val="ff9800"/>
                </a:solidFill>
                <a:latin typeface="DejaVu Sans"/>
                <a:cs typeface="DejaVu Sans"/>
              </a:rPr>
              <a:t>Chính</a:t>
            </a:r>
            <a:r>
              <a:rPr dirty="0" sz="200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2000">
                <a:solidFill>
                  <a:srgbClr val="ff9800"/>
                </a:solidFill>
                <a:latin typeface="DejaVu Sans"/>
                <a:cs typeface="DejaVu Sans"/>
              </a:rPr>
              <a:t>của</a:t>
            </a:r>
            <a:r>
              <a:rPr dirty="0" sz="200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2000">
                <a:solidFill>
                  <a:srgbClr val="ff9800"/>
                </a:solidFill>
                <a:latin typeface="DejaVu Sans"/>
                <a:cs typeface="DejaVu Sans"/>
              </a:rPr>
              <a:t>Material</a:t>
            </a:r>
            <a:r>
              <a:rPr dirty="0" sz="200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2000">
                <a:solidFill>
                  <a:srgbClr val="ff9800"/>
                </a:solidFill>
                <a:latin typeface="DejaVu Sans"/>
                <a:cs typeface="DejaVu Sans"/>
              </a:rPr>
              <a:t>Design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898010" y="1763088"/>
            <a:ext cx="2334531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8" b="1">
                <a:solidFill>
                  <a:srgbClr val="e0e0e0"/>
                </a:solidFill>
                <a:latin typeface="DejaVu Sans"/>
                <a:cs typeface="DejaVu Sans"/>
              </a:rPr>
              <a:t>Mục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1" b="1">
                <a:solidFill>
                  <a:srgbClr val="e0e0e0"/>
                </a:solidFill>
                <a:latin typeface="DejaVu Sans"/>
                <a:cs typeface="DejaVu Sans"/>
              </a:rPr>
              <a:t>Đích</a:t>
            </a:r>
            <a:r>
              <a:rPr dirty="0" sz="1700" spc="-1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e0e0e0"/>
                </a:solidFill>
                <a:latin typeface="DejaVu Sans"/>
                <a:cs typeface="DejaVu Sans"/>
              </a:rPr>
              <a:t>Sử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e0e0e0"/>
                </a:solidFill>
                <a:latin typeface="DejaVu Sans"/>
                <a:cs typeface="DejaVu Sans"/>
              </a:rPr>
              <a:t>Dụng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584131" y="2163893"/>
            <a:ext cx="3900506" cy="5569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Được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sử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dụng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cho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3–5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mục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điều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hướng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chính.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546031" y="3344238"/>
            <a:ext cx="2249432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 b="1">
                <a:solidFill>
                  <a:srgbClr val="e0e0e0"/>
                </a:solidFill>
                <a:latin typeface="DejaVu Sans"/>
                <a:cs typeface="DejaVu Sans"/>
              </a:rPr>
              <a:t>Đặc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 b="1">
                <a:solidFill>
                  <a:srgbClr val="e0e0e0"/>
                </a:solidFill>
                <a:latin typeface="DejaVu Sans"/>
                <a:cs typeface="DejaVu Sans"/>
              </a:rPr>
              <a:t>Điểm</a:t>
            </a:r>
            <a:r>
              <a:rPr dirty="0" sz="1700" spc="-15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e0e0e0"/>
                </a:solidFill>
                <a:latin typeface="DejaVu Sans"/>
                <a:cs typeface="DejaVu Sans"/>
              </a:rPr>
              <a:t>Nổi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e0e0e0"/>
                </a:solidFill>
                <a:latin typeface="DejaVu Sans"/>
                <a:cs typeface="DejaVu Sans"/>
              </a:rPr>
              <a:t>Bật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759302" y="3774373"/>
            <a:ext cx="2913125" cy="9225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Tối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ưu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hóa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không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gian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màn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hình</a:t>
            </a:r>
          </a:p>
          <a:p>
            <a:pPr marL="0" marR="0">
              <a:lnSpc>
                <a:spcPts val="1564"/>
              </a:lnSpc>
              <a:spcBef>
                <a:spcPts val="1135"/>
              </a:spcBef>
              <a:spcAft>
                <a:spcPts val="0"/>
              </a:spcAft>
            </a:pPr>
            <a:r>
              <a:rPr dirty="0" sz="1350" spc="-51">
                <a:solidFill>
                  <a:srgbClr val="e0e0e0"/>
                </a:solidFill>
                <a:latin typeface="DejaVu Sans"/>
                <a:cs typeface="DejaVu Sans"/>
              </a:rPr>
              <a:t>Truy</a:t>
            </a:r>
            <a:r>
              <a:rPr dirty="0" sz="1350" spc="46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cập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nhanh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các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phần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cốt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lõi</a:t>
            </a:r>
          </a:p>
          <a:p>
            <a:pPr marL="0" marR="0">
              <a:lnSpc>
                <a:spcPts val="1564"/>
              </a:lnSpc>
              <a:spcBef>
                <a:spcPts val="1135"/>
              </a:spcBef>
              <a:spcAft>
                <a:spcPts val="0"/>
              </a:spcAft>
            </a:pPr>
            <a:r>
              <a:rPr dirty="0" sz="1350" spc="-54">
                <a:solidFill>
                  <a:srgbClr val="e0e0e0"/>
                </a:solidFill>
                <a:latin typeface="DejaVu Sans"/>
                <a:cs typeface="DejaVu Sans"/>
              </a:rPr>
              <a:t>Tuân</a:t>
            </a:r>
            <a:r>
              <a:rPr dirty="0" sz="1350" spc="47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thủ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Material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Design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640835" y="4918882"/>
            <a:ext cx="508381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UI/UX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271717" y="4918882"/>
            <a:ext cx="842861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Navigation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9237016" y="4918882"/>
            <a:ext cx="1431018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Android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Component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61081" y="7313671"/>
            <a:ext cx="6067704" cy="47398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9a6e3a"/>
                </a:solidFill>
                <a:latin typeface="Liberation Mono"/>
                <a:cs typeface="Liberation Mono"/>
              </a:rPr>
              <a:t>&lt;com.google.android.material.bottomnavigation.BottomNavigationView</a:t>
            </a:r>
          </a:p>
          <a:p>
            <a:pPr marL="358378" marR="0">
              <a:lnSpc>
                <a:spcPts val="1332"/>
              </a:lnSpc>
              <a:spcBef>
                <a:spcPts val="767"/>
              </a:spcBef>
              <a:spcAft>
                <a:spcPts val="0"/>
              </a:spcAft>
            </a:pPr>
            <a:r>
              <a:rPr dirty="0" sz="1200" spc="-15">
                <a:solidFill>
                  <a:srgbClr val="6a8759"/>
                </a:solidFill>
                <a:latin typeface="Liberation Mono"/>
                <a:cs typeface="Liberation Mono"/>
              </a:rPr>
              <a:t>android:id=</a:t>
            </a:r>
            <a:r>
              <a:rPr dirty="0" sz="1200" spc="-15">
                <a:solidFill>
                  <a:srgbClr val="a5c261"/>
                </a:solidFill>
                <a:latin typeface="Liberation Mono"/>
                <a:cs typeface="Liberation Mono"/>
              </a:rPr>
              <a:t>"@id/bottomNav"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215186" y="7726493"/>
            <a:ext cx="4514532" cy="5664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"Motion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helps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spc="-10">
                <a:solidFill>
                  <a:srgbClr val="e0e0e0"/>
                </a:solidFill>
                <a:latin typeface="DejaVu Sans"/>
                <a:cs typeface="DejaVu Sans"/>
              </a:rPr>
              <a:t>make</a:t>
            </a:r>
            <a:r>
              <a:rPr dirty="0" sz="1500" spc="2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a</a:t>
            </a:r>
            <a:r>
              <a:rPr dirty="0" sz="1500" spc="1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UI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expressive</a:t>
            </a:r>
            <a:r>
              <a:rPr dirty="0" sz="1500" spc="1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and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easy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to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use."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919460" y="7837546"/>
            <a:ext cx="3289301" cy="20728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6a8759"/>
                </a:solidFill>
                <a:latin typeface="Liberation Mono"/>
                <a:cs typeface="Liberation Mono"/>
              </a:rPr>
              <a:t>android:layout_width=</a:t>
            </a:r>
            <a:r>
              <a:rPr dirty="0" sz="1200" spc="-15">
                <a:solidFill>
                  <a:srgbClr val="a5c261"/>
                </a:solidFill>
                <a:latin typeface="Liberation Mono"/>
                <a:cs typeface="Liberation Mono"/>
              </a:rPr>
              <a:t>"match_parent"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919460" y="8104246"/>
            <a:ext cx="3378927" cy="464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6a8759"/>
                </a:solidFill>
                <a:latin typeface="Liberation Mono"/>
                <a:cs typeface="Liberation Mono"/>
              </a:rPr>
              <a:t>android:layout_height=</a:t>
            </a:r>
            <a:r>
              <a:rPr dirty="0" sz="1200" spc="-15">
                <a:solidFill>
                  <a:srgbClr val="a5c261"/>
                </a:solidFill>
                <a:latin typeface="Liberation Mono"/>
                <a:cs typeface="Liberation Mono"/>
              </a:rPr>
              <a:t>"wrap_content"</a:t>
            </a:r>
          </a:p>
          <a:p>
            <a:pPr marL="0" marR="0">
              <a:lnSpc>
                <a:spcPts val="1332"/>
              </a:lnSpc>
              <a:spcBef>
                <a:spcPts val="742"/>
              </a:spcBef>
              <a:spcAft>
                <a:spcPts val="0"/>
              </a:spcAft>
            </a:pPr>
            <a:r>
              <a:rPr dirty="0" sz="1200" spc="-15">
                <a:solidFill>
                  <a:srgbClr val="6a8759"/>
                </a:solidFill>
                <a:latin typeface="Liberation Mono"/>
                <a:cs typeface="Liberation Mono"/>
              </a:rPr>
              <a:t>app:menu=</a:t>
            </a:r>
            <a:r>
              <a:rPr dirty="0" sz="1200" spc="-15">
                <a:solidFill>
                  <a:srgbClr val="a5c261"/>
                </a:solidFill>
                <a:latin typeface="Liberation Mono"/>
                <a:cs typeface="Liberation Mono"/>
              </a:rPr>
              <a:t>"@menu/bottom_nav_menu"</a:t>
            </a:r>
            <a:r>
              <a:rPr dirty="0" sz="1200" spc="-15">
                <a:solidFill>
                  <a:srgbClr val="9a6e3a"/>
                </a:solidFill>
                <a:latin typeface="Liberation Mono"/>
                <a:cs typeface="Liberation Mono"/>
              </a:rPr>
              <a:t>/&gt;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7520284" y="8424081"/>
            <a:ext cx="3359904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Source: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Understanding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motion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-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Material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Design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2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55885" y="9024156"/>
            <a:ext cx="1057921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XML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Structure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836390" y="9024156"/>
            <a:ext cx="1456142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Material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Component</a:t>
            </a: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980020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780406" y="333300"/>
            <a:ext cx="6793729" cy="10024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1" b="1">
                <a:solidFill>
                  <a:srgbClr val="00bcd4"/>
                </a:solidFill>
                <a:latin typeface="DejaVu Sans"/>
                <a:cs typeface="DejaVu Sans"/>
              </a:rPr>
              <a:t>BottomNavi</a:t>
            </a:r>
            <a:r>
              <a:rPr dirty="0" sz="4050" spc="-18" b="1">
                <a:solidFill>
                  <a:srgbClr val="e0e0e0"/>
                </a:solidFill>
                <a:latin typeface="DejaVu Sans"/>
                <a:cs typeface="DejaVu Sans"/>
              </a:rPr>
              <a:t>gationView</a:t>
            </a:r>
          </a:p>
          <a:p>
            <a:pPr marL="55661" marR="0">
              <a:lnSpc>
                <a:spcPts val="2346"/>
              </a:lnSpc>
              <a:spcBef>
                <a:spcPts val="552"/>
              </a:spcBef>
              <a:spcAft>
                <a:spcPts val="0"/>
              </a:spcAft>
            </a:pPr>
            <a:r>
              <a:rPr dirty="0" sz="2000" spc="10">
                <a:solidFill>
                  <a:srgbClr val="ff9800"/>
                </a:solidFill>
                <a:latin typeface="DejaVu Sans"/>
                <a:cs typeface="DejaVu Sans"/>
              </a:rPr>
              <a:t>Component</a:t>
            </a:r>
            <a:r>
              <a:rPr dirty="0" sz="200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2000">
                <a:solidFill>
                  <a:srgbClr val="ff9800"/>
                </a:solidFill>
                <a:latin typeface="DejaVu Sans"/>
                <a:cs typeface="DejaVu Sans"/>
              </a:rPr>
              <a:t>Điều</a:t>
            </a:r>
            <a:r>
              <a:rPr dirty="0" sz="200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2000" spc="10">
                <a:solidFill>
                  <a:srgbClr val="ff9800"/>
                </a:solidFill>
                <a:latin typeface="DejaVu Sans"/>
                <a:cs typeface="DejaVu Sans"/>
              </a:rPr>
              <a:t>Hướng</a:t>
            </a:r>
            <a:r>
              <a:rPr dirty="0" sz="200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2000">
                <a:solidFill>
                  <a:srgbClr val="ff9800"/>
                </a:solidFill>
                <a:latin typeface="DejaVu Sans"/>
                <a:cs typeface="DejaVu Sans"/>
              </a:rPr>
              <a:t>Chính</a:t>
            </a:r>
            <a:r>
              <a:rPr dirty="0" sz="200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2000">
                <a:solidFill>
                  <a:srgbClr val="ff9800"/>
                </a:solidFill>
                <a:latin typeface="DejaVu Sans"/>
                <a:cs typeface="DejaVu Sans"/>
              </a:rPr>
              <a:t>của</a:t>
            </a:r>
            <a:r>
              <a:rPr dirty="0" sz="200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2000">
                <a:solidFill>
                  <a:srgbClr val="ff9800"/>
                </a:solidFill>
                <a:latin typeface="DejaVu Sans"/>
                <a:cs typeface="DejaVu Sans"/>
              </a:rPr>
              <a:t>Material</a:t>
            </a:r>
            <a:r>
              <a:rPr dirty="0" sz="200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2000">
                <a:solidFill>
                  <a:srgbClr val="ff9800"/>
                </a:solidFill>
                <a:latin typeface="DejaVu Sans"/>
                <a:cs typeface="DejaVu Sans"/>
              </a:rPr>
              <a:t>Design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898010" y="1763088"/>
            <a:ext cx="2334531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8" b="1">
                <a:solidFill>
                  <a:srgbClr val="e0e0e0"/>
                </a:solidFill>
                <a:latin typeface="DejaVu Sans"/>
                <a:cs typeface="DejaVu Sans"/>
              </a:rPr>
              <a:t>Mục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1" b="1">
                <a:solidFill>
                  <a:srgbClr val="e0e0e0"/>
                </a:solidFill>
                <a:latin typeface="DejaVu Sans"/>
                <a:cs typeface="DejaVu Sans"/>
              </a:rPr>
              <a:t>Đích</a:t>
            </a:r>
            <a:r>
              <a:rPr dirty="0" sz="1700" spc="-1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e0e0e0"/>
                </a:solidFill>
                <a:latin typeface="DejaVu Sans"/>
                <a:cs typeface="DejaVu Sans"/>
              </a:rPr>
              <a:t>Sử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e0e0e0"/>
                </a:solidFill>
                <a:latin typeface="DejaVu Sans"/>
                <a:cs typeface="DejaVu Sans"/>
              </a:rPr>
              <a:t>Dụng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584131" y="2163893"/>
            <a:ext cx="3900506" cy="5569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Được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sử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dụng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cho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3–5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mục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điều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hướng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chính.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546031" y="3344238"/>
            <a:ext cx="2249432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 b="1">
                <a:solidFill>
                  <a:srgbClr val="e0e0e0"/>
                </a:solidFill>
                <a:latin typeface="DejaVu Sans"/>
                <a:cs typeface="DejaVu Sans"/>
              </a:rPr>
              <a:t>Đặc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 b="1">
                <a:solidFill>
                  <a:srgbClr val="e0e0e0"/>
                </a:solidFill>
                <a:latin typeface="DejaVu Sans"/>
                <a:cs typeface="DejaVu Sans"/>
              </a:rPr>
              <a:t>Điểm</a:t>
            </a:r>
            <a:r>
              <a:rPr dirty="0" sz="1700" spc="-15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e0e0e0"/>
                </a:solidFill>
                <a:latin typeface="DejaVu Sans"/>
                <a:cs typeface="DejaVu Sans"/>
              </a:rPr>
              <a:t>Nổi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e0e0e0"/>
                </a:solidFill>
                <a:latin typeface="DejaVu Sans"/>
                <a:cs typeface="DejaVu Sans"/>
              </a:rPr>
              <a:t>Bật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759302" y="3774373"/>
            <a:ext cx="2913125" cy="9225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Tối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ưu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hóa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không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gian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màn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hình</a:t>
            </a:r>
          </a:p>
          <a:p>
            <a:pPr marL="0" marR="0">
              <a:lnSpc>
                <a:spcPts val="1564"/>
              </a:lnSpc>
              <a:spcBef>
                <a:spcPts val="1135"/>
              </a:spcBef>
              <a:spcAft>
                <a:spcPts val="0"/>
              </a:spcAft>
            </a:pPr>
            <a:r>
              <a:rPr dirty="0" sz="1350" spc="-51">
                <a:solidFill>
                  <a:srgbClr val="e0e0e0"/>
                </a:solidFill>
                <a:latin typeface="DejaVu Sans"/>
                <a:cs typeface="DejaVu Sans"/>
              </a:rPr>
              <a:t>Truy</a:t>
            </a:r>
            <a:r>
              <a:rPr dirty="0" sz="1350" spc="46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cập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nhanh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các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phần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cốt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lõi</a:t>
            </a:r>
          </a:p>
          <a:p>
            <a:pPr marL="0" marR="0">
              <a:lnSpc>
                <a:spcPts val="1564"/>
              </a:lnSpc>
              <a:spcBef>
                <a:spcPts val="1135"/>
              </a:spcBef>
              <a:spcAft>
                <a:spcPts val="0"/>
              </a:spcAft>
            </a:pPr>
            <a:r>
              <a:rPr dirty="0" sz="1350" spc="-54">
                <a:solidFill>
                  <a:srgbClr val="e0e0e0"/>
                </a:solidFill>
                <a:latin typeface="DejaVu Sans"/>
                <a:cs typeface="DejaVu Sans"/>
              </a:rPr>
              <a:t>Tuân</a:t>
            </a:r>
            <a:r>
              <a:rPr dirty="0" sz="1350" spc="47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thủ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Material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Design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640835" y="4918882"/>
            <a:ext cx="508381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UI/UX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271717" y="4918882"/>
            <a:ext cx="842861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Navigation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9237016" y="4918882"/>
            <a:ext cx="1431018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Android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Component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61081" y="7313671"/>
            <a:ext cx="6067704" cy="47398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9a6e3a"/>
                </a:solidFill>
                <a:latin typeface="Liberation Mono"/>
                <a:cs typeface="Liberation Mono"/>
              </a:rPr>
              <a:t>&lt;com.google.android.material.bottomnavigation.BottomNavigationView</a:t>
            </a:r>
          </a:p>
          <a:p>
            <a:pPr marL="358378" marR="0">
              <a:lnSpc>
                <a:spcPts val="1332"/>
              </a:lnSpc>
              <a:spcBef>
                <a:spcPts val="767"/>
              </a:spcBef>
              <a:spcAft>
                <a:spcPts val="0"/>
              </a:spcAft>
            </a:pPr>
            <a:r>
              <a:rPr dirty="0" sz="1200" spc="-15">
                <a:solidFill>
                  <a:srgbClr val="6a8759"/>
                </a:solidFill>
                <a:latin typeface="Liberation Mono"/>
                <a:cs typeface="Liberation Mono"/>
              </a:rPr>
              <a:t>android:id=</a:t>
            </a:r>
            <a:r>
              <a:rPr dirty="0" sz="1200" spc="-15">
                <a:solidFill>
                  <a:srgbClr val="a5c261"/>
                </a:solidFill>
                <a:latin typeface="Liberation Mono"/>
                <a:cs typeface="Liberation Mono"/>
              </a:rPr>
              <a:t>"@id/bottomNav"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215186" y="7726493"/>
            <a:ext cx="4514532" cy="5664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"Motion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helps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spc="-10">
                <a:solidFill>
                  <a:srgbClr val="e0e0e0"/>
                </a:solidFill>
                <a:latin typeface="DejaVu Sans"/>
                <a:cs typeface="DejaVu Sans"/>
              </a:rPr>
              <a:t>make</a:t>
            </a:r>
            <a:r>
              <a:rPr dirty="0" sz="1500" spc="2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a</a:t>
            </a:r>
            <a:r>
              <a:rPr dirty="0" sz="1500" spc="1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UI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expressive</a:t>
            </a:r>
            <a:r>
              <a:rPr dirty="0" sz="1500" spc="1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and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easy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to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use."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919460" y="7837546"/>
            <a:ext cx="3289301" cy="20728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6a8759"/>
                </a:solidFill>
                <a:latin typeface="Liberation Mono"/>
                <a:cs typeface="Liberation Mono"/>
              </a:rPr>
              <a:t>android:layout_width=</a:t>
            </a:r>
            <a:r>
              <a:rPr dirty="0" sz="1200" spc="-15">
                <a:solidFill>
                  <a:srgbClr val="a5c261"/>
                </a:solidFill>
                <a:latin typeface="Liberation Mono"/>
                <a:cs typeface="Liberation Mono"/>
              </a:rPr>
              <a:t>"match_parent"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919460" y="8104246"/>
            <a:ext cx="3378927" cy="464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6a8759"/>
                </a:solidFill>
                <a:latin typeface="Liberation Mono"/>
                <a:cs typeface="Liberation Mono"/>
              </a:rPr>
              <a:t>android:layout_height=</a:t>
            </a:r>
            <a:r>
              <a:rPr dirty="0" sz="1200" spc="-15">
                <a:solidFill>
                  <a:srgbClr val="a5c261"/>
                </a:solidFill>
                <a:latin typeface="Liberation Mono"/>
                <a:cs typeface="Liberation Mono"/>
              </a:rPr>
              <a:t>"wrap_content"</a:t>
            </a:r>
          </a:p>
          <a:p>
            <a:pPr marL="0" marR="0">
              <a:lnSpc>
                <a:spcPts val="1332"/>
              </a:lnSpc>
              <a:spcBef>
                <a:spcPts val="742"/>
              </a:spcBef>
              <a:spcAft>
                <a:spcPts val="0"/>
              </a:spcAft>
            </a:pPr>
            <a:r>
              <a:rPr dirty="0" sz="1200" spc="-15">
                <a:solidFill>
                  <a:srgbClr val="6a8759"/>
                </a:solidFill>
                <a:latin typeface="Liberation Mono"/>
                <a:cs typeface="Liberation Mono"/>
              </a:rPr>
              <a:t>app:menu=</a:t>
            </a:r>
            <a:r>
              <a:rPr dirty="0" sz="1200" spc="-15">
                <a:solidFill>
                  <a:srgbClr val="a5c261"/>
                </a:solidFill>
                <a:latin typeface="Liberation Mono"/>
                <a:cs typeface="Liberation Mono"/>
              </a:rPr>
              <a:t>"@menu/bottom_nav_menu"</a:t>
            </a:r>
            <a:r>
              <a:rPr dirty="0" sz="1200" spc="-15">
                <a:solidFill>
                  <a:srgbClr val="9a6e3a"/>
                </a:solidFill>
                <a:latin typeface="Liberation Mono"/>
                <a:cs typeface="Liberation Mono"/>
              </a:rPr>
              <a:t>/&gt;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7520284" y="8424081"/>
            <a:ext cx="3359904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Source: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Understanding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motion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-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Material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Design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2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55885" y="9024156"/>
            <a:ext cx="1057921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XML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Structure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836390" y="9024156"/>
            <a:ext cx="1456142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Material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Component</a:t>
            </a:r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84455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558331" y="333807"/>
            <a:ext cx="5227595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1" b="1">
                <a:solidFill>
                  <a:srgbClr val="00bcd4"/>
                </a:solidFill>
                <a:latin typeface="DejaVu Sans"/>
                <a:cs typeface="DejaVu Sans"/>
              </a:rPr>
              <a:t>Material</a:t>
            </a:r>
            <a:r>
              <a:rPr dirty="0" sz="405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ff9800"/>
                </a:solidFill>
                <a:latin typeface="DejaVu Sans"/>
                <a:cs typeface="DejaVu Sans"/>
              </a:rPr>
              <a:t>Theming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59991" y="1504912"/>
            <a:ext cx="3393110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Cá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nhân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hóa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Giao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diện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75084" y="2116776"/>
            <a:ext cx="4848904" cy="65215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Cho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phép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điều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chỉnh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trải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nghiệm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người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dùng.</a:t>
            </a:r>
          </a:p>
          <a:p>
            <a:pPr marL="0" marR="0">
              <a:lnSpc>
                <a:spcPts val="1760"/>
              </a:lnSpc>
              <a:spcBef>
                <a:spcPts val="1264"/>
              </a:spcBef>
              <a:spcAft>
                <a:spcPts val="0"/>
              </a:spcAft>
            </a:pP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Đồng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bộ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hóa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thương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hiệu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thẩm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 spc="10">
                <a:solidFill>
                  <a:srgbClr val="d1d5db"/>
                </a:solidFill>
                <a:latin typeface="DejaVu Sans"/>
                <a:cs typeface="DejaVu Sans"/>
              </a:rPr>
              <a:t>mỹ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ứng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dụng.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73633" y="2994585"/>
            <a:ext cx="567712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2">
                <a:solidFill>
                  <a:srgbClr val="e0e0e0"/>
                </a:solidFill>
                <a:latin typeface="DejaVu Sans"/>
                <a:cs typeface="DejaVu Sans"/>
              </a:rPr>
              <a:t>UI/UX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943397" y="2994585"/>
            <a:ext cx="776214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87">
                <a:solidFill>
                  <a:srgbClr val="e0e0e0"/>
                </a:solidFill>
                <a:latin typeface="DejaVu Sans"/>
                <a:cs typeface="DejaVu Sans"/>
              </a:rPr>
              <a:t>Tù</a:t>
            </a:r>
            <a:r>
              <a:rPr dirty="0" sz="1200" spc="-397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y</a:t>
            </a:r>
            <a:r>
              <a:rPr dirty="0" sz="1200" spc="-2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e0e0e0"/>
                </a:solidFill>
                <a:latin typeface="DejaVu Sans"/>
                <a:cs typeface="DejaVu Sans"/>
              </a:rPr>
              <a:t>biến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035402" y="3474412"/>
            <a:ext cx="4159002" cy="410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dirty="0" sz="2500" spc="10" b="1">
                <a:solidFill>
                  <a:srgbClr val="ffffff"/>
                </a:solidFill>
                <a:latin typeface="DejaVu Sans"/>
                <a:cs typeface="DejaVu Sans"/>
              </a:rPr>
              <a:t>Color</a:t>
            </a:r>
            <a:r>
              <a:rPr dirty="0" sz="25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500" b="1">
                <a:solidFill>
                  <a:srgbClr val="ffffff"/>
                </a:solidFill>
                <a:latin typeface="DejaVu Sans"/>
                <a:cs typeface="DejaVu Sans"/>
              </a:rPr>
              <a:t>&amp;</a:t>
            </a:r>
            <a:r>
              <a:rPr dirty="0" sz="2500" spc="21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500" spc="12" b="1">
                <a:solidFill>
                  <a:srgbClr val="ffffff"/>
                </a:solidFill>
                <a:latin typeface="DejaVu Sans"/>
                <a:cs typeface="DejaVu Sans"/>
              </a:rPr>
              <a:t>Shape</a:t>
            </a:r>
            <a:r>
              <a:rPr dirty="0" sz="25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500" spc="10" b="1">
                <a:solidFill>
                  <a:srgbClr val="ffffff"/>
                </a:solidFill>
                <a:latin typeface="DejaVu Sans"/>
                <a:cs typeface="DejaVu Sans"/>
              </a:rPr>
              <a:t>System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359991" y="4200487"/>
            <a:ext cx="2955278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Cấu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hình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trung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tâm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75084" y="4802826"/>
            <a:ext cx="5089449" cy="65215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Tất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cả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thuộc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tính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giao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diện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được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định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nghĩa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tại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 spc="-49">
                <a:solidFill>
                  <a:srgbClr val="d1d5db"/>
                </a:solidFill>
                <a:latin typeface="DejaVu Sans"/>
                <a:cs typeface="DejaVu Sans"/>
              </a:rPr>
              <a:t>đây.</a:t>
            </a:r>
          </a:p>
          <a:p>
            <a:pPr marL="0" marR="0">
              <a:lnSpc>
                <a:spcPts val="1760"/>
              </a:lnSpc>
              <a:spcBef>
                <a:spcPts val="1264"/>
              </a:spcBef>
              <a:spcAft>
                <a:spcPts val="0"/>
              </a:spcAft>
            </a:pP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Đơn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giản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hóa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việc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quản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lý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cập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nhật.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973633" y="5680635"/>
            <a:ext cx="1035531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themes.xml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410866" y="5680635"/>
            <a:ext cx="1072145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8">
                <a:solidFill>
                  <a:srgbClr val="e0e0e0"/>
                </a:solidFill>
                <a:latin typeface="DejaVu Sans"/>
                <a:cs typeface="DejaVu Sans"/>
              </a:rPr>
              <a:t>Android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7">
                <a:solidFill>
                  <a:srgbClr val="e0e0e0"/>
                </a:solidFill>
                <a:latin typeface="DejaVu Sans"/>
                <a:cs typeface="DejaVu Sans"/>
              </a:rPr>
              <a:t>Dev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94270" y="6668972"/>
            <a:ext cx="2993597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 b="1">
                <a:solidFill>
                  <a:srgbClr val="e0e0e0"/>
                </a:solidFill>
                <a:latin typeface="DejaVu Sans"/>
                <a:cs typeface="DejaVu Sans"/>
              </a:rPr>
              <a:t>Ví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e0e0e0"/>
                </a:solidFill>
                <a:latin typeface="DejaVu Sans"/>
                <a:cs typeface="DejaVu Sans"/>
              </a:rPr>
              <a:t>dụ: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e0e0e0"/>
                </a:solidFill>
                <a:latin typeface="DejaVu Sans"/>
                <a:cs typeface="DejaVu Sans"/>
              </a:rPr>
              <a:t>Áp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e0e0e0"/>
                </a:solidFill>
                <a:latin typeface="DejaVu Sans"/>
                <a:cs typeface="DejaVu Sans"/>
              </a:rPr>
              <a:t>dụng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8" b="1">
                <a:solidFill>
                  <a:srgbClr val="e0e0e0"/>
                </a:solidFill>
                <a:latin typeface="DejaVu Sans"/>
                <a:cs typeface="DejaVu Sans"/>
              </a:rPr>
              <a:t>màu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 b="1">
                <a:solidFill>
                  <a:srgbClr val="e0e0e0"/>
                </a:solidFill>
                <a:latin typeface="DejaVu Sans"/>
                <a:cs typeface="DejaVu Sans"/>
              </a:rPr>
              <a:t>sắc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850254" y="7155501"/>
            <a:ext cx="7849899" cy="261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spc="10" b="1">
                <a:solidFill>
                  <a:srgbClr val="00bcd4"/>
                </a:solidFill>
                <a:latin typeface="DejaVu Sans"/>
                <a:cs typeface="DejaVu Sans"/>
              </a:rPr>
              <a:t>Màu</a:t>
            </a:r>
            <a:r>
              <a:rPr dirty="0" sz="150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0bcd4"/>
                </a:solidFill>
                <a:latin typeface="DejaVu Sans"/>
                <a:cs typeface="DejaVu Sans"/>
              </a:rPr>
              <a:t>sắc</a:t>
            </a:r>
            <a:r>
              <a:rPr dirty="0" sz="150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0bcd4"/>
                </a:solidFill>
                <a:latin typeface="DejaVu Sans"/>
                <a:cs typeface="DejaVu Sans"/>
              </a:rPr>
              <a:t>chính:</a:t>
            </a:r>
            <a:r>
              <a:rPr dirty="0" sz="1500" spc="-43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Dùng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cho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branding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và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các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lời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spc="-20">
                <a:solidFill>
                  <a:srgbClr val="e0e0e0"/>
                </a:solidFill>
                <a:latin typeface="DejaVu Sans"/>
                <a:cs typeface="DejaVu Sans"/>
              </a:rPr>
              <a:t>kêu</a:t>
            </a:r>
            <a:r>
              <a:rPr dirty="0" sz="1500" spc="3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gọi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hành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động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spc="-18">
                <a:solidFill>
                  <a:srgbClr val="e0e0e0"/>
                </a:solidFill>
                <a:latin typeface="DejaVu Sans"/>
                <a:cs typeface="DejaVu Sans"/>
              </a:rPr>
              <a:t>(CTA)</a:t>
            </a:r>
            <a:r>
              <a:rPr dirty="0" sz="1500" spc="25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nổi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bật.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50254" y="7574601"/>
            <a:ext cx="8797350" cy="261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spc="10" b="1">
                <a:solidFill>
                  <a:srgbClr val="ff9800"/>
                </a:solidFill>
                <a:latin typeface="DejaVu Sans"/>
                <a:cs typeface="DejaVu Sans"/>
              </a:rPr>
              <a:t>Màu</a:t>
            </a:r>
            <a:r>
              <a:rPr dirty="0" sz="1500" b="1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ff9800"/>
                </a:solidFill>
                <a:latin typeface="DejaVu Sans"/>
                <a:cs typeface="DejaVu Sans"/>
              </a:rPr>
              <a:t>sắc</a:t>
            </a:r>
            <a:r>
              <a:rPr dirty="0" sz="1500" b="1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ff9800"/>
                </a:solidFill>
                <a:latin typeface="DejaVu Sans"/>
                <a:cs typeface="DejaVu Sans"/>
              </a:rPr>
              <a:t>phụ:</a:t>
            </a:r>
            <a:r>
              <a:rPr dirty="0" sz="1500" spc="-44" b="1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Dùng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để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nhấn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nhá,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chỉ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báo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các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trạng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thái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phụ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hoặc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thành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phần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tương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tác.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860207" y="8186464"/>
            <a:ext cx="4313534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Source: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Material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Design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for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Android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|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Views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-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Android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Developers</a:t>
            </a:r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84455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558331" y="333807"/>
            <a:ext cx="5227595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1" b="1">
                <a:solidFill>
                  <a:srgbClr val="00bcd4"/>
                </a:solidFill>
                <a:latin typeface="DejaVu Sans"/>
                <a:cs typeface="DejaVu Sans"/>
              </a:rPr>
              <a:t>Material</a:t>
            </a:r>
            <a:r>
              <a:rPr dirty="0" sz="405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ff9800"/>
                </a:solidFill>
                <a:latin typeface="DejaVu Sans"/>
                <a:cs typeface="DejaVu Sans"/>
              </a:rPr>
              <a:t>Theming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59991" y="1504912"/>
            <a:ext cx="3393110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Cá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nhân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hóa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Giao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diện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75084" y="2116776"/>
            <a:ext cx="4848904" cy="65215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Cho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phép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điều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chỉnh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trải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nghiệm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người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dùng.</a:t>
            </a:r>
          </a:p>
          <a:p>
            <a:pPr marL="0" marR="0">
              <a:lnSpc>
                <a:spcPts val="1760"/>
              </a:lnSpc>
              <a:spcBef>
                <a:spcPts val="1264"/>
              </a:spcBef>
              <a:spcAft>
                <a:spcPts val="0"/>
              </a:spcAft>
            </a:pP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Đồng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bộ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hóa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thương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hiệu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thẩm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 spc="10">
                <a:solidFill>
                  <a:srgbClr val="d1d5db"/>
                </a:solidFill>
                <a:latin typeface="DejaVu Sans"/>
                <a:cs typeface="DejaVu Sans"/>
              </a:rPr>
              <a:t>mỹ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ứng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dụng.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73633" y="2994585"/>
            <a:ext cx="567712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2">
                <a:solidFill>
                  <a:srgbClr val="e0e0e0"/>
                </a:solidFill>
                <a:latin typeface="DejaVu Sans"/>
                <a:cs typeface="DejaVu Sans"/>
              </a:rPr>
              <a:t>UI/UX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943397" y="2994585"/>
            <a:ext cx="776214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87">
                <a:solidFill>
                  <a:srgbClr val="e0e0e0"/>
                </a:solidFill>
                <a:latin typeface="DejaVu Sans"/>
                <a:cs typeface="DejaVu Sans"/>
              </a:rPr>
              <a:t>Tù</a:t>
            </a:r>
            <a:r>
              <a:rPr dirty="0" sz="1200" spc="-397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y</a:t>
            </a:r>
            <a:r>
              <a:rPr dirty="0" sz="1200" spc="-2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e0e0e0"/>
                </a:solidFill>
                <a:latin typeface="DejaVu Sans"/>
                <a:cs typeface="DejaVu Sans"/>
              </a:rPr>
              <a:t>biến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035402" y="3474412"/>
            <a:ext cx="4159002" cy="410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dirty="0" sz="2500" spc="10" b="1">
                <a:solidFill>
                  <a:srgbClr val="ffffff"/>
                </a:solidFill>
                <a:latin typeface="DejaVu Sans"/>
                <a:cs typeface="DejaVu Sans"/>
              </a:rPr>
              <a:t>Color</a:t>
            </a:r>
            <a:r>
              <a:rPr dirty="0" sz="25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500" b="1">
                <a:solidFill>
                  <a:srgbClr val="ffffff"/>
                </a:solidFill>
                <a:latin typeface="DejaVu Sans"/>
                <a:cs typeface="DejaVu Sans"/>
              </a:rPr>
              <a:t>&amp;</a:t>
            </a:r>
            <a:r>
              <a:rPr dirty="0" sz="2500" spc="21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500" spc="12" b="1">
                <a:solidFill>
                  <a:srgbClr val="ffffff"/>
                </a:solidFill>
                <a:latin typeface="DejaVu Sans"/>
                <a:cs typeface="DejaVu Sans"/>
              </a:rPr>
              <a:t>Shape</a:t>
            </a:r>
            <a:r>
              <a:rPr dirty="0" sz="25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500" spc="10" b="1">
                <a:solidFill>
                  <a:srgbClr val="ffffff"/>
                </a:solidFill>
                <a:latin typeface="DejaVu Sans"/>
                <a:cs typeface="DejaVu Sans"/>
              </a:rPr>
              <a:t>System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359991" y="4200487"/>
            <a:ext cx="2955278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Cấu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hình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trung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tâm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75084" y="4802826"/>
            <a:ext cx="5089449" cy="65215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Tất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cả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thuộc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tính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giao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diện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được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định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nghĩa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tại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 spc="-49">
                <a:solidFill>
                  <a:srgbClr val="d1d5db"/>
                </a:solidFill>
                <a:latin typeface="DejaVu Sans"/>
                <a:cs typeface="DejaVu Sans"/>
              </a:rPr>
              <a:t>đây.</a:t>
            </a:r>
          </a:p>
          <a:p>
            <a:pPr marL="0" marR="0">
              <a:lnSpc>
                <a:spcPts val="1760"/>
              </a:lnSpc>
              <a:spcBef>
                <a:spcPts val="1264"/>
              </a:spcBef>
              <a:spcAft>
                <a:spcPts val="0"/>
              </a:spcAft>
            </a:pP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Đơn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giản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hóa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việc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quản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lý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cập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nhật.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973633" y="5680635"/>
            <a:ext cx="1035531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e0e0e0"/>
                </a:solidFill>
                <a:latin typeface="DejaVu Sans"/>
                <a:cs typeface="DejaVu Sans"/>
              </a:rPr>
              <a:t>themes.xml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410866" y="5680635"/>
            <a:ext cx="1072145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8">
                <a:solidFill>
                  <a:srgbClr val="e0e0e0"/>
                </a:solidFill>
                <a:latin typeface="DejaVu Sans"/>
                <a:cs typeface="DejaVu Sans"/>
              </a:rPr>
              <a:t>Android</a:t>
            </a:r>
            <a:r>
              <a:rPr dirty="0" sz="12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7">
                <a:solidFill>
                  <a:srgbClr val="e0e0e0"/>
                </a:solidFill>
                <a:latin typeface="DejaVu Sans"/>
                <a:cs typeface="DejaVu Sans"/>
              </a:rPr>
              <a:t>Dev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94270" y="6668972"/>
            <a:ext cx="2993597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 b="1">
                <a:solidFill>
                  <a:srgbClr val="e0e0e0"/>
                </a:solidFill>
                <a:latin typeface="DejaVu Sans"/>
                <a:cs typeface="DejaVu Sans"/>
              </a:rPr>
              <a:t>Ví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e0e0e0"/>
                </a:solidFill>
                <a:latin typeface="DejaVu Sans"/>
                <a:cs typeface="DejaVu Sans"/>
              </a:rPr>
              <a:t>dụ: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e0e0e0"/>
                </a:solidFill>
                <a:latin typeface="DejaVu Sans"/>
                <a:cs typeface="DejaVu Sans"/>
              </a:rPr>
              <a:t>Áp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e0e0e0"/>
                </a:solidFill>
                <a:latin typeface="DejaVu Sans"/>
                <a:cs typeface="DejaVu Sans"/>
              </a:rPr>
              <a:t>dụng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8" b="1">
                <a:solidFill>
                  <a:srgbClr val="e0e0e0"/>
                </a:solidFill>
                <a:latin typeface="DejaVu Sans"/>
                <a:cs typeface="DejaVu Sans"/>
              </a:rPr>
              <a:t>màu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 b="1">
                <a:solidFill>
                  <a:srgbClr val="e0e0e0"/>
                </a:solidFill>
                <a:latin typeface="DejaVu Sans"/>
                <a:cs typeface="DejaVu Sans"/>
              </a:rPr>
              <a:t>sắc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850254" y="7155501"/>
            <a:ext cx="7849899" cy="261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spc="10" b="1">
                <a:solidFill>
                  <a:srgbClr val="00bcd4"/>
                </a:solidFill>
                <a:latin typeface="DejaVu Sans"/>
                <a:cs typeface="DejaVu Sans"/>
              </a:rPr>
              <a:t>Màu</a:t>
            </a:r>
            <a:r>
              <a:rPr dirty="0" sz="150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0bcd4"/>
                </a:solidFill>
                <a:latin typeface="DejaVu Sans"/>
                <a:cs typeface="DejaVu Sans"/>
              </a:rPr>
              <a:t>sắc</a:t>
            </a:r>
            <a:r>
              <a:rPr dirty="0" sz="150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0bcd4"/>
                </a:solidFill>
                <a:latin typeface="DejaVu Sans"/>
                <a:cs typeface="DejaVu Sans"/>
              </a:rPr>
              <a:t>chính:</a:t>
            </a:r>
            <a:r>
              <a:rPr dirty="0" sz="1500" spc="-43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Dùng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cho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branding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và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các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lời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spc="-20">
                <a:solidFill>
                  <a:srgbClr val="e0e0e0"/>
                </a:solidFill>
                <a:latin typeface="DejaVu Sans"/>
                <a:cs typeface="DejaVu Sans"/>
              </a:rPr>
              <a:t>kêu</a:t>
            </a:r>
            <a:r>
              <a:rPr dirty="0" sz="1500" spc="3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gọi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hành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động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spc="-18">
                <a:solidFill>
                  <a:srgbClr val="e0e0e0"/>
                </a:solidFill>
                <a:latin typeface="DejaVu Sans"/>
                <a:cs typeface="DejaVu Sans"/>
              </a:rPr>
              <a:t>(CTA)</a:t>
            </a:r>
            <a:r>
              <a:rPr dirty="0" sz="1500" spc="25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nổi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bật.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50254" y="7574601"/>
            <a:ext cx="8797350" cy="261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spc="10" b="1">
                <a:solidFill>
                  <a:srgbClr val="ff9800"/>
                </a:solidFill>
                <a:latin typeface="DejaVu Sans"/>
                <a:cs typeface="DejaVu Sans"/>
              </a:rPr>
              <a:t>Màu</a:t>
            </a:r>
            <a:r>
              <a:rPr dirty="0" sz="1500" b="1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ff9800"/>
                </a:solidFill>
                <a:latin typeface="DejaVu Sans"/>
                <a:cs typeface="DejaVu Sans"/>
              </a:rPr>
              <a:t>sắc</a:t>
            </a:r>
            <a:r>
              <a:rPr dirty="0" sz="1500" b="1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ff9800"/>
                </a:solidFill>
                <a:latin typeface="DejaVu Sans"/>
                <a:cs typeface="DejaVu Sans"/>
              </a:rPr>
              <a:t>phụ:</a:t>
            </a:r>
            <a:r>
              <a:rPr dirty="0" sz="1500" spc="-44" b="1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Dùng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để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nhấn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nhá,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chỉ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báo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các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trạng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thái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phụ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hoặc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thành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phần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tương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tác.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860207" y="8186464"/>
            <a:ext cx="4313534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Source: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Material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Design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for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Android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|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Views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-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Android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Developers</a:t>
            </a:r>
          </a:p>
        </p:txBody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8743442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063031" y="333807"/>
            <a:ext cx="6218259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0" b="1">
                <a:solidFill>
                  <a:srgbClr val="00bcd4"/>
                </a:solidFill>
                <a:latin typeface="DejaVu Sans"/>
                <a:cs typeface="DejaVu Sans"/>
              </a:rPr>
              <a:t>Elevation</a:t>
            </a:r>
            <a:r>
              <a:rPr dirty="0" sz="4050" spc="389" b="1">
                <a:solidFill>
                  <a:srgbClr val="00bcd4"/>
                </a:solidFill>
                <a:latin typeface="Times New Roman"/>
                <a:cs typeface="Times New Roman"/>
              </a:rPr>
              <a:t> 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&amp;</a:t>
            </a:r>
            <a:r>
              <a:rPr dirty="0" sz="4050" spc="-21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4" b="1">
                <a:solidFill>
                  <a:srgbClr val="ff9800"/>
                </a:solidFill>
                <a:latin typeface="DejaVu Sans"/>
                <a:cs typeface="DejaVu Sans"/>
              </a:rPr>
              <a:t>Shadows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6984" y="3617287"/>
            <a:ext cx="4624186" cy="8010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dirty="0" sz="2500" spc="10" b="1">
                <a:solidFill>
                  <a:srgbClr val="e0e0e0"/>
                </a:solidFill>
                <a:latin typeface="DejaVu Sans"/>
                <a:cs typeface="DejaVu Sans"/>
              </a:rPr>
              <a:t>Elevation:</a:t>
            </a:r>
            <a:r>
              <a:rPr dirty="0" sz="2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500" spc="11" b="1">
                <a:solidFill>
                  <a:srgbClr val="e0e0e0"/>
                </a:solidFill>
                <a:latin typeface="DejaVu Sans"/>
                <a:cs typeface="DejaVu Sans"/>
              </a:rPr>
              <a:t>Định</a:t>
            </a:r>
            <a:r>
              <a:rPr dirty="0" sz="2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500" spc="10" b="1">
                <a:solidFill>
                  <a:srgbClr val="e0e0e0"/>
                </a:solidFill>
                <a:latin typeface="DejaVu Sans"/>
                <a:cs typeface="DejaVu Sans"/>
              </a:rPr>
              <a:t>nghĩa</a:t>
            </a:r>
            <a:r>
              <a:rPr dirty="0" sz="2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500" spc="15" b="1">
                <a:solidFill>
                  <a:srgbClr val="e0e0e0"/>
                </a:solidFill>
                <a:latin typeface="DejaVu Sans"/>
                <a:cs typeface="DejaVu Sans"/>
              </a:rPr>
              <a:t>Độ</a:t>
            </a:r>
          </a:p>
          <a:p>
            <a:pPr marL="0" marR="0">
              <a:lnSpc>
                <a:spcPts val="2932"/>
              </a:lnSpc>
              <a:spcBef>
                <a:spcPts val="192"/>
              </a:spcBef>
              <a:spcAft>
                <a:spcPts val="0"/>
              </a:spcAft>
            </a:pPr>
            <a:r>
              <a:rPr dirty="0" sz="2500" spc="11" b="1">
                <a:solidFill>
                  <a:srgbClr val="e0e0e0"/>
                </a:solidFill>
                <a:latin typeface="DejaVu Sans"/>
                <a:cs typeface="DejaVu Sans"/>
              </a:rPr>
              <a:t>sâu</a:t>
            </a:r>
            <a:r>
              <a:rPr dirty="0" sz="2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500" spc="-61" b="1">
                <a:solidFill>
                  <a:srgbClr val="e0e0e0"/>
                </a:solidFill>
                <a:latin typeface="DejaVu Sans"/>
                <a:cs typeface="DejaVu Sans"/>
              </a:rPr>
              <a:t>Trục</a:t>
            </a:r>
            <a:r>
              <a:rPr dirty="0" sz="2500" spc="77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500" b="1">
                <a:solidFill>
                  <a:srgbClr val="e0e0e0"/>
                </a:solidFill>
                <a:latin typeface="DejaVu Sans"/>
                <a:cs typeface="DejaVu Sans"/>
              </a:rPr>
              <a:t>Z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565254" y="3617287"/>
            <a:ext cx="4444908" cy="8010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dirty="0" sz="2500" spc="12" b="1">
                <a:solidFill>
                  <a:srgbClr val="e0e0e0"/>
                </a:solidFill>
                <a:latin typeface="DejaVu Sans"/>
                <a:cs typeface="DejaVu Sans"/>
              </a:rPr>
              <a:t>Bóng</a:t>
            </a:r>
            <a:r>
              <a:rPr dirty="0" sz="2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500" spc="12" b="1">
                <a:solidFill>
                  <a:srgbClr val="e0e0e0"/>
                </a:solidFill>
                <a:latin typeface="DejaVu Sans"/>
                <a:cs typeface="DejaVu Sans"/>
              </a:rPr>
              <a:t>đổ:</a:t>
            </a:r>
            <a:r>
              <a:rPr dirty="0" sz="2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500" spc="12" b="1">
                <a:solidFill>
                  <a:srgbClr val="e0e0e0"/>
                </a:solidFill>
                <a:latin typeface="DejaVu Sans"/>
                <a:cs typeface="DejaVu Sans"/>
              </a:rPr>
              <a:t>Thể</a:t>
            </a:r>
            <a:r>
              <a:rPr dirty="0" sz="2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500" spc="10" b="1">
                <a:solidFill>
                  <a:srgbClr val="e0e0e0"/>
                </a:solidFill>
                <a:latin typeface="DejaVu Sans"/>
                <a:cs typeface="DejaVu Sans"/>
              </a:rPr>
              <a:t>hiện</a:t>
            </a:r>
            <a:r>
              <a:rPr dirty="0" sz="2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500" spc="12" b="1">
                <a:solidFill>
                  <a:srgbClr val="e0e0e0"/>
                </a:solidFill>
                <a:latin typeface="DejaVu Sans"/>
                <a:cs typeface="DejaVu Sans"/>
              </a:rPr>
              <a:t>Phân</a:t>
            </a:r>
          </a:p>
          <a:p>
            <a:pPr marL="0" marR="0">
              <a:lnSpc>
                <a:spcPts val="2932"/>
              </a:lnSpc>
              <a:spcBef>
                <a:spcPts val="192"/>
              </a:spcBef>
              <a:spcAft>
                <a:spcPts val="0"/>
              </a:spcAft>
            </a:pPr>
            <a:r>
              <a:rPr dirty="0" sz="2500" spc="11" b="1">
                <a:solidFill>
                  <a:srgbClr val="e0e0e0"/>
                </a:solidFill>
                <a:latin typeface="DejaVu Sans"/>
                <a:cs typeface="DejaVu Sans"/>
              </a:rPr>
              <a:t>cấp</a:t>
            </a:r>
            <a:r>
              <a:rPr dirty="0" sz="2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500" b="1">
                <a:solidFill>
                  <a:srgbClr val="e0e0e0"/>
                </a:solidFill>
                <a:latin typeface="DejaVu Sans"/>
                <a:cs typeface="DejaVu Sans"/>
              </a:rPr>
              <a:t>&amp;</a:t>
            </a:r>
            <a:r>
              <a:rPr dirty="0" sz="2500" spc="21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500" spc="-46" b="1">
                <a:solidFill>
                  <a:srgbClr val="e0e0e0"/>
                </a:solidFill>
                <a:latin typeface="DejaVu Sans"/>
                <a:cs typeface="DejaVu Sans"/>
              </a:rPr>
              <a:t>Trạng</a:t>
            </a:r>
            <a:r>
              <a:rPr dirty="0" sz="2500" spc="64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500" spc="10" b="1">
                <a:solidFill>
                  <a:srgbClr val="e0e0e0"/>
                </a:solidFill>
                <a:latin typeface="DejaVu Sans"/>
                <a:cs typeface="DejaVu Sans"/>
              </a:rPr>
              <a:t>thái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35520" y="4555176"/>
            <a:ext cx="4830530" cy="5569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Xác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định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vị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trí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không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gian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của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thành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phần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UI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trên</a:t>
            </a:r>
            <a:r>
              <a:rPr dirty="0" sz="1500" spc="17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trục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Z.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763791" y="4555176"/>
            <a:ext cx="4754423" cy="5569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Độ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dài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độ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 spc="10">
                <a:solidFill>
                  <a:srgbClr val="d1d5db"/>
                </a:solidFill>
                <a:latin typeface="DejaVu Sans"/>
                <a:cs typeface="DejaVu Sans"/>
              </a:rPr>
              <a:t>mờ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của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bóng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phản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ánh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độ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cao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của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thành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phần.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36984" y="4593276"/>
            <a:ext cx="265664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0bcd4"/>
                </a:solidFill>
                <a:latin typeface="DejaVu Sans"/>
                <a:cs typeface="DejaVu Sans"/>
              </a:rPr>
              <a:t>•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565254" y="4593276"/>
            <a:ext cx="265664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ff9800"/>
                </a:solidFill>
                <a:latin typeface="DejaVu Sans"/>
                <a:cs typeface="DejaVu Sans"/>
              </a:rPr>
              <a:t>•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35520" y="5231451"/>
            <a:ext cx="4916409" cy="5664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Tạo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cảm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giác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về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khoảng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cách,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giúp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phân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biệt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lớp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nội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dung.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763791" y="5231451"/>
            <a:ext cx="4741860" cy="5664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Bóng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đổ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hướng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dẫn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người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dùng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về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tương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tác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thứ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tự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quan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trọng.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36984" y="5279076"/>
            <a:ext cx="265664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0bcd4"/>
                </a:solidFill>
                <a:latin typeface="DejaVu Sans"/>
                <a:cs typeface="DejaVu Sans"/>
              </a:rPr>
              <a:t>•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565254" y="5279076"/>
            <a:ext cx="265664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ff9800"/>
                </a:solidFill>
                <a:latin typeface="DejaVu Sans"/>
                <a:cs typeface="DejaVu Sans"/>
              </a:rPr>
              <a:t>•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102369" y="6060880"/>
            <a:ext cx="890258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00bcd4"/>
                </a:solidFill>
                <a:latin typeface="DejaVu Sans"/>
                <a:cs typeface="DejaVu Sans"/>
              </a:rPr>
              <a:t>Phân</a:t>
            </a:r>
            <a:r>
              <a:rPr dirty="0" sz="1350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0bcd4"/>
                </a:solidFill>
                <a:latin typeface="DejaVu Sans"/>
                <a:cs typeface="DejaVu Sans"/>
              </a:rPr>
              <a:t>lớp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604194" y="6060880"/>
            <a:ext cx="1225082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00bcd4"/>
                </a:solidFill>
                <a:latin typeface="DejaVu Sans"/>
                <a:cs typeface="DejaVu Sans"/>
              </a:rPr>
              <a:t>Chiều</a:t>
            </a:r>
            <a:r>
              <a:rPr dirty="0" sz="1350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0bcd4"/>
                </a:solidFill>
                <a:latin typeface="DejaVu Sans"/>
                <a:cs typeface="DejaVu Sans"/>
              </a:rPr>
              <a:t>sâu</a:t>
            </a:r>
            <a:r>
              <a:rPr dirty="0" sz="1350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0bcd4"/>
                </a:solidFill>
                <a:latin typeface="DejaVu Sans"/>
                <a:cs typeface="DejaVu Sans"/>
              </a:rPr>
              <a:t>UI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030639" y="6060880"/>
            <a:ext cx="1213901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ff9800"/>
                </a:solidFill>
                <a:latin typeface="DejaVu Sans"/>
                <a:cs typeface="DejaVu Sans"/>
              </a:rPr>
              <a:t>Hiệu</a:t>
            </a:r>
            <a:r>
              <a:rPr dirty="0" sz="135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ff9800"/>
                </a:solidFill>
                <a:latin typeface="DejaVu Sans"/>
                <a:cs typeface="DejaVu Sans"/>
              </a:rPr>
              <a:t>ứng</a:t>
            </a:r>
            <a:r>
              <a:rPr dirty="0" sz="135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ff9800"/>
                </a:solidFill>
                <a:latin typeface="DejaVu Sans"/>
                <a:cs typeface="DejaVu Sans"/>
              </a:rPr>
              <a:t>3D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8856016" y="6060880"/>
            <a:ext cx="1882204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ff9800"/>
                </a:solidFill>
                <a:latin typeface="DejaVu Sans"/>
                <a:cs typeface="DejaVu Sans"/>
              </a:rPr>
              <a:t>Tương</a:t>
            </a:r>
            <a:r>
              <a:rPr dirty="0" sz="135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ff9800"/>
                </a:solidFill>
                <a:latin typeface="DejaVu Sans"/>
                <a:cs typeface="DejaVu Sans"/>
              </a:rPr>
              <a:t>tác</a:t>
            </a:r>
            <a:r>
              <a:rPr dirty="0" sz="135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ff9800"/>
                </a:solidFill>
                <a:latin typeface="DejaVu Sans"/>
                <a:cs typeface="DejaVu Sans"/>
              </a:rPr>
              <a:t>&amp;</a:t>
            </a:r>
            <a:r>
              <a:rPr dirty="0" sz="135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ff9800"/>
                </a:solidFill>
                <a:latin typeface="DejaVu Sans"/>
                <a:cs typeface="DejaVu Sans"/>
              </a:rPr>
              <a:t>Ưu</a:t>
            </a:r>
            <a:r>
              <a:rPr dirty="0" sz="135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ff9800"/>
                </a:solidFill>
                <a:latin typeface="DejaVu Sans"/>
                <a:cs typeface="DejaVu Sans"/>
              </a:rPr>
              <a:t>tiên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589656" y="7059497"/>
            <a:ext cx="5138175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4" b="1">
                <a:solidFill>
                  <a:srgbClr val="ffffff"/>
                </a:solidFill>
                <a:latin typeface="DejaVu Sans"/>
                <a:cs typeface="DejaVu Sans"/>
              </a:rPr>
              <a:t>Tại</a:t>
            </a:r>
            <a:r>
              <a:rPr dirty="0" sz="17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700" spc="-12" b="1">
                <a:solidFill>
                  <a:srgbClr val="ffffff"/>
                </a:solidFill>
                <a:latin typeface="DejaVu Sans"/>
                <a:cs typeface="DejaVu Sans"/>
              </a:rPr>
              <a:t>sao</a:t>
            </a:r>
            <a:r>
              <a:rPr dirty="0" sz="17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700" spc="-11" b="1">
                <a:solidFill>
                  <a:srgbClr val="ffffff"/>
                </a:solidFill>
                <a:latin typeface="DejaVu Sans"/>
                <a:cs typeface="DejaVu Sans"/>
              </a:rPr>
              <a:t>Elevation</a:t>
            </a:r>
            <a:r>
              <a:rPr dirty="0" sz="1700" spc="-1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700" b="1">
                <a:solidFill>
                  <a:srgbClr val="ffffff"/>
                </a:solidFill>
                <a:latin typeface="DejaVu Sans"/>
                <a:cs typeface="DejaVu Sans"/>
              </a:rPr>
              <a:t>&amp;</a:t>
            </a:r>
            <a:r>
              <a:rPr dirty="0" sz="1700" spc="-25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ffffff"/>
                </a:solidFill>
                <a:latin typeface="DejaVu Sans"/>
                <a:cs typeface="DejaVu Sans"/>
              </a:rPr>
              <a:t>Shadows</a:t>
            </a:r>
            <a:r>
              <a:rPr dirty="0" sz="17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ffffff"/>
                </a:solidFill>
                <a:latin typeface="DejaVu Sans"/>
                <a:cs typeface="DejaVu Sans"/>
              </a:rPr>
              <a:t>quan</a:t>
            </a:r>
            <a:r>
              <a:rPr dirty="0" sz="17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700" spc="-12" b="1">
                <a:solidFill>
                  <a:srgbClr val="ffffff"/>
                </a:solidFill>
                <a:latin typeface="DejaVu Sans"/>
                <a:cs typeface="DejaVu Sans"/>
              </a:rPr>
              <a:t>trọng?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74935" y="7442005"/>
            <a:ext cx="11059025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"Motion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giúp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UI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biểu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cảm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dễ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sử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dụng.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Nó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làm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nổi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bật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mối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quan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hệ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giữa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thành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phần,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tính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khả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dụng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của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hành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động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kết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quả."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8432898" y="8024539"/>
            <a:ext cx="3359904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Source: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Understanding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motion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-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Material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Design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2</a:t>
            </a:r>
          </a:p>
        </p:txBody>
      </p: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8743442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063031" y="333807"/>
            <a:ext cx="6218259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0" b="1">
                <a:solidFill>
                  <a:srgbClr val="00bcd4"/>
                </a:solidFill>
                <a:latin typeface="DejaVu Sans"/>
                <a:cs typeface="DejaVu Sans"/>
              </a:rPr>
              <a:t>Elevation</a:t>
            </a:r>
            <a:r>
              <a:rPr dirty="0" sz="4050" spc="389" b="1">
                <a:solidFill>
                  <a:srgbClr val="00bcd4"/>
                </a:solidFill>
                <a:latin typeface="Times New Roman"/>
                <a:cs typeface="Times New Roman"/>
              </a:rPr>
              <a:t> 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&amp;</a:t>
            </a:r>
            <a:r>
              <a:rPr dirty="0" sz="4050" spc="-21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4" b="1">
                <a:solidFill>
                  <a:srgbClr val="ff9800"/>
                </a:solidFill>
                <a:latin typeface="DejaVu Sans"/>
                <a:cs typeface="DejaVu Sans"/>
              </a:rPr>
              <a:t>Shadows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6984" y="3617287"/>
            <a:ext cx="4624186" cy="8010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dirty="0" sz="2500" spc="10" b="1">
                <a:solidFill>
                  <a:srgbClr val="e0e0e0"/>
                </a:solidFill>
                <a:latin typeface="DejaVu Sans"/>
                <a:cs typeface="DejaVu Sans"/>
              </a:rPr>
              <a:t>Elevation:</a:t>
            </a:r>
            <a:r>
              <a:rPr dirty="0" sz="2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500" spc="11" b="1">
                <a:solidFill>
                  <a:srgbClr val="e0e0e0"/>
                </a:solidFill>
                <a:latin typeface="DejaVu Sans"/>
                <a:cs typeface="DejaVu Sans"/>
              </a:rPr>
              <a:t>Định</a:t>
            </a:r>
            <a:r>
              <a:rPr dirty="0" sz="2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500" spc="10" b="1">
                <a:solidFill>
                  <a:srgbClr val="e0e0e0"/>
                </a:solidFill>
                <a:latin typeface="DejaVu Sans"/>
                <a:cs typeface="DejaVu Sans"/>
              </a:rPr>
              <a:t>nghĩa</a:t>
            </a:r>
            <a:r>
              <a:rPr dirty="0" sz="2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500" spc="15" b="1">
                <a:solidFill>
                  <a:srgbClr val="e0e0e0"/>
                </a:solidFill>
                <a:latin typeface="DejaVu Sans"/>
                <a:cs typeface="DejaVu Sans"/>
              </a:rPr>
              <a:t>Độ</a:t>
            </a:r>
          </a:p>
          <a:p>
            <a:pPr marL="0" marR="0">
              <a:lnSpc>
                <a:spcPts val="2932"/>
              </a:lnSpc>
              <a:spcBef>
                <a:spcPts val="192"/>
              </a:spcBef>
              <a:spcAft>
                <a:spcPts val="0"/>
              </a:spcAft>
            </a:pPr>
            <a:r>
              <a:rPr dirty="0" sz="2500" spc="11" b="1">
                <a:solidFill>
                  <a:srgbClr val="e0e0e0"/>
                </a:solidFill>
                <a:latin typeface="DejaVu Sans"/>
                <a:cs typeface="DejaVu Sans"/>
              </a:rPr>
              <a:t>sâu</a:t>
            </a:r>
            <a:r>
              <a:rPr dirty="0" sz="2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500" spc="-61" b="1">
                <a:solidFill>
                  <a:srgbClr val="e0e0e0"/>
                </a:solidFill>
                <a:latin typeface="DejaVu Sans"/>
                <a:cs typeface="DejaVu Sans"/>
              </a:rPr>
              <a:t>Trục</a:t>
            </a:r>
            <a:r>
              <a:rPr dirty="0" sz="2500" spc="77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500" b="1">
                <a:solidFill>
                  <a:srgbClr val="e0e0e0"/>
                </a:solidFill>
                <a:latin typeface="DejaVu Sans"/>
                <a:cs typeface="DejaVu Sans"/>
              </a:rPr>
              <a:t>Z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565254" y="3617287"/>
            <a:ext cx="4444908" cy="8010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dirty="0" sz="2500" spc="12" b="1">
                <a:solidFill>
                  <a:srgbClr val="e0e0e0"/>
                </a:solidFill>
                <a:latin typeface="DejaVu Sans"/>
                <a:cs typeface="DejaVu Sans"/>
              </a:rPr>
              <a:t>Bóng</a:t>
            </a:r>
            <a:r>
              <a:rPr dirty="0" sz="2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500" spc="12" b="1">
                <a:solidFill>
                  <a:srgbClr val="e0e0e0"/>
                </a:solidFill>
                <a:latin typeface="DejaVu Sans"/>
                <a:cs typeface="DejaVu Sans"/>
              </a:rPr>
              <a:t>đổ:</a:t>
            </a:r>
            <a:r>
              <a:rPr dirty="0" sz="2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500" spc="12" b="1">
                <a:solidFill>
                  <a:srgbClr val="e0e0e0"/>
                </a:solidFill>
                <a:latin typeface="DejaVu Sans"/>
                <a:cs typeface="DejaVu Sans"/>
              </a:rPr>
              <a:t>Thể</a:t>
            </a:r>
            <a:r>
              <a:rPr dirty="0" sz="2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500" spc="10" b="1">
                <a:solidFill>
                  <a:srgbClr val="e0e0e0"/>
                </a:solidFill>
                <a:latin typeface="DejaVu Sans"/>
                <a:cs typeface="DejaVu Sans"/>
              </a:rPr>
              <a:t>hiện</a:t>
            </a:r>
            <a:r>
              <a:rPr dirty="0" sz="2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500" spc="12" b="1">
                <a:solidFill>
                  <a:srgbClr val="e0e0e0"/>
                </a:solidFill>
                <a:latin typeface="DejaVu Sans"/>
                <a:cs typeface="DejaVu Sans"/>
              </a:rPr>
              <a:t>Phân</a:t>
            </a:r>
          </a:p>
          <a:p>
            <a:pPr marL="0" marR="0">
              <a:lnSpc>
                <a:spcPts val="2932"/>
              </a:lnSpc>
              <a:spcBef>
                <a:spcPts val="192"/>
              </a:spcBef>
              <a:spcAft>
                <a:spcPts val="0"/>
              </a:spcAft>
            </a:pPr>
            <a:r>
              <a:rPr dirty="0" sz="2500" spc="11" b="1">
                <a:solidFill>
                  <a:srgbClr val="e0e0e0"/>
                </a:solidFill>
                <a:latin typeface="DejaVu Sans"/>
                <a:cs typeface="DejaVu Sans"/>
              </a:rPr>
              <a:t>cấp</a:t>
            </a:r>
            <a:r>
              <a:rPr dirty="0" sz="2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500" b="1">
                <a:solidFill>
                  <a:srgbClr val="e0e0e0"/>
                </a:solidFill>
                <a:latin typeface="DejaVu Sans"/>
                <a:cs typeface="DejaVu Sans"/>
              </a:rPr>
              <a:t>&amp;</a:t>
            </a:r>
            <a:r>
              <a:rPr dirty="0" sz="2500" spc="21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500" spc="-46" b="1">
                <a:solidFill>
                  <a:srgbClr val="e0e0e0"/>
                </a:solidFill>
                <a:latin typeface="DejaVu Sans"/>
                <a:cs typeface="DejaVu Sans"/>
              </a:rPr>
              <a:t>Trạng</a:t>
            </a:r>
            <a:r>
              <a:rPr dirty="0" sz="2500" spc="64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500" spc="10" b="1">
                <a:solidFill>
                  <a:srgbClr val="e0e0e0"/>
                </a:solidFill>
                <a:latin typeface="DejaVu Sans"/>
                <a:cs typeface="DejaVu Sans"/>
              </a:rPr>
              <a:t>thái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35520" y="4555176"/>
            <a:ext cx="4830530" cy="5569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Xác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định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vị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trí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không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gian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của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thành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phần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UI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trên</a:t>
            </a:r>
            <a:r>
              <a:rPr dirty="0" sz="1500" spc="17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trục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Z.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763791" y="4555176"/>
            <a:ext cx="4754423" cy="5569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Độ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dài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độ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 spc="10">
                <a:solidFill>
                  <a:srgbClr val="d1d5db"/>
                </a:solidFill>
                <a:latin typeface="DejaVu Sans"/>
                <a:cs typeface="DejaVu Sans"/>
              </a:rPr>
              <a:t>mờ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của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bóng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phản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ánh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độ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cao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của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thành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phần.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36984" y="4593276"/>
            <a:ext cx="265664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0bcd4"/>
                </a:solidFill>
                <a:latin typeface="DejaVu Sans"/>
                <a:cs typeface="DejaVu Sans"/>
              </a:rPr>
              <a:t>•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565254" y="4593276"/>
            <a:ext cx="265664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ff9800"/>
                </a:solidFill>
                <a:latin typeface="DejaVu Sans"/>
                <a:cs typeface="DejaVu Sans"/>
              </a:rPr>
              <a:t>•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35520" y="5231451"/>
            <a:ext cx="4916409" cy="5664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Tạo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cảm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giác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về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khoảng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cách,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giúp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phân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biệt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lớp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nội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dung.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763791" y="5231451"/>
            <a:ext cx="4741860" cy="5664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Bóng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đổ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hướng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dẫn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người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dùng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về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tương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tác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thứ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tự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quan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trọng.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36984" y="5279076"/>
            <a:ext cx="265664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0bcd4"/>
                </a:solidFill>
                <a:latin typeface="DejaVu Sans"/>
                <a:cs typeface="DejaVu Sans"/>
              </a:rPr>
              <a:t>•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565254" y="5279076"/>
            <a:ext cx="265664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ff9800"/>
                </a:solidFill>
                <a:latin typeface="DejaVu Sans"/>
                <a:cs typeface="DejaVu Sans"/>
              </a:rPr>
              <a:t>•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102369" y="6060880"/>
            <a:ext cx="890258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00bcd4"/>
                </a:solidFill>
                <a:latin typeface="DejaVu Sans"/>
                <a:cs typeface="DejaVu Sans"/>
              </a:rPr>
              <a:t>Phân</a:t>
            </a:r>
            <a:r>
              <a:rPr dirty="0" sz="1350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0bcd4"/>
                </a:solidFill>
                <a:latin typeface="DejaVu Sans"/>
                <a:cs typeface="DejaVu Sans"/>
              </a:rPr>
              <a:t>lớp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604194" y="6060880"/>
            <a:ext cx="1225082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00bcd4"/>
                </a:solidFill>
                <a:latin typeface="DejaVu Sans"/>
                <a:cs typeface="DejaVu Sans"/>
              </a:rPr>
              <a:t>Chiều</a:t>
            </a:r>
            <a:r>
              <a:rPr dirty="0" sz="1350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0bcd4"/>
                </a:solidFill>
                <a:latin typeface="DejaVu Sans"/>
                <a:cs typeface="DejaVu Sans"/>
              </a:rPr>
              <a:t>sâu</a:t>
            </a:r>
            <a:r>
              <a:rPr dirty="0" sz="1350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0bcd4"/>
                </a:solidFill>
                <a:latin typeface="DejaVu Sans"/>
                <a:cs typeface="DejaVu Sans"/>
              </a:rPr>
              <a:t>UI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030639" y="6060880"/>
            <a:ext cx="1213901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ff9800"/>
                </a:solidFill>
                <a:latin typeface="DejaVu Sans"/>
                <a:cs typeface="DejaVu Sans"/>
              </a:rPr>
              <a:t>Hiệu</a:t>
            </a:r>
            <a:r>
              <a:rPr dirty="0" sz="135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ff9800"/>
                </a:solidFill>
                <a:latin typeface="DejaVu Sans"/>
                <a:cs typeface="DejaVu Sans"/>
              </a:rPr>
              <a:t>ứng</a:t>
            </a:r>
            <a:r>
              <a:rPr dirty="0" sz="135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ff9800"/>
                </a:solidFill>
                <a:latin typeface="DejaVu Sans"/>
                <a:cs typeface="DejaVu Sans"/>
              </a:rPr>
              <a:t>3D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8856016" y="6060880"/>
            <a:ext cx="1882204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ff9800"/>
                </a:solidFill>
                <a:latin typeface="DejaVu Sans"/>
                <a:cs typeface="DejaVu Sans"/>
              </a:rPr>
              <a:t>Tương</a:t>
            </a:r>
            <a:r>
              <a:rPr dirty="0" sz="135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ff9800"/>
                </a:solidFill>
                <a:latin typeface="DejaVu Sans"/>
                <a:cs typeface="DejaVu Sans"/>
              </a:rPr>
              <a:t>tác</a:t>
            </a:r>
            <a:r>
              <a:rPr dirty="0" sz="135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ff9800"/>
                </a:solidFill>
                <a:latin typeface="DejaVu Sans"/>
                <a:cs typeface="DejaVu Sans"/>
              </a:rPr>
              <a:t>&amp;</a:t>
            </a:r>
            <a:r>
              <a:rPr dirty="0" sz="135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ff9800"/>
                </a:solidFill>
                <a:latin typeface="DejaVu Sans"/>
                <a:cs typeface="DejaVu Sans"/>
              </a:rPr>
              <a:t>Ưu</a:t>
            </a:r>
            <a:r>
              <a:rPr dirty="0" sz="135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ff9800"/>
                </a:solidFill>
                <a:latin typeface="DejaVu Sans"/>
                <a:cs typeface="DejaVu Sans"/>
              </a:rPr>
              <a:t>tiên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589656" y="7059497"/>
            <a:ext cx="5138175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4" b="1">
                <a:solidFill>
                  <a:srgbClr val="ffffff"/>
                </a:solidFill>
                <a:latin typeface="DejaVu Sans"/>
                <a:cs typeface="DejaVu Sans"/>
              </a:rPr>
              <a:t>Tại</a:t>
            </a:r>
            <a:r>
              <a:rPr dirty="0" sz="17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700" spc="-12" b="1">
                <a:solidFill>
                  <a:srgbClr val="ffffff"/>
                </a:solidFill>
                <a:latin typeface="DejaVu Sans"/>
                <a:cs typeface="DejaVu Sans"/>
              </a:rPr>
              <a:t>sao</a:t>
            </a:r>
            <a:r>
              <a:rPr dirty="0" sz="17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700" spc="-11" b="1">
                <a:solidFill>
                  <a:srgbClr val="ffffff"/>
                </a:solidFill>
                <a:latin typeface="DejaVu Sans"/>
                <a:cs typeface="DejaVu Sans"/>
              </a:rPr>
              <a:t>Elevation</a:t>
            </a:r>
            <a:r>
              <a:rPr dirty="0" sz="1700" spc="-1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700" b="1">
                <a:solidFill>
                  <a:srgbClr val="ffffff"/>
                </a:solidFill>
                <a:latin typeface="DejaVu Sans"/>
                <a:cs typeface="DejaVu Sans"/>
              </a:rPr>
              <a:t>&amp;</a:t>
            </a:r>
            <a:r>
              <a:rPr dirty="0" sz="1700" spc="-25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ffffff"/>
                </a:solidFill>
                <a:latin typeface="DejaVu Sans"/>
                <a:cs typeface="DejaVu Sans"/>
              </a:rPr>
              <a:t>Shadows</a:t>
            </a:r>
            <a:r>
              <a:rPr dirty="0" sz="17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ffffff"/>
                </a:solidFill>
                <a:latin typeface="DejaVu Sans"/>
                <a:cs typeface="DejaVu Sans"/>
              </a:rPr>
              <a:t>quan</a:t>
            </a:r>
            <a:r>
              <a:rPr dirty="0" sz="17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700" spc="-12" b="1">
                <a:solidFill>
                  <a:srgbClr val="ffffff"/>
                </a:solidFill>
                <a:latin typeface="DejaVu Sans"/>
                <a:cs typeface="DejaVu Sans"/>
              </a:rPr>
              <a:t>trọng?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74935" y="7442005"/>
            <a:ext cx="11059025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"Motion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giúp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UI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biểu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cảm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dễ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sử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dụng.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Nó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làm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nổi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bật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mối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quan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hệ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giữa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thành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phần,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tính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khả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dụng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của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hành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động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kết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quả."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8432898" y="8024539"/>
            <a:ext cx="3359904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Source: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Understanding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motion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-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Material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Design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2</a:t>
            </a:r>
          </a:p>
        </p:txBody>
      </p: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10038843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244923" y="676707"/>
            <a:ext cx="7854305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58" b="1">
                <a:solidFill>
                  <a:srgbClr val="e5e7eb"/>
                </a:solidFill>
                <a:latin typeface="DejaVu Sans"/>
                <a:cs typeface="DejaVu Sans"/>
              </a:rPr>
              <a:t>Typography</a:t>
            </a:r>
            <a:r>
              <a:rPr dirty="0" sz="4050" spc="40" b="1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4050" spc="-10" b="1">
                <a:solidFill>
                  <a:srgbClr val="e5e7eb"/>
                </a:solidFill>
                <a:latin typeface="DejaVu Sans"/>
                <a:cs typeface="DejaVu Sans"/>
              </a:rPr>
              <a:t>trong</a:t>
            </a:r>
            <a:r>
              <a:rPr dirty="0" sz="4050" b="1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4050" spc="-11" b="1">
                <a:solidFill>
                  <a:srgbClr val="00bcd4"/>
                </a:solidFill>
                <a:latin typeface="DejaVu Sans"/>
                <a:cs typeface="DejaVu Sans"/>
              </a:rPr>
              <a:t>Material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063948" y="3057488"/>
            <a:ext cx="2629282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ff9800"/>
                </a:solidFill>
                <a:latin typeface="DejaVu Sans"/>
                <a:cs typeface="DejaVu Sans"/>
              </a:rPr>
              <a:t>Phông</a:t>
            </a:r>
            <a:r>
              <a:rPr dirty="0" sz="2000" b="1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ff9800"/>
                </a:solidFill>
                <a:latin typeface="DejaVu Sans"/>
                <a:cs typeface="DejaVu Sans"/>
              </a:rPr>
              <a:t>chữ</a:t>
            </a:r>
            <a:r>
              <a:rPr dirty="0" sz="2000" b="1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ff9800"/>
                </a:solidFill>
                <a:latin typeface="DejaVu Sans"/>
                <a:cs typeface="DejaVu Sans"/>
              </a:rPr>
              <a:t>chuẩn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457181" y="3057488"/>
            <a:ext cx="3017008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2" b="1">
                <a:solidFill>
                  <a:srgbClr val="00bcd4"/>
                </a:solidFill>
                <a:latin typeface="DejaVu Sans"/>
                <a:cs typeface="DejaVu Sans"/>
              </a:rPr>
              <a:t>Hệ</a:t>
            </a:r>
            <a:r>
              <a:rPr dirty="0" sz="200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0bcd4"/>
                </a:solidFill>
                <a:latin typeface="DejaVu Sans"/>
                <a:cs typeface="DejaVu Sans"/>
              </a:rPr>
              <a:t>thống</a:t>
            </a:r>
            <a:r>
              <a:rPr dirty="0" sz="200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00bcd4"/>
                </a:solidFill>
                <a:latin typeface="DejaVu Sans"/>
                <a:cs typeface="DejaVu Sans"/>
              </a:rPr>
              <a:t>Kiểu</a:t>
            </a:r>
            <a:r>
              <a:rPr dirty="0" sz="200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0bcd4"/>
                </a:solidFill>
                <a:latin typeface="DejaVu Sans"/>
                <a:cs typeface="DejaVu Sans"/>
              </a:rPr>
              <a:t>dáng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25723" y="3565331"/>
            <a:ext cx="4705604" cy="75114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Material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Design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ưu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tiên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sự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 spc="-31">
                <a:solidFill>
                  <a:srgbClr val="d1d5db"/>
                </a:solidFill>
                <a:latin typeface="DejaVu Sans"/>
                <a:cs typeface="DejaVu Sans"/>
              </a:rPr>
              <a:t>rõ</a:t>
            </a:r>
            <a:r>
              <a:rPr dirty="0" sz="1350" spc="25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ràng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dễ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đọc,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đề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xuất</a:t>
            </a:r>
          </a:p>
          <a:p>
            <a:pPr marL="16505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phông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chữ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cụ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thể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cho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hệ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thống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ngôn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ngữ</a:t>
            </a:r>
          </a:p>
          <a:p>
            <a:pPr marL="1805433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khác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nhau.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630589" y="3565331"/>
            <a:ext cx="4670243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Một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thang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kiểu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chữ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có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thể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tái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sử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dụng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giúp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tạo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sự</a:t>
            </a:r>
          </a:p>
          <a:p>
            <a:pPr marL="116532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nhất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quán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về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mặt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hình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ảnh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cho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toàn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bộ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giao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diện.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574779" y="4253669"/>
            <a:ext cx="4720617" cy="78308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866"/>
              </a:lnSpc>
              <a:spcBef>
                <a:spcPts val="0"/>
              </a:spcBef>
              <a:spcAft>
                <a:spcPts val="0"/>
              </a:spcAft>
            </a:pPr>
            <a:r>
              <a:rPr dirty="0" sz="5050" spc="-259">
                <a:solidFill>
                  <a:srgbClr val="e5e7eb"/>
                </a:solidFill>
                <a:latin typeface="DejaVu Sans"/>
                <a:cs typeface="DejaVu Sans"/>
              </a:rPr>
              <a:t>H1:</a:t>
            </a:r>
            <a:r>
              <a:rPr dirty="0" sz="5050" spc="-251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5050" spc="-231">
                <a:solidFill>
                  <a:srgbClr val="e5e7eb"/>
                </a:solidFill>
                <a:latin typeface="DejaVu Sans"/>
                <a:cs typeface="DejaVu Sans"/>
              </a:rPr>
              <a:t>Tiêu</a:t>
            </a:r>
            <a:r>
              <a:rPr dirty="0" sz="5050" spc="-282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5050" spc="-258">
                <a:solidFill>
                  <a:srgbClr val="e5e7eb"/>
                </a:solidFill>
                <a:latin typeface="DejaVu Sans"/>
                <a:cs typeface="DejaVu Sans"/>
              </a:rPr>
              <a:t>đề</a:t>
            </a:r>
            <a:r>
              <a:rPr dirty="0" sz="5050" spc="-254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5050" spc="-257">
                <a:solidFill>
                  <a:srgbClr val="e5e7eb"/>
                </a:solidFill>
                <a:latin typeface="DejaVu Sans"/>
                <a:cs typeface="DejaVu Sans"/>
              </a:rPr>
              <a:t>Lớn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34331" y="4594031"/>
            <a:ext cx="3394398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Dành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cho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các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ngôn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ngữ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sử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dụng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bảng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194345" y="4717856"/>
            <a:ext cx="907661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e5e7eb"/>
                </a:solidFill>
                <a:latin typeface="DejaVu Sans"/>
                <a:cs typeface="DejaVu Sans"/>
              </a:rPr>
              <a:t>Roboto: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034331" y="4851206"/>
            <a:ext cx="2690977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chữ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cái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Latin,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Hy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Lạp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và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Kirin.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574779" y="5122238"/>
            <a:ext cx="1981189" cy="410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dirty="0" sz="2500" spc="12">
                <a:solidFill>
                  <a:srgbClr val="e5e7eb"/>
                </a:solidFill>
                <a:latin typeface="DejaVu Sans"/>
                <a:cs typeface="DejaVu Sans"/>
              </a:rPr>
              <a:t>H2:</a:t>
            </a:r>
            <a:r>
              <a:rPr dirty="0" sz="25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2500" spc="-17">
                <a:solidFill>
                  <a:srgbClr val="e5e7eb"/>
                </a:solidFill>
                <a:latin typeface="DejaVu Sans"/>
                <a:cs typeface="DejaVu Sans"/>
              </a:rPr>
              <a:t>Tiêu</a:t>
            </a:r>
            <a:r>
              <a:rPr dirty="0" sz="2500" spc="34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2500" spc="11">
                <a:solidFill>
                  <a:srgbClr val="e5e7eb"/>
                </a:solidFill>
                <a:latin typeface="DejaVu Sans"/>
                <a:cs typeface="DejaVu Sans"/>
              </a:rPr>
              <a:t>đề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818977" y="5232206"/>
            <a:ext cx="3877883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Dành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cho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tất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cả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các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ngôn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ngữ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khác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để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đảm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bảo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tính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toàn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cầu.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206847" y="5365556"/>
            <a:ext cx="679632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e5e7eb"/>
                </a:solidFill>
                <a:latin typeface="DejaVu Sans"/>
                <a:cs typeface="DejaVu Sans"/>
              </a:rPr>
              <a:t>Noto: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574779" y="5697422"/>
            <a:ext cx="1983999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0">
                <a:solidFill>
                  <a:srgbClr val="e5e7eb"/>
                </a:solidFill>
                <a:latin typeface="DejaVu Sans"/>
                <a:cs typeface="DejaVu Sans"/>
              </a:rPr>
              <a:t>Subtitle1:</a:t>
            </a:r>
            <a:r>
              <a:rPr dirty="0" sz="17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5e7eb"/>
                </a:solidFill>
                <a:latin typeface="DejaVu Sans"/>
                <a:cs typeface="DejaVu Sans"/>
              </a:rPr>
              <a:t>Phụ</a:t>
            </a:r>
            <a:r>
              <a:rPr dirty="0" sz="17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5e7eb"/>
                </a:solidFill>
                <a:latin typeface="DejaVu Sans"/>
                <a:cs typeface="DejaVu Sans"/>
              </a:rPr>
              <a:t>đề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521469" y="6033061"/>
            <a:ext cx="707583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2" b="1">
                <a:solidFill>
                  <a:srgbClr val="ffffff"/>
                </a:solidFill>
                <a:latin typeface="DejaVu Sans"/>
                <a:cs typeface="DejaVu Sans"/>
              </a:rPr>
              <a:t>Clarity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472034" y="6033061"/>
            <a:ext cx="1106415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4" b="1">
                <a:solidFill>
                  <a:srgbClr val="ffffff"/>
                </a:solidFill>
                <a:latin typeface="DejaVu Sans"/>
                <a:cs typeface="DejaVu Sans"/>
              </a:rPr>
              <a:t>Readability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3821161" y="6033061"/>
            <a:ext cx="1414421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 b="1">
                <a:solidFill>
                  <a:srgbClr val="ffffff"/>
                </a:solidFill>
                <a:latin typeface="DejaVu Sans"/>
                <a:cs typeface="DejaVu Sans"/>
              </a:rPr>
              <a:t>Global</a:t>
            </a:r>
            <a:r>
              <a:rPr dirty="0" sz="12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7" b="1">
                <a:solidFill>
                  <a:srgbClr val="ffffff"/>
                </a:solidFill>
                <a:latin typeface="DejaVu Sans"/>
                <a:cs typeface="DejaVu Sans"/>
              </a:rPr>
              <a:t>Support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574779" y="6175181"/>
            <a:ext cx="1569489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Body1: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Nội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dung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6574779" y="6585511"/>
            <a:ext cx="1538778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4">
                <a:solidFill>
                  <a:srgbClr val="9ca3af"/>
                </a:solidFill>
                <a:latin typeface="DejaVu Sans"/>
                <a:cs typeface="DejaVu Sans"/>
              </a:rPr>
              <a:t>Caption: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Chú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9ca3af"/>
                </a:solidFill>
                <a:latin typeface="DejaVu Sans"/>
                <a:cs typeface="DejaVu Sans"/>
              </a:rPr>
              <a:t>thích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7354489" y="7099861"/>
            <a:ext cx="970189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 b="1">
                <a:solidFill>
                  <a:srgbClr val="ffffff"/>
                </a:solidFill>
                <a:latin typeface="DejaVu Sans"/>
                <a:cs typeface="DejaVu Sans"/>
              </a:rPr>
              <a:t>Hierarchy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8567587" y="7099861"/>
            <a:ext cx="601768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4" b="1">
                <a:solidFill>
                  <a:srgbClr val="ffffff"/>
                </a:solidFill>
                <a:latin typeface="DejaVu Sans"/>
                <a:cs typeface="DejaVu Sans"/>
              </a:rPr>
              <a:t>Scale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9412336" y="7099861"/>
            <a:ext cx="1164828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 b="1">
                <a:solidFill>
                  <a:srgbClr val="ffffff"/>
                </a:solidFill>
                <a:latin typeface="DejaVu Sans"/>
                <a:cs typeface="DejaVu Sans"/>
              </a:rPr>
              <a:t>Consistency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567904" y="8269172"/>
            <a:ext cx="4137319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2" b="1">
                <a:solidFill>
                  <a:srgbClr val="e5e7eb"/>
                </a:solidFill>
                <a:latin typeface="DejaVu Sans"/>
                <a:cs typeface="DejaVu Sans"/>
              </a:rPr>
              <a:t>Định</a:t>
            </a:r>
            <a:r>
              <a:rPr dirty="0" sz="1700" b="1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700" spc="-12" b="1">
                <a:solidFill>
                  <a:srgbClr val="e5e7eb"/>
                </a:solidFill>
                <a:latin typeface="DejaVu Sans"/>
                <a:cs typeface="DejaVu Sans"/>
              </a:rPr>
              <a:t>nghĩa</a:t>
            </a:r>
            <a:r>
              <a:rPr dirty="0" sz="1700" b="1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e5e7eb"/>
                </a:solidFill>
                <a:latin typeface="DejaVu Sans"/>
                <a:cs typeface="DejaVu Sans"/>
              </a:rPr>
              <a:t>bằng</a:t>
            </a:r>
            <a:r>
              <a:rPr dirty="0" sz="1700" b="1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700" spc="-28" b="1">
                <a:solidFill>
                  <a:srgbClr val="e5e7eb"/>
                </a:solidFill>
                <a:latin typeface="DejaVu Sans"/>
                <a:cs typeface="DejaVu Sans"/>
              </a:rPr>
              <a:t>TextAppearance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10536732" y="8585761"/>
            <a:ext cx="744338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2" b="1">
                <a:solidFill>
                  <a:srgbClr val="ffffff"/>
                </a:solidFill>
                <a:latin typeface="DejaVu Sans"/>
                <a:cs typeface="DejaVu Sans"/>
              </a:rPr>
              <a:t>Styling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1567904" y="8613581"/>
            <a:ext cx="8502272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Quản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lý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tập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trung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thuộc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tính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phong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cách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văn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bản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(font,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size,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color)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 spc="-10">
                <a:solidFill>
                  <a:srgbClr val="d1d5db"/>
                </a:solidFill>
                <a:latin typeface="DejaVu Sans"/>
                <a:cs typeface="DejaVu Sans"/>
              </a:rPr>
              <a:t>trong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Android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để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đảm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bảo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tính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nhất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quán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 spc="-12">
                <a:solidFill>
                  <a:srgbClr val="d1d5db"/>
                </a:solidFill>
                <a:latin typeface="DejaVu Sans"/>
                <a:cs typeface="DejaVu Sans"/>
              </a:rPr>
              <a:t>trên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toàn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ứng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dụng.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7860207" y="9786664"/>
            <a:ext cx="4313534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Source: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Material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Design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for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Android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|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Views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-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Android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Developers</a:t>
            </a:r>
          </a:p>
        </p:txBody>
      </p: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10038843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244923" y="676707"/>
            <a:ext cx="7854305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58" b="1">
                <a:solidFill>
                  <a:srgbClr val="e5e7eb"/>
                </a:solidFill>
                <a:latin typeface="DejaVu Sans"/>
                <a:cs typeface="DejaVu Sans"/>
              </a:rPr>
              <a:t>Typography</a:t>
            </a:r>
            <a:r>
              <a:rPr dirty="0" sz="4050" spc="40" b="1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4050" spc="-10" b="1">
                <a:solidFill>
                  <a:srgbClr val="e5e7eb"/>
                </a:solidFill>
                <a:latin typeface="DejaVu Sans"/>
                <a:cs typeface="DejaVu Sans"/>
              </a:rPr>
              <a:t>trong</a:t>
            </a:r>
            <a:r>
              <a:rPr dirty="0" sz="4050" b="1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4050" spc="-11" b="1">
                <a:solidFill>
                  <a:srgbClr val="00bcd4"/>
                </a:solidFill>
                <a:latin typeface="DejaVu Sans"/>
                <a:cs typeface="DejaVu Sans"/>
              </a:rPr>
              <a:t>Material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063948" y="3057488"/>
            <a:ext cx="2629282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ff9800"/>
                </a:solidFill>
                <a:latin typeface="DejaVu Sans"/>
                <a:cs typeface="DejaVu Sans"/>
              </a:rPr>
              <a:t>Phông</a:t>
            </a:r>
            <a:r>
              <a:rPr dirty="0" sz="2000" b="1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ff9800"/>
                </a:solidFill>
                <a:latin typeface="DejaVu Sans"/>
                <a:cs typeface="DejaVu Sans"/>
              </a:rPr>
              <a:t>chữ</a:t>
            </a:r>
            <a:r>
              <a:rPr dirty="0" sz="2000" b="1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ff9800"/>
                </a:solidFill>
                <a:latin typeface="DejaVu Sans"/>
                <a:cs typeface="DejaVu Sans"/>
              </a:rPr>
              <a:t>chuẩn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457181" y="3057488"/>
            <a:ext cx="3017008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2" b="1">
                <a:solidFill>
                  <a:srgbClr val="00bcd4"/>
                </a:solidFill>
                <a:latin typeface="DejaVu Sans"/>
                <a:cs typeface="DejaVu Sans"/>
              </a:rPr>
              <a:t>Hệ</a:t>
            </a:r>
            <a:r>
              <a:rPr dirty="0" sz="200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0bcd4"/>
                </a:solidFill>
                <a:latin typeface="DejaVu Sans"/>
                <a:cs typeface="DejaVu Sans"/>
              </a:rPr>
              <a:t>thống</a:t>
            </a:r>
            <a:r>
              <a:rPr dirty="0" sz="200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00bcd4"/>
                </a:solidFill>
                <a:latin typeface="DejaVu Sans"/>
                <a:cs typeface="DejaVu Sans"/>
              </a:rPr>
              <a:t>Kiểu</a:t>
            </a:r>
            <a:r>
              <a:rPr dirty="0" sz="200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0bcd4"/>
                </a:solidFill>
                <a:latin typeface="DejaVu Sans"/>
                <a:cs typeface="DejaVu Sans"/>
              </a:rPr>
              <a:t>dáng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25723" y="3565331"/>
            <a:ext cx="4705604" cy="75114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Material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Design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ưu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tiên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sự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 spc="-31">
                <a:solidFill>
                  <a:srgbClr val="d1d5db"/>
                </a:solidFill>
                <a:latin typeface="DejaVu Sans"/>
                <a:cs typeface="DejaVu Sans"/>
              </a:rPr>
              <a:t>rõ</a:t>
            </a:r>
            <a:r>
              <a:rPr dirty="0" sz="1350" spc="25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ràng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dễ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đọc,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đề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xuất</a:t>
            </a:r>
          </a:p>
          <a:p>
            <a:pPr marL="16505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phông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chữ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cụ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thể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cho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hệ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thống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ngôn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ngữ</a:t>
            </a:r>
          </a:p>
          <a:p>
            <a:pPr marL="1805433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khác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nhau.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630589" y="3565331"/>
            <a:ext cx="4670243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Một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thang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kiểu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chữ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có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thể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tái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sử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dụng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giúp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tạo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sự</a:t>
            </a:r>
          </a:p>
          <a:p>
            <a:pPr marL="116532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nhất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quán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về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mặt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hình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ảnh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cho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toàn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bộ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giao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diện.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574779" y="4253669"/>
            <a:ext cx="4720617" cy="78308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866"/>
              </a:lnSpc>
              <a:spcBef>
                <a:spcPts val="0"/>
              </a:spcBef>
              <a:spcAft>
                <a:spcPts val="0"/>
              </a:spcAft>
            </a:pPr>
            <a:r>
              <a:rPr dirty="0" sz="5050" spc="-259">
                <a:solidFill>
                  <a:srgbClr val="e5e7eb"/>
                </a:solidFill>
                <a:latin typeface="DejaVu Sans"/>
                <a:cs typeface="DejaVu Sans"/>
              </a:rPr>
              <a:t>H1:</a:t>
            </a:r>
            <a:r>
              <a:rPr dirty="0" sz="5050" spc="-251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5050" spc="-231">
                <a:solidFill>
                  <a:srgbClr val="e5e7eb"/>
                </a:solidFill>
                <a:latin typeface="DejaVu Sans"/>
                <a:cs typeface="DejaVu Sans"/>
              </a:rPr>
              <a:t>Tiêu</a:t>
            </a:r>
            <a:r>
              <a:rPr dirty="0" sz="5050" spc="-282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5050" spc="-258">
                <a:solidFill>
                  <a:srgbClr val="e5e7eb"/>
                </a:solidFill>
                <a:latin typeface="DejaVu Sans"/>
                <a:cs typeface="DejaVu Sans"/>
              </a:rPr>
              <a:t>đề</a:t>
            </a:r>
            <a:r>
              <a:rPr dirty="0" sz="5050" spc="-254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5050" spc="-257">
                <a:solidFill>
                  <a:srgbClr val="e5e7eb"/>
                </a:solidFill>
                <a:latin typeface="DejaVu Sans"/>
                <a:cs typeface="DejaVu Sans"/>
              </a:rPr>
              <a:t>Lớn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34331" y="4594031"/>
            <a:ext cx="3394398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Dành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cho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các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ngôn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ngữ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sử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dụng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bảng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194345" y="4717856"/>
            <a:ext cx="907661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e5e7eb"/>
                </a:solidFill>
                <a:latin typeface="DejaVu Sans"/>
                <a:cs typeface="DejaVu Sans"/>
              </a:rPr>
              <a:t>Roboto: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034331" y="4851206"/>
            <a:ext cx="2690977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chữ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cái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Latin,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Hy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Lạp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và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Kirin.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574779" y="5122238"/>
            <a:ext cx="1981189" cy="410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dirty="0" sz="2500" spc="12">
                <a:solidFill>
                  <a:srgbClr val="e5e7eb"/>
                </a:solidFill>
                <a:latin typeface="DejaVu Sans"/>
                <a:cs typeface="DejaVu Sans"/>
              </a:rPr>
              <a:t>H2:</a:t>
            </a:r>
            <a:r>
              <a:rPr dirty="0" sz="25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2500" spc="-17">
                <a:solidFill>
                  <a:srgbClr val="e5e7eb"/>
                </a:solidFill>
                <a:latin typeface="DejaVu Sans"/>
                <a:cs typeface="DejaVu Sans"/>
              </a:rPr>
              <a:t>Tiêu</a:t>
            </a:r>
            <a:r>
              <a:rPr dirty="0" sz="2500" spc="34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2500" spc="11">
                <a:solidFill>
                  <a:srgbClr val="e5e7eb"/>
                </a:solidFill>
                <a:latin typeface="DejaVu Sans"/>
                <a:cs typeface="DejaVu Sans"/>
              </a:rPr>
              <a:t>đề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818977" y="5232206"/>
            <a:ext cx="3877883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Dành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cho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tất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cả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các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ngôn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ngữ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khác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để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đảm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bảo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tính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toàn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cầu.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206847" y="5365556"/>
            <a:ext cx="679632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e5e7eb"/>
                </a:solidFill>
                <a:latin typeface="DejaVu Sans"/>
                <a:cs typeface="DejaVu Sans"/>
              </a:rPr>
              <a:t>Noto: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574779" y="5697422"/>
            <a:ext cx="1983999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0">
                <a:solidFill>
                  <a:srgbClr val="e5e7eb"/>
                </a:solidFill>
                <a:latin typeface="DejaVu Sans"/>
                <a:cs typeface="DejaVu Sans"/>
              </a:rPr>
              <a:t>Subtitle1:</a:t>
            </a:r>
            <a:r>
              <a:rPr dirty="0" sz="17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5e7eb"/>
                </a:solidFill>
                <a:latin typeface="DejaVu Sans"/>
                <a:cs typeface="DejaVu Sans"/>
              </a:rPr>
              <a:t>Phụ</a:t>
            </a:r>
            <a:r>
              <a:rPr dirty="0" sz="170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5e7eb"/>
                </a:solidFill>
                <a:latin typeface="DejaVu Sans"/>
                <a:cs typeface="DejaVu Sans"/>
              </a:rPr>
              <a:t>đề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521469" y="6033061"/>
            <a:ext cx="707583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2" b="1">
                <a:solidFill>
                  <a:srgbClr val="ffffff"/>
                </a:solidFill>
                <a:latin typeface="DejaVu Sans"/>
                <a:cs typeface="DejaVu Sans"/>
              </a:rPr>
              <a:t>Clarity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472034" y="6033061"/>
            <a:ext cx="1106415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4" b="1">
                <a:solidFill>
                  <a:srgbClr val="ffffff"/>
                </a:solidFill>
                <a:latin typeface="DejaVu Sans"/>
                <a:cs typeface="DejaVu Sans"/>
              </a:rPr>
              <a:t>Readability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3821161" y="6033061"/>
            <a:ext cx="1414421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 b="1">
                <a:solidFill>
                  <a:srgbClr val="ffffff"/>
                </a:solidFill>
                <a:latin typeface="DejaVu Sans"/>
                <a:cs typeface="DejaVu Sans"/>
              </a:rPr>
              <a:t>Global</a:t>
            </a:r>
            <a:r>
              <a:rPr dirty="0" sz="12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7" b="1">
                <a:solidFill>
                  <a:srgbClr val="ffffff"/>
                </a:solidFill>
                <a:latin typeface="DejaVu Sans"/>
                <a:cs typeface="DejaVu Sans"/>
              </a:rPr>
              <a:t>Support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574779" y="6175181"/>
            <a:ext cx="1569489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Body1: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Nội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dung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6574779" y="6585511"/>
            <a:ext cx="1538778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4">
                <a:solidFill>
                  <a:srgbClr val="9ca3af"/>
                </a:solidFill>
                <a:latin typeface="DejaVu Sans"/>
                <a:cs typeface="DejaVu Sans"/>
              </a:rPr>
              <a:t>Caption: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Chú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9ca3af"/>
                </a:solidFill>
                <a:latin typeface="DejaVu Sans"/>
                <a:cs typeface="DejaVu Sans"/>
              </a:rPr>
              <a:t>thích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7354489" y="7099861"/>
            <a:ext cx="970189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 b="1">
                <a:solidFill>
                  <a:srgbClr val="ffffff"/>
                </a:solidFill>
                <a:latin typeface="DejaVu Sans"/>
                <a:cs typeface="DejaVu Sans"/>
              </a:rPr>
              <a:t>Hierarchy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8567587" y="7099861"/>
            <a:ext cx="601768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4" b="1">
                <a:solidFill>
                  <a:srgbClr val="ffffff"/>
                </a:solidFill>
                <a:latin typeface="DejaVu Sans"/>
                <a:cs typeface="DejaVu Sans"/>
              </a:rPr>
              <a:t>Scale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9412336" y="7099861"/>
            <a:ext cx="1164828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 b="1">
                <a:solidFill>
                  <a:srgbClr val="ffffff"/>
                </a:solidFill>
                <a:latin typeface="DejaVu Sans"/>
                <a:cs typeface="DejaVu Sans"/>
              </a:rPr>
              <a:t>Consistency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567904" y="8269172"/>
            <a:ext cx="4137319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2" b="1">
                <a:solidFill>
                  <a:srgbClr val="e5e7eb"/>
                </a:solidFill>
                <a:latin typeface="DejaVu Sans"/>
                <a:cs typeface="DejaVu Sans"/>
              </a:rPr>
              <a:t>Định</a:t>
            </a:r>
            <a:r>
              <a:rPr dirty="0" sz="1700" b="1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700" spc="-12" b="1">
                <a:solidFill>
                  <a:srgbClr val="e5e7eb"/>
                </a:solidFill>
                <a:latin typeface="DejaVu Sans"/>
                <a:cs typeface="DejaVu Sans"/>
              </a:rPr>
              <a:t>nghĩa</a:t>
            </a:r>
            <a:r>
              <a:rPr dirty="0" sz="1700" b="1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e5e7eb"/>
                </a:solidFill>
                <a:latin typeface="DejaVu Sans"/>
                <a:cs typeface="DejaVu Sans"/>
              </a:rPr>
              <a:t>bằng</a:t>
            </a:r>
            <a:r>
              <a:rPr dirty="0" sz="1700" b="1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700" spc="-28" b="1">
                <a:solidFill>
                  <a:srgbClr val="e5e7eb"/>
                </a:solidFill>
                <a:latin typeface="DejaVu Sans"/>
                <a:cs typeface="DejaVu Sans"/>
              </a:rPr>
              <a:t>TextAppearance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10536732" y="8585761"/>
            <a:ext cx="744338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2" b="1">
                <a:solidFill>
                  <a:srgbClr val="ffffff"/>
                </a:solidFill>
                <a:latin typeface="DejaVu Sans"/>
                <a:cs typeface="DejaVu Sans"/>
              </a:rPr>
              <a:t>Styling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1567904" y="8613581"/>
            <a:ext cx="8502272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Quản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lý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tập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trung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thuộc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tính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phong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cách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văn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bản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(font,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size,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color)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 spc="-10">
                <a:solidFill>
                  <a:srgbClr val="d1d5db"/>
                </a:solidFill>
                <a:latin typeface="DejaVu Sans"/>
                <a:cs typeface="DejaVu Sans"/>
              </a:rPr>
              <a:t>trong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Android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để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đảm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bảo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tính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nhất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quán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 spc="-12">
                <a:solidFill>
                  <a:srgbClr val="d1d5db"/>
                </a:solidFill>
                <a:latin typeface="DejaVu Sans"/>
                <a:cs typeface="DejaVu Sans"/>
              </a:rPr>
              <a:t>trên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toàn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ứng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dụng.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7860207" y="9786664"/>
            <a:ext cx="4313534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Source: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Material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Design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for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Android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|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Views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-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Android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Developers</a:t>
            </a:r>
          </a:p>
        </p:txBody>
      </p:sp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94615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521445" y="346209"/>
            <a:ext cx="7301311" cy="4851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spc="20" b="1">
                <a:solidFill>
                  <a:srgbClr val="00bcd4"/>
                </a:solidFill>
                <a:latin typeface="DejaVu Sans"/>
                <a:cs typeface="DejaVu Sans"/>
              </a:rPr>
              <a:t>Hệ</a:t>
            </a:r>
            <a:r>
              <a:rPr dirty="0" sz="300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3000" spc="15" b="1">
                <a:solidFill>
                  <a:srgbClr val="00bcd4"/>
                </a:solidFill>
                <a:latin typeface="DejaVu Sans"/>
                <a:cs typeface="DejaVu Sans"/>
              </a:rPr>
              <a:t>thống</a:t>
            </a:r>
            <a:r>
              <a:rPr dirty="0" sz="3000" spc="1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3000" spc="20" b="1">
                <a:solidFill>
                  <a:srgbClr val="00bcd4"/>
                </a:solidFill>
                <a:latin typeface="DejaVu Sans"/>
                <a:cs typeface="DejaVu Sans"/>
              </a:rPr>
              <a:t>màu</a:t>
            </a:r>
            <a:r>
              <a:rPr dirty="0" sz="300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3000" spc="15" b="1">
                <a:solidFill>
                  <a:srgbClr val="00bcd4"/>
                </a:solidFill>
                <a:latin typeface="DejaVu Sans"/>
                <a:cs typeface="DejaVu Sans"/>
              </a:rPr>
              <a:t>sắc</a:t>
            </a:r>
            <a:r>
              <a:rPr dirty="0" sz="300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3000" spc="14" b="1">
                <a:solidFill>
                  <a:srgbClr val="ff9800"/>
                </a:solidFill>
                <a:latin typeface="DejaVu Sans"/>
                <a:cs typeface="DejaVu Sans"/>
              </a:rPr>
              <a:t>trong</a:t>
            </a:r>
            <a:r>
              <a:rPr dirty="0" sz="3000" spc="10" b="1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3000" spc="15" b="1">
                <a:solidFill>
                  <a:srgbClr val="ff9800"/>
                </a:solidFill>
                <a:latin typeface="DejaVu Sans"/>
                <a:cs typeface="DejaVu Sans"/>
              </a:rPr>
              <a:t>Material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41362" y="1438095"/>
            <a:ext cx="2633900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7" b="1">
                <a:solidFill>
                  <a:srgbClr val="e0e0e0"/>
                </a:solidFill>
                <a:latin typeface="DejaVu Sans"/>
                <a:cs typeface="DejaVu Sans"/>
              </a:rPr>
              <a:t>Màu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 b="1">
                <a:solidFill>
                  <a:srgbClr val="e0e0e0"/>
                </a:solidFill>
                <a:latin typeface="DejaVu Sans"/>
                <a:cs typeface="DejaVu Sans"/>
              </a:rPr>
              <a:t>Chính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 b="1">
                <a:solidFill>
                  <a:srgbClr val="e0e0e0"/>
                </a:solidFill>
                <a:latin typeface="DejaVu Sans"/>
                <a:cs typeface="DejaVu Sans"/>
              </a:rPr>
              <a:t>(Primary)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962923" y="1438095"/>
            <a:ext cx="2727622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7" b="1">
                <a:solidFill>
                  <a:srgbClr val="e0e0e0"/>
                </a:solidFill>
                <a:latin typeface="DejaVu Sans"/>
                <a:cs typeface="DejaVu Sans"/>
              </a:rPr>
              <a:t>Màu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e0e0e0"/>
                </a:solidFill>
                <a:latin typeface="DejaVu Sans"/>
                <a:cs typeface="DejaVu Sans"/>
              </a:rPr>
              <a:t>Phụ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 b="1">
                <a:solidFill>
                  <a:srgbClr val="e0e0e0"/>
                </a:solidFill>
                <a:latin typeface="DejaVu Sans"/>
                <a:cs typeface="DejaVu Sans"/>
              </a:rPr>
              <a:t>(Secondary)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32370" y="1887279"/>
            <a:ext cx="4264970" cy="9225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00bcd4"/>
                </a:solidFill>
                <a:latin typeface="DejaVu Sans"/>
                <a:cs typeface="DejaVu Sans"/>
              </a:rPr>
              <a:t>•</a:t>
            </a:r>
            <a:r>
              <a:rPr dirty="0" sz="1350" spc="85">
                <a:solidFill>
                  <a:srgbClr val="00bcd4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Màu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sắc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chủ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đạo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của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thương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hiệu.</a:t>
            </a:r>
          </a:p>
          <a:p>
            <a:pPr marL="0" marR="0">
              <a:lnSpc>
                <a:spcPts val="1564"/>
              </a:lnSpc>
              <a:spcBef>
                <a:spcPts val="1135"/>
              </a:spcBef>
              <a:spcAft>
                <a:spcPts val="0"/>
              </a:spcAft>
            </a:pPr>
            <a:r>
              <a:rPr dirty="0" sz="1350">
                <a:solidFill>
                  <a:srgbClr val="00bcd4"/>
                </a:solidFill>
                <a:latin typeface="DejaVu Sans"/>
                <a:cs typeface="DejaVu Sans"/>
              </a:rPr>
              <a:t>•</a:t>
            </a:r>
            <a:r>
              <a:rPr dirty="0" sz="1350" spc="85">
                <a:solidFill>
                  <a:srgbClr val="00bcd4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Dùng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cho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thanh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ứng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dụng,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nút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hành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động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nổi.</a:t>
            </a:r>
          </a:p>
          <a:p>
            <a:pPr marL="0" marR="0">
              <a:lnSpc>
                <a:spcPts val="1564"/>
              </a:lnSpc>
              <a:spcBef>
                <a:spcPts val="1135"/>
              </a:spcBef>
              <a:spcAft>
                <a:spcPts val="0"/>
              </a:spcAft>
            </a:pPr>
            <a:r>
              <a:rPr dirty="0" sz="1350">
                <a:solidFill>
                  <a:srgbClr val="00bcd4"/>
                </a:solidFill>
                <a:latin typeface="DejaVu Sans"/>
                <a:cs typeface="DejaVu Sans"/>
              </a:rPr>
              <a:t>•</a:t>
            </a:r>
            <a:r>
              <a:rPr dirty="0" sz="1350" spc="85">
                <a:solidFill>
                  <a:srgbClr val="00bcd4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Có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biến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thể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'Primary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 spc="-15">
                <a:solidFill>
                  <a:srgbClr val="d1d5db"/>
                </a:solidFill>
                <a:latin typeface="DejaVu Sans"/>
                <a:cs typeface="DejaVu Sans"/>
              </a:rPr>
              <a:t>Variant'.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453931" y="1887279"/>
            <a:ext cx="3864645" cy="9225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00bcd4"/>
                </a:solidFill>
                <a:latin typeface="DejaVu Sans"/>
                <a:cs typeface="DejaVu Sans"/>
              </a:rPr>
              <a:t>•</a:t>
            </a:r>
            <a:r>
              <a:rPr dirty="0" sz="1350" spc="85">
                <a:solidFill>
                  <a:srgbClr val="00bcd4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Làm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nổi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bật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phần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tử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quan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trọng.</a:t>
            </a:r>
          </a:p>
          <a:p>
            <a:pPr marL="0" marR="0">
              <a:lnSpc>
                <a:spcPts val="1564"/>
              </a:lnSpc>
              <a:spcBef>
                <a:spcPts val="1135"/>
              </a:spcBef>
              <a:spcAft>
                <a:spcPts val="0"/>
              </a:spcAft>
            </a:pPr>
            <a:r>
              <a:rPr dirty="0" sz="1350">
                <a:solidFill>
                  <a:srgbClr val="00bcd4"/>
                </a:solidFill>
                <a:latin typeface="DejaVu Sans"/>
                <a:cs typeface="DejaVu Sans"/>
              </a:rPr>
              <a:t>•</a:t>
            </a:r>
            <a:r>
              <a:rPr dirty="0" sz="1350" spc="85">
                <a:solidFill>
                  <a:srgbClr val="00bcd4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Dùng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cho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điều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khiển,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tiêu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đề,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nút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nổi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bật.</a:t>
            </a:r>
          </a:p>
          <a:p>
            <a:pPr marL="0" marR="0">
              <a:lnSpc>
                <a:spcPts val="1564"/>
              </a:lnSpc>
              <a:spcBef>
                <a:spcPts val="1135"/>
              </a:spcBef>
              <a:spcAft>
                <a:spcPts val="0"/>
              </a:spcAft>
            </a:pPr>
            <a:r>
              <a:rPr dirty="0" sz="1350">
                <a:solidFill>
                  <a:srgbClr val="00bcd4"/>
                </a:solidFill>
                <a:latin typeface="DejaVu Sans"/>
                <a:cs typeface="DejaVu Sans"/>
              </a:rPr>
              <a:t>•</a:t>
            </a:r>
            <a:r>
              <a:rPr dirty="0" sz="1350" spc="85">
                <a:solidFill>
                  <a:srgbClr val="00bcd4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Bổ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trợ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màu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chính,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tạo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điểm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nhấn.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38931" y="3022263"/>
            <a:ext cx="739068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99f6e4"/>
                </a:solidFill>
                <a:latin typeface="DejaVu Sans"/>
                <a:cs typeface="DejaVu Sans"/>
              </a:rPr>
              <a:t>Chủ</a:t>
            </a:r>
            <a:r>
              <a:rPr dirty="0" sz="1000" b="1">
                <a:solidFill>
                  <a:srgbClr val="99f6e4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99f6e4"/>
                </a:solidFill>
                <a:latin typeface="DejaVu Sans"/>
                <a:cs typeface="DejaVu Sans"/>
              </a:rPr>
              <a:t>đạo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624012" y="3022263"/>
            <a:ext cx="886121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99f6e4"/>
                </a:solidFill>
                <a:latin typeface="DejaVu Sans"/>
                <a:cs typeface="DejaVu Sans"/>
              </a:rPr>
              <a:t>Nhận</a:t>
            </a:r>
            <a:r>
              <a:rPr dirty="0" sz="1000" b="1">
                <a:solidFill>
                  <a:srgbClr val="99f6e4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99f6e4"/>
                </a:solidFill>
                <a:latin typeface="DejaVu Sans"/>
                <a:cs typeface="DejaVu Sans"/>
              </a:rPr>
              <a:t>diện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656135" y="3022263"/>
            <a:ext cx="726756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99f6e4"/>
                </a:solidFill>
                <a:latin typeface="DejaVu Sans"/>
                <a:cs typeface="DejaVu Sans"/>
              </a:rPr>
              <a:t>Nút</a:t>
            </a:r>
            <a:r>
              <a:rPr dirty="0" sz="1000" b="1">
                <a:solidFill>
                  <a:srgbClr val="99f6e4"/>
                </a:solidFill>
                <a:latin typeface="DejaVu Sans"/>
                <a:cs typeface="DejaVu Sans"/>
              </a:rPr>
              <a:t> </a:t>
            </a:r>
            <a:r>
              <a:rPr dirty="0" sz="1000" spc="-34" b="1">
                <a:solidFill>
                  <a:srgbClr val="99f6e4"/>
                </a:solidFill>
                <a:latin typeface="DejaVu Sans"/>
                <a:cs typeface="DejaVu Sans"/>
              </a:rPr>
              <a:t>CTA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560491" y="3022263"/>
            <a:ext cx="675067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99f6e4"/>
                </a:solidFill>
                <a:latin typeface="DejaVu Sans"/>
                <a:cs typeface="DejaVu Sans"/>
              </a:rPr>
              <a:t>Nổi</a:t>
            </a:r>
            <a:r>
              <a:rPr dirty="0" sz="1000" b="1">
                <a:solidFill>
                  <a:srgbClr val="99f6e4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99f6e4"/>
                </a:solidFill>
                <a:latin typeface="DejaVu Sans"/>
                <a:cs typeface="DejaVu Sans"/>
              </a:rPr>
              <a:t>bật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381576" y="3022263"/>
            <a:ext cx="732506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99f6e4"/>
                </a:solidFill>
                <a:latin typeface="DejaVu Sans"/>
                <a:cs typeface="DejaVu Sans"/>
              </a:rPr>
              <a:t>Bổ</a:t>
            </a:r>
            <a:r>
              <a:rPr dirty="0" sz="1000" b="1">
                <a:solidFill>
                  <a:srgbClr val="99f6e4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99f6e4"/>
                </a:solidFill>
                <a:latin typeface="DejaVu Sans"/>
                <a:cs typeface="DejaVu Sans"/>
              </a:rPr>
              <a:t>sung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8260108" y="3022263"/>
            <a:ext cx="927993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99f6e4"/>
                </a:solidFill>
                <a:latin typeface="DejaVu Sans"/>
                <a:cs typeface="DejaVu Sans"/>
              </a:rPr>
              <a:t>Điểm</a:t>
            </a:r>
            <a:r>
              <a:rPr dirty="0" sz="1000" b="1">
                <a:solidFill>
                  <a:srgbClr val="99f6e4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99f6e4"/>
                </a:solidFill>
                <a:latin typeface="DejaVu Sans"/>
                <a:cs typeface="DejaVu Sans"/>
              </a:rPr>
              <a:t>nhấn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141362" y="3952695"/>
            <a:ext cx="2914233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7" b="1">
                <a:solidFill>
                  <a:srgbClr val="e0e0e0"/>
                </a:solidFill>
                <a:latin typeface="DejaVu Sans"/>
                <a:cs typeface="DejaVu Sans"/>
              </a:rPr>
              <a:t>Màu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e0e0e0"/>
                </a:solidFill>
                <a:latin typeface="DejaVu Sans"/>
                <a:cs typeface="DejaVu Sans"/>
              </a:rPr>
              <a:t>Nền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e0e0e0"/>
                </a:solidFill>
                <a:latin typeface="DejaVu Sans"/>
                <a:cs typeface="DejaVu Sans"/>
              </a:rPr>
              <a:t>(Background)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962923" y="3952695"/>
            <a:ext cx="2761778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7" b="1">
                <a:solidFill>
                  <a:srgbClr val="e0e0e0"/>
                </a:solidFill>
                <a:latin typeface="DejaVu Sans"/>
                <a:cs typeface="DejaVu Sans"/>
              </a:rPr>
              <a:t>Màu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e0e0e0"/>
                </a:solidFill>
                <a:latin typeface="DejaVu Sans"/>
                <a:cs typeface="DejaVu Sans"/>
              </a:rPr>
              <a:t>Bề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7" b="1">
                <a:solidFill>
                  <a:srgbClr val="e0e0e0"/>
                </a:solidFill>
                <a:latin typeface="DejaVu Sans"/>
                <a:cs typeface="DejaVu Sans"/>
              </a:rPr>
              <a:t>Mặt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1" b="1">
                <a:solidFill>
                  <a:srgbClr val="e0e0e0"/>
                </a:solidFill>
                <a:latin typeface="DejaVu Sans"/>
                <a:cs typeface="DejaVu Sans"/>
              </a:rPr>
              <a:t>(Surface)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32370" y="4401879"/>
            <a:ext cx="3667517" cy="9225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00bcd4"/>
                </a:solidFill>
                <a:latin typeface="DejaVu Sans"/>
                <a:cs typeface="DejaVu Sans"/>
              </a:rPr>
              <a:t>•</a:t>
            </a:r>
            <a:r>
              <a:rPr dirty="0" sz="1350" spc="85">
                <a:solidFill>
                  <a:srgbClr val="00bcd4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Màu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sắc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bao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quát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nhất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 spc="-10">
                <a:solidFill>
                  <a:srgbClr val="d1d5db"/>
                </a:solidFill>
                <a:latin typeface="DejaVu Sans"/>
                <a:cs typeface="DejaVu Sans"/>
              </a:rPr>
              <a:t>trong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giao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diện.</a:t>
            </a:r>
          </a:p>
          <a:p>
            <a:pPr marL="0" marR="0">
              <a:lnSpc>
                <a:spcPts val="1564"/>
              </a:lnSpc>
              <a:spcBef>
                <a:spcPts val="1135"/>
              </a:spcBef>
              <a:spcAft>
                <a:spcPts val="0"/>
              </a:spcAft>
            </a:pPr>
            <a:r>
              <a:rPr dirty="0" sz="1350">
                <a:solidFill>
                  <a:srgbClr val="00bcd4"/>
                </a:solidFill>
                <a:latin typeface="DejaVu Sans"/>
                <a:cs typeface="DejaVu Sans"/>
              </a:rPr>
              <a:t>•</a:t>
            </a:r>
            <a:r>
              <a:rPr dirty="0" sz="1350" spc="85">
                <a:solidFill>
                  <a:srgbClr val="00bcd4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Thường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là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trắng,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xám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nhạt/đậm.</a:t>
            </a:r>
          </a:p>
          <a:p>
            <a:pPr marL="0" marR="0">
              <a:lnSpc>
                <a:spcPts val="1564"/>
              </a:lnSpc>
              <a:spcBef>
                <a:spcPts val="1135"/>
              </a:spcBef>
              <a:spcAft>
                <a:spcPts val="0"/>
              </a:spcAft>
            </a:pPr>
            <a:r>
              <a:rPr dirty="0" sz="1350">
                <a:solidFill>
                  <a:srgbClr val="00bcd4"/>
                </a:solidFill>
                <a:latin typeface="DejaVu Sans"/>
                <a:cs typeface="DejaVu Sans"/>
              </a:rPr>
              <a:t>•</a:t>
            </a:r>
            <a:r>
              <a:rPr dirty="0" sz="1350" spc="85">
                <a:solidFill>
                  <a:srgbClr val="00bcd4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Tạo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phông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nền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cho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toàn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bộ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UI.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453931" y="4401879"/>
            <a:ext cx="3227221" cy="9225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00bcd4"/>
                </a:solidFill>
                <a:latin typeface="DejaVu Sans"/>
                <a:cs typeface="DejaVu Sans"/>
              </a:rPr>
              <a:t>•</a:t>
            </a:r>
            <a:r>
              <a:rPr dirty="0" sz="1350" spc="85">
                <a:solidFill>
                  <a:srgbClr val="00bcd4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Màu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của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"tấm"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hoặc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"card".</a:t>
            </a:r>
          </a:p>
          <a:p>
            <a:pPr marL="0" marR="0">
              <a:lnSpc>
                <a:spcPts val="1564"/>
              </a:lnSpc>
              <a:spcBef>
                <a:spcPts val="1135"/>
              </a:spcBef>
              <a:spcAft>
                <a:spcPts val="0"/>
              </a:spcAft>
            </a:pPr>
            <a:r>
              <a:rPr dirty="0" sz="1350">
                <a:solidFill>
                  <a:srgbClr val="00bcd4"/>
                </a:solidFill>
                <a:latin typeface="DejaVu Sans"/>
                <a:cs typeface="DejaVu Sans"/>
              </a:rPr>
              <a:t>•</a:t>
            </a:r>
            <a:r>
              <a:rPr dirty="0" sz="1350" spc="85">
                <a:solidFill>
                  <a:srgbClr val="00bcd4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Dùng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cho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thẻ,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bảng,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menu,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sheet.</a:t>
            </a:r>
          </a:p>
          <a:p>
            <a:pPr marL="0" marR="0">
              <a:lnSpc>
                <a:spcPts val="1564"/>
              </a:lnSpc>
              <a:spcBef>
                <a:spcPts val="1135"/>
              </a:spcBef>
              <a:spcAft>
                <a:spcPts val="0"/>
              </a:spcAft>
            </a:pPr>
            <a:r>
              <a:rPr dirty="0" sz="1350">
                <a:solidFill>
                  <a:srgbClr val="00bcd4"/>
                </a:solidFill>
                <a:latin typeface="DejaVu Sans"/>
                <a:cs typeface="DejaVu Sans"/>
              </a:rPr>
              <a:t>•</a:t>
            </a:r>
            <a:r>
              <a:rPr dirty="0" sz="1350" spc="85">
                <a:solidFill>
                  <a:srgbClr val="00bcd4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Phân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cấp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nội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dung,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tạo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độ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sâu.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738931" y="5536863"/>
            <a:ext cx="794064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99f6e4"/>
                </a:solidFill>
                <a:latin typeface="DejaVu Sans"/>
                <a:cs typeface="DejaVu Sans"/>
              </a:rPr>
              <a:t>Tổng</a:t>
            </a:r>
            <a:r>
              <a:rPr dirty="0" sz="1000" b="1">
                <a:solidFill>
                  <a:srgbClr val="99f6e4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99f6e4"/>
                </a:solidFill>
                <a:latin typeface="DejaVu Sans"/>
                <a:cs typeface="DejaVu Sans"/>
              </a:rPr>
              <a:t>thể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679078" y="5536863"/>
            <a:ext cx="921619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99f6e4"/>
                </a:solidFill>
                <a:latin typeface="DejaVu Sans"/>
                <a:cs typeface="DejaVu Sans"/>
              </a:rPr>
              <a:t>Phông</a:t>
            </a:r>
            <a:r>
              <a:rPr dirty="0" sz="1000" b="1">
                <a:solidFill>
                  <a:srgbClr val="99f6e4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99f6e4"/>
                </a:solidFill>
                <a:latin typeface="DejaVu Sans"/>
                <a:cs typeface="DejaVu Sans"/>
              </a:rPr>
              <a:t>nền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2746771" y="5536863"/>
            <a:ext cx="1219914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99f6e4"/>
                </a:solidFill>
                <a:latin typeface="DejaVu Sans"/>
                <a:cs typeface="DejaVu Sans"/>
              </a:rPr>
              <a:t>Độ</a:t>
            </a:r>
            <a:r>
              <a:rPr dirty="0" sz="1000" b="1">
                <a:solidFill>
                  <a:srgbClr val="99f6e4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99f6e4"/>
                </a:solidFill>
                <a:latin typeface="DejaVu Sans"/>
                <a:cs typeface="DejaVu Sans"/>
              </a:rPr>
              <a:t>tương</a:t>
            </a:r>
            <a:r>
              <a:rPr dirty="0" sz="1000" b="1">
                <a:solidFill>
                  <a:srgbClr val="99f6e4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99f6e4"/>
                </a:solidFill>
                <a:latin typeface="DejaVu Sans"/>
                <a:cs typeface="DejaVu Sans"/>
              </a:rPr>
              <a:t>phản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6560491" y="5536863"/>
            <a:ext cx="487504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99f6e4"/>
                </a:solidFill>
                <a:latin typeface="DejaVu Sans"/>
                <a:cs typeface="DejaVu Sans"/>
              </a:rPr>
              <a:t>Card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7194053" y="5536863"/>
            <a:ext cx="548887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99f6e4"/>
                </a:solidFill>
                <a:latin typeface="DejaVu Sans"/>
                <a:cs typeface="DejaVu Sans"/>
              </a:rPr>
              <a:t>Menu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7888931" y="5536863"/>
            <a:ext cx="813251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99f6e4"/>
                </a:solidFill>
                <a:latin typeface="DejaVu Sans"/>
                <a:cs typeface="DejaVu Sans"/>
              </a:rPr>
              <a:t>Phân</a:t>
            </a:r>
            <a:r>
              <a:rPr dirty="0" sz="1000" b="1">
                <a:solidFill>
                  <a:srgbClr val="99f6e4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99f6e4"/>
                </a:solidFill>
                <a:latin typeface="DejaVu Sans"/>
                <a:cs typeface="DejaVu Sans"/>
              </a:rPr>
              <a:t>cấp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141362" y="6514920"/>
            <a:ext cx="2927148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 b="1">
                <a:solidFill>
                  <a:srgbClr val="e0e0e0"/>
                </a:solidFill>
                <a:latin typeface="DejaVu Sans"/>
                <a:cs typeface="DejaVu Sans"/>
              </a:rPr>
              <a:t>Sử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e0e0e0"/>
                </a:solidFill>
                <a:latin typeface="DejaVu Sans"/>
                <a:cs typeface="DejaVu Sans"/>
              </a:rPr>
              <a:t>dụng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1" b="1">
                <a:solidFill>
                  <a:srgbClr val="e0e0e0"/>
                </a:solidFill>
                <a:latin typeface="DejaVu Sans"/>
                <a:cs typeface="DejaVu Sans"/>
              </a:rPr>
              <a:t>ColorStateList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821977" y="7002204"/>
            <a:ext cx="4824890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Định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nghĩa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màu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sắc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khác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nhau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dựa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 spc="-12">
                <a:solidFill>
                  <a:srgbClr val="d1d5db"/>
                </a:solidFill>
                <a:latin typeface="DejaVu Sans"/>
                <a:cs typeface="DejaVu Sans"/>
              </a:rPr>
              <a:t>trên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trạng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thái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của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 spc="-14">
                <a:solidFill>
                  <a:srgbClr val="d1d5db"/>
                </a:solidFill>
                <a:latin typeface="DejaVu Sans"/>
                <a:cs typeface="DejaVu Sans"/>
              </a:rPr>
              <a:t>View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(ví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dụ: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nút).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821977" y="7602279"/>
            <a:ext cx="4242895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Màu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thay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đổi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khi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nhấn,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vô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hiệu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hóa,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hoặc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focus.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821977" y="7945179"/>
            <a:ext cx="5038628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Nâng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cao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phản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hồi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tương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tác,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cải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thiện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trải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nghiệm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người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dùng.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738931" y="8651538"/>
            <a:ext cx="869495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fed7aa"/>
                </a:solidFill>
                <a:latin typeface="DejaVu Sans"/>
                <a:cs typeface="DejaVu Sans"/>
              </a:rPr>
              <a:t>Tương</a:t>
            </a:r>
            <a:r>
              <a:rPr dirty="0" sz="1000" b="1">
                <a:solidFill>
                  <a:srgbClr val="fed7aa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fed7aa"/>
                </a:solidFill>
                <a:latin typeface="DejaVu Sans"/>
                <a:cs typeface="DejaVu Sans"/>
              </a:rPr>
              <a:t>tác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1754534" y="8651538"/>
            <a:ext cx="782307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fed7aa"/>
                </a:solidFill>
                <a:latin typeface="DejaVu Sans"/>
                <a:cs typeface="DejaVu Sans"/>
              </a:rPr>
              <a:t>Phản</a:t>
            </a:r>
            <a:r>
              <a:rPr dirty="0" sz="1000" b="1">
                <a:solidFill>
                  <a:srgbClr val="fed7aa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fed7aa"/>
                </a:solidFill>
                <a:latin typeface="DejaVu Sans"/>
                <a:cs typeface="DejaVu Sans"/>
              </a:rPr>
              <a:t>hồi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2682924" y="8651538"/>
            <a:ext cx="1081099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spc="-23" b="1">
                <a:solidFill>
                  <a:srgbClr val="fed7aa"/>
                </a:solidFill>
                <a:latin typeface="DejaVu Sans"/>
                <a:cs typeface="DejaVu Sans"/>
              </a:rPr>
              <a:t>Trạng</a:t>
            </a:r>
            <a:r>
              <a:rPr dirty="0" sz="1000" spc="31" b="1">
                <a:solidFill>
                  <a:srgbClr val="fed7aa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fed7aa"/>
                </a:solidFill>
                <a:latin typeface="DejaVu Sans"/>
                <a:cs typeface="DejaVu Sans"/>
              </a:rPr>
              <a:t>thái</a:t>
            </a:r>
            <a:r>
              <a:rPr dirty="0" sz="1000" b="1">
                <a:solidFill>
                  <a:srgbClr val="fed7aa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fed7aa"/>
                </a:solidFill>
                <a:latin typeface="DejaVu Sans"/>
                <a:cs typeface="DejaVu Sans"/>
              </a:rPr>
              <a:t>UI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7172621" y="8632488"/>
            <a:ext cx="3820680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Minh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họa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các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thành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phần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màu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sắc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trong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Material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Design.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7882383" y="9203988"/>
            <a:ext cx="4291472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Nguồn: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Material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Design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for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Android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|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Views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-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Android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Developers</a:t>
            </a:r>
          </a:p>
        </p:txBody>
      </p:sp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94615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521445" y="346209"/>
            <a:ext cx="7301311" cy="4851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spc="20" b="1">
                <a:solidFill>
                  <a:srgbClr val="00bcd4"/>
                </a:solidFill>
                <a:latin typeface="DejaVu Sans"/>
                <a:cs typeface="DejaVu Sans"/>
              </a:rPr>
              <a:t>Hệ</a:t>
            </a:r>
            <a:r>
              <a:rPr dirty="0" sz="300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3000" spc="15" b="1">
                <a:solidFill>
                  <a:srgbClr val="00bcd4"/>
                </a:solidFill>
                <a:latin typeface="DejaVu Sans"/>
                <a:cs typeface="DejaVu Sans"/>
              </a:rPr>
              <a:t>thống</a:t>
            </a:r>
            <a:r>
              <a:rPr dirty="0" sz="3000" spc="1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3000" spc="20" b="1">
                <a:solidFill>
                  <a:srgbClr val="00bcd4"/>
                </a:solidFill>
                <a:latin typeface="DejaVu Sans"/>
                <a:cs typeface="DejaVu Sans"/>
              </a:rPr>
              <a:t>màu</a:t>
            </a:r>
            <a:r>
              <a:rPr dirty="0" sz="300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3000" spc="15" b="1">
                <a:solidFill>
                  <a:srgbClr val="00bcd4"/>
                </a:solidFill>
                <a:latin typeface="DejaVu Sans"/>
                <a:cs typeface="DejaVu Sans"/>
              </a:rPr>
              <a:t>sắc</a:t>
            </a:r>
            <a:r>
              <a:rPr dirty="0" sz="300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3000" spc="14" b="1">
                <a:solidFill>
                  <a:srgbClr val="ff9800"/>
                </a:solidFill>
                <a:latin typeface="DejaVu Sans"/>
                <a:cs typeface="DejaVu Sans"/>
              </a:rPr>
              <a:t>trong</a:t>
            </a:r>
            <a:r>
              <a:rPr dirty="0" sz="3000" spc="10" b="1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3000" spc="15" b="1">
                <a:solidFill>
                  <a:srgbClr val="ff9800"/>
                </a:solidFill>
                <a:latin typeface="DejaVu Sans"/>
                <a:cs typeface="DejaVu Sans"/>
              </a:rPr>
              <a:t>Material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41362" y="1438095"/>
            <a:ext cx="2633900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7" b="1">
                <a:solidFill>
                  <a:srgbClr val="e0e0e0"/>
                </a:solidFill>
                <a:latin typeface="DejaVu Sans"/>
                <a:cs typeface="DejaVu Sans"/>
              </a:rPr>
              <a:t>Màu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 b="1">
                <a:solidFill>
                  <a:srgbClr val="e0e0e0"/>
                </a:solidFill>
                <a:latin typeface="DejaVu Sans"/>
                <a:cs typeface="DejaVu Sans"/>
              </a:rPr>
              <a:t>Chính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 b="1">
                <a:solidFill>
                  <a:srgbClr val="e0e0e0"/>
                </a:solidFill>
                <a:latin typeface="DejaVu Sans"/>
                <a:cs typeface="DejaVu Sans"/>
              </a:rPr>
              <a:t>(Primary)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962923" y="1438095"/>
            <a:ext cx="2727622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7" b="1">
                <a:solidFill>
                  <a:srgbClr val="e0e0e0"/>
                </a:solidFill>
                <a:latin typeface="DejaVu Sans"/>
                <a:cs typeface="DejaVu Sans"/>
              </a:rPr>
              <a:t>Màu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e0e0e0"/>
                </a:solidFill>
                <a:latin typeface="DejaVu Sans"/>
                <a:cs typeface="DejaVu Sans"/>
              </a:rPr>
              <a:t>Phụ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 b="1">
                <a:solidFill>
                  <a:srgbClr val="e0e0e0"/>
                </a:solidFill>
                <a:latin typeface="DejaVu Sans"/>
                <a:cs typeface="DejaVu Sans"/>
              </a:rPr>
              <a:t>(Secondary)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32370" y="1887279"/>
            <a:ext cx="4264970" cy="9225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00bcd4"/>
                </a:solidFill>
                <a:latin typeface="DejaVu Sans"/>
                <a:cs typeface="DejaVu Sans"/>
              </a:rPr>
              <a:t>•</a:t>
            </a:r>
            <a:r>
              <a:rPr dirty="0" sz="1350" spc="85">
                <a:solidFill>
                  <a:srgbClr val="00bcd4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Màu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sắc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chủ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đạo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của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thương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hiệu.</a:t>
            </a:r>
          </a:p>
          <a:p>
            <a:pPr marL="0" marR="0">
              <a:lnSpc>
                <a:spcPts val="1564"/>
              </a:lnSpc>
              <a:spcBef>
                <a:spcPts val="1135"/>
              </a:spcBef>
              <a:spcAft>
                <a:spcPts val="0"/>
              </a:spcAft>
            </a:pPr>
            <a:r>
              <a:rPr dirty="0" sz="1350">
                <a:solidFill>
                  <a:srgbClr val="00bcd4"/>
                </a:solidFill>
                <a:latin typeface="DejaVu Sans"/>
                <a:cs typeface="DejaVu Sans"/>
              </a:rPr>
              <a:t>•</a:t>
            </a:r>
            <a:r>
              <a:rPr dirty="0" sz="1350" spc="85">
                <a:solidFill>
                  <a:srgbClr val="00bcd4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Dùng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cho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thanh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ứng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dụng,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nút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hành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động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nổi.</a:t>
            </a:r>
          </a:p>
          <a:p>
            <a:pPr marL="0" marR="0">
              <a:lnSpc>
                <a:spcPts val="1564"/>
              </a:lnSpc>
              <a:spcBef>
                <a:spcPts val="1135"/>
              </a:spcBef>
              <a:spcAft>
                <a:spcPts val="0"/>
              </a:spcAft>
            </a:pPr>
            <a:r>
              <a:rPr dirty="0" sz="1350">
                <a:solidFill>
                  <a:srgbClr val="00bcd4"/>
                </a:solidFill>
                <a:latin typeface="DejaVu Sans"/>
                <a:cs typeface="DejaVu Sans"/>
              </a:rPr>
              <a:t>•</a:t>
            </a:r>
            <a:r>
              <a:rPr dirty="0" sz="1350" spc="85">
                <a:solidFill>
                  <a:srgbClr val="00bcd4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Có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biến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thể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'Primary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 spc="-15">
                <a:solidFill>
                  <a:srgbClr val="d1d5db"/>
                </a:solidFill>
                <a:latin typeface="DejaVu Sans"/>
                <a:cs typeface="DejaVu Sans"/>
              </a:rPr>
              <a:t>Variant'.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453931" y="1887279"/>
            <a:ext cx="3864645" cy="9225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00bcd4"/>
                </a:solidFill>
                <a:latin typeface="DejaVu Sans"/>
                <a:cs typeface="DejaVu Sans"/>
              </a:rPr>
              <a:t>•</a:t>
            </a:r>
            <a:r>
              <a:rPr dirty="0" sz="1350" spc="85">
                <a:solidFill>
                  <a:srgbClr val="00bcd4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Làm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nổi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bật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phần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tử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quan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trọng.</a:t>
            </a:r>
          </a:p>
          <a:p>
            <a:pPr marL="0" marR="0">
              <a:lnSpc>
                <a:spcPts val="1564"/>
              </a:lnSpc>
              <a:spcBef>
                <a:spcPts val="1135"/>
              </a:spcBef>
              <a:spcAft>
                <a:spcPts val="0"/>
              </a:spcAft>
            </a:pPr>
            <a:r>
              <a:rPr dirty="0" sz="1350">
                <a:solidFill>
                  <a:srgbClr val="00bcd4"/>
                </a:solidFill>
                <a:latin typeface="DejaVu Sans"/>
                <a:cs typeface="DejaVu Sans"/>
              </a:rPr>
              <a:t>•</a:t>
            </a:r>
            <a:r>
              <a:rPr dirty="0" sz="1350" spc="85">
                <a:solidFill>
                  <a:srgbClr val="00bcd4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Dùng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cho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điều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khiển,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tiêu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đề,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nút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nổi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bật.</a:t>
            </a:r>
          </a:p>
          <a:p>
            <a:pPr marL="0" marR="0">
              <a:lnSpc>
                <a:spcPts val="1564"/>
              </a:lnSpc>
              <a:spcBef>
                <a:spcPts val="1135"/>
              </a:spcBef>
              <a:spcAft>
                <a:spcPts val="0"/>
              </a:spcAft>
            </a:pPr>
            <a:r>
              <a:rPr dirty="0" sz="1350">
                <a:solidFill>
                  <a:srgbClr val="00bcd4"/>
                </a:solidFill>
                <a:latin typeface="DejaVu Sans"/>
                <a:cs typeface="DejaVu Sans"/>
              </a:rPr>
              <a:t>•</a:t>
            </a:r>
            <a:r>
              <a:rPr dirty="0" sz="1350" spc="85">
                <a:solidFill>
                  <a:srgbClr val="00bcd4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Bổ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trợ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màu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chính,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tạo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điểm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nhấn.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38931" y="3022263"/>
            <a:ext cx="739068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99f6e4"/>
                </a:solidFill>
                <a:latin typeface="DejaVu Sans"/>
                <a:cs typeface="DejaVu Sans"/>
              </a:rPr>
              <a:t>Chủ</a:t>
            </a:r>
            <a:r>
              <a:rPr dirty="0" sz="1000" b="1">
                <a:solidFill>
                  <a:srgbClr val="99f6e4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99f6e4"/>
                </a:solidFill>
                <a:latin typeface="DejaVu Sans"/>
                <a:cs typeface="DejaVu Sans"/>
              </a:rPr>
              <a:t>đạo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624012" y="3022263"/>
            <a:ext cx="886121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99f6e4"/>
                </a:solidFill>
                <a:latin typeface="DejaVu Sans"/>
                <a:cs typeface="DejaVu Sans"/>
              </a:rPr>
              <a:t>Nhận</a:t>
            </a:r>
            <a:r>
              <a:rPr dirty="0" sz="1000" b="1">
                <a:solidFill>
                  <a:srgbClr val="99f6e4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99f6e4"/>
                </a:solidFill>
                <a:latin typeface="DejaVu Sans"/>
                <a:cs typeface="DejaVu Sans"/>
              </a:rPr>
              <a:t>diện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656135" y="3022263"/>
            <a:ext cx="726756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99f6e4"/>
                </a:solidFill>
                <a:latin typeface="DejaVu Sans"/>
                <a:cs typeface="DejaVu Sans"/>
              </a:rPr>
              <a:t>Nút</a:t>
            </a:r>
            <a:r>
              <a:rPr dirty="0" sz="1000" b="1">
                <a:solidFill>
                  <a:srgbClr val="99f6e4"/>
                </a:solidFill>
                <a:latin typeface="DejaVu Sans"/>
                <a:cs typeface="DejaVu Sans"/>
              </a:rPr>
              <a:t> </a:t>
            </a:r>
            <a:r>
              <a:rPr dirty="0" sz="1000" spc="-34" b="1">
                <a:solidFill>
                  <a:srgbClr val="99f6e4"/>
                </a:solidFill>
                <a:latin typeface="DejaVu Sans"/>
                <a:cs typeface="DejaVu Sans"/>
              </a:rPr>
              <a:t>CTA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560491" y="3022263"/>
            <a:ext cx="675067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99f6e4"/>
                </a:solidFill>
                <a:latin typeface="DejaVu Sans"/>
                <a:cs typeface="DejaVu Sans"/>
              </a:rPr>
              <a:t>Nổi</a:t>
            </a:r>
            <a:r>
              <a:rPr dirty="0" sz="1000" b="1">
                <a:solidFill>
                  <a:srgbClr val="99f6e4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99f6e4"/>
                </a:solidFill>
                <a:latin typeface="DejaVu Sans"/>
                <a:cs typeface="DejaVu Sans"/>
              </a:rPr>
              <a:t>bật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381576" y="3022263"/>
            <a:ext cx="732506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99f6e4"/>
                </a:solidFill>
                <a:latin typeface="DejaVu Sans"/>
                <a:cs typeface="DejaVu Sans"/>
              </a:rPr>
              <a:t>Bổ</a:t>
            </a:r>
            <a:r>
              <a:rPr dirty="0" sz="1000" b="1">
                <a:solidFill>
                  <a:srgbClr val="99f6e4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99f6e4"/>
                </a:solidFill>
                <a:latin typeface="DejaVu Sans"/>
                <a:cs typeface="DejaVu Sans"/>
              </a:rPr>
              <a:t>sung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8260108" y="3022263"/>
            <a:ext cx="927993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99f6e4"/>
                </a:solidFill>
                <a:latin typeface="DejaVu Sans"/>
                <a:cs typeface="DejaVu Sans"/>
              </a:rPr>
              <a:t>Điểm</a:t>
            </a:r>
            <a:r>
              <a:rPr dirty="0" sz="1000" b="1">
                <a:solidFill>
                  <a:srgbClr val="99f6e4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99f6e4"/>
                </a:solidFill>
                <a:latin typeface="DejaVu Sans"/>
                <a:cs typeface="DejaVu Sans"/>
              </a:rPr>
              <a:t>nhấn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141362" y="3952695"/>
            <a:ext cx="2914233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7" b="1">
                <a:solidFill>
                  <a:srgbClr val="e0e0e0"/>
                </a:solidFill>
                <a:latin typeface="DejaVu Sans"/>
                <a:cs typeface="DejaVu Sans"/>
              </a:rPr>
              <a:t>Màu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e0e0e0"/>
                </a:solidFill>
                <a:latin typeface="DejaVu Sans"/>
                <a:cs typeface="DejaVu Sans"/>
              </a:rPr>
              <a:t>Nền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e0e0e0"/>
                </a:solidFill>
                <a:latin typeface="DejaVu Sans"/>
                <a:cs typeface="DejaVu Sans"/>
              </a:rPr>
              <a:t>(Background)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962923" y="3952695"/>
            <a:ext cx="2761778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7" b="1">
                <a:solidFill>
                  <a:srgbClr val="e0e0e0"/>
                </a:solidFill>
                <a:latin typeface="DejaVu Sans"/>
                <a:cs typeface="DejaVu Sans"/>
              </a:rPr>
              <a:t>Màu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e0e0e0"/>
                </a:solidFill>
                <a:latin typeface="DejaVu Sans"/>
                <a:cs typeface="DejaVu Sans"/>
              </a:rPr>
              <a:t>Bề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7" b="1">
                <a:solidFill>
                  <a:srgbClr val="e0e0e0"/>
                </a:solidFill>
                <a:latin typeface="DejaVu Sans"/>
                <a:cs typeface="DejaVu Sans"/>
              </a:rPr>
              <a:t>Mặt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1" b="1">
                <a:solidFill>
                  <a:srgbClr val="e0e0e0"/>
                </a:solidFill>
                <a:latin typeface="DejaVu Sans"/>
                <a:cs typeface="DejaVu Sans"/>
              </a:rPr>
              <a:t>(Surface)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32370" y="4401879"/>
            <a:ext cx="3667517" cy="9225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00bcd4"/>
                </a:solidFill>
                <a:latin typeface="DejaVu Sans"/>
                <a:cs typeface="DejaVu Sans"/>
              </a:rPr>
              <a:t>•</a:t>
            </a:r>
            <a:r>
              <a:rPr dirty="0" sz="1350" spc="85">
                <a:solidFill>
                  <a:srgbClr val="00bcd4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Màu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sắc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bao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quát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nhất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 spc="-10">
                <a:solidFill>
                  <a:srgbClr val="d1d5db"/>
                </a:solidFill>
                <a:latin typeface="DejaVu Sans"/>
                <a:cs typeface="DejaVu Sans"/>
              </a:rPr>
              <a:t>trong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giao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diện.</a:t>
            </a:r>
          </a:p>
          <a:p>
            <a:pPr marL="0" marR="0">
              <a:lnSpc>
                <a:spcPts val="1564"/>
              </a:lnSpc>
              <a:spcBef>
                <a:spcPts val="1135"/>
              </a:spcBef>
              <a:spcAft>
                <a:spcPts val="0"/>
              </a:spcAft>
            </a:pPr>
            <a:r>
              <a:rPr dirty="0" sz="1350">
                <a:solidFill>
                  <a:srgbClr val="00bcd4"/>
                </a:solidFill>
                <a:latin typeface="DejaVu Sans"/>
                <a:cs typeface="DejaVu Sans"/>
              </a:rPr>
              <a:t>•</a:t>
            </a:r>
            <a:r>
              <a:rPr dirty="0" sz="1350" spc="85">
                <a:solidFill>
                  <a:srgbClr val="00bcd4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Thường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là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trắng,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xám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nhạt/đậm.</a:t>
            </a:r>
          </a:p>
          <a:p>
            <a:pPr marL="0" marR="0">
              <a:lnSpc>
                <a:spcPts val="1564"/>
              </a:lnSpc>
              <a:spcBef>
                <a:spcPts val="1135"/>
              </a:spcBef>
              <a:spcAft>
                <a:spcPts val="0"/>
              </a:spcAft>
            </a:pPr>
            <a:r>
              <a:rPr dirty="0" sz="1350">
                <a:solidFill>
                  <a:srgbClr val="00bcd4"/>
                </a:solidFill>
                <a:latin typeface="DejaVu Sans"/>
                <a:cs typeface="DejaVu Sans"/>
              </a:rPr>
              <a:t>•</a:t>
            </a:r>
            <a:r>
              <a:rPr dirty="0" sz="1350" spc="85">
                <a:solidFill>
                  <a:srgbClr val="00bcd4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Tạo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phông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nền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cho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toàn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bộ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UI.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453931" y="4401879"/>
            <a:ext cx="3227221" cy="9225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00bcd4"/>
                </a:solidFill>
                <a:latin typeface="DejaVu Sans"/>
                <a:cs typeface="DejaVu Sans"/>
              </a:rPr>
              <a:t>•</a:t>
            </a:r>
            <a:r>
              <a:rPr dirty="0" sz="1350" spc="85">
                <a:solidFill>
                  <a:srgbClr val="00bcd4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Màu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của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"tấm"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hoặc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"card".</a:t>
            </a:r>
          </a:p>
          <a:p>
            <a:pPr marL="0" marR="0">
              <a:lnSpc>
                <a:spcPts val="1564"/>
              </a:lnSpc>
              <a:spcBef>
                <a:spcPts val="1135"/>
              </a:spcBef>
              <a:spcAft>
                <a:spcPts val="0"/>
              </a:spcAft>
            </a:pPr>
            <a:r>
              <a:rPr dirty="0" sz="1350">
                <a:solidFill>
                  <a:srgbClr val="00bcd4"/>
                </a:solidFill>
                <a:latin typeface="DejaVu Sans"/>
                <a:cs typeface="DejaVu Sans"/>
              </a:rPr>
              <a:t>•</a:t>
            </a:r>
            <a:r>
              <a:rPr dirty="0" sz="1350" spc="85">
                <a:solidFill>
                  <a:srgbClr val="00bcd4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Dùng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cho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thẻ,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bảng,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menu,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sheet.</a:t>
            </a:r>
          </a:p>
          <a:p>
            <a:pPr marL="0" marR="0">
              <a:lnSpc>
                <a:spcPts val="1564"/>
              </a:lnSpc>
              <a:spcBef>
                <a:spcPts val="1135"/>
              </a:spcBef>
              <a:spcAft>
                <a:spcPts val="0"/>
              </a:spcAft>
            </a:pPr>
            <a:r>
              <a:rPr dirty="0" sz="1350">
                <a:solidFill>
                  <a:srgbClr val="00bcd4"/>
                </a:solidFill>
                <a:latin typeface="DejaVu Sans"/>
                <a:cs typeface="DejaVu Sans"/>
              </a:rPr>
              <a:t>•</a:t>
            </a:r>
            <a:r>
              <a:rPr dirty="0" sz="1350" spc="85">
                <a:solidFill>
                  <a:srgbClr val="00bcd4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Phân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cấp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nội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dung,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tạo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độ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sâu.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738931" y="5536863"/>
            <a:ext cx="794064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99f6e4"/>
                </a:solidFill>
                <a:latin typeface="DejaVu Sans"/>
                <a:cs typeface="DejaVu Sans"/>
              </a:rPr>
              <a:t>Tổng</a:t>
            </a:r>
            <a:r>
              <a:rPr dirty="0" sz="1000" b="1">
                <a:solidFill>
                  <a:srgbClr val="99f6e4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99f6e4"/>
                </a:solidFill>
                <a:latin typeface="DejaVu Sans"/>
                <a:cs typeface="DejaVu Sans"/>
              </a:rPr>
              <a:t>thể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679078" y="5536863"/>
            <a:ext cx="921619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99f6e4"/>
                </a:solidFill>
                <a:latin typeface="DejaVu Sans"/>
                <a:cs typeface="DejaVu Sans"/>
              </a:rPr>
              <a:t>Phông</a:t>
            </a:r>
            <a:r>
              <a:rPr dirty="0" sz="1000" b="1">
                <a:solidFill>
                  <a:srgbClr val="99f6e4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99f6e4"/>
                </a:solidFill>
                <a:latin typeface="DejaVu Sans"/>
                <a:cs typeface="DejaVu Sans"/>
              </a:rPr>
              <a:t>nền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2746771" y="5536863"/>
            <a:ext cx="1219914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99f6e4"/>
                </a:solidFill>
                <a:latin typeface="DejaVu Sans"/>
                <a:cs typeface="DejaVu Sans"/>
              </a:rPr>
              <a:t>Độ</a:t>
            </a:r>
            <a:r>
              <a:rPr dirty="0" sz="1000" b="1">
                <a:solidFill>
                  <a:srgbClr val="99f6e4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99f6e4"/>
                </a:solidFill>
                <a:latin typeface="DejaVu Sans"/>
                <a:cs typeface="DejaVu Sans"/>
              </a:rPr>
              <a:t>tương</a:t>
            </a:r>
            <a:r>
              <a:rPr dirty="0" sz="1000" b="1">
                <a:solidFill>
                  <a:srgbClr val="99f6e4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99f6e4"/>
                </a:solidFill>
                <a:latin typeface="DejaVu Sans"/>
                <a:cs typeface="DejaVu Sans"/>
              </a:rPr>
              <a:t>phản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6560491" y="5536863"/>
            <a:ext cx="487504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99f6e4"/>
                </a:solidFill>
                <a:latin typeface="DejaVu Sans"/>
                <a:cs typeface="DejaVu Sans"/>
              </a:rPr>
              <a:t>Card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7194053" y="5536863"/>
            <a:ext cx="548887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99f6e4"/>
                </a:solidFill>
                <a:latin typeface="DejaVu Sans"/>
                <a:cs typeface="DejaVu Sans"/>
              </a:rPr>
              <a:t>Menu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7888931" y="5536863"/>
            <a:ext cx="813251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99f6e4"/>
                </a:solidFill>
                <a:latin typeface="DejaVu Sans"/>
                <a:cs typeface="DejaVu Sans"/>
              </a:rPr>
              <a:t>Phân</a:t>
            </a:r>
            <a:r>
              <a:rPr dirty="0" sz="1000" b="1">
                <a:solidFill>
                  <a:srgbClr val="99f6e4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99f6e4"/>
                </a:solidFill>
                <a:latin typeface="DejaVu Sans"/>
                <a:cs typeface="DejaVu Sans"/>
              </a:rPr>
              <a:t>cấp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141362" y="6514920"/>
            <a:ext cx="2927148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 b="1">
                <a:solidFill>
                  <a:srgbClr val="e0e0e0"/>
                </a:solidFill>
                <a:latin typeface="DejaVu Sans"/>
                <a:cs typeface="DejaVu Sans"/>
              </a:rPr>
              <a:t>Sử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e0e0e0"/>
                </a:solidFill>
                <a:latin typeface="DejaVu Sans"/>
                <a:cs typeface="DejaVu Sans"/>
              </a:rPr>
              <a:t>dụng</a:t>
            </a:r>
            <a:r>
              <a:rPr dirty="0" sz="17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1" b="1">
                <a:solidFill>
                  <a:srgbClr val="e0e0e0"/>
                </a:solidFill>
                <a:latin typeface="DejaVu Sans"/>
                <a:cs typeface="DejaVu Sans"/>
              </a:rPr>
              <a:t>ColorStateList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821977" y="7002204"/>
            <a:ext cx="4824890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Định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nghĩa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màu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sắc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khác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nhau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dựa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 spc="-12">
                <a:solidFill>
                  <a:srgbClr val="d1d5db"/>
                </a:solidFill>
                <a:latin typeface="DejaVu Sans"/>
                <a:cs typeface="DejaVu Sans"/>
              </a:rPr>
              <a:t>trên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trạng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thái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của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 spc="-14">
                <a:solidFill>
                  <a:srgbClr val="d1d5db"/>
                </a:solidFill>
                <a:latin typeface="DejaVu Sans"/>
                <a:cs typeface="DejaVu Sans"/>
              </a:rPr>
              <a:t>View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(ví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dụ: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nút).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821977" y="7602279"/>
            <a:ext cx="4242895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Màu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thay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đổi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khi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nhấn,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vô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hiệu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hóa,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hoặc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focus.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821977" y="7945179"/>
            <a:ext cx="5038628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Nâng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cao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phản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hồi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tương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tác,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cải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thiện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trải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nghiệm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người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dùng.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738931" y="8651538"/>
            <a:ext cx="869495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fed7aa"/>
                </a:solidFill>
                <a:latin typeface="DejaVu Sans"/>
                <a:cs typeface="DejaVu Sans"/>
              </a:rPr>
              <a:t>Tương</a:t>
            </a:r>
            <a:r>
              <a:rPr dirty="0" sz="1000" b="1">
                <a:solidFill>
                  <a:srgbClr val="fed7aa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fed7aa"/>
                </a:solidFill>
                <a:latin typeface="DejaVu Sans"/>
                <a:cs typeface="DejaVu Sans"/>
              </a:rPr>
              <a:t>tác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1754534" y="8651538"/>
            <a:ext cx="782307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fed7aa"/>
                </a:solidFill>
                <a:latin typeface="DejaVu Sans"/>
                <a:cs typeface="DejaVu Sans"/>
              </a:rPr>
              <a:t>Phản</a:t>
            </a:r>
            <a:r>
              <a:rPr dirty="0" sz="1000" b="1">
                <a:solidFill>
                  <a:srgbClr val="fed7aa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fed7aa"/>
                </a:solidFill>
                <a:latin typeface="DejaVu Sans"/>
                <a:cs typeface="DejaVu Sans"/>
              </a:rPr>
              <a:t>hồi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2682924" y="8651538"/>
            <a:ext cx="1081099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spc="-23" b="1">
                <a:solidFill>
                  <a:srgbClr val="fed7aa"/>
                </a:solidFill>
                <a:latin typeface="DejaVu Sans"/>
                <a:cs typeface="DejaVu Sans"/>
              </a:rPr>
              <a:t>Trạng</a:t>
            </a:r>
            <a:r>
              <a:rPr dirty="0" sz="1000" spc="31" b="1">
                <a:solidFill>
                  <a:srgbClr val="fed7aa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fed7aa"/>
                </a:solidFill>
                <a:latin typeface="DejaVu Sans"/>
                <a:cs typeface="DejaVu Sans"/>
              </a:rPr>
              <a:t>thái</a:t>
            </a:r>
            <a:r>
              <a:rPr dirty="0" sz="1000" b="1">
                <a:solidFill>
                  <a:srgbClr val="fed7aa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fed7aa"/>
                </a:solidFill>
                <a:latin typeface="DejaVu Sans"/>
                <a:cs typeface="DejaVu Sans"/>
              </a:rPr>
              <a:t>UI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7172621" y="8632488"/>
            <a:ext cx="3820680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Minh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họa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các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thành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phần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màu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sắc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trong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Material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Design.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7882383" y="9203988"/>
            <a:ext cx="4291472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Nguồn: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Material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Design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for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Android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|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Views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-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Android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e0e0e0"/>
                </a:solidFill>
                <a:latin typeface="DejaVu Sans"/>
                <a:cs typeface="DejaVu Sans"/>
              </a:rPr>
              <a:t>Developers</a:t>
            </a:r>
          </a:p>
        </p:txBody>
      </p:sp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881312" y="953440"/>
            <a:ext cx="6581789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2" b="1">
                <a:solidFill>
                  <a:srgbClr val="e0e0e0"/>
                </a:solidFill>
                <a:latin typeface="DejaVu Sans"/>
                <a:cs typeface="DejaVu Sans"/>
              </a:rPr>
              <a:t>Shapes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0" b="1">
                <a:solidFill>
                  <a:srgbClr val="e0e0e0"/>
                </a:solidFill>
                <a:latin typeface="DejaVu Sans"/>
                <a:cs typeface="DejaVu Sans"/>
              </a:rPr>
              <a:t>trong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1" b="1">
                <a:solidFill>
                  <a:srgbClr val="e0e0e0"/>
                </a:solidFill>
                <a:latin typeface="DejaVu Sans"/>
                <a:cs typeface="DejaVu Sans"/>
              </a:rPr>
              <a:t>Material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836966" y="2048345"/>
            <a:ext cx="2766601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ffffff"/>
                </a:solidFill>
                <a:latin typeface="DejaVu Sans"/>
                <a:cs typeface="DejaVu Sans"/>
              </a:rPr>
              <a:t>ShapeAppearance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327974" y="2565713"/>
            <a:ext cx="2938022" cy="7416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Cho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phép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định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nghĩa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áp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dụng</a:t>
            </a:r>
          </a:p>
          <a:p>
            <a:pPr marL="0" marR="0">
              <a:lnSpc>
                <a:spcPts val="1564"/>
              </a:lnSpc>
              <a:spcBef>
                <a:spcPts val="335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hình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dạng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tùy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chỉnh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cho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thành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phần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Material.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713141" y="4013513"/>
            <a:ext cx="2565182" cy="7035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Áp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dụng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góc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bo/cắt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dễ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dàng</a:t>
            </a:r>
          </a:p>
          <a:p>
            <a:pPr marL="0" marR="0">
              <a:lnSpc>
                <a:spcPts val="1564"/>
              </a:lnSpc>
              <a:spcBef>
                <a:spcPts val="2060"/>
              </a:spcBef>
              <a:spcAft>
                <a:spcPts val="0"/>
              </a:spcAft>
            </a:pP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Đồng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bộ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hóa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giao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diện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273819" y="4305770"/>
            <a:ext cx="1834206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1" b="1">
                <a:solidFill>
                  <a:srgbClr val="ffffff"/>
                </a:solidFill>
                <a:latin typeface="DejaVu Sans"/>
                <a:cs typeface="DejaVu Sans"/>
              </a:rPr>
              <a:t>Góc</a:t>
            </a:r>
            <a:r>
              <a:rPr dirty="0" sz="2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ffffff"/>
                </a:solidFill>
                <a:latin typeface="DejaVu Sans"/>
                <a:cs typeface="DejaVu Sans"/>
              </a:rPr>
              <a:t>bo</a:t>
            </a:r>
            <a:r>
              <a:rPr dirty="0" sz="2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ffffff"/>
                </a:solidFill>
                <a:latin typeface="DejaVu Sans"/>
                <a:cs typeface="DejaVu Sans"/>
              </a:rPr>
              <a:t>tròn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055393" y="4305770"/>
            <a:ext cx="1226106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1" b="1">
                <a:solidFill>
                  <a:srgbClr val="ffffff"/>
                </a:solidFill>
                <a:latin typeface="DejaVu Sans"/>
                <a:cs typeface="DejaVu Sans"/>
              </a:rPr>
              <a:t>Góc</a:t>
            </a:r>
            <a:r>
              <a:rPr dirty="0" sz="2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ffffff"/>
                </a:solidFill>
                <a:latin typeface="DejaVu Sans"/>
                <a:cs typeface="DejaVu Sans"/>
              </a:rPr>
              <a:t>cắt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64827" y="4823138"/>
            <a:ext cx="3060530" cy="75114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Mang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lại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cảm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giác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mềm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mại,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thân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thiện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hiện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đại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cho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thành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phần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UI.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546401" y="4823138"/>
            <a:ext cx="3131807" cy="75114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Tạo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sự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năng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động,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sắc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nét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khác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biệt,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thường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dùng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cho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yếu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tố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nổi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bật.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713141" y="4946963"/>
            <a:ext cx="2243135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Tạo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phong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cách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độc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đáo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413253" y="5709718"/>
            <a:ext cx="1750726" cy="5929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2">
                <a:solidFill>
                  <a:srgbClr val="ff9800"/>
                </a:solidFill>
                <a:latin typeface="DejaVu Sans"/>
                <a:cs typeface="DejaVu Sans"/>
              </a:rPr>
              <a:t>Material</a:t>
            </a:r>
            <a:r>
              <a:rPr dirty="0" sz="120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ff9800"/>
                </a:solidFill>
                <a:latin typeface="DejaVu Sans"/>
                <a:cs typeface="DejaVu Sans"/>
              </a:rPr>
              <a:t>Components</a:t>
            </a:r>
          </a:p>
          <a:p>
            <a:pPr marL="0" marR="0">
              <a:lnSpc>
                <a:spcPts val="1368"/>
              </a:lnSpc>
              <a:spcBef>
                <a:spcPts val="1631"/>
              </a:spcBef>
              <a:spcAft>
                <a:spcPts val="0"/>
              </a:spcAft>
            </a:pPr>
            <a:r>
              <a:rPr dirty="0" sz="1200" spc="-17">
                <a:solidFill>
                  <a:srgbClr val="ff9800"/>
                </a:solidFill>
                <a:latin typeface="DejaVu Sans"/>
                <a:cs typeface="DejaVu Sans"/>
              </a:rPr>
              <a:t>Theme</a:t>
            </a:r>
            <a:r>
              <a:rPr dirty="0" sz="120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ff9800"/>
                </a:solidFill>
                <a:latin typeface="DejaVu Sans"/>
                <a:cs typeface="DejaVu Sans"/>
              </a:rPr>
              <a:t>Overlays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063376" y="5881168"/>
            <a:ext cx="827656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8">
                <a:solidFill>
                  <a:srgbClr val="00bcd4"/>
                </a:solidFill>
                <a:latin typeface="DejaVu Sans"/>
                <a:cs typeface="DejaVu Sans"/>
              </a:rPr>
              <a:t>Mềm</a:t>
            </a:r>
            <a:r>
              <a:rPr dirty="0" sz="1200" spc="-14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00bcd4"/>
                </a:solidFill>
                <a:latin typeface="DejaVu Sans"/>
                <a:cs typeface="DejaVu Sans"/>
              </a:rPr>
              <a:t>Mại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250578" y="5881168"/>
            <a:ext cx="985486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00bcd4"/>
                </a:solidFill>
                <a:latin typeface="DejaVu Sans"/>
                <a:cs typeface="DejaVu Sans"/>
              </a:rPr>
              <a:t>Thân</a:t>
            </a:r>
            <a:r>
              <a:rPr dirty="0" sz="1200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0bcd4"/>
                </a:solidFill>
                <a:latin typeface="DejaVu Sans"/>
                <a:cs typeface="DejaVu Sans"/>
              </a:rPr>
              <a:t>Thiện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4844950" y="5881168"/>
            <a:ext cx="988765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ff9800"/>
                </a:solidFill>
                <a:latin typeface="DejaVu Sans"/>
                <a:cs typeface="DejaVu Sans"/>
              </a:rPr>
              <a:t>Năng</a:t>
            </a:r>
            <a:r>
              <a:rPr dirty="0" sz="120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200" spc="-17">
                <a:solidFill>
                  <a:srgbClr val="ff9800"/>
                </a:solidFill>
                <a:latin typeface="DejaVu Sans"/>
                <a:cs typeface="DejaVu Sans"/>
              </a:rPr>
              <a:t>Động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193184" y="5881168"/>
            <a:ext cx="730213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ff9800"/>
                </a:solidFill>
                <a:latin typeface="DejaVu Sans"/>
                <a:cs typeface="DejaVu Sans"/>
              </a:rPr>
              <a:t>Sắc</a:t>
            </a:r>
            <a:r>
              <a:rPr dirty="0" sz="120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200" spc="-17">
                <a:solidFill>
                  <a:srgbClr val="ff9800"/>
                </a:solidFill>
                <a:latin typeface="DejaVu Sans"/>
                <a:cs typeface="DejaVu Sans"/>
              </a:rPr>
              <a:t>Nét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7626250" y="6520097"/>
            <a:ext cx="4291472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Nguồn: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Material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Design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for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Android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|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Views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-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Android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Developers</a:t>
            </a:r>
          </a:p>
        </p:txBody>
      </p:sp>
    </p:spTree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881312" y="953440"/>
            <a:ext cx="6581789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2" b="1">
                <a:solidFill>
                  <a:srgbClr val="e0e0e0"/>
                </a:solidFill>
                <a:latin typeface="DejaVu Sans"/>
                <a:cs typeface="DejaVu Sans"/>
              </a:rPr>
              <a:t>Shapes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0" b="1">
                <a:solidFill>
                  <a:srgbClr val="e0e0e0"/>
                </a:solidFill>
                <a:latin typeface="DejaVu Sans"/>
                <a:cs typeface="DejaVu Sans"/>
              </a:rPr>
              <a:t>trong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1" b="1">
                <a:solidFill>
                  <a:srgbClr val="e0e0e0"/>
                </a:solidFill>
                <a:latin typeface="DejaVu Sans"/>
                <a:cs typeface="DejaVu Sans"/>
              </a:rPr>
              <a:t>Material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836966" y="2048345"/>
            <a:ext cx="2766601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ffffff"/>
                </a:solidFill>
                <a:latin typeface="DejaVu Sans"/>
                <a:cs typeface="DejaVu Sans"/>
              </a:rPr>
              <a:t>ShapeAppearance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327974" y="2565713"/>
            <a:ext cx="2938022" cy="7416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Cho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phép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định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nghĩa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áp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dụng</a:t>
            </a:r>
          </a:p>
          <a:p>
            <a:pPr marL="0" marR="0">
              <a:lnSpc>
                <a:spcPts val="1564"/>
              </a:lnSpc>
              <a:spcBef>
                <a:spcPts val="335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hình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dạng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tùy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chỉnh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cho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thành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phần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Material.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713141" y="4013513"/>
            <a:ext cx="2565182" cy="7035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Áp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dụng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góc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bo/cắt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dễ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dàng</a:t>
            </a:r>
          </a:p>
          <a:p>
            <a:pPr marL="0" marR="0">
              <a:lnSpc>
                <a:spcPts val="1564"/>
              </a:lnSpc>
              <a:spcBef>
                <a:spcPts val="2060"/>
              </a:spcBef>
              <a:spcAft>
                <a:spcPts val="0"/>
              </a:spcAft>
            </a:pP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Đồng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bộ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hóa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giao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diện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273819" y="4305770"/>
            <a:ext cx="1834206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1" b="1">
                <a:solidFill>
                  <a:srgbClr val="ffffff"/>
                </a:solidFill>
                <a:latin typeface="DejaVu Sans"/>
                <a:cs typeface="DejaVu Sans"/>
              </a:rPr>
              <a:t>Góc</a:t>
            </a:r>
            <a:r>
              <a:rPr dirty="0" sz="2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ffffff"/>
                </a:solidFill>
                <a:latin typeface="DejaVu Sans"/>
                <a:cs typeface="DejaVu Sans"/>
              </a:rPr>
              <a:t>bo</a:t>
            </a:r>
            <a:r>
              <a:rPr dirty="0" sz="2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ffffff"/>
                </a:solidFill>
                <a:latin typeface="DejaVu Sans"/>
                <a:cs typeface="DejaVu Sans"/>
              </a:rPr>
              <a:t>tròn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055393" y="4305770"/>
            <a:ext cx="1226106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1" b="1">
                <a:solidFill>
                  <a:srgbClr val="ffffff"/>
                </a:solidFill>
                <a:latin typeface="DejaVu Sans"/>
                <a:cs typeface="DejaVu Sans"/>
              </a:rPr>
              <a:t>Góc</a:t>
            </a:r>
            <a:r>
              <a:rPr dirty="0" sz="2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ffffff"/>
                </a:solidFill>
                <a:latin typeface="DejaVu Sans"/>
                <a:cs typeface="DejaVu Sans"/>
              </a:rPr>
              <a:t>cắt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64827" y="4823138"/>
            <a:ext cx="3060530" cy="75114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Mang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lại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cảm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giác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mềm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mại,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thân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thiện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hiện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đại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cho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thành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phần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UI.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546401" y="4823138"/>
            <a:ext cx="3131807" cy="75114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Tạo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sự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năng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động,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sắc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nét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khác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biệt,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thường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dùng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cho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yếu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tố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nổi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bật.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713141" y="4946963"/>
            <a:ext cx="2243135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Tạo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phong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cách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độc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5e7eb"/>
                </a:solidFill>
                <a:latin typeface="DejaVu Sans"/>
                <a:cs typeface="DejaVu Sans"/>
              </a:rPr>
              <a:t>đáo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413253" y="5709718"/>
            <a:ext cx="1750726" cy="5929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2">
                <a:solidFill>
                  <a:srgbClr val="ff9800"/>
                </a:solidFill>
                <a:latin typeface="DejaVu Sans"/>
                <a:cs typeface="DejaVu Sans"/>
              </a:rPr>
              <a:t>Material</a:t>
            </a:r>
            <a:r>
              <a:rPr dirty="0" sz="120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ff9800"/>
                </a:solidFill>
                <a:latin typeface="DejaVu Sans"/>
                <a:cs typeface="DejaVu Sans"/>
              </a:rPr>
              <a:t>Components</a:t>
            </a:r>
          </a:p>
          <a:p>
            <a:pPr marL="0" marR="0">
              <a:lnSpc>
                <a:spcPts val="1368"/>
              </a:lnSpc>
              <a:spcBef>
                <a:spcPts val="1631"/>
              </a:spcBef>
              <a:spcAft>
                <a:spcPts val="0"/>
              </a:spcAft>
            </a:pPr>
            <a:r>
              <a:rPr dirty="0" sz="1200" spc="-17">
                <a:solidFill>
                  <a:srgbClr val="ff9800"/>
                </a:solidFill>
                <a:latin typeface="DejaVu Sans"/>
                <a:cs typeface="DejaVu Sans"/>
              </a:rPr>
              <a:t>Theme</a:t>
            </a:r>
            <a:r>
              <a:rPr dirty="0" sz="120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ff9800"/>
                </a:solidFill>
                <a:latin typeface="DejaVu Sans"/>
                <a:cs typeface="DejaVu Sans"/>
              </a:rPr>
              <a:t>Overlays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063376" y="5881168"/>
            <a:ext cx="827656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8">
                <a:solidFill>
                  <a:srgbClr val="00bcd4"/>
                </a:solidFill>
                <a:latin typeface="DejaVu Sans"/>
                <a:cs typeface="DejaVu Sans"/>
              </a:rPr>
              <a:t>Mềm</a:t>
            </a:r>
            <a:r>
              <a:rPr dirty="0" sz="1200" spc="-14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00bcd4"/>
                </a:solidFill>
                <a:latin typeface="DejaVu Sans"/>
                <a:cs typeface="DejaVu Sans"/>
              </a:rPr>
              <a:t>Mại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250578" y="5881168"/>
            <a:ext cx="985486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00bcd4"/>
                </a:solidFill>
                <a:latin typeface="DejaVu Sans"/>
                <a:cs typeface="DejaVu Sans"/>
              </a:rPr>
              <a:t>Thân</a:t>
            </a:r>
            <a:r>
              <a:rPr dirty="0" sz="1200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0bcd4"/>
                </a:solidFill>
                <a:latin typeface="DejaVu Sans"/>
                <a:cs typeface="DejaVu Sans"/>
              </a:rPr>
              <a:t>Thiện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4844950" y="5881168"/>
            <a:ext cx="988765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ff9800"/>
                </a:solidFill>
                <a:latin typeface="DejaVu Sans"/>
                <a:cs typeface="DejaVu Sans"/>
              </a:rPr>
              <a:t>Năng</a:t>
            </a:r>
            <a:r>
              <a:rPr dirty="0" sz="120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200" spc="-17">
                <a:solidFill>
                  <a:srgbClr val="ff9800"/>
                </a:solidFill>
                <a:latin typeface="DejaVu Sans"/>
                <a:cs typeface="DejaVu Sans"/>
              </a:rPr>
              <a:t>Động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193184" y="5881168"/>
            <a:ext cx="730213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ff9800"/>
                </a:solidFill>
                <a:latin typeface="DejaVu Sans"/>
                <a:cs typeface="DejaVu Sans"/>
              </a:rPr>
              <a:t>Sắc</a:t>
            </a:r>
            <a:r>
              <a:rPr dirty="0" sz="120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200" spc="-17">
                <a:solidFill>
                  <a:srgbClr val="ff9800"/>
                </a:solidFill>
                <a:latin typeface="DejaVu Sans"/>
                <a:cs typeface="DejaVu Sans"/>
              </a:rPr>
              <a:t>Nét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7626250" y="6520097"/>
            <a:ext cx="4291472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Nguồn: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Material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Design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for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Android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|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Views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-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Android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Developers</a:t>
            </a:r>
          </a:p>
        </p:txBody>
      </p:sp>
    </p:spTree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865720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26690" y="380925"/>
            <a:ext cx="9636435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1" b="1">
                <a:solidFill>
                  <a:srgbClr val="e0e0e0"/>
                </a:solidFill>
                <a:latin typeface="DejaVu Sans"/>
                <a:cs typeface="DejaVu Sans"/>
              </a:rPr>
              <a:t>Hiệu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e0e0e0"/>
                </a:solidFill>
                <a:latin typeface="DejaVu Sans"/>
                <a:cs typeface="DejaVu Sans"/>
              </a:rPr>
              <a:t>ứng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0" b="1">
                <a:solidFill>
                  <a:srgbClr val="e0e0e0"/>
                </a:solidFill>
                <a:latin typeface="DejaVu Sans"/>
                <a:cs typeface="DejaVu Sans"/>
              </a:rPr>
              <a:t>Ripple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1" b="1">
                <a:solidFill>
                  <a:srgbClr val="00bcd4"/>
                </a:solidFill>
                <a:latin typeface="DejaVu Sans"/>
                <a:cs typeface="DejaVu Sans"/>
              </a:rPr>
              <a:t>(Phản</a:t>
            </a:r>
            <a:r>
              <a:rPr dirty="0" sz="405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00bcd4"/>
                </a:solidFill>
                <a:latin typeface="DejaVu Sans"/>
                <a:cs typeface="DejaVu Sans"/>
              </a:rPr>
              <a:t>hồi</a:t>
            </a:r>
            <a:r>
              <a:rPr dirty="0" sz="405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4050" spc="-14" b="1">
                <a:solidFill>
                  <a:srgbClr val="00bcd4"/>
                </a:solidFill>
                <a:latin typeface="DejaVu Sans"/>
                <a:cs typeface="DejaVu Sans"/>
              </a:rPr>
              <a:t>chạm)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26690" y="1210638"/>
            <a:ext cx="5500990" cy="8865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2" b="1">
                <a:solidFill>
                  <a:srgbClr val="00bcd4"/>
                </a:solidFill>
                <a:latin typeface="DejaVu Sans"/>
                <a:cs typeface="DejaVu Sans"/>
              </a:rPr>
              <a:t>Hiệu</a:t>
            </a:r>
            <a:r>
              <a:rPr dirty="0" sz="170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00bcd4"/>
                </a:solidFill>
                <a:latin typeface="DejaVu Sans"/>
                <a:cs typeface="DejaVu Sans"/>
              </a:rPr>
              <a:t>ứng</a:t>
            </a:r>
            <a:r>
              <a:rPr dirty="0" sz="170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700" spc="-11" b="1">
                <a:solidFill>
                  <a:srgbClr val="00bcd4"/>
                </a:solidFill>
                <a:latin typeface="DejaVu Sans"/>
                <a:cs typeface="DejaVu Sans"/>
              </a:rPr>
              <a:t>Ripple</a:t>
            </a:r>
            <a:r>
              <a:rPr dirty="0" sz="1700" spc="-6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là</a:t>
            </a:r>
            <a:r>
              <a:rPr dirty="0" sz="1700" spc="-14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phản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hồi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e0e0e0"/>
                </a:solidFill>
                <a:latin typeface="DejaVu Sans"/>
                <a:cs typeface="DejaVu Sans"/>
              </a:rPr>
              <a:t>trực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quan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khi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người</a:t>
            </a:r>
          </a:p>
          <a:p>
            <a:pPr marL="0" marR="0">
              <a:lnSpc>
                <a:spcPts val="1955"/>
              </a:lnSpc>
              <a:spcBef>
                <a:spcPts val="444"/>
              </a:spcBef>
              <a:spcAft>
                <a:spcPts val="0"/>
              </a:spcAft>
            </a:pP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dùng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e0e0e0"/>
                </a:solidFill>
                <a:latin typeface="DejaVu Sans"/>
                <a:cs typeface="DejaVu Sans"/>
              </a:rPr>
              <a:t>chạm</a:t>
            </a:r>
            <a:r>
              <a:rPr dirty="0" sz="1700" spc="-14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e0e0e0"/>
                </a:solidFill>
                <a:latin typeface="DejaVu Sans"/>
                <a:cs typeface="DejaVu Sans"/>
              </a:rPr>
              <a:t>vào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e0e0e0"/>
                </a:solidFill>
                <a:latin typeface="DejaVu Sans"/>
                <a:cs typeface="DejaVu Sans"/>
              </a:rPr>
              <a:t>các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e0e0e0"/>
                </a:solidFill>
                <a:latin typeface="DejaVu Sans"/>
                <a:cs typeface="DejaVu Sans"/>
              </a:rPr>
              <a:t>thành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phần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e0e0e0"/>
                </a:solidFill>
                <a:latin typeface="DejaVu Sans"/>
                <a:cs typeface="DejaVu Sans"/>
              </a:rPr>
              <a:t>UI,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20">
                <a:solidFill>
                  <a:srgbClr val="e0e0e0"/>
                </a:solidFill>
                <a:latin typeface="DejaVu Sans"/>
                <a:cs typeface="DejaVu Sans"/>
              </a:rPr>
              <a:t>mô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phỏng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gợn</a:t>
            </a:r>
          </a:p>
          <a:p>
            <a:pPr marL="0" marR="0">
              <a:lnSpc>
                <a:spcPts val="1955"/>
              </a:lnSpc>
              <a:spcBef>
                <a:spcPts val="319"/>
              </a:spcBef>
              <a:spcAft>
                <a:spcPts val="0"/>
              </a:spcAft>
            </a:pPr>
            <a:r>
              <a:rPr dirty="0" sz="1700" spc="-11">
                <a:solidFill>
                  <a:srgbClr val="e0e0e0"/>
                </a:solidFill>
                <a:latin typeface="DejaVu Sans"/>
                <a:cs typeface="DejaVu Sans"/>
              </a:rPr>
              <a:t>sóng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21">
                <a:solidFill>
                  <a:srgbClr val="e0e0e0"/>
                </a:solidFill>
                <a:latin typeface="DejaVu Sans"/>
                <a:cs typeface="DejaVu Sans"/>
              </a:rPr>
              <a:t>trên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5">
                <a:solidFill>
                  <a:srgbClr val="e0e0e0"/>
                </a:solidFill>
                <a:latin typeface="DejaVu Sans"/>
                <a:cs typeface="DejaVu Sans"/>
              </a:rPr>
              <a:t>mặt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nước.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35347" y="2459168"/>
            <a:ext cx="5307055" cy="5664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Để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kích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hoạt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hiệu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ứng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này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trên</a:t>
            </a:r>
            <a:r>
              <a:rPr dirty="0" sz="1500" spc="17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Android,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chỉ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cần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thêm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thuộc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tính: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97247" y="3582445"/>
            <a:ext cx="5337893" cy="255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12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ff9800"/>
                </a:solidFill>
                <a:latin typeface="Liberation Mono"/>
                <a:cs typeface="Liberation Mono"/>
              </a:rPr>
              <a:t>android:background="?attr/selectableItemBackg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53839" y="4554668"/>
            <a:ext cx="2643945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Phản</a:t>
            </a: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hồi</a:t>
            </a: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trực</a:t>
            </a: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quan</a:t>
            </a: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tức</a:t>
            </a: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thì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255667" y="4775252"/>
            <a:ext cx="3715432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Minh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họa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chuyển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động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9ca3af"/>
                </a:solidFill>
                <a:latin typeface="DejaVu Sans"/>
                <a:cs typeface="DejaVu Sans"/>
              </a:rPr>
              <a:t>UI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9ca3af"/>
                </a:solidFill>
                <a:latin typeface="DejaVu Sans"/>
                <a:cs typeface="DejaVu Sans"/>
              </a:rPr>
              <a:t>trong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9ca3af"/>
                </a:solidFill>
                <a:latin typeface="DejaVu Sans"/>
                <a:cs typeface="DejaVu Sans"/>
              </a:rPr>
              <a:t>Material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9ca3af"/>
                </a:solidFill>
                <a:latin typeface="DejaVu Sans"/>
                <a:cs typeface="DejaVu Sans"/>
              </a:rPr>
              <a:t>Design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53839" y="5154743"/>
            <a:ext cx="2546083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spc="-51">
                <a:solidFill>
                  <a:srgbClr val="ffffff"/>
                </a:solidFill>
                <a:latin typeface="DejaVu Sans"/>
                <a:cs typeface="DejaVu Sans"/>
              </a:rPr>
              <a:t>Tuân</a:t>
            </a:r>
            <a:r>
              <a:rPr dirty="0" sz="1500" spc="62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thủ</a:t>
            </a: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Material</a:t>
            </a: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Design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20774" y="6124030"/>
            <a:ext cx="7385866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Tầm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quan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trọng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của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Motion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trong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Material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Design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077366" y="6640643"/>
            <a:ext cx="4577301" cy="261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Hướng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dẫn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người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dùng:</a:t>
            </a:r>
            <a:r>
              <a:rPr dirty="0" sz="1500" spc="-44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Giúp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hiểu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cách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các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556919" y="6640643"/>
            <a:ext cx="4775541" cy="261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Tăng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tính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biểu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cảm:</a:t>
            </a:r>
            <a:r>
              <a:rPr dirty="0" sz="1500" spc="-44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Thêm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cá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tính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và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thể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hiện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077366" y="6945443"/>
            <a:ext cx="4879183" cy="261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thành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phần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UI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liên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quan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và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dẫn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hướng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ứng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dụng.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556919" y="6945443"/>
            <a:ext cx="2545982" cy="261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phong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cách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thương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hiệu.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077366" y="7412168"/>
            <a:ext cx="5003751" cy="261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Phản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hồi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tức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thì:</a:t>
            </a:r>
            <a:r>
              <a:rPr dirty="0" sz="1500" spc="-41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Cung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cấp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trạng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thái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hành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động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556919" y="7412168"/>
            <a:ext cx="4980888" cy="261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Nâng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cao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trải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nghiệm:</a:t>
            </a:r>
            <a:r>
              <a:rPr dirty="0" sz="1500" spc="-44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Làm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cho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giao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diện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người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077366" y="7707443"/>
            <a:ext cx="2740784" cy="261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người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dùng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hoặc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hệ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thống.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556919" y="7707443"/>
            <a:ext cx="3612512" cy="261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dùng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sống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động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và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dễ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sử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dụng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hơn.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870500" y="8147856"/>
            <a:ext cx="5047133" cy="35856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Source: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Implementing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motion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with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Material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Design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|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Google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Design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 spc="-14">
                <a:solidFill>
                  <a:srgbClr val="6b7280"/>
                </a:solidFill>
                <a:latin typeface="DejaVu Sans"/>
                <a:cs typeface="DejaVu Sans"/>
              </a:rPr>
              <a:t>Tutorials</a:t>
            </a:r>
          </a:p>
          <a:p>
            <a:pPr marL="411807" marR="0">
              <a:lnSpc>
                <a:spcPts val="1173"/>
              </a:lnSpc>
              <a:spcBef>
                <a:spcPts val="126"/>
              </a:spcBef>
              <a:spcAft>
                <a:spcPts val="0"/>
              </a:spcAft>
            </a:pP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Source: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Building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Beautiful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 spc="-10">
                <a:solidFill>
                  <a:srgbClr val="6b7280"/>
                </a:solidFill>
                <a:latin typeface="DejaVu Sans"/>
                <a:cs typeface="DejaVu Sans"/>
              </a:rPr>
              <a:t>Transitions</a:t>
            </a:r>
            <a:r>
              <a:rPr dirty="0" sz="1000" spc="17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with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Material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Motion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for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Android</a:t>
            </a:r>
          </a:p>
        </p:txBody>
      </p:sp>
    </p:spTree>
  </p:cSld>
  <p:clrMapOvr>
    <a:masterClrMapping/>
  </p:clrMapOvr>
</p:sld>
</file>

<file path=ppt/slides/slide5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865720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26690" y="380925"/>
            <a:ext cx="9636435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1" b="1">
                <a:solidFill>
                  <a:srgbClr val="e0e0e0"/>
                </a:solidFill>
                <a:latin typeface="DejaVu Sans"/>
                <a:cs typeface="DejaVu Sans"/>
              </a:rPr>
              <a:t>Hiệu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e0e0e0"/>
                </a:solidFill>
                <a:latin typeface="DejaVu Sans"/>
                <a:cs typeface="DejaVu Sans"/>
              </a:rPr>
              <a:t>ứng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0" b="1">
                <a:solidFill>
                  <a:srgbClr val="e0e0e0"/>
                </a:solidFill>
                <a:latin typeface="DejaVu Sans"/>
                <a:cs typeface="DejaVu Sans"/>
              </a:rPr>
              <a:t>Ripple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1" b="1">
                <a:solidFill>
                  <a:srgbClr val="00bcd4"/>
                </a:solidFill>
                <a:latin typeface="DejaVu Sans"/>
                <a:cs typeface="DejaVu Sans"/>
              </a:rPr>
              <a:t>(Phản</a:t>
            </a:r>
            <a:r>
              <a:rPr dirty="0" sz="405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00bcd4"/>
                </a:solidFill>
                <a:latin typeface="DejaVu Sans"/>
                <a:cs typeface="DejaVu Sans"/>
              </a:rPr>
              <a:t>hồi</a:t>
            </a:r>
            <a:r>
              <a:rPr dirty="0" sz="405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4050" spc="-14" b="1">
                <a:solidFill>
                  <a:srgbClr val="00bcd4"/>
                </a:solidFill>
                <a:latin typeface="DejaVu Sans"/>
                <a:cs typeface="DejaVu Sans"/>
              </a:rPr>
              <a:t>chạm)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26690" y="1210638"/>
            <a:ext cx="5500990" cy="8865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2" b="1">
                <a:solidFill>
                  <a:srgbClr val="00bcd4"/>
                </a:solidFill>
                <a:latin typeface="DejaVu Sans"/>
                <a:cs typeface="DejaVu Sans"/>
              </a:rPr>
              <a:t>Hiệu</a:t>
            </a:r>
            <a:r>
              <a:rPr dirty="0" sz="170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00bcd4"/>
                </a:solidFill>
                <a:latin typeface="DejaVu Sans"/>
                <a:cs typeface="DejaVu Sans"/>
              </a:rPr>
              <a:t>ứng</a:t>
            </a:r>
            <a:r>
              <a:rPr dirty="0" sz="170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700" spc="-11" b="1">
                <a:solidFill>
                  <a:srgbClr val="00bcd4"/>
                </a:solidFill>
                <a:latin typeface="DejaVu Sans"/>
                <a:cs typeface="DejaVu Sans"/>
              </a:rPr>
              <a:t>Ripple</a:t>
            </a:r>
            <a:r>
              <a:rPr dirty="0" sz="1700" spc="-60" b="1">
                <a:solidFill>
                  <a:srgbClr val="00bcd4"/>
                </a:solidFill>
                <a:latin typeface="DejaVu Sans"/>
                <a:cs typeface="DejaVu Sans"/>
              </a:rPr>
              <a:t> 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là</a:t>
            </a:r>
            <a:r>
              <a:rPr dirty="0" sz="1700" spc="-14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phản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hồi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e0e0e0"/>
                </a:solidFill>
                <a:latin typeface="DejaVu Sans"/>
                <a:cs typeface="DejaVu Sans"/>
              </a:rPr>
              <a:t>trực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quan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khi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người</a:t>
            </a:r>
          </a:p>
          <a:p>
            <a:pPr marL="0" marR="0">
              <a:lnSpc>
                <a:spcPts val="1955"/>
              </a:lnSpc>
              <a:spcBef>
                <a:spcPts val="444"/>
              </a:spcBef>
              <a:spcAft>
                <a:spcPts val="0"/>
              </a:spcAft>
            </a:pP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dùng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e0e0e0"/>
                </a:solidFill>
                <a:latin typeface="DejaVu Sans"/>
                <a:cs typeface="DejaVu Sans"/>
              </a:rPr>
              <a:t>chạm</a:t>
            </a:r>
            <a:r>
              <a:rPr dirty="0" sz="1700" spc="-14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e0e0e0"/>
                </a:solidFill>
                <a:latin typeface="DejaVu Sans"/>
                <a:cs typeface="DejaVu Sans"/>
              </a:rPr>
              <a:t>vào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e0e0e0"/>
                </a:solidFill>
                <a:latin typeface="DejaVu Sans"/>
                <a:cs typeface="DejaVu Sans"/>
              </a:rPr>
              <a:t>các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e0e0e0"/>
                </a:solidFill>
                <a:latin typeface="DejaVu Sans"/>
                <a:cs typeface="DejaVu Sans"/>
              </a:rPr>
              <a:t>thành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phần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e0e0e0"/>
                </a:solidFill>
                <a:latin typeface="DejaVu Sans"/>
                <a:cs typeface="DejaVu Sans"/>
              </a:rPr>
              <a:t>UI,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20">
                <a:solidFill>
                  <a:srgbClr val="e0e0e0"/>
                </a:solidFill>
                <a:latin typeface="DejaVu Sans"/>
                <a:cs typeface="DejaVu Sans"/>
              </a:rPr>
              <a:t>mô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phỏng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gợn</a:t>
            </a:r>
          </a:p>
          <a:p>
            <a:pPr marL="0" marR="0">
              <a:lnSpc>
                <a:spcPts val="1955"/>
              </a:lnSpc>
              <a:spcBef>
                <a:spcPts val="319"/>
              </a:spcBef>
              <a:spcAft>
                <a:spcPts val="0"/>
              </a:spcAft>
            </a:pPr>
            <a:r>
              <a:rPr dirty="0" sz="1700" spc="-11">
                <a:solidFill>
                  <a:srgbClr val="e0e0e0"/>
                </a:solidFill>
                <a:latin typeface="DejaVu Sans"/>
                <a:cs typeface="DejaVu Sans"/>
              </a:rPr>
              <a:t>sóng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21">
                <a:solidFill>
                  <a:srgbClr val="e0e0e0"/>
                </a:solidFill>
                <a:latin typeface="DejaVu Sans"/>
                <a:cs typeface="DejaVu Sans"/>
              </a:rPr>
              <a:t>trên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5">
                <a:solidFill>
                  <a:srgbClr val="e0e0e0"/>
                </a:solidFill>
                <a:latin typeface="DejaVu Sans"/>
                <a:cs typeface="DejaVu Sans"/>
              </a:rPr>
              <a:t>mặt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nước.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35347" y="2459168"/>
            <a:ext cx="5307055" cy="5664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Để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kích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hoạt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hiệu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ứng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này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trên</a:t>
            </a:r>
            <a:r>
              <a:rPr dirty="0" sz="1500" spc="17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Android,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chỉ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cần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thêm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thuộc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tính: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97247" y="3582445"/>
            <a:ext cx="5337893" cy="255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12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ff9800"/>
                </a:solidFill>
                <a:latin typeface="Liberation Mono"/>
                <a:cs typeface="Liberation Mono"/>
              </a:rPr>
              <a:t>android:background="?attr/selectableItemBackg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53839" y="4554668"/>
            <a:ext cx="2643945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Phản</a:t>
            </a: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hồi</a:t>
            </a: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trực</a:t>
            </a: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quan</a:t>
            </a: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tức</a:t>
            </a: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thì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255667" y="4775252"/>
            <a:ext cx="3715432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Minh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họa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chuyển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9ca3af"/>
                </a:solidFill>
                <a:latin typeface="DejaVu Sans"/>
                <a:cs typeface="DejaVu Sans"/>
              </a:rPr>
              <a:t>động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9ca3af"/>
                </a:solidFill>
                <a:latin typeface="DejaVu Sans"/>
                <a:cs typeface="DejaVu Sans"/>
              </a:rPr>
              <a:t>UI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9ca3af"/>
                </a:solidFill>
                <a:latin typeface="DejaVu Sans"/>
                <a:cs typeface="DejaVu Sans"/>
              </a:rPr>
              <a:t>trong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9ca3af"/>
                </a:solidFill>
                <a:latin typeface="DejaVu Sans"/>
                <a:cs typeface="DejaVu Sans"/>
              </a:rPr>
              <a:t>Material</a:t>
            </a:r>
            <a:r>
              <a:rPr dirty="0" sz="12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9ca3af"/>
                </a:solidFill>
                <a:latin typeface="DejaVu Sans"/>
                <a:cs typeface="DejaVu Sans"/>
              </a:rPr>
              <a:t>Design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53839" y="5154743"/>
            <a:ext cx="2546083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spc="-51">
                <a:solidFill>
                  <a:srgbClr val="ffffff"/>
                </a:solidFill>
                <a:latin typeface="DejaVu Sans"/>
                <a:cs typeface="DejaVu Sans"/>
              </a:rPr>
              <a:t>Tuân</a:t>
            </a:r>
            <a:r>
              <a:rPr dirty="0" sz="1500" spc="62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thủ</a:t>
            </a: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Material</a:t>
            </a: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Design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20774" y="6124030"/>
            <a:ext cx="7385866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Tầm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quan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trọng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của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Motion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trong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Material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Design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077366" y="6640643"/>
            <a:ext cx="4577301" cy="261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Hướng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dẫn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người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dùng:</a:t>
            </a:r>
            <a:r>
              <a:rPr dirty="0" sz="1500" spc="-44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Giúp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hiểu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cách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các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556919" y="6640643"/>
            <a:ext cx="4775541" cy="261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Tăng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tính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biểu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cảm:</a:t>
            </a:r>
            <a:r>
              <a:rPr dirty="0" sz="1500" spc="-44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Thêm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cá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tính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và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thể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hiện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077366" y="6945443"/>
            <a:ext cx="4879183" cy="261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thành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phần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UI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liên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quan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và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dẫn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hướng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ứng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dụng.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556919" y="6945443"/>
            <a:ext cx="2545982" cy="261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phong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cách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thương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hiệu.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077366" y="7412168"/>
            <a:ext cx="5003751" cy="261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Phản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hồi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tức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thì:</a:t>
            </a:r>
            <a:r>
              <a:rPr dirty="0" sz="1500" spc="-41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Cung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cấp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trạng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thái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hành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động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556919" y="7412168"/>
            <a:ext cx="4980888" cy="261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Nâng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cao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trải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e0e0e0"/>
                </a:solidFill>
                <a:latin typeface="DejaVu Sans"/>
                <a:cs typeface="DejaVu Sans"/>
              </a:rPr>
              <a:t>nghiệm:</a:t>
            </a:r>
            <a:r>
              <a:rPr dirty="0" sz="1500" spc="-44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Làm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cho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giao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diện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người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077366" y="7707443"/>
            <a:ext cx="2740784" cy="261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người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dùng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hoặc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hệ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thống.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556919" y="7707443"/>
            <a:ext cx="3612512" cy="261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dùng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sống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động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và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dễ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sử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dụng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hơn.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870500" y="8147856"/>
            <a:ext cx="5047133" cy="35856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Source: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Implementing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motion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with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Material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Design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|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Google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Design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 spc="-14">
                <a:solidFill>
                  <a:srgbClr val="6b7280"/>
                </a:solidFill>
                <a:latin typeface="DejaVu Sans"/>
                <a:cs typeface="DejaVu Sans"/>
              </a:rPr>
              <a:t>Tutorials</a:t>
            </a:r>
          </a:p>
          <a:p>
            <a:pPr marL="411807" marR="0">
              <a:lnSpc>
                <a:spcPts val="1173"/>
              </a:lnSpc>
              <a:spcBef>
                <a:spcPts val="126"/>
              </a:spcBef>
              <a:spcAft>
                <a:spcPts val="0"/>
              </a:spcAft>
            </a:pP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Source: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Building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Beautiful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 spc="-10">
                <a:solidFill>
                  <a:srgbClr val="6b7280"/>
                </a:solidFill>
                <a:latin typeface="DejaVu Sans"/>
                <a:cs typeface="DejaVu Sans"/>
              </a:rPr>
              <a:t>Transitions</a:t>
            </a:r>
            <a:r>
              <a:rPr dirty="0" sz="1000" spc="17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with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Material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Motion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for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Android</a:t>
            </a:r>
          </a:p>
        </p:txBody>
      </p:sp>
    </p:spTree>
  </p:cSld>
  <p:clrMapOvr>
    <a:masterClrMapping/>
  </p:clrMapOvr>
</p:sld>
</file>

<file path=ppt/slides/slide53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8836533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345108" y="436424"/>
            <a:ext cx="9653935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0" b="1">
                <a:solidFill>
                  <a:srgbClr val="e0e0e0"/>
                </a:solidFill>
                <a:latin typeface="DejaVu Sans"/>
                <a:cs typeface="DejaVu Sans"/>
              </a:rPr>
              <a:t>Tích</a:t>
            </a:r>
            <a:r>
              <a:rPr dirty="0" sz="4050" spc="-1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e0e0e0"/>
                </a:solidFill>
                <a:latin typeface="DejaVu Sans"/>
                <a:cs typeface="DejaVu Sans"/>
              </a:rPr>
              <a:t>hợp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1" b="1">
                <a:solidFill>
                  <a:srgbClr val="e0e0e0"/>
                </a:solidFill>
                <a:latin typeface="DejaVu Sans"/>
                <a:cs typeface="DejaVu Sans"/>
              </a:rPr>
              <a:t>Animations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e0e0e0"/>
                </a:solidFill>
                <a:latin typeface="DejaVu Sans"/>
                <a:cs typeface="DejaVu Sans"/>
              </a:rPr>
              <a:t>với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1" b="1">
                <a:solidFill>
                  <a:srgbClr val="00bcd4"/>
                </a:solidFill>
                <a:latin typeface="DejaVu Sans"/>
                <a:cs typeface="DejaVu Sans"/>
              </a:rPr>
              <a:t>Material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29766" y="1588478"/>
            <a:ext cx="4179062" cy="6790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Tầm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quan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trọng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của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chuyển</a:t>
            </a:r>
          </a:p>
          <a:p>
            <a:pPr marL="0" marR="0">
              <a:lnSpc>
                <a:spcPts val="2346"/>
              </a:lnSpc>
              <a:spcBef>
                <a:spcPts val="353"/>
              </a:spcBef>
              <a:spcAft>
                <a:spcPts val="0"/>
              </a:spcAft>
            </a:pP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động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2" b="1">
                <a:solidFill>
                  <a:srgbClr val="e0e0e0"/>
                </a:solidFill>
                <a:latin typeface="DejaVu Sans"/>
                <a:cs typeface="DejaVu Sans"/>
              </a:rPr>
              <a:t>UI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031532" y="1626578"/>
            <a:ext cx="3423984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2" b="1">
                <a:solidFill>
                  <a:srgbClr val="e0e0e0"/>
                </a:solidFill>
                <a:latin typeface="DejaVu Sans"/>
                <a:cs typeface="DejaVu Sans"/>
              </a:rPr>
              <a:t>Hỗ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trợ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Material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Design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522540" y="2190817"/>
            <a:ext cx="4745140" cy="5664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Android</a:t>
            </a:r>
            <a:r>
              <a:rPr dirty="0" sz="1500" spc="1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cung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cấp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các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tính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năng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tích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hợp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để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xây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dựng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ứng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dụng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với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chuyển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động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phong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phú.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19311" y="2447992"/>
            <a:ext cx="2639458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UI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biểu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cảm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&amp;</a:t>
            </a:r>
            <a:r>
              <a:rPr dirty="0" sz="1500" spc="12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dễ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sử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dụng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20774" y="2514667"/>
            <a:ext cx="265664" cy="17380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0bcd4"/>
                </a:solidFill>
                <a:latin typeface="DejaVu Sans"/>
                <a:cs typeface="DejaVu Sans"/>
              </a:rPr>
              <a:t>•</a:t>
            </a:r>
          </a:p>
          <a:p>
            <a:pPr marL="0" marR="0">
              <a:lnSpc>
                <a:spcPts val="1760"/>
              </a:lnSpc>
              <a:spcBef>
                <a:spcPts val="2139"/>
              </a:spcBef>
              <a:spcAft>
                <a:spcPts val="0"/>
              </a:spcAft>
            </a:pPr>
            <a:r>
              <a:rPr dirty="0" sz="1500">
                <a:solidFill>
                  <a:srgbClr val="00bcd4"/>
                </a:solidFill>
                <a:latin typeface="DejaVu Sans"/>
                <a:cs typeface="DejaVu Sans"/>
              </a:rPr>
              <a:t>•</a:t>
            </a:r>
          </a:p>
          <a:p>
            <a:pPr marL="0" marR="0">
              <a:lnSpc>
                <a:spcPts val="1760"/>
              </a:lnSpc>
              <a:spcBef>
                <a:spcPts val="2014"/>
              </a:spcBef>
              <a:spcAft>
                <a:spcPts val="0"/>
              </a:spcAft>
            </a:pPr>
            <a:r>
              <a:rPr dirty="0" sz="1500">
                <a:solidFill>
                  <a:srgbClr val="00bcd4"/>
                </a:solidFill>
                <a:latin typeface="DejaVu Sans"/>
                <a:cs typeface="DejaVu Sans"/>
              </a:rPr>
              <a:t>•</a:t>
            </a:r>
          </a:p>
          <a:p>
            <a:pPr marL="0" marR="0">
              <a:lnSpc>
                <a:spcPts val="1760"/>
              </a:lnSpc>
              <a:spcBef>
                <a:spcPts val="2139"/>
              </a:spcBef>
              <a:spcAft>
                <a:spcPts val="0"/>
              </a:spcAft>
            </a:pPr>
            <a:r>
              <a:rPr dirty="0" sz="1500">
                <a:solidFill>
                  <a:srgbClr val="00bcd4"/>
                </a:solidFill>
                <a:latin typeface="DejaVu Sans"/>
                <a:cs typeface="DejaVu Sans"/>
              </a:rPr>
              <a:t>•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19311" y="2943292"/>
            <a:ext cx="4101212" cy="12427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Thông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báo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mối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quan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hệ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giữa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các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phần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tử</a:t>
            </a:r>
          </a:p>
          <a:p>
            <a:pPr marL="0" marR="0">
              <a:lnSpc>
                <a:spcPts val="1760"/>
              </a:lnSpc>
              <a:spcBef>
                <a:spcPts val="2014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Chỉ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ra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hành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động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khả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dụng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&amp;</a:t>
            </a:r>
            <a:r>
              <a:rPr dirty="0" sz="1500" spc="12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kết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quả</a:t>
            </a:r>
          </a:p>
          <a:p>
            <a:pPr marL="0" marR="0">
              <a:lnSpc>
                <a:spcPts val="1760"/>
              </a:lnSpc>
              <a:spcBef>
                <a:spcPts val="2139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Thể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hiện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phong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cách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thương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hiệu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863803" y="3001197"/>
            <a:ext cx="2145369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Chủ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đề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Material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Design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863803" y="3448872"/>
            <a:ext cx="1877621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Widgets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UI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phức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tạp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863803" y="3896547"/>
            <a:ext cx="3460020" cy="6844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APIs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cho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hiệu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ứng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&amp;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đổ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bóng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tùy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chỉnh</a:t>
            </a:r>
          </a:p>
          <a:p>
            <a:pPr marL="0" marR="0">
              <a:lnSpc>
                <a:spcPts val="1564"/>
              </a:lnSpc>
              <a:spcBef>
                <a:spcPts val="191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Hệ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thống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Material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Motion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029771" y="5408004"/>
            <a:ext cx="5020009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MotionLayout: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1" b="1">
                <a:solidFill>
                  <a:srgbClr val="e0e0e0"/>
                </a:solidFill>
                <a:latin typeface="DejaVu Sans"/>
                <a:cs typeface="DejaVu Sans"/>
              </a:rPr>
              <a:t>Khả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năng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&amp;</a:t>
            </a:r>
            <a:r>
              <a:rPr dirty="0" sz="2000" spc="18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Lợi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ích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324599" y="5924617"/>
            <a:ext cx="4095201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Quản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lý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chuyển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động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&amp;</a:t>
            </a:r>
            <a:r>
              <a:rPr dirty="0" sz="1500" spc="12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hoạt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ảnh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widget.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324599" y="6400867"/>
            <a:ext cx="5176454" cy="5569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Kết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nối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chuyển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đổi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layout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&amp;</a:t>
            </a:r>
            <a:r>
              <a:rPr dirty="0" sz="1500" spc="12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xử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lý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chuyển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động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phức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tạp.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324599" y="7124767"/>
            <a:ext cx="4760028" cy="5569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Kết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hợp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Property</a:t>
            </a:r>
            <a:r>
              <a:rPr dirty="0" sz="1500" spc="12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Animation,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TransitionManager,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CoordinatorLayout.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200596" y="7743892"/>
            <a:ext cx="3572116" cy="261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Ví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dụ: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 spc="-40">
                <a:solidFill>
                  <a:srgbClr val="d1d5db"/>
                </a:solidFill>
                <a:latin typeface="DejaVu Sans"/>
                <a:cs typeface="DejaVu Sans"/>
              </a:rPr>
              <a:t>FAB</a:t>
            </a:r>
            <a:r>
              <a:rPr dirty="0" sz="1500" spc="52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 spc="10">
                <a:solidFill>
                  <a:srgbClr val="d1d5db"/>
                </a:solidFill>
                <a:latin typeface="DejaVu Sans"/>
                <a:cs typeface="DejaVu Sans"/>
              </a:rPr>
              <a:t>mở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rộng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thành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biểu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mẫu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324599" y="7848667"/>
            <a:ext cx="4300407" cy="261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spc="-62">
                <a:solidFill>
                  <a:srgbClr val="e0e0e0"/>
                </a:solidFill>
                <a:latin typeface="DejaVu Sans"/>
                <a:cs typeface="DejaVu Sans"/>
              </a:rPr>
              <a:t>Yêu</a:t>
            </a:r>
            <a:r>
              <a:rPr dirty="0" sz="1500" spc="73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cầu</a:t>
            </a:r>
            <a:r>
              <a:rPr dirty="0" sz="1500" spc="196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Liberation Mono"/>
                <a:cs typeface="Liberation Mono"/>
              </a:rPr>
              <a:t>ConstraintLayout</a:t>
            </a:r>
            <a:r>
              <a:rPr dirty="0" sz="1200" spc="-15">
                <a:solidFill>
                  <a:srgbClr val="e0e0e0"/>
                </a:solidFill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Liberation Mono"/>
                <a:cs typeface="Liberation Mono"/>
              </a:rPr>
              <a:t>2.0</a:t>
            </a:r>
            <a:r>
              <a:rPr dirty="0" sz="1200" spc="-49">
                <a:solidFill>
                  <a:srgbClr val="e0e0e0"/>
                </a:solidFill>
                <a:latin typeface="Liberation Mono"/>
                <a:cs typeface="Liberation Mono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và</a:t>
            </a:r>
            <a:r>
              <a:rPr dirty="0" sz="1500" spc="195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Liberation Mono"/>
                <a:cs typeface="Liberation Mono"/>
              </a:rPr>
              <a:t>MotionScene</a:t>
            </a:r>
            <a:r>
              <a:rPr dirty="0" sz="1200" spc="-47">
                <a:solidFill>
                  <a:srgbClr val="e0e0e0"/>
                </a:solidFill>
                <a:latin typeface="Liberation Mono"/>
                <a:cs typeface="Liberation Mono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9053511" y="8584355"/>
            <a:ext cx="3120293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Nguồn: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Android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Developers,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Material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Design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2</a:t>
            </a:r>
          </a:p>
        </p:txBody>
      </p:sp>
    </p:spTree>
  </p:cSld>
  <p:clrMapOvr>
    <a:masterClrMapping/>
  </p:clrMapOvr>
</p:sld>
</file>

<file path=ppt/slides/slide54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8836533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345108" y="436424"/>
            <a:ext cx="9653935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0" b="1">
                <a:solidFill>
                  <a:srgbClr val="e0e0e0"/>
                </a:solidFill>
                <a:latin typeface="DejaVu Sans"/>
                <a:cs typeface="DejaVu Sans"/>
              </a:rPr>
              <a:t>Tích</a:t>
            </a:r>
            <a:r>
              <a:rPr dirty="0" sz="4050" spc="-1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e0e0e0"/>
                </a:solidFill>
                <a:latin typeface="DejaVu Sans"/>
                <a:cs typeface="DejaVu Sans"/>
              </a:rPr>
              <a:t>hợp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1" b="1">
                <a:solidFill>
                  <a:srgbClr val="e0e0e0"/>
                </a:solidFill>
                <a:latin typeface="DejaVu Sans"/>
                <a:cs typeface="DejaVu Sans"/>
              </a:rPr>
              <a:t>Animations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e0e0e0"/>
                </a:solidFill>
                <a:latin typeface="DejaVu Sans"/>
                <a:cs typeface="DejaVu Sans"/>
              </a:rPr>
              <a:t>với</a:t>
            </a:r>
            <a:r>
              <a:rPr dirty="0" sz="405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4050" spc="-11" b="1">
                <a:solidFill>
                  <a:srgbClr val="00bcd4"/>
                </a:solidFill>
                <a:latin typeface="DejaVu Sans"/>
                <a:cs typeface="DejaVu Sans"/>
              </a:rPr>
              <a:t>Material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29766" y="1588478"/>
            <a:ext cx="4179062" cy="6790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Tầm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quan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trọng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của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chuyển</a:t>
            </a:r>
          </a:p>
          <a:p>
            <a:pPr marL="0" marR="0">
              <a:lnSpc>
                <a:spcPts val="2346"/>
              </a:lnSpc>
              <a:spcBef>
                <a:spcPts val="353"/>
              </a:spcBef>
              <a:spcAft>
                <a:spcPts val="0"/>
              </a:spcAft>
            </a:pP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động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2" b="1">
                <a:solidFill>
                  <a:srgbClr val="e0e0e0"/>
                </a:solidFill>
                <a:latin typeface="DejaVu Sans"/>
                <a:cs typeface="DejaVu Sans"/>
              </a:rPr>
              <a:t>UI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031532" y="1626578"/>
            <a:ext cx="3423984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2" b="1">
                <a:solidFill>
                  <a:srgbClr val="e0e0e0"/>
                </a:solidFill>
                <a:latin typeface="DejaVu Sans"/>
                <a:cs typeface="DejaVu Sans"/>
              </a:rPr>
              <a:t>Hỗ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trợ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Material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Design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522540" y="2190817"/>
            <a:ext cx="4745140" cy="5664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Android</a:t>
            </a:r>
            <a:r>
              <a:rPr dirty="0" sz="1500" spc="1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cung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cấp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các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tính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năng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tích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hợp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để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xây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dựng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ứng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dụng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với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chuyển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động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phong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phú.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19311" y="2447992"/>
            <a:ext cx="2639458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UI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biểu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cảm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&amp;</a:t>
            </a:r>
            <a:r>
              <a:rPr dirty="0" sz="1500" spc="12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dễ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sử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dụng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20774" y="2514667"/>
            <a:ext cx="265664" cy="17380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0bcd4"/>
                </a:solidFill>
                <a:latin typeface="DejaVu Sans"/>
                <a:cs typeface="DejaVu Sans"/>
              </a:rPr>
              <a:t>•</a:t>
            </a:r>
          </a:p>
          <a:p>
            <a:pPr marL="0" marR="0">
              <a:lnSpc>
                <a:spcPts val="1760"/>
              </a:lnSpc>
              <a:spcBef>
                <a:spcPts val="2139"/>
              </a:spcBef>
              <a:spcAft>
                <a:spcPts val="0"/>
              </a:spcAft>
            </a:pPr>
            <a:r>
              <a:rPr dirty="0" sz="1500">
                <a:solidFill>
                  <a:srgbClr val="00bcd4"/>
                </a:solidFill>
                <a:latin typeface="DejaVu Sans"/>
                <a:cs typeface="DejaVu Sans"/>
              </a:rPr>
              <a:t>•</a:t>
            </a:r>
          </a:p>
          <a:p>
            <a:pPr marL="0" marR="0">
              <a:lnSpc>
                <a:spcPts val="1760"/>
              </a:lnSpc>
              <a:spcBef>
                <a:spcPts val="2014"/>
              </a:spcBef>
              <a:spcAft>
                <a:spcPts val="0"/>
              </a:spcAft>
            </a:pPr>
            <a:r>
              <a:rPr dirty="0" sz="1500">
                <a:solidFill>
                  <a:srgbClr val="00bcd4"/>
                </a:solidFill>
                <a:latin typeface="DejaVu Sans"/>
                <a:cs typeface="DejaVu Sans"/>
              </a:rPr>
              <a:t>•</a:t>
            </a:r>
          </a:p>
          <a:p>
            <a:pPr marL="0" marR="0">
              <a:lnSpc>
                <a:spcPts val="1760"/>
              </a:lnSpc>
              <a:spcBef>
                <a:spcPts val="2139"/>
              </a:spcBef>
              <a:spcAft>
                <a:spcPts val="0"/>
              </a:spcAft>
            </a:pPr>
            <a:r>
              <a:rPr dirty="0" sz="1500">
                <a:solidFill>
                  <a:srgbClr val="00bcd4"/>
                </a:solidFill>
                <a:latin typeface="DejaVu Sans"/>
                <a:cs typeface="DejaVu Sans"/>
              </a:rPr>
              <a:t>•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19311" y="2943292"/>
            <a:ext cx="4101212" cy="12427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Thông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báo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mối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quan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hệ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giữa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các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phần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tử</a:t>
            </a:r>
          </a:p>
          <a:p>
            <a:pPr marL="0" marR="0">
              <a:lnSpc>
                <a:spcPts val="1760"/>
              </a:lnSpc>
              <a:spcBef>
                <a:spcPts val="2014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Chỉ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ra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hành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động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khả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dụng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&amp;</a:t>
            </a:r>
            <a:r>
              <a:rPr dirty="0" sz="1500" spc="12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kết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quả</a:t>
            </a:r>
          </a:p>
          <a:p>
            <a:pPr marL="0" marR="0">
              <a:lnSpc>
                <a:spcPts val="1760"/>
              </a:lnSpc>
              <a:spcBef>
                <a:spcPts val="2139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Thể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hiện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phong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cách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thương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hiệu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863803" y="3001197"/>
            <a:ext cx="2145369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Chủ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đề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Material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Design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863803" y="3448872"/>
            <a:ext cx="1877621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Widgets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UI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phức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tạp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863803" y="3896547"/>
            <a:ext cx="3460020" cy="6844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APIs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cho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hiệu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ứng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&amp;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đổ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bóng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tùy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chỉnh</a:t>
            </a:r>
          </a:p>
          <a:p>
            <a:pPr marL="0" marR="0">
              <a:lnSpc>
                <a:spcPts val="1564"/>
              </a:lnSpc>
              <a:spcBef>
                <a:spcPts val="191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Hệ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thống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Material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Motion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029771" y="5408004"/>
            <a:ext cx="5020009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MotionLayout: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1" b="1">
                <a:solidFill>
                  <a:srgbClr val="e0e0e0"/>
                </a:solidFill>
                <a:latin typeface="DejaVu Sans"/>
                <a:cs typeface="DejaVu Sans"/>
              </a:rPr>
              <a:t>Khả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năng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&amp;</a:t>
            </a:r>
            <a:r>
              <a:rPr dirty="0" sz="2000" spc="18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Lợi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ích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324599" y="5924617"/>
            <a:ext cx="4095201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Quản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lý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chuyển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động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&amp;</a:t>
            </a:r>
            <a:r>
              <a:rPr dirty="0" sz="1500" spc="12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hoạt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ảnh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widget.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324599" y="6400867"/>
            <a:ext cx="5176454" cy="5569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Kết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nối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chuyển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đổi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layout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&amp;</a:t>
            </a:r>
            <a:r>
              <a:rPr dirty="0" sz="1500" spc="12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xử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lý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chuyển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động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phức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tạp.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324599" y="7124767"/>
            <a:ext cx="4760028" cy="5569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Kết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hợp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Property</a:t>
            </a:r>
            <a:r>
              <a:rPr dirty="0" sz="1500" spc="12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Animation,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TransitionManager,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CoordinatorLayout.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200596" y="7743892"/>
            <a:ext cx="3572116" cy="261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Ví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dụ: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 spc="-40">
                <a:solidFill>
                  <a:srgbClr val="d1d5db"/>
                </a:solidFill>
                <a:latin typeface="DejaVu Sans"/>
                <a:cs typeface="DejaVu Sans"/>
              </a:rPr>
              <a:t>FAB</a:t>
            </a:r>
            <a:r>
              <a:rPr dirty="0" sz="1500" spc="52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 spc="10">
                <a:solidFill>
                  <a:srgbClr val="d1d5db"/>
                </a:solidFill>
                <a:latin typeface="DejaVu Sans"/>
                <a:cs typeface="DejaVu Sans"/>
              </a:rPr>
              <a:t>mở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rộng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thành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biểu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d1d5db"/>
                </a:solidFill>
                <a:latin typeface="DejaVu Sans"/>
                <a:cs typeface="DejaVu Sans"/>
              </a:rPr>
              <a:t>mẫu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324599" y="7848667"/>
            <a:ext cx="4300407" cy="261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spc="-62">
                <a:solidFill>
                  <a:srgbClr val="e0e0e0"/>
                </a:solidFill>
                <a:latin typeface="DejaVu Sans"/>
                <a:cs typeface="DejaVu Sans"/>
              </a:rPr>
              <a:t>Yêu</a:t>
            </a:r>
            <a:r>
              <a:rPr dirty="0" sz="1500" spc="73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cầu</a:t>
            </a:r>
            <a:r>
              <a:rPr dirty="0" sz="1500" spc="196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Liberation Mono"/>
                <a:cs typeface="Liberation Mono"/>
              </a:rPr>
              <a:t>ConstraintLayout</a:t>
            </a:r>
            <a:r>
              <a:rPr dirty="0" sz="1200" spc="-15">
                <a:solidFill>
                  <a:srgbClr val="e0e0e0"/>
                </a:solidFill>
                <a:latin typeface="Liberation Mono"/>
                <a:cs typeface="Liberation Mono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Liberation Mono"/>
                <a:cs typeface="Liberation Mono"/>
              </a:rPr>
              <a:t>2.0</a:t>
            </a:r>
            <a:r>
              <a:rPr dirty="0" sz="1200" spc="-49">
                <a:solidFill>
                  <a:srgbClr val="e0e0e0"/>
                </a:solidFill>
                <a:latin typeface="Liberation Mono"/>
                <a:cs typeface="Liberation Mono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và</a:t>
            </a:r>
            <a:r>
              <a:rPr dirty="0" sz="1500" spc="195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e0e0e0"/>
                </a:solidFill>
                <a:latin typeface="Liberation Mono"/>
                <a:cs typeface="Liberation Mono"/>
              </a:rPr>
              <a:t>MotionScene</a:t>
            </a:r>
            <a:r>
              <a:rPr dirty="0" sz="1200" spc="-47">
                <a:solidFill>
                  <a:srgbClr val="e0e0e0"/>
                </a:solidFill>
                <a:latin typeface="Liberation Mono"/>
                <a:cs typeface="Liberation Mono"/>
              </a:rPr>
              <a:t> </a:t>
            </a:r>
            <a:r>
              <a:rPr dirty="0" sz="1500">
                <a:solidFill>
                  <a:srgbClr val="e0e0e0"/>
                </a:solidFill>
                <a:latin typeface="DejaVu Sans"/>
                <a:cs typeface="DejaVu Sans"/>
              </a:rPr>
              <a:t>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9053511" y="8584355"/>
            <a:ext cx="3120293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Nguồn: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Android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Developers,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Material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Design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2</a:t>
            </a:r>
          </a:p>
        </p:txBody>
      </p:sp>
    </p:spTree>
  </p:cSld>
  <p:clrMapOvr>
    <a:masterClrMapping/>
  </p:clrMapOvr>
</p:sld>
</file>

<file path=ppt/slides/slide55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7494651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701700" y="345617"/>
            <a:ext cx="8940848" cy="57030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190"/>
              </a:lnSpc>
              <a:spcBef>
                <a:spcPts val="0"/>
              </a:spcBef>
              <a:spcAft>
                <a:spcPts val="0"/>
              </a:spcAft>
            </a:pPr>
            <a:r>
              <a:rPr dirty="0" sz="3600" b="1">
                <a:solidFill>
                  <a:srgbClr val="e0e0e0"/>
                </a:solidFill>
                <a:latin typeface="DejaVu Sans"/>
                <a:cs typeface="DejaVu Sans"/>
              </a:rPr>
              <a:t>Thực</a:t>
            </a:r>
            <a:r>
              <a:rPr dirty="0" sz="36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3600" b="1">
                <a:solidFill>
                  <a:srgbClr val="e0e0e0"/>
                </a:solidFill>
                <a:latin typeface="DejaVu Sans"/>
                <a:cs typeface="DejaVu Sans"/>
              </a:rPr>
              <a:t>tiễn</a:t>
            </a:r>
            <a:r>
              <a:rPr dirty="0" sz="36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3600" b="1">
                <a:solidFill>
                  <a:srgbClr val="e0e0e0"/>
                </a:solidFill>
                <a:latin typeface="DejaVu Sans"/>
                <a:cs typeface="DejaVu Sans"/>
              </a:rPr>
              <a:t>tốt</a:t>
            </a:r>
            <a:r>
              <a:rPr dirty="0" sz="36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3600" b="1">
                <a:solidFill>
                  <a:srgbClr val="e0e0e0"/>
                </a:solidFill>
                <a:latin typeface="DejaVu Sans"/>
                <a:cs typeface="DejaVu Sans"/>
              </a:rPr>
              <a:t>nhất</a:t>
            </a:r>
            <a:r>
              <a:rPr dirty="0" sz="36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3600" b="1">
                <a:solidFill>
                  <a:srgbClr val="e0e0e0"/>
                </a:solidFill>
                <a:latin typeface="DejaVu Sans"/>
                <a:cs typeface="DejaVu Sans"/>
              </a:rPr>
              <a:t>cho</a:t>
            </a:r>
            <a:r>
              <a:rPr dirty="0" sz="36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3600" b="1">
                <a:solidFill>
                  <a:srgbClr val="00bcd4"/>
                </a:solidFill>
                <a:latin typeface="DejaVu Sans"/>
                <a:cs typeface="DejaVu Sans"/>
              </a:rPr>
              <a:t>Animations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04924" y="1612349"/>
            <a:ext cx="1886712" cy="2598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46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Thời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lượng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ngắn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191124" y="1612349"/>
            <a:ext cx="1824111" cy="2598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46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spc="-33" b="1">
                <a:solidFill>
                  <a:srgbClr val="ffffff"/>
                </a:solidFill>
                <a:latin typeface="DejaVu Sans"/>
                <a:cs typeface="DejaVu Sans"/>
              </a:rPr>
              <a:t>Tránh</a:t>
            </a:r>
            <a:r>
              <a:rPr dirty="0" sz="1500" spc="33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lạm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dụng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077324" y="1612349"/>
            <a:ext cx="2089491" cy="2598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46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spc="-27" b="1">
                <a:solidFill>
                  <a:srgbClr val="ffffff"/>
                </a:solidFill>
                <a:latin typeface="DejaVu Sans"/>
                <a:cs typeface="DejaVu Sans"/>
              </a:rPr>
              <a:t>Truyền</a:t>
            </a:r>
            <a:r>
              <a:rPr dirty="0" sz="1500" spc="27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tải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ý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nghĩa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505324" y="2162064"/>
            <a:ext cx="3317378" cy="4441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96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Sử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dụng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hoạt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ảnh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có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mục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đích,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không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chỉ</a:t>
            </a:r>
          </a:p>
          <a:p>
            <a:pPr marL="0" marR="0">
              <a:lnSpc>
                <a:spcPts val="1396"/>
              </a:lnSpc>
              <a:spcBef>
                <a:spcPts val="403"/>
              </a:spcBef>
              <a:spcAft>
                <a:spcPts val="0"/>
              </a:spcAft>
            </a:pP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để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trang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trí.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85824" y="2198797"/>
            <a:ext cx="927496" cy="1933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2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>
                <a:solidFill>
                  <a:srgbClr val="e0e0e0"/>
                </a:solidFill>
                <a:latin typeface="DejaVu Sans"/>
                <a:cs typeface="DejaVu Sans"/>
              </a:rPr>
              <a:t>200–400ms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505824" y="2274997"/>
            <a:ext cx="1719392" cy="1933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2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Định</a:t>
            </a: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 </a:t>
            </a: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hướng</a:t>
            </a: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 </a:t>
            </a: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người</a:t>
            </a: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 </a:t>
            </a: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dùng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19124" y="2581164"/>
            <a:ext cx="3240508" cy="4441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96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Hoạt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ảnh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nên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nhanh,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phản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hồi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tức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thì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</a:p>
          <a:p>
            <a:pPr marL="0" marR="0">
              <a:lnSpc>
                <a:spcPts val="1396"/>
              </a:lnSpc>
              <a:spcBef>
                <a:spcPts val="403"/>
              </a:spcBef>
              <a:spcAft>
                <a:spcPts val="0"/>
              </a:spcAft>
            </a:pP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không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gây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khó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chịu.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505824" y="2617897"/>
            <a:ext cx="2819009" cy="5362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2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Nhấn</a:t>
            </a: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 </a:t>
            </a: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mạnh</a:t>
            </a: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 </a:t>
            </a: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mối</a:t>
            </a: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 </a:t>
            </a: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liên</a:t>
            </a: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 </a:t>
            </a: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kết</a:t>
            </a: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 </a:t>
            </a: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giữa</a:t>
            </a: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 </a:t>
            </a: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các</a:t>
            </a: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 </a:t>
            </a: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yếu</a:t>
            </a: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 </a:t>
            </a: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tố</a:t>
            </a:r>
          </a:p>
          <a:p>
            <a:pPr marL="0" marR="0">
              <a:lnSpc>
                <a:spcPts val="1222"/>
              </a:lnSpc>
              <a:spcBef>
                <a:spcPts val="1477"/>
              </a:spcBef>
              <a:spcAft>
                <a:spcPts val="0"/>
              </a:spcAft>
            </a:pP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Cung</a:t>
            </a: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 </a:t>
            </a: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cấp</a:t>
            </a: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 </a:t>
            </a: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phản</a:t>
            </a: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 </a:t>
            </a: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hồi</a:t>
            </a: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 </a:t>
            </a: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trạng</a:t>
            </a: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 </a:t>
            </a: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thái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695824" y="3076464"/>
            <a:ext cx="3021582" cy="4441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96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"Quá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nhiều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chuyển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động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gây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mất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tập</a:t>
            </a:r>
          </a:p>
          <a:p>
            <a:pPr marL="0" marR="0">
              <a:lnSpc>
                <a:spcPts val="1396"/>
              </a:lnSpc>
              <a:spcBef>
                <a:spcPts val="403"/>
              </a:spcBef>
              <a:spcAft>
                <a:spcPts val="0"/>
              </a:spcAft>
            </a:pP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trung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mỏi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mắt."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8505824" y="3303697"/>
            <a:ext cx="2047558" cy="1933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2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Chỉ</a:t>
            </a: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 </a:t>
            </a: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ra</a:t>
            </a: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 </a:t>
            </a: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các</a:t>
            </a: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 </a:t>
            </a: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hành</a:t>
            </a: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 </a:t>
            </a: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động</a:t>
            </a: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 </a:t>
            </a: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có</a:t>
            </a: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 </a:t>
            </a: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sẵn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19124" y="3341797"/>
            <a:ext cx="2128493" cy="1933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2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>
                <a:solidFill>
                  <a:srgbClr val="9ca3af"/>
                </a:solidFill>
                <a:latin typeface="DejaVu Sans"/>
                <a:cs typeface="DejaVu Sans"/>
              </a:rPr>
              <a:t>VD:</a:t>
            </a:r>
            <a:r>
              <a:rPr dirty="0" sz="10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50">
                <a:solidFill>
                  <a:srgbClr val="9ca3af"/>
                </a:solidFill>
                <a:latin typeface="DejaVu Sans"/>
                <a:cs typeface="DejaVu Sans"/>
              </a:rPr>
              <a:t>Chuyển</a:t>
            </a:r>
            <a:r>
              <a:rPr dirty="0" sz="10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50">
                <a:solidFill>
                  <a:srgbClr val="9ca3af"/>
                </a:solidFill>
                <a:latin typeface="DejaVu Sans"/>
                <a:cs typeface="DejaVu Sans"/>
              </a:rPr>
              <a:t>đổi</a:t>
            </a:r>
            <a:r>
              <a:rPr dirty="0" sz="10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50">
                <a:solidFill>
                  <a:srgbClr val="9ca3af"/>
                </a:solidFill>
                <a:latin typeface="DejaVu Sans"/>
                <a:cs typeface="DejaVu Sans"/>
              </a:rPr>
              <a:t>trang:</a:t>
            </a:r>
            <a:r>
              <a:rPr dirty="0" sz="10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50">
                <a:solidFill>
                  <a:srgbClr val="9ca3af"/>
                </a:solidFill>
                <a:latin typeface="DejaVu Sans"/>
                <a:cs typeface="DejaVu Sans"/>
              </a:rPr>
              <a:t>300ms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047749" y="4277982"/>
            <a:ext cx="3394294" cy="23767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71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ffffff"/>
                </a:solidFill>
                <a:latin typeface="DejaVu Sans"/>
                <a:cs typeface="DejaVu Sans"/>
              </a:rPr>
              <a:t>Tầm</a:t>
            </a:r>
            <a:r>
              <a:rPr dirty="0" sz="135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ffffff"/>
                </a:solidFill>
                <a:latin typeface="DejaVu Sans"/>
                <a:cs typeface="DejaVu Sans"/>
              </a:rPr>
              <a:t>quan</a:t>
            </a:r>
            <a:r>
              <a:rPr dirty="0" sz="135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ffffff"/>
                </a:solidFill>
                <a:latin typeface="DejaVu Sans"/>
                <a:cs typeface="DejaVu Sans"/>
              </a:rPr>
              <a:t>trọng</a:t>
            </a:r>
            <a:r>
              <a:rPr dirty="0" sz="135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ffffff"/>
                </a:solidFill>
                <a:latin typeface="DejaVu Sans"/>
                <a:cs typeface="DejaVu Sans"/>
              </a:rPr>
              <a:t>của</a:t>
            </a:r>
            <a:r>
              <a:rPr dirty="0" sz="135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ffffff"/>
                </a:solidFill>
                <a:latin typeface="DejaVu Sans"/>
                <a:cs typeface="DejaVu Sans"/>
              </a:rPr>
              <a:t>chuyển</a:t>
            </a:r>
            <a:r>
              <a:rPr dirty="0" sz="135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ffffff"/>
                </a:solidFill>
                <a:latin typeface="DejaVu Sans"/>
                <a:cs typeface="DejaVu Sans"/>
              </a:rPr>
              <a:t>động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81049" y="4686189"/>
            <a:ext cx="3873623" cy="8251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96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Làm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giao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diện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dễ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sử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dụng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biểu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cảm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hơn.</a:t>
            </a:r>
          </a:p>
          <a:p>
            <a:pPr marL="0" marR="0">
              <a:lnSpc>
                <a:spcPts val="1396"/>
              </a:lnSpc>
              <a:spcBef>
                <a:spcPts val="1003"/>
              </a:spcBef>
              <a:spcAft>
                <a:spcPts val="0"/>
              </a:spcAft>
            </a:pP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Cung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cấp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phản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hồi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kịp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thời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cho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người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dùng.</a:t>
            </a:r>
          </a:p>
          <a:p>
            <a:pPr marL="0" marR="0">
              <a:lnSpc>
                <a:spcPts val="1396"/>
              </a:lnSpc>
              <a:spcBef>
                <a:spcPts val="1003"/>
              </a:spcBef>
              <a:spcAft>
                <a:spcPts val="0"/>
              </a:spcAft>
            </a:pP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Giúp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người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dùng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hiểu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cách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thực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hiện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hành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động.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8966298" y="7121855"/>
            <a:ext cx="2997063" cy="17115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4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6b7280"/>
                </a:solidFill>
                <a:latin typeface="DejaVu Sans"/>
                <a:cs typeface="DejaVu Sans"/>
              </a:rPr>
              <a:t>Nguồn:</a:t>
            </a:r>
            <a:r>
              <a:rPr dirty="0" sz="9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900">
                <a:solidFill>
                  <a:srgbClr val="6b7280"/>
                </a:solidFill>
                <a:latin typeface="DejaVu Sans"/>
                <a:cs typeface="DejaVu Sans"/>
              </a:rPr>
              <a:t>Understanding</a:t>
            </a:r>
            <a:r>
              <a:rPr dirty="0" sz="9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900">
                <a:solidFill>
                  <a:srgbClr val="6b7280"/>
                </a:solidFill>
                <a:latin typeface="DejaVu Sans"/>
                <a:cs typeface="DejaVu Sans"/>
              </a:rPr>
              <a:t>motion</a:t>
            </a:r>
            <a:r>
              <a:rPr dirty="0" sz="9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900">
                <a:solidFill>
                  <a:srgbClr val="6b7280"/>
                </a:solidFill>
                <a:latin typeface="DejaVu Sans"/>
                <a:cs typeface="DejaVu Sans"/>
              </a:rPr>
              <a:t>-</a:t>
            </a:r>
            <a:r>
              <a:rPr dirty="0" sz="9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900">
                <a:solidFill>
                  <a:srgbClr val="6b7280"/>
                </a:solidFill>
                <a:latin typeface="DejaVu Sans"/>
                <a:cs typeface="DejaVu Sans"/>
              </a:rPr>
              <a:t>Material</a:t>
            </a:r>
            <a:r>
              <a:rPr dirty="0" sz="9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900">
                <a:solidFill>
                  <a:srgbClr val="6b7280"/>
                </a:solidFill>
                <a:latin typeface="DejaVu Sans"/>
                <a:cs typeface="DejaVu Sans"/>
              </a:rPr>
              <a:t>Design</a:t>
            </a:r>
            <a:r>
              <a:rPr dirty="0" sz="9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900">
                <a:solidFill>
                  <a:srgbClr val="6b7280"/>
                </a:solidFill>
                <a:latin typeface="DejaVu Sans"/>
                <a:cs typeface="DejaVu Sans"/>
              </a:rPr>
              <a:t>2</a:t>
            </a:r>
          </a:p>
        </p:txBody>
      </p:sp>
    </p:spTree>
  </p:cSld>
  <p:clrMapOvr>
    <a:masterClrMapping/>
  </p:clrMapOvr>
</p:sld>
</file>

<file path=ppt/slides/slide56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7494651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701700" y="345617"/>
            <a:ext cx="8940848" cy="57030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190"/>
              </a:lnSpc>
              <a:spcBef>
                <a:spcPts val="0"/>
              </a:spcBef>
              <a:spcAft>
                <a:spcPts val="0"/>
              </a:spcAft>
            </a:pPr>
            <a:r>
              <a:rPr dirty="0" sz="3600" b="1">
                <a:solidFill>
                  <a:srgbClr val="e0e0e0"/>
                </a:solidFill>
                <a:latin typeface="DejaVu Sans"/>
                <a:cs typeface="DejaVu Sans"/>
              </a:rPr>
              <a:t>Thực</a:t>
            </a:r>
            <a:r>
              <a:rPr dirty="0" sz="36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3600" b="1">
                <a:solidFill>
                  <a:srgbClr val="e0e0e0"/>
                </a:solidFill>
                <a:latin typeface="DejaVu Sans"/>
                <a:cs typeface="DejaVu Sans"/>
              </a:rPr>
              <a:t>tiễn</a:t>
            </a:r>
            <a:r>
              <a:rPr dirty="0" sz="36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3600" b="1">
                <a:solidFill>
                  <a:srgbClr val="e0e0e0"/>
                </a:solidFill>
                <a:latin typeface="DejaVu Sans"/>
                <a:cs typeface="DejaVu Sans"/>
              </a:rPr>
              <a:t>tốt</a:t>
            </a:r>
            <a:r>
              <a:rPr dirty="0" sz="36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3600" b="1">
                <a:solidFill>
                  <a:srgbClr val="e0e0e0"/>
                </a:solidFill>
                <a:latin typeface="DejaVu Sans"/>
                <a:cs typeface="DejaVu Sans"/>
              </a:rPr>
              <a:t>nhất</a:t>
            </a:r>
            <a:r>
              <a:rPr dirty="0" sz="36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3600" b="1">
                <a:solidFill>
                  <a:srgbClr val="e0e0e0"/>
                </a:solidFill>
                <a:latin typeface="DejaVu Sans"/>
                <a:cs typeface="DejaVu Sans"/>
              </a:rPr>
              <a:t>cho</a:t>
            </a:r>
            <a:r>
              <a:rPr dirty="0" sz="36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3600" b="1">
                <a:solidFill>
                  <a:srgbClr val="00bcd4"/>
                </a:solidFill>
                <a:latin typeface="DejaVu Sans"/>
                <a:cs typeface="DejaVu Sans"/>
              </a:rPr>
              <a:t>Animations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04924" y="1612349"/>
            <a:ext cx="1886712" cy="2598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46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Thời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lượng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ngắn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191124" y="1612349"/>
            <a:ext cx="1824111" cy="2598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46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spc="-33" b="1">
                <a:solidFill>
                  <a:srgbClr val="ffffff"/>
                </a:solidFill>
                <a:latin typeface="DejaVu Sans"/>
                <a:cs typeface="DejaVu Sans"/>
              </a:rPr>
              <a:t>Tránh</a:t>
            </a:r>
            <a:r>
              <a:rPr dirty="0" sz="1500" spc="33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lạm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dụng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077324" y="1612349"/>
            <a:ext cx="2089491" cy="2598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46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spc="-27" b="1">
                <a:solidFill>
                  <a:srgbClr val="ffffff"/>
                </a:solidFill>
                <a:latin typeface="DejaVu Sans"/>
                <a:cs typeface="DejaVu Sans"/>
              </a:rPr>
              <a:t>Truyền</a:t>
            </a:r>
            <a:r>
              <a:rPr dirty="0" sz="1500" spc="27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tải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ý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nghĩa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505324" y="2162064"/>
            <a:ext cx="3317378" cy="4441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96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Sử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dụng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hoạt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ảnh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có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mục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đích,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không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chỉ</a:t>
            </a:r>
          </a:p>
          <a:p>
            <a:pPr marL="0" marR="0">
              <a:lnSpc>
                <a:spcPts val="1396"/>
              </a:lnSpc>
              <a:spcBef>
                <a:spcPts val="403"/>
              </a:spcBef>
              <a:spcAft>
                <a:spcPts val="0"/>
              </a:spcAft>
            </a:pP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để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trang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trí.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85824" y="2198797"/>
            <a:ext cx="927496" cy="1933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2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>
                <a:solidFill>
                  <a:srgbClr val="e0e0e0"/>
                </a:solidFill>
                <a:latin typeface="DejaVu Sans"/>
                <a:cs typeface="DejaVu Sans"/>
              </a:rPr>
              <a:t>200–400ms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505824" y="2274997"/>
            <a:ext cx="1719392" cy="1933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2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Định</a:t>
            </a: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 </a:t>
            </a: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hướng</a:t>
            </a: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 </a:t>
            </a: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người</a:t>
            </a: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 </a:t>
            </a: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dùng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19124" y="2581164"/>
            <a:ext cx="3240508" cy="4441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96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Hoạt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ảnh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nên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nhanh,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phản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hồi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tức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thì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</a:p>
          <a:p>
            <a:pPr marL="0" marR="0">
              <a:lnSpc>
                <a:spcPts val="1396"/>
              </a:lnSpc>
              <a:spcBef>
                <a:spcPts val="403"/>
              </a:spcBef>
              <a:spcAft>
                <a:spcPts val="0"/>
              </a:spcAft>
            </a:pP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không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gây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khó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chịu.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505824" y="2617897"/>
            <a:ext cx="2819009" cy="5362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2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Nhấn</a:t>
            </a: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 </a:t>
            </a: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mạnh</a:t>
            </a: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 </a:t>
            </a: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mối</a:t>
            </a: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 </a:t>
            </a: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liên</a:t>
            </a: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 </a:t>
            </a: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kết</a:t>
            </a: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 </a:t>
            </a: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giữa</a:t>
            </a: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 </a:t>
            </a: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các</a:t>
            </a: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 </a:t>
            </a: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yếu</a:t>
            </a: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 </a:t>
            </a: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tố</a:t>
            </a:r>
          </a:p>
          <a:p>
            <a:pPr marL="0" marR="0">
              <a:lnSpc>
                <a:spcPts val="1222"/>
              </a:lnSpc>
              <a:spcBef>
                <a:spcPts val="1477"/>
              </a:spcBef>
              <a:spcAft>
                <a:spcPts val="0"/>
              </a:spcAft>
            </a:pP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Cung</a:t>
            </a: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 </a:t>
            </a: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cấp</a:t>
            </a: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 </a:t>
            </a: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phản</a:t>
            </a: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 </a:t>
            </a: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hồi</a:t>
            </a: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 </a:t>
            </a: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trạng</a:t>
            </a: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 </a:t>
            </a: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thái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695824" y="3076464"/>
            <a:ext cx="3021582" cy="4441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96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"Quá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nhiều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chuyển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động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gây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mất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tập</a:t>
            </a:r>
          </a:p>
          <a:p>
            <a:pPr marL="0" marR="0">
              <a:lnSpc>
                <a:spcPts val="1396"/>
              </a:lnSpc>
              <a:spcBef>
                <a:spcPts val="403"/>
              </a:spcBef>
              <a:spcAft>
                <a:spcPts val="0"/>
              </a:spcAft>
            </a:pP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trung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mỏi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mắt."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8505824" y="3303697"/>
            <a:ext cx="2047558" cy="1933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2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Chỉ</a:t>
            </a: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 </a:t>
            </a: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ra</a:t>
            </a: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 </a:t>
            </a: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các</a:t>
            </a: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 </a:t>
            </a: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hành</a:t>
            </a: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 </a:t>
            </a: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động</a:t>
            </a: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 </a:t>
            </a: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có</a:t>
            </a: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 </a:t>
            </a:r>
            <a:r>
              <a:rPr dirty="0" sz="1050">
                <a:solidFill>
                  <a:srgbClr val="bae6fd"/>
                </a:solidFill>
                <a:latin typeface="DejaVu Sans"/>
                <a:cs typeface="DejaVu Sans"/>
              </a:rPr>
              <a:t>sẵn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19124" y="3341797"/>
            <a:ext cx="2128493" cy="1933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2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>
                <a:solidFill>
                  <a:srgbClr val="9ca3af"/>
                </a:solidFill>
                <a:latin typeface="DejaVu Sans"/>
                <a:cs typeface="DejaVu Sans"/>
              </a:rPr>
              <a:t>VD:</a:t>
            </a:r>
            <a:r>
              <a:rPr dirty="0" sz="10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50">
                <a:solidFill>
                  <a:srgbClr val="9ca3af"/>
                </a:solidFill>
                <a:latin typeface="DejaVu Sans"/>
                <a:cs typeface="DejaVu Sans"/>
              </a:rPr>
              <a:t>Chuyển</a:t>
            </a:r>
            <a:r>
              <a:rPr dirty="0" sz="10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50">
                <a:solidFill>
                  <a:srgbClr val="9ca3af"/>
                </a:solidFill>
                <a:latin typeface="DejaVu Sans"/>
                <a:cs typeface="DejaVu Sans"/>
              </a:rPr>
              <a:t>đổi</a:t>
            </a:r>
            <a:r>
              <a:rPr dirty="0" sz="10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50">
                <a:solidFill>
                  <a:srgbClr val="9ca3af"/>
                </a:solidFill>
                <a:latin typeface="DejaVu Sans"/>
                <a:cs typeface="DejaVu Sans"/>
              </a:rPr>
              <a:t>trang:</a:t>
            </a:r>
            <a:r>
              <a:rPr dirty="0" sz="105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50">
                <a:solidFill>
                  <a:srgbClr val="9ca3af"/>
                </a:solidFill>
                <a:latin typeface="DejaVu Sans"/>
                <a:cs typeface="DejaVu Sans"/>
              </a:rPr>
              <a:t>300ms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047749" y="4277982"/>
            <a:ext cx="3394294" cy="23767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71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ffffff"/>
                </a:solidFill>
                <a:latin typeface="DejaVu Sans"/>
                <a:cs typeface="DejaVu Sans"/>
              </a:rPr>
              <a:t>Tầm</a:t>
            </a:r>
            <a:r>
              <a:rPr dirty="0" sz="135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ffffff"/>
                </a:solidFill>
                <a:latin typeface="DejaVu Sans"/>
                <a:cs typeface="DejaVu Sans"/>
              </a:rPr>
              <a:t>quan</a:t>
            </a:r>
            <a:r>
              <a:rPr dirty="0" sz="135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ffffff"/>
                </a:solidFill>
                <a:latin typeface="DejaVu Sans"/>
                <a:cs typeface="DejaVu Sans"/>
              </a:rPr>
              <a:t>trọng</a:t>
            </a:r>
            <a:r>
              <a:rPr dirty="0" sz="135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ffffff"/>
                </a:solidFill>
                <a:latin typeface="DejaVu Sans"/>
                <a:cs typeface="DejaVu Sans"/>
              </a:rPr>
              <a:t>của</a:t>
            </a:r>
            <a:r>
              <a:rPr dirty="0" sz="135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ffffff"/>
                </a:solidFill>
                <a:latin typeface="DejaVu Sans"/>
                <a:cs typeface="DejaVu Sans"/>
              </a:rPr>
              <a:t>chuyển</a:t>
            </a:r>
            <a:r>
              <a:rPr dirty="0" sz="135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ffffff"/>
                </a:solidFill>
                <a:latin typeface="DejaVu Sans"/>
                <a:cs typeface="DejaVu Sans"/>
              </a:rPr>
              <a:t>động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81049" y="4686189"/>
            <a:ext cx="3873623" cy="8251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96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Làm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giao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diện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dễ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sử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dụng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biểu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cảm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hơn.</a:t>
            </a:r>
          </a:p>
          <a:p>
            <a:pPr marL="0" marR="0">
              <a:lnSpc>
                <a:spcPts val="1396"/>
              </a:lnSpc>
              <a:spcBef>
                <a:spcPts val="1003"/>
              </a:spcBef>
              <a:spcAft>
                <a:spcPts val="0"/>
              </a:spcAft>
            </a:pP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Cung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cấp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phản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hồi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kịp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thời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cho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người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dùng.</a:t>
            </a:r>
          </a:p>
          <a:p>
            <a:pPr marL="0" marR="0">
              <a:lnSpc>
                <a:spcPts val="1396"/>
              </a:lnSpc>
              <a:spcBef>
                <a:spcPts val="1003"/>
              </a:spcBef>
              <a:spcAft>
                <a:spcPts val="0"/>
              </a:spcAft>
            </a:pP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Giúp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người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dùng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hiểu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cách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thực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hiện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hành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động.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8966298" y="7121855"/>
            <a:ext cx="2997063" cy="17115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4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6b7280"/>
                </a:solidFill>
                <a:latin typeface="DejaVu Sans"/>
                <a:cs typeface="DejaVu Sans"/>
              </a:rPr>
              <a:t>Nguồn:</a:t>
            </a:r>
            <a:r>
              <a:rPr dirty="0" sz="9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900">
                <a:solidFill>
                  <a:srgbClr val="6b7280"/>
                </a:solidFill>
                <a:latin typeface="DejaVu Sans"/>
                <a:cs typeface="DejaVu Sans"/>
              </a:rPr>
              <a:t>Understanding</a:t>
            </a:r>
            <a:r>
              <a:rPr dirty="0" sz="9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900">
                <a:solidFill>
                  <a:srgbClr val="6b7280"/>
                </a:solidFill>
                <a:latin typeface="DejaVu Sans"/>
                <a:cs typeface="DejaVu Sans"/>
              </a:rPr>
              <a:t>motion</a:t>
            </a:r>
            <a:r>
              <a:rPr dirty="0" sz="9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900">
                <a:solidFill>
                  <a:srgbClr val="6b7280"/>
                </a:solidFill>
                <a:latin typeface="DejaVu Sans"/>
                <a:cs typeface="DejaVu Sans"/>
              </a:rPr>
              <a:t>-</a:t>
            </a:r>
            <a:r>
              <a:rPr dirty="0" sz="9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900">
                <a:solidFill>
                  <a:srgbClr val="6b7280"/>
                </a:solidFill>
                <a:latin typeface="DejaVu Sans"/>
                <a:cs typeface="DejaVu Sans"/>
              </a:rPr>
              <a:t>Material</a:t>
            </a:r>
            <a:r>
              <a:rPr dirty="0" sz="9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900">
                <a:solidFill>
                  <a:srgbClr val="6b7280"/>
                </a:solidFill>
                <a:latin typeface="DejaVu Sans"/>
                <a:cs typeface="DejaVu Sans"/>
              </a:rPr>
              <a:t>Design</a:t>
            </a:r>
            <a:r>
              <a:rPr dirty="0" sz="9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900">
                <a:solidFill>
                  <a:srgbClr val="6b7280"/>
                </a:solidFill>
                <a:latin typeface="DejaVu Sans"/>
                <a:cs typeface="DejaVu Sans"/>
              </a:rPr>
              <a:t>2</a:t>
            </a:r>
          </a:p>
        </p:txBody>
      </p:sp>
    </p:spTree>
  </p:cSld>
  <p:clrMapOvr>
    <a:masterClrMapping/>
  </p:clrMapOvr>
</p:sld>
</file>

<file path=ppt/slides/slide57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158876" y="543865"/>
            <a:ext cx="6026462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b="1">
                <a:solidFill>
                  <a:srgbClr val="ffffff"/>
                </a:solidFill>
                <a:latin typeface="DejaVu Sans"/>
                <a:cs typeface="DejaVu Sans"/>
              </a:rPr>
              <a:t>Ý</a:t>
            </a:r>
            <a:r>
              <a:rPr dirty="0" sz="4050" spc="-2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4050" spc="-11" b="1">
                <a:solidFill>
                  <a:srgbClr val="ffffff"/>
                </a:solidFill>
                <a:latin typeface="DejaVu Sans"/>
                <a:cs typeface="DejaVu Sans"/>
              </a:rPr>
              <a:t>tưởng</a:t>
            </a:r>
            <a:r>
              <a:rPr dirty="0" sz="405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ffffff"/>
                </a:solidFill>
                <a:latin typeface="DejaVu Sans"/>
                <a:cs typeface="DejaVu Sans"/>
              </a:rPr>
              <a:t>dự</a:t>
            </a:r>
            <a:r>
              <a:rPr dirty="0" sz="405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ffffff"/>
                </a:solidFill>
                <a:latin typeface="DejaVu Sans"/>
                <a:cs typeface="DejaVu Sans"/>
              </a:rPr>
              <a:t>án</a:t>
            </a:r>
            <a:r>
              <a:rPr dirty="0" sz="405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4050" spc="-15" b="1">
                <a:solidFill>
                  <a:srgbClr val="00bcd4"/>
                </a:solidFill>
                <a:latin typeface="DejaVu Sans"/>
                <a:cs typeface="DejaVu Sans"/>
              </a:rPr>
              <a:t>Demo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49227" y="1211654"/>
            <a:ext cx="5645934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>
                <a:solidFill>
                  <a:srgbClr val="e0e0e0"/>
                </a:solidFill>
                <a:latin typeface="DejaVu Sans"/>
                <a:cs typeface="DejaVu Sans"/>
              </a:rPr>
              <a:t>Ứng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dụng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52">
                <a:solidFill>
                  <a:srgbClr val="e0e0e0"/>
                </a:solidFill>
                <a:latin typeface="DejaVu Sans"/>
                <a:cs typeface="DejaVu Sans"/>
              </a:rPr>
              <a:t>To-Do:</a:t>
            </a:r>
            <a:r>
              <a:rPr dirty="0" sz="1700" spc="38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4">
                <a:solidFill>
                  <a:srgbClr val="e0e0e0"/>
                </a:solidFill>
                <a:latin typeface="DejaVu Sans"/>
                <a:cs typeface="DejaVu Sans"/>
              </a:rPr>
              <a:t>Nâng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e0e0e0"/>
                </a:solidFill>
                <a:latin typeface="DejaVu Sans"/>
                <a:cs typeface="DejaVu Sans"/>
              </a:rPr>
              <a:t>tầm</a:t>
            </a:r>
            <a:r>
              <a:rPr dirty="0" sz="1700" spc="-15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e0e0e0"/>
                </a:solidFill>
                <a:latin typeface="DejaVu Sans"/>
                <a:cs typeface="DejaVu Sans"/>
              </a:rPr>
              <a:t>trải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e0e0e0"/>
                </a:solidFill>
                <a:latin typeface="DejaVu Sans"/>
                <a:cs typeface="DejaVu Sans"/>
              </a:rPr>
              <a:t>nghiệm</a:t>
            </a:r>
            <a:r>
              <a:rPr dirty="0" sz="1700" spc="-15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người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dùng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88541" y="2143595"/>
            <a:ext cx="2117183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-69" b="1">
                <a:solidFill>
                  <a:srgbClr val="ffffff"/>
                </a:solidFill>
                <a:latin typeface="DejaVu Sans"/>
                <a:cs typeface="DejaVu Sans"/>
              </a:rPr>
              <a:t>FAB</a:t>
            </a:r>
            <a:r>
              <a:rPr dirty="0" sz="2000" spc="87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ffffff"/>
                </a:solidFill>
                <a:latin typeface="DejaVu Sans"/>
                <a:cs typeface="DejaVu Sans"/>
              </a:rPr>
              <a:t>Hoạt</a:t>
            </a:r>
            <a:r>
              <a:rPr dirty="0" sz="2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000" spc="11" b="1">
                <a:solidFill>
                  <a:srgbClr val="ffffff"/>
                </a:solidFill>
                <a:latin typeface="DejaVu Sans"/>
                <a:cs typeface="DejaVu Sans"/>
              </a:rPr>
              <a:t>Ảnh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031532" y="2143595"/>
            <a:ext cx="2538655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ffffff"/>
                </a:solidFill>
                <a:latin typeface="DejaVu Sans"/>
                <a:cs typeface="DejaVu Sans"/>
              </a:rPr>
              <a:t>CardView</a:t>
            </a:r>
            <a:r>
              <a:rPr dirty="0" sz="2000" spc="15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000" spc="-80" b="1">
                <a:solidFill>
                  <a:srgbClr val="ffffff"/>
                </a:solidFill>
                <a:latin typeface="DejaVu Sans"/>
                <a:cs typeface="DejaVu Sans"/>
              </a:rPr>
              <a:t>Tác</a:t>
            </a:r>
            <a:r>
              <a:rPr dirty="0" sz="2000" spc="93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000" spc="11" b="1">
                <a:solidFill>
                  <a:srgbClr val="ffffff"/>
                </a:solidFill>
                <a:latin typeface="DejaVu Sans"/>
                <a:cs typeface="DejaVu Sans"/>
              </a:rPr>
              <a:t>Vụ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36984" y="2660963"/>
            <a:ext cx="4875498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Cung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cấp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hành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động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chính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dễ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tiếp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cận,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tương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tác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mượt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mà.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479976" y="2660963"/>
            <a:ext cx="3692664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Hiển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thị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tác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vụ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 spc="-31">
                <a:solidFill>
                  <a:srgbClr val="e0e0e0"/>
                </a:solidFill>
                <a:latin typeface="DejaVu Sans"/>
                <a:cs typeface="DejaVu Sans"/>
              </a:rPr>
              <a:t>rõ</a:t>
            </a:r>
            <a:r>
              <a:rPr dirty="0" sz="1350" spc="25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ràng,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tổ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chức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khoa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học.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64976" y="3376093"/>
            <a:ext cx="1285268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ff9800"/>
                </a:solidFill>
                <a:latin typeface="DejaVu Sans"/>
                <a:cs typeface="DejaVu Sans"/>
              </a:rPr>
              <a:t>Tăng</a:t>
            </a:r>
            <a:r>
              <a:rPr dirty="0" sz="120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ff9800"/>
                </a:solidFill>
                <a:latin typeface="DejaVu Sans"/>
                <a:cs typeface="DejaVu Sans"/>
              </a:rPr>
              <a:t>tương</a:t>
            </a:r>
            <a:r>
              <a:rPr dirty="0" sz="120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ff9800"/>
                </a:solidFill>
                <a:latin typeface="DejaVu Sans"/>
                <a:cs typeface="DejaVu Sans"/>
              </a:rPr>
              <a:t>tác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239118" y="3376093"/>
            <a:ext cx="1751528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7">
                <a:solidFill>
                  <a:srgbClr val="ff9800"/>
                </a:solidFill>
                <a:latin typeface="DejaVu Sans"/>
                <a:cs typeface="DejaVu Sans"/>
              </a:rPr>
              <a:t>Mượt</a:t>
            </a:r>
            <a:r>
              <a:rPr dirty="0" sz="120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200" spc="-23">
                <a:solidFill>
                  <a:srgbClr val="ff9800"/>
                </a:solidFill>
                <a:latin typeface="DejaVu Sans"/>
                <a:cs typeface="DejaVu Sans"/>
              </a:rPr>
              <a:t>mà</a:t>
            </a:r>
            <a:r>
              <a:rPr dirty="0" sz="120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ff9800"/>
                </a:solidFill>
                <a:latin typeface="DejaVu Sans"/>
                <a:cs typeface="DejaVu Sans"/>
              </a:rPr>
              <a:t>&amp;</a:t>
            </a:r>
            <a:r>
              <a:rPr dirty="0" sz="1200" spc="-27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200" spc="-52">
                <a:solidFill>
                  <a:srgbClr val="ff9800"/>
                </a:solidFill>
                <a:latin typeface="DejaVu Sans"/>
                <a:cs typeface="DejaVu Sans"/>
              </a:rPr>
              <a:t>Trực</a:t>
            </a:r>
            <a:r>
              <a:rPr dirty="0" sz="1200" spc="31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ff9800"/>
                </a:solidFill>
                <a:latin typeface="DejaVu Sans"/>
                <a:cs typeface="DejaVu Sans"/>
              </a:rPr>
              <a:t>quan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607967" y="3376093"/>
            <a:ext cx="1537977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ff9800"/>
                </a:solidFill>
                <a:latin typeface="DejaVu Sans"/>
                <a:cs typeface="DejaVu Sans"/>
              </a:rPr>
              <a:t>Cấu</a:t>
            </a:r>
            <a:r>
              <a:rPr dirty="0" sz="120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ff9800"/>
                </a:solidFill>
                <a:latin typeface="DejaVu Sans"/>
                <a:cs typeface="DejaVu Sans"/>
              </a:rPr>
              <a:t>trúc</a:t>
            </a:r>
            <a:r>
              <a:rPr dirty="0" sz="1200" spc="-1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ff9800"/>
                </a:solidFill>
                <a:latin typeface="DejaVu Sans"/>
                <a:cs typeface="DejaVu Sans"/>
              </a:rPr>
              <a:t>gọn</a:t>
            </a:r>
            <a:r>
              <a:rPr dirty="0" sz="120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ff9800"/>
                </a:solidFill>
                <a:latin typeface="DejaVu Sans"/>
                <a:cs typeface="DejaVu Sans"/>
              </a:rPr>
              <a:t>gàng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334820" y="3376093"/>
            <a:ext cx="1461587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8">
                <a:solidFill>
                  <a:srgbClr val="ff9800"/>
                </a:solidFill>
                <a:latin typeface="DejaVu Sans"/>
                <a:cs typeface="DejaVu Sans"/>
              </a:rPr>
              <a:t>Dễ</a:t>
            </a:r>
            <a:r>
              <a:rPr dirty="0" sz="120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ff9800"/>
                </a:solidFill>
                <a:latin typeface="DejaVu Sans"/>
                <a:cs typeface="DejaVu Sans"/>
              </a:rPr>
              <a:t>đọc</a:t>
            </a:r>
            <a:r>
              <a:rPr dirty="0" sz="120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ff9800"/>
                </a:solidFill>
                <a:latin typeface="DejaVu Sans"/>
                <a:cs typeface="DejaVu Sans"/>
              </a:rPr>
              <a:t>&amp;</a:t>
            </a:r>
            <a:r>
              <a:rPr dirty="0" sz="1200" spc="-27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200" spc="-17">
                <a:solidFill>
                  <a:srgbClr val="ff9800"/>
                </a:solidFill>
                <a:latin typeface="DejaVu Sans"/>
                <a:cs typeface="DejaVu Sans"/>
              </a:rPr>
              <a:t>Quản</a:t>
            </a:r>
            <a:r>
              <a:rPr dirty="0" sz="120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ff9800"/>
                </a:solidFill>
                <a:latin typeface="DejaVu Sans"/>
                <a:cs typeface="DejaVu Sans"/>
              </a:rPr>
              <a:t>lý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188541" y="4448645"/>
            <a:ext cx="3409610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ffffff"/>
                </a:solidFill>
                <a:latin typeface="DejaVu Sans"/>
                <a:cs typeface="DejaVu Sans"/>
              </a:rPr>
              <a:t>Điều</a:t>
            </a:r>
            <a:r>
              <a:rPr dirty="0" sz="2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000" spc="11" b="1">
                <a:solidFill>
                  <a:srgbClr val="ffffff"/>
                </a:solidFill>
                <a:latin typeface="DejaVu Sans"/>
                <a:cs typeface="DejaVu Sans"/>
              </a:rPr>
              <a:t>Hướng</a:t>
            </a:r>
            <a:r>
              <a:rPr dirty="0" sz="2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000" spc="11" b="1">
                <a:solidFill>
                  <a:srgbClr val="ffffff"/>
                </a:solidFill>
                <a:latin typeface="DejaVu Sans"/>
                <a:cs typeface="DejaVu Sans"/>
              </a:rPr>
              <a:t>Dưới</a:t>
            </a:r>
            <a:r>
              <a:rPr dirty="0" sz="2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ffffff"/>
                </a:solidFill>
                <a:latin typeface="DejaVu Sans"/>
                <a:cs typeface="DejaVu Sans"/>
              </a:rPr>
              <a:t>Cùng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7031532" y="4448645"/>
            <a:ext cx="3857938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ffffff"/>
                </a:solidFill>
                <a:latin typeface="DejaVu Sans"/>
                <a:cs typeface="DejaVu Sans"/>
              </a:rPr>
              <a:t>MotionLayout</a:t>
            </a:r>
            <a:r>
              <a:rPr dirty="0" sz="2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ffffff"/>
                </a:solidFill>
                <a:latin typeface="DejaVu Sans"/>
                <a:cs typeface="DejaVu Sans"/>
              </a:rPr>
              <a:t>Chuyển</a:t>
            </a:r>
            <a:r>
              <a:rPr dirty="0" sz="2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000" spc="11" b="1">
                <a:solidFill>
                  <a:srgbClr val="ffffff"/>
                </a:solidFill>
                <a:latin typeface="DejaVu Sans"/>
                <a:cs typeface="DejaVu Sans"/>
              </a:rPr>
              <a:t>Đổi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36984" y="4966013"/>
            <a:ext cx="4103318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Chuyển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đổi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giữa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các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phần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trực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quan,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dễ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dàng.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479976" y="4966013"/>
            <a:ext cx="4754149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Tạo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hiệu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ứng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chuyển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cảnh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động,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liền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mạch,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cuốn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hút.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764976" y="5423968"/>
            <a:ext cx="1300068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23">
                <a:solidFill>
                  <a:srgbClr val="ff9800"/>
                </a:solidFill>
                <a:latin typeface="DejaVu Sans"/>
                <a:cs typeface="DejaVu Sans"/>
              </a:rPr>
              <a:t>Tiếp</a:t>
            </a:r>
            <a:r>
              <a:rPr dirty="0" sz="120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ff9800"/>
                </a:solidFill>
                <a:latin typeface="DejaVu Sans"/>
                <a:cs typeface="DejaVu Sans"/>
              </a:rPr>
              <a:t>cận</a:t>
            </a:r>
            <a:r>
              <a:rPr dirty="0" sz="120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ff9800"/>
                </a:solidFill>
                <a:latin typeface="DejaVu Sans"/>
                <a:cs typeface="DejaVu Sans"/>
              </a:rPr>
              <a:t>nhanh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254001" y="5423968"/>
            <a:ext cx="1400920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2">
                <a:solidFill>
                  <a:srgbClr val="ff9800"/>
                </a:solidFill>
                <a:latin typeface="DejaVu Sans"/>
                <a:cs typeface="DejaVu Sans"/>
              </a:rPr>
              <a:t>Thiết</a:t>
            </a:r>
            <a:r>
              <a:rPr dirty="0" sz="120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ff9800"/>
                </a:solidFill>
                <a:latin typeface="DejaVu Sans"/>
                <a:cs typeface="DejaVu Sans"/>
              </a:rPr>
              <a:t>kế</a:t>
            </a:r>
            <a:r>
              <a:rPr dirty="0" sz="120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ff9800"/>
                </a:solidFill>
                <a:latin typeface="DejaVu Sans"/>
                <a:cs typeface="DejaVu Sans"/>
              </a:rPr>
              <a:t>hiện</a:t>
            </a:r>
            <a:r>
              <a:rPr dirty="0" sz="1200" spc="-1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ff9800"/>
                </a:solidFill>
                <a:latin typeface="DejaVu Sans"/>
                <a:cs typeface="DejaVu Sans"/>
              </a:rPr>
              <a:t>đại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607967" y="5423968"/>
            <a:ext cx="1773551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ff9800"/>
                </a:solidFill>
                <a:latin typeface="DejaVu Sans"/>
                <a:cs typeface="DejaVu Sans"/>
              </a:rPr>
              <a:t>Chuyển</a:t>
            </a:r>
            <a:r>
              <a:rPr dirty="0" sz="120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ff9800"/>
                </a:solidFill>
                <a:latin typeface="DejaVu Sans"/>
                <a:cs typeface="DejaVu Sans"/>
              </a:rPr>
              <a:t>đổi</a:t>
            </a:r>
            <a:r>
              <a:rPr dirty="0" sz="120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ff9800"/>
                </a:solidFill>
                <a:latin typeface="DejaVu Sans"/>
                <a:cs typeface="DejaVu Sans"/>
              </a:rPr>
              <a:t>liền</a:t>
            </a:r>
            <a:r>
              <a:rPr dirty="0" sz="1200" spc="-14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ff9800"/>
                </a:solidFill>
                <a:latin typeface="DejaVu Sans"/>
                <a:cs typeface="DejaVu Sans"/>
              </a:rPr>
              <a:t>mạch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8570415" y="5423968"/>
            <a:ext cx="1134542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8">
                <a:solidFill>
                  <a:srgbClr val="ff9800"/>
                </a:solidFill>
                <a:latin typeface="DejaVu Sans"/>
                <a:cs typeface="DejaVu Sans"/>
              </a:rPr>
              <a:t>UI</a:t>
            </a:r>
            <a:r>
              <a:rPr dirty="0" sz="120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ff9800"/>
                </a:solidFill>
                <a:latin typeface="DejaVu Sans"/>
                <a:cs typeface="DejaVu Sans"/>
              </a:rPr>
              <a:t>sống</a:t>
            </a:r>
            <a:r>
              <a:rPr dirty="0" sz="120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ff9800"/>
                </a:solidFill>
                <a:latin typeface="DejaVu Sans"/>
                <a:cs typeface="DejaVu Sans"/>
              </a:rPr>
              <a:t>động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5812333" y="6520097"/>
            <a:ext cx="6190728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Nguồn: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Manage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motion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and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widget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animation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with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MotionLayout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|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Views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|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Android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Developers</a:t>
            </a:r>
          </a:p>
        </p:txBody>
      </p:sp>
    </p:spTree>
  </p:cSld>
  <p:clrMapOvr>
    <a:masterClrMapping/>
  </p:clrMapOvr>
</p:sld>
</file>

<file path=ppt/slides/slide58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158876" y="543865"/>
            <a:ext cx="6026462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b="1">
                <a:solidFill>
                  <a:srgbClr val="ffffff"/>
                </a:solidFill>
                <a:latin typeface="DejaVu Sans"/>
                <a:cs typeface="DejaVu Sans"/>
              </a:rPr>
              <a:t>Ý</a:t>
            </a:r>
            <a:r>
              <a:rPr dirty="0" sz="4050" spc="-2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4050" spc="-11" b="1">
                <a:solidFill>
                  <a:srgbClr val="ffffff"/>
                </a:solidFill>
                <a:latin typeface="DejaVu Sans"/>
                <a:cs typeface="DejaVu Sans"/>
              </a:rPr>
              <a:t>tưởng</a:t>
            </a:r>
            <a:r>
              <a:rPr dirty="0" sz="405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ffffff"/>
                </a:solidFill>
                <a:latin typeface="DejaVu Sans"/>
                <a:cs typeface="DejaVu Sans"/>
              </a:rPr>
              <a:t>dự</a:t>
            </a:r>
            <a:r>
              <a:rPr dirty="0" sz="405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ffffff"/>
                </a:solidFill>
                <a:latin typeface="DejaVu Sans"/>
                <a:cs typeface="DejaVu Sans"/>
              </a:rPr>
              <a:t>án</a:t>
            </a:r>
            <a:r>
              <a:rPr dirty="0" sz="405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4050" spc="-15" b="1">
                <a:solidFill>
                  <a:srgbClr val="00bcd4"/>
                </a:solidFill>
                <a:latin typeface="DejaVu Sans"/>
                <a:cs typeface="DejaVu Sans"/>
              </a:rPr>
              <a:t>Demo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49227" y="1211654"/>
            <a:ext cx="5645934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>
                <a:solidFill>
                  <a:srgbClr val="e0e0e0"/>
                </a:solidFill>
                <a:latin typeface="DejaVu Sans"/>
                <a:cs typeface="DejaVu Sans"/>
              </a:rPr>
              <a:t>Ứng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dụng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52">
                <a:solidFill>
                  <a:srgbClr val="e0e0e0"/>
                </a:solidFill>
                <a:latin typeface="DejaVu Sans"/>
                <a:cs typeface="DejaVu Sans"/>
              </a:rPr>
              <a:t>To-Do:</a:t>
            </a:r>
            <a:r>
              <a:rPr dirty="0" sz="1700" spc="38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4">
                <a:solidFill>
                  <a:srgbClr val="e0e0e0"/>
                </a:solidFill>
                <a:latin typeface="DejaVu Sans"/>
                <a:cs typeface="DejaVu Sans"/>
              </a:rPr>
              <a:t>Nâng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e0e0e0"/>
                </a:solidFill>
                <a:latin typeface="DejaVu Sans"/>
                <a:cs typeface="DejaVu Sans"/>
              </a:rPr>
              <a:t>tầm</a:t>
            </a:r>
            <a:r>
              <a:rPr dirty="0" sz="1700" spc="-15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e0e0e0"/>
                </a:solidFill>
                <a:latin typeface="DejaVu Sans"/>
                <a:cs typeface="DejaVu Sans"/>
              </a:rPr>
              <a:t>trải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e0e0e0"/>
                </a:solidFill>
                <a:latin typeface="DejaVu Sans"/>
                <a:cs typeface="DejaVu Sans"/>
              </a:rPr>
              <a:t>nghiệm</a:t>
            </a:r>
            <a:r>
              <a:rPr dirty="0" sz="1700" spc="-15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người</a:t>
            </a:r>
            <a:r>
              <a:rPr dirty="0" sz="170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e0e0e0"/>
                </a:solidFill>
                <a:latin typeface="DejaVu Sans"/>
                <a:cs typeface="DejaVu Sans"/>
              </a:rPr>
              <a:t>dùng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88541" y="2143595"/>
            <a:ext cx="2117183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-69" b="1">
                <a:solidFill>
                  <a:srgbClr val="ffffff"/>
                </a:solidFill>
                <a:latin typeface="DejaVu Sans"/>
                <a:cs typeface="DejaVu Sans"/>
              </a:rPr>
              <a:t>FAB</a:t>
            </a:r>
            <a:r>
              <a:rPr dirty="0" sz="2000" spc="87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ffffff"/>
                </a:solidFill>
                <a:latin typeface="DejaVu Sans"/>
                <a:cs typeface="DejaVu Sans"/>
              </a:rPr>
              <a:t>Hoạt</a:t>
            </a:r>
            <a:r>
              <a:rPr dirty="0" sz="2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000" spc="11" b="1">
                <a:solidFill>
                  <a:srgbClr val="ffffff"/>
                </a:solidFill>
                <a:latin typeface="DejaVu Sans"/>
                <a:cs typeface="DejaVu Sans"/>
              </a:rPr>
              <a:t>Ảnh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031532" y="2143595"/>
            <a:ext cx="2538655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ffffff"/>
                </a:solidFill>
                <a:latin typeface="DejaVu Sans"/>
                <a:cs typeface="DejaVu Sans"/>
              </a:rPr>
              <a:t>CardView</a:t>
            </a:r>
            <a:r>
              <a:rPr dirty="0" sz="2000" spc="15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000" spc="-80" b="1">
                <a:solidFill>
                  <a:srgbClr val="ffffff"/>
                </a:solidFill>
                <a:latin typeface="DejaVu Sans"/>
                <a:cs typeface="DejaVu Sans"/>
              </a:rPr>
              <a:t>Tác</a:t>
            </a:r>
            <a:r>
              <a:rPr dirty="0" sz="2000" spc="93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000" spc="11" b="1">
                <a:solidFill>
                  <a:srgbClr val="ffffff"/>
                </a:solidFill>
                <a:latin typeface="DejaVu Sans"/>
                <a:cs typeface="DejaVu Sans"/>
              </a:rPr>
              <a:t>Vụ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36984" y="2660963"/>
            <a:ext cx="4875498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Cung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cấp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hành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động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chính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dễ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tiếp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cận,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tương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tác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mượt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mà.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479976" y="2660963"/>
            <a:ext cx="3692664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Hiển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thị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tác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vụ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 spc="-31">
                <a:solidFill>
                  <a:srgbClr val="e0e0e0"/>
                </a:solidFill>
                <a:latin typeface="DejaVu Sans"/>
                <a:cs typeface="DejaVu Sans"/>
              </a:rPr>
              <a:t>rõ</a:t>
            </a:r>
            <a:r>
              <a:rPr dirty="0" sz="1350" spc="25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ràng,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tổ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chức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khoa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học.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64976" y="3376093"/>
            <a:ext cx="1285268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ff9800"/>
                </a:solidFill>
                <a:latin typeface="DejaVu Sans"/>
                <a:cs typeface="DejaVu Sans"/>
              </a:rPr>
              <a:t>Tăng</a:t>
            </a:r>
            <a:r>
              <a:rPr dirty="0" sz="120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ff9800"/>
                </a:solidFill>
                <a:latin typeface="DejaVu Sans"/>
                <a:cs typeface="DejaVu Sans"/>
              </a:rPr>
              <a:t>tương</a:t>
            </a:r>
            <a:r>
              <a:rPr dirty="0" sz="120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ff9800"/>
                </a:solidFill>
                <a:latin typeface="DejaVu Sans"/>
                <a:cs typeface="DejaVu Sans"/>
              </a:rPr>
              <a:t>tác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239118" y="3376093"/>
            <a:ext cx="1751528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7">
                <a:solidFill>
                  <a:srgbClr val="ff9800"/>
                </a:solidFill>
                <a:latin typeface="DejaVu Sans"/>
                <a:cs typeface="DejaVu Sans"/>
              </a:rPr>
              <a:t>Mượt</a:t>
            </a:r>
            <a:r>
              <a:rPr dirty="0" sz="120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200" spc="-23">
                <a:solidFill>
                  <a:srgbClr val="ff9800"/>
                </a:solidFill>
                <a:latin typeface="DejaVu Sans"/>
                <a:cs typeface="DejaVu Sans"/>
              </a:rPr>
              <a:t>mà</a:t>
            </a:r>
            <a:r>
              <a:rPr dirty="0" sz="120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ff9800"/>
                </a:solidFill>
                <a:latin typeface="DejaVu Sans"/>
                <a:cs typeface="DejaVu Sans"/>
              </a:rPr>
              <a:t>&amp;</a:t>
            </a:r>
            <a:r>
              <a:rPr dirty="0" sz="1200" spc="-27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200" spc="-52">
                <a:solidFill>
                  <a:srgbClr val="ff9800"/>
                </a:solidFill>
                <a:latin typeface="DejaVu Sans"/>
                <a:cs typeface="DejaVu Sans"/>
              </a:rPr>
              <a:t>Trực</a:t>
            </a:r>
            <a:r>
              <a:rPr dirty="0" sz="1200" spc="31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ff9800"/>
                </a:solidFill>
                <a:latin typeface="DejaVu Sans"/>
                <a:cs typeface="DejaVu Sans"/>
              </a:rPr>
              <a:t>quan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607967" y="3376093"/>
            <a:ext cx="1537977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ff9800"/>
                </a:solidFill>
                <a:latin typeface="DejaVu Sans"/>
                <a:cs typeface="DejaVu Sans"/>
              </a:rPr>
              <a:t>Cấu</a:t>
            </a:r>
            <a:r>
              <a:rPr dirty="0" sz="120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ff9800"/>
                </a:solidFill>
                <a:latin typeface="DejaVu Sans"/>
                <a:cs typeface="DejaVu Sans"/>
              </a:rPr>
              <a:t>trúc</a:t>
            </a:r>
            <a:r>
              <a:rPr dirty="0" sz="1200" spc="-1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ff9800"/>
                </a:solidFill>
                <a:latin typeface="DejaVu Sans"/>
                <a:cs typeface="DejaVu Sans"/>
              </a:rPr>
              <a:t>gọn</a:t>
            </a:r>
            <a:r>
              <a:rPr dirty="0" sz="120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ff9800"/>
                </a:solidFill>
                <a:latin typeface="DejaVu Sans"/>
                <a:cs typeface="DejaVu Sans"/>
              </a:rPr>
              <a:t>gàng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334820" y="3376093"/>
            <a:ext cx="1461587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8">
                <a:solidFill>
                  <a:srgbClr val="ff9800"/>
                </a:solidFill>
                <a:latin typeface="DejaVu Sans"/>
                <a:cs typeface="DejaVu Sans"/>
              </a:rPr>
              <a:t>Dễ</a:t>
            </a:r>
            <a:r>
              <a:rPr dirty="0" sz="120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ff9800"/>
                </a:solidFill>
                <a:latin typeface="DejaVu Sans"/>
                <a:cs typeface="DejaVu Sans"/>
              </a:rPr>
              <a:t>đọc</a:t>
            </a:r>
            <a:r>
              <a:rPr dirty="0" sz="120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ff9800"/>
                </a:solidFill>
                <a:latin typeface="DejaVu Sans"/>
                <a:cs typeface="DejaVu Sans"/>
              </a:rPr>
              <a:t>&amp;</a:t>
            </a:r>
            <a:r>
              <a:rPr dirty="0" sz="1200" spc="-27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200" spc="-17">
                <a:solidFill>
                  <a:srgbClr val="ff9800"/>
                </a:solidFill>
                <a:latin typeface="DejaVu Sans"/>
                <a:cs typeface="DejaVu Sans"/>
              </a:rPr>
              <a:t>Quản</a:t>
            </a:r>
            <a:r>
              <a:rPr dirty="0" sz="120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ff9800"/>
                </a:solidFill>
                <a:latin typeface="DejaVu Sans"/>
                <a:cs typeface="DejaVu Sans"/>
              </a:rPr>
              <a:t>lý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188541" y="4448645"/>
            <a:ext cx="3409610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ffffff"/>
                </a:solidFill>
                <a:latin typeface="DejaVu Sans"/>
                <a:cs typeface="DejaVu Sans"/>
              </a:rPr>
              <a:t>Điều</a:t>
            </a:r>
            <a:r>
              <a:rPr dirty="0" sz="2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000" spc="11" b="1">
                <a:solidFill>
                  <a:srgbClr val="ffffff"/>
                </a:solidFill>
                <a:latin typeface="DejaVu Sans"/>
                <a:cs typeface="DejaVu Sans"/>
              </a:rPr>
              <a:t>Hướng</a:t>
            </a:r>
            <a:r>
              <a:rPr dirty="0" sz="2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000" spc="11" b="1">
                <a:solidFill>
                  <a:srgbClr val="ffffff"/>
                </a:solidFill>
                <a:latin typeface="DejaVu Sans"/>
                <a:cs typeface="DejaVu Sans"/>
              </a:rPr>
              <a:t>Dưới</a:t>
            </a:r>
            <a:r>
              <a:rPr dirty="0" sz="2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ffffff"/>
                </a:solidFill>
                <a:latin typeface="DejaVu Sans"/>
                <a:cs typeface="DejaVu Sans"/>
              </a:rPr>
              <a:t>Cùng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7031532" y="4448645"/>
            <a:ext cx="3857938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ffffff"/>
                </a:solidFill>
                <a:latin typeface="DejaVu Sans"/>
                <a:cs typeface="DejaVu Sans"/>
              </a:rPr>
              <a:t>MotionLayout</a:t>
            </a:r>
            <a:r>
              <a:rPr dirty="0" sz="2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ffffff"/>
                </a:solidFill>
                <a:latin typeface="DejaVu Sans"/>
                <a:cs typeface="DejaVu Sans"/>
              </a:rPr>
              <a:t>Chuyển</a:t>
            </a:r>
            <a:r>
              <a:rPr dirty="0" sz="2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000" spc="11" b="1">
                <a:solidFill>
                  <a:srgbClr val="ffffff"/>
                </a:solidFill>
                <a:latin typeface="DejaVu Sans"/>
                <a:cs typeface="DejaVu Sans"/>
              </a:rPr>
              <a:t>Đổi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36984" y="4966013"/>
            <a:ext cx="4103318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Chuyển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đổi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giữa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các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phần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trực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quan,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dễ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dàng.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479976" y="4966013"/>
            <a:ext cx="4754149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Tạo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hiệu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ứng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chuyển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cảnh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động,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liền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mạch,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cuốn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hút.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764976" y="5423968"/>
            <a:ext cx="1300068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23">
                <a:solidFill>
                  <a:srgbClr val="ff9800"/>
                </a:solidFill>
                <a:latin typeface="DejaVu Sans"/>
                <a:cs typeface="DejaVu Sans"/>
              </a:rPr>
              <a:t>Tiếp</a:t>
            </a:r>
            <a:r>
              <a:rPr dirty="0" sz="120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ff9800"/>
                </a:solidFill>
                <a:latin typeface="DejaVu Sans"/>
                <a:cs typeface="DejaVu Sans"/>
              </a:rPr>
              <a:t>cận</a:t>
            </a:r>
            <a:r>
              <a:rPr dirty="0" sz="120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ff9800"/>
                </a:solidFill>
                <a:latin typeface="DejaVu Sans"/>
                <a:cs typeface="DejaVu Sans"/>
              </a:rPr>
              <a:t>nhanh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254001" y="5423968"/>
            <a:ext cx="1400920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2">
                <a:solidFill>
                  <a:srgbClr val="ff9800"/>
                </a:solidFill>
                <a:latin typeface="DejaVu Sans"/>
                <a:cs typeface="DejaVu Sans"/>
              </a:rPr>
              <a:t>Thiết</a:t>
            </a:r>
            <a:r>
              <a:rPr dirty="0" sz="120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ff9800"/>
                </a:solidFill>
                <a:latin typeface="DejaVu Sans"/>
                <a:cs typeface="DejaVu Sans"/>
              </a:rPr>
              <a:t>kế</a:t>
            </a:r>
            <a:r>
              <a:rPr dirty="0" sz="120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ff9800"/>
                </a:solidFill>
                <a:latin typeface="DejaVu Sans"/>
                <a:cs typeface="DejaVu Sans"/>
              </a:rPr>
              <a:t>hiện</a:t>
            </a:r>
            <a:r>
              <a:rPr dirty="0" sz="1200" spc="-1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ff9800"/>
                </a:solidFill>
                <a:latin typeface="DejaVu Sans"/>
                <a:cs typeface="DejaVu Sans"/>
              </a:rPr>
              <a:t>đại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607967" y="5423968"/>
            <a:ext cx="1773551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ff9800"/>
                </a:solidFill>
                <a:latin typeface="DejaVu Sans"/>
                <a:cs typeface="DejaVu Sans"/>
              </a:rPr>
              <a:t>Chuyển</a:t>
            </a:r>
            <a:r>
              <a:rPr dirty="0" sz="120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ff9800"/>
                </a:solidFill>
                <a:latin typeface="DejaVu Sans"/>
                <a:cs typeface="DejaVu Sans"/>
              </a:rPr>
              <a:t>đổi</a:t>
            </a:r>
            <a:r>
              <a:rPr dirty="0" sz="120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ff9800"/>
                </a:solidFill>
                <a:latin typeface="DejaVu Sans"/>
                <a:cs typeface="DejaVu Sans"/>
              </a:rPr>
              <a:t>liền</a:t>
            </a:r>
            <a:r>
              <a:rPr dirty="0" sz="1200" spc="-14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ff9800"/>
                </a:solidFill>
                <a:latin typeface="DejaVu Sans"/>
                <a:cs typeface="DejaVu Sans"/>
              </a:rPr>
              <a:t>mạch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8570415" y="5423968"/>
            <a:ext cx="1134542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8">
                <a:solidFill>
                  <a:srgbClr val="ff9800"/>
                </a:solidFill>
                <a:latin typeface="DejaVu Sans"/>
                <a:cs typeface="DejaVu Sans"/>
              </a:rPr>
              <a:t>UI</a:t>
            </a:r>
            <a:r>
              <a:rPr dirty="0" sz="120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ff9800"/>
                </a:solidFill>
                <a:latin typeface="DejaVu Sans"/>
                <a:cs typeface="DejaVu Sans"/>
              </a:rPr>
              <a:t>sống</a:t>
            </a:r>
            <a:r>
              <a:rPr dirty="0" sz="1200">
                <a:solidFill>
                  <a:srgbClr val="ff980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ff9800"/>
                </a:solidFill>
                <a:latin typeface="DejaVu Sans"/>
                <a:cs typeface="DejaVu Sans"/>
              </a:rPr>
              <a:t>động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5812333" y="6520097"/>
            <a:ext cx="6190728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Nguồn: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Manage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motion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and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widget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animation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with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MotionLayout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|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Views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|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Android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b7280"/>
                </a:solidFill>
                <a:latin typeface="DejaVu Sans"/>
                <a:cs typeface="DejaVu Sans"/>
              </a:rPr>
              <a:t>Developers</a:t>
            </a:r>
          </a:p>
        </p:txBody>
      </p:sp>
    </p:spTree>
  </p:cSld>
  <p:clrMapOvr>
    <a:masterClrMapping/>
  </p:clrMapOvr>
</p:sld>
</file>

<file path=ppt/slides/slide59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7998333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733626" y="308160"/>
            <a:ext cx="2876961" cy="78308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866"/>
              </a:lnSpc>
              <a:spcBef>
                <a:spcPts val="0"/>
              </a:spcBef>
              <a:spcAft>
                <a:spcPts val="0"/>
              </a:spcAft>
            </a:pPr>
            <a:r>
              <a:rPr dirty="0" sz="5050" spc="-338" b="1">
                <a:solidFill>
                  <a:srgbClr val="e0e0e0"/>
                </a:solidFill>
                <a:latin typeface="DejaVu Sans"/>
                <a:cs typeface="DejaVu Sans"/>
              </a:rPr>
              <a:t>Tó</a:t>
            </a:r>
            <a:r>
              <a:rPr dirty="0" sz="5050" spc="-1765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5050" b="1">
                <a:solidFill>
                  <a:srgbClr val="e0e0e0"/>
                </a:solidFill>
                <a:latin typeface="DejaVu Sans"/>
                <a:cs typeface="DejaVu Sans"/>
              </a:rPr>
              <a:t>m</a:t>
            </a:r>
            <a:r>
              <a:rPr dirty="0" sz="5050" spc="-15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5050" b="1">
                <a:solidFill>
                  <a:srgbClr val="2dd4bf"/>
                </a:solidFill>
                <a:latin typeface="DejaVu Sans"/>
                <a:cs typeface="DejaVu Sans"/>
              </a:rPr>
              <a:t>tắt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542579" y="1113737"/>
            <a:ext cx="7259222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4">
                <a:solidFill>
                  <a:srgbClr val="9ca3af"/>
                </a:solidFill>
                <a:latin typeface="DejaVu Sans"/>
                <a:cs typeface="DejaVu Sans"/>
              </a:rPr>
              <a:t>Nền</a:t>
            </a:r>
            <a:r>
              <a:rPr dirty="0" sz="17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9ca3af"/>
                </a:solidFill>
                <a:latin typeface="DejaVu Sans"/>
                <a:cs typeface="DejaVu Sans"/>
              </a:rPr>
              <a:t>Tảng</a:t>
            </a:r>
            <a:r>
              <a:rPr dirty="0" sz="17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9ca3af"/>
                </a:solidFill>
                <a:latin typeface="DejaVu Sans"/>
                <a:cs typeface="DejaVu Sans"/>
              </a:rPr>
              <a:t>Giao</a:t>
            </a:r>
            <a:r>
              <a:rPr dirty="0" sz="17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9ca3af"/>
                </a:solidFill>
                <a:latin typeface="DejaVu Sans"/>
                <a:cs typeface="DejaVu Sans"/>
              </a:rPr>
              <a:t>Diện</a:t>
            </a:r>
            <a:r>
              <a:rPr dirty="0" sz="17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700" spc="-17">
                <a:solidFill>
                  <a:srgbClr val="9ca3af"/>
                </a:solidFill>
                <a:latin typeface="DejaVu Sans"/>
                <a:cs typeface="DejaVu Sans"/>
              </a:rPr>
              <a:t>Android</a:t>
            </a:r>
            <a:r>
              <a:rPr dirty="0" sz="17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9ca3af"/>
                </a:solidFill>
                <a:latin typeface="DejaVu Sans"/>
                <a:cs typeface="DejaVu Sans"/>
              </a:rPr>
              <a:t>Hiện</a:t>
            </a:r>
            <a:r>
              <a:rPr dirty="0" sz="17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9ca3af"/>
                </a:solidFill>
                <a:latin typeface="DejaVu Sans"/>
                <a:cs typeface="DejaVu Sans"/>
              </a:rPr>
              <a:t>Đại:</a:t>
            </a:r>
            <a:r>
              <a:rPr dirty="0" sz="17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700" spc="-14">
                <a:solidFill>
                  <a:srgbClr val="9ca3af"/>
                </a:solidFill>
                <a:latin typeface="DejaVu Sans"/>
                <a:cs typeface="DejaVu Sans"/>
              </a:rPr>
              <a:t>Hoạt</a:t>
            </a:r>
            <a:r>
              <a:rPr dirty="0" sz="17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700" spc="-14">
                <a:solidFill>
                  <a:srgbClr val="9ca3af"/>
                </a:solidFill>
                <a:latin typeface="DejaVu Sans"/>
                <a:cs typeface="DejaVu Sans"/>
              </a:rPr>
              <a:t>Ảnh</a:t>
            </a:r>
            <a:r>
              <a:rPr dirty="0" sz="17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700">
                <a:solidFill>
                  <a:srgbClr val="9ca3af"/>
                </a:solidFill>
                <a:latin typeface="DejaVu Sans"/>
                <a:cs typeface="DejaVu Sans"/>
              </a:rPr>
              <a:t>&amp;</a:t>
            </a:r>
            <a:r>
              <a:rPr dirty="0" sz="1700" spc="-23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9ca3af"/>
                </a:solidFill>
                <a:latin typeface="DejaVu Sans"/>
                <a:cs typeface="DejaVu Sans"/>
              </a:rPr>
              <a:t>Material</a:t>
            </a:r>
            <a:r>
              <a:rPr dirty="0" sz="17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9ca3af"/>
                </a:solidFill>
                <a:latin typeface="DejaVu Sans"/>
                <a:cs typeface="DejaVu Sans"/>
              </a:rPr>
              <a:t>Design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226641" y="2055203"/>
            <a:ext cx="2779398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Các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Loại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Hoạt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1" b="1">
                <a:solidFill>
                  <a:srgbClr val="e0e0e0"/>
                </a:solidFill>
                <a:latin typeface="DejaVu Sans"/>
                <a:cs typeface="DejaVu Sans"/>
              </a:rPr>
              <a:t>Ảnh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069632" y="2055203"/>
            <a:ext cx="4228309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Thành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Phần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Material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Design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88354" y="2610672"/>
            <a:ext cx="1797920" cy="5796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spc="-10">
                <a:solidFill>
                  <a:srgbClr val="e0e0e0"/>
                </a:solidFill>
                <a:latin typeface="DejaVu Sans"/>
                <a:cs typeface="DejaVu Sans"/>
              </a:rPr>
              <a:t>Property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Animation</a:t>
            </a:r>
          </a:p>
          <a:p>
            <a:pPr marL="0" marR="0">
              <a:lnSpc>
                <a:spcPts val="1564"/>
              </a:lnSpc>
              <a:spcBef>
                <a:spcPts val="1135"/>
              </a:spcBef>
              <a:spcAft>
                <a:spcPts val="0"/>
              </a:spcAft>
            </a:pPr>
            <a:r>
              <a:rPr dirty="0" sz="1350" spc="-14">
                <a:solidFill>
                  <a:srgbClr val="e0e0e0"/>
                </a:solidFill>
                <a:latin typeface="DejaVu Sans"/>
                <a:cs typeface="DejaVu Sans"/>
              </a:rPr>
              <a:t>View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Animation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731346" y="2610672"/>
            <a:ext cx="724138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Button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731346" y="2953572"/>
            <a:ext cx="2554724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Floating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Action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Button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 spc="-28">
                <a:solidFill>
                  <a:srgbClr val="e0e0e0"/>
                </a:solidFill>
                <a:latin typeface="DejaVu Sans"/>
                <a:cs typeface="DejaVu Sans"/>
              </a:rPr>
              <a:t>(FAB)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88354" y="3286947"/>
            <a:ext cx="1886784" cy="5796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Drawable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Animation</a:t>
            </a:r>
          </a:p>
          <a:p>
            <a:pPr marL="0" marR="0">
              <a:lnSpc>
                <a:spcPts val="1564"/>
              </a:lnSpc>
              <a:spcBef>
                <a:spcPts val="1135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MotionLayout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731346" y="3286947"/>
            <a:ext cx="554700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spc="-11">
                <a:solidFill>
                  <a:srgbClr val="e0e0e0"/>
                </a:solidFill>
                <a:latin typeface="DejaVu Sans"/>
                <a:cs typeface="DejaVu Sans"/>
              </a:rPr>
              <a:t>Card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731346" y="3629847"/>
            <a:ext cx="1073015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Navigation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781645" y="4079031"/>
            <a:ext cx="1002238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Chuyển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động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930002" y="4079031"/>
            <a:ext cx="792061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Tương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tác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624636" y="4079031"/>
            <a:ext cx="761253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Giao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diện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531892" y="4079031"/>
            <a:ext cx="669756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Thiết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kế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226641" y="5122254"/>
            <a:ext cx="2689904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Material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Theming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7069632" y="5122254"/>
            <a:ext cx="2795396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Kết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1" b="1">
                <a:solidFill>
                  <a:srgbClr val="e0e0e0"/>
                </a:solidFill>
                <a:latin typeface="DejaVu Sans"/>
                <a:cs typeface="DejaVu Sans"/>
              </a:rPr>
              <a:t>Hợp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Hoàn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1" b="1">
                <a:solidFill>
                  <a:srgbClr val="e0e0e0"/>
                </a:solidFill>
                <a:latin typeface="DejaVu Sans"/>
                <a:cs typeface="DejaVu Sans"/>
              </a:rPr>
              <a:t>Hảo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75084" y="5677722"/>
            <a:ext cx="4810696" cy="75114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Đảm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bảo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tính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nhất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quán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về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màu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sắc,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kiểu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chữ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hình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dáng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 spc="-12">
                <a:solidFill>
                  <a:srgbClr val="d1d5db"/>
                </a:solidFill>
                <a:latin typeface="DejaVu Sans"/>
                <a:cs typeface="DejaVu Sans"/>
              </a:rPr>
              <a:t>trên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toàn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bộ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ứng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dụng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để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tạo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ra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một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trải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nghiệm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thương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hiệu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đồng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nhất.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6518075" y="5677722"/>
            <a:ext cx="4930538" cy="75114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2dd4bf"/>
                </a:solidFill>
                <a:latin typeface="DejaVu Sans"/>
                <a:cs typeface="DejaVu Sans"/>
              </a:rPr>
              <a:t>Animations</a:t>
            </a:r>
            <a:r>
              <a:rPr dirty="0" sz="1350" b="1">
                <a:solidFill>
                  <a:srgbClr val="2dd4bf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2dd4bf"/>
                </a:solidFill>
                <a:latin typeface="DejaVu Sans"/>
                <a:cs typeface="DejaVu Sans"/>
              </a:rPr>
              <a:t>+</a:t>
            </a:r>
            <a:r>
              <a:rPr dirty="0" sz="1350" b="1">
                <a:solidFill>
                  <a:srgbClr val="2dd4bf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2dd4bf"/>
                </a:solidFill>
                <a:latin typeface="DejaVu Sans"/>
                <a:cs typeface="DejaVu Sans"/>
              </a:rPr>
              <a:t>Material</a:t>
            </a:r>
            <a:r>
              <a:rPr dirty="0" sz="1350" spc="-40" b="1">
                <a:solidFill>
                  <a:srgbClr val="2dd4b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=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Giao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diện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Android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hiện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đại,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biểu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cảm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mang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lại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trải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nghiệm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người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dùng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mượt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mà,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trực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quan.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781645" y="7155605"/>
            <a:ext cx="820499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Nhất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quán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748134" y="7155605"/>
            <a:ext cx="950741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Thương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hiệu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6624636" y="7155605"/>
            <a:ext cx="1665006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spc="-34">
                <a:solidFill>
                  <a:srgbClr val="d1d5db"/>
                </a:solidFill>
                <a:latin typeface="DejaVu Sans"/>
                <a:cs typeface="DejaVu Sans"/>
              </a:rPr>
              <a:t>Trải</a:t>
            </a:r>
            <a:r>
              <a:rPr dirty="0" sz="1000" spc="37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nghiệm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người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dùng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8435726" y="7155605"/>
            <a:ext cx="679999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Hiện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đại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10437910" y="7631101"/>
            <a:ext cx="1479754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2">
                <a:solidFill>
                  <a:srgbClr val="6b7280"/>
                </a:solidFill>
                <a:latin typeface="DejaVu Sans"/>
                <a:cs typeface="DejaVu Sans"/>
              </a:rPr>
              <a:t>contact:</a:t>
            </a:r>
            <a:r>
              <a:rPr dirty="0" sz="12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200" spc="-37">
                <a:solidFill>
                  <a:srgbClr val="6b7280"/>
                </a:solidFill>
                <a:latin typeface="DejaVu Sans"/>
                <a:cs typeface="DejaVu Sans"/>
              </a:rPr>
              <a:t>x@y.com</a:t>
            </a:r>
          </a:p>
        </p:txBody>
      </p:sp>
    </p:spTree>
  </p:cSld>
  <p:clrMapOvr>
    <a:masterClrMapping/>
  </p:clrMapOvr>
</p:sld>
</file>

<file path=ppt/slides/slide60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7998333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733626" y="308160"/>
            <a:ext cx="2876961" cy="78308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866"/>
              </a:lnSpc>
              <a:spcBef>
                <a:spcPts val="0"/>
              </a:spcBef>
              <a:spcAft>
                <a:spcPts val="0"/>
              </a:spcAft>
            </a:pPr>
            <a:r>
              <a:rPr dirty="0" sz="5050" spc="-338" b="1">
                <a:solidFill>
                  <a:srgbClr val="e0e0e0"/>
                </a:solidFill>
                <a:latin typeface="DejaVu Sans"/>
                <a:cs typeface="DejaVu Sans"/>
              </a:rPr>
              <a:t>Tó</a:t>
            </a:r>
            <a:r>
              <a:rPr dirty="0" sz="5050" spc="-1765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5050" b="1">
                <a:solidFill>
                  <a:srgbClr val="e0e0e0"/>
                </a:solidFill>
                <a:latin typeface="DejaVu Sans"/>
                <a:cs typeface="DejaVu Sans"/>
              </a:rPr>
              <a:t>m</a:t>
            </a:r>
            <a:r>
              <a:rPr dirty="0" sz="5050" spc="-15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5050" b="1">
                <a:solidFill>
                  <a:srgbClr val="2dd4bf"/>
                </a:solidFill>
                <a:latin typeface="DejaVu Sans"/>
                <a:cs typeface="DejaVu Sans"/>
              </a:rPr>
              <a:t>tắt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542579" y="1113737"/>
            <a:ext cx="7259222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4">
                <a:solidFill>
                  <a:srgbClr val="9ca3af"/>
                </a:solidFill>
                <a:latin typeface="DejaVu Sans"/>
                <a:cs typeface="DejaVu Sans"/>
              </a:rPr>
              <a:t>Nền</a:t>
            </a:r>
            <a:r>
              <a:rPr dirty="0" sz="17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9ca3af"/>
                </a:solidFill>
                <a:latin typeface="DejaVu Sans"/>
                <a:cs typeface="DejaVu Sans"/>
              </a:rPr>
              <a:t>Tảng</a:t>
            </a:r>
            <a:r>
              <a:rPr dirty="0" sz="17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9ca3af"/>
                </a:solidFill>
                <a:latin typeface="DejaVu Sans"/>
                <a:cs typeface="DejaVu Sans"/>
              </a:rPr>
              <a:t>Giao</a:t>
            </a:r>
            <a:r>
              <a:rPr dirty="0" sz="17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9ca3af"/>
                </a:solidFill>
                <a:latin typeface="DejaVu Sans"/>
                <a:cs typeface="DejaVu Sans"/>
              </a:rPr>
              <a:t>Diện</a:t>
            </a:r>
            <a:r>
              <a:rPr dirty="0" sz="17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700" spc="-17">
                <a:solidFill>
                  <a:srgbClr val="9ca3af"/>
                </a:solidFill>
                <a:latin typeface="DejaVu Sans"/>
                <a:cs typeface="DejaVu Sans"/>
              </a:rPr>
              <a:t>Android</a:t>
            </a:r>
            <a:r>
              <a:rPr dirty="0" sz="17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9ca3af"/>
                </a:solidFill>
                <a:latin typeface="DejaVu Sans"/>
                <a:cs typeface="DejaVu Sans"/>
              </a:rPr>
              <a:t>Hiện</a:t>
            </a:r>
            <a:r>
              <a:rPr dirty="0" sz="17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9ca3af"/>
                </a:solidFill>
                <a:latin typeface="DejaVu Sans"/>
                <a:cs typeface="DejaVu Sans"/>
              </a:rPr>
              <a:t>Đại:</a:t>
            </a:r>
            <a:r>
              <a:rPr dirty="0" sz="17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700" spc="-14">
                <a:solidFill>
                  <a:srgbClr val="9ca3af"/>
                </a:solidFill>
                <a:latin typeface="DejaVu Sans"/>
                <a:cs typeface="DejaVu Sans"/>
              </a:rPr>
              <a:t>Hoạt</a:t>
            </a:r>
            <a:r>
              <a:rPr dirty="0" sz="17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700" spc="-14">
                <a:solidFill>
                  <a:srgbClr val="9ca3af"/>
                </a:solidFill>
                <a:latin typeface="DejaVu Sans"/>
                <a:cs typeface="DejaVu Sans"/>
              </a:rPr>
              <a:t>Ảnh</a:t>
            </a:r>
            <a:r>
              <a:rPr dirty="0" sz="17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700">
                <a:solidFill>
                  <a:srgbClr val="9ca3af"/>
                </a:solidFill>
                <a:latin typeface="DejaVu Sans"/>
                <a:cs typeface="DejaVu Sans"/>
              </a:rPr>
              <a:t>&amp;</a:t>
            </a:r>
            <a:r>
              <a:rPr dirty="0" sz="1700" spc="-23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9ca3af"/>
                </a:solidFill>
                <a:latin typeface="DejaVu Sans"/>
                <a:cs typeface="DejaVu Sans"/>
              </a:rPr>
              <a:t>Material</a:t>
            </a:r>
            <a:r>
              <a:rPr dirty="0" sz="17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9ca3af"/>
                </a:solidFill>
                <a:latin typeface="DejaVu Sans"/>
                <a:cs typeface="DejaVu Sans"/>
              </a:rPr>
              <a:t>Design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226641" y="2055203"/>
            <a:ext cx="2779398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Các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Loại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Hoạt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1" b="1">
                <a:solidFill>
                  <a:srgbClr val="e0e0e0"/>
                </a:solidFill>
                <a:latin typeface="DejaVu Sans"/>
                <a:cs typeface="DejaVu Sans"/>
              </a:rPr>
              <a:t>Ảnh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069632" y="2055203"/>
            <a:ext cx="4228309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Thành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Phần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Material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Design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88354" y="2610672"/>
            <a:ext cx="1797920" cy="5796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spc="-10">
                <a:solidFill>
                  <a:srgbClr val="e0e0e0"/>
                </a:solidFill>
                <a:latin typeface="DejaVu Sans"/>
                <a:cs typeface="DejaVu Sans"/>
              </a:rPr>
              <a:t>Property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Animation</a:t>
            </a:r>
          </a:p>
          <a:p>
            <a:pPr marL="0" marR="0">
              <a:lnSpc>
                <a:spcPts val="1564"/>
              </a:lnSpc>
              <a:spcBef>
                <a:spcPts val="1135"/>
              </a:spcBef>
              <a:spcAft>
                <a:spcPts val="0"/>
              </a:spcAft>
            </a:pPr>
            <a:r>
              <a:rPr dirty="0" sz="1350" spc="-14">
                <a:solidFill>
                  <a:srgbClr val="e0e0e0"/>
                </a:solidFill>
                <a:latin typeface="DejaVu Sans"/>
                <a:cs typeface="DejaVu Sans"/>
              </a:rPr>
              <a:t>View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Animation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731346" y="2610672"/>
            <a:ext cx="724138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Button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731346" y="2953572"/>
            <a:ext cx="2554724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Floating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Action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Button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 spc="-28">
                <a:solidFill>
                  <a:srgbClr val="e0e0e0"/>
                </a:solidFill>
                <a:latin typeface="DejaVu Sans"/>
                <a:cs typeface="DejaVu Sans"/>
              </a:rPr>
              <a:t>(FAB)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88354" y="3286947"/>
            <a:ext cx="1886784" cy="5796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Drawable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Animation</a:t>
            </a:r>
          </a:p>
          <a:p>
            <a:pPr marL="0" marR="0">
              <a:lnSpc>
                <a:spcPts val="1564"/>
              </a:lnSpc>
              <a:spcBef>
                <a:spcPts val="1135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MotionLayout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731346" y="3286947"/>
            <a:ext cx="554700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spc="-11">
                <a:solidFill>
                  <a:srgbClr val="e0e0e0"/>
                </a:solidFill>
                <a:latin typeface="DejaVu Sans"/>
                <a:cs typeface="DejaVu Sans"/>
              </a:rPr>
              <a:t>Card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731346" y="3629847"/>
            <a:ext cx="1073015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e0e0e0"/>
                </a:solidFill>
                <a:latin typeface="DejaVu Sans"/>
                <a:cs typeface="DejaVu Sans"/>
              </a:rPr>
              <a:t>Navigation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781645" y="4079031"/>
            <a:ext cx="1002238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Chuyển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động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930002" y="4079031"/>
            <a:ext cx="792061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Tương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tác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624636" y="4079031"/>
            <a:ext cx="761253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Giao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diện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531892" y="4079031"/>
            <a:ext cx="669756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Thiết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kế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226641" y="5122254"/>
            <a:ext cx="2689904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Material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Theming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7069632" y="5122254"/>
            <a:ext cx="2795396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Kết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1" b="1">
                <a:solidFill>
                  <a:srgbClr val="e0e0e0"/>
                </a:solidFill>
                <a:latin typeface="DejaVu Sans"/>
                <a:cs typeface="DejaVu Sans"/>
              </a:rPr>
              <a:t>Hợp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e0e0e0"/>
                </a:solidFill>
                <a:latin typeface="DejaVu Sans"/>
                <a:cs typeface="DejaVu Sans"/>
              </a:rPr>
              <a:t>Hoàn</a:t>
            </a:r>
            <a:r>
              <a:rPr dirty="0" sz="2000" b="1">
                <a:solidFill>
                  <a:srgbClr val="e0e0e0"/>
                </a:solidFill>
                <a:latin typeface="DejaVu Sans"/>
                <a:cs typeface="DejaVu Sans"/>
              </a:rPr>
              <a:t> </a:t>
            </a:r>
            <a:r>
              <a:rPr dirty="0" sz="2000" spc="11" b="1">
                <a:solidFill>
                  <a:srgbClr val="e0e0e0"/>
                </a:solidFill>
                <a:latin typeface="DejaVu Sans"/>
                <a:cs typeface="DejaVu Sans"/>
              </a:rPr>
              <a:t>Hảo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75084" y="5677722"/>
            <a:ext cx="4810696" cy="75114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Đảm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bảo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tính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nhất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quán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về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màu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sắc,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kiểu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chữ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hình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dáng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 spc="-12">
                <a:solidFill>
                  <a:srgbClr val="d1d5db"/>
                </a:solidFill>
                <a:latin typeface="DejaVu Sans"/>
                <a:cs typeface="DejaVu Sans"/>
              </a:rPr>
              <a:t>trên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toàn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bộ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ứng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dụng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để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tạo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ra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một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trải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nghiệm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thương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hiệu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đồng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nhất.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6518075" y="5677722"/>
            <a:ext cx="4930538" cy="75114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2dd4bf"/>
                </a:solidFill>
                <a:latin typeface="DejaVu Sans"/>
                <a:cs typeface="DejaVu Sans"/>
              </a:rPr>
              <a:t>Animations</a:t>
            </a:r>
            <a:r>
              <a:rPr dirty="0" sz="1350" b="1">
                <a:solidFill>
                  <a:srgbClr val="2dd4bf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2dd4bf"/>
                </a:solidFill>
                <a:latin typeface="DejaVu Sans"/>
                <a:cs typeface="DejaVu Sans"/>
              </a:rPr>
              <a:t>+</a:t>
            </a:r>
            <a:r>
              <a:rPr dirty="0" sz="1350" b="1">
                <a:solidFill>
                  <a:srgbClr val="2dd4bf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2dd4bf"/>
                </a:solidFill>
                <a:latin typeface="DejaVu Sans"/>
                <a:cs typeface="DejaVu Sans"/>
              </a:rPr>
              <a:t>Material</a:t>
            </a:r>
            <a:r>
              <a:rPr dirty="0" sz="1350" spc="-40" b="1">
                <a:solidFill>
                  <a:srgbClr val="2dd4b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=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Giao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diện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Android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hiện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đại,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biểu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cảm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mang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lại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trải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nghiệm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người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dùng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mượt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mà,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trực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d1d5db"/>
                </a:solidFill>
                <a:latin typeface="DejaVu Sans"/>
                <a:cs typeface="DejaVu Sans"/>
              </a:rPr>
              <a:t>quan.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781645" y="7155605"/>
            <a:ext cx="820499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Nhất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quán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748134" y="7155605"/>
            <a:ext cx="950741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Thương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hiệu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6624636" y="7155605"/>
            <a:ext cx="1665006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spc="-34">
                <a:solidFill>
                  <a:srgbClr val="d1d5db"/>
                </a:solidFill>
                <a:latin typeface="DejaVu Sans"/>
                <a:cs typeface="DejaVu Sans"/>
              </a:rPr>
              <a:t>Trải</a:t>
            </a:r>
            <a:r>
              <a:rPr dirty="0" sz="1000" spc="37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nghiệm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người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dùng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8435726" y="7155605"/>
            <a:ext cx="679999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Hiện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d1d5db"/>
                </a:solidFill>
                <a:latin typeface="DejaVu Sans"/>
                <a:cs typeface="DejaVu Sans"/>
              </a:rPr>
              <a:t>đại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10437910" y="7631101"/>
            <a:ext cx="1479754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2">
                <a:solidFill>
                  <a:srgbClr val="6b7280"/>
                </a:solidFill>
                <a:latin typeface="DejaVu Sans"/>
                <a:cs typeface="DejaVu Sans"/>
              </a:rPr>
              <a:t>contact:</a:t>
            </a:r>
            <a:r>
              <a:rPr dirty="0" sz="120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dirty="0" sz="1200" spc="-37">
                <a:solidFill>
                  <a:srgbClr val="6b7280"/>
                </a:solidFill>
                <a:latin typeface="DejaVu Sans"/>
                <a:cs typeface="DejaVu Sans"/>
              </a:rPr>
              <a:t>x@y.com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PresentationFormat>On-screen Show (4:3)</PresentationFormat>
  <ScaleCrop>false</ScaleCrop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cp:revision>1</cp:revision>
  <dcterms:modified xsi:type="dcterms:W3CDTF">2025-08-28T02:58:18+00:00</dcterms:modified>
</cp:coreProperties>
</file>