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Relationship Id="rId37" Type="http://schemas.openxmlformats.org/officeDocument/2006/relationships/slide" Target="slides/slide32.xml" /><Relationship Id="rId38" Type="http://schemas.openxmlformats.org/officeDocument/2006/relationships/slide" Target="slides/slide33.xml" /><Relationship Id="rId39" Type="http://schemas.openxmlformats.org/officeDocument/2006/relationships/slide" Target="slides/slide34.xml" /><Relationship Id="rId4" Type="http://schemas.openxmlformats.org/officeDocument/2006/relationships/theme" Target="theme/theme1.xml" /><Relationship Id="rId40" Type="http://schemas.openxmlformats.org/officeDocument/2006/relationships/slide" Target="slides/slide35.xml" /><Relationship Id="rId41" Type="http://schemas.openxmlformats.org/officeDocument/2006/relationships/slide" Target="slides/slide36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medium.com/androiddevelopers/navigating-with-deep-links-910a4a6588c" TargetMode="External" /><Relationship Id="rId3" Type="http://schemas.openxmlformats.org/officeDocument/2006/relationships/image" Target="../media/image2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medium.com/androiddevelopers/navigating-with-deep-links-910a4a6588c" TargetMode="External" /><Relationship Id="rId3" Type="http://schemas.openxmlformats.org/officeDocument/2006/relationships/image" Target="../media/image3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2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3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4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5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6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58888" y="458610"/>
            <a:ext cx="8226508" cy="18942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Intent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Advanced</a:t>
            </a:r>
          </a:p>
          <a:p>
            <a:pPr marL="1688306" marR="0">
              <a:lnSpc>
                <a:spcPts val="7040"/>
              </a:lnSpc>
              <a:spcBef>
                <a:spcPts val="584"/>
              </a:spcBef>
              <a:spcAft>
                <a:spcPts val="0"/>
              </a:spcAft>
            </a:pP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52266" y="2373135"/>
            <a:ext cx="4639852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ff6f00"/>
                </a:solidFill>
                <a:latin typeface="DejaVu Sans"/>
                <a:cs typeface="DejaVu Sans"/>
              </a:rPr>
              <a:t>in</a:t>
            </a:r>
            <a:r>
              <a:rPr dirty="0" sz="6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6f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07927" y="3539242"/>
            <a:ext cx="6928458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-103">
                <a:solidFill>
                  <a:srgbClr val="ffffff"/>
                </a:solidFill>
                <a:latin typeface="DejaVu Sans"/>
                <a:cs typeface="DejaVu Sans"/>
              </a:rPr>
              <a:t>Tuần</a:t>
            </a:r>
            <a:r>
              <a:rPr dirty="0" sz="3000" spc="12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5: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ffffff"/>
                </a:solidFill>
                <a:latin typeface="DejaVu Sans"/>
                <a:cs typeface="DejaVu Sans"/>
              </a:rPr>
              <a:t>khái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ffffff"/>
                </a:solidFill>
                <a:latin typeface="DejaVu Sans"/>
                <a:cs typeface="DejaVu Sans"/>
              </a:rPr>
              <a:t>niệm</a:t>
            </a:r>
            <a:r>
              <a:rPr dirty="0" sz="3000" spc="18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69213" y="6105995"/>
            <a:ext cx="224843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Sapiens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DejaVu Sans"/>
                <a:cs typeface="DejaVu Sans"/>
              </a:rPr>
              <a:t>AI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-77">
                <a:solidFill>
                  <a:srgbClr val="ffffff"/>
                </a:solidFill>
                <a:latin typeface="DejaVu Sans"/>
                <a:cs typeface="DejaVu Sans"/>
              </a:rPr>
              <a:t>Team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58888" y="458610"/>
            <a:ext cx="8226508" cy="18942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Intent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Advanced</a:t>
            </a:r>
          </a:p>
          <a:p>
            <a:pPr marL="1688306" marR="0">
              <a:lnSpc>
                <a:spcPts val="7040"/>
              </a:lnSpc>
              <a:spcBef>
                <a:spcPts val="584"/>
              </a:spcBef>
              <a:spcAft>
                <a:spcPts val="0"/>
              </a:spcAft>
            </a:pPr>
            <a:r>
              <a:rPr dirty="0" sz="6050" b="1">
                <a:solidFill>
                  <a:srgbClr val="ffffff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52266" y="2373135"/>
            <a:ext cx="4639852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ff6f00"/>
                </a:solidFill>
                <a:latin typeface="DejaVu Sans"/>
                <a:cs typeface="DejaVu Sans"/>
              </a:rPr>
              <a:t>in</a:t>
            </a:r>
            <a:r>
              <a:rPr dirty="0" sz="6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6f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07927" y="3539242"/>
            <a:ext cx="6928458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-103">
                <a:solidFill>
                  <a:srgbClr val="ffffff"/>
                </a:solidFill>
                <a:latin typeface="DejaVu Sans"/>
                <a:cs typeface="DejaVu Sans"/>
              </a:rPr>
              <a:t>Tuần</a:t>
            </a:r>
            <a:r>
              <a:rPr dirty="0" sz="3000" spc="12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5: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ffffff"/>
                </a:solidFill>
                <a:latin typeface="DejaVu Sans"/>
                <a:cs typeface="DejaVu Sans"/>
              </a:rPr>
              <a:t>khái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ffffff"/>
                </a:solidFill>
                <a:latin typeface="DejaVu Sans"/>
                <a:cs typeface="DejaVu Sans"/>
              </a:rPr>
              <a:t>niệm</a:t>
            </a:r>
            <a:r>
              <a:rPr dirty="0" sz="3000" spc="18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69213" y="6105995"/>
            <a:ext cx="224843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Sapiens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DejaVu Sans"/>
                <a:cs typeface="DejaVu Sans"/>
              </a:rPr>
              <a:t>AI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-77">
                <a:solidFill>
                  <a:srgbClr val="ffffff"/>
                </a:solidFill>
                <a:latin typeface="DejaVu Sans"/>
                <a:cs typeface="DejaVu Sans"/>
              </a:rPr>
              <a:t>Team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983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30351" y="322124"/>
            <a:ext cx="5283760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quan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0" b="1">
                <a:solidFill>
                  <a:srgbClr val="ff6f00"/>
                </a:solidFill>
                <a:latin typeface="DejaVu Sans"/>
                <a:cs typeface="DejaVu Sans"/>
              </a:rPr>
              <a:t>Tuần</a:t>
            </a:r>
            <a:r>
              <a:rPr dirty="0" sz="4050" spc="1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33478" y="1068376"/>
            <a:ext cx="30479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f2f7"/>
                </a:solidFill>
                <a:latin typeface="DejaVu Sans"/>
                <a:cs typeface="DejaVu Sans"/>
              </a:rPr>
              <a:t>Kiến</a:t>
            </a:r>
            <a:r>
              <a:rPr dirty="0" sz="1200" spc="-1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f2f7"/>
                </a:solidFill>
                <a:latin typeface="DejaVu Sans"/>
                <a:cs typeface="DejaVu Sans"/>
              </a:rPr>
              <a:t>thức</a:t>
            </a:r>
            <a:r>
              <a:rPr dirty="0" sz="120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f2f7"/>
                </a:solidFill>
                <a:latin typeface="DejaVu Sans"/>
                <a:cs typeface="DejaVu Sans"/>
              </a:rPr>
              <a:t>nền</a:t>
            </a:r>
            <a:r>
              <a:rPr dirty="0" sz="120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f2f7"/>
                </a:solidFill>
                <a:latin typeface="DejaVu Sans"/>
                <a:cs typeface="DejaVu Sans"/>
              </a:rPr>
              <a:t>tảng</a:t>
            </a:r>
            <a:r>
              <a:rPr dirty="0" sz="1200" spc="-1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f2f7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f2f7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11919" y="1895543"/>
            <a:ext cx="145462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là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3687" y="1895543"/>
            <a:ext cx="258667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0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500" spc="3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42547" y="1895543"/>
            <a:ext cx="225923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1" b="1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11919" y="2220902"/>
            <a:ext cx="277073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Giao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tiếp,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kích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thống.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74244" y="2259002"/>
            <a:ext cx="2471031" cy="469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Extra:</a:t>
            </a:r>
            <a:r>
              <a:rPr dirty="0" sz="1200" spc="-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dạng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40">
                <a:solidFill>
                  <a:srgbClr val="0d47a1"/>
                </a:solidFill>
                <a:latin typeface="DejaVu Sans"/>
                <a:cs typeface="DejaVu Sans"/>
              </a:rPr>
              <a:t>Key-Value.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Bundle:</a:t>
            </a:r>
            <a:r>
              <a:rPr dirty="0" sz="1200" spc="-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Tập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Extras.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13104" y="2259002"/>
            <a:ext cx="2749787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Multi-Activity:</a:t>
            </a:r>
            <a:r>
              <a:rPr dirty="0" sz="12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Mỗi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31">
                <a:solidFill>
                  <a:srgbClr val="0d47a1"/>
                </a:solidFill>
                <a:latin typeface="DejaVu Sans"/>
                <a:cs typeface="DejaVu Sans"/>
              </a:rPr>
              <a:t>Activity.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7198" y="2745532"/>
            <a:ext cx="73031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tiếp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88368" y="2745532"/>
            <a:ext cx="6037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Dữ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52886" y="2745532"/>
            <a:ext cx="85193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13104" y="2725727"/>
            <a:ext cx="28858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Single-Activity:</a:t>
            </a:r>
            <a:r>
              <a:rPr dirty="0" sz="12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74244" y="2773352"/>
            <a:ext cx="31423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Parcelable:</a:t>
            </a:r>
            <a:r>
              <a:rPr dirty="0" sz="1200" spc="-3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40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200" spc="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13104" y="2944802"/>
            <a:ext cx="92410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>
                <a:solidFill>
                  <a:srgbClr val="0d47a1"/>
                </a:solidFill>
                <a:latin typeface="DejaVu Sans"/>
                <a:cs typeface="DejaVu Sans"/>
              </a:rPr>
              <a:t>Fragment.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242547" y="3240077"/>
            <a:ext cx="309018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 b="1">
                <a:solidFill>
                  <a:srgbClr val="0d47a1"/>
                </a:solidFill>
                <a:latin typeface="DejaVu Sans"/>
                <a:cs typeface="DejaVu Sans"/>
              </a:rPr>
              <a:t>Fragment:</a:t>
            </a:r>
            <a:r>
              <a:rPr dirty="0" sz="1200" spc="-2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sử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dụng,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42547" y="3459152"/>
            <a:ext cx="85542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hoạt.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050779" y="3514793"/>
            <a:ext cx="145724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Filter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050779" y="3840152"/>
            <a:ext cx="124766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050779" y="4049702"/>
            <a:ext cx="2445503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`AndroidManifest.xml`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tuyến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Intent.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9639" y="4200593"/>
            <a:ext cx="263110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4827" y="4495868"/>
            <a:ext cx="188134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Phân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789639" y="4516427"/>
            <a:ext cx="256151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trạng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874917" y="4831507"/>
            <a:ext cx="795042" cy="4442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NavGraph</a:t>
            </a:r>
          </a:p>
          <a:p>
            <a:pPr marL="0" marR="0">
              <a:lnSpc>
                <a:spcPts val="1173"/>
              </a:lnSpc>
              <a:spcBef>
                <a:spcPts val="801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Safe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Args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730679" y="4831507"/>
            <a:ext cx="10348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NavController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35384" y="4859327"/>
            <a:ext cx="285793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Explicit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Intent:</a:t>
            </a:r>
            <a:r>
              <a:rPr dirty="0" sz="1200" spc="-3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36">
                <a:solidFill>
                  <a:srgbClr val="0d47a1"/>
                </a:solidFill>
                <a:latin typeface="DejaVu Sans"/>
                <a:cs typeface="DejaVu Sans"/>
              </a:rPr>
              <a:t>rõ</a:t>
            </a:r>
            <a:r>
              <a:rPr dirty="0" sz="12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050779" y="5010218"/>
            <a:ext cx="21612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35384" y="5078402"/>
            <a:ext cx="5129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đích.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050779" y="5335577"/>
            <a:ext cx="2770075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thức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gọi.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35384" y="5373677"/>
            <a:ext cx="3038891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Intent:</a:t>
            </a:r>
            <a:r>
              <a:rPr dirty="0" sz="1200" spc="-3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tìm</a:t>
            </a:r>
            <a:r>
              <a:rPr dirty="0" sz="1200" spc="-2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phù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hợp.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89639" y="5819843"/>
            <a:ext cx="122898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89639" y="6145202"/>
            <a:ext cx="264048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tiếp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tới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cụ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thể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bên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ngoài.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6690" y="7305742"/>
            <a:ext cx="474167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hành:</a:t>
            </a:r>
            <a:r>
              <a:rPr dirty="0" sz="1500" spc="-4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Xây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dựng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Navigation.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049809" y="7660430"/>
            <a:ext cx="986788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Create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Links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to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App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Content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Create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destination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983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30351" y="322124"/>
            <a:ext cx="5283760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quan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0" b="1">
                <a:solidFill>
                  <a:srgbClr val="ff6f00"/>
                </a:solidFill>
                <a:latin typeface="DejaVu Sans"/>
                <a:cs typeface="DejaVu Sans"/>
              </a:rPr>
              <a:t>Tuần</a:t>
            </a:r>
            <a:r>
              <a:rPr dirty="0" sz="4050" spc="1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33478" y="1068376"/>
            <a:ext cx="30479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f2f7"/>
                </a:solidFill>
                <a:latin typeface="DejaVu Sans"/>
                <a:cs typeface="DejaVu Sans"/>
              </a:rPr>
              <a:t>Kiến</a:t>
            </a:r>
            <a:r>
              <a:rPr dirty="0" sz="1200" spc="-1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f2f7"/>
                </a:solidFill>
                <a:latin typeface="DejaVu Sans"/>
                <a:cs typeface="DejaVu Sans"/>
              </a:rPr>
              <a:t>thức</a:t>
            </a:r>
            <a:r>
              <a:rPr dirty="0" sz="120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f2f7"/>
                </a:solidFill>
                <a:latin typeface="DejaVu Sans"/>
                <a:cs typeface="DejaVu Sans"/>
              </a:rPr>
              <a:t>nền</a:t>
            </a:r>
            <a:r>
              <a:rPr dirty="0" sz="120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f2f7"/>
                </a:solidFill>
                <a:latin typeface="DejaVu Sans"/>
                <a:cs typeface="DejaVu Sans"/>
              </a:rPr>
              <a:t>tảng</a:t>
            </a:r>
            <a:r>
              <a:rPr dirty="0" sz="1200" spc="-1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f2f7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f2f7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11919" y="1895543"/>
            <a:ext cx="145462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là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3687" y="1895543"/>
            <a:ext cx="258667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0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500" spc="3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42547" y="1895543"/>
            <a:ext cx="225923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1" b="1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11919" y="2220902"/>
            <a:ext cx="277073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Giao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tiếp,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kích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thống.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74244" y="2259002"/>
            <a:ext cx="2471031" cy="469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Extra:</a:t>
            </a:r>
            <a:r>
              <a:rPr dirty="0" sz="1200" spc="-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dạng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40">
                <a:solidFill>
                  <a:srgbClr val="0d47a1"/>
                </a:solidFill>
                <a:latin typeface="DejaVu Sans"/>
                <a:cs typeface="DejaVu Sans"/>
              </a:rPr>
              <a:t>Key-Value.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Bundle:</a:t>
            </a:r>
            <a:r>
              <a:rPr dirty="0" sz="1200" spc="-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Tập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Extras.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13104" y="2259002"/>
            <a:ext cx="2749787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Multi-Activity:</a:t>
            </a:r>
            <a:r>
              <a:rPr dirty="0" sz="12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Mỗi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31">
                <a:solidFill>
                  <a:srgbClr val="0d47a1"/>
                </a:solidFill>
                <a:latin typeface="DejaVu Sans"/>
                <a:cs typeface="DejaVu Sans"/>
              </a:rPr>
              <a:t>Activity.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7198" y="2745532"/>
            <a:ext cx="73031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tiếp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88368" y="2745532"/>
            <a:ext cx="6037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Dữ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52886" y="2745532"/>
            <a:ext cx="85193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13104" y="2725727"/>
            <a:ext cx="28858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Single-Activity:</a:t>
            </a:r>
            <a:r>
              <a:rPr dirty="0" sz="12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74244" y="2773352"/>
            <a:ext cx="31423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Parcelable:</a:t>
            </a:r>
            <a:r>
              <a:rPr dirty="0" sz="1200" spc="-3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40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200" spc="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13104" y="2944802"/>
            <a:ext cx="92410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>
                <a:solidFill>
                  <a:srgbClr val="0d47a1"/>
                </a:solidFill>
                <a:latin typeface="DejaVu Sans"/>
                <a:cs typeface="DejaVu Sans"/>
              </a:rPr>
              <a:t>Fragment.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242547" y="3240077"/>
            <a:ext cx="309018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 b="1">
                <a:solidFill>
                  <a:srgbClr val="0d47a1"/>
                </a:solidFill>
                <a:latin typeface="DejaVu Sans"/>
                <a:cs typeface="DejaVu Sans"/>
              </a:rPr>
              <a:t>Fragment:</a:t>
            </a:r>
            <a:r>
              <a:rPr dirty="0" sz="1200" spc="-2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sử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dụng,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42547" y="3459152"/>
            <a:ext cx="85542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hoạt.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050779" y="3514793"/>
            <a:ext cx="145724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Filter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050779" y="3840152"/>
            <a:ext cx="124766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050779" y="4049702"/>
            <a:ext cx="2445503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`AndroidManifest.xml`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tuyến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Intent.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9639" y="4200593"/>
            <a:ext cx="263110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4827" y="4495868"/>
            <a:ext cx="188134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Phân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789639" y="4516427"/>
            <a:ext cx="256151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trạng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874917" y="4831507"/>
            <a:ext cx="795042" cy="4442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NavGraph</a:t>
            </a:r>
          </a:p>
          <a:p>
            <a:pPr marL="0" marR="0">
              <a:lnSpc>
                <a:spcPts val="1173"/>
              </a:lnSpc>
              <a:spcBef>
                <a:spcPts val="801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Safe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Args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730679" y="4831507"/>
            <a:ext cx="10348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1e3a8a"/>
                </a:solidFill>
                <a:latin typeface="DejaVu Sans"/>
                <a:cs typeface="DejaVu Sans"/>
              </a:rPr>
              <a:t>NavController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35384" y="4859327"/>
            <a:ext cx="285793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Explicit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Intent:</a:t>
            </a:r>
            <a:r>
              <a:rPr dirty="0" sz="1200" spc="-3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36">
                <a:solidFill>
                  <a:srgbClr val="0d47a1"/>
                </a:solidFill>
                <a:latin typeface="DejaVu Sans"/>
                <a:cs typeface="DejaVu Sans"/>
              </a:rPr>
              <a:t>rõ</a:t>
            </a:r>
            <a:r>
              <a:rPr dirty="0" sz="12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050779" y="5010218"/>
            <a:ext cx="21612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35384" y="5078402"/>
            <a:ext cx="5129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đích.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050779" y="5335577"/>
            <a:ext cx="2770075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thức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gọi.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35384" y="5373677"/>
            <a:ext cx="3038891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Intent:</a:t>
            </a:r>
            <a:r>
              <a:rPr dirty="0" sz="1200" spc="-3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tìm</a:t>
            </a:r>
            <a:r>
              <a:rPr dirty="0" sz="1200" spc="-2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phù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hợp.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89639" y="5819843"/>
            <a:ext cx="122898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89639" y="6145202"/>
            <a:ext cx="264048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tiếp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tới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cụ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thể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bên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ngoài.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6690" y="7305742"/>
            <a:ext cx="474167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hành:</a:t>
            </a:r>
            <a:r>
              <a:rPr dirty="0" sz="1500" spc="-4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Xây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dựng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Navigation.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049809" y="7660430"/>
            <a:ext cx="986788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Create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Links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to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App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Content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Create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destination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67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1968" y="453701"/>
            <a:ext cx="4493267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5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6f00"/>
                </a:solidFill>
                <a:latin typeface="DejaVu Sans"/>
                <a:cs typeface="DejaVu Sans"/>
              </a:rPr>
              <a:t>là</a:t>
            </a:r>
            <a:r>
              <a:rPr dirty="0" sz="5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6f0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9270" y="1322270"/>
            <a:ext cx="1787364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để: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625" y="1345004"/>
            <a:ext cx="5250749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là</a:t>
            </a:r>
            <a:r>
              <a:rPr dirty="0" sz="17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'thông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điệp'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(message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object)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7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tiếp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61112" y="1907733"/>
            <a:ext cx="358163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2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500" spc="7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sang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46390" y="2312280"/>
            <a:ext cx="93543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3975" y="2556943"/>
            <a:ext cx="18091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điệp</a:t>
            </a:r>
            <a:r>
              <a:rPr dirty="0" sz="1200" spc="-1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8721" y="2556943"/>
            <a:ext cx="178806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ffffff"/>
                </a:solidFill>
                <a:latin typeface="DejaVu Sans"/>
                <a:cs typeface="DejaVu Sans"/>
              </a:rPr>
              <a:t>Đối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tượng</a:t>
            </a:r>
            <a:r>
              <a:rPr dirty="0" sz="12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dirty="0" sz="12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1" b="1">
                <a:solidFill>
                  <a:srgbClr val="ffffff"/>
                </a:solidFill>
                <a:latin typeface="DejaVu Sans"/>
                <a:cs typeface="DejaVu Sans"/>
              </a:rPr>
              <a:t>tiếp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61112" y="2717358"/>
            <a:ext cx="425802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Bắt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đầu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Service</a:t>
            </a:r>
            <a:r>
              <a:rPr dirty="0" sz="15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Broadcast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61112" y="3022158"/>
            <a:ext cx="109958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Message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46390" y="3417180"/>
            <a:ext cx="161832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Background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Process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29617" y="3441258"/>
            <a:ext cx="4004364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2" b="1">
                <a:solidFill>
                  <a:srgbClr val="0d47a1"/>
                </a:solidFill>
                <a:latin typeface="DejaVu Sans"/>
                <a:cs typeface="DejaVu Sans"/>
              </a:rPr>
              <a:t>Tóm</a:t>
            </a:r>
            <a:r>
              <a:rPr dirty="0" sz="1500" spc="7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tắt: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30" b="1">
                <a:solidFill>
                  <a:srgbClr val="0d47a1"/>
                </a:solidFill>
                <a:latin typeface="DejaVu Sans"/>
                <a:cs typeface="DejaVu Sans"/>
              </a:rPr>
              <a:t>"Tôi</a:t>
            </a:r>
            <a:r>
              <a:rPr dirty="0" sz="1500" spc="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0d47a1"/>
                </a:solidFill>
                <a:latin typeface="DejaVu Sans"/>
                <a:cs typeface="DejaVu Sans"/>
              </a:rPr>
              <a:t>muốn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làm</a:t>
            </a:r>
            <a:r>
              <a:rPr dirty="0" sz="15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việc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46" b="1">
                <a:solidFill>
                  <a:srgbClr val="0d47a1"/>
                </a:solidFill>
                <a:latin typeface="DejaVu Sans"/>
                <a:cs typeface="DejaVu Sans"/>
              </a:rPr>
              <a:t>này,</a:t>
            </a:r>
            <a:r>
              <a:rPr dirty="0" sz="1500" spc="5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5" b="1">
                <a:solidFill>
                  <a:srgbClr val="0d47a1"/>
                </a:solidFill>
                <a:latin typeface="DejaVu Sans"/>
                <a:cs typeface="DejaVu Sans"/>
              </a:rPr>
              <a:t>hãy</a:t>
            </a:r>
            <a:r>
              <a:rPr dirty="0" sz="1500" spc="2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giúp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tôi!"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61112" y="3831783"/>
            <a:ext cx="432777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(gọi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điện,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email,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đồ,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camera,...)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46390" y="4531605"/>
            <a:ext cx="192249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External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App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11354" y="5183579"/>
            <a:ext cx="311888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chế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94126" y="6376468"/>
            <a:ext cx="968509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</a:p>
          <a:p>
            <a:pPr marL="143916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nguồn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82148" y="6376468"/>
            <a:ext cx="1230741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83071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(Thông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điệp)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432404" y="6376468"/>
            <a:ext cx="1115093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  <a:p>
            <a:pPr marL="304651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00105" y="7263047"/>
            <a:ext cx="545894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Reference: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  <a:r>
              <a:rPr dirty="0" sz="10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...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67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1968" y="453701"/>
            <a:ext cx="4493267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5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6f00"/>
                </a:solidFill>
                <a:latin typeface="DejaVu Sans"/>
                <a:cs typeface="DejaVu Sans"/>
              </a:rPr>
              <a:t>là</a:t>
            </a:r>
            <a:r>
              <a:rPr dirty="0" sz="5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6f0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9270" y="1322270"/>
            <a:ext cx="1787364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để: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625" y="1345004"/>
            <a:ext cx="5250749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là</a:t>
            </a:r>
            <a:r>
              <a:rPr dirty="0" sz="17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'thông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điệp'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(message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object)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7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tiếp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61112" y="1907733"/>
            <a:ext cx="358163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2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500" spc="7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sang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46390" y="2312280"/>
            <a:ext cx="93543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3975" y="2556943"/>
            <a:ext cx="18091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điệp</a:t>
            </a:r>
            <a:r>
              <a:rPr dirty="0" sz="1200" spc="-1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08721" y="2556943"/>
            <a:ext cx="178806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ffffff"/>
                </a:solidFill>
                <a:latin typeface="DejaVu Sans"/>
                <a:cs typeface="DejaVu Sans"/>
              </a:rPr>
              <a:t>Đối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tượng</a:t>
            </a:r>
            <a:r>
              <a:rPr dirty="0" sz="12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dirty="0" sz="12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1" b="1">
                <a:solidFill>
                  <a:srgbClr val="ffffff"/>
                </a:solidFill>
                <a:latin typeface="DejaVu Sans"/>
                <a:cs typeface="DejaVu Sans"/>
              </a:rPr>
              <a:t>tiếp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61112" y="2717358"/>
            <a:ext cx="425802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Bắt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đầu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Service</a:t>
            </a:r>
            <a:r>
              <a:rPr dirty="0" sz="1500" spc="-4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Broadcast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61112" y="3022158"/>
            <a:ext cx="109958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Message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46390" y="3417180"/>
            <a:ext cx="161832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Background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Process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29617" y="3441258"/>
            <a:ext cx="4004364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2" b="1">
                <a:solidFill>
                  <a:srgbClr val="0d47a1"/>
                </a:solidFill>
                <a:latin typeface="DejaVu Sans"/>
                <a:cs typeface="DejaVu Sans"/>
              </a:rPr>
              <a:t>Tóm</a:t>
            </a:r>
            <a:r>
              <a:rPr dirty="0" sz="1500" spc="7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tắt: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30" b="1">
                <a:solidFill>
                  <a:srgbClr val="0d47a1"/>
                </a:solidFill>
                <a:latin typeface="DejaVu Sans"/>
                <a:cs typeface="DejaVu Sans"/>
              </a:rPr>
              <a:t>"Tôi</a:t>
            </a:r>
            <a:r>
              <a:rPr dirty="0" sz="1500" spc="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0d47a1"/>
                </a:solidFill>
                <a:latin typeface="DejaVu Sans"/>
                <a:cs typeface="DejaVu Sans"/>
              </a:rPr>
              <a:t>muốn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làm</a:t>
            </a:r>
            <a:r>
              <a:rPr dirty="0" sz="15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việc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46" b="1">
                <a:solidFill>
                  <a:srgbClr val="0d47a1"/>
                </a:solidFill>
                <a:latin typeface="DejaVu Sans"/>
                <a:cs typeface="DejaVu Sans"/>
              </a:rPr>
              <a:t>này,</a:t>
            </a:r>
            <a:r>
              <a:rPr dirty="0" sz="1500" spc="5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5" b="1">
                <a:solidFill>
                  <a:srgbClr val="0d47a1"/>
                </a:solidFill>
                <a:latin typeface="DejaVu Sans"/>
                <a:cs typeface="DejaVu Sans"/>
              </a:rPr>
              <a:t>hãy</a:t>
            </a:r>
            <a:r>
              <a:rPr dirty="0" sz="1500" spc="2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giúp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tôi!"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61112" y="3831783"/>
            <a:ext cx="432777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(gọi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điện,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email,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đồ,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camera,...)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46390" y="4531605"/>
            <a:ext cx="192249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External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App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11354" y="5183579"/>
            <a:ext cx="311888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chế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94126" y="6376468"/>
            <a:ext cx="968509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</a:p>
          <a:p>
            <a:pPr marL="143916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nguồn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82148" y="6376468"/>
            <a:ext cx="1230741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83071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(Thông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điệp)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432404" y="6376468"/>
            <a:ext cx="1115093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  <a:p>
            <a:pPr marL="304651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00105" y="7263047"/>
            <a:ext cx="545894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Reference: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  <a:r>
              <a:rPr dirty="0" sz="10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...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68216" y="334315"/>
            <a:ext cx="420794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Explicit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2962" y="979370"/>
            <a:ext cx="303845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>
                <a:solidFill>
                  <a:srgbClr val="ff6f00"/>
                </a:solidFill>
                <a:latin typeface="DejaVu Sans"/>
                <a:cs typeface="DejaVu Sans"/>
              </a:rPr>
              <a:t>Intent</a:t>
            </a:r>
            <a:r>
              <a:rPr dirty="0" sz="2500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ff6f00"/>
                </a:solidFill>
                <a:latin typeface="DejaVu Sans"/>
                <a:cs typeface="DejaVu Sans"/>
              </a:rPr>
              <a:t>tường</a:t>
            </a:r>
            <a:r>
              <a:rPr dirty="0" sz="2500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ff6f00"/>
                </a:solidFill>
                <a:latin typeface="DejaVu Sans"/>
                <a:cs typeface="DejaVu Sans"/>
              </a:rPr>
              <a:t>minh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98091" y="1941395"/>
            <a:ext cx="2106603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45458" y="2524596"/>
            <a:ext cx="269377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3184" y="2573730"/>
            <a:ext cx="3146153" cy="591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khi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bạn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biết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chính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xác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nào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mở.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01443" y="3050734"/>
            <a:ext cx="466685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cùng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1176" y="3385618"/>
            <a:ext cx="14250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7" b="1">
                <a:solidFill>
                  <a:srgbClr val="0d47a1"/>
                </a:solidFill>
                <a:latin typeface="DejaVu Sans"/>
                <a:cs typeface="DejaVu Sans"/>
              </a:rPr>
              <a:t>Target-Speciﬁc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35274" y="3385618"/>
            <a:ext cx="162727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Direct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01443" y="3479359"/>
            <a:ext cx="345004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SecondActivity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2">
                <a:solidFill>
                  <a:srgbClr val="0d47a1"/>
                </a:solidFill>
                <a:latin typeface="DejaVu Sans"/>
                <a:cs typeface="DejaVu Sans"/>
              </a:rPr>
              <a:t>MainActivity.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41875" y="4820423"/>
            <a:ext cx="5577597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c7832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c7832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9b7c6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cc7832"/>
                </a:solidFill>
                <a:latin typeface="Liberation Mono"/>
                <a:cs typeface="Liberation Mono"/>
              </a:rPr>
              <a:t>this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9b7c6"/>
                </a:solidFill>
                <a:latin typeface="Liberation Mono"/>
                <a:cs typeface="Liberation Mono"/>
              </a:rPr>
              <a:t>SecondActivity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::class.java)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41875" y="5077598"/>
            <a:ext cx="2303417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c66d"/>
                </a:solidFill>
                <a:latin typeface="Liberation Mono"/>
                <a:cs typeface="Liberation Mono"/>
              </a:rPr>
              <a:t>startActivity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(intent)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37165" y="5604943"/>
            <a:ext cx="65084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74026" y="5604943"/>
            <a:ext cx="176116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 spc="-1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39232" y="6605822"/>
            <a:ext cx="783449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  <a:r>
              <a:rPr dirty="0" sz="10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Transactions,</a:t>
            </a:r>
            <a:r>
              <a:rPr dirty="0" sz="10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Components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68216" y="334315"/>
            <a:ext cx="420794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Explicit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2962" y="979370"/>
            <a:ext cx="303845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>
                <a:solidFill>
                  <a:srgbClr val="ff6f00"/>
                </a:solidFill>
                <a:latin typeface="DejaVu Sans"/>
                <a:cs typeface="DejaVu Sans"/>
              </a:rPr>
              <a:t>Intent</a:t>
            </a:r>
            <a:r>
              <a:rPr dirty="0" sz="2500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ff6f00"/>
                </a:solidFill>
                <a:latin typeface="DejaVu Sans"/>
                <a:cs typeface="DejaVu Sans"/>
              </a:rPr>
              <a:t>tường</a:t>
            </a:r>
            <a:r>
              <a:rPr dirty="0" sz="2500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ff6f00"/>
                </a:solidFill>
                <a:latin typeface="DejaVu Sans"/>
                <a:cs typeface="DejaVu Sans"/>
              </a:rPr>
              <a:t>minh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98091" y="1941395"/>
            <a:ext cx="2106603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45458" y="2524596"/>
            <a:ext cx="269377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3184" y="2573730"/>
            <a:ext cx="3146153" cy="591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khi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bạn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biết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chính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xác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d47a1"/>
                </a:solidFill>
                <a:latin typeface="DejaVu Sans"/>
                <a:cs typeface="DejaVu Sans"/>
              </a:rPr>
              <a:t>nào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0d47a1"/>
                </a:solidFill>
                <a:latin typeface="DejaVu Sans"/>
                <a:cs typeface="DejaVu Sans"/>
              </a:rPr>
              <a:t>mở.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01443" y="3050734"/>
            <a:ext cx="466685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cùng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1176" y="3385618"/>
            <a:ext cx="14250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7" b="1">
                <a:solidFill>
                  <a:srgbClr val="0d47a1"/>
                </a:solidFill>
                <a:latin typeface="DejaVu Sans"/>
                <a:cs typeface="DejaVu Sans"/>
              </a:rPr>
              <a:t>Target-Speciﬁc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35274" y="3385618"/>
            <a:ext cx="162727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Direct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01443" y="3479359"/>
            <a:ext cx="345004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SecondActivity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2">
                <a:solidFill>
                  <a:srgbClr val="0d47a1"/>
                </a:solidFill>
                <a:latin typeface="DejaVu Sans"/>
                <a:cs typeface="DejaVu Sans"/>
              </a:rPr>
              <a:t>MainActivity.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41875" y="4820423"/>
            <a:ext cx="5577597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c7832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c7832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9b7c6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cc7832"/>
                </a:solidFill>
                <a:latin typeface="Liberation Mono"/>
                <a:cs typeface="Liberation Mono"/>
              </a:rPr>
              <a:t>this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9b7c6"/>
                </a:solidFill>
                <a:latin typeface="Liberation Mono"/>
                <a:cs typeface="Liberation Mono"/>
              </a:rPr>
              <a:t>SecondActivity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::class.java)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41875" y="5077598"/>
            <a:ext cx="2303417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c66d"/>
                </a:solidFill>
                <a:latin typeface="Liberation Mono"/>
                <a:cs typeface="Liberation Mono"/>
              </a:rPr>
              <a:t>startActivity</a:t>
            </a:r>
            <a:r>
              <a:rPr dirty="0" sz="1350">
                <a:solidFill>
                  <a:srgbClr val="f2f2f2"/>
                </a:solidFill>
                <a:latin typeface="Liberation Mono"/>
                <a:cs typeface="Liberation Mono"/>
              </a:rPr>
              <a:t>(intent)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37165" y="5604943"/>
            <a:ext cx="65084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74026" y="5604943"/>
            <a:ext cx="176116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 spc="-1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39232" y="6605822"/>
            <a:ext cx="783449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  <a:r>
              <a:rPr dirty="0" sz="10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Transactions,</a:t>
            </a:r>
            <a:r>
              <a:rPr dirty="0" sz="10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Components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8559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91270" y="322631"/>
            <a:ext cx="916181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f00"/>
                </a:solidFill>
                <a:latin typeface="DejaVu Sans"/>
                <a:cs typeface="DejaVu Sans"/>
              </a:rPr>
              <a:t>(Intent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6f00"/>
                </a:solidFill>
                <a:latin typeface="DejaVu Sans"/>
                <a:cs typeface="DejaVu Sans"/>
              </a:rPr>
              <a:t>ẩn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6f00"/>
                </a:solidFill>
                <a:latin typeface="DejaVu Sans"/>
                <a:cs typeface="DejaVu Sans"/>
              </a:rPr>
              <a:t>danh)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9462" y="1417536"/>
            <a:ext cx="171646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46254" y="1417536"/>
            <a:ext cx="89288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0470" y="1896050"/>
            <a:ext cx="5032186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Không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cụ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thể,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tả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262" y="1896050"/>
            <a:ext cx="468157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Google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Chrome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truy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cập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trang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web.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46254" y="2912961"/>
            <a:ext cx="289826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phổ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93854" y="3439100"/>
            <a:ext cx="934747" cy="1404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Browser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Phone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Camera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Map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03262" y="3515300"/>
            <a:ext cx="4643052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tìm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phù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hợp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2819" y="4612184"/>
            <a:ext cx="113237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Auto-Routing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80208" y="4612184"/>
            <a:ext cx="16381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Dynamic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Resolution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4270" y="5552895"/>
            <a:ext cx="199608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Đoạn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0d47a1"/>
                </a:solidFill>
                <a:latin typeface="DejaVu Sans"/>
                <a:cs typeface="DejaVu Sans"/>
              </a:rPr>
              <a:t>mã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37262" y="5552895"/>
            <a:ext cx="29933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Luồng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4827" y="6113557"/>
            <a:ext cx="4165441" cy="573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0d47a1"/>
                </a:solidFill>
                <a:latin typeface="Liberation Mono"/>
                <a:cs typeface="Liberation Mono"/>
              </a:rPr>
              <a:t>=</a:t>
            </a:r>
            <a:r>
              <a:rPr dirty="0" sz="1050" spc="30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Intent(Intent.ACTION_VIEW)</a:t>
            </a:r>
          </a:p>
          <a:p>
            <a:pPr marL="0" marR="0">
              <a:lnSpc>
                <a:spcPts val="121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intent.data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0d47a1"/>
                </a:solidFill>
                <a:latin typeface="Liberation Mono"/>
                <a:cs typeface="Liberation Mono"/>
              </a:rPr>
              <a:t>=</a:t>
            </a:r>
            <a:r>
              <a:rPr dirty="0" sz="1050" spc="30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Uri.parse("https://www.google.com")</a:t>
            </a:r>
          </a:p>
          <a:p>
            <a:pPr marL="0" marR="0">
              <a:lnSpc>
                <a:spcPts val="121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startActivity(intent)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15545" y="6621959"/>
            <a:ext cx="89605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953374" y="6621959"/>
            <a:ext cx="157703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6f00"/>
                </a:solidFill>
                <a:latin typeface="DejaVu Sans"/>
                <a:cs typeface="DejaVu Sans"/>
              </a:rPr>
              <a:t>Giải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ff6f00"/>
                </a:solidFill>
                <a:latin typeface="DejaVu Sans"/>
                <a:cs typeface="DejaVu Sans"/>
              </a:rPr>
              <a:t>quyết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6f00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072240" y="6621959"/>
            <a:ext cx="15994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tiêu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2819" y="7022009"/>
            <a:ext cx="5779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22549" y="7022009"/>
            <a:ext cx="118634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ACTION_VIEW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960392" y="7603788"/>
            <a:ext cx="521333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Fragment...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8559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91270" y="322631"/>
            <a:ext cx="916181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f00"/>
                </a:solidFill>
                <a:latin typeface="DejaVu Sans"/>
                <a:cs typeface="DejaVu Sans"/>
              </a:rPr>
              <a:t>(Intent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6f00"/>
                </a:solidFill>
                <a:latin typeface="DejaVu Sans"/>
                <a:cs typeface="DejaVu Sans"/>
              </a:rPr>
              <a:t>ẩn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6f00"/>
                </a:solidFill>
                <a:latin typeface="DejaVu Sans"/>
                <a:cs typeface="DejaVu Sans"/>
              </a:rPr>
              <a:t>danh)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9462" y="1417536"/>
            <a:ext cx="171646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46254" y="1417536"/>
            <a:ext cx="89288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0470" y="1896050"/>
            <a:ext cx="5032186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Không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cụ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thể,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tả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262" y="1896050"/>
            <a:ext cx="468157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Google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Chrome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truy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cập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trang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web.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46254" y="2912961"/>
            <a:ext cx="289826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phổ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93854" y="3439100"/>
            <a:ext cx="934747" cy="1404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Browser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Phone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Camera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Map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03262" y="3515300"/>
            <a:ext cx="4643052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tìm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phù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hợp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2819" y="4612184"/>
            <a:ext cx="113237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Auto-Routing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80208" y="4612184"/>
            <a:ext cx="16381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Dynamic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Resolution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4270" y="5552895"/>
            <a:ext cx="199608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Đoạn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0d47a1"/>
                </a:solidFill>
                <a:latin typeface="DejaVu Sans"/>
                <a:cs typeface="DejaVu Sans"/>
              </a:rPr>
              <a:t>mã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37262" y="5552895"/>
            <a:ext cx="29933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Luồng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4827" y="6113557"/>
            <a:ext cx="4165441" cy="573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0d47a1"/>
                </a:solidFill>
                <a:latin typeface="Liberation Mono"/>
                <a:cs typeface="Liberation Mono"/>
              </a:rPr>
              <a:t>=</a:t>
            </a:r>
            <a:r>
              <a:rPr dirty="0" sz="1050" spc="30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Intent(Intent.ACTION_VIEW)</a:t>
            </a:r>
          </a:p>
          <a:p>
            <a:pPr marL="0" marR="0">
              <a:lnSpc>
                <a:spcPts val="121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intent.data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0d47a1"/>
                </a:solidFill>
                <a:latin typeface="Liberation Mono"/>
                <a:cs typeface="Liberation Mono"/>
              </a:rPr>
              <a:t>=</a:t>
            </a:r>
            <a:r>
              <a:rPr dirty="0" sz="1050" spc="30">
                <a:solidFill>
                  <a:srgbClr val="0d47a1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Uri.parse("https://www.google.com")</a:t>
            </a:r>
          </a:p>
          <a:p>
            <a:pPr marL="0" marR="0">
              <a:lnSpc>
                <a:spcPts val="121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Liberation Mono"/>
                <a:cs typeface="Liberation Mono"/>
              </a:rPr>
              <a:t>startActivity(intent)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15545" y="6621959"/>
            <a:ext cx="89605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953374" y="6621959"/>
            <a:ext cx="157703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6f00"/>
                </a:solidFill>
                <a:latin typeface="DejaVu Sans"/>
                <a:cs typeface="DejaVu Sans"/>
              </a:rPr>
              <a:t>Giải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ff6f00"/>
                </a:solidFill>
                <a:latin typeface="DejaVu Sans"/>
                <a:cs typeface="DejaVu Sans"/>
              </a:rPr>
              <a:t>quyết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6f00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072240" y="6621959"/>
            <a:ext cx="15994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tiêu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2819" y="7022009"/>
            <a:ext cx="5779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22549" y="7022009"/>
            <a:ext cx="118634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ACTION_VIEW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960392" y="7603788"/>
            <a:ext cx="521333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0d47a1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Fragment...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001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94185" y="357892"/>
            <a:ext cx="7755927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30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ff6f00"/>
                </a:solidFill>
                <a:latin typeface="DejaVu Sans"/>
                <a:cs typeface="DejaVu Sans"/>
              </a:rPr>
              <a:t>Implicit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6f00"/>
                </a:solidFill>
                <a:latin typeface="DejaVu Sans"/>
                <a:cs typeface="DejaVu Sans"/>
              </a:rPr>
              <a:t>Intent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phổ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0d47a1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362" y="1278329"/>
            <a:ext cx="190472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Gọi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Điện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Thoại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36641" y="1278329"/>
            <a:ext cx="128470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Email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31919" y="1278329"/>
            <a:ext cx="130826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Chụp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2370" y="1756843"/>
            <a:ext cx="3097926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quay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điện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thoại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được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sẵn.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27648" y="1756843"/>
            <a:ext cx="2962183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email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điền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sẵn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nhận,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chủ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đề,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dung.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22926" y="1756843"/>
            <a:ext cx="3178808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camera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mặc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thể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chụp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bức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ảnh.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83484" y="2405297"/>
            <a:ext cx="115340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ACTION_SEND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8206" y="2519597"/>
            <a:ext cx="109489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ACTION_DIAL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83484" y="2710097"/>
            <a:ext cx="1877552" cy="5014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0" b="1">
                <a:solidFill>
                  <a:srgbClr val="0d47a1"/>
                </a:solidFill>
                <a:latin typeface="DejaVu Sans"/>
                <a:cs typeface="DejaVu Sans"/>
              </a:rPr>
              <a:t>Type:</a:t>
            </a:r>
            <a:r>
              <a:rPr dirty="0" sz="1000" spc="2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message/rfc822</a:t>
            </a:r>
          </a:p>
          <a:p>
            <a:pPr marL="0" marR="0">
              <a:lnSpc>
                <a:spcPts val="1173"/>
              </a:lnSpc>
              <a:spcBef>
                <a:spcPts val="1251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Extras: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EXTRA_EMAIL,...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8206" y="2833922"/>
            <a:ext cx="183430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URI: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tel:[số_điện_thoại]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78762" y="2900597"/>
            <a:ext cx="1955125" cy="5014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ACTION_IMAGE_CAPTURE</a:t>
            </a:r>
          </a:p>
          <a:p>
            <a:pPr marL="0" marR="0">
              <a:lnSpc>
                <a:spcPts val="1173"/>
              </a:lnSpc>
              <a:spcBef>
                <a:spcPts val="1251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MediaStore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02927" y="3343941"/>
            <a:ext cx="889498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uri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927" y="3534441"/>
            <a:ext cx="2282041" cy="3927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Uri.parse("tel:123456789")</a:t>
            </a:r>
          </a:p>
          <a:p>
            <a:pPr marL="0" marR="0">
              <a:lnSpc>
                <a:spcPts val="1217"/>
              </a:lnSpc>
              <a:spcBef>
                <a:spcPts val="357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98205" y="3534441"/>
            <a:ext cx="1135192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98205" y="3734466"/>
            <a:ext cx="2609365" cy="3832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Intent(Intent.ACTION_SEND)</a:t>
            </a:r>
          </a:p>
          <a:p>
            <a:pPr marL="0" marR="0">
              <a:lnSpc>
                <a:spcPts val="121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intent.type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050" spc="3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"message/rfc822"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593483" y="3734466"/>
            <a:ext cx="1135194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02927" y="3924966"/>
            <a:ext cx="2691266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Intent(Intent.ACTION_DIAL,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uri)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593483" y="3924966"/>
            <a:ext cx="3183044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Intent(MediaStore.ACTION_IMAGE_CAPTUR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89656" y="5747063"/>
            <a:ext cx="6267968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"Implicit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Intents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bạn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biết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chính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xác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nào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sẽ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1">
                <a:solidFill>
                  <a:srgbClr val="0d47a1"/>
                </a:solidFill>
                <a:latin typeface="DejaVu Sans"/>
                <a:cs typeface="DejaVu Sans"/>
              </a:rPr>
              <a:t>đó."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960392" y="7748822"/>
            <a:ext cx="521333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6b7280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Fragment...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001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94185" y="357892"/>
            <a:ext cx="7755927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30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ff6f00"/>
                </a:solidFill>
                <a:latin typeface="DejaVu Sans"/>
                <a:cs typeface="DejaVu Sans"/>
              </a:rPr>
              <a:t>Implicit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6f00"/>
                </a:solidFill>
                <a:latin typeface="DejaVu Sans"/>
                <a:cs typeface="DejaVu Sans"/>
              </a:rPr>
              <a:t>Intent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phổ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0d47a1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362" y="1278329"/>
            <a:ext cx="190472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Gọi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Điện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Thoại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36641" y="1278329"/>
            <a:ext cx="128470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Email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31919" y="1278329"/>
            <a:ext cx="130826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Chụp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2370" y="1756843"/>
            <a:ext cx="3097926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quay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điện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thoại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được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sẵn.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27648" y="1756843"/>
            <a:ext cx="2962183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email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điền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sẵn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nhận,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chủ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đề,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dung.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22926" y="1756843"/>
            <a:ext cx="3178808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camera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mặc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thể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chụp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bức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ảnh.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83484" y="2405297"/>
            <a:ext cx="115340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ACTION_SEND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8206" y="2519597"/>
            <a:ext cx="109489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ACTION_DIAL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83484" y="2710097"/>
            <a:ext cx="1877552" cy="5014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0" b="1">
                <a:solidFill>
                  <a:srgbClr val="0d47a1"/>
                </a:solidFill>
                <a:latin typeface="DejaVu Sans"/>
                <a:cs typeface="DejaVu Sans"/>
              </a:rPr>
              <a:t>Type:</a:t>
            </a:r>
            <a:r>
              <a:rPr dirty="0" sz="1000" spc="2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message/rfc822</a:t>
            </a:r>
          </a:p>
          <a:p>
            <a:pPr marL="0" marR="0">
              <a:lnSpc>
                <a:spcPts val="1173"/>
              </a:lnSpc>
              <a:spcBef>
                <a:spcPts val="1251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Extras: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EXTRA_EMAIL,...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8206" y="2833922"/>
            <a:ext cx="183430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URI: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tel:[số_điện_thoại]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78762" y="2900597"/>
            <a:ext cx="1955125" cy="5014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ACTION_IMAGE_CAPTURE</a:t>
            </a:r>
          </a:p>
          <a:p>
            <a:pPr marL="0" marR="0">
              <a:lnSpc>
                <a:spcPts val="1173"/>
              </a:lnSpc>
              <a:spcBef>
                <a:spcPts val="1251"/>
              </a:spcBef>
              <a:spcAft>
                <a:spcPts val="0"/>
              </a:spcAft>
            </a:pPr>
            <a:r>
              <a:rPr dirty="0" sz="1000" b="1">
                <a:solidFill>
                  <a:srgbClr val="0d47a1"/>
                </a:solidFill>
                <a:latin typeface="DejaVu Sans"/>
                <a:cs typeface="DejaVu Sans"/>
              </a:rPr>
              <a:t>MediaStore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02927" y="3343941"/>
            <a:ext cx="889498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uri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927" y="3534441"/>
            <a:ext cx="2282041" cy="3927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Uri.parse("tel:123456789")</a:t>
            </a:r>
          </a:p>
          <a:p>
            <a:pPr marL="0" marR="0">
              <a:lnSpc>
                <a:spcPts val="1217"/>
              </a:lnSpc>
              <a:spcBef>
                <a:spcPts val="357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98205" y="3534441"/>
            <a:ext cx="1135192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98205" y="3734466"/>
            <a:ext cx="2609365" cy="3832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Intent(Intent.ACTION_SEND)</a:t>
            </a:r>
          </a:p>
          <a:p>
            <a:pPr marL="0" marR="0">
              <a:lnSpc>
                <a:spcPts val="121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intent.type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050" spc="3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"message/rfc822"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593483" y="3734466"/>
            <a:ext cx="1135194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val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02927" y="3924966"/>
            <a:ext cx="2691266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Intent(Intent.ACTION_DIAL,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uri)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593483" y="3924966"/>
            <a:ext cx="3183044" cy="1927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f8f8f2"/>
                </a:solidFill>
                <a:latin typeface="Liberation Mono"/>
                <a:cs typeface="Liberation Mono"/>
              </a:rPr>
              <a:t>Intent(MediaStore.ACTION_IMAGE_CAPTUR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89656" y="5747063"/>
            <a:ext cx="6267968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"Implicit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Intents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bạn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biết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chính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xác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nào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sẽ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yêu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1">
                <a:solidFill>
                  <a:srgbClr val="0d47a1"/>
                </a:solidFill>
                <a:latin typeface="DejaVu Sans"/>
                <a:cs typeface="DejaVu Sans"/>
              </a:rPr>
              <a:t>đó."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960392" y="7748822"/>
            <a:ext cx="521333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6b7280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Fragment...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57362" y="429565"/>
            <a:ext cx="951440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83" b="1">
                <a:solidFill>
                  <a:srgbClr val="0c4a6e"/>
                </a:solidFill>
                <a:latin typeface="DejaVu Sans"/>
                <a:cs typeface="DejaVu Sans"/>
              </a:rPr>
              <a:t>Truyền</a:t>
            </a:r>
            <a:r>
              <a:rPr dirty="0" sz="4050" spc="63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405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c4a6e"/>
                </a:solidFill>
                <a:latin typeface="DejaVu Sans"/>
                <a:cs typeface="DejaVu Sans"/>
              </a:rPr>
              <a:t>liệu</a:t>
            </a:r>
            <a:r>
              <a:rPr dirty="0" sz="4050" spc="-1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c4a6e"/>
                </a:solidFill>
                <a:latin typeface="DejaVu Sans"/>
                <a:cs typeface="DejaVu Sans"/>
              </a:rPr>
              <a:t>bằng</a:t>
            </a:r>
            <a:r>
              <a:rPr dirty="0" sz="405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97706"/>
                </a:solidFill>
                <a:latin typeface="DejaVu Sans"/>
                <a:cs typeface="DejaVu Sans"/>
              </a:rPr>
              <a:t>Intent</a:t>
            </a:r>
            <a:r>
              <a:rPr dirty="0" sz="4050" b="1">
                <a:solidFill>
                  <a:srgbClr val="d97706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97706"/>
                </a:solidFill>
                <a:latin typeface="DejaVu Sans"/>
                <a:cs typeface="DejaVu Sans"/>
              </a:rPr>
              <a:t>Extra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501" y="1657821"/>
            <a:ext cx="383194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c4a6e"/>
                </a:solidFill>
                <a:latin typeface="DejaVu Sans"/>
                <a:cs typeface="DejaVu Sans"/>
              </a:rPr>
              <a:t>Gửi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liệu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(MainActivity)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83771" y="1657821"/>
            <a:ext cx="426254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c4a6e"/>
                </a:solidFill>
                <a:latin typeface="DejaVu Sans"/>
                <a:cs typeface="DejaVu Sans"/>
              </a:rPr>
              <a:t>Nhận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liệu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(DetailActivity)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5166" y="2260914"/>
            <a:ext cx="407342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Phương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pháp: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`putExtra`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gửi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83436" y="2260914"/>
            <a:ext cx="439796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Phương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pháp: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`get...Extra`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7066" y="2895087"/>
            <a:ext cx="3198496" cy="10550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200" spc="405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Intent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(this,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DetailActivity::class.java)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putExtra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"username"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200" spc="-28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"Tra"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putExtra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"age"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200" spc="-28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87171"/>
                </a:solidFill>
                <a:latin typeface="Liberation Mono"/>
                <a:cs typeface="Liberation Mono"/>
              </a:rPr>
              <a:t>10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startActivity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(intent)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45336" y="2895087"/>
            <a:ext cx="4452522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200" spc="405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username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getStringExtra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"username"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45336" y="3104637"/>
            <a:ext cx="3556725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200" spc="405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age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getIntExtra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"age"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200" spc="-28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87171"/>
                </a:solidFill>
                <a:latin typeface="Liberation Mono"/>
                <a:cs typeface="Liberation Mono"/>
              </a:rPr>
              <a:t>0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73328" y="3691173"/>
            <a:ext cx="86742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username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100118" y="3691173"/>
            <a:ext cx="41724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age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76852" y="3691173"/>
            <a:ext cx="11248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default_value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5058" y="4329348"/>
            <a:ext cx="86742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username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71848" y="4329348"/>
            <a:ext cx="41724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age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19746" y="5431983"/>
            <a:ext cx="200659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Lưu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ý</a:t>
            </a:r>
            <a:r>
              <a:rPr dirty="0" sz="1500" spc="11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quan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19746" y="5718488"/>
            <a:ext cx="8490866" cy="241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Giá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trị</a:t>
            </a:r>
            <a:r>
              <a:rPr dirty="0" sz="1350" spc="334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0</a:t>
            </a:r>
            <a:r>
              <a:rPr dirty="0" sz="1200" spc="27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350" spc="-10">
                <a:solidFill>
                  <a:srgbClr val="0c4a6e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`getIntExtra("age",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0)`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giá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trị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mặc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trả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nếu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 spc="-28">
                <a:solidFill>
                  <a:srgbClr val="0c4a6e"/>
                </a:solidFill>
                <a:latin typeface="DejaVu Sans"/>
                <a:cs typeface="DejaVu Sans"/>
              </a:rPr>
              <a:t>key</a:t>
            </a:r>
            <a:r>
              <a:rPr dirty="0" sz="1350" spc="2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"age"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tồn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tại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19746" y="5975663"/>
            <a:ext cx="122000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0">
                <a:solidFill>
                  <a:srgbClr val="0c4a6e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Intent.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19762" y="6605822"/>
            <a:ext cx="525402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9ca3af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Fragment</a:t>
            </a:r>
            <a:r>
              <a:rPr dirty="0" sz="1000" spc="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...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57362" y="429565"/>
            <a:ext cx="951440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83" b="1">
                <a:solidFill>
                  <a:srgbClr val="0c4a6e"/>
                </a:solidFill>
                <a:latin typeface="DejaVu Sans"/>
                <a:cs typeface="DejaVu Sans"/>
              </a:rPr>
              <a:t>Truyền</a:t>
            </a:r>
            <a:r>
              <a:rPr dirty="0" sz="4050" spc="63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405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c4a6e"/>
                </a:solidFill>
                <a:latin typeface="DejaVu Sans"/>
                <a:cs typeface="DejaVu Sans"/>
              </a:rPr>
              <a:t>liệu</a:t>
            </a:r>
            <a:r>
              <a:rPr dirty="0" sz="4050" spc="-1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c4a6e"/>
                </a:solidFill>
                <a:latin typeface="DejaVu Sans"/>
                <a:cs typeface="DejaVu Sans"/>
              </a:rPr>
              <a:t>bằng</a:t>
            </a:r>
            <a:r>
              <a:rPr dirty="0" sz="405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97706"/>
                </a:solidFill>
                <a:latin typeface="DejaVu Sans"/>
                <a:cs typeface="DejaVu Sans"/>
              </a:rPr>
              <a:t>Intent</a:t>
            </a:r>
            <a:r>
              <a:rPr dirty="0" sz="4050" b="1">
                <a:solidFill>
                  <a:srgbClr val="d97706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97706"/>
                </a:solidFill>
                <a:latin typeface="DejaVu Sans"/>
                <a:cs typeface="DejaVu Sans"/>
              </a:rPr>
              <a:t>Extra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501" y="1657821"/>
            <a:ext cx="383194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c4a6e"/>
                </a:solidFill>
                <a:latin typeface="DejaVu Sans"/>
                <a:cs typeface="DejaVu Sans"/>
              </a:rPr>
              <a:t>Gửi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liệu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(MainActivity)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83771" y="1657821"/>
            <a:ext cx="426254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c4a6e"/>
                </a:solidFill>
                <a:latin typeface="DejaVu Sans"/>
                <a:cs typeface="DejaVu Sans"/>
              </a:rPr>
              <a:t>Nhận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liệu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c4a6e"/>
                </a:solidFill>
                <a:latin typeface="DejaVu Sans"/>
                <a:cs typeface="DejaVu Sans"/>
              </a:rPr>
              <a:t>(DetailActivity)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5166" y="2260914"/>
            <a:ext cx="407342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Phương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pháp: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`putExtra`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gửi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83436" y="2260914"/>
            <a:ext cx="439796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Phương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pháp: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`get...Extra`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7066" y="2895087"/>
            <a:ext cx="3198496" cy="10550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200" spc="405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Intent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(this,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DetailActivity::class.java)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putExtra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"username"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200" spc="-28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"Tra"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putExtra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"age"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200" spc="-28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87171"/>
                </a:solidFill>
                <a:latin typeface="Liberation Mono"/>
                <a:cs typeface="Liberation Mono"/>
              </a:rPr>
              <a:t>10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startActivity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(intent)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45336" y="2895087"/>
            <a:ext cx="4452522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200" spc="405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username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getStringExtra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"username"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45336" y="3104637"/>
            <a:ext cx="3556725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200" spc="405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age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spc="-15">
                <a:solidFill>
                  <a:srgbClr val="facc15"/>
                </a:solidFill>
                <a:latin typeface="Liberation Mono"/>
                <a:cs typeface="Liberation Mono"/>
              </a:rPr>
              <a:t>getIntExtra</a:t>
            </a:r>
            <a:r>
              <a:rPr dirty="0" sz="1200" spc="-15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"age"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200" spc="-28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87171"/>
                </a:solidFill>
                <a:latin typeface="Liberation Mono"/>
                <a:cs typeface="Liberation Mono"/>
              </a:rPr>
              <a:t>0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73328" y="3691173"/>
            <a:ext cx="86742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username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100118" y="3691173"/>
            <a:ext cx="41724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age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76852" y="3691173"/>
            <a:ext cx="11248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default_value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5058" y="4329348"/>
            <a:ext cx="86742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username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71848" y="4329348"/>
            <a:ext cx="41724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age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19746" y="5431983"/>
            <a:ext cx="200659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Lưu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ý</a:t>
            </a:r>
            <a:r>
              <a:rPr dirty="0" sz="1500" spc="11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quan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c4a6e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19746" y="5718488"/>
            <a:ext cx="8490866" cy="241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Giá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trị</a:t>
            </a:r>
            <a:r>
              <a:rPr dirty="0" sz="1350" spc="334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0</a:t>
            </a:r>
            <a:r>
              <a:rPr dirty="0" sz="1200" spc="27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350" spc="-10">
                <a:solidFill>
                  <a:srgbClr val="0c4a6e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`getIntExtra("age",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0)`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giá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trị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mặc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trả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nếu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 spc="-28">
                <a:solidFill>
                  <a:srgbClr val="0c4a6e"/>
                </a:solidFill>
                <a:latin typeface="DejaVu Sans"/>
                <a:cs typeface="DejaVu Sans"/>
              </a:rPr>
              <a:t>key</a:t>
            </a:r>
            <a:r>
              <a:rPr dirty="0" sz="1350" spc="21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"age"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tồn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tại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19746" y="5975663"/>
            <a:ext cx="122000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0">
                <a:solidFill>
                  <a:srgbClr val="0c4a6e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c4a6e"/>
                </a:solidFill>
                <a:latin typeface="DejaVu Sans"/>
                <a:cs typeface="DejaVu Sans"/>
              </a:rPr>
              <a:t>Intent.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19762" y="6605822"/>
            <a:ext cx="525402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Diﬀerent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9ca3af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Intents,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Fragment</a:t>
            </a:r>
            <a:r>
              <a:rPr dirty="0" sz="1000" spc="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...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1567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71488" y="389306"/>
            <a:ext cx="981001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83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4050" spc="6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bằng</a:t>
            </a:r>
            <a:r>
              <a:rPr dirty="0" sz="4050" spc="-40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Bundle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9510" y="1672536"/>
            <a:ext cx="341091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Bundle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5066" y="1672536"/>
            <a:ext cx="209552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324675"/>
            <a:ext cx="500546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`Bundle`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như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"túi"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chứa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liệu,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hỗ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trợ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kiểu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giá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trị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khác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78525" y="2570365"/>
            <a:ext cx="230221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8be9fd"/>
                </a:solidFill>
                <a:latin typeface="Liberation Mono"/>
                <a:cs typeface="Liberation Mono"/>
              </a:rPr>
              <a:t>Bundle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78525" y="2827540"/>
            <a:ext cx="3325748" cy="48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putString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'name'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'Tra'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putInt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'age'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bd93f9"/>
                </a:solidFill>
                <a:latin typeface="Liberation Mono"/>
                <a:cs typeface="Liberation Mono"/>
              </a:rPr>
              <a:t>10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2968" y="3086675"/>
            <a:ext cx="480928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Bundle:</a:t>
            </a:r>
            <a:r>
              <a:rPr dirty="0" sz="1500" spc="-4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Khởi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2968" y="3391475"/>
            <a:ext cx="400098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`Bundle`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rỗng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chuẩn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bị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chứa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78525" y="3599065"/>
            <a:ext cx="557744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8be9fd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(this,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8be9fd"/>
                </a:solidFill>
                <a:latin typeface="Liberation Mono"/>
                <a:cs typeface="Liberation Mono"/>
              </a:rPr>
              <a:t>DetailActivity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::class.java)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2968" y="3810575"/>
            <a:ext cx="4851740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Thêm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liệu:</a:t>
            </a:r>
            <a:r>
              <a:rPr dirty="0" sz="1500" spc="-4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thức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`putX`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(ví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dụ: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`putString`,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`putInt`)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thêm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`Bundle`.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78525" y="3856240"/>
            <a:ext cx="261070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intent.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putExtras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(bundle)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07819" y="4555788"/>
            <a:ext cx="98217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Kotlin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93520" y="4555788"/>
            <a:ext cx="161638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Intent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Data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spc="-10" b="1">
                <a:solidFill>
                  <a:srgbClr val="9a3412"/>
                </a:solidFill>
                <a:latin typeface="DejaVu Sans"/>
                <a:cs typeface="DejaVu Sans"/>
              </a:rPr>
              <a:t>Transfer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205066" y="5682561"/>
            <a:ext cx="243456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64741" y="6539810"/>
            <a:ext cx="302484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Ưu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điểm</a:t>
            </a: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nổi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78525" y="6580389"/>
            <a:ext cx="250654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//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Trong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DetailActivity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78525" y="6837564"/>
            <a:ext cx="281372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intent.extras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3184" y="7143570"/>
            <a:ext cx="4575838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1f2937"/>
                </a:solidFill>
                <a:latin typeface="DejaVu Sans"/>
                <a:cs typeface="DejaVu Sans"/>
              </a:rPr>
              <a:t>Gom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nhóm</a:t>
            </a:r>
            <a:r>
              <a:rPr dirty="0" sz="1700" spc="-14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DejaVu Sans"/>
                <a:cs typeface="DejaVu Sans"/>
              </a:rPr>
              <a:t>hiệu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quả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DejaVu Sans"/>
                <a:cs typeface="DejaVu Sans"/>
              </a:rPr>
              <a:t>loại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dữ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liệu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nhau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vào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1f2937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đối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tượng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duy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778525" y="7351914"/>
            <a:ext cx="383756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name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bundle?.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getString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'name'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78525" y="7609089"/>
            <a:ext cx="332574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age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bundle?.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getInt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'age'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41176" y="7945934"/>
            <a:ext cx="13362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Đa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dạng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09080" y="7945934"/>
            <a:ext cx="167172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Gọn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gàng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Tổ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chức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607819" y="8308638"/>
            <a:ext cx="98217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Kotlin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693520" y="8308638"/>
            <a:ext cx="127778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Data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Extraction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795866" y="8784134"/>
            <a:ext cx="22072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1567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71488" y="389306"/>
            <a:ext cx="981001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83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4050" spc="6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bằng</a:t>
            </a:r>
            <a:r>
              <a:rPr dirty="0" sz="4050" spc="-40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Bundle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9510" y="1672536"/>
            <a:ext cx="341091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Bundle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5066" y="1672536"/>
            <a:ext cx="209552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324675"/>
            <a:ext cx="500546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`Bundle`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như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"túi"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chứa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liệu,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hỗ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trợ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kiểu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giá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trị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khác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78525" y="2570365"/>
            <a:ext cx="230221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8be9fd"/>
                </a:solidFill>
                <a:latin typeface="Liberation Mono"/>
                <a:cs typeface="Liberation Mono"/>
              </a:rPr>
              <a:t>Bundle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78525" y="2827540"/>
            <a:ext cx="3325748" cy="48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putString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'name'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'Tra'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putInt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'age'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bd93f9"/>
                </a:solidFill>
                <a:latin typeface="Liberation Mono"/>
                <a:cs typeface="Liberation Mono"/>
              </a:rPr>
              <a:t>10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2968" y="3086675"/>
            <a:ext cx="480928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Bundle:</a:t>
            </a:r>
            <a:r>
              <a:rPr dirty="0" sz="1500" spc="-4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Khởi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2968" y="3391475"/>
            <a:ext cx="400098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`Bundle`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rỗng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chuẩn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bị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chứa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78525" y="3599065"/>
            <a:ext cx="557744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8be9fd"/>
                </a:solidFill>
                <a:latin typeface="Liberation Mono"/>
                <a:cs typeface="Liberation Mono"/>
              </a:rPr>
              <a:t>Intent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(this,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8be9fd"/>
                </a:solidFill>
                <a:latin typeface="Liberation Mono"/>
                <a:cs typeface="Liberation Mono"/>
              </a:rPr>
              <a:t>DetailActivity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::class.java)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2968" y="3810575"/>
            <a:ext cx="4851740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Thêm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DejaVu Sans"/>
                <a:cs typeface="DejaVu Sans"/>
              </a:rPr>
              <a:t>liệu:</a:t>
            </a:r>
            <a:r>
              <a:rPr dirty="0" sz="1500" spc="-4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thức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`putX`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(ví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dụ: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`putString`,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`putInt`)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thêm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`Bundle`.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78525" y="3856240"/>
            <a:ext cx="261070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intent.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putExtras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(bundle)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07819" y="4555788"/>
            <a:ext cx="98217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Kotlin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93520" y="4555788"/>
            <a:ext cx="161638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Intent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Data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spc="-10" b="1">
                <a:solidFill>
                  <a:srgbClr val="9a3412"/>
                </a:solidFill>
                <a:latin typeface="DejaVu Sans"/>
                <a:cs typeface="DejaVu Sans"/>
              </a:rPr>
              <a:t>Transfer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205066" y="5682561"/>
            <a:ext cx="243456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64741" y="6539810"/>
            <a:ext cx="302484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Ưu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điểm</a:t>
            </a: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nổi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78525" y="6580389"/>
            <a:ext cx="250654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//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Trong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6272a4"/>
                </a:solidFill>
                <a:latin typeface="Liberation Mono"/>
                <a:cs typeface="Liberation Mono"/>
              </a:rPr>
              <a:t>DetailActivity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78525" y="6837564"/>
            <a:ext cx="281372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intent.extras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3184" y="7143570"/>
            <a:ext cx="4575838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1f2937"/>
                </a:solidFill>
                <a:latin typeface="DejaVu Sans"/>
                <a:cs typeface="DejaVu Sans"/>
              </a:rPr>
              <a:t>Gom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nhóm</a:t>
            </a:r>
            <a:r>
              <a:rPr dirty="0" sz="1700" spc="-14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DejaVu Sans"/>
                <a:cs typeface="DejaVu Sans"/>
              </a:rPr>
              <a:t>hiệu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quả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DejaVu Sans"/>
                <a:cs typeface="DejaVu Sans"/>
              </a:rPr>
              <a:t>loại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dữ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liệu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nhau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vào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1f2937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đối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tượng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DejaVu Sans"/>
                <a:cs typeface="DejaVu Sans"/>
              </a:rPr>
              <a:t>duy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778525" y="7351914"/>
            <a:ext cx="383756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name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bundle?.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getString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'name'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78525" y="7609089"/>
            <a:ext cx="332574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9c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f79c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age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bundle?.</a:t>
            </a:r>
            <a:r>
              <a:rPr dirty="0" sz="1350">
                <a:solidFill>
                  <a:srgbClr val="50fa7b"/>
                </a:solidFill>
                <a:latin typeface="Liberation Mono"/>
                <a:cs typeface="Liberation Mono"/>
              </a:rPr>
              <a:t>getInt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1fa8c"/>
                </a:solidFill>
                <a:latin typeface="Liberation Mono"/>
                <a:cs typeface="Liberation Mono"/>
              </a:rPr>
              <a:t>'age'</a:t>
            </a:r>
            <a:r>
              <a:rPr dirty="0" sz="1350">
                <a:solidFill>
                  <a:srgbClr val="f8f8f2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41176" y="7945934"/>
            <a:ext cx="13362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Đa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dạng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09080" y="7945934"/>
            <a:ext cx="167172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Gọn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gàng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Tổ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chức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607819" y="8308638"/>
            <a:ext cx="98217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Kotlin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693520" y="8308638"/>
            <a:ext cx="127778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Data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e40af"/>
                </a:solidFill>
                <a:latin typeface="DejaVu Sans"/>
                <a:cs typeface="DejaVu Sans"/>
              </a:rPr>
              <a:t>Extraction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795866" y="8784134"/>
            <a:ext cx="22072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455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3907" y="323139"/>
            <a:ext cx="839649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83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4050" spc="6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d47a1"/>
                </a:solidFill>
                <a:latin typeface="DejaVu Sans"/>
                <a:cs typeface="DejaVu Sans"/>
              </a:rPr>
              <a:t>Object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với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23" b="1">
                <a:solidFill>
                  <a:srgbClr val="ff6f00"/>
                </a:solidFill>
                <a:latin typeface="DejaVu Sans"/>
                <a:cs typeface="DejaVu Sans"/>
              </a:rPr>
              <a:t>Parcelable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9827" y="1370419"/>
            <a:ext cx="38217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9462" y="1418044"/>
            <a:ext cx="143523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2439" y="1934657"/>
            <a:ext cx="4343629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500" spc="4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(object)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60332" y="2261296"/>
            <a:ext cx="1718125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//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C</a:t>
            </a:r>
            <a:r>
              <a:rPr dirty="0" sz="1200" spc="11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n</a:t>
            </a:r>
            <a:r>
              <a:rPr dirty="0" sz="1200" spc="1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annotation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28653" y="2246601"/>
            <a:ext cx="337281" cy="216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DejaVu Sans Mono"/>
                <a:cs typeface="DejaVu Sans Mono"/>
              </a:rPr>
              <a:t>ầ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50383" y="2508946"/>
            <a:ext cx="1073807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@Parcelize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19956" y="2736267"/>
            <a:ext cx="17188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đổi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46685" y="2736267"/>
            <a:ext cx="120189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200" spc="-1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60332" y="3004246"/>
            <a:ext cx="1073807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@Parcelize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60332" y="3490021"/>
            <a:ext cx="2178429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data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 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class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4fc3f7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(val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79462" y="3732619"/>
            <a:ext cx="126598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87" b="1">
                <a:solidFill>
                  <a:srgbClr val="0d47a1"/>
                </a:solidFill>
                <a:latin typeface="DejaVu Sans"/>
                <a:cs typeface="DejaVu Sans"/>
              </a:rPr>
              <a:t>Yê</a:t>
            </a:r>
            <a:r>
              <a:rPr dirty="0" sz="2000" spc="-686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u</a:t>
            </a:r>
            <a:r>
              <a:rPr dirty="0" sz="2000" spc="1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50383" y="3737671"/>
            <a:ext cx="3835812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name: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String,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val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age: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Int)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:</a:t>
            </a:r>
            <a:r>
              <a:rPr dirty="0" sz="1200" spc="1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Parcelable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82439" y="4258757"/>
            <a:ext cx="358064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phải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implement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60332" y="4456402"/>
            <a:ext cx="1349803" cy="226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//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G</a:t>
            </a:r>
            <a:r>
              <a:rPr dirty="0" sz="1200">
                <a:solidFill>
                  <a:srgbClr val="90a4ae"/>
                </a:solidFill>
                <a:latin typeface="DejaVu Sans Mono"/>
                <a:cs typeface="DejaVu Sans Mono"/>
              </a:rPr>
              <a:t>ử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i</a:t>
            </a:r>
            <a:r>
              <a:rPr dirty="0" sz="1200" spc="1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Object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67717" y="4563557"/>
            <a:ext cx="1450944" cy="2689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Liberation Mono"/>
                <a:cs typeface="Liberation Mono"/>
              </a:rPr>
              <a:t>Parcelable</a:t>
            </a:r>
            <a:r>
              <a:rPr dirty="0" sz="1500" spc="297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60332" y="4966396"/>
            <a:ext cx="1349505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val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19956" y="5069892"/>
            <a:ext cx="104307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Chuẩn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71005" y="5069892"/>
            <a:ext cx="95522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650383" y="5214046"/>
            <a:ext cx="1809919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fc3f7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("Tra",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10)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60332" y="5699821"/>
            <a:ext cx="2548061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putExtra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("student",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650383" y="5947471"/>
            <a:ext cx="889526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student)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9462" y="6066244"/>
            <a:ext cx="93600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Lưu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ý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82439" y="6554282"/>
            <a:ext cx="4116309" cy="2689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kích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plugin</a:t>
            </a:r>
            <a:r>
              <a:rPr dirty="0" sz="1500" spc="67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Liberation Mono"/>
                <a:cs typeface="Liberation Mono"/>
              </a:rPr>
              <a:t>kotlin-parcelize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860332" y="6666201"/>
            <a:ext cx="1441884" cy="226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//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Nh</a:t>
            </a:r>
            <a:r>
              <a:rPr dirty="0" sz="1200">
                <a:solidFill>
                  <a:srgbClr val="90a4ae"/>
                </a:solidFill>
                <a:latin typeface="DejaVu Sans Mono"/>
                <a:cs typeface="DejaVu Sans Mono"/>
              </a:rPr>
              <a:t>ậ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n</a:t>
            </a:r>
            <a:r>
              <a:rPr dirty="0" sz="1200" spc="1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Object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182439" y="6859082"/>
            <a:ext cx="247576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ﬁle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`build.gradle`.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860332" y="7176196"/>
            <a:ext cx="1349505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val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650383" y="7423846"/>
            <a:ext cx="4298737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getParcelableExtra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&lt;</a:t>
            </a:r>
            <a:r>
              <a:rPr dirty="0" sz="1200">
                <a:solidFill>
                  <a:srgbClr val="4fc3f7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&gt;("student")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617344" y="8298867"/>
            <a:ext cx="65084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473254" y="8298867"/>
            <a:ext cx="10402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Data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Class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21476" y="8298867"/>
            <a:ext cx="113701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46" b="1">
                <a:solidFill>
                  <a:srgbClr val="0d47a1"/>
                </a:solidFill>
                <a:latin typeface="DejaVu Sans"/>
                <a:cs typeface="DejaVu Sans"/>
              </a:rPr>
              <a:t>Type</a:t>
            </a:r>
            <a:r>
              <a:rPr dirty="0" sz="12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Safety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455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3907" y="323139"/>
            <a:ext cx="839649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83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4050" spc="63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d47a1"/>
                </a:solidFill>
                <a:latin typeface="DejaVu Sans"/>
                <a:cs typeface="DejaVu Sans"/>
              </a:rPr>
              <a:t>Object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với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23" b="1">
                <a:solidFill>
                  <a:srgbClr val="ff6f00"/>
                </a:solidFill>
                <a:latin typeface="DejaVu Sans"/>
                <a:cs typeface="DejaVu Sans"/>
              </a:rPr>
              <a:t>Parcelable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9827" y="1370419"/>
            <a:ext cx="38217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9462" y="1418044"/>
            <a:ext cx="143523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2439" y="1934657"/>
            <a:ext cx="4343629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500" spc="4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(object)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60332" y="2261296"/>
            <a:ext cx="1718125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//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C</a:t>
            </a:r>
            <a:r>
              <a:rPr dirty="0" sz="1200" spc="11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n</a:t>
            </a:r>
            <a:r>
              <a:rPr dirty="0" sz="1200" spc="1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annotation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28653" y="2246601"/>
            <a:ext cx="337281" cy="216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DejaVu Sans Mono"/>
                <a:cs typeface="DejaVu Sans Mono"/>
              </a:rPr>
              <a:t>ầ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50383" y="2508946"/>
            <a:ext cx="1073807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@Parcelize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19956" y="2736267"/>
            <a:ext cx="17188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Chuyển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đổi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46685" y="2736267"/>
            <a:ext cx="120189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200" spc="-1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60332" y="3004246"/>
            <a:ext cx="1073807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@Parcelize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60332" y="3490021"/>
            <a:ext cx="2178429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data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 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class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4fc3f7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(val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79462" y="3732619"/>
            <a:ext cx="126598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87" b="1">
                <a:solidFill>
                  <a:srgbClr val="0d47a1"/>
                </a:solidFill>
                <a:latin typeface="DejaVu Sans"/>
                <a:cs typeface="DejaVu Sans"/>
              </a:rPr>
              <a:t>Yê</a:t>
            </a:r>
            <a:r>
              <a:rPr dirty="0" sz="2000" spc="-686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u</a:t>
            </a:r>
            <a:r>
              <a:rPr dirty="0" sz="2000" spc="1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50383" y="3737671"/>
            <a:ext cx="3835812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name: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String,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val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age: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Int)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:</a:t>
            </a:r>
            <a:r>
              <a:rPr dirty="0" sz="1200" spc="1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Parcelable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82439" y="4258757"/>
            <a:ext cx="358064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phải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implement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60332" y="4456402"/>
            <a:ext cx="1349803" cy="226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//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G</a:t>
            </a:r>
            <a:r>
              <a:rPr dirty="0" sz="1200">
                <a:solidFill>
                  <a:srgbClr val="90a4ae"/>
                </a:solidFill>
                <a:latin typeface="DejaVu Sans Mono"/>
                <a:cs typeface="DejaVu Sans Mono"/>
              </a:rPr>
              <a:t>ử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i</a:t>
            </a:r>
            <a:r>
              <a:rPr dirty="0" sz="1200" spc="1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Object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67717" y="4563557"/>
            <a:ext cx="1450944" cy="2689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Liberation Mono"/>
                <a:cs typeface="Liberation Mono"/>
              </a:rPr>
              <a:t>Parcelable</a:t>
            </a:r>
            <a:r>
              <a:rPr dirty="0" sz="1500" spc="297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60332" y="4966396"/>
            <a:ext cx="1349505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val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19956" y="5069892"/>
            <a:ext cx="104307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Chuẩn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71005" y="5069892"/>
            <a:ext cx="95522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650383" y="5214046"/>
            <a:ext cx="1809919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fc3f7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("Tra",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10)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60332" y="5699821"/>
            <a:ext cx="2548061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putExtra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("student",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650383" y="5947471"/>
            <a:ext cx="889526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student)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9462" y="6066244"/>
            <a:ext cx="93600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Lưu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ý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82439" y="6554282"/>
            <a:ext cx="4116309" cy="2689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Cần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kích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plugin</a:t>
            </a:r>
            <a:r>
              <a:rPr dirty="0" sz="1500" spc="67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Liberation Mono"/>
                <a:cs typeface="Liberation Mono"/>
              </a:rPr>
              <a:t>kotlin-parcelize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860332" y="6666201"/>
            <a:ext cx="1441884" cy="226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//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Nh</a:t>
            </a:r>
            <a:r>
              <a:rPr dirty="0" sz="1200">
                <a:solidFill>
                  <a:srgbClr val="90a4ae"/>
                </a:solidFill>
                <a:latin typeface="DejaVu Sans Mono"/>
                <a:cs typeface="DejaVu Sans Mono"/>
              </a:rPr>
              <a:t>ậ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n</a:t>
            </a:r>
            <a:r>
              <a:rPr dirty="0" sz="1200" spc="10">
                <a:solidFill>
                  <a:srgbClr val="90a4ae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90a4ae"/>
                </a:solidFill>
                <a:latin typeface="Liberation Mono"/>
                <a:cs typeface="Liberation Mono"/>
              </a:rPr>
              <a:t>Object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182439" y="6859082"/>
            <a:ext cx="247576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ﬁle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`build.gradle`.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860332" y="7176196"/>
            <a:ext cx="1349505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val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650383" y="7423846"/>
            <a:ext cx="4298737" cy="21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intent.</a:t>
            </a:r>
            <a:r>
              <a:rPr dirty="0" sz="1200" b="1">
                <a:solidFill>
                  <a:srgbClr val="ff8f00"/>
                </a:solidFill>
                <a:latin typeface="Liberation Mono"/>
                <a:cs typeface="Liberation Mono"/>
              </a:rPr>
              <a:t>getParcelableExtra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&lt;</a:t>
            </a:r>
            <a:r>
              <a:rPr dirty="0" sz="1200">
                <a:solidFill>
                  <a:srgbClr val="4fc3f7"/>
                </a:solidFill>
                <a:latin typeface="Liberation Mono"/>
                <a:cs typeface="Liberation Mono"/>
              </a:rPr>
              <a:t>Student</a:t>
            </a:r>
            <a:r>
              <a:rPr dirty="0" sz="1200">
                <a:solidFill>
                  <a:srgbClr val="ffffff"/>
                </a:solidFill>
                <a:latin typeface="Liberation Mono"/>
                <a:cs typeface="Liberation Mono"/>
              </a:rPr>
              <a:t>&gt;("student")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617344" y="8298867"/>
            <a:ext cx="65084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0d47a1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473254" y="8298867"/>
            <a:ext cx="10402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Data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Class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21476" y="8298867"/>
            <a:ext cx="113701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46" b="1">
                <a:solidFill>
                  <a:srgbClr val="0d47a1"/>
                </a:solidFill>
                <a:latin typeface="DejaVu Sans"/>
                <a:cs typeface="DejaVu Sans"/>
              </a:rPr>
              <a:t>Type</a:t>
            </a:r>
            <a:r>
              <a:rPr dirty="0" sz="12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Safety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20116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30772" y="334315"/>
            <a:ext cx="808283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Filter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f00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Manifest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95414" y="1000595"/>
            <a:ext cx="475352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0d47a1"/>
                </a:solidFill>
                <a:latin typeface="DejaVu Sans"/>
                <a:cs typeface="DejaVu Sans"/>
              </a:rPr>
              <a:t>Cơ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chế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569920"/>
            <a:ext cx="4833763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Vị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trí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6749" y="2410295"/>
            <a:ext cx="299713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Nối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Thông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Minh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470" y="2888808"/>
            <a:ext cx="99577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hồi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6f00"/>
                </a:solidFill>
                <a:latin typeface="DejaVu Sans"/>
                <a:cs typeface="DejaVu Sans"/>
              </a:rPr>
              <a:t>Implicit</a:t>
            </a:r>
            <a:r>
              <a:rPr dirty="0" sz="15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6f00"/>
                </a:solidFill>
                <a:latin typeface="DejaVu Sans"/>
                <a:cs typeface="DejaVu Sans"/>
              </a:rPr>
              <a:t>Intents</a:t>
            </a:r>
            <a:r>
              <a:rPr dirty="0" sz="1500" spc="-4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khác,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ra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0470" y="3184083"/>
            <a:ext cx="220869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liền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mạch.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79599" y="4220045"/>
            <a:ext cx="199332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Nơi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3320" y="4698558"/>
            <a:ext cx="9482184" cy="2689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tệp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tin</a:t>
            </a:r>
            <a:r>
              <a:rPr dirty="0" sz="1500" spc="67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Liberation Mono"/>
                <a:cs typeface="Liberation Mono"/>
              </a:rPr>
              <a:t>AndroidManifest.xml</a:t>
            </a:r>
            <a:r>
              <a:rPr dirty="0" sz="1500" spc="297" b="1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lồng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bên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thẻ</a:t>
            </a:r>
            <a:r>
              <a:rPr dirty="0" sz="1500" spc="67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Liberation Mono"/>
                <a:cs typeface="Liberation Mono"/>
              </a:rPr>
              <a:t>&lt;activity&gt;</a:t>
            </a:r>
            <a:r>
              <a:rPr dirty="0" sz="1500" spc="778" b="1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bạn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3320" y="5003358"/>
            <a:ext cx="154845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muốn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thị.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0999" y="13028494"/>
            <a:ext cx="4552348" cy="4105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Cấu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trúc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tế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13320" y="13830769"/>
            <a:ext cx="337336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16149" y="14348138"/>
            <a:ext cx="488746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(VD: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SEND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41312" y="14402573"/>
            <a:ext cx="97183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Mono"/>
                <a:cs typeface="Liberation Mono"/>
              </a:rPr>
              <a:t>&lt;action&gt;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20936" y="14862488"/>
            <a:ext cx="608835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tin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bổ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sung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action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(VD: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63" b="1">
                <a:solidFill>
                  <a:srgbClr val="0d47a1"/>
                </a:solidFill>
                <a:latin typeface="DejaVu Sans"/>
                <a:cs typeface="DejaVu Sans"/>
              </a:rPr>
              <a:t>DEFAULT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BROWSABLE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1312" y="14907398"/>
            <a:ext cx="1176694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Mono"/>
                <a:cs typeface="Liberation Mono"/>
              </a:rPr>
              <a:t>&lt;category&gt;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11510" y="15367313"/>
            <a:ext cx="604400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tả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chấp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(VD: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scheme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host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23" b="1">
                <a:solidFill>
                  <a:srgbClr val="0d47a1"/>
                </a:solidFill>
                <a:latin typeface="DejaVu Sans"/>
                <a:cs typeface="DejaVu Sans"/>
              </a:rPr>
              <a:t>mimeType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).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1312" y="15421748"/>
            <a:ext cx="76697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Mono"/>
                <a:cs typeface="Liberation Mono"/>
              </a:rPr>
              <a:t>&lt;data&gt;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79599" y="16469194"/>
            <a:ext cx="336036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13320" y="16948463"/>
            <a:ext cx="8180272" cy="2477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350" spc="33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Liberation Mono"/>
                <a:cs typeface="Liberation Mono"/>
              </a:rPr>
              <a:t>DetailActivity</a:t>
            </a:r>
            <a:r>
              <a:rPr dirty="0" sz="1350" spc="425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nhấp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dạng</a:t>
            </a:r>
            <a:r>
              <a:rPr dirty="0" sz="1350" spc="33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Liberation Mono"/>
                <a:cs typeface="Liberation Mono"/>
              </a:rPr>
              <a:t>https://www.example.com</a:t>
            </a:r>
            <a:r>
              <a:rPr dirty="0" sz="1350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41312" y="17458811"/>
            <a:ext cx="3825509" cy="4263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&lt;activity</a:t>
            </a:r>
            <a:r>
              <a:rPr dirty="0" sz="1200" spc="407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".DetailActivity"</a:t>
            </a:r>
            <a:r>
              <a:rPr dirty="0" sz="1200">
                <a:solidFill>
                  <a:srgbClr val="6b7280"/>
                </a:solidFill>
                <a:latin typeface="Liberation Mono"/>
                <a:cs typeface="Liberation Mono"/>
              </a:rPr>
              <a:t>&gt;</a:t>
            </a:r>
          </a:p>
          <a:p>
            <a:pPr marL="179189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&lt;intent-filter&gt;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99690" y="17887436"/>
            <a:ext cx="5617086" cy="845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&lt;action</a:t>
            </a:r>
            <a:r>
              <a:rPr dirty="0" sz="1200" spc="405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"android.intent.action.VIEW"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&lt;category</a:t>
            </a:r>
            <a:r>
              <a:rPr dirty="0" sz="1200" spc="407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"android.intent.category.DEFAULT"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&lt;category</a:t>
            </a:r>
            <a:r>
              <a:rPr dirty="0" sz="1200" spc="407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"android.intent.category.BROWSABLE"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&lt;data</a:t>
            </a:r>
            <a:r>
              <a:rPr dirty="0" sz="1200" spc="405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android:scheme=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"https"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20501" y="18744686"/>
            <a:ext cx="3825345" cy="4168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6607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android:host=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"www.example.com"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&lt;/intent-filter&gt;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41312" y="19173311"/>
            <a:ext cx="1138283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&lt;/activity&gt;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20116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30772" y="334315"/>
            <a:ext cx="808283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Filter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f00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Manifest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95414" y="1000595"/>
            <a:ext cx="475352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0d47a1"/>
                </a:solidFill>
                <a:latin typeface="DejaVu Sans"/>
                <a:cs typeface="DejaVu Sans"/>
              </a:rPr>
              <a:t>Cơ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chế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569920"/>
            <a:ext cx="4833763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Vị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trí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6749" y="2410295"/>
            <a:ext cx="299713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Nối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Thông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Minh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470" y="2888808"/>
            <a:ext cx="99577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hồi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6f00"/>
                </a:solidFill>
                <a:latin typeface="DejaVu Sans"/>
                <a:cs typeface="DejaVu Sans"/>
              </a:rPr>
              <a:t>Implicit</a:t>
            </a:r>
            <a:r>
              <a:rPr dirty="0" sz="15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6f00"/>
                </a:solidFill>
                <a:latin typeface="DejaVu Sans"/>
                <a:cs typeface="DejaVu Sans"/>
              </a:rPr>
              <a:t>Intents</a:t>
            </a:r>
            <a:r>
              <a:rPr dirty="0" sz="1500" spc="-4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khác,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ra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0470" y="3184083"/>
            <a:ext cx="220869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liền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mạch.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79599" y="4220045"/>
            <a:ext cx="199332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Nơi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3320" y="4698558"/>
            <a:ext cx="9482184" cy="2689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tệp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tin</a:t>
            </a:r>
            <a:r>
              <a:rPr dirty="0" sz="1500" spc="67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Liberation Mono"/>
                <a:cs typeface="Liberation Mono"/>
              </a:rPr>
              <a:t>AndroidManifest.xml</a:t>
            </a:r>
            <a:r>
              <a:rPr dirty="0" sz="1500" spc="297" b="1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lồng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bên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thẻ</a:t>
            </a:r>
            <a:r>
              <a:rPr dirty="0" sz="1500" spc="67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47a1"/>
                </a:solidFill>
                <a:latin typeface="Liberation Mono"/>
                <a:cs typeface="Liberation Mono"/>
              </a:rPr>
              <a:t>&lt;activity&gt;</a:t>
            </a:r>
            <a:r>
              <a:rPr dirty="0" sz="1500" spc="778" b="1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bạn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3320" y="5003358"/>
            <a:ext cx="154845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muốn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thị.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0999" y="13028494"/>
            <a:ext cx="4552348" cy="4105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Cấu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trúc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tế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13320" y="13830769"/>
            <a:ext cx="337336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16149" y="14348138"/>
            <a:ext cx="488746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mà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(VD: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SEND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41312" y="14402573"/>
            <a:ext cx="97183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Mono"/>
                <a:cs typeface="Liberation Mono"/>
              </a:rPr>
              <a:t>&lt;action&gt;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20936" y="14862488"/>
            <a:ext cx="608835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tin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bổ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sung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action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(VD: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63" b="1">
                <a:solidFill>
                  <a:srgbClr val="0d47a1"/>
                </a:solidFill>
                <a:latin typeface="DejaVu Sans"/>
                <a:cs typeface="DejaVu Sans"/>
              </a:rPr>
              <a:t>DEFAULT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BROWSABLE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1312" y="14907398"/>
            <a:ext cx="1176694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Mono"/>
                <a:cs typeface="Liberation Mono"/>
              </a:rPr>
              <a:t>&lt;category&gt;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11510" y="15367313"/>
            <a:ext cx="604400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tả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chấp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(VD: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scheme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d47a1"/>
                </a:solidFill>
                <a:latin typeface="DejaVu Sans"/>
                <a:cs typeface="DejaVu Sans"/>
              </a:rPr>
              <a:t>host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23" b="1">
                <a:solidFill>
                  <a:srgbClr val="0d47a1"/>
                </a:solidFill>
                <a:latin typeface="DejaVu Sans"/>
                <a:cs typeface="DejaVu Sans"/>
              </a:rPr>
              <a:t>mimeType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).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1312" y="15421748"/>
            <a:ext cx="76697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Mono"/>
                <a:cs typeface="Liberation Mono"/>
              </a:rPr>
              <a:t>&lt;data&gt;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79599" y="16469194"/>
            <a:ext cx="336036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13320" y="16948463"/>
            <a:ext cx="8180272" cy="2477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350" spc="33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Liberation Mono"/>
                <a:cs typeface="Liberation Mono"/>
              </a:rPr>
              <a:t>DetailActivity</a:t>
            </a:r>
            <a:r>
              <a:rPr dirty="0" sz="1350" spc="425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nhấp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dạng</a:t>
            </a:r>
            <a:r>
              <a:rPr dirty="0" sz="1350" spc="33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Liberation Mono"/>
                <a:cs typeface="Liberation Mono"/>
              </a:rPr>
              <a:t>https://www.example.com</a:t>
            </a:r>
            <a:r>
              <a:rPr dirty="0" sz="1350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41312" y="17458811"/>
            <a:ext cx="3825509" cy="4263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&lt;activity</a:t>
            </a:r>
            <a:r>
              <a:rPr dirty="0" sz="1200" spc="407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".DetailActivity"</a:t>
            </a:r>
            <a:r>
              <a:rPr dirty="0" sz="1200">
                <a:solidFill>
                  <a:srgbClr val="6b7280"/>
                </a:solidFill>
                <a:latin typeface="Liberation Mono"/>
                <a:cs typeface="Liberation Mono"/>
              </a:rPr>
              <a:t>&gt;</a:t>
            </a:r>
          </a:p>
          <a:p>
            <a:pPr marL="179189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&lt;intent-filter&gt;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99690" y="17887436"/>
            <a:ext cx="5617086" cy="845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&lt;action</a:t>
            </a:r>
            <a:r>
              <a:rPr dirty="0" sz="1200" spc="405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"android.intent.action.VIEW"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&lt;category</a:t>
            </a:r>
            <a:r>
              <a:rPr dirty="0" sz="1200" spc="407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"android.intent.category.DEFAULT"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&lt;category</a:t>
            </a:r>
            <a:r>
              <a:rPr dirty="0" sz="1200" spc="407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android:name=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"android.intent.category.BROWSABLE"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&lt;data</a:t>
            </a:r>
            <a:r>
              <a:rPr dirty="0" sz="1200" spc="405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android:scheme=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"https"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20501" y="18744686"/>
            <a:ext cx="3825345" cy="4168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6607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de047"/>
                </a:solidFill>
                <a:latin typeface="Liberation Mono"/>
                <a:cs typeface="Liberation Mono"/>
              </a:rPr>
              <a:t>android:host=</a:t>
            </a:r>
            <a:r>
              <a:rPr dirty="0" sz="1200" spc="-15">
                <a:solidFill>
                  <a:srgbClr val="4ade80"/>
                </a:solidFill>
                <a:latin typeface="Liberation Mono"/>
                <a:cs typeface="Liberation Mono"/>
              </a:rPr>
              <a:t>"www.example.com"</a:t>
            </a:r>
            <a:r>
              <a:rPr dirty="0" sz="1200" spc="405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&lt;/intent-filter&gt;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41312" y="19173311"/>
            <a:ext cx="1138283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b7280"/>
                </a:solidFill>
                <a:latin typeface="Liberation Mono"/>
                <a:cs typeface="Liberation Mono"/>
              </a:rPr>
              <a:t>&lt;/activity&gt;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3630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9412795" cy="913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1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30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ff6f00"/>
                </a:solidFill>
                <a:latin typeface="DejaVu Sans"/>
                <a:cs typeface="DejaVu Sans"/>
              </a:rPr>
              <a:t>Với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1" b="1">
                <a:solidFill>
                  <a:srgbClr val="ff6f00"/>
                </a:solidFill>
                <a:latin typeface="DejaVu Sans"/>
                <a:cs typeface="DejaVu Sans"/>
              </a:rPr>
              <a:t>Activity</a:t>
            </a: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6f00"/>
                </a:solidFill>
                <a:latin typeface="DejaVu Sans"/>
                <a:cs typeface="DejaVu Sans"/>
              </a:rPr>
              <a:t>Result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ff6f00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6806" y="1705445"/>
            <a:ext cx="252003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Pháp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99026" y="1695920"/>
            <a:ext cx="500312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Giải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Pháp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Mới: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5010" y="2183958"/>
            <a:ext cx="3758193" cy="642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toàn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kiểu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hơn.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spc="-56">
                <a:solidFill>
                  <a:srgbClr val="0d47a1"/>
                </a:solidFill>
                <a:latin typeface="DejaVu Sans"/>
                <a:cs typeface="DejaVu Sans"/>
              </a:rPr>
              <a:t>Tách</a:t>
            </a:r>
            <a:r>
              <a:rPr dirty="0" sz="1500" spc="6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biệt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logic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84" y="2212533"/>
            <a:ext cx="4177448" cy="2740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Liberation Mono"/>
                <a:cs typeface="Liberation Mono"/>
              </a:rPr>
              <a:t>startActivityForResult</a:t>
            </a:r>
            <a:r>
              <a:rPr dirty="0" sz="1500" spc="105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đã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lỗi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thời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5084" y="2517333"/>
            <a:ext cx="14608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(deprecated).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2202" y="2985568"/>
            <a:ext cx="102626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Deprecated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91357" y="2985568"/>
            <a:ext cx="6348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Cũ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9976" y="3639020"/>
            <a:ext cx="298576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Bước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93011" y="4212111"/>
            <a:ext cx="3033228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registerForActivityResult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50446" y="4755708"/>
            <a:ext cx="4096348" cy="775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yêu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cầu:</a:t>
            </a:r>
            <a:r>
              <a:rPr dirty="0" sz="1500" spc="19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launcher.launch(intent)</a:t>
            </a:r>
          </a:p>
          <a:p>
            <a:pPr marL="0" marR="0">
              <a:lnSpc>
                <a:spcPts val="1760"/>
              </a:lnSpc>
              <a:spcBef>
                <a:spcPts val="2217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callback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50446" y="5784408"/>
            <a:ext cx="3795231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9">
                <a:solidFill>
                  <a:srgbClr val="000000"/>
                </a:solidFill>
                <a:latin typeface="DejaVu Sans"/>
                <a:cs typeface="DejaVu Sans"/>
              </a:rPr>
              <a:t>Trả</a:t>
            </a:r>
            <a:r>
              <a:rPr dirty="0" sz="1500" spc="8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quả:</a:t>
            </a:r>
            <a:r>
              <a:rPr dirty="0" sz="1500" spc="19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setResult(OK,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intent)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54620" y="7908483"/>
            <a:ext cx="10473753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"Activity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1500" spc="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tiếp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cận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đại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đơn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tương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quả."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31738" y="8595793"/>
            <a:ext cx="13370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Modern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85368" y="8595793"/>
            <a:ext cx="128062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Simpliﬁed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Flow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3630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9412795" cy="913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1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30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3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ff6f00"/>
                </a:solidFill>
                <a:latin typeface="DejaVu Sans"/>
                <a:cs typeface="DejaVu Sans"/>
              </a:rPr>
              <a:t>Với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1" b="1">
                <a:solidFill>
                  <a:srgbClr val="ff6f00"/>
                </a:solidFill>
                <a:latin typeface="DejaVu Sans"/>
                <a:cs typeface="DejaVu Sans"/>
              </a:rPr>
              <a:t>Activity</a:t>
            </a: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6f00"/>
                </a:solidFill>
                <a:latin typeface="DejaVu Sans"/>
                <a:cs typeface="DejaVu Sans"/>
              </a:rPr>
              <a:t>Result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ff6f00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6806" y="1705445"/>
            <a:ext cx="252003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Pháp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99026" y="1695920"/>
            <a:ext cx="500312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Giải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Pháp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Mới: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5010" y="2183958"/>
            <a:ext cx="3758193" cy="642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toàn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kiểu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hơn.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spc="-56">
                <a:solidFill>
                  <a:srgbClr val="0d47a1"/>
                </a:solidFill>
                <a:latin typeface="DejaVu Sans"/>
                <a:cs typeface="DejaVu Sans"/>
              </a:rPr>
              <a:t>Tách</a:t>
            </a:r>
            <a:r>
              <a:rPr dirty="0" sz="1500" spc="6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biệt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logic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84" y="2212533"/>
            <a:ext cx="4177448" cy="2740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Liberation Mono"/>
                <a:cs typeface="Liberation Mono"/>
              </a:rPr>
              <a:t>startActivityForResult</a:t>
            </a:r>
            <a:r>
              <a:rPr dirty="0" sz="1500" spc="105">
                <a:solidFill>
                  <a:srgbClr val="0d47a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đã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lỗi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thời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5084" y="2517333"/>
            <a:ext cx="14608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(deprecated).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2202" y="2985568"/>
            <a:ext cx="102626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Deprecated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91357" y="2985568"/>
            <a:ext cx="6348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Cũ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9976" y="3639020"/>
            <a:ext cx="298576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Bước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Thực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93011" y="4212111"/>
            <a:ext cx="3033228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registerForActivityResult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50446" y="4755708"/>
            <a:ext cx="4096348" cy="775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yêu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cầu:</a:t>
            </a:r>
            <a:r>
              <a:rPr dirty="0" sz="1500" spc="19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launcher.launch(intent)</a:t>
            </a:r>
          </a:p>
          <a:p>
            <a:pPr marL="0" marR="0">
              <a:lnSpc>
                <a:spcPts val="1760"/>
              </a:lnSpc>
              <a:spcBef>
                <a:spcPts val="2217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callback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50446" y="5784408"/>
            <a:ext cx="3795231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9">
                <a:solidFill>
                  <a:srgbClr val="000000"/>
                </a:solidFill>
                <a:latin typeface="DejaVu Sans"/>
                <a:cs typeface="DejaVu Sans"/>
              </a:rPr>
              <a:t>Trả</a:t>
            </a:r>
            <a:r>
              <a:rPr dirty="0" sz="1500" spc="8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quả:</a:t>
            </a:r>
            <a:r>
              <a:rPr dirty="0" sz="1500" spc="19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setResult(OK,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Mono"/>
                <a:cs typeface="Liberation Mono"/>
              </a:rPr>
              <a:t>intent)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54620" y="7908483"/>
            <a:ext cx="10473753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"Activity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1500" spc="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tiếp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cận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đại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đơn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tương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quả."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31738" y="8595793"/>
            <a:ext cx="13370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Modern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85368" y="8595793"/>
            <a:ext cx="128062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Simpliﬁed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Flow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4538" y="801040"/>
            <a:ext cx="925523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Multi-Activity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vs</a:t>
            </a:r>
            <a:r>
              <a:rPr dirty="0" sz="4050" spc="392" b="1">
                <a:solidFill>
                  <a:srgbClr val="ff6f00"/>
                </a:solidFill>
                <a:latin typeface="Times New Roman"/>
                <a:cs typeface="Times New Roman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Single-Activity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184" y="2036645"/>
            <a:ext cx="3787244" cy="13233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Multi-Activity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Model</a:t>
            </a:r>
          </a:p>
          <a:p>
            <a:pPr marL="356592" marR="0">
              <a:lnSpc>
                <a:spcPts val="1760"/>
              </a:lnSpc>
              <a:spcBef>
                <a:spcPts val="1702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Mỗi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=</a:t>
            </a:r>
            <a:r>
              <a:rPr dirty="0" sz="1500" spc="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1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  <a:p>
            <a:pPr marL="356592" marR="0">
              <a:lnSpc>
                <a:spcPts val="1760"/>
              </a:lnSpc>
              <a:spcBef>
                <a:spcPts val="19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ban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đầu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98740" y="2036645"/>
            <a:ext cx="3992294" cy="856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Single-Activity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Model</a:t>
            </a:r>
          </a:p>
          <a:p>
            <a:pPr marL="356592" marR="0">
              <a:lnSpc>
                <a:spcPts val="1760"/>
              </a:lnSpc>
              <a:spcBef>
                <a:spcPts val="1702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1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55332" y="3098359"/>
            <a:ext cx="4549302" cy="7283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(Back,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Up,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BottomNav)</a:t>
            </a:r>
          </a:p>
          <a:p>
            <a:pPr marL="0" marR="0">
              <a:lnSpc>
                <a:spcPts val="1760"/>
              </a:lnSpc>
              <a:spcBef>
                <a:spcPts val="1864"/>
              </a:spcBef>
              <a:spcAft>
                <a:spcPts val="0"/>
              </a:spcAft>
            </a:pPr>
            <a:r>
              <a:rPr dirty="0" sz="1500" spc="-10">
                <a:solidFill>
                  <a:srgbClr val="0d47a1"/>
                </a:solidFill>
                <a:latin typeface="DejaVu Sans"/>
                <a:cs typeface="DejaVu Sans"/>
              </a:rPr>
              <a:t>Tiết</a:t>
            </a:r>
            <a:r>
              <a:rPr dirty="0" sz="1500" spc="1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kiệm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tài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nguyên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9776" y="3565084"/>
            <a:ext cx="159580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Tốn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tài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nguyên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9776" y="4031809"/>
            <a:ext cx="263926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kiểm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soát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Back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Stack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72369" y="5343996"/>
            <a:ext cx="988448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Google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khuyến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nghị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5" b="1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6f00"/>
                </a:solidFill>
                <a:latin typeface="DejaVu Sans"/>
                <a:cs typeface="DejaVu Sans"/>
              </a:rPr>
              <a:t>Single-Activity</a:t>
            </a:r>
            <a:r>
              <a:rPr dirty="0" sz="2000" spc="203" b="1">
                <a:solidFill>
                  <a:srgbClr val="ff6f00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cho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đại.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4538" y="801040"/>
            <a:ext cx="925523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Multi-Activity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vs</a:t>
            </a:r>
            <a:r>
              <a:rPr dirty="0" sz="4050" spc="392" b="1">
                <a:solidFill>
                  <a:srgbClr val="ff6f00"/>
                </a:solidFill>
                <a:latin typeface="Times New Roman"/>
                <a:cs typeface="Times New Roman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Single-Activity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184" y="2036645"/>
            <a:ext cx="3787244" cy="13233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Multi-Activity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Model</a:t>
            </a:r>
          </a:p>
          <a:p>
            <a:pPr marL="356592" marR="0">
              <a:lnSpc>
                <a:spcPts val="1760"/>
              </a:lnSpc>
              <a:spcBef>
                <a:spcPts val="1702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Mỗi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=</a:t>
            </a:r>
            <a:r>
              <a:rPr dirty="0" sz="1500" spc="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1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  <a:p>
            <a:pPr marL="356592" marR="0">
              <a:lnSpc>
                <a:spcPts val="1760"/>
              </a:lnSpc>
              <a:spcBef>
                <a:spcPts val="19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ban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đầu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98740" y="2036645"/>
            <a:ext cx="3992294" cy="856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Single-Activity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Model</a:t>
            </a:r>
          </a:p>
          <a:p>
            <a:pPr marL="356592" marR="0">
              <a:lnSpc>
                <a:spcPts val="1760"/>
              </a:lnSpc>
              <a:spcBef>
                <a:spcPts val="1702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1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Activity,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55332" y="3098359"/>
            <a:ext cx="4549302" cy="7283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(Back,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Up,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BottomNav)</a:t>
            </a:r>
          </a:p>
          <a:p>
            <a:pPr marL="0" marR="0">
              <a:lnSpc>
                <a:spcPts val="1760"/>
              </a:lnSpc>
              <a:spcBef>
                <a:spcPts val="1864"/>
              </a:spcBef>
              <a:spcAft>
                <a:spcPts val="0"/>
              </a:spcAft>
            </a:pPr>
            <a:r>
              <a:rPr dirty="0" sz="1500" spc="-10">
                <a:solidFill>
                  <a:srgbClr val="0d47a1"/>
                </a:solidFill>
                <a:latin typeface="DejaVu Sans"/>
                <a:cs typeface="DejaVu Sans"/>
              </a:rPr>
              <a:t>Tiết</a:t>
            </a:r>
            <a:r>
              <a:rPr dirty="0" sz="1500" spc="18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kiệm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tài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nguyên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thống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9776" y="3565084"/>
            <a:ext cx="159580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Tốn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tài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nguyên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9776" y="4031809"/>
            <a:ext cx="263926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Khó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kiểm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soát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Back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Stack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72369" y="5343996"/>
            <a:ext cx="988448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Google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khuyến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nghị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5" b="1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6f00"/>
                </a:solidFill>
                <a:latin typeface="DejaVu Sans"/>
                <a:cs typeface="DejaVu Sans"/>
              </a:rPr>
              <a:t>Single-Activity</a:t>
            </a:r>
            <a:r>
              <a:rPr dirty="0" sz="2000" spc="203" b="1">
                <a:solidFill>
                  <a:srgbClr val="ff6f00"/>
                </a:solidFill>
                <a:latin typeface="Times New Roman"/>
                <a:cs typeface="Times New Roman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cho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đại.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98686" y="334315"/>
            <a:ext cx="954698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f00"/>
                </a:solidFill>
                <a:latin typeface="DejaVu Sans"/>
                <a:cs typeface="DejaVu Sans"/>
              </a:rPr>
              <a:t>(Jetpack)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9182" y="1476845"/>
            <a:ext cx="277360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NavHostFragment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79182" y="1860863"/>
            <a:ext cx="21155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Nơi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chứa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77731" y="2233093"/>
            <a:ext cx="10826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Container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2999" y="2331920"/>
            <a:ext cx="2106603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9023" y="2831658"/>
            <a:ext cx="3814541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thư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viện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Jetpack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giúp</a:t>
            </a:r>
          </a:p>
          <a:p>
            <a:pPr marL="420588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79182" y="3324695"/>
            <a:ext cx="215239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NavController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79182" y="3708713"/>
            <a:ext cx="506719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việc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đến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(destinations).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77731" y="4080943"/>
            <a:ext cx="16593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Manager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49739" y="5039195"/>
            <a:ext cx="362020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(XML)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49739" y="5423213"/>
            <a:ext cx="546447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0d47a1"/>
                </a:solidFill>
                <a:latin typeface="DejaVu Sans"/>
                <a:cs typeface="DejaVu Sans"/>
              </a:rPr>
              <a:t>(Fragment/Activity)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đường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chúng.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35533" y="5595418"/>
            <a:ext cx="132615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Jetpack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5533" y="5976418"/>
            <a:ext cx="163630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48287" y="6062143"/>
            <a:ext cx="117257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App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Blueprint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98686" y="334315"/>
            <a:ext cx="954698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f00"/>
                </a:solidFill>
                <a:latin typeface="DejaVu Sans"/>
                <a:cs typeface="DejaVu Sans"/>
              </a:rPr>
              <a:t>(Jetpack)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9182" y="1476845"/>
            <a:ext cx="277360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NavHostFragment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79182" y="1860863"/>
            <a:ext cx="21155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Nơi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chứa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77731" y="2233093"/>
            <a:ext cx="10826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Container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2999" y="2331920"/>
            <a:ext cx="2106603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9023" y="2831658"/>
            <a:ext cx="3814541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thư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viện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Jetpack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giúp</a:t>
            </a:r>
          </a:p>
          <a:p>
            <a:pPr marL="420588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79182" y="3324695"/>
            <a:ext cx="215239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NavController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79182" y="3708713"/>
            <a:ext cx="506719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việc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đến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(destinations).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77731" y="4080943"/>
            <a:ext cx="16593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Manager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49739" y="5039195"/>
            <a:ext cx="362020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(XML)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49739" y="5423213"/>
            <a:ext cx="546447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0d47a1"/>
                </a:solidFill>
                <a:latin typeface="DejaVu Sans"/>
                <a:cs typeface="DejaVu Sans"/>
              </a:rPr>
              <a:t>(Fragment/Activity)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đường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đi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chúng.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35533" y="5595418"/>
            <a:ext cx="132615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Jetpack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5533" y="5976418"/>
            <a:ext cx="163630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48287" y="6062143"/>
            <a:ext cx="117257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App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Blueprint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06848" y="334315"/>
            <a:ext cx="7543430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2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4050" spc="-109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2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  <a:r>
              <a:rPr dirty="0" sz="4050" spc="-10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3" b="1">
                <a:solidFill>
                  <a:srgbClr val="ff6f00"/>
                </a:solidFill>
                <a:latin typeface="DejaVu Sans"/>
                <a:cs typeface="DejaVu Sans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4134" y="1429220"/>
            <a:ext cx="372446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trúc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4" b="1">
                <a:solidFill>
                  <a:srgbClr val="0d47a1"/>
                </a:solidFill>
                <a:latin typeface="DejaVu Sans"/>
                <a:cs typeface="DejaVu Sans"/>
              </a:rPr>
              <a:t>XML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9976" y="1423468"/>
            <a:ext cx="19284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Ví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dụ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25" b="1">
                <a:solidFill>
                  <a:srgbClr val="ff6f00"/>
                </a:solidFill>
                <a:latin typeface="DejaVu Sans"/>
                <a:cs typeface="DejaVu Sans"/>
              </a:rPr>
              <a:t>HomeFragment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50532" y="1847336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&lt;fragment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3126" y="2002229"/>
            <a:ext cx="283018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31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29721" y="2066411"/>
            <a:ext cx="3647804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'@+id/homeFragment'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android:name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'com.example.HomeFragment'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android:label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'Home'</a:t>
            </a:r>
            <a:r>
              <a:rPr dirty="0" sz="1200" spc="405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03126" y="2602304"/>
            <a:ext cx="360433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(actions)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9976" y="3042718"/>
            <a:ext cx="194380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Ví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dụ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21" b="1">
                <a:solidFill>
                  <a:srgbClr val="ff6f00"/>
                </a:solidFill>
                <a:latin typeface="DejaVu Sans"/>
                <a:cs typeface="DejaVu Sans"/>
              </a:rPr>
              <a:t>DetailFragment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50532" y="3476111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&lt;fragment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29721" y="3685661"/>
            <a:ext cx="3827056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'@+id/detailFragment'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android:name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'com.example.DetailFragment'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android:label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'Detail'</a:t>
            </a:r>
            <a:r>
              <a:rPr dirty="0" sz="1200">
                <a:solidFill>
                  <a:srgbClr val="0d47a1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1420" y="5307404"/>
            <a:ext cx="329653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41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700" spc="2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30021" y="5352536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&lt;argument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409210" y="5562086"/>
            <a:ext cx="2212940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android:name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'itemId'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app:argType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'string'</a:t>
            </a:r>
            <a:r>
              <a:rPr dirty="0" sz="1200" spc="405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93874" y="5727258"/>
            <a:ext cx="33509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500" spc="4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237439" y="6520097"/>
            <a:ext cx="193630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06848" y="334315"/>
            <a:ext cx="7543430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2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4050" spc="-109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2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  <a:r>
              <a:rPr dirty="0" sz="4050" spc="-10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3" b="1">
                <a:solidFill>
                  <a:srgbClr val="ff6f00"/>
                </a:solidFill>
                <a:latin typeface="DejaVu Sans"/>
                <a:cs typeface="DejaVu Sans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4134" y="1429220"/>
            <a:ext cx="372446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trúc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4" b="1">
                <a:solidFill>
                  <a:srgbClr val="0d47a1"/>
                </a:solidFill>
                <a:latin typeface="DejaVu Sans"/>
                <a:cs typeface="DejaVu Sans"/>
              </a:rPr>
              <a:t>XML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9976" y="1423468"/>
            <a:ext cx="19284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Ví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dụ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25" b="1">
                <a:solidFill>
                  <a:srgbClr val="ff6f00"/>
                </a:solidFill>
                <a:latin typeface="DejaVu Sans"/>
                <a:cs typeface="DejaVu Sans"/>
              </a:rPr>
              <a:t>HomeFragment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50532" y="1847336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&lt;fragment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3126" y="2002229"/>
            <a:ext cx="283018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31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29721" y="2066411"/>
            <a:ext cx="3647804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'@+id/homeFragment'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android:name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'com.example.HomeFragment'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android:label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'Home'</a:t>
            </a:r>
            <a:r>
              <a:rPr dirty="0" sz="1200" spc="405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03126" y="2602304"/>
            <a:ext cx="360433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liên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7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d47a1"/>
                </a:solidFill>
                <a:latin typeface="DejaVu Sans"/>
                <a:cs typeface="DejaVu Sans"/>
              </a:rPr>
              <a:t>(actions)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9976" y="3042718"/>
            <a:ext cx="194380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Ví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ff6f00"/>
                </a:solidFill>
                <a:latin typeface="DejaVu Sans"/>
                <a:cs typeface="DejaVu Sans"/>
              </a:rPr>
              <a:t>dụ</a:t>
            </a:r>
            <a:r>
              <a:rPr dirty="0" sz="12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1200" spc="-21" b="1">
                <a:solidFill>
                  <a:srgbClr val="ff6f00"/>
                </a:solidFill>
                <a:latin typeface="DejaVu Sans"/>
                <a:cs typeface="DejaVu Sans"/>
              </a:rPr>
              <a:t>DetailFragment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50532" y="3476111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&lt;fragment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29721" y="3685661"/>
            <a:ext cx="3827056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'@+id/detailFragment'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android:name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'com.example.DetailFragment'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android:label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'Detail'</a:t>
            </a:r>
            <a:r>
              <a:rPr dirty="0" sz="1200">
                <a:solidFill>
                  <a:srgbClr val="0d47a1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1420" y="5307404"/>
            <a:ext cx="329653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41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700" spc="2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số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30021" y="5352536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&lt;argument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409210" y="5562086"/>
            <a:ext cx="2212940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android:name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'itemId'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6f00"/>
                </a:solidFill>
                <a:latin typeface="Liberation Mono"/>
                <a:cs typeface="Liberation Mono"/>
              </a:rPr>
              <a:t>app:argType</a:t>
            </a:r>
            <a:r>
              <a:rPr dirty="0" sz="1200" spc="-15">
                <a:solidFill>
                  <a:srgbClr val="00000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'string'</a:t>
            </a:r>
            <a:r>
              <a:rPr dirty="0" sz="1200" spc="405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93874" y="5727258"/>
            <a:ext cx="33509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500" spc="43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Fragment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237439" y="6520097"/>
            <a:ext cx="193630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>
            <a:hlinkClick r:id="rId2"/>
          </p:cNvPr>
          <p:cNvSpPr/>
          <p:nvPr/>
        </p:nvSpPr>
        <p:spPr>
          <a:xfrm>
            <a:off x="0" y="0"/>
            <a:ext cx="12192000" cy="8438642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53257" y="315228"/>
            <a:ext cx="7837679" cy="1384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55874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  <a:r>
              <a:rPr dirty="0" sz="6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0d47a1"/>
                </a:solidFill>
                <a:latin typeface="DejaVu Sans"/>
                <a:cs typeface="DejaVu Sans"/>
              </a:rPr>
              <a:t>Args</a:t>
            </a:r>
          </a:p>
          <a:p>
            <a:pPr marL="0" marR="0">
              <a:lnSpc>
                <a:spcPts val="3520"/>
              </a:lnSpc>
              <a:spcBef>
                <a:spcPts val="91"/>
              </a:spcBef>
              <a:spcAft>
                <a:spcPts val="0"/>
              </a:spcAft>
            </a:pPr>
            <a:r>
              <a:rPr dirty="0" sz="3000" spc="-52">
                <a:solidFill>
                  <a:srgbClr val="0d47a1"/>
                </a:solidFill>
                <a:latin typeface="DejaVu Sans"/>
                <a:cs typeface="DejaVu Sans"/>
              </a:rPr>
              <a:t>(Truyền</a:t>
            </a:r>
            <a:r>
              <a:rPr dirty="0" sz="3000" spc="7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3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30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6f00"/>
                </a:solidFill>
                <a:latin typeface="DejaVu Sans"/>
                <a:cs typeface="DejaVu Sans"/>
              </a:rPr>
              <a:t>an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6f00"/>
                </a:solidFill>
                <a:latin typeface="DejaVu Sans"/>
                <a:cs typeface="DejaVu Sans"/>
              </a:rPr>
              <a:t>toàn</a:t>
            </a:r>
            <a:r>
              <a:rPr dirty="0" sz="3000" spc="-8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30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-11">
                <a:solidFill>
                  <a:srgbClr val="0d47a1"/>
                </a:solidFill>
                <a:latin typeface="DejaVu Sans"/>
                <a:cs typeface="DejaVu Sans"/>
              </a:rPr>
              <a:t>Fragment)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912312"/>
            <a:ext cx="497568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Ưu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điểm</a:t>
            </a: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cốt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lõi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912312"/>
            <a:ext cx="4401766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về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triển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74563" y="2744671"/>
            <a:ext cx="195047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8" b="1">
                <a:solidFill>
                  <a:srgbClr val="1f2937"/>
                </a:solidFill>
                <a:latin typeface="DejaVu Sans"/>
                <a:cs typeface="DejaVu Sans"/>
              </a:rPr>
              <a:t>Mục</a:t>
            </a:r>
            <a:r>
              <a:rPr dirty="0" sz="17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DejaVu Sans"/>
                <a:cs typeface="DejaVu Sans"/>
              </a:rPr>
              <a:t>đích</a:t>
            </a:r>
            <a:r>
              <a:rPr dirty="0" sz="1700" spc="-1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46638" y="2754196"/>
            <a:ext cx="356361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0d47a1"/>
                </a:solidFill>
                <a:latin typeface="DejaVu Sans"/>
                <a:cs typeface="DejaVu Sans"/>
              </a:rPr>
              <a:t>(HomeFragment)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74563" y="3089080"/>
            <a:ext cx="430280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type-safety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truyền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Fragment,</a:t>
            </a:r>
            <a:r>
              <a:rPr dirty="0" sz="1350" spc="1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loại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bỏ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lỗi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phổ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biến.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74630" y="3266053"/>
            <a:ext cx="5616790" cy="4263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val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action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HomeFragmentDirections.actionHomeToDetail("123")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findNavController().navigate(action)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31358" y="4013760"/>
            <a:ext cx="14725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9a3412"/>
                </a:solidFill>
                <a:latin typeface="DejaVu Sans"/>
                <a:cs typeface="DejaVu Sans"/>
              </a:rPr>
              <a:t>Navigation</a:t>
            </a:r>
            <a:r>
              <a:rPr dirty="0" sz="1200" spc="-1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a3412"/>
                </a:solidFill>
                <a:latin typeface="DejaVu Sans"/>
                <a:cs typeface="DejaVu Sans"/>
              </a:rPr>
              <a:t>Action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64133" y="4203505"/>
            <a:ext cx="3962242" cy="99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Ngăn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chặn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lỗi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runtime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sai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liệu.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tất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cả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đối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cần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đều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mặt.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Cải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đọc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trì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mã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nguồn.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46638" y="4906846"/>
            <a:ext cx="381156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0" b="1">
                <a:solidFill>
                  <a:srgbClr val="0d47a1"/>
                </a:solidFill>
                <a:latin typeface="DejaVu Sans"/>
                <a:cs typeface="DejaVu Sans"/>
              </a:rPr>
              <a:t>(DetailFragment)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74630" y="5418703"/>
            <a:ext cx="3825202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val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args: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DetailFragmentArgs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by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navArgs()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val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itemId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args.itemId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31358" y="6156885"/>
            <a:ext cx="12196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1e40af"/>
                </a:solidFill>
                <a:latin typeface="DejaVu Sans"/>
                <a:cs typeface="DejaVu Sans"/>
              </a:rPr>
              <a:t>Retrieval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82762" y="7022151"/>
            <a:ext cx="1008631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"Safe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Args</a:t>
            </a:r>
            <a:r>
              <a:rPr dirty="0" sz="1500" spc="1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biến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truyền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luồng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an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toàn,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spc="-28">
                <a:solidFill>
                  <a:srgbClr val="1f2937"/>
                </a:solidFill>
                <a:latin typeface="DejaVu Sans"/>
                <a:cs typeface="DejaVu Sans"/>
              </a:rPr>
              <a:t>rõ</a:t>
            </a:r>
            <a:r>
              <a:rPr dirty="0" sz="1500" spc="38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ràng,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nhà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phát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triển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tập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trung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vào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82762" y="7317426"/>
            <a:ext cx="175572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logic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thay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vì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lỗi."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25755" y="7642785"/>
            <a:ext cx="212427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—</a:t>
            </a:r>
            <a:r>
              <a:rPr dirty="0" sz="1200" spc="-31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43">
                <a:solidFill>
                  <a:srgbClr val="4b5563"/>
                </a:solidFill>
                <a:latin typeface="DejaVu Sans"/>
                <a:cs typeface="DejaVu Sans"/>
              </a:rPr>
              <a:t>Triết</a:t>
            </a:r>
            <a:r>
              <a:rPr dirty="0" sz="1200" spc="27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4b5563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954716" y="8186464"/>
            <a:ext cx="2190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>
            <a:hlinkClick r:id="rId2"/>
          </p:cNvPr>
          <p:cNvSpPr/>
          <p:nvPr/>
        </p:nvSpPr>
        <p:spPr>
          <a:xfrm>
            <a:off x="0" y="0"/>
            <a:ext cx="12192000" cy="8438642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53257" y="315228"/>
            <a:ext cx="7837679" cy="1384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55874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  <a:r>
              <a:rPr dirty="0" sz="6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0d47a1"/>
                </a:solidFill>
                <a:latin typeface="DejaVu Sans"/>
                <a:cs typeface="DejaVu Sans"/>
              </a:rPr>
              <a:t>Args</a:t>
            </a:r>
          </a:p>
          <a:p>
            <a:pPr marL="0" marR="0">
              <a:lnSpc>
                <a:spcPts val="3520"/>
              </a:lnSpc>
              <a:spcBef>
                <a:spcPts val="91"/>
              </a:spcBef>
              <a:spcAft>
                <a:spcPts val="0"/>
              </a:spcAft>
            </a:pPr>
            <a:r>
              <a:rPr dirty="0" sz="3000" spc="-52">
                <a:solidFill>
                  <a:srgbClr val="0d47a1"/>
                </a:solidFill>
                <a:latin typeface="DejaVu Sans"/>
                <a:cs typeface="DejaVu Sans"/>
              </a:rPr>
              <a:t>(Truyền</a:t>
            </a:r>
            <a:r>
              <a:rPr dirty="0" sz="3000" spc="7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3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30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6f00"/>
                </a:solidFill>
                <a:latin typeface="DejaVu Sans"/>
                <a:cs typeface="DejaVu Sans"/>
              </a:rPr>
              <a:t>an</a:t>
            </a:r>
            <a:r>
              <a:rPr dirty="0" sz="30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6f00"/>
                </a:solidFill>
                <a:latin typeface="DejaVu Sans"/>
                <a:cs typeface="DejaVu Sans"/>
              </a:rPr>
              <a:t>toàn</a:t>
            </a:r>
            <a:r>
              <a:rPr dirty="0" sz="3000" spc="-8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30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3000" spc="-11">
                <a:solidFill>
                  <a:srgbClr val="0d47a1"/>
                </a:solidFill>
                <a:latin typeface="DejaVu Sans"/>
                <a:cs typeface="DejaVu Sans"/>
              </a:rPr>
              <a:t>Fragment)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912312"/>
            <a:ext cx="497568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Mục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đích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Ưu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điểm</a:t>
            </a:r>
            <a:r>
              <a:rPr dirty="0" sz="2500" spc="1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cốt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lõi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912312"/>
            <a:ext cx="4401766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47a1"/>
                </a:solidFill>
                <a:latin typeface="DejaVu Sans"/>
                <a:cs typeface="DejaVu Sans"/>
              </a:rPr>
              <a:t>về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47a1"/>
                </a:solidFill>
                <a:latin typeface="DejaVu Sans"/>
                <a:cs typeface="DejaVu Sans"/>
              </a:rPr>
              <a:t>triển</a:t>
            </a:r>
            <a:r>
              <a:rPr dirty="0" sz="2500" spc="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74563" y="2744671"/>
            <a:ext cx="195047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8" b="1">
                <a:solidFill>
                  <a:srgbClr val="1f2937"/>
                </a:solidFill>
                <a:latin typeface="DejaVu Sans"/>
                <a:cs typeface="DejaVu Sans"/>
              </a:rPr>
              <a:t>Mục</a:t>
            </a:r>
            <a:r>
              <a:rPr dirty="0" sz="17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DejaVu Sans"/>
                <a:cs typeface="DejaVu Sans"/>
              </a:rPr>
              <a:t>đích</a:t>
            </a:r>
            <a:r>
              <a:rPr dirty="0" sz="1700" spc="-1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46638" y="2754196"/>
            <a:ext cx="356361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0d47a1"/>
                </a:solidFill>
                <a:latin typeface="DejaVu Sans"/>
                <a:cs typeface="DejaVu Sans"/>
              </a:rPr>
              <a:t>(HomeFragment)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74563" y="3089080"/>
            <a:ext cx="430280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type-safety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truyền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Fragment,</a:t>
            </a:r>
            <a:r>
              <a:rPr dirty="0" sz="1350" spc="1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loại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bỏ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lỗi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phổ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biến.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74630" y="3266053"/>
            <a:ext cx="5616790" cy="4263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val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action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HomeFragmentDirections.actionHomeToDetail("123")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findNavController().navigate(action)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31358" y="4013760"/>
            <a:ext cx="14725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9a3412"/>
                </a:solidFill>
                <a:latin typeface="DejaVu Sans"/>
                <a:cs typeface="DejaVu Sans"/>
              </a:rPr>
              <a:t>Navigation</a:t>
            </a:r>
            <a:r>
              <a:rPr dirty="0" sz="1200" spc="-1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a3412"/>
                </a:solidFill>
                <a:latin typeface="DejaVu Sans"/>
                <a:cs typeface="DejaVu Sans"/>
              </a:rPr>
              <a:t>Action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64133" y="4203505"/>
            <a:ext cx="3962242" cy="99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Ngăn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chặn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lỗi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runtime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sai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liệu.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tất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cả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đối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cần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đều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mặt.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Cải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đọc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trì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mã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nguồn.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46638" y="4906846"/>
            <a:ext cx="381156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20" b="1">
                <a:solidFill>
                  <a:srgbClr val="0d47a1"/>
                </a:solidFill>
                <a:latin typeface="DejaVu Sans"/>
                <a:cs typeface="DejaVu Sans"/>
              </a:rPr>
              <a:t>(DetailFragment)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74630" y="5418703"/>
            <a:ext cx="3825202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val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args: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DetailFragmentArgs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by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navArgs()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val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itemId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=</a:t>
            </a:r>
            <a:r>
              <a:rPr dirty="0" sz="1200" spc="-30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fffff"/>
                </a:solidFill>
                <a:highlight>
                  <a:srgbClr val="ff6f00"/>
                </a:highlight>
                <a:latin typeface="Liberation Mono"/>
                <a:cs typeface="Liberation Mono"/>
              </a:rPr>
              <a:t>args.itemId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31358" y="6156885"/>
            <a:ext cx="12196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1e40af"/>
                </a:solidFill>
                <a:latin typeface="DejaVu Sans"/>
                <a:cs typeface="DejaVu Sans"/>
              </a:rPr>
              <a:t>Retrieval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82762" y="7022151"/>
            <a:ext cx="1008631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"Safe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Args</a:t>
            </a:r>
            <a:r>
              <a:rPr dirty="0" sz="1500" spc="1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biến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truyền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luồng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an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toàn,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spc="-28">
                <a:solidFill>
                  <a:srgbClr val="1f2937"/>
                </a:solidFill>
                <a:latin typeface="DejaVu Sans"/>
                <a:cs typeface="DejaVu Sans"/>
              </a:rPr>
              <a:t>rõ</a:t>
            </a:r>
            <a:r>
              <a:rPr dirty="0" sz="1500" spc="38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ràng,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nhà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phát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triển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tập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trung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vào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82762" y="7317426"/>
            <a:ext cx="175572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logic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thay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vì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lỗi."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25755" y="7642785"/>
            <a:ext cx="212427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—</a:t>
            </a:r>
            <a:r>
              <a:rPr dirty="0" sz="1200" spc="-31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43">
                <a:solidFill>
                  <a:srgbClr val="4b5563"/>
                </a:solidFill>
                <a:latin typeface="DejaVu Sans"/>
                <a:cs typeface="DejaVu Sans"/>
              </a:rPr>
              <a:t>Triết</a:t>
            </a:r>
            <a:r>
              <a:rPr dirty="0" sz="1200" spc="27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4b5563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954716" y="8186464"/>
            <a:ext cx="2190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60552" y="334315"/>
            <a:ext cx="302328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0431" y="1676870"/>
            <a:ext cx="324099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9787" y="1706954"/>
            <a:ext cx="41216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Cấu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184" y="2250633"/>
            <a:ext cx="4698831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thẳng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cụ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trong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50532" y="2361686"/>
            <a:ext cx="409394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&lt;deepLink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app:uri='app://detail/{itemId}'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07819" y="2876487"/>
            <a:ext cx="93655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XML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Markup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02152" y="2876487"/>
            <a:ext cx="16265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184" y="2974533"/>
            <a:ext cx="34646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URL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bên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ngoài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email.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19787" y="3954854"/>
            <a:ext cx="226975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22540" y="4442138"/>
            <a:ext cx="16278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click: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65105" y="4720113"/>
            <a:ext cx="1586412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Liberation Mono"/>
                <a:cs typeface="Liberation Mono"/>
              </a:rPr>
              <a:t>app://detail/5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9019" y="5252518"/>
            <a:ext cx="2132377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Seamless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User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Experience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Direct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5566088"/>
            <a:ext cx="3403645" cy="2427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Mở</a:t>
            </a:r>
            <a:r>
              <a:rPr dirty="0" sz="1350" spc="33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DetailFragment</a:t>
            </a:r>
            <a:r>
              <a:rPr dirty="0" sz="1350" spc="-47">
                <a:solidFill>
                  <a:srgbClr val="4b5563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với</a:t>
            </a:r>
            <a:r>
              <a:rPr dirty="0" sz="1350" spc="33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itemId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5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60552" y="334315"/>
            <a:ext cx="302328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0431" y="1676870"/>
            <a:ext cx="324099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nghĩa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9787" y="1706954"/>
            <a:ext cx="41216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Cấu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d47a1"/>
                </a:solidFill>
                <a:latin typeface="DejaVu Sans"/>
                <a:cs typeface="DejaVu Sans"/>
              </a:rPr>
              <a:t>Graph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184" y="2250633"/>
            <a:ext cx="4698831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thẳng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cụ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trong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50532" y="2361686"/>
            <a:ext cx="409394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&lt;deepLink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app:uri='app://detail/{itemId}'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07819" y="2876487"/>
            <a:ext cx="93655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XML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Markup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02152" y="2876487"/>
            <a:ext cx="16265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184" y="2974533"/>
            <a:ext cx="34646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URL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bên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ngoài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email.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19787" y="3954854"/>
            <a:ext cx="226975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dụ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22540" y="4442138"/>
            <a:ext cx="16278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click: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65105" y="4720113"/>
            <a:ext cx="1586412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Liberation Mono"/>
                <a:cs typeface="Liberation Mono"/>
              </a:rPr>
              <a:t>app://detail/5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9019" y="5252518"/>
            <a:ext cx="2132377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Seamless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User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Experience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Direct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5566088"/>
            <a:ext cx="3403645" cy="2427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Mở</a:t>
            </a:r>
            <a:r>
              <a:rPr dirty="0" sz="1350" spc="33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DetailFragment</a:t>
            </a:r>
            <a:r>
              <a:rPr dirty="0" sz="1350" spc="-47">
                <a:solidFill>
                  <a:srgbClr val="4b5563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với</a:t>
            </a:r>
            <a:r>
              <a:rPr dirty="0" sz="1350" spc="33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itemId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Mono"/>
                <a:cs typeface="Liberation Mono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36453" y="334315"/>
            <a:ext cx="5271324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Bài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tập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thực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6f00"/>
                </a:solidFill>
                <a:latin typeface="DejaVu Sans"/>
                <a:cs typeface="DejaVu Sans"/>
              </a:rPr>
              <a:t>hành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31532" y="1505420"/>
            <a:ext cx="411393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Bài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2: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Single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Nav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5976" y="1553045"/>
            <a:ext cx="450704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Bài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1: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2</a:t>
            </a:r>
            <a:r>
              <a:rPr dirty="0" sz="2000" spc="1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31532" y="1848320"/>
            <a:ext cx="180273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0862" y="2117283"/>
            <a:ext cx="461884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MainActivity: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tên,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sang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0d47a1"/>
                </a:solidFill>
                <a:latin typeface="DejaVu Sans"/>
                <a:cs typeface="DejaVu Sans"/>
              </a:rPr>
              <a:t>DetailActivity.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36419" y="2374458"/>
            <a:ext cx="460872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HomeFragment: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danh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sách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phẩm.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0862" y="2545908"/>
            <a:ext cx="4744467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DetailActivity:</a:t>
            </a:r>
            <a:r>
              <a:rPr dirty="0" sz="1500" spc="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tên,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nút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51">
                <a:solidFill>
                  <a:srgbClr val="0d47a1"/>
                </a:solidFill>
                <a:latin typeface="DejaVu Sans"/>
                <a:cs typeface="DejaVu Sans"/>
              </a:rPr>
              <a:t>'Trả</a:t>
            </a:r>
            <a:r>
              <a:rPr dirty="0" sz="1500" spc="6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quả'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lại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2">
                <a:solidFill>
                  <a:srgbClr val="0d47a1"/>
                </a:solidFill>
                <a:latin typeface="DejaVu Sans"/>
                <a:cs typeface="DejaVu Sans"/>
              </a:rPr>
              <a:t>MainActivity.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36419" y="2803083"/>
            <a:ext cx="4627678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Click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phẩm: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DetailFragment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Args.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36419" y="3526983"/>
            <a:ext cx="480494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Thêm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thẳng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DetailFragment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URL.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21089" y="5595418"/>
            <a:ext cx="1065941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Args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246119" y="5595418"/>
            <a:ext cx="105930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 b="1">
                <a:solidFill>
                  <a:srgbClr val="0d47a1"/>
                </a:solidFill>
                <a:latin typeface="DejaVu Sans"/>
                <a:cs typeface="DejaVu Sans"/>
              </a:rPr>
              <a:t>Fragments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54926" y="5595418"/>
            <a:ext cx="107834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Links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5533" y="5976418"/>
            <a:ext cx="75360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Intents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48321" y="5976418"/>
            <a:ext cx="147077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 spc="-1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Results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78609" y="5976418"/>
            <a:ext cx="124927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Data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0d47a1"/>
                </a:solidFill>
                <a:latin typeface="DejaVu Sans"/>
                <a:cs typeface="DejaVu Sans"/>
              </a:rPr>
              <a:t>Passing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36453" y="334315"/>
            <a:ext cx="5271324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Bài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47a1"/>
                </a:solidFill>
                <a:latin typeface="DejaVu Sans"/>
                <a:cs typeface="DejaVu Sans"/>
              </a:rPr>
              <a:t>tập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f00"/>
                </a:solidFill>
                <a:latin typeface="DejaVu Sans"/>
                <a:cs typeface="DejaVu Sans"/>
              </a:rPr>
              <a:t>thực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6f00"/>
                </a:solidFill>
                <a:latin typeface="DejaVu Sans"/>
                <a:cs typeface="DejaVu Sans"/>
              </a:rPr>
              <a:t>hành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31532" y="1505420"/>
            <a:ext cx="411393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Bài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2: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Single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Nav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5976" y="1553045"/>
            <a:ext cx="450704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Bài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1: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Tạo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2</a:t>
            </a:r>
            <a:r>
              <a:rPr dirty="0" sz="2000" spc="15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31532" y="1848320"/>
            <a:ext cx="180273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0862" y="2117283"/>
            <a:ext cx="461884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MainActivity:</a:t>
            </a:r>
            <a:r>
              <a:rPr dirty="0" sz="1500" spc="1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tên,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sang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0d47a1"/>
                </a:solidFill>
                <a:latin typeface="DejaVu Sans"/>
                <a:cs typeface="DejaVu Sans"/>
              </a:rPr>
              <a:t>DetailActivity.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36419" y="2374458"/>
            <a:ext cx="460872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HomeFragment: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danh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sách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phẩm.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0862" y="2545908"/>
            <a:ext cx="4744467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DetailActivity:</a:t>
            </a:r>
            <a:r>
              <a:rPr dirty="0" sz="1500" spc="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nhận,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tên,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nút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51">
                <a:solidFill>
                  <a:srgbClr val="0d47a1"/>
                </a:solidFill>
                <a:latin typeface="DejaVu Sans"/>
                <a:cs typeface="DejaVu Sans"/>
              </a:rPr>
              <a:t>'Trả</a:t>
            </a:r>
            <a:r>
              <a:rPr dirty="0" sz="1500" spc="62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quả'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lại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-12">
                <a:solidFill>
                  <a:srgbClr val="0d47a1"/>
                </a:solidFill>
                <a:latin typeface="DejaVu Sans"/>
                <a:cs typeface="DejaVu Sans"/>
              </a:rPr>
              <a:t>MainActivity.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36419" y="2803083"/>
            <a:ext cx="4627678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Click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phẩm: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DetailFragment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Args.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36419" y="3526983"/>
            <a:ext cx="480494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Thêm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thẳng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DetailFragment</a:t>
            </a:r>
            <a:r>
              <a:rPr dirty="0" sz="150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47a1"/>
                </a:solidFill>
                <a:latin typeface="DejaVu Sans"/>
                <a:cs typeface="DejaVu Sans"/>
              </a:rPr>
              <a:t>URL.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21089" y="5595418"/>
            <a:ext cx="1065941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  <a:r>
              <a:rPr dirty="0" sz="12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Args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246119" y="5595418"/>
            <a:ext cx="105930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 b="1">
                <a:solidFill>
                  <a:srgbClr val="0d47a1"/>
                </a:solidFill>
                <a:latin typeface="DejaVu Sans"/>
                <a:cs typeface="DejaVu Sans"/>
              </a:rPr>
              <a:t>Fragments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54926" y="5595418"/>
            <a:ext cx="107834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Links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5533" y="5976418"/>
            <a:ext cx="75360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d47a1"/>
                </a:solidFill>
                <a:latin typeface="DejaVu Sans"/>
                <a:cs typeface="DejaVu Sans"/>
              </a:rPr>
              <a:t>Intents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48321" y="5976418"/>
            <a:ext cx="147077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 spc="-11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Results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78609" y="5976418"/>
            <a:ext cx="124927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Data</a:t>
            </a:r>
            <a:r>
              <a:rPr dirty="0" sz="12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0d47a1"/>
                </a:solidFill>
                <a:latin typeface="DejaVu Sans"/>
                <a:cs typeface="DejaVu Sans"/>
              </a:rPr>
              <a:t>Passing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8764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84550" y="333300"/>
            <a:ext cx="477536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0" b="1">
                <a:solidFill>
                  <a:srgbClr val="ff6f00"/>
                </a:solidFill>
                <a:latin typeface="DejaVu Sans"/>
                <a:cs typeface="DejaVu Sans"/>
              </a:rPr>
              <a:t>Tuần</a:t>
            </a:r>
            <a:r>
              <a:rPr dirty="0" sz="4050" spc="1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72489" y="393752"/>
            <a:ext cx="109139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{{contact}}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53765" y="1256754"/>
            <a:ext cx="339373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Luồng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75338" y="1256754"/>
            <a:ext cx="323649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Nâng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4339" y="2039313"/>
            <a:ext cx="281991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Intent: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thông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điệp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49230" y="2039313"/>
            <a:ext cx="160191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Filter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1625" y="2479727"/>
            <a:ext cx="403990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tải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06517" y="2479727"/>
            <a:ext cx="308711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Intent.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68325" y="2863138"/>
            <a:ext cx="665249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45084" y="2863138"/>
            <a:ext cx="656851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0d47a1"/>
                </a:solidFill>
                <a:latin typeface="DejaVu Sans"/>
                <a:cs typeface="DejaVu Sans"/>
              </a:rPr>
              <a:t>Service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15890" y="2863138"/>
            <a:ext cx="839264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0">
                <a:solidFill>
                  <a:srgbClr val="0d47a1"/>
                </a:solidFill>
                <a:latin typeface="DejaVu Sans"/>
                <a:cs typeface="DejaVu Sans"/>
              </a:rPr>
              <a:t>Broadcast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73217" y="2863138"/>
            <a:ext cx="65458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41641" y="2863138"/>
            <a:ext cx="73489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4">
                <a:solidFill>
                  <a:srgbClr val="0d47a1"/>
                </a:solidFill>
                <a:latin typeface="DejaVu Sans"/>
                <a:cs typeface="DejaVu Sans"/>
              </a:rPr>
              <a:t>Manifest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60549" y="3734763"/>
            <a:ext cx="210874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Phân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biệt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87330" y="3734763"/>
            <a:ext cx="238396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944617" y="4175177"/>
            <a:ext cx="37986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đại.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07392" y="4299002"/>
            <a:ext cx="30233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1e40af"/>
                </a:solidFill>
                <a:latin typeface="DejaVu Sans"/>
                <a:cs typeface="DejaVu Sans"/>
              </a:rPr>
              <a:t>Explicit:</a:t>
            </a:r>
            <a:r>
              <a:rPr dirty="0" sz="1200" spc="-4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Xác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40af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36">
                <a:solidFill>
                  <a:srgbClr val="1e40af"/>
                </a:solidFill>
                <a:latin typeface="DejaVu Sans"/>
                <a:cs typeface="DejaVu Sans"/>
              </a:rPr>
              <a:t>rõ</a:t>
            </a:r>
            <a:r>
              <a:rPr dirty="0" sz="1200" spc="12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component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40af"/>
                </a:solidFill>
                <a:latin typeface="DejaVu Sans"/>
                <a:cs typeface="DejaVu Sans"/>
              </a:rPr>
              <a:t>đích.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211317" y="4558588"/>
            <a:ext cx="80267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0d47a1"/>
                </a:solidFill>
                <a:latin typeface="DejaVu Sans"/>
                <a:cs typeface="DejaVu Sans"/>
              </a:rPr>
              <a:t>Callbacks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327825" y="4558588"/>
            <a:ext cx="751157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1">
                <a:solidFill>
                  <a:srgbClr val="0d47a1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07392" y="4775252"/>
            <a:ext cx="346805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9a3412"/>
                </a:solidFill>
                <a:latin typeface="DejaVu Sans"/>
                <a:cs typeface="DejaVu Sans"/>
              </a:rPr>
              <a:t>Implicit:</a:t>
            </a:r>
            <a:r>
              <a:rPr dirty="0" sz="1200" spc="76" b="1">
                <a:solidFill>
                  <a:srgbClr val="9a3412"/>
                </a:solidFill>
                <a:latin typeface="Times New Roman"/>
                <a:cs typeface="Times New Roman"/>
              </a:rPr>
              <a:t> </a:t>
            </a:r>
            <a:r>
              <a:rPr dirty="0" sz="1200" spc="-18">
                <a:solidFill>
                  <a:srgbClr val="9a3412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a3412"/>
                </a:solidFill>
                <a:latin typeface="DejaVu Sans"/>
                <a:cs typeface="DejaVu Sans"/>
              </a:rPr>
              <a:t>thống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tìm</a:t>
            </a:r>
            <a:r>
              <a:rPr dirty="0" sz="1200" spc="-23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a3412"/>
                </a:solidFill>
                <a:latin typeface="DejaVu Sans"/>
                <a:cs typeface="DejaVu Sans"/>
              </a:rPr>
              <a:t>component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a3412"/>
                </a:solidFill>
                <a:latin typeface="DejaVu Sans"/>
                <a:cs typeface="DejaVu Sans"/>
              </a:rPr>
              <a:t>phù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a3412"/>
                </a:solidFill>
                <a:latin typeface="DejaVu Sans"/>
                <a:cs typeface="DejaVu Sans"/>
              </a:rPr>
              <a:t>hợp.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903540" y="5420688"/>
            <a:ext cx="290590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60549" y="5696913"/>
            <a:ext cx="343410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thức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906517" y="5908727"/>
            <a:ext cx="38583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5">
                <a:solidFill>
                  <a:srgbClr val="0d47a1"/>
                </a:solidFill>
                <a:latin typeface="DejaVu Sans"/>
                <a:cs typeface="DejaVu Sans"/>
              </a:rPr>
              <a:t>Single-Activity.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28538" y="6175427"/>
            <a:ext cx="3140008" cy="516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putExtra:</a:t>
            </a:r>
            <a:r>
              <a:rPr dirty="0" sz="1200" spc="-3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đơn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giản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(key-value).</a:t>
            </a:r>
          </a:p>
          <a:p>
            <a:pPr marL="0" marR="0">
              <a:lnSpc>
                <a:spcPts val="1368"/>
              </a:lnSpc>
              <a:spcBef>
                <a:spcPts val="1031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Bundle:</a:t>
            </a:r>
            <a:r>
              <a:rPr dirty="0" sz="1200" spc="-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Gom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173217" y="6282613"/>
            <a:ext cx="1134111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Single-Activity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615808" y="6282613"/>
            <a:ext cx="80286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  <a:r>
              <a:rPr dirty="0" sz="105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Args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732614" y="6282613"/>
            <a:ext cx="834921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50" spc="1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28538" y="6775502"/>
            <a:ext cx="34730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Parcelable:</a:t>
            </a:r>
            <a:r>
              <a:rPr dirty="0" sz="1200" spc="-3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Object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tùy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chỉnh,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79549" y="8070147"/>
            <a:ext cx="517429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“Intents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0d47a1"/>
                </a:solidFill>
                <a:latin typeface="DejaVu Sans"/>
                <a:cs typeface="DejaVu Sans"/>
              </a:rPr>
              <a:t>are</a:t>
            </a:r>
            <a:r>
              <a:rPr dirty="0" sz="1350" spc="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mainly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used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navigating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between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activities,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passing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data,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or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even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invoking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system-level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actions.”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367533" y="8651927"/>
            <a:ext cx="258222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-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Medium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(The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Junior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Developer)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809034" y="9080552"/>
            <a:ext cx="435580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nối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thế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giới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bên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ngoài.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174407" y="9281331"/>
            <a:ext cx="47431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(Deep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Links),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Medium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(Android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Navigation)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8764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84550" y="333300"/>
            <a:ext cx="477536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405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4050" spc="-120" b="1">
                <a:solidFill>
                  <a:srgbClr val="ff6f00"/>
                </a:solidFill>
                <a:latin typeface="DejaVu Sans"/>
                <a:cs typeface="DejaVu Sans"/>
              </a:rPr>
              <a:t>Tuần</a:t>
            </a:r>
            <a:r>
              <a:rPr dirty="0" sz="4050" spc="100" b="1">
                <a:solidFill>
                  <a:srgbClr val="ff6f0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6f00"/>
                </a:solidFill>
                <a:latin typeface="DejaVu Sans"/>
                <a:cs typeface="DejaVu Sans"/>
              </a:rPr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72489" y="393752"/>
            <a:ext cx="109139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{{contact}}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53765" y="1256754"/>
            <a:ext cx="339373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Luồng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75338" y="1256754"/>
            <a:ext cx="323649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0d47a1"/>
                </a:solidFill>
                <a:latin typeface="DejaVu Sans"/>
                <a:cs typeface="DejaVu Sans"/>
              </a:rPr>
              <a:t>Nâng</a:t>
            </a:r>
            <a:r>
              <a:rPr dirty="0" sz="20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47a1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4339" y="2039313"/>
            <a:ext cx="281991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Intent: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Gửi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thông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điệp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49230" y="2039313"/>
            <a:ext cx="160191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Filter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1625" y="2479727"/>
            <a:ext cx="403990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tượng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tải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giữa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06517" y="2479727"/>
            <a:ext cx="308711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Khai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báo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Intent.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68325" y="2863138"/>
            <a:ext cx="665249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45084" y="2863138"/>
            <a:ext cx="656851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0d47a1"/>
                </a:solidFill>
                <a:latin typeface="DejaVu Sans"/>
                <a:cs typeface="DejaVu Sans"/>
              </a:rPr>
              <a:t>Service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15890" y="2863138"/>
            <a:ext cx="839264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0">
                <a:solidFill>
                  <a:srgbClr val="0d47a1"/>
                </a:solidFill>
                <a:latin typeface="DejaVu Sans"/>
                <a:cs typeface="DejaVu Sans"/>
              </a:rPr>
              <a:t>Broadcast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73217" y="2863138"/>
            <a:ext cx="65458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1">
                <a:solidFill>
                  <a:srgbClr val="0d47a1"/>
                </a:solidFill>
                <a:latin typeface="DejaVu Sans"/>
                <a:cs typeface="DejaVu Sans"/>
              </a:rPr>
              <a:t>Implicit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41641" y="2863138"/>
            <a:ext cx="73489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4">
                <a:solidFill>
                  <a:srgbClr val="0d47a1"/>
                </a:solidFill>
                <a:latin typeface="DejaVu Sans"/>
                <a:cs typeface="DejaVu Sans"/>
              </a:rPr>
              <a:t>Manifest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60549" y="3734763"/>
            <a:ext cx="210874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Phân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biệt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Intent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87330" y="3734763"/>
            <a:ext cx="238396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Result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944617" y="4175177"/>
            <a:ext cx="37986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Nhận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kết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Activity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khác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đại.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07392" y="4299002"/>
            <a:ext cx="30233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1e40af"/>
                </a:solidFill>
                <a:latin typeface="DejaVu Sans"/>
                <a:cs typeface="DejaVu Sans"/>
              </a:rPr>
              <a:t>Explicit:</a:t>
            </a:r>
            <a:r>
              <a:rPr dirty="0" sz="1200" spc="-4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Xác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40af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36">
                <a:solidFill>
                  <a:srgbClr val="1e40af"/>
                </a:solidFill>
                <a:latin typeface="DejaVu Sans"/>
                <a:cs typeface="DejaVu Sans"/>
              </a:rPr>
              <a:t>rõ</a:t>
            </a:r>
            <a:r>
              <a:rPr dirty="0" sz="1200" spc="12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component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40af"/>
                </a:solidFill>
                <a:latin typeface="DejaVu Sans"/>
                <a:cs typeface="DejaVu Sans"/>
              </a:rPr>
              <a:t>đích.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211317" y="4558588"/>
            <a:ext cx="80267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0d47a1"/>
                </a:solidFill>
                <a:latin typeface="DejaVu Sans"/>
                <a:cs typeface="DejaVu Sans"/>
              </a:rPr>
              <a:t>Callbacks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327825" y="4558588"/>
            <a:ext cx="751157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1">
                <a:solidFill>
                  <a:srgbClr val="0d47a1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07392" y="4775252"/>
            <a:ext cx="346805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9a3412"/>
                </a:solidFill>
                <a:latin typeface="DejaVu Sans"/>
                <a:cs typeface="DejaVu Sans"/>
              </a:rPr>
              <a:t>Implicit:</a:t>
            </a:r>
            <a:r>
              <a:rPr dirty="0" sz="1200" spc="76" b="1">
                <a:solidFill>
                  <a:srgbClr val="9a3412"/>
                </a:solidFill>
                <a:latin typeface="Times New Roman"/>
                <a:cs typeface="Times New Roman"/>
              </a:rPr>
              <a:t> </a:t>
            </a:r>
            <a:r>
              <a:rPr dirty="0" sz="1200" spc="-18">
                <a:solidFill>
                  <a:srgbClr val="9a3412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a3412"/>
                </a:solidFill>
                <a:latin typeface="DejaVu Sans"/>
                <a:cs typeface="DejaVu Sans"/>
              </a:rPr>
              <a:t>thống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tìm</a:t>
            </a:r>
            <a:r>
              <a:rPr dirty="0" sz="1200" spc="-23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a3412"/>
                </a:solidFill>
                <a:latin typeface="DejaVu Sans"/>
                <a:cs typeface="DejaVu Sans"/>
              </a:rPr>
              <a:t>component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a3412"/>
                </a:solidFill>
                <a:latin typeface="DejaVu Sans"/>
                <a:cs typeface="DejaVu Sans"/>
              </a:rPr>
              <a:t>phù</a:t>
            </a:r>
            <a:r>
              <a:rPr dirty="0" sz="120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a3412"/>
                </a:solidFill>
                <a:latin typeface="DejaVu Sans"/>
                <a:cs typeface="DejaVu Sans"/>
              </a:rPr>
              <a:t>hợp.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903540" y="5420688"/>
            <a:ext cx="290590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Navigation</a:t>
            </a:r>
            <a:r>
              <a:rPr dirty="0" sz="1700" spc="-1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60549" y="5696913"/>
            <a:ext cx="343410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Phương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0d47a1"/>
                </a:solidFill>
                <a:latin typeface="DejaVu Sans"/>
                <a:cs typeface="DejaVu Sans"/>
              </a:rPr>
              <a:t>thức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d47a1"/>
                </a:solidFill>
                <a:latin typeface="DejaVu Sans"/>
                <a:cs typeface="DejaVu Sans"/>
              </a:rPr>
              <a:t>truyền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906517" y="5908727"/>
            <a:ext cx="38583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0d47a1"/>
                </a:solidFill>
                <a:latin typeface="DejaVu Sans"/>
                <a:cs typeface="DejaVu Sans"/>
              </a:rPr>
              <a:t>mô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5">
                <a:solidFill>
                  <a:srgbClr val="0d47a1"/>
                </a:solidFill>
                <a:latin typeface="DejaVu Sans"/>
                <a:cs typeface="DejaVu Sans"/>
              </a:rPr>
              <a:t>Single-Activity.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28538" y="6175427"/>
            <a:ext cx="3140008" cy="516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putExtra:</a:t>
            </a:r>
            <a:r>
              <a:rPr dirty="0" sz="1200" spc="-38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đơn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giản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(key-value).</a:t>
            </a:r>
          </a:p>
          <a:p>
            <a:pPr marL="0" marR="0">
              <a:lnSpc>
                <a:spcPts val="1368"/>
              </a:lnSpc>
              <a:spcBef>
                <a:spcPts val="1031"/>
              </a:spcBef>
              <a:spcAft>
                <a:spcPts val="0"/>
              </a:spcAft>
            </a:pPr>
            <a:r>
              <a:rPr dirty="0" sz="1200" spc="-15" b="1">
                <a:solidFill>
                  <a:srgbClr val="0d47a1"/>
                </a:solidFill>
                <a:latin typeface="DejaVu Sans"/>
                <a:cs typeface="DejaVu Sans"/>
              </a:rPr>
              <a:t>Bundle:</a:t>
            </a:r>
            <a:r>
              <a:rPr dirty="0" sz="1200" spc="-37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Gom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nhiều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loại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173217" y="6282613"/>
            <a:ext cx="1134111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Single-Activity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615808" y="6282613"/>
            <a:ext cx="802865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0d47a1"/>
                </a:solidFill>
                <a:latin typeface="DejaVu Sans"/>
                <a:cs typeface="DejaVu Sans"/>
              </a:rPr>
              <a:t>Safe</a:t>
            </a:r>
            <a:r>
              <a:rPr dirty="0" sz="1050" spc="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Args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732614" y="6282613"/>
            <a:ext cx="834921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0d47a1"/>
                </a:solidFill>
                <a:latin typeface="DejaVu Sans"/>
                <a:cs typeface="DejaVu Sans"/>
              </a:rPr>
              <a:t>Deep</a:t>
            </a:r>
            <a:r>
              <a:rPr dirty="0" sz="10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050" spc="11">
                <a:solidFill>
                  <a:srgbClr val="0d47a1"/>
                </a:solidFill>
                <a:latin typeface="DejaVu Sans"/>
                <a:cs typeface="DejaVu Sans"/>
              </a:rPr>
              <a:t>Link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28538" y="6775502"/>
            <a:ext cx="34730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d47a1"/>
                </a:solidFill>
                <a:latin typeface="DejaVu Sans"/>
                <a:cs typeface="DejaVu Sans"/>
              </a:rPr>
              <a:t>Parcelable:</a:t>
            </a:r>
            <a:r>
              <a:rPr dirty="0" sz="1200" spc="-34" b="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Object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tùy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chỉnh,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d47a1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79549" y="8070147"/>
            <a:ext cx="517429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“Intents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0d47a1"/>
                </a:solidFill>
                <a:latin typeface="DejaVu Sans"/>
                <a:cs typeface="DejaVu Sans"/>
              </a:rPr>
              <a:t>are</a:t>
            </a:r>
            <a:r>
              <a:rPr dirty="0" sz="1350" spc="11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mainly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used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navigating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between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activities,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passing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data,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or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even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invoking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system-level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47a1"/>
                </a:solidFill>
                <a:latin typeface="DejaVu Sans"/>
                <a:cs typeface="DejaVu Sans"/>
              </a:rPr>
              <a:t>actions.”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367533" y="8651927"/>
            <a:ext cx="258222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-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Medium</a:t>
            </a:r>
            <a:r>
              <a:rPr dirty="0" sz="1200" spc="-17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(The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Junior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Developer)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809034" y="9080552"/>
            <a:ext cx="435580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Cầu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nối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47a1"/>
                </a:solidFill>
                <a:latin typeface="DejaVu Sans"/>
                <a:cs typeface="DejaVu Sans"/>
              </a:rPr>
              <a:t>thế</a:t>
            </a:r>
            <a:r>
              <a:rPr dirty="0" sz="1200" spc="-1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47a1"/>
                </a:solidFill>
                <a:latin typeface="DejaVu Sans"/>
                <a:cs typeface="DejaVu Sans"/>
              </a:rPr>
              <a:t>giới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47a1"/>
                </a:solidFill>
                <a:latin typeface="DejaVu Sans"/>
                <a:cs typeface="DejaVu Sans"/>
              </a:rPr>
              <a:t>bên</a:t>
            </a:r>
            <a:r>
              <a:rPr dirty="0" sz="1200">
                <a:solidFill>
                  <a:srgbClr val="0d47a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47a1"/>
                </a:solidFill>
                <a:latin typeface="DejaVu Sans"/>
                <a:cs typeface="DejaVu Sans"/>
              </a:rPr>
              <a:t>ngoài.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174407" y="9281331"/>
            <a:ext cx="47431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(Deep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Links),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Medium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(Android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Navigation)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2025-08-28T03:52:11+00:00</dcterms:modified>
</cp:coreProperties>
</file>