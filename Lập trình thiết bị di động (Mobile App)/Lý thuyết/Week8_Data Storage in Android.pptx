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64" r:id="rId7"/>
    <p:sldId id="266" r:id="rId8"/>
    <p:sldId id="271" r:id="rId9"/>
    <p:sldId id="272" r:id="rId10"/>
    <p:sldId id="273" r:id="rId1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28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03212" y="2430285"/>
            <a:ext cx="10937923" cy="932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sz="6050" b="1" dirty="0">
                <a:solidFill>
                  <a:srgbClr val="ABB2BF"/>
                </a:solidFill>
                <a:latin typeface="DejaVu Sans"/>
                <a:cs typeface="DejaVu Sans"/>
              </a:rPr>
              <a:t>Data Storage in Android: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89100" y="3392310"/>
            <a:ext cx="8166103" cy="932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sz="6050" b="1" dirty="0">
                <a:solidFill>
                  <a:srgbClr val="A4C639"/>
                </a:solidFill>
                <a:latin typeface="DejaVu Sans"/>
                <a:cs typeface="DejaVu Sans"/>
              </a:rPr>
              <a:t>Hướng dẫn chi tiết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03212" y="2430285"/>
            <a:ext cx="10937923" cy="932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sz="6050" b="1" dirty="0">
                <a:solidFill>
                  <a:srgbClr val="ABB2BF"/>
                </a:solidFill>
                <a:latin typeface="DejaVu Sans"/>
                <a:cs typeface="DejaVu Sans"/>
              </a:rPr>
              <a:t>Data Storage in Android: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89100" y="3392310"/>
            <a:ext cx="8166103" cy="932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sz="6050" b="1" dirty="0">
                <a:solidFill>
                  <a:srgbClr val="A4C639"/>
                </a:solidFill>
                <a:latin typeface="DejaVu Sans"/>
                <a:cs typeface="DejaVu Sans"/>
              </a:rPr>
              <a:t>Hướng dẫn chi tiết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9983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08819" y="322124"/>
            <a:ext cx="9326620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A4C639"/>
                </a:solidFill>
                <a:latin typeface="DejaVu Sans"/>
                <a:cs typeface="DejaVu Sans"/>
              </a:rPr>
              <a:t>Phân</a:t>
            </a:r>
            <a:r>
              <a:rPr sz="405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A4C639"/>
                </a:solidFill>
                <a:latin typeface="DejaVu Sans"/>
                <a:cs typeface="DejaVu Sans"/>
              </a:rPr>
              <a:t>loại</a:t>
            </a:r>
            <a:r>
              <a:rPr sz="405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ABB2BF"/>
                </a:solidFill>
                <a:latin typeface="DejaVu Sans"/>
                <a:cs typeface="DejaVu Sans"/>
              </a:rPr>
              <a:t>các</a:t>
            </a:r>
            <a:r>
              <a:rPr sz="4050" b="1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ABB2BF"/>
                </a:solidFill>
                <a:latin typeface="DejaVu Sans"/>
                <a:cs typeface="DejaVu Sans"/>
              </a:rPr>
              <a:t>phương</a:t>
            </a:r>
            <a:r>
              <a:rPr sz="4050" b="1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ABB2BF"/>
                </a:solidFill>
                <a:latin typeface="DejaVu Sans"/>
                <a:cs typeface="DejaVu Sans"/>
              </a:rPr>
              <a:t>án</a:t>
            </a:r>
            <a:r>
              <a:rPr sz="4050" b="1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A4C639"/>
                </a:solidFill>
                <a:latin typeface="DejaVu Sans"/>
                <a:cs typeface="DejaVu Sans"/>
              </a:rPr>
              <a:t>lưu </a:t>
            </a:r>
            <a:r>
              <a:rPr sz="4050" b="1" dirty="0">
                <a:solidFill>
                  <a:srgbClr val="A4C639"/>
                </a:solidFill>
                <a:latin typeface="DejaVu Sans"/>
                <a:cs typeface="DejaVu Sans"/>
              </a:rPr>
              <a:t>trữ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58579" y="988403"/>
            <a:ext cx="602719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ABB2BF"/>
                </a:solidFill>
                <a:latin typeface="DejaVu Sans"/>
                <a:cs typeface="DejaVu Sans"/>
              </a:rPr>
              <a:t>Tổng</a:t>
            </a:r>
            <a:r>
              <a:rPr sz="20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ABB2BF"/>
                </a:solidFill>
                <a:latin typeface="DejaVu Sans"/>
                <a:cs typeface="DejaVu Sans"/>
              </a:rPr>
              <a:t>quan</a:t>
            </a:r>
            <a:r>
              <a:rPr sz="2000" dirty="0">
                <a:solidFill>
                  <a:srgbClr val="ABB2BF"/>
                </a:solidFill>
                <a:latin typeface="DejaVu Sans"/>
                <a:cs typeface="DejaVu Sans"/>
              </a:rPr>
              <a:t> về lựa chọn lưu trữ </a:t>
            </a:r>
            <a:r>
              <a:rPr sz="2000" spc="10" dirty="0">
                <a:solidFill>
                  <a:srgbClr val="ABB2BF"/>
                </a:solidFill>
                <a:latin typeface="DejaVu Sans"/>
                <a:cs typeface="DejaVu Sans"/>
              </a:rPr>
              <a:t>dữ</a:t>
            </a:r>
            <a:r>
              <a:rPr sz="2000" dirty="0">
                <a:solidFill>
                  <a:srgbClr val="ABB2BF"/>
                </a:solidFill>
                <a:latin typeface="DejaVu Sans"/>
                <a:cs typeface="DejaVu Sans"/>
              </a:rPr>
              <a:t> liệu Android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6641" y="1969478"/>
            <a:ext cx="220430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23" dirty="0">
                <a:solidFill>
                  <a:srgbClr val="A4C639"/>
                </a:solidFill>
                <a:latin typeface="DejaVu Sans"/>
                <a:cs typeface="DejaVu Sans"/>
              </a:rPr>
              <a:t>Key-Value</a:t>
            </a:r>
            <a:r>
              <a:rPr sz="2000" b="1" spc="40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nhỏ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69632" y="1969478"/>
            <a:ext cx="169946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File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cục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bộ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8354" y="2486847"/>
            <a:ext cx="304599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0" dirty="0">
                <a:solidFill>
                  <a:srgbClr val="ABB2BF"/>
                </a:solidFill>
                <a:latin typeface="DejaVu Sans"/>
                <a:cs typeface="DejaVu Sans"/>
              </a:rPr>
              <a:t>SharedPreferences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 (Cũ, Đơn giản)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31346" y="2486847"/>
            <a:ext cx="320623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Internal Storage (Riêng tư, An toàn)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8354" y="2867847"/>
            <a:ext cx="298979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Jetpack DataStore (Mới, Hiện đại)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31346" y="2867847"/>
            <a:ext cx="262785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External/Media/SAF (Chia sẻ)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4691" y="3240076"/>
            <a:ext cx="496821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"DataStore: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Bất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đồng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bộ,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an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ABB2BF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ABB2BF"/>
                </a:solidFill>
                <a:latin typeface="DejaVu Sans"/>
                <a:cs typeface="DejaVu Sans"/>
              </a:rPr>
              <a:t>kiểu</a:t>
            </a:r>
            <a:r>
              <a:rPr sz="1200" spc="-1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ABB2BF"/>
                </a:solidFill>
                <a:latin typeface="DejaVu Sans"/>
                <a:cs typeface="DejaVu Sans"/>
              </a:rPr>
              <a:t>liệu,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ABB2BF"/>
                </a:solidFill>
                <a:latin typeface="DejaVu Sans"/>
                <a:cs typeface="DejaVu Sans"/>
              </a:rPr>
              <a:t>cấu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ABB2BF"/>
                </a:solidFill>
                <a:latin typeface="DejaVu Sans"/>
                <a:cs typeface="DejaVu Sans"/>
              </a:rPr>
              <a:t>trúc</a:t>
            </a:r>
            <a:r>
              <a:rPr sz="1200" spc="-1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36" dirty="0">
                <a:solidFill>
                  <a:srgbClr val="ABB2BF"/>
                </a:solidFill>
                <a:latin typeface="DejaVu Sans"/>
                <a:cs typeface="DejaVu Sans"/>
              </a:rPr>
              <a:t>rõ</a:t>
            </a:r>
            <a:r>
              <a:rPr sz="1200" spc="12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ABB2BF"/>
                </a:solidFill>
                <a:latin typeface="DejaVu Sans"/>
                <a:cs typeface="DejaVu Sans"/>
              </a:rPr>
              <a:t>ràng."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18075" y="3240076"/>
            <a:ext cx="499102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ABB2BF"/>
                </a:solidFill>
                <a:latin typeface="DejaVu Sans"/>
                <a:cs typeface="DejaVu Sans"/>
              </a:rPr>
              <a:t>Kiểm</a:t>
            </a:r>
            <a:r>
              <a:rPr sz="1200" spc="-18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ABB2BF"/>
                </a:solidFill>
                <a:latin typeface="DejaVu Sans"/>
                <a:cs typeface="DejaVu Sans"/>
              </a:rPr>
              <a:t>soát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ABB2BF"/>
                </a:solidFill>
                <a:latin typeface="DejaVu Sans"/>
                <a:cs typeface="DejaVu Sans"/>
              </a:rPr>
              <a:t>truy</a:t>
            </a:r>
            <a:r>
              <a:rPr sz="1200" spc="-1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ABB2BF"/>
                </a:solidFill>
                <a:latin typeface="DejaVu Sans"/>
                <a:cs typeface="DejaVu Sans"/>
              </a:rPr>
              <a:t>cập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ABB2BF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ABB2BF"/>
                </a:solidFill>
                <a:latin typeface="DejaVu Sans"/>
                <a:cs typeface="DejaVu Sans"/>
              </a:rPr>
              <a:t>theo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phạm vi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ABB2BF"/>
                </a:solidFill>
                <a:latin typeface="DejaVu Sans"/>
                <a:cs typeface="DejaVu Sans"/>
              </a:rPr>
              <a:t>tăng</a:t>
            </a:r>
            <a:r>
              <a:rPr sz="1200" spc="-1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cường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bảo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mật.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81645" y="4062213"/>
            <a:ext cx="88499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Dữ liệu nhỏ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67048" y="4062213"/>
            <a:ext cx="72094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Cấu hình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24636" y="4062213"/>
            <a:ext cx="94199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Ảnh &amp; Video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767041" y="4062213"/>
            <a:ext cx="60132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56" dirty="0">
                <a:solidFill>
                  <a:srgbClr val="D1D5DB"/>
                </a:solidFill>
                <a:latin typeface="DejaVu Sans"/>
                <a:cs typeface="DejaVu Sans"/>
              </a:rPr>
              <a:t>Tà</a:t>
            </a:r>
            <a:r>
              <a:rPr sz="1000" spc="-313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i liệu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26641" y="5084154"/>
            <a:ext cx="285188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2" dirty="0">
                <a:solidFill>
                  <a:srgbClr val="A4C639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liệu có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cấu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trúc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069632" y="5084154"/>
            <a:ext cx="276164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Nguyên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tắc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chung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8354" y="5591997"/>
            <a:ext cx="3181086" cy="627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SQLite (Cơ bản, Tương tác SQL thô)</a:t>
            </a:r>
          </a:p>
          <a:p>
            <a:pPr marL="0" marR="0">
              <a:lnSpc>
                <a:spcPts val="1564"/>
              </a:lnSpc>
              <a:spcBef>
                <a:spcPts val="1460"/>
              </a:spcBef>
              <a:spcAft>
                <a:spcPts val="0"/>
              </a:spcAft>
            </a:pPr>
            <a:r>
              <a:rPr sz="1350" spc="-25" dirty="0">
                <a:solidFill>
                  <a:srgbClr val="ABB2BF"/>
                </a:solidFill>
                <a:latin typeface="DejaVu Sans"/>
                <a:cs typeface="DejaVu Sans"/>
              </a:rPr>
              <a:t>Room</a:t>
            </a:r>
            <a:r>
              <a:rPr sz="1350" spc="15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(Mạnh mẽ, </a:t>
            </a:r>
            <a:r>
              <a:rPr sz="1350" spc="-12" dirty="0">
                <a:solidFill>
                  <a:srgbClr val="ABB2BF"/>
                </a:solidFill>
                <a:latin typeface="DejaVu Sans"/>
                <a:cs typeface="DejaVu Sans"/>
              </a:rPr>
              <a:t>trên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 SQLite)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731346" y="5591997"/>
            <a:ext cx="3456223" cy="627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I/O </a:t>
            </a:r>
            <a:r>
              <a:rPr sz="1350" spc="-12" dirty="0">
                <a:solidFill>
                  <a:srgbClr val="ABB2BF"/>
                </a:solidFill>
                <a:latin typeface="DejaVu Sans"/>
                <a:cs typeface="DejaVu Sans"/>
              </a:rPr>
              <a:t>trên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 Dispatchers.IO </a:t>
            </a:r>
            <a:r>
              <a:rPr sz="1350" spc="-36" dirty="0">
                <a:solidFill>
                  <a:srgbClr val="ABB2BF"/>
                </a:solidFill>
                <a:latin typeface="DejaVu Sans"/>
                <a:cs typeface="DejaVu Sans"/>
              </a:rPr>
              <a:t>(Tránh</a:t>
            </a:r>
            <a:r>
              <a:rPr sz="1350" spc="28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chặn UI)</a:t>
            </a:r>
          </a:p>
          <a:p>
            <a:pPr marL="0" marR="0">
              <a:lnSpc>
                <a:spcPts val="1564"/>
              </a:lnSpc>
              <a:spcBef>
                <a:spcPts val="1460"/>
              </a:spcBef>
              <a:spcAft>
                <a:spcPts val="0"/>
              </a:spcAft>
            </a:pP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Mã hóa dữ liệu nhạy cảm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64691" y="6354751"/>
            <a:ext cx="4104288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7" dirty="0">
                <a:solidFill>
                  <a:srgbClr val="ABB2BF"/>
                </a:solidFill>
                <a:latin typeface="DejaVu Sans"/>
                <a:cs typeface="DejaVu Sans"/>
              </a:rPr>
              <a:t>"Room:</a:t>
            </a:r>
            <a:r>
              <a:rPr sz="1200" spc="1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ABB2BF"/>
                </a:solidFill>
                <a:latin typeface="DejaVu Sans"/>
                <a:cs typeface="DejaVu Sans"/>
              </a:rPr>
              <a:t>Quản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ABB2BF"/>
                </a:solidFill>
                <a:latin typeface="DejaVu Sans"/>
                <a:cs typeface="DejaVu Sans"/>
              </a:rPr>
              <a:t>lược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đồ,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di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chuyển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ABB2BF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&amp;</a:t>
            </a:r>
            <a:r>
              <a:rPr sz="1200" spc="-27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ABB2BF"/>
                </a:solidFill>
                <a:latin typeface="DejaVu Sans"/>
                <a:cs typeface="DejaVu Sans"/>
              </a:rPr>
              <a:t>tích</a:t>
            </a:r>
            <a:r>
              <a:rPr sz="1200" spc="-12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hợp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20" dirty="0">
                <a:solidFill>
                  <a:srgbClr val="ABB2BF"/>
                </a:solidFill>
                <a:latin typeface="DejaVu Sans"/>
                <a:cs typeface="DejaVu Sans"/>
              </a:rPr>
              <a:t>LiveData/Flow."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731346" y="6363522"/>
            <a:ext cx="276268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Scoped Storage (Android 10+)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518075" y="6735751"/>
            <a:ext cx="422934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ABB2BF"/>
                </a:solidFill>
                <a:latin typeface="DejaVu Sans"/>
                <a:cs typeface="DejaVu Sans"/>
              </a:rPr>
              <a:t>Đảm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 bảo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ABB2BF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ABB2BF"/>
                </a:solidFill>
                <a:latin typeface="DejaVu Sans"/>
                <a:cs typeface="DejaVu Sans"/>
              </a:rPr>
              <a:t>suất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bảo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ABB2BF"/>
                </a:solidFill>
                <a:latin typeface="DejaVu Sans"/>
                <a:cs typeface="DejaVu Sans"/>
              </a:rPr>
              <a:t>mật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ứng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bạn.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81645" y="7176888"/>
            <a:ext cx="69438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Quan hệ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676399" y="7176888"/>
            <a:ext cx="45256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ORM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624636" y="7176888"/>
            <a:ext cx="76118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Hiệu suất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586215" y="7176888"/>
            <a:ext cx="69093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Bảo mật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6766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21732" y="375723"/>
            <a:ext cx="4853167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7" dirty="0">
                <a:solidFill>
                  <a:srgbClr val="F3F4F6"/>
                </a:solidFill>
                <a:latin typeface="Liberation Sans"/>
                <a:cs typeface="Liberation Sans"/>
              </a:rPr>
              <a:t>Ch</a:t>
            </a:r>
            <a:r>
              <a:rPr sz="3000" b="1" spc="1039" dirty="0">
                <a:solidFill>
                  <a:srgbClr val="F3F4F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F3F4F6"/>
                </a:solidFill>
                <a:latin typeface="Liberation Sans"/>
                <a:cs typeface="Liberation Sans"/>
              </a:rPr>
              <a:t>n</a:t>
            </a:r>
            <a:r>
              <a:rPr sz="3000" b="1" spc="20" dirty="0">
                <a:solidFill>
                  <a:srgbClr val="F3F4F6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F3F4F6"/>
                </a:solidFill>
                <a:latin typeface="Liberation Sans"/>
                <a:cs typeface="Liberation Sans"/>
              </a:rPr>
              <a:t>đúng</a:t>
            </a:r>
            <a:r>
              <a:rPr sz="3000" b="1" dirty="0">
                <a:solidFill>
                  <a:srgbClr val="F3F4F6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A4C639"/>
                </a:solidFill>
                <a:latin typeface="Liberation Sans"/>
                <a:cs typeface="Liberation Sans"/>
              </a:rPr>
              <a:t>công</a:t>
            </a:r>
            <a:r>
              <a:rPr sz="3000" b="1" dirty="0">
                <a:solidFill>
                  <a:srgbClr val="A4C639"/>
                </a:solidFill>
                <a:latin typeface="Liberation Sans"/>
                <a:cs typeface="Liberation Sans"/>
              </a:rPr>
              <a:t> c</a:t>
            </a:r>
            <a:r>
              <a:rPr sz="3000" b="1" spc="1970" dirty="0">
                <a:solidFill>
                  <a:srgbClr val="A4C639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A4C639"/>
                </a:solidFill>
                <a:latin typeface="Liberation Sans"/>
                <a:cs typeface="Liberation Sans"/>
              </a:rPr>
              <a:t>l</a:t>
            </a:r>
            <a:r>
              <a:rPr sz="3000" b="1" spc="1122" dirty="0">
                <a:solidFill>
                  <a:srgbClr val="A4C639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A4C639"/>
                </a:solidFill>
                <a:latin typeface="Liberation Sans"/>
                <a:cs typeface="Liberation Sans"/>
              </a:rPr>
              <a:t>u</a:t>
            </a:r>
            <a:r>
              <a:rPr sz="3000" b="1" spc="20" dirty="0">
                <a:solidFill>
                  <a:srgbClr val="A4C639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A4C639"/>
                </a:solidFill>
                <a:latin typeface="Liberation Sans"/>
                <a:cs typeface="Liberation Sans"/>
              </a:rPr>
              <a:t>tr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80978" y="926151"/>
            <a:ext cx="478226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9CA3AF"/>
                </a:solidFill>
                <a:latin typeface="Liberation Sans"/>
                <a:cs typeface="Liberation Sans"/>
              </a:rPr>
              <a:t>Khi nào nên dùng công c</a:t>
            </a:r>
            <a:r>
              <a:rPr sz="1500" dirty="0">
                <a:solidFill>
                  <a:srgbClr val="9CA3AF"/>
                </a:solidFill>
                <a:latin typeface="DejaVu Sans"/>
                <a:cs typeface="DejaVu Sans"/>
              </a:rPr>
              <a:t>ụ</a:t>
            </a:r>
            <a:r>
              <a:rPr sz="1500" spc="68" dirty="0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9CA3AF"/>
                </a:solidFill>
                <a:latin typeface="Liberation Sans"/>
                <a:cs typeface="Liberation Sans"/>
              </a:rPr>
              <a:t>nào đ</a:t>
            </a:r>
            <a:r>
              <a:rPr sz="1500" dirty="0">
                <a:solidFill>
                  <a:srgbClr val="9CA3AF"/>
                </a:solidFill>
                <a:latin typeface="DejaVu Sans"/>
                <a:cs typeface="DejaVu Sans"/>
              </a:rPr>
              <a:t>ể</a:t>
            </a:r>
            <a:r>
              <a:rPr sz="1500" spc="21" dirty="0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9CA3AF"/>
                </a:solidFill>
                <a:latin typeface="Liberation Sans"/>
                <a:cs typeface="Liberation Sans"/>
              </a:rPr>
              <a:t>đ</a:t>
            </a:r>
            <a:r>
              <a:rPr sz="1500" spc="-18" dirty="0">
                <a:solidFill>
                  <a:srgbClr val="9CA3AF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9CA3AF"/>
                </a:solidFill>
                <a:latin typeface="Liberation Sans"/>
                <a:cs typeface="Liberation Sans"/>
              </a:rPr>
              <a:t>t hi</a:t>
            </a:r>
            <a:r>
              <a:rPr sz="1500" spc="-23" dirty="0">
                <a:solidFill>
                  <a:srgbClr val="9CA3AF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9CA3AF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9CA3AF"/>
                </a:solidFill>
                <a:latin typeface="Liberation Sans"/>
                <a:cs typeface="Liberation Sans"/>
              </a:rPr>
              <a:t>qu</a:t>
            </a:r>
            <a:r>
              <a:rPr sz="1500" dirty="0">
                <a:solidFill>
                  <a:srgbClr val="9CA3AF"/>
                </a:solidFill>
                <a:latin typeface="DejaVu Sans"/>
                <a:cs typeface="DejaVu Sans"/>
              </a:rPr>
              <a:t>ả</a:t>
            </a:r>
            <a:r>
              <a:rPr sz="1500" spc="25" dirty="0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9CA3AF"/>
                </a:solidFill>
                <a:latin typeface="Liberation Sans"/>
                <a:cs typeface="Liberation Sans"/>
              </a:rPr>
              <a:t>t</a:t>
            </a:r>
            <a:r>
              <a:rPr sz="1500" spc="-18" dirty="0">
                <a:solidFill>
                  <a:srgbClr val="9CA3AF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9CA3AF"/>
                </a:solidFill>
                <a:latin typeface="Liberation Sans"/>
                <a:cs typeface="Liberation Sans"/>
              </a:rPr>
              <a:t>i </a:t>
            </a:r>
            <a:r>
              <a:rPr sz="1500" spc="23" dirty="0">
                <a:solidFill>
                  <a:srgbClr val="9CA3AF"/>
                </a:solidFill>
                <a:latin typeface="DejaVu Sans"/>
                <a:cs typeface="DejaVu Sans"/>
              </a:rPr>
              <a:t>ư</a:t>
            </a:r>
            <a:r>
              <a:rPr sz="1500" dirty="0">
                <a:solidFill>
                  <a:srgbClr val="9CA3AF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4620" y="1644668"/>
            <a:ext cx="2582342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DataStore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(Preferences)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240463" y="1644668"/>
            <a:ext cx="2344912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MediaStore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(External)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4620" y="1975410"/>
            <a:ext cx="211851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Liberation Sans"/>
                <a:cs typeface="Liberation Sans"/>
              </a:rPr>
              <a:t>Cài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ặ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 nh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ỏ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,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token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ng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ắ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h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ạ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240463" y="1975410"/>
            <a:ext cx="210436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Ả</a:t>
            </a:r>
            <a:r>
              <a:rPr sz="1200" spc="-10" dirty="0">
                <a:solidFill>
                  <a:srgbClr val="9CA3AF"/>
                </a:solidFill>
                <a:latin typeface="Liberation Sans"/>
                <a:cs typeface="Liberation Sans"/>
              </a:rPr>
              <a:t>nh/video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Liberation Sans"/>
                <a:cs typeface="Liberation Sans"/>
              </a:rPr>
              <a:t>chia </a:t>
            </a: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s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ẻ</a:t>
            </a:r>
            <a:r>
              <a:rPr sz="1200" spc="37" dirty="0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v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ớ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i</a:t>
            </a: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23" dirty="0">
                <a:solidFill>
                  <a:srgbClr val="9CA3AF"/>
                </a:solidFill>
                <a:latin typeface="Liberation Sans"/>
                <a:cs typeface="Liberation Sans"/>
              </a:rPr>
              <a:t>gallery.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61181" y="2283902"/>
            <a:ext cx="778375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Dark Mode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85553" y="2280965"/>
            <a:ext cx="110678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C</a:t>
            </a:r>
            <a:r>
              <a:rPr sz="1000" spc="-12" dirty="0">
                <a:solidFill>
                  <a:srgbClr val="A4C639"/>
                </a:solidFill>
                <a:latin typeface="DejaVu Sans"/>
                <a:cs typeface="DejaVu Sans"/>
              </a:rPr>
              <a:t>ấ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u hình c</a:t>
            </a:r>
            <a:r>
              <a:rPr sz="1000" dirty="0">
                <a:solidFill>
                  <a:srgbClr val="A4C639"/>
                </a:solidFill>
                <a:latin typeface="DejaVu Sans"/>
                <a:cs typeface="DejaVu Sans"/>
              </a:rPr>
              <a:t>ơ</a:t>
            </a:r>
            <a:r>
              <a:rPr sz="1000" spc="18" dirty="0">
                <a:solidFill>
                  <a:srgbClr val="A4C6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b</a:t>
            </a:r>
            <a:r>
              <a:rPr sz="1000" spc="-12" dirty="0">
                <a:solidFill>
                  <a:srgbClr val="A4C639"/>
                </a:solidFill>
                <a:latin typeface="DejaVu Sans"/>
                <a:cs typeface="DejaVu Sans"/>
              </a:rPr>
              <a:t>ả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47024" y="2280965"/>
            <a:ext cx="115384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D</a:t>
            </a:r>
            <a:r>
              <a:rPr sz="1000" dirty="0">
                <a:solidFill>
                  <a:srgbClr val="A4C639"/>
                </a:solidFill>
                <a:latin typeface="DejaVu Sans"/>
                <a:cs typeface="DejaVu Sans"/>
              </a:rPr>
              <a:t>ữ</a:t>
            </a:r>
            <a:r>
              <a:rPr sz="1000" spc="70" dirty="0">
                <a:solidFill>
                  <a:srgbClr val="A4C6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li</a:t>
            </a:r>
            <a:r>
              <a:rPr sz="1000" spc="-15" dirty="0">
                <a:solidFill>
                  <a:srgbClr val="A4C639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u công khai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54620" y="3054368"/>
            <a:ext cx="191795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DataStore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(Proto)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54620" y="3385110"/>
            <a:ext cx="2570655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9CA3AF"/>
                </a:solidFill>
                <a:latin typeface="Liberation Sans"/>
                <a:cs typeface="Liberation Sans"/>
              </a:rPr>
              <a:t>C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Liberation Sans"/>
                <a:cs typeface="Liberation Sans"/>
              </a:rPr>
              <a:t>hình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ph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ứ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ạ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p,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schema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rõ</a:t>
            </a: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 ràng.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61181" y="3690665"/>
            <a:ext cx="125896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D</a:t>
            </a:r>
            <a:r>
              <a:rPr sz="1000" dirty="0">
                <a:solidFill>
                  <a:srgbClr val="A4C639"/>
                </a:solidFill>
                <a:latin typeface="DejaVu Sans"/>
                <a:cs typeface="DejaVu Sans"/>
              </a:rPr>
              <a:t>ữ</a:t>
            </a:r>
            <a:r>
              <a:rPr sz="1000" spc="70" dirty="0">
                <a:solidFill>
                  <a:srgbClr val="A4C639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li</a:t>
            </a:r>
            <a:r>
              <a:rPr sz="1000" spc="-15" dirty="0">
                <a:solidFill>
                  <a:srgbClr val="A4C639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u ng</a:t>
            </a:r>
            <a:r>
              <a:rPr sz="1000" spc="15" dirty="0">
                <a:solidFill>
                  <a:srgbClr val="A4C639"/>
                </a:solidFill>
                <a:latin typeface="DejaVu Sans"/>
                <a:cs typeface="DejaVu Sans"/>
              </a:rPr>
              <a:t>ườ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i dùng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766268" y="3690665"/>
            <a:ext cx="112518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Cài đ</a:t>
            </a:r>
            <a:r>
              <a:rPr sz="1000" spc="-12" dirty="0">
                <a:solidFill>
                  <a:srgbClr val="A4C639"/>
                </a:solidFill>
                <a:latin typeface="DejaVu Sans"/>
                <a:cs typeface="DejaVu Sans"/>
              </a:rPr>
              <a:t>ặ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t nâng cao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037557" y="3693602"/>
            <a:ext cx="742973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Type-Safe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240463" y="4073543"/>
            <a:ext cx="210737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Room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(trên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 SQLite)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240463" y="4404285"/>
            <a:ext cx="2541093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9CA3AF"/>
                </a:solidFill>
                <a:latin typeface="Liberation Sans"/>
                <a:cs typeface="Liberation Sans"/>
              </a:rPr>
              <a:t>D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ữ</a:t>
            </a:r>
            <a:r>
              <a:rPr sz="1200" spc="15" dirty="0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li</a:t>
            </a:r>
            <a:r>
              <a:rPr sz="1200" spc="11" dirty="0">
                <a:solidFill>
                  <a:srgbClr val="9CA3AF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quan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h</a:t>
            </a:r>
            <a:r>
              <a:rPr sz="1200" spc="11" dirty="0">
                <a:solidFill>
                  <a:srgbClr val="9CA3AF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,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Liberation Sans"/>
                <a:cs typeface="Liberation Sans"/>
              </a:rPr>
              <a:t>truy </a:t>
            </a: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v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ph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ứ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ạ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254620" y="4454543"/>
            <a:ext cx="1776036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Internal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Storage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347024" y="4719365"/>
            <a:ext cx="128710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Qu</a:t>
            </a:r>
            <a:r>
              <a:rPr sz="1000" spc="-12" dirty="0">
                <a:solidFill>
                  <a:srgbClr val="A4C639"/>
                </a:solidFill>
                <a:latin typeface="DejaVu Sans"/>
                <a:cs typeface="DejaVu Sans"/>
              </a:rPr>
              <a:t>ả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n lý ng</a:t>
            </a:r>
            <a:r>
              <a:rPr sz="1000" spc="15" dirty="0">
                <a:solidFill>
                  <a:srgbClr val="A4C639"/>
                </a:solidFill>
                <a:latin typeface="DejaVu Sans"/>
                <a:cs typeface="DejaVu Sans"/>
              </a:rPr>
              <a:t>ườ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i dùng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780239" y="4719365"/>
            <a:ext cx="74591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S</a:t>
            </a:r>
            <a:r>
              <a:rPr sz="1000" spc="-12" dirty="0">
                <a:solidFill>
                  <a:srgbClr val="A4C639"/>
                </a:solidFill>
                <a:latin typeface="DejaVu Sans"/>
                <a:cs typeface="DejaVu Sans"/>
              </a:rPr>
              <a:t>ả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n ph</a:t>
            </a:r>
            <a:r>
              <a:rPr sz="1000" spc="-12" dirty="0">
                <a:solidFill>
                  <a:srgbClr val="A4C639"/>
                </a:solidFill>
                <a:latin typeface="DejaVu Sans"/>
                <a:cs typeface="DejaVu Sans"/>
              </a:rPr>
              <a:t>ẩ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54620" y="4785285"/>
            <a:ext cx="2993451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File</a:t>
            </a: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Liberation Sans"/>
                <a:cs typeface="Liberation Sans"/>
              </a:rPr>
              <a:t>văn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b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ả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n/JSON</a:t>
            </a:r>
            <a:r>
              <a:rPr sz="1200" spc="-10" dirty="0">
                <a:solidFill>
                  <a:srgbClr val="9CA3AF"/>
                </a:solidFill>
                <a:latin typeface="Liberation Sans"/>
                <a:cs typeface="Liberation Sans"/>
              </a:rPr>
              <a:t> riêng 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t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ư</a:t>
            </a:r>
            <a:r>
              <a:rPr sz="1200" spc="15" dirty="0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c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ủ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a</a:t>
            </a:r>
            <a:r>
              <a:rPr sz="1200" spc="-2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ứ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d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ụ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361181" y="5100365"/>
            <a:ext cx="107333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C</a:t>
            </a:r>
            <a:r>
              <a:rPr sz="1000" spc="-12" dirty="0">
                <a:solidFill>
                  <a:srgbClr val="A4C639"/>
                </a:solidFill>
                <a:latin typeface="DejaVu Sans"/>
                <a:cs typeface="DejaVu Sans"/>
              </a:rPr>
              <a:t>ấ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u hình n</a:t>
            </a:r>
            <a:r>
              <a:rPr sz="1000" spc="-11" dirty="0">
                <a:solidFill>
                  <a:srgbClr val="A4C639"/>
                </a:solidFill>
                <a:latin typeface="DejaVu Sans"/>
                <a:cs typeface="DejaVu Sans"/>
              </a:rPr>
              <a:t>ộ</a:t>
            </a: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i b</a:t>
            </a:r>
            <a:r>
              <a:rPr sz="1000" dirty="0">
                <a:solidFill>
                  <a:srgbClr val="A4C639"/>
                </a:solidFill>
                <a:latin typeface="DejaVu Sans"/>
                <a:cs typeface="DejaVu Sans"/>
              </a:rPr>
              <a:t>ộ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578447" y="5103302"/>
            <a:ext cx="814060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4C639"/>
                </a:solidFill>
                <a:latin typeface="Liberation Sans"/>
                <a:cs typeface="Liberation Sans"/>
              </a:rPr>
              <a:t>App Private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60834" y="6512473"/>
            <a:ext cx="2873834" cy="665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Kích th</a:t>
            </a:r>
            <a:r>
              <a:rPr sz="1350" b="1" spc="1272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c &amp; C</a:t>
            </a:r>
            <a:r>
              <a:rPr sz="1350" b="1" spc="44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u trúc</a:t>
            </a:r>
          </a:p>
          <a:p>
            <a:pPr marL="0" marR="0">
              <a:lnSpc>
                <a:spcPts val="1368"/>
              </a:lnSpc>
              <a:spcBef>
                <a:spcPts val="423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Liberation Sans"/>
                <a:cs typeface="Liberation Sans"/>
              </a:rPr>
              <a:t>Dùng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DataStore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Liberation Sans"/>
                <a:cs typeface="Liberation Sans"/>
              </a:rPr>
              <a:t>cho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nh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ỏ</a:t>
            </a:r>
            <a:r>
              <a:rPr sz="1200" spc="41" dirty="0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g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ọ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n,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Liberation Sans"/>
                <a:cs typeface="Liberation Sans"/>
              </a:rPr>
              <a:t>Room</a:t>
            </a: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Liberation Sans"/>
                <a:cs typeface="Liberation Sans"/>
              </a:rPr>
              <a:t>cho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ph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ứ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ạ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827686" y="6512473"/>
            <a:ext cx="1564990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Riêng t</a:t>
            </a:r>
            <a:r>
              <a:rPr sz="1350" b="1" spc="82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&amp; Chia 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694538" y="6512473"/>
            <a:ext cx="2886093" cy="665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sz="1350" b="1" spc="45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u su</a:t>
            </a:r>
            <a:r>
              <a:rPr sz="1350" b="1" spc="4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t &amp; </a:t>
            </a:r>
            <a:r>
              <a:rPr sz="1350" b="1" spc="-28" dirty="0">
                <a:solidFill>
                  <a:srgbClr val="FFFFFF"/>
                </a:solidFill>
                <a:latin typeface="Liberation Sans"/>
                <a:cs typeface="Liberation Sans"/>
              </a:rPr>
              <a:t>Truy</a:t>
            </a:r>
            <a:r>
              <a:rPr sz="1350" b="1" spc="2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v</a:t>
            </a:r>
            <a:r>
              <a:rPr sz="1350" b="1" spc="44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368"/>
              </a:lnSpc>
              <a:spcBef>
                <a:spcPts val="423"/>
              </a:spcBef>
              <a:spcAft>
                <a:spcPts val="0"/>
              </a:spcAft>
            </a:pP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DataStore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Liberation Sans"/>
                <a:cs typeface="Liberation Sans"/>
              </a:rPr>
              <a:t>cho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Liberation Sans"/>
                <a:cs typeface="Liberation Sans"/>
              </a:rPr>
              <a:t>async,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Liberation Sans"/>
                <a:cs typeface="Liberation Sans"/>
              </a:rPr>
              <a:t>Room</a:t>
            </a: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Liberation Sans"/>
                <a:cs typeface="Liberation Sans"/>
              </a:rPr>
              <a:t>cho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Liberation Sans"/>
                <a:cs typeface="Liberation Sans"/>
              </a:rPr>
              <a:t>truy </a:t>
            </a: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v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20" dirty="0">
                <a:solidFill>
                  <a:srgbClr val="9CA3AF"/>
                </a:solidFill>
                <a:latin typeface="Liberation Sans"/>
                <a:cs typeface="Liberation Sans"/>
              </a:rPr>
              <a:t>m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ạ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nh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Liberation Sans"/>
                <a:cs typeface="Liberation Sans"/>
              </a:rPr>
              <a:t>m</a:t>
            </a:r>
            <a:r>
              <a:rPr sz="1200" spc="11" dirty="0">
                <a:solidFill>
                  <a:srgbClr val="9CA3AF"/>
                </a:solidFill>
                <a:latin typeface="DejaVu Sans"/>
                <a:cs typeface="DejaVu Sans"/>
              </a:rPr>
              <a:t>ẽ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827686" y="6756960"/>
            <a:ext cx="297771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9CA3AF"/>
                </a:solidFill>
                <a:latin typeface="Liberation Sans"/>
                <a:cs typeface="Liberation Sans"/>
              </a:rPr>
              <a:t>Internal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Liberation Sans"/>
                <a:cs typeface="Liberation Sans"/>
              </a:rPr>
              <a:t>cho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Liberation Sans"/>
                <a:cs typeface="Liberation Sans"/>
              </a:rPr>
              <a:t>riêng 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t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ư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,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MediaStore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Liberation Sans"/>
                <a:cs typeface="Liberation Sans"/>
              </a:rPr>
              <a:t>cho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Liberation Sans"/>
                <a:cs typeface="Liberation Sans"/>
              </a:rPr>
              <a:t>công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827686" y="6969938"/>
            <a:ext cx="467876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9CA3AF"/>
                </a:solidFill>
                <a:latin typeface="Liberation Sans"/>
                <a:cs typeface="Liberation Sans"/>
              </a:rPr>
              <a:t>khai.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458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98352" y="378359"/>
            <a:ext cx="7755881" cy="4057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94"/>
              </a:lnSpc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D1D5DB"/>
                </a:solidFill>
                <a:latin typeface="Liberation Sans"/>
                <a:cs typeface="Liberation Sans"/>
              </a:rPr>
              <a:t>L</a:t>
            </a:r>
            <a:r>
              <a:rPr sz="2600" b="1" spc="792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2600" b="1" dirty="0">
                <a:solidFill>
                  <a:srgbClr val="D1D5DB"/>
                </a:solidFill>
                <a:latin typeface="Liberation Sans"/>
                <a:cs typeface="Liberation Sans"/>
              </a:rPr>
              <a:t>u</a:t>
            </a:r>
            <a:r>
              <a:rPr sz="2600" b="1" spc="-137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2600" b="1" spc="-68" dirty="0">
                <a:solidFill>
                  <a:srgbClr val="D1D5DB"/>
                </a:solidFill>
                <a:latin typeface="Liberation Sans"/>
                <a:cs typeface="Liberation Sans"/>
              </a:rPr>
              <a:t>tr</a:t>
            </a:r>
            <a:r>
              <a:rPr sz="2600" b="1" spc="1517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2600" b="1" spc="-86" dirty="0">
                <a:solidFill>
                  <a:srgbClr val="D1D5DB"/>
                </a:solidFill>
                <a:latin typeface="Liberation Sans"/>
                <a:cs typeface="Liberation Sans"/>
              </a:rPr>
              <a:t>Key-Value:</a:t>
            </a:r>
            <a:r>
              <a:rPr sz="2600" b="1" spc="-49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2600" b="1" spc="-69" dirty="0">
                <a:solidFill>
                  <a:srgbClr val="4ADE80"/>
                </a:solidFill>
                <a:latin typeface="Liberation Sans"/>
                <a:cs typeface="Liberation Sans"/>
              </a:rPr>
              <a:t>SharedPreferences</a:t>
            </a:r>
            <a:r>
              <a:rPr sz="2600" b="1" spc="-67" dirty="0">
                <a:solidFill>
                  <a:srgbClr val="4ADE80"/>
                </a:solidFill>
                <a:latin typeface="Liberation Sans"/>
                <a:cs typeface="Liberation Sans"/>
              </a:rPr>
              <a:t> </a:t>
            </a:r>
            <a:r>
              <a:rPr sz="2600" b="1" dirty="0">
                <a:solidFill>
                  <a:srgbClr val="4ADE80"/>
                </a:solidFill>
                <a:latin typeface="Liberation Sans"/>
                <a:cs typeface="Liberation Sans"/>
              </a:rPr>
              <a:t>&amp;</a:t>
            </a:r>
            <a:r>
              <a:rPr sz="2600" b="1" spc="-138" dirty="0">
                <a:solidFill>
                  <a:srgbClr val="4ADE80"/>
                </a:solidFill>
                <a:latin typeface="Liberation Sans"/>
                <a:cs typeface="Liberation Sans"/>
              </a:rPr>
              <a:t> </a:t>
            </a:r>
            <a:r>
              <a:rPr sz="2600" b="1" spc="-68" dirty="0">
                <a:solidFill>
                  <a:srgbClr val="4ADE80"/>
                </a:solidFill>
                <a:latin typeface="Liberation Sans"/>
                <a:cs typeface="Liberation Sans"/>
              </a:rPr>
              <a:t>DataStore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8459" y="1110879"/>
            <a:ext cx="2625629" cy="242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7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FFFFFF"/>
                </a:solidFill>
                <a:latin typeface="Liberation Sans"/>
                <a:cs typeface="Liberation Sans"/>
              </a:rPr>
              <a:t>SharedPreferences (C</a:t>
            </a:r>
            <a:r>
              <a:rPr sz="1450" b="1" spc="89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450" b="1" dirty="0">
                <a:solidFill>
                  <a:srgbClr val="FFFFFF"/>
                </a:solidFill>
                <a:latin typeface="Liberation Sans"/>
                <a:cs typeface="Liberation Sans"/>
              </a:rPr>
              <a:t>b</a:t>
            </a:r>
            <a:r>
              <a:rPr sz="1450" b="1" spc="49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450" b="1" dirty="0">
                <a:solidFill>
                  <a:srgbClr val="FFFFFF"/>
                </a:solidFill>
                <a:latin typeface="Liberation Sans"/>
                <a:cs typeface="Liberation Sans"/>
              </a:rPr>
              <a:t>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14839" y="1110879"/>
            <a:ext cx="2712546" cy="242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7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FFFFFF"/>
                </a:solidFill>
                <a:latin typeface="Liberation Sans"/>
                <a:cs typeface="Liberation Sans"/>
              </a:rPr>
              <a:t>EncryptedSharedPreferences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5397" y="1490897"/>
            <a:ext cx="543129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Đ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ơ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 gi</a:t>
            </a:r>
            <a:r>
              <a:rPr sz="1000" spc="-12" dirty="0">
                <a:solidFill>
                  <a:srgbClr val="ABB2BF"/>
                </a:solidFill>
                <a:latin typeface="DejaVu Sans"/>
                <a:cs typeface="DejaVu Sans"/>
              </a:rPr>
              <a:t>ả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n, đ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ồ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ng b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ộ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, d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ễ</a:t>
            </a:r>
            <a:r>
              <a:rPr sz="1000" spc="15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dùng cho d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ữ</a:t>
            </a:r>
            <a:r>
              <a:rPr sz="1000" spc="70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li</a:t>
            </a:r>
            <a:r>
              <a:rPr sz="1000" spc="-15" dirty="0">
                <a:solidFill>
                  <a:srgbClr val="ABB2BF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u nh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ỏ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.</a:t>
            </a:r>
            <a:r>
              <a:rPr sz="1000" spc="-14" dirty="0">
                <a:solidFill>
                  <a:srgbClr val="ABB2BF"/>
                </a:solidFill>
                <a:latin typeface="Liberation Sans"/>
                <a:cs typeface="Liberation Sans"/>
              </a:rPr>
              <a:t> Tuy</a:t>
            </a:r>
            <a:r>
              <a:rPr sz="1000" spc="20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nhiên, d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ễ</a:t>
            </a:r>
            <a:r>
              <a:rPr sz="1000" spc="15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gây</a:t>
            </a:r>
            <a:r>
              <a:rPr sz="1000" spc="-54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ANR n</a:t>
            </a:r>
            <a:r>
              <a:rPr sz="1000" spc="-15" dirty="0">
                <a:solidFill>
                  <a:srgbClr val="ABB2BF"/>
                </a:solidFill>
                <a:latin typeface="DejaVu Sans"/>
                <a:cs typeface="DejaVu Sans"/>
              </a:rPr>
              <a:t>ế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u ghi d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ữ</a:t>
            </a:r>
            <a:r>
              <a:rPr sz="1000" spc="70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li</a:t>
            </a:r>
            <a:r>
              <a:rPr sz="1000" spc="-15" dirty="0">
                <a:solidFill>
                  <a:srgbClr val="ABB2BF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u l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ớ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 trên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71778" y="1490897"/>
            <a:ext cx="542047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M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ở</a:t>
            </a:r>
            <a:r>
              <a:rPr sz="1000" spc="18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r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ộ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ng c</a:t>
            </a:r>
            <a:r>
              <a:rPr sz="1000" spc="40" dirty="0">
                <a:solidFill>
                  <a:srgbClr val="ABB2BF"/>
                </a:solidFill>
                <a:latin typeface="DejaVu Sans"/>
                <a:cs typeface="DejaVu Sans"/>
              </a:rPr>
              <a:t>ủ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a SharedPreferences v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ớ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i l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ớ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p mã hóa tích h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ợ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p t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ừ</a:t>
            </a:r>
            <a:r>
              <a:rPr sz="1000" spc="70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Jetpack Security,</a:t>
            </a:r>
            <a:r>
              <a:rPr sz="1000" spc="10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b</a:t>
            </a:r>
            <a:r>
              <a:rPr sz="1000" spc="-12" dirty="0">
                <a:solidFill>
                  <a:srgbClr val="ABB2BF"/>
                </a:solidFill>
                <a:latin typeface="DejaVu Sans"/>
                <a:cs typeface="DejaVu Sans"/>
              </a:rPr>
              <a:t>ả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o v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ệ</a:t>
            </a:r>
            <a:r>
              <a:rPr sz="1000" spc="15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d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ữ</a:t>
            </a:r>
            <a:r>
              <a:rPr sz="1000" spc="70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li</a:t>
            </a:r>
            <a:r>
              <a:rPr sz="1000" spc="-15" dirty="0">
                <a:solidFill>
                  <a:srgbClr val="ABB2BF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5397" y="1671872"/>
            <a:ext cx="340313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lu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ồ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ng chính và không an toàn v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ề</a:t>
            </a:r>
            <a:r>
              <a:rPr sz="1000" spc="15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ki</a:t>
            </a:r>
            <a:r>
              <a:rPr sz="1000" spc="-15" dirty="0">
                <a:solidFill>
                  <a:srgbClr val="ABB2BF"/>
                </a:solidFill>
                <a:latin typeface="DejaVu Sans"/>
                <a:cs typeface="DejaVu Sans"/>
              </a:rPr>
              <a:t>ể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u d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ữ</a:t>
            </a:r>
            <a:r>
              <a:rPr sz="1000" spc="70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li</a:t>
            </a:r>
            <a:r>
              <a:rPr sz="1000" spc="-15" dirty="0">
                <a:solidFill>
                  <a:srgbClr val="ABB2BF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u (type-safe).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71778" y="1671872"/>
            <a:ext cx="194856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key-value nh</a:t>
            </a:r>
            <a:r>
              <a:rPr sz="1000" spc="-12" dirty="0">
                <a:solidFill>
                  <a:srgbClr val="ABB2BF"/>
                </a:solidFill>
                <a:latin typeface="DejaVu Sans"/>
                <a:cs typeface="DejaVu Sans"/>
              </a:rPr>
              <a:t>ạ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y c</a:t>
            </a:r>
            <a:r>
              <a:rPr sz="1000" spc="-12" dirty="0">
                <a:solidFill>
                  <a:srgbClr val="ABB2BF"/>
                </a:solidFill>
                <a:latin typeface="DejaVu Sans"/>
                <a:cs typeface="DejaVu Sans"/>
              </a:rPr>
              <a:t>ả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m nh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ư</a:t>
            </a:r>
            <a:r>
              <a:rPr sz="1000" spc="70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token.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65397" y="1955548"/>
            <a:ext cx="1799509" cy="534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4ADE80"/>
                </a:solidFill>
                <a:latin typeface="Liberation Sans"/>
                <a:cs typeface="Liberation Sans"/>
              </a:rPr>
              <a:t>•</a:t>
            </a:r>
            <a:r>
              <a:rPr sz="850" b="1" spc="10" dirty="0">
                <a:solidFill>
                  <a:srgbClr val="4ADE80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Key-Value</a:t>
            </a:r>
            <a:r>
              <a:rPr sz="850" spc="11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đ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ơ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n</a:t>
            </a:r>
            <a:r>
              <a:rPr sz="850" spc="10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gi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ả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n, đ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ồ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ng b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ộ</a:t>
            </a:r>
          </a:p>
          <a:p>
            <a:pPr marL="0" marR="0">
              <a:lnSpc>
                <a:spcPts val="1005"/>
              </a:lnSpc>
              <a:spcBef>
                <a:spcPts val="494"/>
              </a:spcBef>
              <a:spcAft>
                <a:spcPts val="0"/>
              </a:spcAft>
            </a:pPr>
            <a:r>
              <a:rPr sz="850" b="1" dirty="0">
                <a:solidFill>
                  <a:srgbClr val="FB923C"/>
                </a:solidFill>
                <a:latin typeface="Liberation Sans"/>
                <a:cs typeface="Liberation Sans"/>
              </a:rPr>
              <a:t>•</a:t>
            </a:r>
            <a:r>
              <a:rPr sz="850" b="1" spc="33" dirty="0">
                <a:solidFill>
                  <a:srgbClr val="FB923C"/>
                </a:solidFill>
                <a:latin typeface="Times New Roman"/>
                <a:cs typeface="Times New Roman"/>
              </a:rPr>
              <a:t> </a:t>
            </a:r>
            <a:r>
              <a:rPr sz="850" spc="10" dirty="0">
                <a:solidFill>
                  <a:srgbClr val="ABB2BF"/>
                </a:solidFill>
                <a:latin typeface="Liberation Sans"/>
                <a:cs typeface="Liberation Sans"/>
              </a:rPr>
              <a:t>D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ễ</a:t>
            </a:r>
            <a:r>
              <a:rPr sz="850" spc="30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gây</a:t>
            </a:r>
            <a:r>
              <a:rPr sz="850" spc="-44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ANR n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ế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u</a:t>
            </a:r>
            <a:r>
              <a:rPr sz="850" spc="10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dùng sai lu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ồ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965"/>
              </a:lnSpc>
              <a:spcBef>
                <a:spcPts val="439"/>
              </a:spcBef>
              <a:spcAft>
                <a:spcPts val="0"/>
              </a:spcAft>
            </a:pPr>
            <a:r>
              <a:rPr sz="850" b="1" dirty="0">
                <a:solidFill>
                  <a:srgbClr val="F87171"/>
                </a:solidFill>
                <a:latin typeface="Liberation Sans"/>
                <a:cs typeface="Liberation Sans"/>
              </a:rPr>
              <a:t>•</a:t>
            </a:r>
            <a:r>
              <a:rPr sz="850" b="1" spc="33" dirty="0">
                <a:solidFill>
                  <a:srgbClr val="F87171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Không type-safe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71778" y="1955548"/>
            <a:ext cx="1672376" cy="537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4ADE80"/>
                </a:solidFill>
                <a:latin typeface="Liberation Sans"/>
                <a:cs typeface="Liberation Sans"/>
              </a:rPr>
              <a:t>•</a:t>
            </a:r>
            <a:r>
              <a:rPr sz="850" b="1" spc="10" dirty="0">
                <a:solidFill>
                  <a:srgbClr val="4ADE80"/>
                </a:solidFill>
                <a:latin typeface="Liberation Sans"/>
                <a:cs typeface="Liberation Sans"/>
              </a:rPr>
              <a:t> </a:t>
            </a:r>
            <a:r>
              <a:rPr sz="850" spc="10" dirty="0">
                <a:solidFill>
                  <a:srgbClr val="ABB2BF"/>
                </a:solidFill>
                <a:latin typeface="Liberation Sans"/>
                <a:cs typeface="Liberation Sans"/>
              </a:rPr>
              <a:t>Mã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 hóa d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ữ</a:t>
            </a:r>
            <a:r>
              <a:rPr sz="850" spc="14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li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ệ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u</a:t>
            </a:r>
            <a:r>
              <a:rPr sz="850" spc="10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nh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ạ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y</a:t>
            </a:r>
            <a:r>
              <a:rPr sz="850" spc="10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c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ả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m</a:t>
            </a:r>
          </a:p>
          <a:p>
            <a:pPr marL="0" marR="0">
              <a:lnSpc>
                <a:spcPts val="965"/>
              </a:lnSpc>
              <a:spcBef>
                <a:spcPts val="514"/>
              </a:spcBef>
              <a:spcAft>
                <a:spcPts val="0"/>
              </a:spcAft>
            </a:pPr>
            <a:r>
              <a:rPr sz="850" b="1" dirty="0">
                <a:solidFill>
                  <a:srgbClr val="4ADE80"/>
                </a:solidFill>
                <a:latin typeface="Liberation Sans"/>
                <a:cs typeface="Liberation Sans"/>
              </a:rPr>
              <a:t>•</a:t>
            </a:r>
            <a:r>
              <a:rPr sz="850" b="1" spc="10" dirty="0">
                <a:solidFill>
                  <a:srgbClr val="4ADE80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Dùng Jetpack Security Crypto</a:t>
            </a:r>
          </a:p>
          <a:p>
            <a:pPr marL="0" marR="0">
              <a:lnSpc>
                <a:spcPts val="1005"/>
              </a:lnSpc>
              <a:spcBef>
                <a:spcPts val="439"/>
              </a:spcBef>
              <a:spcAft>
                <a:spcPts val="0"/>
              </a:spcAft>
            </a:pPr>
            <a:r>
              <a:rPr sz="850" b="1" dirty="0">
                <a:solidFill>
                  <a:srgbClr val="FB923C"/>
                </a:solidFill>
                <a:latin typeface="Liberation Sans"/>
                <a:cs typeface="Liberation Sans"/>
              </a:rPr>
              <a:t>•</a:t>
            </a:r>
            <a:r>
              <a:rPr sz="850" b="1" spc="33" dirty="0">
                <a:solidFill>
                  <a:srgbClr val="FB923C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V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ẫ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n</a:t>
            </a:r>
            <a:r>
              <a:rPr sz="850" spc="10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có nguy c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ơ</a:t>
            </a:r>
            <a:r>
              <a:rPr sz="850" spc="-15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ANR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8472" y="2615291"/>
            <a:ext cx="231642" cy="16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6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93C5FD"/>
                </a:solidFill>
                <a:latin typeface="Liberation Sans"/>
                <a:cs typeface="Liberation Sans"/>
              </a:rPr>
              <a:t>Đ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14834" y="2615291"/>
            <a:ext cx="888943" cy="16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6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93C5FD"/>
                </a:solidFill>
                <a:latin typeface="Liberation Sans"/>
                <a:cs typeface="Liberation Sans"/>
              </a:rPr>
              <a:t>đ</a:t>
            </a:r>
            <a:r>
              <a:rPr sz="850" b="1" spc="297" dirty="0">
                <a:solidFill>
                  <a:srgbClr val="93C5FD"/>
                </a:solidFill>
                <a:latin typeface="Liberation Sans"/>
                <a:cs typeface="Liberation Sans"/>
              </a:rPr>
              <a:t> </a:t>
            </a:r>
            <a:r>
              <a:rPr sz="850" b="1" dirty="0">
                <a:solidFill>
                  <a:srgbClr val="93C5FD"/>
                </a:solidFill>
                <a:latin typeface="Liberation Sans"/>
                <a:cs typeface="Liberation Sans"/>
              </a:rPr>
              <a:t>n</a:t>
            </a:r>
            <a:r>
              <a:rPr sz="850" b="1" spc="11" dirty="0">
                <a:solidFill>
                  <a:srgbClr val="93C5FD"/>
                </a:solidFill>
                <a:latin typeface="Liberation Sans"/>
                <a:cs typeface="Liberation Sans"/>
              </a:rPr>
              <a:t> </a:t>
            </a:r>
            <a:r>
              <a:rPr sz="850" b="1" dirty="0">
                <a:solidFill>
                  <a:srgbClr val="93C5FD"/>
                </a:solidFill>
                <a:latin typeface="Liberation Sans"/>
                <a:cs typeface="Liberation Sans"/>
              </a:rPr>
              <a:t>gi</a:t>
            </a:r>
            <a:r>
              <a:rPr sz="850" b="1" spc="283" dirty="0">
                <a:solidFill>
                  <a:srgbClr val="93C5FD"/>
                </a:solidFill>
                <a:latin typeface="Liberation Sans"/>
                <a:cs typeface="Liberation Sans"/>
              </a:rPr>
              <a:t> </a:t>
            </a:r>
            <a:r>
              <a:rPr sz="850" b="1" dirty="0">
                <a:solidFill>
                  <a:srgbClr val="93C5FD"/>
                </a:solidFill>
                <a:latin typeface="Liberation Sans"/>
                <a:cs typeface="Liberation Sans"/>
              </a:rPr>
              <a:t>n: Cao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70608" y="2615291"/>
            <a:ext cx="1123047" cy="16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6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FCA5A5"/>
                </a:solidFill>
                <a:latin typeface="Liberation Sans"/>
                <a:cs typeface="Liberation Sans"/>
              </a:rPr>
              <a:t>Nguy c</a:t>
            </a:r>
            <a:r>
              <a:rPr sz="850" b="1" spc="503" dirty="0">
                <a:solidFill>
                  <a:srgbClr val="FCA5A5"/>
                </a:solidFill>
                <a:latin typeface="Liberation Sans"/>
                <a:cs typeface="Liberation Sans"/>
              </a:rPr>
              <a:t> </a:t>
            </a:r>
            <a:r>
              <a:rPr sz="850" b="1" spc="10" dirty="0">
                <a:solidFill>
                  <a:srgbClr val="FCA5A5"/>
                </a:solidFill>
                <a:latin typeface="Liberation Sans"/>
                <a:cs typeface="Liberation Sans"/>
              </a:rPr>
              <a:t>ANR:</a:t>
            </a:r>
            <a:r>
              <a:rPr sz="850" b="1" dirty="0">
                <a:solidFill>
                  <a:srgbClr val="FCA5A5"/>
                </a:solidFill>
                <a:latin typeface="Liberation Sans"/>
                <a:cs typeface="Liberation Sans"/>
              </a:rPr>
              <a:t> Cao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44852" y="2615291"/>
            <a:ext cx="870732" cy="16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6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86EFAC"/>
                </a:solidFill>
                <a:latin typeface="Liberation Sans"/>
                <a:cs typeface="Liberation Sans"/>
              </a:rPr>
              <a:t>B</a:t>
            </a:r>
            <a:r>
              <a:rPr sz="850" b="1" spc="299" dirty="0">
                <a:solidFill>
                  <a:srgbClr val="86EFAC"/>
                </a:solidFill>
                <a:latin typeface="Liberation Sans"/>
                <a:cs typeface="Liberation Sans"/>
              </a:rPr>
              <a:t> </a:t>
            </a:r>
            <a:r>
              <a:rPr sz="850" b="1" dirty="0">
                <a:solidFill>
                  <a:srgbClr val="86EFAC"/>
                </a:solidFill>
                <a:latin typeface="Liberation Sans"/>
                <a:cs typeface="Liberation Sans"/>
              </a:rPr>
              <a:t>o</a:t>
            </a:r>
            <a:r>
              <a:rPr sz="850" b="1" spc="11" dirty="0">
                <a:solidFill>
                  <a:srgbClr val="86EFAC"/>
                </a:solidFill>
                <a:latin typeface="Liberation Sans"/>
                <a:cs typeface="Liberation Sans"/>
              </a:rPr>
              <a:t> </a:t>
            </a:r>
            <a:r>
              <a:rPr sz="850" b="1" dirty="0">
                <a:solidFill>
                  <a:srgbClr val="86EFAC"/>
                </a:solidFill>
                <a:latin typeface="Liberation Sans"/>
                <a:cs typeface="Liberation Sans"/>
              </a:rPr>
              <a:t>m</a:t>
            </a:r>
            <a:r>
              <a:rPr sz="850" b="1" spc="300" dirty="0">
                <a:solidFill>
                  <a:srgbClr val="86EFAC"/>
                </a:solidFill>
                <a:latin typeface="Liberation Sans"/>
                <a:cs typeface="Liberation Sans"/>
              </a:rPr>
              <a:t> </a:t>
            </a:r>
            <a:r>
              <a:rPr sz="850" b="1" dirty="0">
                <a:solidFill>
                  <a:srgbClr val="86EFAC"/>
                </a:solidFill>
                <a:latin typeface="Liberation Sans"/>
                <a:cs typeface="Liberation Sans"/>
              </a:rPr>
              <a:t>t: Cao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382469" y="2615291"/>
            <a:ext cx="1123047" cy="16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6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FCA5A5"/>
                </a:solidFill>
                <a:latin typeface="Liberation Sans"/>
                <a:cs typeface="Liberation Sans"/>
              </a:rPr>
              <a:t>Nguy c</a:t>
            </a:r>
            <a:r>
              <a:rPr sz="850" b="1" spc="503" dirty="0">
                <a:solidFill>
                  <a:srgbClr val="FCA5A5"/>
                </a:solidFill>
                <a:latin typeface="Liberation Sans"/>
                <a:cs typeface="Liberation Sans"/>
              </a:rPr>
              <a:t> </a:t>
            </a:r>
            <a:r>
              <a:rPr sz="850" b="1" spc="10" dirty="0">
                <a:solidFill>
                  <a:srgbClr val="FCA5A5"/>
                </a:solidFill>
                <a:latin typeface="Liberation Sans"/>
                <a:cs typeface="Liberation Sans"/>
              </a:rPr>
              <a:t>ANR:</a:t>
            </a:r>
            <a:r>
              <a:rPr sz="850" b="1" dirty="0">
                <a:solidFill>
                  <a:srgbClr val="FCA5A5"/>
                </a:solidFill>
                <a:latin typeface="Liberation Sans"/>
                <a:cs typeface="Liberation Sans"/>
              </a:rPr>
              <a:t> Cao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08459" y="3339729"/>
            <a:ext cx="2234704" cy="242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7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FFFFFF"/>
                </a:solidFill>
                <a:latin typeface="Liberation Sans"/>
                <a:cs typeface="Liberation Sans"/>
              </a:rPr>
              <a:t>DataStore (Preferences)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814839" y="3339729"/>
            <a:ext cx="1665361" cy="242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7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FFFFFF"/>
                </a:solidFill>
                <a:latin typeface="Liberation Sans"/>
                <a:cs typeface="Liberation Sans"/>
              </a:rPr>
              <a:t>DataStore (Proto)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65397" y="3729272"/>
            <a:ext cx="529739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Gi</a:t>
            </a:r>
            <a:r>
              <a:rPr sz="1000" spc="-12" dirty="0">
                <a:solidFill>
                  <a:srgbClr val="ABB2BF"/>
                </a:solidFill>
                <a:latin typeface="DejaVu Sans"/>
                <a:cs typeface="DejaVu Sans"/>
              </a:rPr>
              <a:t>ả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i pháp hi</a:t>
            </a:r>
            <a:r>
              <a:rPr sz="1000" spc="-15" dirty="0">
                <a:solidFill>
                  <a:srgbClr val="ABB2BF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 đ</a:t>
            </a:r>
            <a:r>
              <a:rPr sz="1000" spc="-12" dirty="0">
                <a:solidFill>
                  <a:srgbClr val="ABB2BF"/>
                </a:solidFill>
                <a:latin typeface="DejaVu Sans"/>
                <a:cs typeface="DejaVu Sans"/>
              </a:rPr>
              <a:t>ạ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i, b</a:t>
            </a:r>
            <a:r>
              <a:rPr sz="1000" spc="-12" dirty="0">
                <a:solidFill>
                  <a:srgbClr val="ABB2BF"/>
                </a:solidFill>
                <a:latin typeface="DejaVu Sans"/>
                <a:cs typeface="DejaVu Sans"/>
              </a:rPr>
              <a:t>ấ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t đ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ồ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ng b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ộ</a:t>
            </a:r>
            <a:r>
              <a:rPr sz="1000" spc="18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v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ớ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i Kotlin </a:t>
            </a:r>
            <a:r>
              <a:rPr sz="1000" spc="-10" dirty="0">
                <a:solidFill>
                  <a:srgbClr val="ABB2BF"/>
                </a:solidFill>
                <a:latin typeface="Liberation Sans"/>
                <a:cs typeface="Liberation Sans"/>
              </a:rPr>
              <a:t>Flow.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 Tránh</a:t>
            </a:r>
            <a:r>
              <a:rPr sz="1000" spc="11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ch</a:t>
            </a:r>
            <a:r>
              <a:rPr sz="1000" spc="-12" dirty="0">
                <a:solidFill>
                  <a:srgbClr val="ABB2BF"/>
                </a:solidFill>
                <a:latin typeface="DejaVu Sans"/>
                <a:cs typeface="DejaVu Sans"/>
              </a:rPr>
              <a:t>ặ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 lu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ồ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ng chính, an toàn h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ơ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 và là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371778" y="3729272"/>
            <a:ext cx="528555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L</a:t>
            </a:r>
            <a:r>
              <a:rPr sz="1000" spc="40" dirty="0">
                <a:solidFill>
                  <a:srgbClr val="ABB2BF"/>
                </a:solidFill>
                <a:latin typeface="DejaVu Sans"/>
                <a:cs typeface="DejaVu Sans"/>
              </a:rPr>
              <a:t>ư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u tr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ữ</a:t>
            </a:r>
            <a:r>
              <a:rPr sz="1000" spc="70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d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ữ</a:t>
            </a:r>
            <a:r>
              <a:rPr sz="1000" spc="70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li</a:t>
            </a:r>
            <a:r>
              <a:rPr sz="1000" spc="-15" dirty="0">
                <a:solidFill>
                  <a:srgbClr val="ABB2BF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u có c</a:t>
            </a:r>
            <a:r>
              <a:rPr sz="1000" spc="-12" dirty="0">
                <a:solidFill>
                  <a:srgbClr val="ABB2BF"/>
                </a:solidFill>
                <a:latin typeface="DejaVu Sans"/>
                <a:cs typeface="DejaVu Sans"/>
              </a:rPr>
              <a:t>ấ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u trúc b</a:t>
            </a:r>
            <a:r>
              <a:rPr sz="1000" spc="-12" dirty="0">
                <a:solidFill>
                  <a:srgbClr val="ABB2BF"/>
                </a:solidFill>
                <a:latin typeface="DejaVu Sans"/>
                <a:cs typeface="DejaVu Sans"/>
              </a:rPr>
              <a:t>ằ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ng Protocol Buffers, đ</a:t>
            </a:r>
            <a:r>
              <a:rPr sz="1000" spc="-12" dirty="0">
                <a:solidFill>
                  <a:srgbClr val="ABB2BF"/>
                </a:solidFill>
                <a:latin typeface="DejaVu Sans"/>
                <a:cs typeface="DejaVu Sans"/>
              </a:rPr>
              <a:t>ả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m b</a:t>
            </a:r>
            <a:r>
              <a:rPr sz="1000" spc="-12" dirty="0">
                <a:solidFill>
                  <a:srgbClr val="ABB2BF"/>
                </a:solidFill>
                <a:latin typeface="DejaVu Sans"/>
                <a:cs typeface="DejaVu Sans"/>
              </a:rPr>
              <a:t>ả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o an toàn type t</a:t>
            </a:r>
            <a:r>
              <a:rPr sz="1000" spc="-12" dirty="0">
                <a:solidFill>
                  <a:srgbClr val="ABB2BF"/>
                </a:solidFill>
                <a:latin typeface="DejaVu Sans"/>
                <a:cs typeface="DejaVu Sans"/>
              </a:rPr>
              <a:t>ạ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i th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ờ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i đi</a:t>
            </a:r>
            <a:r>
              <a:rPr sz="1000" spc="-15" dirty="0">
                <a:solidFill>
                  <a:srgbClr val="ABB2BF"/>
                </a:solidFill>
                <a:latin typeface="DejaVu Sans"/>
                <a:cs typeface="DejaVu Sans"/>
              </a:rPr>
              <a:t>ể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m biên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65397" y="3910247"/>
            <a:ext cx="342703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l</a:t>
            </a:r>
            <a:r>
              <a:rPr sz="1000" spc="40" dirty="0">
                <a:solidFill>
                  <a:srgbClr val="ABB2BF"/>
                </a:solidFill>
                <a:latin typeface="DejaVu Sans"/>
                <a:cs typeface="DejaVu Sans"/>
              </a:rPr>
              <a:t>ự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a ch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ọ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 thay th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ế</a:t>
            </a:r>
            <a:r>
              <a:rPr sz="1000" spc="15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SharedPreferences đ</a:t>
            </a:r>
            <a:r>
              <a:rPr sz="1000" spc="15" dirty="0">
                <a:solidFill>
                  <a:srgbClr val="ABB2BF"/>
                </a:solidFill>
                <a:latin typeface="DejaVu Sans"/>
                <a:cs typeface="DejaVu Sans"/>
              </a:rPr>
              <a:t>ượ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c khuyên dùng.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371778" y="3910247"/>
            <a:ext cx="332512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d</a:t>
            </a:r>
            <a:r>
              <a:rPr sz="1000" spc="21" dirty="0">
                <a:solidFill>
                  <a:srgbClr val="ABB2BF"/>
                </a:solidFill>
                <a:latin typeface="DejaVu Sans"/>
                <a:cs typeface="DejaVu Sans"/>
              </a:rPr>
              <a:t>ị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ch và đ</a:t>
            </a:r>
            <a:r>
              <a:rPr sz="1000" spc="-11" dirty="0">
                <a:solidFill>
                  <a:srgbClr val="ABB2BF"/>
                </a:solidFill>
                <a:latin typeface="DejaVu Sans"/>
                <a:cs typeface="DejaVu Sans"/>
              </a:rPr>
              <a:t>ơ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 gi</a:t>
            </a:r>
            <a:r>
              <a:rPr sz="1000" spc="-12" dirty="0">
                <a:solidFill>
                  <a:srgbClr val="ABB2BF"/>
                </a:solidFill>
                <a:latin typeface="DejaVu Sans"/>
                <a:cs typeface="DejaVu Sans"/>
              </a:rPr>
              <a:t>ả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 hóa vi</a:t>
            </a:r>
            <a:r>
              <a:rPr sz="1000" spc="-15" dirty="0">
                <a:solidFill>
                  <a:srgbClr val="ABB2BF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c di chuy</a:t>
            </a:r>
            <a:r>
              <a:rPr sz="1000" spc="-15" dirty="0">
                <a:solidFill>
                  <a:srgbClr val="ABB2BF"/>
                </a:solidFill>
                <a:latin typeface="DejaVu Sans"/>
                <a:cs typeface="DejaVu Sans"/>
              </a:rPr>
              <a:t>ể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n d</a:t>
            </a:r>
            <a:r>
              <a:rPr sz="1000" dirty="0">
                <a:solidFill>
                  <a:srgbClr val="ABB2BF"/>
                </a:solidFill>
                <a:latin typeface="DejaVu Sans"/>
                <a:cs typeface="DejaVu Sans"/>
              </a:rPr>
              <a:t>ữ</a:t>
            </a:r>
            <a:r>
              <a:rPr sz="1000" spc="70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li</a:t>
            </a:r>
            <a:r>
              <a:rPr sz="1000" spc="-15" dirty="0">
                <a:solidFill>
                  <a:srgbClr val="ABB2BF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ABB2BF"/>
                </a:solidFill>
                <a:latin typeface="Liberation Sans"/>
                <a:cs typeface="Liberation Sans"/>
              </a:rPr>
              <a:t>u (migration).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65397" y="4193923"/>
            <a:ext cx="1627733" cy="346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4ADE80"/>
                </a:solidFill>
                <a:latin typeface="Liberation Sans"/>
                <a:cs typeface="Liberation Sans"/>
              </a:rPr>
              <a:t>•</a:t>
            </a:r>
            <a:r>
              <a:rPr sz="850" b="1" spc="10" dirty="0">
                <a:solidFill>
                  <a:srgbClr val="4ADE80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Hi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ệ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n</a:t>
            </a:r>
            <a:r>
              <a:rPr sz="850" spc="10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đ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ạ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i, b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ấ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t đ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ồ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ng b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ộ</a:t>
            </a:r>
            <a:r>
              <a:rPr sz="850" spc="31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(Flow)</a:t>
            </a:r>
          </a:p>
          <a:p>
            <a:pPr marL="0" marR="0">
              <a:lnSpc>
                <a:spcPts val="1005"/>
              </a:lnSpc>
              <a:spcBef>
                <a:spcPts val="419"/>
              </a:spcBef>
              <a:spcAft>
                <a:spcPts val="0"/>
              </a:spcAft>
            </a:pPr>
            <a:r>
              <a:rPr sz="850" b="1" dirty="0">
                <a:solidFill>
                  <a:srgbClr val="4ADE80"/>
                </a:solidFill>
                <a:latin typeface="Liberation Sans"/>
                <a:cs typeface="Liberation Sans"/>
              </a:rPr>
              <a:t>•</a:t>
            </a:r>
            <a:r>
              <a:rPr sz="850" b="1" spc="10" dirty="0">
                <a:solidFill>
                  <a:srgbClr val="4ADE80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Không</a:t>
            </a:r>
            <a:r>
              <a:rPr sz="850" spc="-43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850" spc="10" dirty="0">
                <a:solidFill>
                  <a:srgbClr val="ABB2BF"/>
                </a:solidFill>
                <a:latin typeface="Liberation Sans"/>
                <a:cs typeface="Liberation Sans"/>
              </a:rPr>
              <a:t>ANR,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 an toàn lu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ồ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371778" y="4193923"/>
            <a:ext cx="1727098" cy="346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4ADE80"/>
                </a:solidFill>
                <a:latin typeface="Liberation Sans"/>
                <a:cs typeface="Liberation Sans"/>
              </a:rPr>
              <a:t>•</a:t>
            </a:r>
            <a:r>
              <a:rPr sz="850" b="1" spc="10" dirty="0">
                <a:solidFill>
                  <a:srgbClr val="4ADE80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Schema rõ ràng b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ằ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ng Protobuf</a:t>
            </a:r>
          </a:p>
          <a:p>
            <a:pPr marL="0" marR="0">
              <a:lnSpc>
                <a:spcPts val="1005"/>
              </a:lnSpc>
              <a:spcBef>
                <a:spcPts val="419"/>
              </a:spcBef>
              <a:spcAft>
                <a:spcPts val="0"/>
              </a:spcAft>
            </a:pPr>
            <a:r>
              <a:rPr sz="850" b="1" dirty="0">
                <a:solidFill>
                  <a:srgbClr val="4ADE80"/>
                </a:solidFill>
                <a:latin typeface="Liberation Sans"/>
                <a:cs typeface="Liberation Sans"/>
              </a:rPr>
              <a:t>•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Type-safe</a:t>
            </a:r>
            <a:r>
              <a:rPr sz="850" spc="10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tuy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ệ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t đ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ố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65397" y="4555873"/>
            <a:ext cx="2048123" cy="165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FACC15"/>
                </a:solidFill>
                <a:latin typeface="Liberation Sans"/>
                <a:cs typeface="Liberation Sans"/>
              </a:rPr>
              <a:t>•</a:t>
            </a:r>
            <a:r>
              <a:rPr sz="850" b="1" spc="18" dirty="0">
                <a:solidFill>
                  <a:srgbClr val="FACC15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Type-safe</a:t>
            </a:r>
            <a:r>
              <a:rPr sz="850" spc="10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h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ơ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n</a:t>
            </a:r>
            <a:r>
              <a:rPr sz="850" spc="10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(qua Preferences.Key)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371778" y="4555873"/>
            <a:ext cx="1403077" cy="165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4ADE80"/>
                </a:solidFill>
                <a:latin typeface="Liberation Sans"/>
                <a:cs typeface="Liberation Sans"/>
              </a:rPr>
              <a:t>•</a:t>
            </a:r>
            <a:r>
              <a:rPr sz="850" b="1" spc="10" dirty="0">
                <a:solidFill>
                  <a:srgbClr val="4ADE80"/>
                </a:solidFill>
                <a:latin typeface="Liberation Sans"/>
                <a:cs typeface="Liberation Sans"/>
              </a:rPr>
              <a:t> </a:t>
            </a:r>
            <a:r>
              <a:rPr sz="850" spc="10" dirty="0">
                <a:solidFill>
                  <a:srgbClr val="ABB2BF"/>
                </a:solidFill>
                <a:latin typeface="Liberation Sans"/>
                <a:cs typeface="Liberation Sans"/>
              </a:rPr>
              <a:t>D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ễ</a:t>
            </a:r>
            <a:r>
              <a:rPr sz="850" spc="30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dàng migrate d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ữ</a:t>
            </a:r>
            <a:r>
              <a:rPr sz="850" spc="14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li</a:t>
            </a:r>
            <a:r>
              <a:rPr sz="850" dirty="0">
                <a:solidFill>
                  <a:srgbClr val="ABB2BF"/>
                </a:solidFill>
                <a:latin typeface="DejaVu Sans"/>
                <a:cs typeface="DejaVu Sans"/>
              </a:rPr>
              <a:t>ệ</a:t>
            </a:r>
            <a:r>
              <a:rPr sz="850" dirty="0">
                <a:solidFill>
                  <a:srgbClr val="ABB2BF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38472" y="4853666"/>
            <a:ext cx="1060214" cy="16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6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5EEAD4"/>
                </a:solidFill>
                <a:latin typeface="Liberation Sans"/>
                <a:cs typeface="Liberation Sans"/>
              </a:rPr>
              <a:t>Performance: T</a:t>
            </a:r>
            <a:r>
              <a:rPr sz="850" b="1" spc="297" dirty="0">
                <a:solidFill>
                  <a:srgbClr val="5EEAD4"/>
                </a:solidFill>
                <a:latin typeface="Liberation Sans"/>
                <a:cs typeface="Liberation Sans"/>
              </a:rPr>
              <a:t> </a:t>
            </a:r>
            <a:r>
              <a:rPr sz="850" b="1" dirty="0">
                <a:solidFill>
                  <a:srgbClr val="5EEAD4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765547" y="4853666"/>
            <a:ext cx="1289934" cy="16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6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FDE047"/>
                </a:solidFill>
                <a:latin typeface="Liberation Sans"/>
                <a:cs typeface="Liberation Sans"/>
              </a:rPr>
              <a:t>Type-safe: Trung</a:t>
            </a:r>
            <a:r>
              <a:rPr sz="850" b="1" spc="15" dirty="0">
                <a:solidFill>
                  <a:srgbClr val="FDE047"/>
                </a:solidFill>
                <a:latin typeface="Liberation Sans"/>
                <a:cs typeface="Liberation Sans"/>
              </a:rPr>
              <a:t> </a:t>
            </a:r>
            <a:r>
              <a:rPr sz="850" b="1" dirty="0">
                <a:solidFill>
                  <a:srgbClr val="FDE047"/>
                </a:solidFill>
                <a:latin typeface="Liberation Sans"/>
                <a:cs typeface="Liberation Sans"/>
              </a:rPr>
              <a:t>bình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444852" y="4853666"/>
            <a:ext cx="962049" cy="16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6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D8B4FE"/>
                </a:solidFill>
                <a:latin typeface="Liberation Sans"/>
                <a:cs typeface="Liberation Sans"/>
              </a:rPr>
              <a:t>C</a:t>
            </a:r>
            <a:r>
              <a:rPr sz="850" b="1" spc="299" dirty="0">
                <a:solidFill>
                  <a:srgbClr val="D8B4FE"/>
                </a:solidFill>
                <a:latin typeface="Liberation Sans"/>
                <a:cs typeface="Liberation Sans"/>
              </a:rPr>
              <a:t> </a:t>
            </a:r>
            <a:r>
              <a:rPr sz="850" b="1" dirty="0">
                <a:solidFill>
                  <a:srgbClr val="D8B4FE"/>
                </a:solidFill>
                <a:latin typeface="Liberation Sans"/>
                <a:cs typeface="Liberation Sans"/>
              </a:rPr>
              <a:t>u</a:t>
            </a:r>
            <a:r>
              <a:rPr sz="850" b="1" spc="11" dirty="0">
                <a:solidFill>
                  <a:srgbClr val="D8B4FE"/>
                </a:solidFill>
                <a:latin typeface="Liberation Sans"/>
                <a:cs typeface="Liberation Sans"/>
              </a:rPr>
              <a:t> </a:t>
            </a:r>
            <a:r>
              <a:rPr sz="850" b="1" dirty="0">
                <a:solidFill>
                  <a:srgbClr val="D8B4FE"/>
                </a:solidFill>
                <a:latin typeface="Liberation Sans"/>
                <a:cs typeface="Liberation Sans"/>
              </a:rPr>
              <a:t>trúc: M</a:t>
            </a:r>
            <a:r>
              <a:rPr sz="850" b="1" spc="300" dirty="0">
                <a:solidFill>
                  <a:srgbClr val="D8B4FE"/>
                </a:solidFill>
                <a:latin typeface="Liberation Sans"/>
                <a:cs typeface="Liberation Sans"/>
              </a:rPr>
              <a:t> </a:t>
            </a:r>
            <a:r>
              <a:rPr sz="850" b="1" dirty="0">
                <a:solidFill>
                  <a:srgbClr val="D8B4FE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7473701" y="4853666"/>
            <a:ext cx="930563" cy="16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6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86EFAC"/>
                </a:solidFill>
                <a:latin typeface="Liberation Sans"/>
                <a:cs typeface="Liberation Sans"/>
              </a:rPr>
              <a:t>Type-safe: Cao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034062" y="7253966"/>
            <a:ext cx="5164000" cy="160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65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6B7280"/>
                </a:solidFill>
                <a:latin typeface="Liberation Sans"/>
                <a:cs typeface="Liberation Sans"/>
              </a:rPr>
              <a:t>Reference:</a:t>
            </a:r>
            <a:r>
              <a:rPr sz="850" spc="-46" dirty="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sz="850" dirty="0">
                <a:solidFill>
                  <a:srgbClr val="6B7280"/>
                </a:solidFill>
                <a:latin typeface="Liberation Sans"/>
                <a:cs typeface="Liberation Sans"/>
              </a:rPr>
              <a:t>Android Data Storage: SharedPreferences, Room, and DataStore Compared - Medium.com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3893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13225" y="328202"/>
            <a:ext cx="3132236" cy="6765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27"/>
              </a:lnSpc>
              <a:spcBef>
                <a:spcPts val="0"/>
              </a:spcBef>
              <a:spcAft>
                <a:spcPts val="0"/>
              </a:spcAft>
            </a:pPr>
            <a:r>
              <a:rPr sz="4500" b="1" dirty="0">
                <a:solidFill>
                  <a:srgbClr val="ABB2BF"/>
                </a:solidFill>
                <a:latin typeface="Liberation Sans"/>
                <a:cs typeface="Liberation Sans"/>
              </a:rPr>
              <a:t>L</a:t>
            </a:r>
            <a:r>
              <a:rPr sz="4500" b="1" spc="1375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4500" b="1" dirty="0">
                <a:solidFill>
                  <a:srgbClr val="ABB2BF"/>
                </a:solidFill>
                <a:latin typeface="Liberation Sans"/>
                <a:cs typeface="Liberation Sans"/>
              </a:rPr>
              <a:t>u</a:t>
            </a:r>
            <a:r>
              <a:rPr sz="4500" b="1" spc="-225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4500" b="1" spc="-112" dirty="0">
                <a:solidFill>
                  <a:srgbClr val="ABB2BF"/>
                </a:solidFill>
                <a:latin typeface="Liberation Sans"/>
                <a:cs typeface="Liberation Sans"/>
              </a:rPr>
              <a:t>tr</a:t>
            </a:r>
            <a:r>
              <a:rPr sz="4500" b="1" spc="2626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4500" b="1" spc="-112" dirty="0">
                <a:solidFill>
                  <a:srgbClr val="A4C639"/>
                </a:solidFill>
                <a:latin typeface="Liberation Sans"/>
                <a:cs typeface="Liberation Sans"/>
              </a:rPr>
              <a:t>File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7299" y="1463184"/>
            <a:ext cx="3241318" cy="357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13"/>
              </a:lnSpc>
              <a:spcBef>
                <a:spcPts val="0"/>
              </a:spcBef>
              <a:spcAft>
                <a:spcPts val="0"/>
              </a:spcAft>
            </a:pPr>
            <a:r>
              <a:rPr sz="2250" b="1" dirty="0">
                <a:solidFill>
                  <a:srgbClr val="A4C639"/>
                </a:solidFill>
                <a:latin typeface="Liberation Sans"/>
                <a:cs typeface="Liberation Sans"/>
              </a:rPr>
              <a:t>B</a:t>
            </a:r>
            <a:r>
              <a:rPr sz="2250" b="1" spc="1350" dirty="0">
                <a:solidFill>
                  <a:srgbClr val="A4C639"/>
                </a:solidFill>
                <a:latin typeface="Liberation Sans"/>
                <a:cs typeface="Liberation Sans"/>
              </a:rPr>
              <a:t> </a:t>
            </a:r>
            <a:r>
              <a:rPr sz="2250" b="1" dirty="0">
                <a:solidFill>
                  <a:srgbClr val="A4C639"/>
                </a:solidFill>
                <a:latin typeface="Liberation Sans"/>
                <a:cs typeface="Liberation Sans"/>
              </a:rPr>
              <a:t>nh</a:t>
            </a:r>
            <a:r>
              <a:rPr sz="2250" b="1" spc="1350" dirty="0">
                <a:solidFill>
                  <a:srgbClr val="A4C639"/>
                </a:solidFill>
                <a:latin typeface="Liberation Sans"/>
                <a:cs typeface="Liberation Sans"/>
              </a:rPr>
              <a:t> </a:t>
            </a:r>
            <a:r>
              <a:rPr sz="2250" b="1" dirty="0">
                <a:solidFill>
                  <a:srgbClr val="A4C639"/>
                </a:solidFill>
                <a:latin typeface="Liberation Sans"/>
                <a:cs typeface="Liberation Sans"/>
              </a:rPr>
              <a:t>trong (Internal)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24699" y="1463184"/>
            <a:ext cx="3368845" cy="357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13"/>
              </a:lnSpc>
              <a:spcBef>
                <a:spcPts val="0"/>
              </a:spcBef>
              <a:spcAft>
                <a:spcPts val="0"/>
              </a:spcAft>
            </a:pPr>
            <a:r>
              <a:rPr sz="2250" b="1" dirty="0">
                <a:solidFill>
                  <a:srgbClr val="A4C639"/>
                </a:solidFill>
                <a:latin typeface="Liberation Sans"/>
                <a:cs typeface="Liberation Sans"/>
              </a:rPr>
              <a:t>B</a:t>
            </a:r>
            <a:r>
              <a:rPr sz="2250" b="1" spc="1350" dirty="0">
                <a:solidFill>
                  <a:srgbClr val="A4C639"/>
                </a:solidFill>
                <a:latin typeface="Liberation Sans"/>
                <a:cs typeface="Liberation Sans"/>
              </a:rPr>
              <a:t> </a:t>
            </a:r>
            <a:r>
              <a:rPr sz="2250" b="1" dirty="0">
                <a:solidFill>
                  <a:srgbClr val="A4C639"/>
                </a:solidFill>
                <a:latin typeface="Liberation Sans"/>
                <a:cs typeface="Liberation Sans"/>
              </a:rPr>
              <a:t>nh</a:t>
            </a:r>
            <a:r>
              <a:rPr sz="2250" b="1" spc="1350" dirty="0">
                <a:solidFill>
                  <a:srgbClr val="A4C639"/>
                </a:solidFill>
                <a:latin typeface="Liberation Sans"/>
                <a:cs typeface="Liberation Sans"/>
              </a:rPr>
              <a:t> </a:t>
            </a:r>
            <a:r>
              <a:rPr sz="2250" b="1" dirty="0">
                <a:solidFill>
                  <a:srgbClr val="A4C639"/>
                </a:solidFill>
                <a:latin typeface="Liberation Sans"/>
                <a:cs typeface="Liberation Sans"/>
              </a:rPr>
              <a:t>ngoài (External)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0099" y="2199530"/>
            <a:ext cx="2206451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BFDBFE"/>
                </a:solidFill>
                <a:latin typeface="Liberation Sans"/>
                <a:cs typeface="Liberation Sans"/>
              </a:rPr>
              <a:t>D</a:t>
            </a:r>
            <a:r>
              <a:rPr sz="1200" dirty="0">
                <a:solidFill>
                  <a:srgbClr val="BFDBFE"/>
                </a:solidFill>
                <a:latin typeface="DejaVu Sans"/>
                <a:cs typeface="DejaVu Sans"/>
              </a:rPr>
              <a:t>ữ</a:t>
            </a:r>
            <a:r>
              <a:rPr sz="1200" spc="23" dirty="0">
                <a:solidFill>
                  <a:srgbClr val="BFDBFE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BFDBFE"/>
                </a:solidFill>
                <a:latin typeface="Liberation Sans"/>
                <a:cs typeface="Liberation Sans"/>
              </a:rPr>
              <a:t>li</a:t>
            </a:r>
            <a:r>
              <a:rPr sz="1200" spc="11" dirty="0">
                <a:solidFill>
                  <a:srgbClr val="BFDBFE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BFDBFE"/>
                </a:solidFill>
                <a:latin typeface="Liberation Sans"/>
                <a:cs typeface="Liberation Sans"/>
              </a:rPr>
              <a:t>u riêng t</a:t>
            </a:r>
            <a:r>
              <a:rPr sz="1200" dirty="0">
                <a:solidFill>
                  <a:srgbClr val="BFDBFE"/>
                </a:solidFill>
                <a:latin typeface="DejaVu Sans"/>
                <a:cs typeface="DejaVu Sans"/>
              </a:rPr>
              <a:t>ư</a:t>
            </a:r>
            <a:r>
              <a:rPr sz="1200" spc="23" dirty="0">
                <a:solidFill>
                  <a:srgbClr val="BFDBFE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BFDBFE"/>
                </a:solidFill>
                <a:latin typeface="Liberation Sans"/>
                <a:cs typeface="Liberation Sans"/>
              </a:rPr>
              <a:t>c</a:t>
            </a:r>
            <a:r>
              <a:rPr sz="1200" spc="-10" dirty="0">
                <a:solidFill>
                  <a:srgbClr val="BFDBFE"/>
                </a:solidFill>
                <a:latin typeface="DejaVu Sans"/>
                <a:cs typeface="DejaVu Sans"/>
              </a:rPr>
              <a:t>ủ</a:t>
            </a:r>
            <a:r>
              <a:rPr sz="1200" dirty="0">
                <a:solidFill>
                  <a:srgbClr val="BFDBFE"/>
                </a:solidFill>
                <a:latin typeface="Liberation Sans"/>
                <a:cs typeface="Liberation Sans"/>
              </a:rPr>
              <a:t>a </a:t>
            </a:r>
            <a:r>
              <a:rPr sz="1200" spc="-10" dirty="0">
                <a:solidFill>
                  <a:srgbClr val="BFDBFE"/>
                </a:solidFill>
                <a:latin typeface="DejaVu Sans"/>
                <a:cs typeface="DejaVu Sans"/>
              </a:rPr>
              <a:t>ứ</a:t>
            </a:r>
            <a:r>
              <a:rPr sz="1200" dirty="0">
                <a:solidFill>
                  <a:srgbClr val="BFDBFE"/>
                </a:solidFill>
                <a:latin typeface="Liberation Sans"/>
                <a:cs typeface="Liberation Sans"/>
              </a:rPr>
              <a:t>ng d</a:t>
            </a:r>
            <a:r>
              <a:rPr sz="1200" spc="-10" dirty="0">
                <a:solidFill>
                  <a:srgbClr val="BFDBFE"/>
                </a:solidFill>
                <a:latin typeface="DejaVu Sans"/>
                <a:cs typeface="DejaVu Sans"/>
              </a:rPr>
              <a:t>ụ</a:t>
            </a:r>
            <a:r>
              <a:rPr sz="1200" dirty="0">
                <a:solidFill>
                  <a:srgbClr val="BFDBFE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06501" y="2199530"/>
            <a:ext cx="1738684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ECACA"/>
                </a:solidFill>
                <a:latin typeface="Liberation Sans"/>
                <a:cs typeface="Liberation Sans"/>
              </a:rPr>
              <a:t>B</a:t>
            </a:r>
            <a:r>
              <a:rPr sz="1200" dirty="0">
                <a:solidFill>
                  <a:srgbClr val="FECACA"/>
                </a:solidFill>
                <a:latin typeface="DejaVu Sans"/>
                <a:cs typeface="DejaVu Sans"/>
              </a:rPr>
              <a:t>ị</a:t>
            </a:r>
            <a:r>
              <a:rPr sz="1200" dirty="0">
                <a:solidFill>
                  <a:srgbClr val="FECAC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ECACA"/>
                </a:solidFill>
                <a:latin typeface="Liberation Sans"/>
                <a:cs typeface="Liberation Sans"/>
              </a:rPr>
              <a:t>xóa khi g</a:t>
            </a:r>
            <a:r>
              <a:rPr sz="1200" dirty="0">
                <a:solidFill>
                  <a:srgbClr val="FECACA"/>
                </a:solidFill>
                <a:latin typeface="DejaVu Sans"/>
                <a:cs typeface="DejaVu Sans"/>
              </a:rPr>
              <a:t>ỡ</a:t>
            </a:r>
            <a:r>
              <a:rPr sz="1200" spc="49" dirty="0">
                <a:solidFill>
                  <a:srgbClr val="FECAC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ECACA"/>
                </a:solidFill>
                <a:latin typeface="DejaVu Sans"/>
                <a:cs typeface="DejaVu Sans"/>
              </a:rPr>
              <a:t>ứ</a:t>
            </a:r>
            <a:r>
              <a:rPr sz="1200" dirty="0">
                <a:solidFill>
                  <a:srgbClr val="FECACA"/>
                </a:solidFill>
                <a:latin typeface="Liberation Sans"/>
                <a:cs typeface="Liberation Sans"/>
              </a:rPr>
              <a:t>ng d</a:t>
            </a:r>
            <a:r>
              <a:rPr sz="1200" spc="-10" dirty="0">
                <a:solidFill>
                  <a:srgbClr val="FECACA"/>
                </a:solidFill>
                <a:latin typeface="DejaVu Sans"/>
                <a:cs typeface="DejaVu Sans"/>
              </a:rPr>
              <a:t>ụ</a:t>
            </a:r>
            <a:r>
              <a:rPr sz="1200" dirty="0">
                <a:solidFill>
                  <a:srgbClr val="FECACA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7499" y="2199530"/>
            <a:ext cx="1878210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7D2FE"/>
                </a:solidFill>
                <a:latin typeface="Liberation Sans"/>
                <a:cs typeface="Liberation Sans"/>
              </a:rPr>
              <a:t>D</a:t>
            </a:r>
            <a:r>
              <a:rPr sz="1200" dirty="0">
                <a:solidFill>
                  <a:srgbClr val="C7D2FE"/>
                </a:solidFill>
                <a:latin typeface="DejaVu Sans"/>
                <a:cs typeface="DejaVu Sans"/>
              </a:rPr>
              <a:t>ữ</a:t>
            </a:r>
            <a:r>
              <a:rPr sz="1200" spc="23" dirty="0">
                <a:solidFill>
                  <a:srgbClr val="C7D2FE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C7D2FE"/>
                </a:solidFill>
                <a:latin typeface="Liberation Sans"/>
                <a:cs typeface="Liberation Sans"/>
              </a:rPr>
              <a:t>li</a:t>
            </a:r>
            <a:r>
              <a:rPr sz="1200" spc="11" dirty="0">
                <a:solidFill>
                  <a:srgbClr val="C7D2FE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C7D2FE"/>
                </a:solidFill>
                <a:latin typeface="Liberation Sans"/>
                <a:cs typeface="Liberation Sans"/>
              </a:rPr>
              <a:t>u chia s</a:t>
            </a:r>
            <a:r>
              <a:rPr sz="1200" dirty="0">
                <a:solidFill>
                  <a:srgbClr val="C7D2FE"/>
                </a:solidFill>
                <a:latin typeface="DejaVu Sans"/>
                <a:cs typeface="DejaVu Sans"/>
              </a:rPr>
              <a:t>ẻ</a:t>
            </a:r>
            <a:r>
              <a:rPr sz="1200" spc="44" dirty="0">
                <a:solidFill>
                  <a:srgbClr val="C7D2FE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C7D2FE"/>
                </a:solidFill>
                <a:latin typeface="Liberation Sans"/>
                <a:cs typeface="Liberation Sans"/>
              </a:rPr>
              <a:t>công khai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45586" y="2199530"/>
            <a:ext cx="1785118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EF08A"/>
                </a:solidFill>
                <a:latin typeface="Liberation Sans"/>
                <a:cs typeface="Liberation Sans"/>
              </a:rPr>
              <a:t>Yêu c</a:t>
            </a:r>
            <a:r>
              <a:rPr sz="1200" spc="15" dirty="0">
                <a:solidFill>
                  <a:srgbClr val="FEF08A"/>
                </a:solidFill>
                <a:latin typeface="DejaVu Sans"/>
                <a:cs typeface="DejaVu Sans"/>
              </a:rPr>
              <a:t>ầ</a:t>
            </a:r>
            <a:r>
              <a:rPr sz="1200" dirty="0">
                <a:solidFill>
                  <a:srgbClr val="FEF08A"/>
                </a:solidFill>
                <a:latin typeface="Liberation Sans"/>
                <a:cs typeface="Liberation Sans"/>
              </a:rPr>
              <a:t>u quy</a:t>
            </a:r>
            <a:r>
              <a:rPr sz="1200" spc="11" dirty="0">
                <a:solidFill>
                  <a:srgbClr val="FEF08A"/>
                </a:solidFill>
                <a:latin typeface="DejaVu Sans"/>
                <a:cs typeface="DejaVu Sans"/>
              </a:rPr>
              <a:t>ề</a:t>
            </a:r>
            <a:r>
              <a:rPr sz="1200" dirty="0">
                <a:solidFill>
                  <a:srgbClr val="FEF08A"/>
                </a:solidFill>
                <a:latin typeface="Liberation Sans"/>
                <a:cs typeface="Liberation Sans"/>
              </a:rPr>
              <a:t>n truy c</a:t>
            </a:r>
            <a:r>
              <a:rPr sz="1200" spc="15" dirty="0">
                <a:solidFill>
                  <a:srgbClr val="FEF08A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FEF08A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00099" y="2656730"/>
            <a:ext cx="1359693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BBF7D0"/>
                </a:solidFill>
                <a:latin typeface="Liberation Sans"/>
                <a:cs typeface="Liberation Sans"/>
              </a:rPr>
              <a:t>Không c</a:t>
            </a:r>
            <a:r>
              <a:rPr sz="1200" spc="15" dirty="0">
                <a:solidFill>
                  <a:srgbClr val="BBF7D0"/>
                </a:solidFill>
                <a:latin typeface="DejaVu Sans"/>
                <a:cs typeface="DejaVu Sans"/>
              </a:rPr>
              <a:t>ầ</a:t>
            </a:r>
            <a:r>
              <a:rPr sz="1200" dirty="0">
                <a:solidFill>
                  <a:srgbClr val="BBF7D0"/>
                </a:solidFill>
                <a:latin typeface="Liberation Sans"/>
                <a:cs typeface="Liberation Sans"/>
              </a:rPr>
              <a:t>n quy</a:t>
            </a:r>
            <a:r>
              <a:rPr sz="1200" spc="11" dirty="0">
                <a:solidFill>
                  <a:srgbClr val="BBF7D0"/>
                </a:solidFill>
                <a:latin typeface="DejaVu Sans"/>
                <a:cs typeface="DejaVu Sans"/>
              </a:rPr>
              <a:t>ề</a:t>
            </a:r>
            <a:r>
              <a:rPr sz="1200" dirty="0">
                <a:solidFill>
                  <a:srgbClr val="BBF7D0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67499" y="2660227"/>
            <a:ext cx="2156221" cy="208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9D5FF"/>
                </a:solidFill>
                <a:latin typeface="Liberation Sans"/>
                <a:cs typeface="Liberation Sans"/>
              </a:rPr>
              <a:t>Android 10+: Scoped Storage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10324" y="3568711"/>
            <a:ext cx="1596162" cy="250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ABB2BF"/>
                </a:solidFill>
                <a:latin typeface="Liberation Sans"/>
                <a:cs typeface="Liberation Sans"/>
              </a:rPr>
              <a:t>C</a:t>
            </a:r>
            <a:r>
              <a:rPr sz="1500" b="1" spc="900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ABB2BF"/>
                </a:solidFill>
                <a:latin typeface="Liberation Sans"/>
                <a:cs typeface="Liberation Sans"/>
              </a:rPr>
              <a:t>ch</a:t>
            </a:r>
            <a:r>
              <a:rPr sz="1500" b="1" spc="900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ABB2BF"/>
                </a:solidFill>
                <a:latin typeface="Liberation Sans"/>
                <a:cs typeface="Liberation Sans"/>
              </a:rPr>
              <a:t>truy c</a:t>
            </a:r>
            <a:r>
              <a:rPr sz="1500" b="1" spc="482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ABB2BF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53224" y="3953497"/>
            <a:ext cx="3767258" cy="237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MediaStore</a:t>
            </a:r>
            <a:r>
              <a:rPr sz="1350" b="1" spc="-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API </a:t>
            </a:r>
            <a:r>
              <a:rPr sz="1350" dirty="0">
                <a:solidFill>
                  <a:srgbClr val="ABB2BF"/>
                </a:solidFill>
                <a:latin typeface="Liberation Sans"/>
                <a:cs typeface="Liberation Sans"/>
              </a:rPr>
              <a:t>cho media (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ABB2BF"/>
                </a:solidFill>
                <a:latin typeface="Liberation Sans"/>
                <a:cs typeface="Liberation Sans"/>
              </a:rPr>
              <a:t>nh, video, audio).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53224" y="4334497"/>
            <a:ext cx="4586436" cy="237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SAF (Storage</a:t>
            </a:r>
            <a:r>
              <a:rPr sz="1350" b="1" spc="-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Access Framework) </a:t>
            </a:r>
            <a:r>
              <a:rPr sz="1350" dirty="0">
                <a:solidFill>
                  <a:srgbClr val="ABB2BF"/>
                </a:solidFill>
                <a:latin typeface="Liberation Sans"/>
                <a:cs typeface="Liberation Sans"/>
              </a:rPr>
              <a:t>cho các lo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ABB2BF"/>
                </a:solidFill>
                <a:latin typeface="Liberation Sans"/>
                <a:cs typeface="Liberation Sans"/>
              </a:rPr>
              <a:t>i file khác.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42924" y="6045211"/>
            <a:ext cx="2171513" cy="250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ABB2BF"/>
                </a:solidFill>
                <a:latin typeface="Liberation Sans"/>
                <a:cs typeface="Liberation Sans"/>
              </a:rPr>
              <a:t>Tính năng &amp; Phân bi</a:t>
            </a:r>
            <a:r>
              <a:rPr sz="1500" b="1" spc="482" dirty="0">
                <a:solidFill>
                  <a:srgbClr val="ABB2BF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ABB2BF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85824" y="6429997"/>
            <a:ext cx="3306225" cy="237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ABB2BF"/>
                </a:solidFill>
                <a:latin typeface="Liberation Sans"/>
                <a:cs typeface="Liberation Sans"/>
              </a:rPr>
              <a:t>Mã hóa file nh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ABB2BF"/>
                </a:solidFill>
                <a:latin typeface="Liberation Sans"/>
                <a:cs typeface="Liberation Sans"/>
              </a:rPr>
              <a:t>y c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ABB2BF"/>
                </a:solidFill>
                <a:latin typeface="Liberation Sans"/>
                <a:cs typeface="Liberation Sans"/>
              </a:rPr>
              <a:t>m v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ABB2BF"/>
                </a:solidFill>
                <a:latin typeface="Liberation Sans"/>
                <a:cs typeface="Liberation Sans"/>
              </a:rPr>
              <a:t>i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EncryptedFile</a:t>
            </a:r>
            <a:r>
              <a:rPr sz="1350" dirty="0">
                <a:solidFill>
                  <a:srgbClr val="ABB2BF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85824" y="6810997"/>
            <a:ext cx="1924719" cy="237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ABB2BF"/>
                </a:solidFill>
                <a:latin typeface="Liberation Sans"/>
                <a:cs typeface="Liberation Sans"/>
              </a:rPr>
              <a:t>Phân bi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ABB2BF"/>
                </a:solidFill>
                <a:latin typeface="Liberation Sans"/>
                <a:cs typeface="Liberation Sans"/>
              </a:rPr>
              <a:t>t các th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ABB2B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ABB2BF"/>
                </a:solidFill>
                <a:latin typeface="Liberation Sans"/>
                <a:cs typeface="Liberation Sans"/>
              </a:rPr>
              <a:t>m</a:t>
            </a:r>
            <a:r>
              <a:rPr sz="1350" spc="-31" dirty="0">
                <a:solidFill>
                  <a:srgbClr val="ABB2BF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ABB2BF"/>
                </a:solidFill>
                <a:latin typeface="Liberation Sans"/>
                <a:cs typeface="Liberation Sans"/>
              </a:rPr>
              <a:t>c: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14424" y="7104905"/>
            <a:ext cx="3301081" cy="748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D1D5DB"/>
                </a:solidFill>
                <a:latin typeface="Liberation Sans"/>
                <a:cs typeface="Liberation Sans"/>
              </a:rPr>
              <a:t>Cache:</a:t>
            </a:r>
            <a:r>
              <a:rPr sz="1200" b="1" spc="34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D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ữ</a:t>
            </a:r>
            <a:r>
              <a:rPr sz="1200" spc="23" dirty="0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li</a:t>
            </a:r>
            <a:r>
              <a:rPr sz="1200" spc="11" dirty="0">
                <a:solidFill>
                  <a:srgbClr val="9CA3AF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u t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m th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ờ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i, h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ệ</a:t>
            </a:r>
            <a:r>
              <a:rPr sz="1200" spc="44" dirty="0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th</a:t>
            </a:r>
            <a:r>
              <a:rPr sz="1200" spc="15" dirty="0">
                <a:solidFill>
                  <a:srgbClr val="9CA3AF"/>
                </a:solidFill>
                <a:latin typeface="DejaVu Sans"/>
                <a:cs typeface="DejaVu Sans"/>
              </a:rPr>
              <a:t>ố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ng có th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ể</a:t>
            </a:r>
            <a:r>
              <a:rPr sz="1200" spc="44" dirty="0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xóa.</a:t>
            </a:r>
          </a:p>
          <a:p>
            <a:pPr marL="0" marR="0">
              <a:lnSpc>
                <a:spcPts val="1396"/>
              </a:lnSpc>
              <a:spcBef>
                <a:spcPts val="703"/>
              </a:spcBef>
              <a:spcAft>
                <a:spcPts val="0"/>
              </a:spcAft>
            </a:pPr>
            <a:r>
              <a:rPr sz="1200" b="1" dirty="0">
                <a:solidFill>
                  <a:srgbClr val="D1D5DB"/>
                </a:solidFill>
                <a:latin typeface="Liberation Sans"/>
                <a:cs typeface="Liberation Sans"/>
              </a:rPr>
              <a:t>Files:</a:t>
            </a:r>
            <a:r>
              <a:rPr sz="1200" b="1" spc="34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D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ữ</a:t>
            </a:r>
            <a:r>
              <a:rPr sz="1200" spc="23" dirty="0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li</a:t>
            </a:r>
            <a:r>
              <a:rPr sz="1200" spc="11" dirty="0">
                <a:solidFill>
                  <a:srgbClr val="9CA3AF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u b</a:t>
            </a:r>
            <a:r>
              <a:rPr sz="1200" spc="11" dirty="0">
                <a:solidFill>
                  <a:srgbClr val="9CA3AF"/>
                </a:solidFill>
                <a:latin typeface="DejaVu Sans"/>
                <a:cs typeface="DejaVu Sans"/>
              </a:rPr>
              <a:t>ề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n v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ữ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ng, đ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ượ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c backup.</a:t>
            </a:r>
          </a:p>
          <a:p>
            <a:pPr marL="0" marR="0">
              <a:lnSpc>
                <a:spcPts val="1396"/>
              </a:lnSpc>
              <a:spcBef>
                <a:spcPts val="703"/>
              </a:spcBef>
              <a:spcAft>
                <a:spcPts val="0"/>
              </a:spcAft>
            </a:pPr>
            <a:r>
              <a:rPr sz="1200" b="1" dirty="0">
                <a:solidFill>
                  <a:srgbClr val="D1D5DB"/>
                </a:solidFill>
                <a:latin typeface="Liberation Sans"/>
                <a:cs typeface="Liberation Sans"/>
              </a:rPr>
              <a:t>NoBackup:</a:t>
            </a:r>
            <a:r>
              <a:rPr sz="1200" b="1" spc="33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D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ữ</a:t>
            </a:r>
            <a:r>
              <a:rPr sz="1200" spc="23" dirty="0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li</a:t>
            </a:r>
            <a:r>
              <a:rPr sz="1200" spc="11" dirty="0">
                <a:solidFill>
                  <a:srgbClr val="9CA3AF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u b</a:t>
            </a:r>
            <a:r>
              <a:rPr sz="1200" spc="11" dirty="0">
                <a:solidFill>
                  <a:srgbClr val="9CA3AF"/>
                </a:solidFill>
                <a:latin typeface="DejaVu Sans"/>
                <a:cs typeface="DejaVu Sans"/>
              </a:rPr>
              <a:t>ề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n v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ữ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ng, không backup.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609384" y="7749870"/>
            <a:ext cx="2353940" cy="514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2566" marR="0">
              <a:lnSpc>
                <a:spcPts val="1047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90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9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900" spc="-28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900" dirty="0">
                <a:solidFill>
                  <a:srgbClr val="FFFFFF"/>
                </a:solidFill>
                <a:latin typeface="Liberation Sans"/>
                <a:cs typeface="Liberation Sans"/>
              </a:rPr>
              <a:t>u chia s</a:t>
            </a:r>
            <a:r>
              <a:rPr sz="900" dirty="0">
                <a:solidFill>
                  <a:srgbClr val="FFFFFF"/>
                </a:solidFill>
                <a:latin typeface="DejaVu Sans"/>
                <a:cs typeface="DejaVu Sans"/>
              </a:rPr>
              <a:t>ẻ</a:t>
            </a:r>
          </a:p>
          <a:p>
            <a:pPr marL="0" marR="0">
              <a:lnSpc>
                <a:spcPts val="1047"/>
              </a:lnSpc>
              <a:spcBef>
                <a:spcPts val="1652"/>
              </a:spcBef>
              <a:spcAft>
                <a:spcPts val="0"/>
              </a:spcAft>
            </a:pPr>
            <a:r>
              <a:rPr sz="900" dirty="0">
                <a:solidFill>
                  <a:srgbClr val="6B7280"/>
                </a:solidFill>
                <a:latin typeface="Liberation Sans"/>
                <a:cs typeface="Liberation Sans"/>
              </a:rPr>
              <a:t>Ngu</a:t>
            </a:r>
            <a:r>
              <a:rPr sz="900" spc="-25" dirty="0">
                <a:solidFill>
                  <a:srgbClr val="6B7280"/>
                </a:solidFill>
                <a:latin typeface="DejaVu Sans"/>
                <a:cs typeface="DejaVu Sans"/>
              </a:rPr>
              <a:t>ồ</a:t>
            </a:r>
            <a:r>
              <a:rPr sz="900" dirty="0">
                <a:solidFill>
                  <a:srgbClr val="6B7280"/>
                </a:solidFill>
                <a:latin typeface="Liberation Sans"/>
                <a:cs typeface="Liberation Sans"/>
              </a:rPr>
              <a:t>n:</a:t>
            </a:r>
            <a:r>
              <a:rPr sz="900" spc="-50" dirty="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sz="900" dirty="0">
                <a:solidFill>
                  <a:srgbClr val="6B7280"/>
                </a:solidFill>
                <a:latin typeface="Liberation Sans"/>
                <a:cs typeface="Liberation Sans"/>
              </a:rPr>
              <a:t>Android Developers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73887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45701"/>
            <a:ext cx="6472790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7" dirty="0">
                <a:solidFill>
                  <a:srgbClr val="E5E7EB"/>
                </a:solidFill>
                <a:latin typeface="DejaVu Sans"/>
                <a:cs typeface="DejaVu Sans"/>
              </a:rPr>
              <a:t>Cơ</a:t>
            </a:r>
            <a:r>
              <a:rPr sz="3000" b="1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E5E7EB"/>
                </a:solidFill>
                <a:latin typeface="DejaVu Sans"/>
                <a:cs typeface="DejaVu Sans"/>
              </a:rPr>
              <a:t>sở</a:t>
            </a:r>
            <a:r>
              <a:rPr sz="3000" b="1" spc="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E5E7EB"/>
                </a:solidFill>
                <a:latin typeface="DejaVu Sans"/>
                <a:cs typeface="DejaVu Sans"/>
              </a:rPr>
              <a:t>dữ</a:t>
            </a:r>
            <a:r>
              <a:rPr sz="3000" b="1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3000" b="1" spc="11" dirty="0">
                <a:solidFill>
                  <a:srgbClr val="E5E7EB"/>
                </a:solidFill>
                <a:latin typeface="DejaVu Sans"/>
                <a:cs typeface="DejaVu Sans"/>
              </a:rPr>
              <a:t>liệu:</a:t>
            </a:r>
            <a:r>
              <a:rPr sz="3000" b="1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A4C639"/>
                </a:solidFill>
                <a:latin typeface="DejaVu Sans"/>
                <a:cs typeface="DejaVu Sans"/>
              </a:rPr>
              <a:t>SQLite</a:t>
            </a:r>
            <a:r>
              <a:rPr sz="3000" b="1" spc="10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3000" b="1" dirty="0">
                <a:solidFill>
                  <a:srgbClr val="A4C639"/>
                </a:solidFill>
                <a:latin typeface="DejaVu Sans"/>
                <a:cs typeface="DejaVu Sans"/>
              </a:rPr>
              <a:t>&amp;</a:t>
            </a:r>
            <a:r>
              <a:rPr sz="3000" b="1" spc="28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A4C639"/>
                </a:solidFill>
                <a:latin typeface="DejaVu Sans"/>
                <a:cs typeface="DejaVu Sans"/>
              </a:rPr>
              <a:t>Room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1362" y="1245578"/>
            <a:ext cx="241540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E5E7EB"/>
                </a:solidFill>
                <a:latin typeface="DejaVu Sans"/>
                <a:cs typeface="DejaVu Sans"/>
              </a:rPr>
              <a:t>SQLite (Cơ </a:t>
            </a:r>
            <a:r>
              <a:rPr sz="2000" b="1" spc="10" dirty="0">
                <a:solidFill>
                  <a:srgbClr val="E5E7EB"/>
                </a:solidFill>
                <a:latin typeface="DejaVu Sans"/>
                <a:cs typeface="DejaVu Sans"/>
              </a:rPr>
              <a:t>bản)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62923" y="1245578"/>
            <a:ext cx="310124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Room (Khuyến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nghị)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56324" y="1813737"/>
            <a:ext cx="2441848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ABB2BF"/>
                </a:solidFill>
                <a:latin typeface="DejaVu Sans"/>
                <a:cs typeface="DejaVu Sans"/>
              </a:rPr>
              <a:t>•</a:t>
            </a:r>
            <a:r>
              <a:rPr sz="1050" spc="218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050" spc="15" dirty="0">
                <a:solidFill>
                  <a:srgbClr val="ABB2BF"/>
                </a:solidFill>
                <a:latin typeface="DejaVu Sans"/>
                <a:cs typeface="DejaVu Sans"/>
              </a:rPr>
              <a:t>Thư</a:t>
            </a:r>
            <a:r>
              <a:rPr sz="105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050" spc="11" dirty="0">
                <a:solidFill>
                  <a:srgbClr val="ABB2BF"/>
                </a:solidFill>
                <a:latin typeface="DejaVu Sans"/>
                <a:cs typeface="DejaVu Sans"/>
              </a:rPr>
              <a:t>viện</a:t>
            </a:r>
            <a:r>
              <a:rPr sz="1050" spc="1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050" spc="11" dirty="0">
                <a:solidFill>
                  <a:srgbClr val="ABB2BF"/>
                </a:solidFill>
                <a:latin typeface="DejaVu Sans"/>
                <a:cs typeface="DejaVu Sans"/>
              </a:rPr>
              <a:t>trừu </a:t>
            </a:r>
            <a:r>
              <a:rPr sz="1050" spc="14" dirty="0">
                <a:solidFill>
                  <a:srgbClr val="ABB2BF"/>
                </a:solidFill>
                <a:latin typeface="DejaVu Sans"/>
                <a:cs typeface="DejaVu Sans"/>
              </a:rPr>
              <a:t>tượng</a:t>
            </a:r>
            <a:r>
              <a:rPr sz="105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050" spc="15" dirty="0">
                <a:solidFill>
                  <a:srgbClr val="ABB2BF"/>
                </a:solidFill>
                <a:latin typeface="DejaVu Sans"/>
                <a:cs typeface="DejaVu Sans"/>
              </a:rPr>
              <a:t>hóa</a:t>
            </a:r>
            <a:r>
              <a:rPr sz="105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050" spc="12" dirty="0">
                <a:solidFill>
                  <a:srgbClr val="ABB2BF"/>
                </a:solidFill>
                <a:latin typeface="DejaVu Sans"/>
                <a:cs typeface="DejaVu Sans"/>
              </a:rPr>
              <a:t>SQLite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4764" y="1899462"/>
            <a:ext cx="1275010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A4C639"/>
                </a:solidFill>
                <a:latin typeface="DejaVu Sans"/>
                <a:cs typeface="DejaVu Sans"/>
              </a:rPr>
              <a:t>•</a:t>
            </a:r>
            <a:r>
              <a:rPr sz="1050" spc="218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1050" spc="18" dirty="0">
                <a:solidFill>
                  <a:srgbClr val="A4C639"/>
                </a:solidFill>
                <a:latin typeface="DejaVu Sans"/>
                <a:cs typeface="DejaVu Sans"/>
              </a:rPr>
              <a:t>RDBMS</a:t>
            </a:r>
            <a:r>
              <a:rPr sz="1050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1050" spc="15" dirty="0">
                <a:solidFill>
                  <a:srgbClr val="A4C639"/>
                </a:solidFill>
                <a:latin typeface="DejaVu Sans"/>
                <a:cs typeface="DejaVu Sans"/>
              </a:rPr>
              <a:t>nhúng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16484" y="1899462"/>
            <a:ext cx="1582276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A4C639"/>
                </a:solidFill>
                <a:latin typeface="DejaVu Sans"/>
                <a:cs typeface="DejaVu Sans"/>
              </a:rPr>
              <a:t>•</a:t>
            </a:r>
            <a:r>
              <a:rPr sz="1050" spc="218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1050" spc="-28" dirty="0">
                <a:solidFill>
                  <a:srgbClr val="A4C639"/>
                </a:solidFill>
                <a:latin typeface="DejaVu Sans"/>
                <a:cs typeface="DejaVu Sans"/>
              </a:rPr>
              <a:t>Truy</a:t>
            </a:r>
            <a:r>
              <a:rPr sz="1050" spc="5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1050" spc="15" dirty="0">
                <a:solidFill>
                  <a:srgbClr val="A4C639"/>
                </a:solidFill>
                <a:latin typeface="DejaVu Sans"/>
                <a:cs typeface="DejaVu Sans"/>
              </a:rPr>
              <a:t>vấn</a:t>
            </a:r>
            <a:r>
              <a:rPr sz="1050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1050" spc="15" dirty="0">
                <a:solidFill>
                  <a:srgbClr val="A4C639"/>
                </a:solidFill>
                <a:latin typeface="DejaVu Sans"/>
                <a:cs typeface="DejaVu Sans"/>
              </a:rPr>
              <a:t>bằng</a:t>
            </a:r>
            <a:r>
              <a:rPr sz="1050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1050" spc="17" dirty="0">
                <a:solidFill>
                  <a:srgbClr val="A4C639"/>
                </a:solidFill>
                <a:latin typeface="DejaVu Sans"/>
                <a:cs typeface="DejaVu Sans"/>
              </a:rPr>
              <a:t>SQL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48759" y="2248722"/>
            <a:ext cx="4626357" cy="247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Hỗ trợ</a:t>
            </a:r>
            <a:r>
              <a:rPr sz="1350" spc="33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86EFAC"/>
                </a:solidFill>
                <a:latin typeface="Liberation Mono"/>
                <a:cs typeface="Liberation Mono"/>
              </a:rPr>
              <a:t>Coroutines</a:t>
            </a:r>
            <a:r>
              <a:rPr sz="1350" spc="426" dirty="0">
                <a:solidFill>
                  <a:srgbClr val="86EFA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(suspend),</a:t>
            </a:r>
            <a:r>
              <a:rPr sz="1350" spc="334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86EFAC"/>
                </a:solidFill>
                <a:latin typeface="Liberation Mono"/>
                <a:cs typeface="Liberation Mono"/>
              </a:rPr>
              <a:t>Flow</a:t>
            </a:r>
            <a:r>
              <a:rPr sz="1350" spc="425" dirty="0">
                <a:solidFill>
                  <a:srgbClr val="86EFA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cho tác vụ bất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27199" y="2334447"/>
            <a:ext cx="3989225" cy="247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Cần</a:t>
            </a:r>
            <a:r>
              <a:rPr sz="1350" spc="333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DE047"/>
                </a:solidFill>
                <a:latin typeface="Liberation Mono"/>
                <a:cs typeface="Liberation Mono"/>
              </a:rPr>
              <a:t>SQLiteOpenHelper</a:t>
            </a:r>
            <a:r>
              <a:rPr sz="1350" spc="425" dirty="0">
                <a:solidFill>
                  <a:srgbClr val="FDE047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để quản lý schema.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48759" y="2515422"/>
            <a:ext cx="90246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đồng bộ.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27199" y="2763072"/>
            <a:ext cx="355300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Code rườm rà, dễ gây lỗi và khó bảo trì.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48759" y="2858322"/>
            <a:ext cx="4428892" cy="247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Hỗ trợ</a:t>
            </a:r>
            <a:r>
              <a:rPr sz="1350" spc="33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86EFAC"/>
                </a:solidFill>
                <a:latin typeface="Liberation Mono"/>
                <a:cs typeface="Liberation Mono"/>
              </a:rPr>
              <a:t>Relation</a:t>
            </a:r>
            <a:r>
              <a:rPr sz="1350" spc="425" dirty="0">
                <a:solidFill>
                  <a:srgbClr val="86EFA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để xử lý quan hệ giữa các bảng.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48759" y="3286947"/>
            <a:ext cx="4290940" cy="247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Hỗ trợ</a:t>
            </a:r>
            <a:r>
              <a:rPr sz="1350" spc="33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86EFAC"/>
                </a:solidFill>
                <a:latin typeface="Liberation Mono"/>
                <a:cs typeface="Liberation Mono"/>
              </a:rPr>
              <a:t>Migration</a:t>
            </a:r>
            <a:r>
              <a:rPr sz="1350" spc="425" dirty="0">
                <a:solidFill>
                  <a:srgbClr val="86EFA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để cập nhật schema an toàn.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94270" y="4599887"/>
            <a:ext cx="363813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Thành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phần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cốt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lõi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Room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63059" y="4637987"/>
            <a:ext cx="251478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Tính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năng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nâng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cao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79437" y="5020497"/>
            <a:ext cx="476908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5E7EB"/>
                </a:solidFill>
                <a:latin typeface="DejaVu Sans"/>
                <a:cs typeface="DejaVu Sans"/>
              </a:rPr>
              <a:t>Entity:</a:t>
            </a:r>
            <a:r>
              <a:rPr sz="1350" b="1" spc="-4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Định nghĩa cấu trúc của một bảng </a:t>
            </a:r>
            <a:r>
              <a:rPr sz="1350" spc="-10" dirty="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 cơ sở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79437" y="5277672"/>
            <a:ext cx="78503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dữ liệu.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556324" y="5290362"/>
            <a:ext cx="1806916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A4C639"/>
                </a:solidFill>
                <a:latin typeface="DejaVu Sans"/>
                <a:cs typeface="DejaVu Sans"/>
              </a:rPr>
              <a:t>•</a:t>
            </a:r>
            <a:r>
              <a:rPr sz="1050" spc="218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1050" spc="17" dirty="0">
                <a:solidFill>
                  <a:srgbClr val="A4C639"/>
                </a:solidFill>
                <a:latin typeface="DejaVu Sans"/>
                <a:cs typeface="DejaVu Sans"/>
              </a:rPr>
              <a:t>Quan</a:t>
            </a:r>
            <a:r>
              <a:rPr sz="1050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1050" spc="15" dirty="0">
                <a:solidFill>
                  <a:srgbClr val="A4C639"/>
                </a:solidFill>
                <a:latin typeface="DejaVu Sans"/>
                <a:cs typeface="DejaVu Sans"/>
              </a:rPr>
              <a:t>hệ</a:t>
            </a:r>
            <a:r>
              <a:rPr sz="1050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1050" spc="15" dirty="0">
                <a:solidFill>
                  <a:srgbClr val="A4C639"/>
                </a:solidFill>
                <a:latin typeface="DejaVu Sans"/>
                <a:cs typeface="DejaVu Sans"/>
              </a:rPr>
              <a:t>One-to-Many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469956" y="5290362"/>
            <a:ext cx="1294263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A4C639"/>
                </a:solidFill>
                <a:latin typeface="DejaVu Sans"/>
                <a:cs typeface="DejaVu Sans"/>
              </a:rPr>
              <a:t>•</a:t>
            </a:r>
            <a:r>
              <a:rPr sz="1050" spc="218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1050" dirty="0">
                <a:solidFill>
                  <a:srgbClr val="A4C639"/>
                </a:solidFill>
                <a:latin typeface="DejaVu Sans"/>
                <a:cs typeface="DejaVu Sans"/>
              </a:rPr>
              <a:t>TypeConverter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79437" y="5668197"/>
            <a:ext cx="494153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5E7EB"/>
                </a:solidFill>
                <a:latin typeface="DejaVu Sans"/>
                <a:cs typeface="DejaVu Sans"/>
              </a:rPr>
              <a:t>DAO (Data Access Object):</a:t>
            </a:r>
            <a:r>
              <a:rPr sz="1350" b="1" spc="-4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Chứa các phương thức để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600973" y="5772972"/>
            <a:ext cx="4847935" cy="247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9CA3AF"/>
                </a:solidFill>
                <a:latin typeface="DejaVu Sans"/>
                <a:cs typeface="DejaVu Sans"/>
              </a:rPr>
              <a:t>Chuyển đổi kiểu dữ liệu phức tạp (ví dụ: </a:t>
            </a:r>
            <a:r>
              <a:rPr sz="1350" i="1" dirty="0">
                <a:solidFill>
                  <a:srgbClr val="FDE047"/>
                </a:solidFill>
                <a:latin typeface="Liberation Mono"/>
                <a:cs typeface="Liberation Mono"/>
              </a:rPr>
              <a:t>List&lt;String&gt;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79437" y="5915847"/>
            <a:ext cx="154604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truy cập dữ liệu.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600973" y="6039672"/>
            <a:ext cx="115754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9CA3AF"/>
                </a:solidFill>
                <a:latin typeface="DejaVu Sans"/>
                <a:cs typeface="DejaVu Sans"/>
              </a:rPr>
              <a:t>sang JSON).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79437" y="6306372"/>
            <a:ext cx="481204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5E7EB"/>
                </a:solidFill>
                <a:latin typeface="DejaVu Sans"/>
                <a:cs typeface="DejaVu Sans"/>
              </a:rPr>
              <a:t>Database:</a:t>
            </a:r>
            <a:r>
              <a:rPr sz="1350" b="1" spc="-4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Điểm truy cập chính, quản lý các Entity và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79437" y="6563546"/>
            <a:ext cx="58920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38" dirty="0">
                <a:solidFill>
                  <a:srgbClr val="D1D5DB"/>
                </a:solidFill>
                <a:latin typeface="DejaVu Sans"/>
                <a:cs typeface="DejaVu Sans"/>
              </a:rPr>
              <a:t>DAO.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829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513087" y="334315"/>
            <a:ext cx="5318213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ABB2BF"/>
                </a:solidFill>
                <a:latin typeface="DejaVu Sans"/>
                <a:cs typeface="DejaVu Sans"/>
              </a:rPr>
              <a:t>Bài</a:t>
            </a:r>
            <a:r>
              <a:rPr sz="4050" b="1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ABB2BF"/>
                </a:solidFill>
                <a:latin typeface="DejaVu Sans"/>
                <a:cs typeface="DejaVu Sans"/>
              </a:rPr>
              <a:t>lab </a:t>
            </a:r>
            <a:r>
              <a:rPr sz="4050" b="1" spc="-11" dirty="0">
                <a:solidFill>
                  <a:srgbClr val="A4C639"/>
                </a:solidFill>
                <a:latin typeface="DejaVu Sans"/>
                <a:cs typeface="DejaVu Sans"/>
              </a:rPr>
              <a:t>thực</a:t>
            </a:r>
            <a:r>
              <a:rPr sz="405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A4C639"/>
                </a:solidFill>
                <a:latin typeface="DejaVu Sans"/>
                <a:cs typeface="DejaVu Sans"/>
              </a:rPr>
              <a:t>chiến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5084" y="2021279"/>
            <a:ext cx="369964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Lab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1: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Settings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với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DataStore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18075" y="2021279"/>
            <a:ext cx="437330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Lab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2: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Lưu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ﬁle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nội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bộ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&amp;</a:t>
            </a:r>
            <a:r>
              <a:rPr sz="1700" b="1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chia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sẻ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ảnh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5084" y="2326079"/>
            <a:ext cx="179125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(Preferences)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18075" y="2413313"/>
            <a:ext cx="362427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Xuất </a:t>
            </a:r>
            <a:r>
              <a:rPr sz="1350" spc="-10" dirty="0">
                <a:solidFill>
                  <a:srgbClr val="ABB2BF"/>
                </a:solidFill>
                <a:latin typeface="DejaVu Sans"/>
                <a:cs typeface="DejaVu Sans"/>
              </a:rPr>
              <a:t>proﬁle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 JSON và lưu ảnh vào </a:t>
            </a:r>
            <a:r>
              <a:rPr sz="1350" spc="-27" dirty="0">
                <a:solidFill>
                  <a:srgbClr val="ABB2BF"/>
                </a:solidFill>
                <a:latin typeface="DejaVu Sans"/>
                <a:cs typeface="DejaVu Sans"/>
              </a:rPr>
              <a:t>Gallery.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5084" y="2708588"/>
            <a:ext cx="466970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Xây dựng màn hình cài đặt Dark Mode và Username.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73633" y="3166543"/>
            <a:ext cx="90703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D1D5DB"/>
                </a:solidFill>
                <a:latin typeface="DejaVu Sans"/>
                <a:cs typeface="DejaVu Sans"/>
              </a:rPr>
              <a:t>DataStore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36440" y="3166543"/>
            <a:ext cx="103997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Preferences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626196" y="3166543"/>
            <a:ext cx="56771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UI/UX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16625" y="3166543"/>
            <a:ext cx="66150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37" dirty="0">
                <a:solidFill>
                  <a:srgbClr val="D1D5DB"/>
                </a:solidFill>
                <a:latin typeface="DejaVu Sans"/>
                <a:cs typeface="DejaVu Sans"/>
              </a:rPr>
              <a:t>File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I/O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837585" y="3166543"/>
            <a:ext cx="99899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D1D5DB"/>
                </a:solidFill>
                <a:latin typeface="DejaVu Sans"/>
                <a:cs typeface="DejaVu Sans"/>
              </a:rPr>
              <a:t>MediaStore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192368" y="3166543"/>
            <a:ext cx="112936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Sharing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75084" y="4716854"/>
            <a:ext cx="293644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Lab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3: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App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Room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CRUD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18075" y="4716854"/>
            <a:ext cx="334131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Lab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4: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Migration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Backup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75084" y="5099363"/>
            <a:ext cx="489122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Ứng dụng quản lý người dùng với các chức năng Thêm,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Đọc, Sửa, Xóa.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18075" y="5099363"/>
            <a:ext cx="469439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Thực hành nâng cấp database (migration) và quản lý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spc="-10" dirty="0">
                <a:solidFill>
                  <a:srgbClr val="ABB2BF"/>
                </a:solidFill>
                <a:latin typeface="DejaVu Sans"/>
                <a:cs typeface="DejaVu Sans"/>
              </a:rPr>
              <a:t>backup.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73633" y="5814493"/>
            <a:ext cx="84233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33" dirty="0">
                <a:solidFill>
                  <a:srgbClr val="D1D5DB"/>
                </a:solidFill>
                <a:latin typeface="DejaVu Sans"/>
                <a:cs typeface="DejaVu Sans"/>
              </a:rPr>
              <a:t>Room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DB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175420" y="5814493"/>
            <a:ext cx="58477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D1D5DB"/>
                </a:solidFill>
                <a:latin typeface="DejaVu Sans"/>
                <a:cs typeface="DejaVu Sans"/>
              </a:rPr>
              <a:t>CRUD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119437" y="5814493"/>
            <a:ext cx="101197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D1D5DB"/>
                </a:solidFill>
                <a:latin typeface="DejaVu Sans"/>
                <a:cs typeface="DejaVu Sans"/>
              </a:rPr>
              <a:t>Persistence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816625" y="5814493"/>
            <a:ext cx="140056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DB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D1D5DB"/>
                </a:solidFill>
                <a:latin typeface="DejaVu Sans"/>
                <a:cs typeface="DejaVu Sans"/>
              </a:rPr>
              <a:t>Management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576666" y="5814493"/>
            <a:ext cx="85657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Migration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792294" y="5814493"/>
            <a:ext cx="138665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1" dirty="0">
                <a:solidFill>
                  <a:srgbClr val="D1D5DB"/>
                </a:solidFill>
                <a:latin typeface="DejaVu Sans"/>
                <a:cs typeface="DejaVu Sans"/>
              </a:rPr>
              <a:t>Backup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Strategy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36984" y="6850454"/>
            <a:ext cx="412327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Lựa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chọn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Lưu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trữ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liệu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 Android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71537" y="7280588"/>
            <a:ext cx="565594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DataStore:</a:t>
            </a:r>
            <a:r>
              <a:rPr sz="1350" b="1" spc="20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Async, </a:t>
            </a:r>
            <a:r>
              <a:rPr sz="1350" spc="-27" dirty="0">
                <a:solidFill>
                  <a:srgbClr val="ABB2BF"/>
                </a:solidFill>
                <a:latin typeface="DejaVu Sans"/>
                <a:cs typeface="DejaVu Sans"/>
              </a:rPr>
              <a:t>Type-Safe</a:t>
            </a:r>
            <a:r>
              <a:rPr sz="1350" spc="2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350" spc="-11" dirty="0">
                <a:solidFill>
                  <a:srgbClr val="ABB2BF"/>
                </a:solidFill>
                <a:latin typeface="DejaVu Sans"/>
                <a:cs typeface="DejaVu Sans"/>
              </a:rPr>
              <a:t>(Proto)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 – </a:t>
            </a:r>
            <a:r>
              <a:rPr sz="1350" spc="-43" dirty="0">
                <a:solidFill>
                  <a:srgbClr val="ABB2BF"/>
                </a:solidFill>
                <a:latin typeface="DejaVu Sans"/>
                <a:cs typeface="DejaVu Sans"/>
              </a:rPr>
              <a:t>Tránh</a:t>
            </a:r>
            <a:r>
              <a:rPr sz="1350" spc="36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chặn Main Thread.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71537" y="7613963"/>
            <a:ext cx="682602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Room Database:</a:t>
            </a:r>
            <a:r>
              <a:rPr sz="1350" b="1" spc="20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Giải pháp mạnh mẽ cho dữ liệu phức tạp, hỗ trợ Migration.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71537" y="7956863"/>
            <a:ext cx="576228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SharedPreferences:</a:t>
            </a:r>
            <a:r>
              <a:rPr sz="1350" b="1" spc="20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26" dirty="0">
                <a:solidFill>
                  <a:srgbClr val="ABB2BF"/>
                </a:solidFill>
                <a:latin typeface="DejaVu Sans"/>
                <a:cs typeface="DejaVu Sans"/>
              </a:rPr>
              <a:t>Lý</a:t>
            </a:r>
            <a:r>
              <a:rPr sz="1350" spc="121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ABB2BF"/>
                </a:solidFill>
                <a:latin typeface="DejaVu Sans"/>
                <a:cs typeface="DejaVu Sans"/>
              </a:rPr>
              <a:t>tưởng cho lưu trữ dữ liệu nhỏ, đơn giản.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122044" y="8587022"/>
            <a:ext cx="613698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Source: Android Data Storage: SharedPreferences, Room,</a:t>
            </a:r>
            <a:r>
              <a:rPr sz="1000" spc="1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and DataStore Compared | Medium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763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44105" y="334315"/>
            <a:ext cx="6656199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F1F5F9"/>
                </a:solidFill>
                <a:latin typeface="DejaVu Sans"/>
                <a:cs typeface="DejaVu Sans"/>
              </a:rPr>
              <a:t>Tổng</a:t>
            </a:r>
            <a:r>
              <a:rPr sz="4050" b="1" dirty="0">
                <a:solidFill>
                  <a:srgbClr val="F1F5F9"/>
                </a:solidFill>
                <a:latin typeface="DejaVu Sans"/>
                <a:cs typeface="DejaVu Sans"/>
              </a:rPr>
              <a:t> kết</a:t>
            </a:r>
            <a:r>
              <a:rPr sz="3000" b="1" spc="15" dirty="0">
                <a:solidFill>
                  <a:srgbClr val="A4C639"/>
                </a:solidFill>
                <a:latin typeface="DejaVu Sans"/>
                <a:cs typeface="DejaVu Sans"/>
              </a:rPr>
              <a:t>và</a:t>
            </a:r>
            <a:r>
              <a:rPr sz="30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A4C639"/>
                </a:solidFill>
                <a:latin typeface="DejaVu Sans"/>
                <a:cs typeface="DejaVu Sans"/>
              </a:rPr>
              <a:t>Lỗi</a:t>
            </a:r>
            <a:r>
              <a:rPr sz="30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A4C639"/>
                </a:solidFill>
                <a:latin typeface="DejaVu Sans"/>
                <a:cs typeface="DejaVu Sans"/>
              </a:rPr>
              <a:t>thường</a:t>
            </a:r>
            <a:r>
              <a:rPr sz="30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A4C639"/>
                </a:solidFill>
                <a:latin typeface="DejaVu Sans"/>
                <a:cs typeface="DejaVu Sans"/>
              </a:rPr>
              <a:t>gặp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80208" y="1588970"/>
            <a:ext cx="1740836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solidFill>
                  <a:srgbClr val="A4C639"/>
                </a:solidFill>
                <a:latin typeface="DejaVu Sans"/>
                <a:cs typeface="DejaVu Sans"/>
              </a:rPr>
              <a:t>Tổng</a:t>
            </a:r>
            <a:r>
              <a:rPr sz="25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A4C639"/>
                </a:solidFill>
                <a:latin typeface="DejaVu Sans"/>
                <a:cs typeface="DejaVu Sans"/>
              </a:rPr>
              <a:t>kết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60331" y="1588970"/>
            <a:ext cx="2866678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A4C639"/>
                </a:solidFill>
                <a:latin typeface="DejaVu Sans"/>
                <a:cs typeface="DejaVu Sans"/>
              </a:rPr>
              <a:t>Lỗi</a:t>
            </a:r>
            <a:r>
              <a:rPr sz="25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A4C639"/>
                </a:solidFill>
                <a:latin typeface="DejaVu Sans"/>
                <a:cs typeface="DejaVu Sans"/>
              </a:rPr>
              <a:t>thường</a:t>
            </a:r>
            <a:r>
              <a:rPr sz="25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A4C639"/>
                </a:solidFill>
                <a:latin typeface="DejaVu Sans"/>
                <a:cs typeface="DejaVu Sans"/>
              </a:rPr>
              <a:t>gặp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50000" y="2355408"/>
            <a:ext cx="4381298" cy="27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38" dirty="0">
                <a:solidFill>
                  <a:srgbClr val="ABB2BF"/>
                </a:solidFill>
                <a:latin typeface="DejaVu Sans"/>
                <a:cs typeface="DejaVu Sans"/>
              </a:rPr>
              <a:t>Tránh</a:t>
            </a:r>
            <a:r>
              <a:rPr sz="1500" spc="5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thực thi tác vụ I/O gây ANR trên</a:t>
            </a:r>
            <a:r>
              <a:rPr sz="1500" spc="471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0E2E8"/>
                </a:solidFill>
                <a:latin typeface="Liberation Mono"/>
                <a:cs typeface="Liberation Mono"/>
              </a:rPr>
              <a:t>main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55947" y="2603058"/>
            <a:ext cx="4460981" cy="27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E2E8"/>
                </a:solidFill>
                <a:latin typeface="Liberation Mono"/>
                <a:cs typeface="Liberation Mono"/>
              </a:rPr>
              <a:t>DataStore</a:t>
            </a:r>
            <a:r>
              <a:rPr sz="1500" spc="34" dirty="0">
                <a:solidFill>
                  <a:srgbClr val="E0E2E8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là lựa chọn hiện đại thay thế cho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50000" y="2660208"/>
            <a:ext cx="962342" cy="27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E2E8"/>
                </a:solidFill>
                <a:latin typeface="Liberation Mono"/>
                <a:cs typeface="Liberation Mono"/>
              </a:rPr>
              <a:t>thread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55947" y="2907858"/>
            <a:ext cx="2229762" cy="27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E2E8"/>
                </a:solidFill>
                <a:latin typeface="Liberation Mono"/>
                <a:cs typeface="Liberation Mono"/>
              </a:rPr>
              <a:t>SharedPreferences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55947" y="3393633"/>
            <a:ext cx="4303303" cy="27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E2E8"/>
                </a:solidFill>
                <a:latin typeface="Liberation Mono"/>
                <a:cs typeface="Liberation Mono"/>
              </a:rPr>
              <a:t>Internal/External File</a:t>
            </a:r>
            <a:r>
              <a:rPr sz="1500" spc="34" dirty="0">
                <a:solidFill>
                  <a:srgbClr val="E0E2E8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phù hợp cho dữ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50000" y="3393633"/>
            <a:ext cx="3886461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Hiểu </a:t>
            </a:r>
            <a:r>
              <a:rPr sz="1500" spc="-28" dirty="0">
                <a:solidFill>
                  <a:srgbClr val="ABB2BF"/>
                </a:solidFill>
                <a:latin typeface="DejaVu Sans"/>
                <a:cs typeface="DejaVu Sans"/>
              </a:rPr>
              <a:t>rõ</a:t>
            </a:r>
            <a:r>
              <a:rPr sz="1500" spc="38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và xử lý quyền truy cập dữ liệu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(permissions).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98351" y="3698433"/>
            <a:ext cx="234724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liệu không có cấu trúc.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55947" y="4165158"/>
            <a:ext cx="4423428" cy="27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E2E8"/>
                </a:solidFill>
                <a:latin typeface="Liberation Mono"/>
                <a:cs typeface="Liberation Mono"/>
              </a:rPr>
              <a:t>Room</a:t>
            </a:r>
            <a:r>
              <a:rPr sz="1500" spc="34" dirty="0">
                <a:solidFill>
                  <a:srgbClr val="E0E2E8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là lựa chọn hàng đầu và mạnh </a:t>
            </a:r>
            <a:r>
              <a:rPr sz="1500" spc="10" dirty="0">
                <a:solidFill>
                  <a:srgbClr val="ABB2BF"/>
                </a:solidFill>
                <a:latin typeface="DejaVu Sans"/>
                <a:cs typeface="DejaVu Sans"/>
              </a:rPr>
              <a:t>mẽ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 cho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50000" y="4422333"/>
            <a:ext cx="4006081" cy="27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Xử lý lỗi</a:t>
            </a:r>
            <a:r>
              <a:rPr sz="1500" spc="455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0E2E8"/>
                </a:solidFill>
                <a:latin typeface="Liberation Mono"/>
                <a:cs typeface="Liberation Mono"/>
              </a:rPr>
              <a:t>unique constraint</a:t>
            </a:r>
            <a:r>
              <a:rPr sz="1500" spc="34" dirty="0">
                <a:solidFill>
                  <a:srgbClr val="E0E2E8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một cách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98351" y="4479483"/>
            <a:ext cx="214860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cơ sở dữ liệu (CSDL).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50000" y="4727133"/>
            <a:ext cx="245992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tường minh trong</a:t>
            </a:r>
            <a:r>
              <a:rPr sz="1500" spc="12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CSDL.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109465" y="6086945"/>
            <a:ext cx="612544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A4C639"/>
                </a:solidFill>
                <a:latin typeface="DejaVu Sans"/>
                <a:cs typeface="DejaVu Sans"/>
              </a:rPr>
              <a:t>Ba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trụ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cột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khi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làm</a:t>
            </a:r>
            <a:r>
              <a:rPr sz="2000" b="1" spc="14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việc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với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Lưu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trữ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828353" y="7545779"/>
            <a:ext cx="140897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F1F5F9"/>
                </a:solidFill>
                <a:latin typeface="DejaVu Sans"/>
                <a:cs typeface="DejaVu Sans"/>
              </a:rPr>
              <a:t>I/O</a:t>
            </a:r>
            <a:r>
              <a:rPr sz="1700" b="1" spc="-17" dirty="0">
                <a:solidFill>
                  <a:srgbClr val="F1F5F9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1F5F9"/>
                </a:solidFill>
                <a:latin typeface="DejaVu Sans"/>
                <a:cs typeface="DejaVu Sans"/>
              </a:rPr>
              <a:t>Thread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598020" y="7545779"/>
            <a:ext cx="114856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1F5F9"/>
                </a:solidFill>
                <a:latin typeface="DejaVu Sans"/>
                <a:cs typeface="DejaVu Sans"/>
              </a:rPr>
              <a:t>Security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008267" y="7545779"/>
            <a:ext cx="160674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1F5F9"/>
                </a:solidFill>
                <a:latin typeface="DejaVu Sans"/>
                <a:cs typeface="DejaVu Sans"/>
              </a:rPr>
              <a:t>Permissions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427261" y="7919518"/>
            <a:ext cx="221114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1" dirty="0">
                <a:solidFill>
                  <a:srgbClr val="ABB2BF"/>
                </a:solidFill>
                <a:latin typeface="DejaVu Sans"/>
                <a:cs typeface="DejaVu Sans"/>
              </a:rPr>
              <a:t>Luôn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chạy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ABB2BF"/>
                </a:solidFill>
                <a:latin typeface="DejaVu Sans"/>
                <a:cs typeface="DejaVu Sans"/>
              </a:rPr>
              <a:t>trên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ABB2BF"/>
                </a:solidFill>
                <a:latin typeface="DejaVu Sans"/>
                <a:cs typeface="DejaVu Sans"/>
              </a:rPr>
              <a:t>luồng</a:t>
            </a:r>
            <a:r>
              <a:rPr sz="1200" spc="-1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ABB2BF"/>
                </a:solidFill>
                <a:latin typeface="DejaVu Sans"/>
                <a:cs typeface="DejaVu Sans"/>
              </a:rPr>
              <a:t>riêng.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131295" y="7919518"/>
            <a:ext cx="208155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ABB2BF"/>
                </a:solidFill>
                <a:latin typeface="DejaVu Sans"/>
                <a:cs typeface="DejaVu Sans"/>
              </a:rPr>
              <a:t>Mã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hóa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ABB2BF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nhạy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ABB2BF"/>
                </a:solidFill>
                <a:latin typeface="DejaVu Sans"/>
                <a:cs typeface="DejaVu Sans"/>
              </a:rPr>
              <a:t>cảm.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876108" y="7919518"/>
            <a:ext cx="187045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62" dirty="0">
                <a:solidFill>
                  <a:srgbClr val="ABB2BF"/>
                </a:solidFill>
                <a:latin typeface="DejaVu Sans"/>
                <a:cs typeface="DejaVu Sans"/>
              </a:rPr>
              <a:t>Yêu</a:t>
            </a:r>
            <a:r>
              <a:rPr sz="1200" spc="38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ABB2BF"/>
                </a:solidFill>
                <a:latin typeface="DejaVu Sans"/>
                <a:cs typeface="DejaVu Sans"/>
              </a:rPr>
              <a:t>cầu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quyền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khi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cần.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850783" y="8338618"/>
            <a:ext cx="207304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ABB2BF"/>
                </a:solidFill>
                <a:latin typeface="DejaVu Sans"/>
                <a:cs typeface="DejaVu Sans"/>
              </a:rPr>
              <a:t>yourname@example.com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763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44105" y="334315"/>
            <a:ext cx="6656199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F1F5F9"/>
                </a:solidFill>
                <a:latin typeface="DejaVu Sans"/>
                <a:cs typeface="DejaVu Sans"/>
              </a:rPr>
              <a:t>Tổng</a:t>
            </a:r>
            <a:r>
              <a:rPr sz="4050" b="1" dirty="0">
                <a:solidFill>
                  <a:srgbClr val="F1F5F9"/>
                </a:solidFill>
                <a:latin typeface="DejaVu Sans"/>
                <a:cs typeface="DejaVu Sans"/>
              </a:rPr>
              <a:t> kết</a:t>
            </a:r>
            <a:r>
              <a:rPr sz="3000" b="1" spc="15" dirty="0">
                <a:solidFill>
                  <a:srgbClr val="A4C639"/>
                </a:solidFill>
                <a:latin typeface="DejaVu Sans"/>
                <a:cs typeface="DejaVu Sans"/>
              </a:rPr>
              <a:t>và</a:t>
            </a:r>
            <a:r>
              <a:rPr sz="30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A4C639"/>
                </a:solidFill>
                <a:latin typeface="DejaVu Sans"/>
                <a:cs typeface="DejaVu Sans"/>
              </a:rPr>
              <a:t>Lỗi</a:t>
            </a:r>
            <a:r>
              <a:rPr sz="30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A4C639"/>
                </a:solidFill>
                <a:latin typeface="DejaVu Sans"/>
                <a:cs typeface="DejaVu Sans"/>
              </a:rPr>
              <a:t>thường</a:t>
            </a:r>
            <a:r>
              <a:rPr sz="30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A4C639"/>
                </a:solidFill>
                <a:latin typeface="DejaVu Sans"/>
                <a:cs typeface="DejaVu Sans"/>
              </a:rPr>
              <a:t>gặp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80208" y="1588970"/>
            <a:ext cx="1740836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solidFill>
                  <a:srgbClr val="A4C639"/>
                </a:solidFill>
                <a:latin typeface="DejaVu Sans"/>
                <a:cs typeface="DejaVu Sans"/>
              </a:rPr>
              <a:t>Tổng</a:t>
            </a:r>
            <a:r>
              <a:rPr sz="25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A4C639"/>
                </a:solidFill>
                <a:latin typeface="DejaVu Sans"/>
                <a:cs typeface="DejaVu Sans"/>
              </a:rPr>
              <a:t>kết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60331" y="1588970"/>
            <a:ext cx="2866678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A4C639"/>
                </a:solidFill>
                <a:latin typeface="DejaVu Sans"/>
                <a:cs typeface="DejaVu Sans"/>
              </a:rPr>
              <a:t>Lỗi</a:t>
            </a:r>
            <a:r>
              <a:rPr sz="25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A4C639"/>
                </a:solidFill>
                <a:latin typeface="DejaVu Sans"/>
                <a:cs typeface="DejaVu Sans"/>
              </a:rPr>
              <a:t>thường</a:t>
            </a:r>
            <a:r>
              <a:rPr sz="25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A4C639"/>
                </a:solidFill>
                <a:latin typeface="DejaVu Sans"/>
                <a:cs typeface="DejaVu Sans"/>
              </a:rPr>
              <a:t>gặp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50000" y="2355408"/>
            <a:ext cx="4381298" cy="27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38" dirty="0">
                <a:solidFill>
                  <a:srgbClr val="ABB2BF"/>
                </a:solidFill>
                <a:latin typeface="DejaVu Sans"/>
                <a:cs typeface="DejaVu Sans"/>
              </a:rPr>
              <a:t>Tránh</a:t>
            </a:r>
            <a:r>
              <a:rPr sz="1500" spc="5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thực thi tác vụ I/O gây ANR trên</a:t>
            </a:r>
            <a:r>
              <a:rPr sz="1500" spc="471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0E2E8"/>
                </a:solidFill>
                <a:latin typeface="Liberation Mono"/>
                <a:cs typeface="Liberation Mono"/>
              </a:rPr>
              <a:t>main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55947" y="2603058"/>
            <a:ext cx="4460981" cy="27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E2E8"/>
                </a:solidFill>
                <a:latin typeface="Liberation Mono"/>
                <a:cs typeface="Liberation Mono"/>
              </a:rPr>
              <a:t>DataStore</a:t>
            </a:r>
            <a:r>
              <a:rPr sz="1500" spc="34" dirty="0">
                <a:solidFill>
                  <a:srgbClr val="E0E2E8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là lựa chọn hiện đại thay thế cho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50000" y="2660208"/>
            <a:ext cx="962342" cy="27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E2E8"/>
                </a:solidFill>
                <a:latin typeface="Liberation Mono"/>
                <a:cs typeface="Liberation Mono"/>
              </a:rPr>
              <a:t>thread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55947" y="2907858"/>
            <a:ext cx="2229762" cy="27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E2E8"/>
                </a:solidFill>
                <a:latin typeface="Liberation Mono"/>
                <a:cs typeface="Liberation Mono"/>
              </a:rPr>
              <a:t>SharedPreferences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55947" y="3393633"/>
            <a:ext cx="4303303" cy="27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E2E8"/>
                </a:solidFill>
                <a:latin typeface="Liberation Mono"/>
                <a:cs typeface="Liberation Mono"/>
              </a:rPr>
              <a:t>Internal/External File</a:t>
            </a:r>
            <a:r>
              <a:rPr sz="1500" spc="34" dirty="0">
                <a:solidFill>
                  <a:srgbClr val="E0E2E8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phù hợp cho dữ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50000" y="3393633"/>
            <a:ext cx="3886461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Hiểu </a:t>
            </a:r>
            <a:r>
              <a:rPr sz="1500" spc="-28" dirty="0">
                <a:solidFill>
                  <a:srgbClr val="ABB2BF"/>
                </a:solidFill>
                <a:latin typeface="DejaVu Sans"/>
                <a:cs typeface="DejaVu Sans"/>
              </a:rPr>
              <a:t>rõ</a:t>
            </a:r>
            <a:r>
              <a:rPr sz="1500" spc="38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và xử lý quyền truy cập dữ liệu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(permissions).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98351" y="3698433"/>
            <a:ext cx="234724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liệu không có cấu trúc.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55947" y="4165158"/>
            <a:ext cx="4423428" cy="27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E2E8"/>
                </a:solidFill>
                <a:latin typeface="Liberation Mono"/>
                <a:cs typeface="Liberation Mono"/>
              </a:rPr>
              <a:t>Room</a:t>
            </a:r>
            <a:r>
              <a:rPr sz="1500" spc="34" dirty="0">
                <a:solidFill>
                  <a:srgbClr val="E0E2E8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là lựa chọn hàng đầu và mạnh </a:t>
            </a:r>
            <a:r>
              <a:rPr sz="1500" spc="10" dirty="0">
                <a:solidFill>
                  <a:srgbClr val="ABB2BF"/>
                </a:solidFill>
                <a:latin typeface="DejaVu Sans"/>
                <a:cs typeface="DejaVu Sans"/>
              </a:rPr>
              <a:t>mẽ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 cho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50000" y="4422333"/>
            <a:ext cx="4006081" cy="27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Xử lý lỗi</a:t>
            </a:r>
            <a:r>
              <a:rPr sz="1500" spc="455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0E2E8"/>
                </a:solidFill>
                <a:latin typeface="Liberation Mono"/>
                <a:cs typeface="Liberation Mono"/>
              </a:rPr>
              <a:t>unique constraint</a:t>
            </a:r>
            <a:r>
              <a:rPr sz="1500" spc="34" dirty="0">
                <a:solidFill>
                  <a:srgbClr val="E0E2E8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một cách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98351" y="4479483"/>
            <a:ext cx="214860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cơ sở dữ liệu (CSDL).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50000" y="4727133"/>
            <a:ext cx="245992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tường minh trong</a:t>
            </a:r>
            <a:r>
              <a:rPr sz="1500" spc="12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ABB2BF"/>
                </a:solidFill>
                <a:latin typeface="DejaVu Sans"/>
                <a:cs typeface="DejaVu Sans"/>
              </a:rPr>
              <a:t>CSDL.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109465" y="6086945"/>
            <a:ext cx="612544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A4C639"/>
                </a:solidFill>
                <a:latin typeface="DejaVu Sans"/>
                <a:cs typeface="DejaVu Sans"/>
              </a:rPr>
              <a:t>Ba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trụ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cột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khi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làm</a:t>
            </a:r>
            <a:r>
              <a:rPr sz="2000" b="1" spc="14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việc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với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Lưu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trữ </a:t>
            </a:r>
            <a:r>
              <a:rPr sz="2000" b="1" spc="10" dirty="0">
                <a:solidFill>
                  <a:srgbClr val="A4C639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A4C639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828353" y="7545779"/>
            <a:ext cx="140897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F1F5F9"/>
                </a:solidFill>
                <a:latin typeface="DejaVu Sans"/>
                <a:cs typeface="DejaVu Sans"/>
              </a:rPr>
              <a:t>I/O</a:t>
            </a:r>
            <a:r>
              <a:rPr sz="1700" b="1" spc="-17" dirty="0">
                <a:solidFill>
                  <a:srgbClr val="F1F5F9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1F5F9"/>
                </a:solidFill>
                <a:latin typeface="DejaVu Sans"/>
                <a:cs typeface="DejaVu Sans"/>
              </a:rPr>
              <a:t>Thread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598020" y="7545779"/>
            <a:ext cx="114856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1F5F9"/>
                </a:solidFill>
                <a:latin typeface="DejaVu Sans"/>
                <a:cs typeface="DejaVu Sans"/>
              </a:rPr>
              <a:t>Security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008267" y="7545779"/>
            <a:ext cx="160674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1F5F9"/>
                </a:solidFill>
                <a:latin typeface="DejaVu Sans"/>
                <a:cs typeface="DejaVu Sans"/>
              </a:rPr>
              <a:t>Permissions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427261" y="7919518"/>
            <a:ext cx="221114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1" dirty="0">
                <a:solidFill>
                  <a:srgbClr val="ABB2BF"/>
                </a:solidFill>
                <a:latin typeface="DejaVu Sans"/>
                <a:cs typeface="DejaVu Sans"/>
              </a:rPr>
              <a:t>Luôn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chạy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ABB2BF"/>
                </a:solidFill>
                <a:latin typeface="DejaVu Sans"/>
                <a:cs typeface="DejaVu Sans"/>
              </a:rPr>
              <a:t>trên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ABB2BF"/>
                </a:solidFill>
                <a:latin typeface="DejaVu Sans"/>
                <a:cs typeface="DejaVu Sans"/>
              </a:rPr>
              <a:t>luồng</a:t>
            </a:r>
            <a:r>
              <a:rPr sz="1200" spc="-1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ABB2BF"/>
                </a:solidFill>
                <a:latin typeface="DejaVu Sans"/>
                <a:cs typeface="DejaVu Sans"/>
              </a:rPr>
              <a:t>riêng.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131295" y="7919518"/>
            <a:ext cx="208155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ABB2BF"/>
                </a:solidFill>
                <a:latin typeface="DejaVu Sans"/>
                <a:cs typeface="DejaVu Sans"/>
              </a:rPr>
              <a:t>Mã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hóa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ABB2BF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nhạy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ABB2BF"/>
                </a:solidFill>
                <a:latin typeface="DejaVu Sans"/>
                <a:cs typeface="DejaVu Sans"/>
              </a:rPr>
              <a:t>cảm.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876108" y="7919518"/>
            <a:ext cx="187045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62" dirty="0">
                <a:solidFill>
                  <a:srgbClr val="ABB2BF"/>
                </a:solidFill>
                <a:latin typeface="DejaVu Sans"/>
                <a:cs typeface="DejaVu Sans"/>
              </a:rPr>
              <a:t>Yêu</a:t>
            </a:r>
            <a:r>
              <a:rPr sz="1200" spc="38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ABB2BF"/>
                </a:solidFill>
                <a:latin typeface="DejaVu Sans"/>
                <a:cs typeface="DejaVu Sans"/>
              </a:rPr>
              <a:t>cầu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quyền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khi</a:t>
            </a:r>
            <a:r>
              <a:rPr sz="1200" dirty="0">
                <a:solidFill>
                  <a:srgbClr val="ABB2B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ABB2BF"/>
                </a:solidFill>
                <a:latin typeface="DejaVu Sans"/>
                <a:cs typeface="DejaVu Sans"/>
              </a:rPr>
              <a:t>cần.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850783" y="8338618"/>
            <a:ext cx="207304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ABB2BF"/>
                </a:solidFill>
                <a:latin typeface="DejaVu Sans"/>
                <a:cs typeface="DejaVu Sans"/>
              </a:rPr>
              <a:t>yourname@example.com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</TotalTime>
  <Words>1404</Words>
  <Application>Microsoft Office PowerPoint</Application>
  <PresentationFormat>Widescreen</PresentationFormat>
  <Paragraphs>217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</vt:lpstr>
      <vt:lpstr>Calibri</vt:lpstr>
      <vt:lpstr>Liberation Mono</vt:lpstr>
      <vt:lpstr>DejaVu Sans</vt:lpstr>
      <vt:lpstr>Liberation Sans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Thai Thao</cp:lastModifiedBy>
  <cp:revision>2</cp:revision>
  <dcterms:modified xsi:type="dcterms:W3CDTF">2025-10-28T08:02:42Z</dcterms:modified>
</cp:coreProperties>
</file>