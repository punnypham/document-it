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presProps" Target="presProps.xml" /><Relationship Id="rId10" Type="http://schemas.openxmlformats.org/officeDocument/2006/relationships/slide" Target="slides/slide5.xml" /><Relationship Id="rId11" Type="http://schemas.openxmlformats.org/officeDocument/2006/relationships/slide" Target="slides/slide6.xml" /><Relationship Id="rId12" Type="http://schemas.openxmlformats.org/officeDocument/2006/relationships/slide" Target="slides/slide7.xml" /><Relationship Id="rId13" Type="http://schemas.openxmlformats.org/officeDocument/2006/relationships/slide" Target="slides/slide8.xml" /><Relationship Id="rId14" Type="http://schemas.openxmlformats.org/officeDocument/2006/relationships/slide" Target="slides/slide9.xml" /><Relationship Id="rId15" Type="http://schemas.openxmlformats.org/officeDocument/2006/relationships/slide" Target="slides/slide10.xml" /><Relationship Id="rId2" Type="http://schemas.openxmlformats.org/officeDocument/2006/relationships/tableStyles" Target="tableStyles.xml" /><Relationship Id="rId3" Type="http://schemas.openxmlformats.org/officeDocument/2006/relationships/viewProps" Target="viewProps.xml" /><Relationship Id="rId4" Type="http://schemas.openxmlformats.org/officeDocument/2006/relationships/theme" Target="theme/theme1.xml" /><Relationship Id="rId5" Type="http://schemas.openxmlformats.org/officeDocument/2006/relationships/slideMaster" Target="slideMasters/slideMaster1.xml" /><Relationship Id="rId6" Type="http://schemas.openxmlformats.org/officeDocument/2006/relationships/slide" Target="slides/slide1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7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8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9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0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77415" y="1477785"/>
            <a:ext cx="11789558" cy="188471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040"/>
              </a:lnSpc>
              <a:spcBef>
                <a:spcPts val="0"/>
              </a:spcBef>
              <a:spcAft>
                <a:spcPts val="0"/>
              </a:spcAft>
            </a:pPr>
            <a:r>
              <a:rPr dirty="0" sz="6050" spc="-56" b="1">
                <a:solidFill>
                  <a:srgbClr val="e0e0e0"/>
                </a:solidFill>
                <a:latin typeface="DejaVu Sans"/>
                <a:cs typeface="DejaVu Sans"/>
              </a:rPr>
              <a:t>Week</a:t>
            </a:r>
            <a:r>
              <a:rPr dirty="0" sz="6050" spc="52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6050" b="1">
                <a:solidFill>
                  <a:srgbClr val="e0e0e0"/>
                </a:solidFill>
                <a:latin typeface="DejaVu Sans"/>
                <a:cs typeface="DejaVu Sans"/>
              </a:rPr>
              <a:t>4</a:t>
            </a:r>
            <a:r>
              <a:rPr dirty="0" sz="6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6050" b="1">
                <a:solidFill>
                  <a:srgbClr val="e0e0e0"/>
                </a:solidFill>
                <a:latin typeface="DejaVu Sans"/>
                <a:cs typeface="DejaVu Sans"/>
              </a:rPr>
              <a:t>–</a:t>
            </a:r>
            <a:r>
              <a:rPr dirty="0" sz="6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6050" b="1">
                <a:solidFill>
                  <a:srgbClr val="e0e0e0"/>
                </a:solidFill>
                <a:latin typeface="DejaVu Sans"/>
                <a:cs typeface="DejaVu Sans"/>
              </a:rPr>
              <a:t>Event</a:t>
            </a:r>
            <a:r>
              <a:rPr dirty="0" sz="6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6050" b="1">
                <a:solidFill>
                  <a:srgbClr val="e0e0e0"/>
                </a:solidFill>
                <a:latin typeface="DejaVu Sans"/>
                <a:cs typeface="DejaVu Sans"/>
              </a:rPr>
              <a:t>Handling</a:t>
            </a:r>
            <a:r>
              <a:rPr dirty="0" sz="6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6050" b="1">
                <a:solidFill>
                  <a:srgbClr val="e0e0e0"/>
                </a:solidFill>
                <a:latin typeface="DejaVu Sans"/>
                <a:cs typeface="DejaVu Sans"/>
              </a:rPr>
              <a:t>&amp;</a:t>
            </a:r>
          </a:p>
          <a:p>
            <a:pPr marL="2127795" marR="0">
              <a:lnSpc>
                <a:spcPts val="7040"/>
              </a:lnSpc>
              <a:spcBef>
                <a:spcPts val="459"/>
              </a:spcBef>
              <a:spcAft>
                <a:spcPts val="0"/>
              </a:spcAft>
            </a:pPr>
            <a:r>
              <a:rPr dirty="0" sz="6050" b="1">
                <a:solidFill>
                  <a:srgbClr val="e0e0e0"/>
                </a:solidFill>
                <a:latin typeface="DejaVu Sans"/>
                <a:cs typeface="DejaVu Sans"/>
              </a:rPr>
              <a:t>Activity</a:t>
            </a:r>
            <a:r>
              <a:rPr dirty="0" sz="6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6050" b="1">
                <a:solidFill>
                  <a:srgbClr val="e0e0e0"/>
                </a:solidFill>
                <a:latin typeface="DejaVu Sans"/>
                <a:cs typeface="DejaVu Sans"/>
              </a:rPr>
              <a:t>Lifecycle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76164" y="3382785"/>
            <a:ext cx="7992108" cy="93221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040"/>
              </a:lnSpc>
              <a:spcBef>
                <a:spcPts val="0"/>
              </a:spcBef>
              <a:spcAft>
                <a:spcPts val="0"/>
              </a:spcAft>
            </a:pPr>
            <a:r>
              <a:rPr dirty="0" sz="6050" b="1">
                <a:solidFill>
                  <a:srgbClr val="4caf50"/>
                </a:solidFill>
                <a:latin typeface="DejaVu Sans"/>
                <a:cs typeface="DejaVu Sans"/>
              </a:rPr>
              <a:t>(Android</a:t>
            </a:r>
            <a:r>
              <a:rPr dirty="0" sz="6050" b="1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dirty="0" sz="6050" b="1">
                <a:solidFill>
                  <a:srgbClr val="4caf50"/>
                </a:solidFill>
                <a:latin typeface="DejaVu Sans"/>
                <a:cs typeface="DejaVu Sans"/>
              </a:rPr>
              <a:t>+</a:t>
            </a:r>
            <a:r>
              <a:rPr dirty="0" sz="6050" b="1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dirty="0" sz="6050" spc="-18" b="1">
                <a:solidFill>
                  <a:srgbClr val="4caf50"/>
                </a:solidFill>
                <a:latin typeface="DejaVu Sans"/>
                <a:cs typeface="DejaVu Sans"/>
              </a:rPr>
              <a:t>Kotlin)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27125" y="4539367"/>
            <a:ext cx="9289877" cy="913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5">
                <a:solidFill>
                  <a:srgbClr val="e0e0e0"/>
                </a:solidFill>
                <a:latin typeface="DejaVu Sans"/>
                <a:cs typeface="DejaVu Sans"/>
              </a:rPr>
              <a:t>Tổng</a:t>
            </a:r>
            <a:r>
              <a:rPr dirty="0" sz="3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000" spc="15">
                <a:solidFill>
                  <a:srgbClr val="e0e0e0"/>
                </a:solidFill>
                <a:latin typeface="DejaVu Sans"/>
                <a:cs typeface="DejaVu Sans"/>
              </a:rPr>
              <a:t>quan</a:t>
            </a:r>
            <a:r>
              <a:rPr dirty="0" sz="3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000" spc="14">
                <a:solidFill>
                  <a:srgbClr val="e0e0e0"/>
                </a:solidFill>
                <a:latin typeface="DejaVu Sans"/>
                <a:cs typeface="DejaVu Sans"/>
              </a:rPr>
              <a:t>về</a:t>
            </a:r>
            <a:r>
              <a:rPr dirty="0" sz="3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000" spc="15">
                <a:solidFill>
                  <a:srgbClr val="e0e0e0"/>
                </a:solidFill>
                <a:latin typeface="DejaVu Sans"/>
                <a:cs typeface="DejaVu Sans"/>
              </a:rPr>
              <a:t>Xử</a:t>
            </a:r>
            <a:r>
              <a:rPr dirty="0" sz="3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000">
                <a:solidFill>
                  <a:srgbClr val="e0e0e0"/>
                </a:solidFill>
                <a:latin typeface="DejaVu Sans"/>
                <a:cs typeface="DejaVu Sans"/>
              </a:rPr>
              <a:t>lý</a:t>
            </a:r>
            <a:r>
              <a:rPr dirty="0" sz="3000" spc="1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000" spc="11">
                <a:solidFill>
                  <a:srgbClr val="e0e0e0"/>
                </a:solidFill>
                <a:latin typeface="DejaVu Sans"/>
                <a:cs typeface="DejaVu Sans"/>
              </a:rPr>
              <a:t>sự</a:t>
            </a:r>
            <a:r>
              <a:rPr dirty="0" sz="3000" spc="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000" spc="11">
                <a:solidFill>
                  <a:srgbClr val="e0e0e0"/>
                </a:solidFill>
                <a:latin typeface="DejaVu Sans"/>
                <a:cs typeface="DejaVu Sans"/>
              </a:rPr>
              <a:t>kiện</a:t>
            </a:r>
            <a:r>
              <a:rPr dirty="0" sz="3000" spc="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000" spc="14">
                <a:solidFill>
                  <a:srgbClr val="e0e0e0"/>
                </a:solidFill>
                <a:latin typeface="DejaVu Sans"/>
                <a:cs typeface="DejaVu Sans"/>
              </a:rPr>
              <a:t>và</a:t>
            </a:r>
            <a:r>
              <a:rPr dirty="0" sz="3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000" spc="-46">
                <a:solidFill>
                  <a:srgbClr val="e0e0e0"/>
                </a:solidFill>
                <a:latin typeface="DejaVu Sans"/>
                <a:cs typeface="DejaVu Sans"/>
              </a:rPr>
              <a:t>Vòng</a:t>
            </a:r>
            <a:r>
              <a:rPr dirty="0" sz="3000" spc="69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000" spc="15">
                <a:solidFill>
                  <a:srgbClr val="e0e0e0"/>
                </a:solidFill>
                <a:latin typeface="DejaVu Sans"/>
                <a:cs typeface="DejaVu Sans"/>
              </a:rPr>
              <a:t>đời</a:t>
            </a:r>
            <a:r>
              <a:rPr dirty="0" sz="3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000">
                <a:solidFill>
                  <a:srgbClr val="e0e0e0"/>
                </a:solidFill>
                <a:latin typeface="DejaVu Sans"/>
                <a:cs typeface="DejaVu Sans"/>
              </a:rPr>
              <a:t>Activity</a:t>
            </a:r>
          </a:p>
          <a:p>
            <a:pPr marL="3254424" marR="0"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>
                <a:solidFill>
                  <a:srgbClr val="e0e0e0"/>
                </a:solidFill>
                <a:latin typeface="DejaVu Sans"/>
                <a:cs typeface="DejaVu Sans"/>
              </a:rPr>
              <a:t>trong</a:t>
            </a:r>
            <a:r>
              <a:rPr dirty="0" sz="3000" spc="27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000">
                <a:solidFill>
                  <a:srgbClr val="e0e0e0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382249" y="6105995"/>
            <a:ext cx="1535345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>
                <a:solidFill>
                  <a:srgbClr val="e0e0e0"/>
                </a:solidFill>
                <a:latin typeface="DejaVu Sans"/>
                <a:cs typeface="DejaVu Sans"/>
              </a:rPr>
              <a:t>your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1">
                <a:solidFill>
                  <a:srgbClr val="e0e0e0"/>
                </a:solidFill>
                <a:latin typeface="DejaVu Sans"/>
                <a:cs typeface="DejaVu Sans"/>
              </a:rPr>
              <a:t>name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77415" y="1477785"/>
            <a:ext cx="11789558" cy="188471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040"/>
              </a:lnSpc>
              <a:spcBef>
                <a:spcPts val="0"/>
              </a:spcBef>
              <a:spcAft>
                <a:spcPts val="0"/>
              </a:spcAft>
            </a:pPr>
            <a:r>
              <a:rPr dirty="0" sz="6050" spc="-56" b="1">
                <a:solidFill>
                  <a:srgbClr val="e0e0e0"/>
                </a:solidFill>
                <a:latin typeface="DejaVu Sans"/>
                <a:cs typeface="DejaVu Sans"/>
              </a:rPr>
              <a:t>Week</a:t>
            </a:r>
            <a:r>
              <a:rPr dirty="0" sz="6050" spc="52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6050" b="1">
                <a:solidFill>
                  <a:srgbClr val="e0e0e0"/>
                </a:solidFill>
                <a:latin typeface="DejaVu Sans"/>
                <a:cs typeface="DejaVu Sans"/>
              </a:rPr>
              <a:t>4</a:t>
            </a:r>
            <a:r>
              <a:rPr dirty="0" sz="6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6050" b="1">
                <a:solidFill>
                  <a:srgbClr val="e0e0e0"/>
                </a:solidFill>
                <a:latin typeface="DejaVu Sans"/>
                <a:cs typeface="DejaVu Sans"/>
              </a:rPr>
              <a:t>–</a:t>
            </a:r>
            <a:r>
              <a:rPr dirty="0" sz="6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6050" b="1">
                <a:solidFill>
                  <a:srgbClr val="e0e0e0"/>
                </a:solidFill>
                <a:latin typeface="DejaVu Sans"/>
                <a:cs typeface="DejaVu Sans"/>
              </a:rPr>
              <a:t>Event</a:t>
            </a:r>
            <a:r>
              <a:rPr dirty="0" sz="6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6050" b="1">
                <a:solidFill>
                  <a:srgbClr val="e0e0e0"/>
                </a:solidFill>
                <a:latin typeface="DejaVu Sans"/>
                <a:cs typeface="DejaVu Sans"/>
              </a:rPr>
              <a:t>Handling</a:t>
            </a:r>
            <a:r>
              <a:rPr dirty="0" sz="6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6050" b="1">
                <a:solidFill>
                  <a:srgbClr val="e0e0e0"/>
                </a:solidFill>
                <a:latin typeface="DejaVu Sans"/>
                <a:cs typeface="DejaVu Sans"/>
              </a:rPr>
              <a:t>&amp;</a:t>
            </a:r>
          </a:p>
          <a:p>
            <a:pPr marL="2127795" marR="0">
              <a:lnSpc>
                <a:spcPts val="7040"/>
              </a:lnSpc>
              <a:spcBef>
                <a:spcPts val="459"/>
              </a:spcBef>
              <a:spcAft>
                <a:spcPts val="0"/>
              </a:spcAft>
            </a:pPr>
            <a:r>
              <a:rPr dirty="0" sz="6050" b="1">
                <a:solidFill>
                  <a:srgbClr val="e0e0e0"/>
                </a:solidFill>
                <a:latin typeface="DejaVu Sans"/>
                <a:cs typeface="DejaVu Sans"/>
              </a:rPr>
              <a:t>Activity</a:t>
            </a:r>
            <a:r>
              <a:rPr dirty="0" sz="6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6050" b="1">
                <a:solidFill>
                  <a:srgbClr val="e0e0e0"/>
                </a:solidFill>
                <a:latin typeface="DejaVu Sans"/>
                <a:cs typeface="DejaVu Sans"/>
              </a:rPr>
              <a:t>Lifecycle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76164" y="3382785"/>
            <a:ext cx="7992108" cy="93221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040"/>
              </a:lnSpc>
              <a:spcBef>
                <a:spcPts val="0"/>
              </a:spcBef>
              <a:spcAft>
                <a:spcPts val="0"/>
              </a:spcAft>
            </a:pPr>
            <a:r>
              <a:rPr dirty="0" sz="6050" b="1">
                <a:solidFill>
                  <a:srgbClr val="4caf50"/>
                </a:solidFill>
                <a:latin typeface="DejaVu Sans"/>
                <a:cs typeface="DejaVu Sans"/>
              </a:rPr>
              <a:t>(Android</a:t>
            </a:r>
            <a:r>
              <a:rPr dirty="0" sz="6050" b="1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dirty="0" sz="6050" b="1">
                <a:solidFill>
                  <a:srgbClr val="4caf50"/>
                </a:solidFill>
                <a:latin typeface="DejaVu Sans"/>
                <a:cs typeface="DejaVu Sans"/>
              </a:rPr>
              <a:t>+</a:t>
            </a:r>
            <a:r>
              <a:rPr dirty="0" sz="6050" b="1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dirty="0" sz="6050" spc="-18" b="1">
                <a:solidFill>
                  <a:srgbClr val="4caf50"/>
                </a:solidFill>
                <a:latin typeface="DejaVu Sans"/>
                <a:cs typeface="DejaVu Sans"/>
              </a:rPr>
              <a:t>Kotlin)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27125" y="4539367"/>
            <a:ext cx="9289877" cy="913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5">
                <a:solidFill>
                  <a:srgbClr val="e0e0e0"/>
                </a:solidFill>
                <a:latin typeface="DejaVu Sans"/>
                <a:cs typeface="DejaVu Sans"/>
              </a:rPr>
              <a:t>Tổng</a:t>
            </a:r>
            <a:r>
              <a:rPr dirty="0" sz="3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000" spc="15">
                <a:solidFill>
                  <a:srgbClr val="e0e0e0"/>
                </a:solidFill>
                <a:latin typeface="DejaVu Sans"/>
                <a:cs typeface="DejaVu Sans"/>
              </a:rPr>
              <a:t>quan</a:t>
            </a:r>
            <a:r>
              <a:rPr dirty="0" sz="3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000" spc="14">
                <a:solidFill>
                  <a:srgbClr val="e0e0e0"/>
                </a:solidFill>
                <a:latin typeface="DejaVu Sans"/>
                <a:cs typeface="DejaVu Sans"/>
              </a:rPr>
              <a:t>về</a:t>
            </a:r>
            <a:r>
              <a:rPr dirty="0" sz="3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000" spc="15">
                <a:solidFill>
                  <a:srgbClr val="e0e0e0"/>
                </a:solidFill>
                <a:latin typeface="DejaVu Sans"/>
                <a:cs typeface="DejaVu Sans"/>
              </a:rPr>
              <a:t>Xử</a:t>
            </a:r>
            <a:r>
              <a:rPr dirty="0" sz="3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000">
                <a:solidFill>
                  <a:srgbClr val="e0e0e0"/>
                </a:solidFill>
                <a:latin typeface="DejaVu Sans"/>
                <a:cs typeface="DejaVu Sans"/>
              </a:rPr>
              <a:t>lý</a:t>
            </a:r>
            <a:r>
              <a:rPr dirty="0" sz="3000" spc="1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000" spc="11">
                <a:solidFill>
                  <a:srgbClr val="e0e0e0"/>
                </a:solidFill>
                <a:latin typeface="DejaVu Sans"/>
                <a:cs typeface="DejaVu Sans"/>
              </a:rPr>
              <a:t>sự</a:t>
            </a:r>
            <a:r>
              <a:rPr dirty="0" sz="3000" spc="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000" spc="11">
                <a:solidFill>
                  <a:srgbClr val="e0e0e0"/>
                </a:solidFill>
                <a:latin typeface="DejaVu Sans"/>
                <a:cs typeface="DejaVu Sans"/>
              </a:rPr>
              <a:t>kiện</a:t>
            </a:r>
            <a:r>
              <a:rPr dirty="0" sz="3000" spc="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000" spc="14">
                <a:solidFill>
                  <a:srgbClr val="e0e0e0"/>
                </a:solidFill>
                <a:latin typeface="DejaVu Sans"/>
                <a:cs typeface="DejaVu Sans"/>
              </a:rPr>
              <a:t>và</a:t>
            </a:r>
            <a:r>
              <a:rPr dirty="0" sz="3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000" spc="-46">
                <a:solidFill>
                  <a:srgbClr val="e0e0e0"/>
                </a:solidFill>
                <a:latin typeface="DejaVu Sans"/>
                <a:cs typeface="DejaVu Sans"/>
              </a:rPr>
              <a:t>Vòng</a:t>
            </a:r>
            <a:r>
              <a:rPr dirty="0" sz="3000" spc="69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000" spc="15">
                <a:solidFill>
                  <a:srgbClr val="e0e0e0"/>
                </a:solidFill>
                <a:latin typeface="DejaVu Sans"/>
                <a:cs typeface="DejaVu Sans"/>
              </a:rPr>
              <a:t>đời</a:t>
            </a:r>
            <a:r>
              <a:rPr dirty="0" sz="3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000">
                <a:solidFill>
                  <a:srgbClr val="e0e0e0"/>
                </a:solidFill>
                <a:latin typeface="DejaVu Sans"/>
                <a:cs typeface="DejaVu Sans"/>
              </a:rPr>
              <a:t>Activity</a:t>
            </a:r>
          </a:p>
          <a:p>
            <a:pPr marL="3254424" marR="0"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>
                <a:solidFill>
                  <a:srgbClr val="e0e0e0"/>
                </a:solidFill>
                <a:latin typeface="DejaVu Sans"/>
                <a:cs typeface="DejaVu Sans"/>
              </a:rPr>
              <a:t>trong</a:t>
            </a:r>
            <a:r>
              <a:rPr dirty="0" sz="3000" spc="27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000">
                <a:solidFill>
                  <a:srgbClr val="e0e0e0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382249" y="6105995"/>
            <a:ext cx="1535345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>
                <a:solidFill>
                  <a:srgbClr val="e0e0e0"/>
                </a:solidFill>
                <a:latin typeface="DejaVu Sans"/>
                <a:cs typeface="DejaVu Sans"/>
              </a:rPr>
              <a:t>your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1">
                <a:solidFill>
                  <a:srgbClr val="e0e0e0"/>
                </a:solidFill>
                <a:latin typeface="DejaVu Sans"/>
                <a:cs typeface="DejaVu Sans"/>
              </a:rPr>
              <a:t>name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684133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33883" y="322124"/>
            <a:ext cx="10676649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Tổng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quan: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4" b="1">
                <a:solidFill>
                  <a:srgbClr val="4caf50"/>
                </a:solidFill>
                <a:latin typeface="DejaVu Sans"/>
                <a:cs typeface="DejaVu Sans"/>
              </a:rPr>
              <a:t>Xử</a:t>
            </a:r>
            <a:r>
              <a:rPr dirty="0" sz="4050" b="1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dirty="0" sz="4050" b="1">
                <a:solidFill>
                  <a:srgbClr val="4caf50"/>
                </a:solidFill>
                <a:latin typeface="DejaVu Sans"/>
                <a:cs typeface="DejaVu Sans"/>
              </a:rPr>
              <a:t>lý</a:t>
            </a:r>
            <a:r>
              <a:rPr dirty="0" sz="4050" spc="-11" b="1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dirty="0" sz="4050" spc="-14" b="1">
                <a:solidFill>
                  <a:srgbClr val="4caf50"/>
                </a:solidFill>
                <a:latin typeface="DejaVu Sans"/>
                <a:cs typeface="DejaVu Sans"/>
              </a:rPr>
              <a:t>Sự</a:t>
            </a:r>
            <a:r>
              <a:rPr dirty="0" sz="4050" b="1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4caf50"/>
                </a:solidFill>
                <a:latin typeface="DejaVu Sans"/>
                <a:cs typeface="DejaVu Sans"/>
              </a:rPr>
              <a:t>kiện</a:t>
            </a:r>
            <a:r>
              <a:rPr dirty="0" sz="4050" b="1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dirty="0" sz="4050" b="1">
                <a:solidFill>
                  <a:srgbClr val="ff9800"/>
                </a:solidFill>
                <a:latin typeface="DejaVu Sans"/>
                <a:cs typeface="DejaVu Sans"/>
              </a:rPr>
              <a:t>&amp;</a:t>
            </a:r>
            <a:r>
              <a:rPr dirty="0" sz="4050" spc="-23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4050" spc="-64" b="1">
                <a:solidFill>
                  <a:srgbClr val="ff9800"/>
                </a:solidFill>
                <a:latin typeface="DejaVu Sans"/>
                <a:cs typeface="DejaVu Sans"/>
              </a:rPr>
              <a:t>Vòng</a:t>
            </a:r>
            <a:r>
              <a:rPr dirty="0" sz="4050" spc="44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ff9800"/>
                </a:solidFill>
                <a:latin typeface="DejaVu Sans"/>
                <a:cs typeface="DejaVu Sans"/>
              </a:rPr>
              <a:t>đời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92141" y="836474"/>
            <a:ext cx="2360425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0" b="1">
                <a:solidFill>
                  <a:srgbClr val="ff9800"/>
                </a:solidFill>
                <a:latin typeface="DejaVu Sans"/>
                <a:cs typeface="DejaVu Sans"/>
              </a:rPr>
              <a:t>Activity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82550" y="1643453"/>
            <a:ext cx="4693527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4" b="1">
                <a:solidFill>
                  <a:srgbClr val="e0e0e0"/>
                </a:solidFill>
                <a:latin typeface="DejaVu Sans"/>
                <a:cs typeface="DejaVu Sans"/>
              </a:rPr>
              <a:t>Xử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lý</a:t>
            </a:r>
            <a:r>
              <a:rPr dirty="0" sz="2500" spc="11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e0e0e0"/>
                </a:solidFill>
                <a:latin typeface="DejaVu Sans"/>
                <a:cs typeface="DejaVu Sans"/>
              </a:rPr>
              <a:t>Sự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e0e0e0"/>
                </a:solidFill>
                <a:latin typeface="DejaVu Sans"/>
                <a:cs typeface="DejaVu Sans"/>
              </a:rPr>
              <a:t>kiện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4" b="1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505401" y="1643453"/>
            <a:ext cx="3218977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-23" b="1">
                <a:solidFill>
                  <a:srgbClr val="e0e0e0"/>
                </a:solidFill>
                <a:latin typeface="DejaVu Sans"/>
                <a:cs typeface="DejaVu Sans"/>
              </a:rPr>
              <a:t>Vòng</a:t>
            </a:r>
            <a:r>
              <a:rPr dirty="0" sz="2500" spc="43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e0e0e0"/>
                </a:solidFill>
                <a:latin typeface="DejaVu Sans"/>
                <a:cs typeface="DejaVu Sans"/>
              </a:rPr>
              <a:t>đời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e0e0e0"/>
                </a:solidFill>
                <a:latin typeface="DejaVu Sans"/>
                <a:cs typeface="DejaVu Sans"/>
              </a:rPr>
              <a:t>Activity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89656" y="4018862"/>
            <a:ext cx="1758542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Sự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e0e0e0"/>
                </a:solidFill>
                <a:latin typeface="DejaVu Sans"/>
                <a:cs typeface="DejaVu Sans"/>
              </a:rPr>
              <a:t>kiện</a:t>
            </a:r>
            <a:r>
              <a:rPr dirty="0" sz="1700" spc="-1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là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 b="1">
                <a:solidFill>
                  <a:srgbClr val="e0e0e0"/>
                </a:solidFill>
                <a:latin typeface="DejaVu Sans"/>
                <a:cs typeface="DejaVu Sans"/>
              </a:rPr>
              <a:t>gì?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02927" y="4392601"/>
            <a:ext cx="4008711" cy="5072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Hành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của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tương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tác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với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ứng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dụng.</a:t>
            </a:r>
          </a:p>
          <a:p>
            <a:pPr marL="0" marR="0">
              <a:lnSpc>
                <a:spcPts val="1368"/>
              </a:lnSpc>
              <a:spcBef>
                <a:spcPts val="906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Hàng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đợi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sự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kiện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FIFO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của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d1d5db"/>
                </a:solidFill>
                <a:latin typeface="DejaVu Sans"/>
                <a:cs typeface="DejaVu Sans"/>
              </a:rPr>
              <a:t>Android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25">
                <a:solidFill>
                  <a:srgbClr val="d1d5db"/>
                </a:solidFill>
                <a:latin typeface="DejaVu Sans"/>
                <a:cs typeface="DejaVu Sans"/>
              </a:rPr>
              <a:t>Framework.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437113" y="4866587"/>
            <a:ext cx="3309755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47" b="1">
                <a:solidFill>
                  <a:srgbClr val="e0e0e0"/>
                </a:solidFill>
                <a:latin typeface="DejaVu Sans"/>
                <a:cs typeface="DejaVu Sans"/>
              </a:rPr>
              <a:t>Trạng</a:t>
            </a:r>
            <a:r>
              <a:rPr dirty="0" sz="1700" spc="25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e0e0e0"/>
                </a:solidFill>
                <a:latin typeface="DejaVu Sans"/>
                <a:cs typeface="DejaVu Sans"/>
              </a:rPr>
              <a:t>thái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Quan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e0e0e0"/>
                </a:solidFill>
                <a:latin typeface="DejaVu Sans"/>
                <a:cs typeface="DejaVu Sans"/>
              </a:rPr>
              <a:t>trọng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586387" y="5241081"/>
            <a:ext cx="2816204" cy="3966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d1d5db"/>
                </a:solidFill>
                <a:latin typeface="Liberation Mono"/>
                <a:cs typeface="Liberation Mono"/>
              </a:rPr>
              <a:t>onCreate()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: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Khởi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tạo,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thiết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lập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giao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diện.</a:t>
            </a:r>
          </a:p>
          <a:p>
            <a:pPr marL="0" marR="0">
              <a:lnSpc>
                <a:spcPts val="1173"/>
              </a:lnSpc>
              <a:spcBef>
                <a:spcPts val="426"/>
              </a:spcBef>
              <a:spcAft>
                <a:spcPts val="0"/>
              </a:spcAft>
            </a:pPr>
            <a:r>
              <a:rPr dirty="0" sz="1000">
                <a:solidFill>
                  <a:srgbClr val="d1d5db"/>
                </a:solidFill>
                <a:latin typeface="Liberation Mono"/>
                <a:cs typeface="Liberation Mono"/>
              </a:rPr>
              <a:t>onStart()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: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Activity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hiển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thị.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586387" y="5660181"/>
            <a:ext cx="2286300" cy="40619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d1d5db"/>
                </a:solidFill>
                <a:latin typeface="Liberation Mono"/>
                <a:cs typeface="Liberation Mono"/>
              </a:rPr>
              <a:t>onResume()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: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Sẵn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sàng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tương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tác.</a:t>
            </a:r>
          </a:p>
          <a:p>
            <a:pPr marL="0" marR="0">
              <a:lnSpc>
                <a:spcPts val="1173"/>
              </a:lnSpc>
              <a:spcBef>
                <a:spcPts val="501"/>
              </a:spcBef>
              <a:spcAft>
                <a:spcPts val="0"/>
              </a:spcAft>
            </a:pPr>
            <a:r>
              <a:rPr dirty="0" sz="1000">
                <a:solidFill>
                  <a:srgbClr val="d1d5db"/>
                </a:solidFill>
                <a:latin typeface="Liberation Mono"/>
                <a:cs typeface="Liberation Mono"/>
              </a:rPr>
              <a:t>onPause()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: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Tạm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dừng.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586387" y="6088806"/>
            <a:ext cx="2212230" cy="40619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d1d5db"/>
                </a:solidFill>
                <a:latin typeface="Liberation Mono"/>
                <a:cs typeface="Liberation Mono"/>
              </a:rPr>
              <a:t>onStop()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: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Không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còn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hiển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thị.</a:t>
            </a:r>
          </a:p>
          <a:p>
            <a:pPr marL="0" marR="0">
              <a:lnSpc>
                <a:spcPts val="1173"/>
              </a:lnSpc>
              <a:spcBef>
                <a:spcPts val="501"/>
              </a:spcBef>
              <a:spcAft>
                <a:spcPts val="0"/>
              </a:spcAft>
            </a:pPr>
            <a:r>
              <a:rPr dirty="0" sz="1000">
                <a:solidFill>
                  <a:srgbClr val="d1d5db"/>
                </a:solidFill>
                <a:latin typeface="Liberation Mono"/>
                <a:cs typeface="Liberation Mono"/>
              </a:rPr>
              <a:t>onDestroy()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: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Bị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hủy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hoàn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toàn.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51556" y="6323912"/>
            <a:ext cx="3251345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Event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e0e0e0"/>
                </a:solidFill>
                <a:latin typeface="DejaVu Sans"/>
                <a:cs typeface="DejaVu Sans"/>
              </a:rPr>
              <a:t>Listeners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e0e0e0"/>
                </a:solidFill>
                <a:latin typeface="DejaVu Sans"/>
                <a:cs typeface="DejaVu Sans"/>
              </a:rPr>
              <a:t>chính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65435" y="6754801"/>
            <a:ext cx="353994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 b="1">
                <a:solidFill>
                  <a:srgbClr val="d1d5db"/>
                </a:solidFill>
                <a:latin typeface="DejaVu Sans"/>
                <a:cs typeface="DejaVu Sans"/>
              </a:rPr>
              <a:t>OnClickListener:</a:t>
            </a:r>
            <a:r>
              <a:rPr dirty="0" sz="1200" spc="-17">
                <a:solidFill>
                  <a:srgbClr val="d1d5db"/>
                </a:solidFill>
                <a:latin typeface="DejaVu Sans"/>
                <a:cs typeface="DejaVu Sans"/>
              </a:rPr>
              <a:t>Xử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lý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chạm/nhấn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đơn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giản.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475213" y="7047813"/>
            <a:ext cx="2493630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Thực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hành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Tốt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nhất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65435" y="7069126"/>
            <a:ext cx="369790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5" b="1">
                <a:solidFill>
                  <a:srgbClr val="d1d5db"/>
                </a:solidFill>
                <a:latin typeface="DejaVu Sans"/>
                <a:cs typeface="DejaVu Sans"/>
              </a:rPr>
              <a:t>OnTouchListener:</a:t>
            </a:r>
            <a:r>
              <a:rPr dirty="0" sz="1200" spc="-17">
                <a:solidFill>
                  <a:srgbClr val="d1d5db"/>
                </a:solidFill>
                <a:latin typeface="DejaVu Sans"/>
                <a:cs typeface="DejaVu Sans"/>
              </a:rPr>
              <a:t>Xử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lý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cử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chỉ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chạm</a:t>
            </a:r>
            <a:r>
              <a:rPr dirty="0" sz="1200" spc="-17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phức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tạp.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688483" y="7421551"/>
            <a:ext cx="210457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d1d5db"/>
                </a:solidFill>
                <a:latin typeface="DejaVu Sans"/>
                <a:cs typeface="DejaVu Sans"/>
              </a:rPr>
              <a:t>Quản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lý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tài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nguyên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hợp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62">
                <a:solidFill>
                  <a:srgbClr val="d1d5db"/>
                </a:solidFill>
                <a:latin typeface="DejaVu Sans"/>
                <a:cs typeface="DejaVu Sans"/>
              </a:rPr>
              <a:t>lý.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688483" y="7678726"/>
            <a:ext cx="2928649" cy="4691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Sử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dụng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d1d5db"/>
                </a:solidFill>
                <a:latin typeface="DejaVu Sans"/>
                <a:cs typeface="DejaVu Sans"/>
              </a:rPr>
              <a:t>ViewModel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dữ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liệu.</a:t>
            </a:r>
          </a:p>
          <a:p>
            <a:pPr marL="0" marR="0">
              <a:lnSpc>
                <a:spcPts val="1368"/>
              </a:lnSpc>
              <a:spcBef>
                <a:spcPts val="606"/>
              </a:spcBef>
              <a:spcAft>
                <a:spcPts val="0"/>
              </a:spcAft>
            </a:pPr>
            <a:r>
              <a:rPr dirty="0" sz="1200" spc="-20">
                <a:solidFill>
                  <a:srgbClr val="d1d5db"/>
                </a:solidFill>
                <a:latin typeface="DejaVu Sans"/>
                <a:cs typeface="DejaVu Sans"/>
              </a:rPr>
              <a:t>Ưu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tiên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Event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23">
                <a:solidFill>
                  <a:srgbClr val="d1d5db"/>
                </a:solidFill>
                <a:latin typeface="DejaVu Sans"/>
                <a:cs typeface="DejaVu Sans"/>
              </a:rPr>
              <a:t>Patterns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để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code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sạch.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414741" y="8255714"/>
            <a:ext cx="3716381" cy="3096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013769" marR="0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6b7280"/>
                </a:solidFill>
                <a:latin typeface="DejaVu Sans"/>
                <a:cs typeface="DejaVu Sans"/>
              </a:rPr>
              <a:t>Reference:</a:t>
            </a:r>
          </a:p>
          <a:p>
            <a:pPr marL="0" marR="0">
              <a:lnSpc>
                <a:spcPts val="938"/>
              </a:lnSpc>
              <a:spcBef>
                <a:spcPts val="261"/>
              </a:spcBef>
              <a:spcAft>
                <a:spcPts val="0"/>
              </a:spcAft>
            </a:pPr>
            <a:r>
              <a:rPr dirty="0" sz="800">
                <a:solidFill>
                  <a:srgbClr val="6b7280"/>
                </a:solidFill>
                <a:latin typeface="DejaVu Sans"/>
                <a:cs typeface="DejaVu Sans"/>
              </a:rPr>
              <a:t>GeeksforGeeks,</a:t>
            </a:r>
            <a:r>
              <a:rPr dirty="0" sz="8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6b7280"/>
                </a:solidFill>
                <a:latin typeface="DejaVu Sans"/>
                <a:cs typeface="DejaVu Sans"/>
              </a:rPr>
              <a:t>Android</a:t>
            </a:r>
            <a:r>
              <a:rPr dirty="0" sz="8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6b7280"/>
                </a:solidFill>
                <a:latin typeface="DejaVu Sans"/>
                <a:cs typeface="DejaVu Sans"/>
              </a:rPr>
              <a:t>Developers</a:t>
            </a:r>
            <a:r>
              <a:rPr dirty="0" sz="8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6b7280"/>
                </a:solidFill>
                <a:latin typeface="DejaVu Sans"/>
                <a:cs typeface="DejaVu Sans"/>
              </a:rPr>
              <a:t>(UI</a:t>
            </a:r>
            <a:r>
              <a:rPr dirty="0" sz="8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6b7280"/>
                </a:solidFill>
                <a:latin typeface="DejaVu Sans"/>
                <a:cs typeface="DejaVu Sans"/>
              </a:rPr>
              <a:t>events,</a:t>
            </a:r>
            <a:r>
              <a:rPr dirty="0" sz="8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6b7280"/>
                </a:solidFill>
                <a:latin typeface="DejaVu Sans"/>
                <a:cs typeface="DejaVu Sans"/>
              </a:rPr>
              <a:t>The</a:t>
            </a:r>
            <a:r>
              <a:rPr dirty="0" sz="8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6b7280"/>
                </a:solidFill>
                <a:latin typeface="DejaVu Sans"/>
                <a:cs typeface="DejaVu Sans"/>
              </a:rPr>
              <a:t>activity</a:t>
            </a:r>
            <a:r>
              <a:rPr dirty="0" sz="8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6b7280"/>
                </a:solidFill>
                <a:latin typeface="DejaVu Sans"/>
                <a:cs typeface="DejaVu Sans"/>
              </a:rPr>
              <a:t>lifecycle)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684133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33883" y="322124"/>
            <a:ext cx="10676649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Tổng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quan: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4" b="1">
                <a:solidFill>
                  <a:srgbClr val="4caf50"/>
                </a:solidFill>
                <a:latin typeface="DejaVu Sans"/>
                <a:cs typeface="DejaVu Sans"/>
              </a:rPr>
              <a:t>Xử</a:t>
            </a:r>
            <a:r>
              <a:rPr dirty="0" sz="4050" b="1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dirty="0" sz="4050" b="1">
                <a:solidFill>
                  <a:srgbClr val="4caf50"/>
                </a:solidFill>
                <a:latin typeface="DejaVu Sans"/>
                <a:cs typeface="DejaVu Sans"/>
              </a:rPr>
              <a:t>lý</a:t>
            </a:r>
            <a:r>
              <a:rPr dirty="0" sz="4050" spc="-11" b="1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dirty="0" sz="4050" spc="-14" b="1">
                <a:solidFill>
                  <a:srgbClr val="4caf50"/>
                </a:solidFill>
                <a:latin typeface="DejaVu Sans"/>
                <a:cs typeface="DejaVu Sans"/>
              </a:rPr>
              <a:t>Sự</a:t>
            </a:r>
            <a:r>
              <a:rPr dirty="0" sz="4050" b="1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4caf50"/>
                </a:solidFill>
                <a:latin typeface="DejaVu Sans"/>
                <a:cs typeface="DejaVu Sans"/>
              </a:rPr>
              <a:t>kiện</a:t>
            </a:r>
            <a:r>
              <a:rPr dirty="0" sz="4050" b="1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dirty="0" sz="4050" b="1">
                <a:solidFill>
                  <a:srgbClr val="ff9800"/>
                </a:solidFill>
                <a:latin typeface="DejaVu Sans"/>
                <a:cs typeface="DejaVu Sans"/>
              </a:rPr>
              <a:t>&amp;</a:t>
            </a:r>
            <a:r>
              <a:rPr dirty="0" sz="4050" spc="-23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4050" spc="-64" b="1">
                <a:solidFill>
                  <a:srgbClr val="ff9800"/>
                </a:solidFill>
                <a:latin typeface="DejaVu Sans"/>
                <a:cs typeface="DejaVu Sans"/>
              </a:rPr>
              <a:t>Vòng</a:t>
            </a:r>
            <a:r>
              <a:rPr dirty="0" sz="4050" spc="44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ff9800"/>
                </a:solidFill>
                <a:latin typeface="DejaVu Sans"/>
                <a:cs typeface="DejaVu Sans"/>
              </a:rPr>
              <a:t>đời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92141" y="836474"/>
            <a:ext cx="2360425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0" b="1">
                <a:solidFill>
                  <a:srgbClr val="ff9800"/>
                </a:solidFill>
                <a:latin typeface="DejaVu Sans"/>
                <a:cs typeface="DejaVu Sans"/>
              </a:rPr>
              <a:t>Activity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82550" y="1643453"/>
            <a:ext cx="4693527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4" b="1">
                <a:solidFill>
                  <a:srgbClr val="e0e0e0"/>
                </a:solidFill>
                <a:latin typeface="DejaVu Sans"/>
                <a:cs typeface="DejaVu Sans"/>
              </a:rPr>
              <a:t>Xử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lý</a:t>
            </a:r>
            <a:r>
              <a:rPr dirty="0" sz="2500" spc="11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e0e0e0"/>
                </a:solidFill>
                <a:latin typeface="DejaVu Sans"/>
                <a:cs typeface="DejaVu Sans"/>
              </a:rPr>
              <a:t>Sự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e0e0e0"/>
                </a:solidFill>
                <a:latin typeface="DejaVu Sans"/>
                <a:cs typeface="DejaVu Sans"/>
              </a:rPr>
              <a:t>kiện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4" b="1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505401" y="1643453"/>
            <a:ext cx="3218977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-23" b="1">
                <a:solidFill>
                  <a:srgbClr val="e0e0e0"/>
                </a:solidFill>
                <a:latin typeface="DejaVu Sans"/>
                <a:cs typeface="DejaVu Sans"/>
              </a:rPr>
              <a:t>Vòng</a:t>
            </a:r>
            <a:r>
              <a:rPr dirty="0" sz="2500" spc="43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e0e0e0"/>
                </a:solidFill>
                <a:latin typeface="DejaVu Sans"/>
                <a:cs typeface="DejaVu Sans"/>
              </a:rPr>
              <a:t>đời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e0e0e0"/>
                </a:solidFill>
                <a:latin typeface="DejaVu Sans"/>
                <a:cs typeface="DejaVu Sans"/>
              </a:rPr>
              <a:t>Activity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89656" y="4018862"/>
            <a:ext cx="1758542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Sự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e0e0e0"/>
                </a:solidFill>
                <a:latin typeface="DejaVu Sans"/>
                <a:cs typeface="DejaVu Sans"/>
              </a:rPr>
              <a:t>kiện</a:t>
            </a:r>
            <a:r>
              <a:rPr dirty="0" sz="1700" spc="-1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là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 b="1">
                <a:solidFill>
                  <a:srgbClr val="e0e0e0"/>
                </a:solidFill>
                <a:latin typeface="DejaVu Sans"/>
                <a:cs typeface="DejaVu Sans"/>
              </a:rPr>
              <a:t>gì?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02927" y="4392601"/>
            <a:ext cx="4008711" cy="5072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Hành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của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tương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tác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với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ứng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dụng.</a:t>
            </a:r>
          </a:p>
          <a:p>
            <a:pPr marL="0" marR="0">
              <a:lnSpc>
                <a:spcPts val="1368"/>
              </a:lnSpc>
              <a:spcBef>
                <a:spcPts val="906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Hàng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đợi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sự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kiện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FIFO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của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d1d5db"/>
                </a:solidFill>
                <a:latin typeface="DejaVu Sans"/>
                <a:cs typeface="DejaVu Sans"/>
              </a:rPr>
              <a:t>Android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25">
                <a:solidFill>
                  <a:srgbClr val="d1d5db"/>
                </a:solidFill>
                <a:latin typeface="DejaVu Sans"/>
                <a:cs typeface="DejaVu Sans"/>
              </a:rPr>
              <a:t>Framework.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437113" y="4866587"/>
            <a:ext cx="3309755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47" b="1">
                <a:solidFill>
                  <a:srgbClr val="e0e0e0"/>
                </a:solidFill>
                <a:latin typeface="DejaVu Sans"/>
                <a:cs typeface="DejaVu Sans"/>
              </a:rPr>
              <a:t>Trạng</a:t>
            </a:r>
            <a:r>
              <a:rPr dirty="0" sz="1700" spc="25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e0e0e0"/>
                </a:solidFill>
                <a:latin typeface="DejaVu Sans"/>
                <a:cs typeface="DejaVu Sans"/>
              </a:rPr>
              <a:t>thái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Quan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e0e0e0"/>
                </a:solidFill>
                <a:latin typeface="DejaVu Sans"/>
                <a:cs typeface="DejaVu Sans"/>
              </a:rPr>
              <a:t>trọng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586387" y="5241081"/>
            <a:ext cx="2816204" cy="3966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d1d5db"/>
                </a:solidFill>
                <a:latin typeface="Liberation Mono"/>
                <a:cs typeface="Liberation Mono"/>
              </a:rPr>
              <a:t>onCreate()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: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Khởi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tạo,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thiết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lập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giao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diện.</a:t>
            </a:r>
          </a:p>
          <a:p>
            <a:pPr marL="0" marR="0">
              <a:lnSpc>
                <a:spcPts val="1173"/>
              </a:lnSpc>
              <a:spcBef>
                <a:spcPts val="426"/>
              </a:spcBef>
              <a:spcAft>
                <a:spcPts val="0"/>
              </a:spcAft>
            </a:pPr>
            <a:r>
              <a:rPr dirty="0" sz="1000">
                <a:solidFill>
                  <a:srgbClr val="d1d5db"/>
                </a:solidFill>
                <a:latin typeface="Liberation Mono"/>
                <a:cs typeface="Liberation Mono"/>
              </a:rPr>
              <a:t>onStart()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: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Activity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hiển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thị.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586387" y="5660181"/>
            <a:ext cx="2286300" cy="40619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d1d5db"/>
                </a:solidFill>
                <a:latin typeface="Liberation Mono"/>
                <a:cs typeface="Liberation Mono"/>
              </a:rPr>
              <a:t>onResume()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: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Sẵn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sàng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tương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tác.</a:t>
            </a:r>
          </a:p>
          <a:p>
            <a:pPr marL="0" marR="0">
              <a:lnSpc>
                <a:spcPts val="1173"/>
              </a:lnSpc>
              <a:spcBef>
                <a:spcPts val="501"/>
              </a:spcBef>
              <a:spcAft>
                <a:spcPts val="0"/>
              </a:spcAft>
            </a:pPr>
            <a:r>
              <a:rPr dirty="0" sz="1000">
                <a:solidFill>
                  <a:srgbClr val="d1d5db"/>
                </a:solidFill>
                <a:latin typeface="Liberation Mono"/>
                <a:cs typeface="Liberation Mono"/>
              </a:rPr>
              <a:t>onPause()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: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Tạm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dừng.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586387" y="6088806"/>
            <a:ext cx="2212230" cy="40619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d1d5db"/>
                </a:solidFill>
                <a:latin typeface="Liberation Mono"/>
                <a:cs typeface="Liberation Mono"/>
              </a:rPr>
              <a:t>onStop()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: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Không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còn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hiển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thị.</a:t>
            </a:r>
          </a:p>
          <a:p>
            <a:pPr marL="0" marR="0">
              <a:lnSpc>
                <a:spcPts val="1173"/>
              </a:lnSpc>
              <a:spcBef>
                <a:spcPts val="501"/>
              </a:spcBef>
              <a:spcAft>
                <a:spcPts val="0"/>
              </a:spcAft>
            </a:pPr>
            <a:r>
              <a:rPr dirty="0" sz="1000">
                <a:solidFill>
                  <a:srgbClr val="d1d5db"/>
                </a:solidFill>
                <a:latin typeface="Liberation Mono"/>
                <a:cs typeface="Liberation Mono"/>
              </a:rPr>
              <a:t>onDestroy()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: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Bị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hủy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hoàn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toàn.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51556" y="6323912"/>
            <a:ext cx="3251345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Event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e0e0e0"/>
                </a:solidFill>
                <a:latin typeface="DejaVu Sans"/>
                <a:cs typeface="DejaVu Sans"/>
              </a:rPr>
              <a:t>Listeners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e0e0e0"/>
                </a:solidFill>
                <a:latin typeface="DejaVu Sans"/>
                <a:cs typeface="DejaVu Sans"/>
              </a:rPr>
              <a:t>chính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65435" y="6754801"/>
            <a:ext cx="353994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 b="1">
                <a:solidFill>
                  <a:srgbClr val="d1d5db"/>
                </a:solidFill>
                <a:latin typeface="DejaVu Sans"/>
                <a:cs typeface="DejaVu Sans"/>
              </a:rPr>
              <a:t>OnClickListener:</a:t>
            </a:r>
            <a:r>
              <a:rPr dirty="0" sz="1200" spc="-17">
                <a:solidFill>
                  <a:srgbClr val="d1d5db"/>
                </a:solidFill>
                <a:latin typeface="DejaVu Sans"/>
                <a:cs typeface="DejaVu Sans"/>
              </a:rPr>
              <a:t>Xử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lý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chạm/nhấn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đơn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giản.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475213" y="7047813"/>
            <a:ext cx="2493630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Thực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hành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Tốt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nhất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65435" y="7069126"/>
            <a:ext cx="369790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5" b="1">
                <a:solidFill>
                  <a:srgbClr val="d1d5db"/>
                </a:solidFill>
                <a:latin typeface="DejaVu Sans"/>
                <a:cs typeface="DejaVu Sans"/>
              </a:rPr>
              <a:t>OnTouchListener:</a:t>
            </a:r>
            <a:r>
              <a:rPr dirty="0" sz="1200" spc="-17">
                <a:solidFill>
                  <a:srgbClr val="d1d5db"/>
                </a:solidFill>
                <a:latin typeface="DejaVu Sans"/>
                <a:cs typeface="DejaVu Sans"/>
              </a:rPr>
              <a:t>Xử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lý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cử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chỉ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chạm</a:t>
            </a:r>
            <a:r>
              <a:rPr dirty="0" sz="1200" spc="-17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phức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tạp.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688483" y="7421551"/>
            <a:ext cx="210457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d1d5db"/>
                </a:solidFill>
                <a:latin typeface="DejaVu Sans"/>
                <a:cs typeface="DejaVu Sans"/>
              </a:rPr>
              <a:t>Quản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lý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tài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nguyên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hợp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62">
                <a:solidFill>
                  <a:srgbClr val="d1d5db"/>
                </a:solidFill>
                <a:latin typeface="DejaVu Sans"/>
                <a:cs typeface="DejaVu Sans"/>
              </a:rPr>
              <a:t>lý.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688483" y="7678726"/>
            <a:ext cx="2928649" cy="4691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Sử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dụng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d1d5db"/>
                </a:solidFill>
                <a:latin typeface="DejaVu Sans"/>
                <a:cs typeface="DejaVu Sans"/>
              </a:rPr>
              <a:t>ViewModel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dữ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liệu.</a:t>
            </a:r>
          </a:p>
          <a:p>
            <a:pPr marL="0" marR="0">
              <a:lnSpc>
                <a:spcPts val="1368"/>
              </a:lnSpc>
              <a:spcBef>
                <a:spcPts val="606"/>
              </a:spcBef>
              <a:spcAft>
                <a:spcPts val="0"/>
              </a:spcAft>
            </a:pPr>
            <a:r>
              <a:rPr dirty="0" sz="1200" spc="-20">
                <a:solidFill>
                  <a:srgbClr val="d1d5db"/>
                </a:solidFill>
                <a:latin typeface="DejaVu Sans"/>
                <a:cs typeface="DejaVu Sans"/>
              </a:rPr>
              <a:t>Ưu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tiên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Event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23">
                <a:solidFill>
                  <a:srgbClr val="d1d5db"/>
                </a:solidFill>
                <a:latin typeface="DejaVu Sans"/>
                <a:cs typeface="DejaVu Sans"/>
              </a:rPr>
              <a:t>Patterns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để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code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sạch.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414741" y="8255714"/>
            <a:ext cx="3716381" cy="3096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013769" marR="0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6b7280"/>
                </a:solidFill>
                <a:latin typeface="DejaVu Sans"/>
                <a:cs typeface="DejaVu Sans"/>
              </a:rPr>
              <a:t>Reference:</a:t>
            </a:r>
          </a:p>
          <a:p>
            <a:pPr marL="0" marR="0">
              <a:lnSpc>
                <a:spcPts val="938"/>
              </a:lnSpc>
              <a:spcBef>
                <a:spcPts val="261"/>
              </a:spcBef>
              <a:spcAft>
                <a:spcPts val="0"/>
              </a:spcAft>
            </a:pPr>
            <a:r>
              <a:rPr dirty="0" sz="800">
                <a:solidFill>
                  <a:srgbClr val="6b7280"/>
                </a:solidFill>
                <a:latin typeface="DejaVu Sans"/>
                <a:cs typeface="DejaVu Sans"/>
              </a:rPr>
              <a:t>GeeksforGeeks,</a:t>
            </a:r>
            <a:r>
              <a:rPr dirty="0" sz="8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6b7280"/>
                </a:solidFill>
                <a:latin typeface="DejaVu Sans"/>
                <a:cs typeface="DejaVu Sans"/>
              </a:rPr>
              <a:t>Android</a:t>
            </a:r>
            <a:r>
              <a:rPr dirty="0" sz="8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6b7280"/>
                </a:solidFill>
                <a:latin typeface="DejaVu Sans"/>
                <a:cs typeface="DejaVu Sans"/>
              </a:rPr>
              <a:t>Developers</a:t>
            </a:r>
            <a:r>
              <a:rPr dirty="0" sz="8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6b7280"/>
                </a:solidFill>
                <a:latin typeface="DejaVu Sans"/>
                <a:cs typeface="DejaVu Sans"/>
              </a:rPr>
              <a:t>(UI</a:t>
            </a:r>
            <a:r>
              <a:rPr dirty="0" sz="8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6b7280"/>
                </a:solidFill>
                <a:latin typeface="DejaVu Sans"/>
                <a:cs typeface="DejaVu Sans"/>
              </a:rPr>
              <a:t>events,</a:t>
            </a:r>
            <a:r>
              <a:rPr dirty="0" sz="8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6b7280"/>
                </a:solidFill>
                <a:latin typeface="DejaVu Sans"/>
                <a:cs typeface="DejaVu Sans"/>
              </a:rPr>
              <a:t>The</a:t>
            </a:r>
            <a:r>
              <a:rPr dirty="0" sz="8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6b7280"/>
                </a:solidFill>
                <a:latin typeface="DejaVu Sans"/>
                <a:cs typeface="DejaVu Sans"/>
              </a:rPr>
              <a:t>activity</a:t>
            </a:r>
            <a:r>
              <a:rPr dirty="0" sz="8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6b7280"/>
                </a:solidFill>
                <a:latin typeface="DejaVu Sans"/>
                <a:cs typeface="DejaVu Sans"/>
              </a:rPr>
              <a:t>lifecycle)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9248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0999" y="334315"/>
            <a:ext cx="6273921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Event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e0e0e0"/>
                </a:solidFill>
                <a:latin typeface="DejaVu Sans"/>
                <a:cs typeface="DejaVu Sans"/>
              </a:rPr>
              <a:t>Handling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b="1">
                <a:solidFill>
                  <a:srgbClr val="4caf50"/>
                </a:solidFill>
                <a:latin typeface="DejaVu Sans"/>
                <a:cs typeface="DejaVu Sans"/>
              </a:rPr>
              <a:t>là</a:t>
            </a:r>
            <a:r>
              <a:rPr dirty="0" sz="4050" spc="-12" b="1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4caf50"/>
                </a:solidFill>
                <a:latin typeface="DejaVu Sans"/>
                <a:cs typeface="DejaVu Sans"/>
              </a:rPr>
              <a:t>gì?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0999" y="3434467"/>
            <a:ext cx="1382553" cy="485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5" b="1">
                <a:solidFill>
                  <a:srgbClr val="ff9800"/>
                </a:solidFill>
                <a:latin typeface="DejaVu Sans"/>
                <a:cs typeface="DejaVu Sans"/>
              </a:rPr>
              <a:t>Event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66556" y="3767842"/>
            <a:ext cx="3456186" cy="485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5" b="1">
                <a:solidFill>
                  <a:srgbClr val="ff9800"/>
                </a:solidFill>
                <a:latin typeface="DejaVu Sans"/>
                <a:cs typeface="DejaVu Sans"/>
              </a:rPr>
              <a:t>Event</a:t>
            </a:r>
            <a:r>
              <a:rPr dirty="0" sz="3000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3000" spc="15" b="1">
                <a:solidFill>
                  <a:srgbClr val="ff9800"/>
                </a:solidFill>
                <a:latin typeface="DejaVu Sans"/>
                <a:cs typeface="DejaVu Sans"/>
              </a:rPr>
              <a:t>Handling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80999" y="3993708"/>
            <a:ext cx="481497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Hành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xảy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ra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do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hoặc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hệ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thống.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266556" y="4336608"/>
            <a:ext cx="4336968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Viết</a:t>
            </a:r>
            <a:r>
              <a:rPr dirty="0" sz="1500" spc="12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code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để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phản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xử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lý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sự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kiện.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08992" y="4490518"/>
            <a:ext cx="989203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Hành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41437" y="4490518"/>
            <a:ext cx="906383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Tương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75">
                <a:solidFill>
                  <a:srgbClr val="e0e0e0"/>
                </a:solidFill>
                <a:latin typeface="DejaVu Sans"/>
                <a:cs typeface="DejaVu Sans"/>
              </a:rPr>
              <a:t>Tác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94548" y="4833418"/>
            <a:ext cx="815629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Phản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e0e0e0"/>
                </a:solidFill>
                <a:latin typeface="DejaVu Sans"/>
                <a:cs typeface="DejaVu Sans"/>
              </a:rPr>
              <a:t>Hồi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453460" y="4833418"/>
            <a:ext cx="54539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e0e0e0"/>
                </a:solidFill>
                <a:latin typeface="DejaVu Sans"/>
                <a:cs typeface="DejaVu Sans"/>
              </a:rPr>
              <a:t>Logic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239273" y="4833418"/>
            <a:ext cx="55456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e0e0e0"/>
                </a:solidFill>
                <a:latin typeface="DejaVu Sans"/>
                <a:cs typeface="DejaVu Sans"/>
              </a:rPr>
              <a:t>Xử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2">
                <a:solidFill>
                  <a:srgbClr val="e0e0e0"/>
                </a:solidFill>
                <a:latin typeface="DejaVu Sans"/>
                <a:cs typeface="DejaVu Sans"/>
              </a:rPr>
              <a:t>Lý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94878" y="4927913"/>
            <a:ext cx="2185954" cy="9130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Bấm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nút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(Button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Click)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Chạm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màn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hình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 spc="-36">
                <a:solidFill>
                  <a:srgbClr val="e0e0e0"/>
                </a:solidFill>
                <a:latin typeface="DejaVu Sans"/>
                <a:cs typeface="DejaVu Sans"/>
              </a:rPr>
              <a:t>(Touch)</a:t>
            </a:r>
          </a:p>
          <a:p>
            <a:pPr marL="0" marR="0">
              <a:lnSpc>
                <a:spcPts val="1564"/>
              </a:lnSpc>
              <a:spcBef>
                <a:spcPts val="101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Nhập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dữ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liệu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(Input)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580434" y="5270813"/>
            <a:ext cx="3044041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Tạo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tương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tác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dụng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97198" y="6372695"/>
            <a:ext cx="2192304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36" b="1">
                <a:solidFill>
                  <a:srgbClr val="e0e0e0"/>
                </a:solidFill>
                <a:latin typeface="DejaVu Sans"/>
                <a:cs typeface="DejaVu Sans"/>
              </a:rPr>
              <a:t>Trong</a:t>
            </a:r>
            <a:r>
              <a:rPr dirty="0" sz="2000" spc="52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397198" y="6756713"/>
            <a:ext cx="8600162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Sử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dụng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d1d5db"/>
                </a:solidFill>
                <a:latin typeface="DejaVu Sans"/>
                <a:cs typeface="DejaVu Sans"/>
              </a:rPr>
              <a:t>Listeners</a:t>
            </a:r>
            <a:r>
              <a:rPr dirty="0" sz="1350" spc="89" b="1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-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giao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diện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0">
                <a:solidFill>
                  <a:srgbClr val="d1d5db"/>
                </a:solidFill>
                <a:latin typeface="DejaVu Sans"/>
                <a:cs typeface="DejaVu Sans"/>
              </a:rPr>
              <a:t>Java/Kotlin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để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đăng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51">
                <a:solidFill>
                  <a:srgbClr val="d1d5db"/>
                </a:solidFill>
                <a:latin typeface="DejaVu Sans"/>
                <a:cs typeface="DejaVu Sans"/>
              </a:rPr>
              <a:t>ký</a:t>
            </a:r>
            <a:r>
              <a:rPr dirty="0" sz="1350" spc="46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xử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lý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sự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kiện,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tạo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sự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kiện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phản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hồi.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503759" y="7167797"/>
            <a:ext cx="77856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Giao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Diện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428428" y="7167797"/>
            <a:ext cx="51713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Kotlin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085206" y="7167797"/>
            <a:ext cx="42280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Java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472635" y="7586897"/>
            <a:ext cx="3445087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GeeksforGeeks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Event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Handling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in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Android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9248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0999" y="334315"/>
            <a:ext cx="6273921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Event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e0e0e0"/>
                </a:solidFill>
                <a:latin typeface="DejaVu Sans"/>
                <a:cs typeface="DejaVu Sans"/>
              </a:rPr>
              <a:t>Handling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b="1">
                <a:solidFill>
                  <a:srgbClr val="4caf50"/>
                </a:solidFill>
                <a:latin typeface="DejaVu Sans"/>
                <a:cs typeface="DejaVu Sans"/>
              </a:rPr>
              <a:t>là</a:t>
            </a:r>
            <a:r>
              <a:rPr dirty="0" sz="4050" spc="-12" b="1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4caf50"/>
                </a:solidFill>
                <a:latin typeface="DejaVu Sans"/>
                <a:cs typeface="DejaVu Sans"/>
              </a:rPr>
              <a:t>gì?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0999" y="3434467"/>
            <a:ext cx="1382553" cy="485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5" b="1">
                <a:solidFill>
                  <a:srgbClr val="ff9800"/>
                </a:solidFill>
                <a:latin typeface="DejaVu Sans"/>
                <a:cs typeface="DejaVu Sans"/>
              </a:rPr>
              <a:t>Event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66556" y="3767842"/>
            <a:ext cx="3456186" cy="485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5" b="1">
                <a:solidFill>
                  <a:srgbClr val="ff9800"/>
                </a:solidFill>
                <a:latin typeface="DejaVu Sans"/>
                <a:cs typeface="DejaVu Sans"/>
              </a:rPr>
              <a:t>Event</a:t>
            </a:r>
            <a:r>
              <a:rPr dirty="0" sz="3000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3000" spc="15" b="1">
                <a:solidFill>
                  <a:srgbClr val="ff9800"/>
                </a:solidFill>
                <a:latin typeface="DejaVu Sans"/>
                <a:cs typeface="DejaVu Sans"/>
              </a:rPr>
              <a:t>Handling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80999" y="3993708"/>
            <a:ext cx="481497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Hành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xảy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ra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do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hoặc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hệ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thống.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266556" y="4336608"/>
            <a:ext cx="4336968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Viết</a:t>
            </a:r>
            <a:r>
              <a:rPr dirty="0" sz="1500" spc="12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code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để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phản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xử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lý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sự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kiện.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08992" y="4490518"/>
            <a:ext cx="989203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Hành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41437" y="4490518"/>
            <a:ext cx="906383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Tương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75">
                <a:solidFill>
                  <a:srgbClr val="e0e0e0"/>
                </a:solidFill>
                <a:latin typeface="DejaVu Sans"/>
                <a:cs typeface="DejaVu Sans"/>
              </a:rPr>
              <a:t>Tác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94548" y="4833418"/>
            <a:ext cx="815629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Phản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e0e0e0"/>
                </a:solidFill>
                <a:latin typeface="DejaVu Sans"/>
                <a:cs typeface="DejaVu Sans"/>
              </a:rPr>
              <a:t>Hồi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453460" y="4833418"/>
            <a:ext cx="54539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e0e0e0"/>
                </a:solidFill>
                <a:latin typeface="DejaVu Sans"/>
                <a:cs typeface="DejaVu Sans"/>
              </a:rPr>
              <a:t>Logic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239273" y="4833418"/>
            <a:ext cx="55456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e0e0e0"/>
                </a:solidFill>
                <a:latin typeface="DejaVu Sans"/>
                <a:cs typeface="DejaVu Sans"/>
              </a:rPr>
              <a:t>Xử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2">
                <a:solidFill>
                  <a:srgbClr val="e0e0e0"/>
                </a:solidFill>
                <a:latin typeface="DejaVu Sans"/>
                <a:cs typeface="DejaVu Sans"/>
              </a:rPr>
              <a:t>Lý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94878" y="4927913"/>
            <a:ext cx="2185954" cy="9130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Bấm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nút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(Button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Click)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Chạm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màn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hình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 spc="-36">
                <a:solidFill>
                  <a:srgbClr val="e0e0e0"/>
                </a:solidFill>
                <a:latin typeface="DejaVu Sans"/>
                <a:cs typeface="DejaVu Sans"/>
              </a:rPr>
              <a:t>(Touch)</a:t>
            </a:r>
          </a:p>
          <a:p>
            <a:pPr marL="0" marR="0">
              <a:lnSpc>
                <a:spcPts val="1564"/>
              </a:lnSpc>
              <a:spcBef>
                <a:spcPts val="101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Nhập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dữ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liệu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(Input)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580434" y="5270813"/>
            <a:ext cx="3044041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Tạo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tương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tác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dụng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97198" y="6372695"/>
            <a:ext cx="2192304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36" b="1">
                <a:solidFill>
                  <a:srgbClr val="e0e0e0"/>
                </a:solidFill>
                <a:latin typeface="DejaVu Sans"/>
                <a:cs typeface="DejaVu Sans"/>
              </a:rPr>
              <a:t>Trong</a:t>
            </a:r>
            <a:r>
              <a:rPr dirty="0" sz="2000" spc="52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397198" y="6756713"/>
            <a:ext cx="8600162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Sử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dụng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d1d5db"/>
                </a:solidFill>
                <a:latin typeface="DejaVu Sans"/>
                <a:cs typeface="DejaVu Sans"/>
              </a:rPr>
              <a:t>Listeners</a:t>
            </a:r>
            <a:r>
              <a:rPr dirty="0" sz="1350" spc="89" b="1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-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giao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diện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0">
                <a:solidFill>
                  <a:srgbClr val="d1d5db"/>
                </a:solidFill>
                <a:latin typeface="DejaVu Sans"/>
                <a:cs typeface="DejaVu Sans"/>
              </a:rPr>
              <a:t>Java/Kotlin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để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đăng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51">
                <a:solidFill>
                  <a:srgbClr val="d1d5db"/>
                </a:solidFill>
                <a:latin typeface="DejaVu Sans"/>
                <a:cs typeface="DejaVu Sans"/>
              </a:rPr>
              <a:t>ký</a:t>
            </a:r>
            <a:r>
              <a:rPr dirty="0" sz="1350" spc="46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xử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lý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sự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kiện,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tạo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sự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kiện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phản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hồi.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503759" y="7167797"/>
            <a:ext cx="77856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Giao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Diện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428428" y="7167797"/>
            <a:ext cx="51713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Kotlin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085206" y="7167797"/>
            <a:ext cx="42280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Java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472635" y="7586897"/>
            <a:ext cx="3445087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GeeksforGeeks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Event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Handling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in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Android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362442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110507" y="333807"/>
            <a:ext cx="6123447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e0e0e0"/>
                </a:solidFill>
                <a:latin typeface="DejaVu Sans"/>
                <a:cs typeface="DejaVu Sans"/>
              </a:rPr>
              <a:t>sự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e0e0e0"/>
                </a:solidFill>
                <a:latin typeface="DejaVu Sans"/>
                <a:cs typeface="DejaVu Sans"/>
              </a:rPr>
              <a:t>kiện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4caf50"/>
                </a:solidFill>
                <a:latin typeface="DejaVu Sans"/>
                <a:cs typeface="DejaVu Sans"/>
              </a:rPr>
              <a:t>phổ</a:t>
            </a:r>
            <a:r>
              <a:rPr dirty="0" sz="4050" b="1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4caf50"/>
                </a:solidFill>
                <a:latin typeface="DejaVu Sans"/>
                <a:cs typeface="DejaVu Sans"/>
              </a:rPr>
              <a:t>biến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58617" y="978862"/>
            <a:ext cx="3027024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2">
                <a:solidFill>
                  <a:srgbClr val="9ca3af"/>
                </a:solidFill>
                <a:latin typeface="DejaVu Sans"/>
                <a:cs typeface="DejaVu Sans"/>
              </a:rPr>
              <a:t>(Common</a:t>
            </a:r>
            <a:r>
              <a:rPr dirty="0" sz="2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2500" spc="10">
                <a:solidFill>
                  <a:srgbClr val="9ca3af"/>
                </a:solidFill>
                <a:latin typeface="DejaVu Sans"/>
                <a:cs typeface="DejaVu Sans"/>
              </a:rPr>
              <a:t>Events)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84076" y="2104987"/>
            <a:ext cx="2046556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44" b="1">
                <a:solidFill>
                  <a:srgbClr val="e0e0e0"/>
                </a:solidFill>
                <a:latin typeface="DejaVu Sans"/>
                <a:cs typeface="DejaVu Sans"/>
              </a:rPr>
              <a:t>Touch</a:t>
            </a:r>
            <a:r>
              <a:rPr dirty="0" sz="2000" spc="62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Events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079354" y="2104987"/>
            <a:ext cx="1899196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Click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Events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974632" y="2104987"/>
            <a:ext cx="2589528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Keyboard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Events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75084" y="2622355"/>
            <a:ext cx="3122657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Tương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tác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của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người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dùng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với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màn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hình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qua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cử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chỉ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chạm.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570362" y="2622355"/>
            <a:ext cx="2991492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Tương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tác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nhấn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một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lần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phổ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biến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nhất.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465640" y="2622355"/>
            <a:ext cx="3115544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Tương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tác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thông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qua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bàn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phím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vật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lý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hoặc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 spc="-15">
                <a:solidFill>
                  <a:srgbClr val="9ca3af"/>
                </a:solidFill>
                <a:latin typeface="DejaVu Sans"/>
                <a:cs typeface="DejaVu Sans"/>
              </a:rPr>
              <a:t>ảo.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75084" y="3307401"/>
            <a:ext cx="26566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ff9800"/>
                </a:solidFill>
                <a:latin typeface="DejaVu Sans"/>
                <a:cs typeface="DejaVu Sans"/>
              </a:rPr>
              <a:t>•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58899" y="3365768"/>
            <a:ext cx="779780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e0e0e0"/>
                </a:solidFill>
                <a:latin typeface="Liberation Mono"/>
                <a:cs typeface="Liberation Mono"/>
              </a:rPr>
              <a:t>onTouch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75084" y="3697926"/>
            <a:ext cx="26566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ff9800"/>
                </a:solidFill>
                <a:latin typeface="DejaVu Sans"/>
                <a:cs typeface="DejaVu Sans"/>
              </a:rPr>
              <a:t>•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570362" y="3697926"/>
            <a:ext cx="26566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4caf50"/>
                </a:solidFill>
                <a:latin typeface="DejaVu Sans"/>
                <a:cs typeface="DejaVu Sans"/>
              </a:rPr>
              <a:t>•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465640" y="3697926"/>
            <a:ext cx="26566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ff9800"/>
                </a:solidFill>
                <a:latin typeface="DejaVu Sans"/>
                <a:cs typeface="DejaVu Sans"/>
              </a:rPr>
              <a:t>•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58899" y="3746768"/>
            <a:ext cx="1138283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e0e0e0"/>
                </a:solidFill>
                <a:latin typeface="Liberation Mono"/>
                <a:cs typeface="Liberation Mono"/>
              </a:rPr>
              <a:t>onLongClick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854177" y="3746768"/>
            <a:ext cx="779780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e0e0e0"/>
                </a:solidFill>
                <a:latin typeface="Liberation Mono"/>
                <a:cs typeface="Liberation Mono"/>
              </a:rPr>
              <a:t>onClick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749455" y="3746768"/>
            <a:ext cx="600528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e0e0e0"/>
                </a:solidFill>
                <a:latin typeface="Liberation Mono"/>
                <a:cs typeface="Liberation Mono"/>
              </a:rPr>
              <a:t>onKey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03076" y="4195490"/>
            <a:ext cx="84692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fdba74"/>
                </a:solidFill>
                <a:latin typeface="DejaVu Sans"/>
                <a:cs typeface="DejaVu Sans"/>
              </a:rPr>
              <a:t>Interaction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893093" y="4195490"/>
            <a:ext cx="50838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3c5fd"/>
                </a:solidFill>
                <a:latin typeface="DejaVu Sans"/>
                <a:cs typeface="DejaVu Sans"/>
              </a:rPr>
              <a:t>UI/UX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698354" y="4195490"/>
            <a:ext cx="81624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86efac"/>
                </a:solidFill>
                <a:latin typeface="DejaVu Sans"/>
                <a:cs typeface="DejaVu Sans"/>
              </a:rPr>
              <a:t>User</a:t>
            </a:r>
            <a:r>
              <a:rPr dirty="0" sz="1000">
                <a:solidFill>
                  <a:srgbClr val="86efac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86efac"/>
                </a:solidFill>
                <a:latin typeface="DejaVu Sans"/>
                <a:cs typeface="DejaVu Sans"/>
              </a:rPr>
              <a:t>Input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757862" y="4195490"/>
            <a:ext cx="977177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a5b4fc"/>
                </a:solidFill>
                <a:latin typeface="DejaVu Sans"/>
                <a:cs typeface="DejaVu Sans"/>
              </a:rPr>
              <a:t>Direct</a:t>
            </a:r>
            <a:r>
              <a:rPr dirty="0" sz="1000">
                <a:solidFill>
                  <a:srgbClr val="a5b4fc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a5b4fc"/>
                </a:solidFill>
                <a:latin typeface="DejaVu Sans"/>
                <a:cs typeface="DejaVu Sans"/>
              </a:rPr>
              <a:t>Action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593632" y="4195490"/>
            <a:ext cx="78336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spc="-43">
                <a:solidFill>
                  <a:srgbClr val="d8b4fe"/>
                </a:solidFill>
                <a:latin typeface="DejaVu Sans"/>
                <a:cs typeface="DejaVu Sans"/>
              </a:rPr>
              <a:t>Text</a:t>
            </a:r>
            <a:r>
              <a:rPr dirty="0" sz="1000" spc="49">
                <a:solidFill>
                  <a:srgbClr val="d8b4fe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8b4fe"/>
                </a:solidFill>
                <a:latin typeface="DejaVu Sans"/>
                <a:cs typeface="DejaVu Sans"/>
              </a:rPr>
              <a:t>Input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9620249" y="4195490"/>
            <a:ext cx="84286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5eead4"/>
                </a:solidFill>
                <a:latin typeface="DejaVu Sans"/>
                <a:cs typeface="DejaVu Sans"/>
              </a:rPr>
              <a:t>Navigation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3089076" y="5333962"/>
            <a:ext cx="2280173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System</a:t>
            </a:r>
            <a:r>
              <a:rPr dirty="0" sz="2000" spc="11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Events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7027067" y="5333962"/>
            <a:ext cx="2208552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Sensor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Events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2580084" y="5841805"/>
            <a:ext cx="2995987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thay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đổi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từ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hệ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điều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hành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ảnh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hưởng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đến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dụng.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6518075" y="5841805"/>
            <a:ext cx="2934030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Thay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đổi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dữ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liệu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từ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cảm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biến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của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thiết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bị.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2580084" y="6536376"/>
            <a:ext cx="1914778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4caf50"/>
                </a:solidFill>
                <a:latin typeface="DejaVu Sans"/>
                <a:cs typeface="DejaVu Sans"/>
              </a:rPr>
              <a:t>•</a:t>
            </a:r>
            <a:r>
              <a:rPr dirty="0" sz="1500" spc="303">
                <a:solidFill>
                  <a:srgbClr val="4caf50"/>
                </a:solidFill>
                <a:latin typeface="Times New Roman"/>
                <a:cs typeface="Times New Roman"/>
              </a:rPr>
              <a:t> </a:t>
            </a:r>
            <a:r>
              <a:rPr dirty="0" sz="1200" spc="-23">
                <a:solidFill>
                  <a:srgbClr val="e0e0e0"/>
                </a:solidFill>
                <a:latin typeface="DejaVu Sans"/>
                <a:cs typeface="DejaVu Sans"/>
              </a:rPr>
              <a:t>Pin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yếu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e0e0e0"/>
                </a:solidFill>
                <a:latin typeface="DejaVu Sans"/>
                <a:cs typeface="DejaVu Sans"/>
              </a:rPr>
              <a:t>(Battery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low)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6518075" y="6536376"/>
            <a:ext cx="235582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ff9800"/>
                </a:solidFill>
                <a:latin typeface="DejaVu Sans"/>
                <a:cs typeface="DejaVu Sans"/>
              </a:rPr>
              <a:t>•</a:t>
            </a:r>
            <a:r>
              <a:rPr dirty="0" sz="1500" spc="303">
                <a:solidFill>
                  <a:srgbClr val="ff9800"/>
                </a:solidFill>
                <a:latin typeface="Times New Roman"/>
                <a:cs typeface="Times New Roman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Gia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e0e0e0"/>
                </a:solidFill>
                <a:latin typeface="DejaVu Sans"/>
                <a:cs typeface="DejaVu Sans"/>
              </a:rPr>
              <a:t>tốc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kế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e0e0e0"/>
                </a:solidFill>
                <a:latin typeface="DejaVu Sans"/>
                <a:cs typeface="DejaVu Sans"/>
              </a:rPr>
              <a:t>(Accelerometer)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2580084" y="6917376"/>
            <a:ext cx="2849277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4caf50"/>
                </a:solidFill>
                <a:latin typeface="DejaVu Sans"/>
                <a:cs typeface="DejaVu Sans"/>
              </a:rPr>
              <a:t>•</a:t>
            </a:r>
            <a:r>
              <a:rPr dirty="0" sz="1500" spc="303">
                <a:solidFill>
                  <a:srgbClr val="4caf50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Thay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đổi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e0e0e0"/>
                </a:solidFill>
                <a:latin typeface="DejaVu Sans"/>
                <a:cs typeface="DejaVu Sans"/>
              </a:rPr>
              <a:t>mạng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(Network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change)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6518075" y="6917376"/>
            <a:ext cx="2881273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ff9800"/>
                </a:solidFill>
                <a:latin typeface="DejaVu Sans"/>
                <a:cs typeface="DejaVu Sans"/>
              </a:rPr>
              <a:t>•</a:t>
            </a:r>
            <a:r>
              <a:rPr dirty="0" sz="1500" spc="303">
                <a:solidFill>
                  <a:srgbClr val="ff9800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Con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quay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hồi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chuyển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e0e0e0"/>
                </a:solidFill>
                <a:latin typeface="DejaVu Sans"/>
                <a:cs typeface="DejaVu Sans"/>
              </a:rPr>
              <a:t>(Gyroscope)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2708076" y="7424464"/>
            <a:ext cx="91893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fca5a5"/>
                </a:solidFill>
                <a:latin typeface="DejaVu Sans"/>
                <a:cs typeface="DejaVu Sans"/>
              </a:rPr>
              <a:t>Background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3867298" y="7424464"/>
            <a:ext cx="97367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7e8f9"/>
                </a:solidFill>
                <a:latin typeface="DejaVu Sans"/>
                <a:cs typeface="DejaVu Sans"/>
              </a:rPr>
              <a:t>OS</a:t>
            </a:r>
            <a:r>
              <a:rPr dirty="0" sz="1000">
                <a:solidFill>
                  <a:srgbClr val="67e8f9"/>
                </a:solidFill>
                <a:latin typeface="DejaVu Sans"/>
                <a:cs typeface="DejaVu Sans"/>
              </a:rPr>
              <a:t> </a:t>
            </a:r>
            <a:r>
              <a:rPr dirty="0" sz="1000" spc="-17">
                <a:solidFill>
                  <a:srgbClr val="67e8f9"/>
                </a:solidFill>
                <a:latin typeface="DejaVu Sans"/>
                <a:cs typeface="DejaVu Sans"/>
              </a:rPr>
              <a:t>Triggered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6646067" y="7424464"/>
            <a:ext cx="93642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fde047"/>
                </a:solidFill>
                <a:latin typeface="DejaVu Sans"/>
                <a:cs typeface="DejaVu Sans"/>
              </a:rPr>
              <a:t>Device</a:t>
            </a:r>
            <a:r>
              <a:rPr dirty="0" sz="1000">
                <a:solidFill>
                  <a:srgbClr val="fde047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fde047"/>
                </a:solidFill>
                <a:latin typeface="DejaVu Sans"/>
                <a:cs typeface="DejaVu Sans"/>
              </a:rPr>
              <a:t>Data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7825679" y="7424464"/>
            <a:ext cx="85129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f9a8d4"/>
                </a:solidFill>
                <a:latin typeface="DejaVu Sans"/>
                <a:cs typeface="DejaVu Sans"/>
              </a:rPr>
              <a:t>Contextual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362442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110507" y="333807"/>
            <a:ext cx="6123447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e0e0e0"/>
                </a:solidFill>
                <a:latin typeface="DejaVu Sans"/>
                <a:cs typeface="DejaVu Sans"/>
              </a:rPr>
              <a:t>sự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e0e0e0"/>
                </a:solidFill>
                <a:latin typeface="DejaVu Sans"/>
                <a:cs typeface="DejaVu Sans"/>
              </a:rPr>
              <a:t>kiện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4caf50"/>
                </a:solidFill>
                <a:latin typeface="DejaVu Sans"/>
                <a:cs typeface="DejaVu Sans"/>
              </a:rPr>
              <a:t>phổ</a:t>
            </a:r>
            <a:r>
              <a:rPr dirty="0" sz="4050" b="1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4caf50"/>
                </a:solidFill>
                <a:latin typeface="DejaVu Sans"/>
                <a:cs typeface="DejaVu Sans"/>
              </a:rPr>
              <a:t>biến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58617" y="978862"/>
            <a:ext cx="3027024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2">
                <a:solidFill>
                  <a:srgbClr val="9ca3af"/>
                </a:solidFill>
                <a:latin typeface="DejaVu Sans"/>
                <a:cs typeface="DejaVu Sans"/>
              </a:rPr>
              <a:t>(Common</a:t>
            </a:r>
            <a:r>
              <a:rPr dirty="0" sz="2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2500" spc="10">
                <a:solidFill>
                  <a:srgbClr val="9ca3af"/>
                </a:solidFill>
                <a:latin typeface="DejaVu Sans"/>
                <a:cs typeface="DejaVu Sans"/>
              </a:rPr>
              <a:t>Events)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84076" y="2104987"/>
            <a:ext cx="2046556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44" b="1">
                <a:solidFill>
                  <a:srgbClr val="e0e0e0"/>
                </a:solidFill>
                <a:latin typeface="DejaVu Sans"/>
                <a:cs typeface="DejaVu Sans"/>
              </a:rPr>
              <a:t>Touch</a:t>
            </a:r>
            <a:r>
              <a:rPr dirty="0" sz="2000" spc="62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Events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079354" y="2104987"/>
            <a:ext cx="1899196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Click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Events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974632" y="2104987"/>
            <a:ext cx="2589528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Keyboard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Events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75084" y="2622355"/>
            <a:ext cx="3122657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Tương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tác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của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người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dùng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với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màn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hình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qua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cử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chỉ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chạm.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570362" y="2622355"/>
            <a:ext cx="2991492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Tương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tác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nhấn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một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lần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phổ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biến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nhất.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465640" y="2622355"/>
            <a:ext cx="3115544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Tương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tác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thông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qua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bàn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phím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vật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lý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hoặc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 spc="-15">
                <a:solidFill>
                  <a:srgbClr val="9ca3af"/>
                </a:solidFill>
                <a:latin typeface="DejaVu Sans"/>
                <a:cs typeface="DejaVu Sans"/>
              </a:rPr>
              <a:t>ảo.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75084" y="3307401"/>
            <a:ext cx="26566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ff9800"/>
                </a:solidFill>
                <a:latin typeface="DejaVu Sans"/>
                <a:cs typeface="DejaVu Sans"/>
              </a:rPr>
              <a:t>•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58899" y="3365768"/>
            <a:ext cx="779780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e0e0e0"/>
                </a:solidFill>
                <a:latin typeface="Liberation Mono"/>
                <a:cs typeface="Liberation Mono"/>
              </a:rPr>
              <a:t>onTouch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75084" y="3697926"/>
            <a:ext cx="26566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ff9800"/>
                </a:solidFill>
                <a:latin typeface="DejaVu Sans"/>
                <a:cs typeface="DejaVu Sans"/>
              </a:rPr>
              <a:t>•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570362" y="3697926"/>
            <a:ext cx="26566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4caf50"/>
                </a:solidFill>
                <a:latin typeface="DejaVu Sans"/>
                <a:cs typeface="DejaVu Sans"/>
              </a:rPr>
              <a:t>•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465640" y="3697926"/>
            <a:ext cx="26566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ff9800"/>
                </a:solidFill>
                <a:latin typeface="DejaVu Sans"/>
                <a:cs typeface="DejaVu Sans"/>
              </a:rPr>
              <a:t>•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58899" y="3746768"/>
            <a:ext cx="1138283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e0e0e0"/>
                </a:solidFill>
                <a:latin typeface="Liberation Mono"/>
                <a:cs typeface="Liberation Mono"/>
              </a:rPr>
              <a:t>onLongClick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854177" y="3746768"/>
            <a:ext cx="779780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e0e0e0"/>
                </a:solidFill>
                <a:latin typeface="Liberation Mono"/>
                <a:cs typeface="Liberation Mono"/>
              </a:rPr>
              <a:t>onClick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749455" y="3746768"/>
            <a:ext cx="600528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e0e0e0"/>
                </a:solidFill>
                <a:latin typeface="Liberation Mono"/>
                <a:cs typeface="Liberation Mono"/>
              </a:rPr>
              <a:t>onKey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03076" y="4195490"/>
            <a:ext cx="84692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fdba74"/>
                </a:solidFill>
                <a:latin typeface="DejaVu Sans"/>
                <a:cs typeface="DejaVu Sans"/>
              </a:rPr>
              <a:t>Interaction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893093" y="4195490"/>
            <a:ext cx="50838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3c5fd"/>
                </a:solidFill>
                <a:latin typeface="DejaVu Sans"/>
                <a:cs typeface="DejaVu Sans"/>
              </a:rPr>
              <a:t>UI/UX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698354" y="4195490"/>
            <a:ext cx="81624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86efac"/>
                </a:solidFill>
                <a:latin typeface="DejaVu Sans"/>
                <a:cs typeface="DejaVu Sans"/>
              </a:rPr>
              <a:t>User</a:t>
            </a:r>
            <a:r>
              <a:rPr dirty="0" sz="1000">
                <a:solidFill>
                  <a:srgbClr val="86efac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86efac"/>
                </a:solidFill>
                <a:latin typeface="DejaVu Sans"/>
                <a:cs typeface="DejaVu Sans"/>
              </a:rPr>
              <a:t>Input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757862" y="4195490"/>
            <a:ext cx="977177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a5b4fc"/>
                </a:solidFill>
                <a:latin typeface="DejaVu Sans"/>
                <a:cs typeface="DejaVu Sans"/>
              </a:rPr>
              <a:t>Direct</a:t>
            </a:r>
            <a:r>
              <a:rPr dirty="0" sz="1000">
                <a:solidFill>
                  <a:srgbClr val="a5b4fc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a5b4fc"/>
                </a:solidFill>
                <a:latin typeface="DejaVu Sans"/>
                <a:cs typeface="DejaVu Sans"/>
              </a:rPr>
              <a:t>Action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593632" y="4195490"/>
            <a:ext cx="78336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spc="-43">
                <a:solidFill>
                  <a:srgbClr val="d8b4fe"/>
                </a:solidFill>
                <a:latin typeface="DejaVu Sans"/>
                <a:cs typeface="DejaVu Sans"/>
              </a:rPr>
              <a:t>Text</a:t>
            </a:r>
            <a:r>
              <a:rPr dirty="0" sz="1000" spc="49">
                <a:solidFill>
                  <a:srgbClr val="d8b4fe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8b4fe"/>
                </a:solidFill>
                <a:latin typeface="DejaVu Sans"/>
                <a:cs typeface="DejaVu Sans"/>
              </a:rPr>
              <a:t>Input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9620249" y="4195490"/>
            <a:ext cx="84286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5eead4"/>
                </a:solidFill>
                <a:latin typeface="DejaVu Sans"/>
                <a:cs typeface="DejaVu Sans"/>
              </a:rPr>
              <a:t>Navigation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3089076" y="5333962"/>
            <a:ext cx="2280173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System</a:t>
            </a:r>
            <a:r>
              <a:rPr dirty="0" sz="2000" spc="11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Events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7027067" y="5333962"/>
            <a:ext cx="2208552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Sensor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Events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2580084" y="5841805"/>
            <a:ext cx="2995987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thay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đổi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từ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hệ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điều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hành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ảnh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hưởng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đến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dụng.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6518075" y="5841805"/>
            <a:ext cx="2934030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Thay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đổi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dữ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liệu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từ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cảm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biến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của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thiết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bị.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2580084" y="6536376"/>
            <a:ext cx="1914778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4caf50"/>
                </a:solidFill>
                <a:latin typeface="DejaVu Sans"/>
                <a:cs typeface="DejaVu Sans"/>
              </a:rPr>
              <a:t>•</a:t>
            </a:r>
            <a:r>
              <a:rPr dirty="0" sz="1500" spc="303">
                <a:solidFill>
                  <a:srgbClr val="4caf50"/>
                </a:solidFill>
                <a:latin typeface="Times New Roman"/>
                <a:cs typeface="Times New Roman"/>
              </a:rPr>
              <a:t> </a:t>
            </a:r>
            <a:r>
              <a:rPr dirty="0" sz="1200" spc="-23">
                <a:solidFill>
                  <a:srgbClr val="e0e0e0"/>
                </a:solidFill>
                <a:latin typeface="DejaVu Sans"/>
                <a:cs typeface="DejaVu Sans"/>
              </a:rPr>
              <a:t>Pin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yếu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e0e0e0"/>
                </a:solidFill>
                <a:latin typeface="DejaVu Sans"/>
                <a:cs typeface="DejaVu Sans"/>
              </a:rPr>
              <a:t>(Battery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low)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6518075" y="6536376"/>
            <a:ext cx="235582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ff9800"/>
                </a:solidFill>
                <a:latin typeface="DejaVu Sans"/>
                <a:cs typeface="DejaVu Sans"/>
              </a:rPr>
              <a:t>•</a:t>
            </a:r>
            <a:r>
              <a:rPr dirty="0" sz="1500" spc="303">
                <a:solidFill>
                  <a:srgbClr val="ff9800"/>
                </a:solidFill>
                <a:latin typeface="Times New Roman"/>
                <a:cs typeface="Times New Roman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Gia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e0e0e0"/>
                </a:solidFill>
                <a:latin typeface="DejaVu Sans"/>
                <a:cs typeface="DejaVu Sans"/>
              </a:rPr>
              <a:t>tốc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kế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e0e0e0"/>
                </a:solidFill>
                <a:latin typeface="DejaVu Sans"/>
                <a:cs typeface="DejaVu Sans"/>
              </a:rPr>
              <a:t>(Accelerometer)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2580084" y="6917376"/>
            <a:ext cx="2849277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4caf50"/>
                </a:solidFill>
                <a:latin typeface="DejaVu Sans"/>
                <a:cs typeface="DejaVu Sans"/>
              </a:rPr>
              <a:t>•</a:t>
            </a:r>
            <a:r>
              <a:rPr dirty="0" sz="1500" spc="303">
                <a:solidFill>
                  <a:srgbClr val="4caf50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Thay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đổi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e0e0e0"/>
                </a:solidFill>
                <a:latin typeface="DejaVu Sans"/>
                <a:cs typeface="DejaVu Sans"/>
              </a:rPr>
              <a:t>mạng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(Network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change)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6518075" y="6917376"/>
            <a:ext cx="2881273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ff9800"/>
                </a:solidFill>
                <a:latin typeface="DejaVu Sans"/>
                <a:cs typeface="DejaVu Sans"/>
              </a:rPr>
              <a:t>•</a:t>
            </a:r>
            <a:r>
              <a:rPr dirty="0" sz="1500" spc="303">
                <a:solidFill>
                  <a:srgbClr val="ff9800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Con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quay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hồi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chuyển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e0e0e0"/>
                </a:solidFill>
                <a:latin typeface="DejaVu Sans"/>
                <a:cs typeface="DejaVu Sans"/>
              </a:rPr>
              <a:t>(Gyroscope)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2708076" y="7424464"/>
            <a:ext cx="91893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fca5a5"/>
                </a:solidFill>
                <a:latin typeface="DejaVu Sans"/>
                <a:cs typeface="DejaVu Sans"/>
              </a:rPr>
              <a:t>Background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3867298" y="7424464"/>
            <a:ext cx="97367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7e8f9"/>
                </a:solidFill>
                <a:latin typeface="DejaVu Sans"/>
                <a:cs typeface="DejaVu Sans"/>
              </a:rPr>
              <a:t>OS</a:t>
            </a:r>
            <a:r>
              <a:rPr dirty="0" sz="1000">
                <a:solidFill>
                  <a:srgbClr val="67e8f9"/>
                </a:solidFill>
                <a:latin typeface="DejaVu Sans"/>
                <a:cs typeface="DejaVu Sans"/>
              </a:rPr>
              <a:t> </a:t>
            </a:r>
            <a:r>
              <a:rPr dirty="0" sz="1000" spc="-17">
                <a:solidFill>
                  <a:srgbClr val="67e8f9"/>
                </a:solidFill>
                <a:latin typeface="DejaVu Sans"/>
                <a:cs typeface="DejaVu Sans"/>
              </a:rPr>
              <a:t>Triggered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6646067" y="7424464"/>
            <a:ext cx="93642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fde047"/>
                </a:solidFill>
                <a:latin typeface="DejaVu Sans"/>
                <a:cs typeface="DejaVu Sans"/>
              </a:rPr>
              <a:t>Device</a:t>
            </a:r>
            <a:r>
              <a:rPr dirty="0" sz="1000">
                <a:solidFill>
                  <a:srgbClr val="fde047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fde047"/>
                </a:solidFill>
                <a:latin typeface="DejaVu Sans"/>
                <a:cs typeface="DejaVu Sans"/>
              </a:rPr>
              <a:t>Data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7825679" y="7424464"/>
            <a:ext cx="85129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f9a8d4"/>
                </a:solidFill>
                <a:latin typeface="DejaVu Sans"/>
                <a:cs typeface="DejaVu Sans"/>
              </a:rPr>
              <a:t>Contextual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9154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482875" y="320351"/>
            <a:ext cx="5378572" cy="78308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dirty="0" sz="5050" b="1">
                <a:solidFill>
                  <a:srgbClr val="e0e0e0"/>
                </a:solidFill>
                <a:latin typeface="DejaVu Sans"/>
                <a:cs typeface="DejaVu Sans"/>
              </a:rPr>
              <a:t>Event</a:t>
            </a:r>
            <a:r>
              <a:rPr dirty="0" sz="5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5050" b="1">
                <a:solidFill>
                  <a:srgbClr val="4caf50"/>
                </a:solidFill>
                <a:latin typeface="DejaVu Sans"/>
                <a:cs typeface="DejaVu Sans"/>
              </a:rPr>
              <a:t>Listener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0999" y="1383104"/>
            <a:ext cx="2612378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ff9800"/>
                </a:solidFill>
                <a:latin typeface="DejaVu Sans"/>
                <a:cs typeface="DejaVu Sans"/>
              </a:rPr>
              <a:t>KHÁI</a:t>
            </a:r>
            <a:r>
              <a:rPr dirty="0" sz="1700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ff9800"/>
                </a:solidFill>
                <a:latin typeface="DejaVu Sans"/>
                <a:cs typeface="DejaVu Sans"/>
              </a:rPr>
              <a:t>NIỆM</a:t>
            </a:r>
            <a:r>
              <a:rPr dirty="0" sz="1700" spc="-15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ff9800"/>
                </a:solidFill>
                <a:latin typeface="DejaVu Sans"/>
                <a:cs typeface="DejaVu Sans"/>
              </a:rPr>
              <a:t>CHỦ</a:t>
            </a:r>
            <a:r>
              <a:rPr dirty="0" sz="1700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700" spc="-17" b="1">
                <a:solidFill>
                  <a:srgbClr val="ff9800"/>
                </a:solidFill>
                <a:latin typeface="DejaVu Sans"/>
                <a:cs typeface="DejaVu Sans"/>
              </a:rPr>
              <a:t>ĐẠO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66556" y="1383104"/>
            <a:ext cx="3328419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ff9800"/>
                </a:solidFill>
                <a:latin typeface="DejaVu Sans"/>
                <a:cs typeface="DejaVu Sans"/>
              </a:rPr>
              <a:t>VÍ</a:t>
            </a:r>
            <a:r>
              <a:rPr dirty="0" sz="1700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700" spc="-17" b="1">
                <a:solidFill>
                  <a:srgbClr val="ff9800"/>
                </a:solidFill>
                <a:latin typeface="DejaVu Sans"/>
                <a:cs typeface="DejaVu Sans"/>
              </a:rPr>
              <a:t>DỤ</a:t>
            </a:r>
            <a:r>
              <a:rPr dirty="0" sz="1700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ff9800"/>
                </a:solidFill>
                <a:latin typeface="DejaVu Sans"/>
                <a:cs typeface="DejaVu Sans"/>
              </a:rPr>
              <a:t>THỰC</a:t>
            </a:r>
            <a:r>
              <a:rPr dirty="0" sz="1700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ff9800"/>
                </a:solidFill>
                <a:latin typeface="DejaVu Sans"/>
                <a:cs typeface="DejaVu Sans"/>
              </a:rPr>
              <a:t>TIỄN:</a:t>
            </a:r>
            <a:r>
              <a:rPr dirty="0" sz="1700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700" b="1">
                <a:solidFill>
                  <a:srgbClr val="ff9800"/>
                </a:solidFill>
                <a:latin typeface="DejaVu Sans"/>
                <a:cs typeface="DejaVu Sans"/>
              </a:rPr>
              <a:t>BUTTON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45641" y="2212533"/>
            <a:ext cx="4252424" cy="5759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Listener</a:t>
            </a:r>
            <a:r>
              <a:rPr dirty="0" sz="1500" spc="-41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là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một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interface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được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thiết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kế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để</a:t>
            </a:r>
          </a:p>
          <a:p>
            <a:pPr marL="252114" marR="0">
              <a:lnSpc>
                <a:spcPts val="1760"/>
              </a:lnSpc>
              <a:spcBef>
                <a:spcPts val="664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`bắt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giữ`</a:t>
            </a:r>
            <a:r>
              <a:rPr dirty="0" sz="1500" spc="429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`phản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hồi`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3623" y="2571507"/>
            <a:ext cx="38371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và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657607" y="2571507"/>
            <a:ext cx="1290279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sự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kiện.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71537" y="3118163"/>
            <a:ext cx="1914651" cy="6273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Giao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diện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(Interface)</a:t>
            </a:r>
          </a:p>
          <a:p>
            <a:pPr marL="0" marR="0">
              <a:lnSpc>
                <a:spcPts val="1564"/>
              </a:lnSpc>
              <a:spcBef>
                <a:spcPts val="146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Phản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sự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kiện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71537" y="3889688"/>
            <a:ext cx="2022197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Tương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tác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587132" y="4413563"/>
            <a:ext cx="5055581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Khi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chạm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nút,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Listener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sẽ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phát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hiện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hành</a:t>
            </a:r>
          </a:p>
          <a:p>
            <a:pPr marL="2038201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50">
                <a:solidFill>
                  <a:srgbClr val="d1d5db"/>
                </a:solidFill>
                <a:latin typeface="DejaVu Sans"/>
                <a:cs typeface="DejaVu Sans"/>
              </a:rPr>
              <a:t>này.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693097" y="5266811"/>
            <a:ext cx="2571319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c9d1d9"/>
                </a:solidFill>
                <a:latin typeface="Liberation Mono"/>
                <a:cs typeface="Liberation Mono"/>
              </a:rPr>
              <a:t>button</a:t>
            </a:r>
            <a:r>
              <a:rPr dirty="0" sz="1200" spc="-15">
                <a:solidFill>
                  <a:srgbClr val="e0e0e0"/>
                </a:solidFill>
                <a:latin typeface="Liberation Mono"/>
                <a:cs typeface="Liberation Mono"/>
              </a:rPr>
              <a:t>.</a:t>
            </a:r>
            <a:r>
              <a:rPr dirty="0" sz="1200" spc="-15">
                <a:solidFill>
                  <a:srgbClr val="4caf50"/>
                </a:solidFill>
                <a:latin typeface="Liberation Mono"/>
                <a:cs typeface="Liberation Mono"/>
              </a:rPr>
              <a:t>setOnClickListener</a:t>
            </a:r>
            <a:r>
              <a:rPr dirty="0" sz="1200" spc="405">
                <a:solidFill>
                  <a:srgbClr val="4caf5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e0e0e0"/>
                </a:solidFill>
                <a:latin typeface="Liberation Mono"/>
                <a:cs typeface="Liberation Mono"/>
              </a:rPr>
              <a:t>{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051475" y="5462068"/>
            <a:ext cx="2303518" cy="22158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8b949e"/>
                </a:solidFill>
                <a:latin typeface="Liberation Mono"/>
                <a:cs typeface="Liberation Mono"/>
              </a:rPr>
              <a:t>//</a:t>
            </a:r>
            <a:r>
              <a:rPr dirty="0" sz="1200" spc="-15">
                <a:solidFill>
                  <a:srgbClr val="8b949e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8b949e"/>
                </a:solidFill>
                <a:latin typeface="Liberation Mono"/>
                <a:cs typeface="Liberation Mono"/>
              </a:rPr>
              <a:t>X</a:t>
            </a:r>
            <a:r>
              <a:rPr dirty="0" sz="1200" spc="-15">
                <a:solidFill>
                  <a:srgbClr val="8b949e"/>
                </a:solidFill>
                <a:latin typeface="DejaVu Sans Mono"/>
                <a:cs typeface="DejaVu Sans Mono"/>
              </a:rPr>
              <a:t>ử</a:t>
            </a:r>
            <a:r>
              <a:rPr dirty="0" sz="1200" spc="-15">
                <a:solidFill>
                  <a:srgbClr val="8b949e"/>
                </a:solidFill>
                <a:latin typeface="Liberation Mono"/>
                <a:cs typeface="Liberation Mono"/>
              </a:rPr>
              <a:t>lý</a:t>
            </a:r>
            <a:r>
              <a:rPr dirty="0" sz="1200" spc="-15">
                <a:solidFill>
                  <a:srgbClr val="8b949e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8b949e"/>
                </a:solidFill>
                <a:latin typeface="Liberation Mono"/>
                <a:cs typeface="Liberation Mono"/>
              </a:rPr>
              <a:t>s</a:t>
            </a:r>
            <a:r>
              <a:rPr dirty="0" sz="1200">
                <a:solidFill>
                  <a:srgbClr val="8b949e"/>
                </a:solidFill>
                <a:latin typeface="DejaVu Sans Mono"/>
                <a:cs typeface="DejaVu Sans Mono"/>
              </a:rPr>
              <a:t>ự</a:t>
            </a:r>
            <a:r>
              <a:rPr dirty="0" sz="1200" spc="391">
                <a:solidFill>
                  <a:srgbClr val="8b949e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8b949e"/>
                </a:solidFill>
                <a:latin typeface="Liberation Mono"/>
                <a:cs typeface="Liberation Mono"/>
              </a:rPr>
              <a:t>ki</a:t>
            </a:r>
            <a:r>
              <a:rPr dirty="0" sz="1200" spc="-15">
                <a:solidFill>
                  <a:srgbClr val="8b949e"/>
                </a:solidFill>
                <a:latin typeface="DejaVu Sans Mono"/>
                <a:cs typeface="DejaVu Sans Mono"/>
              </a:rPr>
              <a:t>ệ</a:t>
            </a:r>
            <a:r>
              <a:rPr dirty="0" sz="1200">
                <a:solidFill>
                  <a:srgbClr val="8b949e"/>
                </a:solidFill>
                <a:latin typeface="Liberation Mono"/>
                <a:cs typeface="Liberation Mono"/>
              </a:rPr>
              <a:t>n</a:t>
            </a:r>
            <a:r>
              <a:rPr dirty="0" sz="1200" spc="-30">
                <a:solidFill>
                  <a:srgbClr val="8b949e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8b949e"/>
                </a:solidFill>
                <a:latin typeface="Liberation Mono"/>
                <a:cs typeface="Liberation Mono"/>
              </a:rPr>
              <a:t>t</a:t>
            </a:r>
            <a:r>
              <a:rPr dirty="0" sz="1200" spc="-15">
                <a:solidFill>
                  <a:srgbClr val="8b949e"/>
                </a:solidFill>
                <a:latin typeface="DejaVu Sans Mono"/>
                <a:cs typeface="DejaVu Sans Mono"/>
              </a:rPr>
              <a:t>ạ</a:t>
            </a:r>
            <a:r>
              <a:rPr dirty="0" sz="1200">
                <a:solidFill>
                  <a:srgbClr val="8b949e"/>
                </a:solidFill>
                <a:latin typeface="Liberation Mono"/>
                <a:cs typeface="Liberation Mono"/>
              </a:rPr>
              <a:t>i</a:t>
            </a:r>
            <a:r>
              <a:rPr dirty="0" sz="1200" spc="-30">
                <a:solidFill>
                  <a:srgbClr val="8b949e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8b949e"/>
                </a:solidFill>
                <a:latin typeface="Liberation Mono"/>
                <a:cs typeface="Liberation Mono"/>
              </a:rPr>
              <a:t>đây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693097" y="5685911"/>
            <a:ext cx="242025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e0e0e0"/>
                </a:solidFill>
                <a:latin typeface="Liberation Mono"/>
                <a:cs typeface="Liberation Mono"/>
              </a:rPr>
              <a:t>}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001445" y="6281972"/>
            <a:ext cx="65014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3c5fd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837562" y="6281972"/>
            <a:ext cx="51713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d8b4fe"/>
                </a:solidFill>
                <a:latin typeface="DejaVu Sans"/>
                <a:cs typeface="DejaVu Sans"/>
              </a:rPr>
              <a:t>Kotlin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9537203" y="6281972"/>
            <a:ext cx="69118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86efac"/>
                </a:solidFill>
                <a:latin typeface="DejaVu Sans"/>
                <a:cs typeface="DejaVu Sans"/>
              </a:rPr>
              <a:t>UI</a:t>
            </a:r>
            <a:r>
              <a:rPr dirty="0" sz="1000">
                <a:solidFill>
                  <a:srgbClr val="86efac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86efac"/>
                </a:solidFill>
                <a:latin typeface="DejaVu Sans"/>
                <a:cs typeface="DejaVu Sans"/>
              </a:rPr>
              <a:t>Event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89656" y="7289358"/>
            <a:ext cx="3362133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Cơ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Chế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Xử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spc="-94" b="1">
                <a:solidFill>
                  <a:srgbClr val="e0e0e0"/>
                </a:solidFill>
                <a:latin typeface="DejaVu Sans"/>
                <a:cs typeface="DejaVu Sans"/>
              </a:rPr>
              <a:t>Lý</a:t>
            </a:r>
            <a:r>
              <a:rPr dirty="0" sz="1500" spc="107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Sự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Kiện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903535" y="7757593"/>
            <a:ext cx="3891692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 b="1">
                <a:solidFill>
                  <a:srgbClr val="e0e0e0"/>
                </a:solidFill>
                <a:latin typeface="DejaVu Sans"/>
                <a:cs typeface="DejaVu Sans"/>
              </a:rPr>
              <a:t>Events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: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Hành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của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(chạm,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vuốt).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555009" y="7757593"/>
            <a:ext cx="3407869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 b="1">
                <a:solidFill>
                  <a:srgbClr val="e0e0e0"/>
                </a:solidFill>
                <a:latin typeface="DejaVu Sans"/>
                <a:cs typeface="DejaVu Sans"/>
              </a:rPr>
              <a:t>Event</a:t>
            </a:r>
            <a:r>
              <a:rPr dirty="0" sz="12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8" b="1">
                <a:solidFill>
                  <a:srgbClr val="e0e0e0"/>
                </a:solidFill>
                <a:latin typeface="DejaVu Sans"/>
                <a:cs typeface="DejaVu Sans"/>
              </a:rPr>
              <a:t>Queue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: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Hàng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đợi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e0e0e0"/>
                </a:solidFill>
                <a:latin typeface="DejaVu Sans"/>
                <a:cs typeface="DejaVu Sans"/>
              </a:rPr>
              <a:t>FIFO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xử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lý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sự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kiện.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36699" y="8167168"/>
            <a:ext cx="711715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5">
                <a:solidFill>
                  <a:srgbClr val="9ca3af"/>
                </a:solidFill>
                <a:latin typeface="DejaVu Sans"/>
                <a:cs typeface="DejaVu Sans"/>
              </a:rPr>
              <a:t>Framework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9ca3af"/>
                </a:solidFill>
                <a:latin typeface="DejaVu Sans"/>
                <a:cs typeface="DejaVu Sans"/>
              </a:rPr>
              <a:t>Android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duy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trì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9ca3af"/>
                </a:solidFill>
                <a:latin typeface="DejaVu Sans"/>
                <a:cs typeface="DejaVu Sans"/>
              </a:rPr>
              <a:t>một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hàng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đợi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sự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kiện,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xử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lý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theo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9ca3af"/>
                </a:solidFill>
                <a:latin typeface="DejaVu Sans"/>
                <a:cs typeface="DejaVu Sans"/>
              </a:rPr>
              <a:t>cơ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chế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62">
                <a:solidFill>
                  <a:srgbClr val="9ca3af"/>
                </a:solidFill>
                <a:latin typeface="DejaVu Sans"/>
                <a:cs typeface="DejaVu Sans"/>
              </a:rPr>
              <a:t>Vào</a:t>
            </a:r>
            <a:r>
              <a:rPr dirty="0" sz="1200" spc="38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9ca3af"/>
                </a:solidFill>
                <a:latin typeface="DejaVu Sans"/>
                <a:cs typeface="DejaVu Sans"/>
              </a:rPr>
              <a:t>trước-Ra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trước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9ca3af"/>
                </a:solidFill>
                <a:latin typeface="DejaVu Sans"/>
                <a:cs typeface="DejaVu Sans"/>
              </a:rPr>
              <a:t>(FIFO).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834585" y="8617436"/>
            <a:ext cx="3168448" cy="1489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873"/>
              </a:lnSpc>
              <a:spcBef>
                <a:spcPts val="0"/>
              </a:spcBef>
              <a:spcAft>
                <a:spcPts val="0"/>
              </a:spcAft>
            </a:pPr>
            <a:r>
              <a:rPr dirty="0" sz="750">
                <a:solidFill>
                  <a:srgbClr val="6b7280"/>
                </a:solidFill>
                <a:latin typeface="DejaVu Sans"/>
                <a:cs typeface="DejaVu Sans"/>
              </a:rPr>
              <a:t>References:</a:t>
            </a:r>
            <a:r>
              <a:rPr dirty="0" sz="75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750">
                <a:solidFill>
                  <a:srgbClr val="6b7280"/>
                </a:solidFill>
                <a:latin typeface="DejaVu Sans"/>
                <a:cs typeface="DejaVu Sans"/>
              </a:rPr>
              <a:t>GeeksforGeeks,</a:t>
            </a:r>
            <a:r>
              <a:rPr dirty="0" sz="75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750">
                <a:solidFill>
                  <a:srgbClr val="6b7280"/>
                </a:solidFill>
                <a:latin typeface="DejaVu Sans"/>
                <a:cs typeface="DejaVu Sans"/>
              </a:rPr>
              <a:t>Tutorialspoint,</a:t>
            </a:r>
            <a:r>
              <a:rPr dirty="0" sz="75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750">
                <a:solidFill>
                  <a:srgbClr val="6b7280"/>
                </a:solidFill>
                <a:latin typeface="DejaVu Sans"/>
                <a:cs typeface="DejaVu Sans"/>
              </a:rPr>
              <a:t>Android</a:t>
            </a:r>
            <a:r>
              <a:rPr dirty="0" sz="75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750">
                <a:solidFill>
                  <a:srgbClr val="6b7280"/>
                </a:solidFill>
                <a:latin typeface="DejaVu Sans"/>
                <a:cs typeface="DejaVu Sans"/>
              </a:rPr>
              <a:t>Developers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9154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482875" y="320351"/>
            <a:ext cx="5378572" cy="78308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dirty="0" sz="5050" b="1">
                <a:solidFill>
                  <a:srgbClr val="e0e0e0"/>
                </a:solidFill>
                <a:latin typeface="DejaVu Sans"/>
                <a:cs typeface="DejaVu Sans"/>
              </a:rPr>
              <a:t>Event</a:t>
            </a:r>
            <a:r>
              <a:rPr dirty="0" sz="5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5050" b="1">
                <a:solidFill>
                  <a:srgbClr val="4caf50"/>
                </a:solidFill>
                <a:latin typeface="DejaVu Sans"/>
                <a:cs typeface="DejaVu Sans"/>
              </a:rPr>
              <a:t>Listener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0999" y="1383104"/>
            <a:ext cx="2612378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ff9800"/>
                </a:solidFill>
                <a:latin typeface="DejaVu Sans"/>
                <a:cs typeface="DejaVu Sans"/>
              </a:rPr>
              <a:t>KHÁI</a:t>
            </a:r>
            <a:r>
              <a:rPr dirty="0" sz="1700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ff9800"/>
                </a:solidFill>
                <a:latin typeface="DejaVu Sans"/>
                <a:cs typeface="DejaVu Sans"/>
              </a:rPr>
              <a:t>NIỆM</a:t>
            </a:r>
            <a:r>
              <a:rPr dirty="0" sz="1700" spc="-15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ff9800"/>
                </a:solidFill>
                <a:latin typeface="DejaVu Sans"/>
                <a:cs typeface="DejaVu Sans"/>
              </a:rPr>
              <a:t>CHỦ</a:t>
            </a:r>
            <a:r>
              <a:rPr dirty="0" sz="1700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700" spc="-17" b="1">
                <a:solidFill>
                  <a:srgbClr val="ff9800"/>
                </a:solidFill>
                <a:latin typeface="DejaVu Sans"/>
                <a:cs typeface="DejaVu Sans"/>
              </a:rPr>
              <a:t>ĐẠO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66556" y="1383104"/>
            <a:ext cx="3328419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ff9800"/>
                </a:solidFill>
                <a:latin typeface="DejaVu Sans"/>
                <a:cs typeface="DejaVu Sans"/>
              </a:rPr>
              <a:t>VÍ</a:t>
            </a:r>
            <a:r>
              <a:rPr dirty="0" sz="1700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700" spc="-17" b="1">
                <a:solidFill>
                  <a:srgbClr val="ff9800"/>
                </a:solidFill>
                <a:latin typeface="DejaVu Sans"/>
                <a:cs typeface="DejaVu Sans"/>
              </a:rPr>
              <a:t>DỤ</a:t>
            </a:r>
            <a:r>
              <a:rPr dirty="0" sz="1700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ff9800"/>
                </a:solidFill>
                <a:latin typeface="DejaVu Sans"/>
                <a:cs typeface="DejaVu Sans"/>
              </a:rPr>
              <a:t>THỰC</a:t>
            </a:r>
            <a:r>
              <a:rPr dirty="0" sz="1700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ff9800"/>
                </a:solidFill>
                <a:latin typeface="DejaVu Sans"/>
                <a:cs typeface="DejaVu Sans"/>
              </a:rPr>
              <a:t>TIỄN:</a:t>
            </a:r>
            <a:r>
              <a:rPr dirty="0" sz="1700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700" b="1">
                <a:solidFill>
                  <a:srgbClr val="ff9800"/>
                </a:solidFill>
                <a:latin typeface="DejaVu Sans"/>
                <a:cs typeface="DejaVu Sans"/>
              </a:rPr>
              <a:t>BUTTON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45641" y="2212533"/>
            <a:ext cx="4252424" cy="5759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Listener</a:t>
            </a:r>
            <a:r>
              <a:rPr dirty="0" sz="1500" spc="-41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là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một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interface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được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thiết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kế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để</a:t>
            </a:r>
          </a:p>
          <a:p>
            <a:pPr marL="252114" marR="0">
              <a:lnSpc>
                <a:spcPts val="1760"/>
              </a:lnSpc>
              <a:spcBef>
                <a:spcPts val="664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`bắt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giữ`</a:t>
            </a:r>
            <a:r>
              <a:rPr dirty="0" sz="1500" spc="429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`phản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hồi`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3623" y="2571507"/>
            <a:ext cx="38371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và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657607" y="2571507"/>
            <a:ext cx="1290279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sự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kiện.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71537" y="3118163"/>
            <a:ext cx="1914651" cy="6273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Giao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diện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(Interface)</a:t>
            </a:r>
          </a:p>
          <a:p>
            <a:pPr marL="0" marR="0">
              <a:lnSpc>
                <a:spcPts val="1564"/>
              </a:lnSpc>
              <a:spcBef>
                <a:spcPts val="146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Phản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sự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kiện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71537" y="3889688"/>
            <a:ext cx="2022197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Tương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tác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587132" y="4413563"/>
            <a:ext cx="5055581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Khi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chạm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nút,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Listener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sẽ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phát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hiện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hành</a:t>
            </a:r>
          </a:p>
          <a:p>
            <a:pPr marL="2038201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50">
                <a:solidFill>
                  <a:srgbClr val="d1d5db"/>
                </a:solidFill>
                <a:latin typeface="DejaVu Sans"/>
                <a:cs typeface="DejaVu Sans"/>
              </a:rPr>
              <a:t>này.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693097" y="5266811"/>
            <a:ext cx="2571319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c9d1d9"/>
                </a:solidFill>
                <a:latin typeface="Liberation Mono"/>
                <a:cs typeface="Liberation Mono"/>
              </a:rPr>
              <a:t>button</a:t>
            </a:r>
            <a:r>
              <a:rPr dirty="0" sz="1200" spc="-15">
                <a:solidFill>
                  <a:srgbClr val="e0e0e0"/>
                </a:solidFill>
                <a:latin typeface="Liberation Mono"/>
                <a:cs typeface="Liberation Mono"/>
              </a:rPr>
              <a:t>.</a:t>
            </a:r>
            <a:r>
              <a:rPr dirty="0" sz="1200" spc="-15">
                <a:solidFill>
                  <a:srgbClr val="4caf50"/>
                </a:solidFill>
                <a:latin typeface="Liberation Mono"/>
                <a:cs typeface="Liberation Mono"/>
              </a:rPr>
              <a:t>setOnClickListener</a:t>
            </a:r>
            <a:r>
              <a:rPr dirty="0" sz="1200" spc="405">
                <a:solidFill>
                  <a:srgbClr val="4caf5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e0e0e0"/>
                </a:solidFill>
                <a:latin typeface="Liberation Mono"/>
                <a:cs typeface="Liberation Mono"/>
              </a:rPr>
              <a:t>{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051475" y="5462068"/>
            <a:ext cx="2303518" cy="22158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8b949e"/>
                </a:solidFill>
                <a:latin typeface="Liberation Mono"/>
                <a:cs typeface="Liberation Mono"/>
              </a:rPr>
              <a:t>//</a:t>
            </a:r>
            <a:r>
              <a:rPr dirty="0" sz="1200" spc="-15">
                <a:solidFill>
                  <a:srgbClr val="8b949e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8b949e"/>
                </a:solidFill>
                <a:latin typeface="Liberation Mono"/>
                <a:cs typeface="Liberation Mono"/>
              </a:rPr>
              <a:t>X</a:t>
            </a:r>
            <a:r>
              <a:rPr dirty="0" sz="1200" spc="-15">
                <a:solidFill>
                  <a:srgbClr val="8b949e"/>
                </a:solidFill>
                <a:latin typeface="DejaVu Sans Mono"/>
                <a:cs typeface="DejaVu Sans Mono"/>
              </a:rPr>
              <a:t>ử</a:t>
            </a:r>
            <a:r>
              <a:rPr dirty="0" sz="1200" spc="-15">
                <a:solidFill>
                  <a:srgbClr val="8b949e"/>
                </a:solidFill>
                <a:latin typeface="Liberation Mono"/>
                <a:cs typeface="Liberation Mono"/>
              </a:rPr>
              <a:t>lý</a:t>
            </a:r>
            <a:r>
              <a:rPr dirty="0" sz="1200" spc="-15">
                <a:solidFill>
                  <a:srgbClr val="8b949e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8b949e"/>
                </a:solidFill>
                <a:latin typeface="Liberation Mono"/>
                <a:cs typeface="Liberation Mono"/>
              </a:rPr>
              <a:t>s</a:t>
            </a:r>
            <a:r>
              <a:rPr dirty="0" sz="1200">
                <a:solidFill>
                  <a:srgbClr val="8b949e"/>
                </a:solidFill>
                <a:latin typeface="DejaVu Sans Mono"/>
                <a:cs typeface="DejaVu Sans Mono"/>
              </a:rPr>
              <a:t>ự</a:t>
            </a:r>
            <a:r>
              <a:rPr dirty="0" sz="1200" spc="391">
                <a:solidFill>
                  <a:srgbClr val="8b949e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8b949e"/>
                </a:solidFill>
                <a:latin typeface="Liberation Mono"/>
                <a:cs typeface="Liberation Mono"/>
              </a:rPr>
              <a:t>ki</a:t>
            </a:r>
            <a:r>
              <a:rPr dirty="0" sz="1200" spc="-15">
                <a:solidFill>
                  <a:srgbClr val="8b949e"/>
                </a:solidFill>
                <a:latin typeface="DejaVu Sans Mono"/>
                <a:cs typeface="DejaVu Sans Mono"/>
              </a:rPr>
              <a:t>ệ</a:t>
            </a:r>
            <a:r>
              <a:rPr dirty="0" sz="1200">
                <a:solidFill>
                  <a:srgbClr val="8b949e"/>
                </a:solidFill>
                <a:latin typeface="Liberation Mono"/>
                <a:cs typeface="Liberation Mono"/>
              </a:rPr>
              <a:t>n</a:t>
            </a:r>
            <a:r>
              <a:rPr dirty="0" sz="1200" spc="-30">
                <a:solidFill>
                  <a:srgbClr val="8b949e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8b949e"/>
                </a:solidFill>
                <a:latin typeface="Liberation Mono"/>
                <a:cs typeface="Liberation Mono"/>
              </a:rPr>
              <a:t>t</a:t>
            </a:r>
            <a:r>
              <a:rPr dirty="0" sz="1200" spc="-15">
                <a:solidFill>
                  <a:srgbClr val="8b949e"/>
                </a:solidFill>
                <a:latin typeface="DejaVu Sans Mono"/>
                <a:cs typeface="DejaVu Sans Mono"/>
              </a:rPr>
              <a:t>ạ</a:t>
            </a:r>
            <a:r>
              <a:rPr dirty="0" sz="1200">
                <a:solidFill>
                  <a:srgbClr val="8b949e"/>
                </a:solidFill>
                <a:latin typeface="Liberation Mono"/>
                <a:cs typeface="Liberation Mono"/>
              </a:rPr>
              <a:t>i</a:t>
            </a:r>
            <a:r>
              <a:rPr dirty="0" sz="1200" spc="-30">
                <a:solidFill>
                  <a:srgbClr val="8b949e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8b949e"/>
                </a:solidFill>
                <a:latin typeface="Liberation Mono"/>
                <a:cs typeface="Liberation Mono"/>
              </a:rPr>
              <a:t>đây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693097" y="5685911"/>
            <a:ext cx="242025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e0e0e0"/>
                </a:solidFill>
                <a:latin typeface="Liberation Mono"/>
                <a:cs typeface="Liberation Mono"/>
              </a:rPr>
              <a:t>}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001445" y="6281972"/>
            <a:ext cx="65014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3c5fd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837562" y="6281972"/>
            <a:ext cx="51713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d8b4fe"/>
                </a:solidFill>
                <a:latin typeface="DejaVu Sans"/>
                <a:cs typeface="DejaVu Sans"/>
              </a:rPr>
              <a:t>Kotlin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9537203" y="6281972"/>
            <a:ext cx="69118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86efac"/>
                </a:solidFill>
                <a:latin typeface="DejaVu Sans"/>
                <a:cs typeface="DejaVu Sans"/>
              </a:rPr>
              <a:t>UI</a:t>
            </a:r>
            <a:r>
              <a:rPr dirty="0" sz="1000">
                <a:solidFill>
                  <a:srgbClr val="86efac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86efac"/>
                </a:solidFill>
                <a:latin typeface="DejaVu Sans"/>
                <a:cs typeface="DejaVu Sans"/>
              </a:rPr>
              <a:t>Event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89656" y="7289358"/>
            <a:ext cx="3362133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Cơ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Chế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Xử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spc="-94" b="1">
                <a:solidFill>
                  <a:srgbClr val="e0e0e0"/>
                </a:solidFill>
                <a:latin typeface="DejaVu Sans"/>
                <a:cs typeface="DejaVu Sans"/>
              </a:rPr>
              <a:t>Lý</a:t>
            </a:r>
            <a:r>
              <a:rPr dirty="0" sz="1500" spc="107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Sự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Kiện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903535" y="7757593"/>
            <a:ext cx="3891692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 b="1">
                <a:solidFill>
                  <a:srgbClr val="e0e0e0"/>
                </a:solidFill>
                <a:latin typeface="DejaVu Sans"/>
                <a:cs typeface="DejaVu Sans"/>
              </a:rPr>
              <a:t>Events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: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Hành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của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(chạm,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vuốt).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555009" y="7757593"/>
            <a:ext cx="3407869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 b="1">
                <a:solidFill>
                  <a:srgbClr val="e0e0e0"/>
                </a:solidFill>
                <a:latin typeface="DejaVu Sans"/>
                <a:cs typeface="DejaVu Sans"/>
              </a:rPr>
              <a:t>Event</a:t>
            </a:r>
            <a:r>
              <a:rPr dirty="0" sz="12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8" b="1">
                <a:solidFill>
                  <a:srgbClr val="e0e0e0"/>
                </a:solidFill>
                <a:latin typeface="DejaVu Sans"/>
                <a:cs typeface="DejaVu Sans"/>
              </a:rPr>
              <a:t>Queue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: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Hàng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đợi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e0e0e0"/>
                </a:solidFill>
                <a:latin typeface="DejaVu Sans"/>
                <a:cs typeface="DejaVu Sans"/>
              </a:rPr>
              <a:t>FIFO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xử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lý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sự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kiện.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36699" y="8167168"/>
            <a:ext cx="711715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5">
                <a:solidFill>
                  <a:srgbClr val="9ca3af"/>
                </a:solidFill>
                <a:latin typeface="DejaVu Sans"/>
                <a:cs typeface="DejaVu Sans"/>
              </a:rPr>
              <a:t>Framework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9ca3af"/>
                </a:solidFill>
                <a:latin typeface="DejaVu Sans"/>
                <a:cs typeface="DejaVu Sans"/>
              </a:rPr>
              <a:t>Android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duy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trì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9ca3af"/>
                </a:solidFill>
                <a:latin typeface="DejaVu Sans"/>
                <a:cs typeface="DejaVu Sans"/>
              </a:rPr>
              <a:t>một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hàng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đợi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sự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kiện,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xử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lý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theo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9ca3af"/>
                </a:solidFill>
                <a:latin typeface="DejaVu Sans"/>
                <a:cs typeface="DejaVu Sans"/>
              </a:rPr>
              <a:t>cơ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chế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62">
                <a:solidFill>
                  <a:srgbClr val="9ca3af"/>
                </a:solidFill>
                <a:latin typeface="DejaVu Sans"/>
                <a:cs typeface="DejaVu Sans"/>
              </a:rPr>
              <a:t>Vào</a:t>
            </a:r>
            <a:r>
              <a:rPr dirty="0" sz="1200" spc="38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9ca3af"/>
                </a:solidFill>
                <a:latin typeface="DejaVu Sans"/>
                <a:cs typeface="DejaVu Sans"/>
              </a:rPr>
              <a:t>trước-Ra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trước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9ca3af"/>
                </a:solidFill>
                <a:latin typeface="DejaVu Sans"/>
                <a:cs typeface="DejaVu Sans"/>
              </a:rPr>
              <a:t>(FIFO).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834585" y="8617436"/>
            <a:ext cx="3168448" cy="1489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873"/>
              </a:lnSpc>
              <a:spcBef>
                <a:spcPts val="0"/>
              </a:spcBef>
              <a:spcAft>
                <a:spcPts val="0"/>
              </a:spcAft>
            </a:pPr>
            <a:r>
              <a:rPr dirty="0" sz="750">
                <a:solidFill>
                  <a:srgbClr val="6b7280"/>
                </a:solidFill>
                <a:latin typeface="DejaVu Sans"/>
                <a:cs typeface="DejaVu Sans"/>
              </a:rPr>
              <a:t>References:</a:t>
            </a:r>
            <a:r>
              <a:rPr dirty="0" sz="75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750">
                <a:solidFill>
                  <a:srgbClr val="6b7280"/>
                </a:solidFill>
                <a:latin typeface="DejaVu Sans"/>
                <a:cs typeface="DejaVu Sans"/>
              </a:rPr>
              <a:t>GeeksforGeeks,</a:t>
            </a:r>
            <a:r>
              <a:rPr dirty="0" sz="75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750">
                <a:solidFill>
                  <a:srgbClr val="6b7280"/>
                </a:solidFill>
                <a:latin typeface="DejaVu Sans"/>
                <a:cs typeface="DejaVu Sans"/>
              </a:rPr>
              <a:t>Tutorialspoint,</a:t>
            </a:r>
            <a:r>
              <a:rPr dirty="0" sz="75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750">
                <a:solidFill>
                  <a:srgbClr val="6b7280"/>
                </a:solidFill>
                <a:latin typeface="DejaVu Sans"/>
                <a:cs typeface="DejaVu Sans"/>
              </a:rPr>
              <a:t>Android</a:t>
            </a:r>
            <a:r>
              <a:rPr dirty="0" sz="75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750">
                <a:solidFill>
                  <a:srgbClr val="6b7280"/>
                </a:solidFill>
                <a:latin typeface="DejaVu Sans"/>
                <a:cs typeface="DejaVu Sans"/>
              </a:rPr>
              <a:t>Developers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PresentationFormat>On-screen Show (4:3)</PresentationFormat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cp:revision>1</cp:revision>
  <dcterms:modified xsi:type="dcterms:W3CDTF">2025-08-28T03:56:07+00:00</dcterms:modified>
</cp:coreProperties>
</file>