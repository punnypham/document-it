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39515" y="320351"/>
            <a:ext cx="8665272" cy="1332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3858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Android Networking</a:t>
            </a:r>
          </a:p>
          <a:p>
            <a:pPr marL="0" marR="0">
              <a:lnSpc>
                <a:spcPts val="3520"/>
              </a:lnSpc>
              <a:spcBef>
                <a:spcPts val="804"/>
              </a:spcBef>
              <a:spcAft>
                <a:spcPts val="0"/>
              </a:spcAft>
            </a:pPr>
            <a:r>
              <a:rPr sz="3000" b="1" spc="11" dirty="0">
                <a:solidFill>
                  <a:srgbClr val="FFFFFF"/>
                </a:solidFill>
                <a:latin typeface="DejaVu Sans"/>
                <a:cs typeface="DejaVu Sans"/>
              </a:rPr>
              <a:t>(</a:t>
            </a:r>
            <a:r>
              <a:rPr sz="3000" b="1" spc="15" dirty="0">
                <a:solidFill>
                  <a:srgbClr val="00FFFF"/>
                </a:solidFill>
                <a:latin typeface="DejaVu Sans"/>
                <a:cs typeface="DejaVu Sans"/>
              </a:rPr>
              <a:t>Retroﬁt</a:t>
            </a:r>
            <a:r>
              <a:rPr sz="3000" b="1" spc="300" dirty="0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•</a:t>
            </a:r>
            <a:r>
              <a:rPr sz="3000" b="1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32CD32"/>
                </a:solidFill>
                <a:latin typeface="DejaVu Sans"/>
                <a:cs typeface="DejaVu Sans"/>
              </a:rPr>
              <a:t>OkHttp</a:t>
            </a:r>
            <a:r>
              <a:rPr sz="3000" b="1" spc="303" dirty="0">
                <a:solidFill>
                  <a:srgbClr val="32CD32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•</a:t>
            </a:r>
            <a:r>
              <a:rPr sz="3000" b="1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00FFFF"/>
                </a:solidFill>
                <a:latin typeface="DejaVu Sans"/>
                <a:cs typeface="DejaVu Sans"/>
              </a:rPr>
              <a:t>Coroutines</a:t>
            </a:r>
            <a:r>
              <a:rPr sz="3000" b="1" spc="302" dirty="0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•</a:t>
            </a:r>
            <a:r>
              <a:rPr sz="3000" b="1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32CD32"/>
                </a:solidFill>
                <a:latin typeface="DejaVu Sans"/>
                <a:cs typeface="DejaVu Sans"/>
              </a:rPr>
              <a:t>JSON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93591" y="2067395"/>
            <a:ext cx="535710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spc="-68" dirty="0">
                <a:solidFill>
                  <a:srgbClr val="FFFFFF"/>
                </a:solidFill>
                <a:latin typeface="DejaVu Sans"/>
                <a:cs typeface="DejaVu Sans"/>
              </a:rPr>
              <a:t>Tuần</a:t>
            </a:r>
            <a:r>
              <a:rPr sz="2000" spc="8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9: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 Kiến thức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nền</a:t>
            </a:r>
            <a:r>
              <a:rPr sz="2000" dirty="0">
                <a:solidFill>
                  <a:srgbClr val="FFFFFF"/>
                </a:solidFill>
                <a:latin typeface="DejaVu Sans"/>
                <a:cs typeface="DejaVu Sans"/>
              </a:rPr>
              <a:t> tảng và thực </a:t>
            </a:r>
            <a:r>
              <a:rPr sz="2000" spc="10" dirty="0">
                <a:solidFill>
                  <a:srgbClr val="FFFFFF"/>
                </a:solidFill>
                <a:latin typeface="DejaVu Sans"/>
                <a:cs typeface="DejaVu Sans"/>
              </a:rPr>
              <a:t>hành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885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78210" y="345051"/>
            <a:ext cx="8587957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4050" b="1" spc="135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405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4050" b="1" spc="141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405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4050" b="1" spc="133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405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4050" b="1" spc="134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 v</a:t>
            </a:r>
            <a:r>
              <a:rPr sz="4050" b="1" spc="246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1" dirty="0">
                <a:solidFill>
                  <a:srgbClr val="22D3EE"/>
                </a:solidFill>
                <a:latin typeface="Liberation Sans"/>
                <a:cs typeface="Liberation Sans"/>
              </a:rPr>
              <a:t>HTTP/REST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1556" y="1338830"/>
            <a:ext cx="2534190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Ph</a:t>
            </a:r>
            <a:r>
              <a:rPr sz="2000" b="1" spc="1918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Th</a:t>
            </a:r>
            <a:r>
              <a:rPr sz="2000" b="1" spc="719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A3E635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HTTP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63232" y="1338830"/>
            <a:ext cx="256235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2D3EE"/>
                </a:solidFill>
                <a:latin typeface="Liberation Sans"/>
                <a:cs typeface="Liberation Sans"/>
              </a:rPr>
              <a:t>Đ</a:t>
            </a:r>
            <a:r>
              <a:rPr sz="2000" b="1" spc="655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22D3EE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22D3EE"/>
                </a:solidFill>
                <a:latin typeface="Liberation Sans"/>
                <a:cs typeface="Liberation Sans"/>
              </a:rPr>
              <a:t>đi</a:t>
            </a:r>
            <a:r>
              <a:rPr sz="2000" b="1" spc="713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22D3EE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22D3EE"/>
                </a:solidFill>
                <a:latin typeface="Liberation Sans"/>
                <a:cs typeface="Liberation Sans"/>
              </a:rPr>
              <a:t>REST</a:t>
            </a:r>
            <a:r>
              <a:rPr sz="2000" b="1" spc="-72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22D3EE"/>
                </a:solidFill>
                <a:latin typeface="Liberation Sans"/>
                <a:cs typeface="Liberation Sans"/>
              </a:rPr>
              <a:t>API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0939" y="1764598"/>
            <a:ext cx="3756014" cy="846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Tài nguyên d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a trên URL</a:t>
            </a:r>
            <a:r>
              <a:rPr sz="1350" spc="-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(vd:</a:t>
            </a:r>
            <a:r>
              <a:rPr sz="1350" spc="33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/users/{id}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).</a:t>
            </a:r>
          </a:p>
          <a:p>
            <a:pPr marL="0" marR="0">
              <a:lnSpc>
                <a:spcPts val="1564"/>
              </a:lnSpc>
              <a:spcBef>
                <a:spcPts val="823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1350" spc="-15" dirty="0">
                <a:solidFill>
                  <a:srgbClr val="FFFFFF"/>
                </a:solidFill>
                <a:latin typeface="DejaVu Sans"/>
                <a:cs typeface="DejaVu Sans"/>
              </a:rPr>
              <a:t>ườ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s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JSON đ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trao đ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Stateless: M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yêu 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là đ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 l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22226" y="1850323"/>
            <a:ext cx="176592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y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5" dirty="0">
                <a:solidFill>
                  <a:srgbClr val="FFFFFF"/>
                </a:solidFill>
                <a:latin typeface="Liberation Sans"/>
                <a:cs typeface="Liberation Sans"/>
              </a:rPr>
              <a:t>server.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5827" y="1883345"/>
            <a:ext cx="500943" cy="128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GET</a:t>
            </a:r>
          </a:p>
          <a:p>
            <a:pPr marL="0" marR="0">
              <a:lnSpc>
                <a:spcPts val="1126"/>
              </a:lnSpc>
              <a:spcBef>
                <a:spcPts val="3273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POST</a:t>
            </a:r>
          </a:p>
          <a:p>
            <a:pPr marL="0" marR="0">
              <a:lnSpc>
                <a:spcPts val="1126"/>
              </a:lnSpc>
              <a:spcBef>
                <a:spcPts val="3223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15082" y="2412298"/>
            <a:ext cx="2598539" cy="1337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57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G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o tài nguyên m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i.</a:t>
            </a:r>
          </a:p>
          <a:p>
            <a:pPr marL="0" marR="0">
              <a:lnSpc>
                <a:spcPts val="1564"/>
              </a:lnSpc>
              <a:spcBef>
                <a:spcPts val="27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 nh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 toàn b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tài nguyên.</a:t>
            </a:r>
          </a:p>
          <a:p>
            <a:pPr marL="248989" marR="0">
              <a:lnSpc>
                <a:spcPts val="1501"/>
              </a:lnSpc>
              <a:spcBef>
                <a:spcPts val="2816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Xóa tài nguyên.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91224" y="2797480"/>
            <a:ext cx="90783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URL-based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87641" y="2797480"/>
            <a:ext cx="550720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Liberation Sans"/>
                <a:cs typeface="Liberation Sans"/>
              </a:rPr>
              <a:t>JSON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45827" y="3540695"/>
            <a:ext cx="65740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DELETE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4367780"/>
            <a:ext cx="262293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A3E635"/>
                </a:solidFill>
                <a:latin typeface="Liberation Sans"/>
                <a:cs typeface="Liberation Sans"/>
              </a:rPr>
              <a:t>Mã</a:t>
            </a:r>
            <a:r>
              <a:rPr sz="2000" b="1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-101" dirty="0">
                <a:solidFill>
                  <a:srgbClr val="A3E635"/>
                </a:solidFill>
                <a:latin typeface="Liberation Sans"/>
                <a:cs typeface="Liberation Sans"/>
              </a:rPr>
              <a:t>Tr</a:t>
            </a:r>
            <a:r>
              <a:rPr sz="2000" b="1" spc="751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A3E635"/>
                </a:solidFill>
                <a:latin typeface="Liberation Sans"/>
                <a:cs typeface="Liberation Sans"/>
              </a:rPr>
              <a:t> Thái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HTTP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76040" y="4879273"/>
            <a:ext cx="257208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Yêu 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đ</a:t>
            </a:r>
            <a:r>
              <a:rPr sz="1350" spc="-15" dirty="0">
                <a:solidFill>
                  <a:srgbClr val="FFFFFF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 x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lý thành công.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45827" y="4912295"/>
            <a:ext cx="1169352" cy="1286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2xx: Thành công</a:t>
            </a:r>
          </a:p>
          <a:p>
            <a:pPr marL="0" marR="0">
              <a:lnSpc>
                <a:spcPts val="1126"/>
              </a:lnSpc>
              <a:spcBef>
                <a:spcPts val="3273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4xx: L</a:t>
            </a:r>
            <a:r>
              <a:rPr sz="1000" b="1" spc="32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i Client</a:t>
            </a:r>
          </a:p>
          <a:p>
            <a:pPr marL="0" marR="0">
              <a:lnSpc>
                <a:spcPts val="1126"/>
              </a:lnSpc>
              <a:spcBef>
                <a:spcPts val="3223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5xx: L</a:t>
            </a:r>
            <a:r>
              <a:rPr sz="1000" b="1" spc="32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i Server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231975" y="5441248"/>
            <a:ext cx="247731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Yêu 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sai ho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 thi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quy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74986" y="5993698"/>
            <a:ext cx="219232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Server 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 s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khi x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lý.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7073410"/>
            <a:ext cx="263495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Nguyên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T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Quan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4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700" b="1" spc="6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31527" y="7531405"/>
            <a:ext cx="99060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Main-Safety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642198" y="7531405"/>
            <a:ext cx="95720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FFFFFF"/>
                </a:solidFill>
                <a:latin typeface="Liberation Sans"/>
                <a:cs typeface="Liberation Sans"/>
              </a:rPr>
              <a:t>Idempotent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89656" y="7832022"/>
            <a:ext cx="36682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Không g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network trên Main</a:t>
            </a:r>
            <a:r>
              <a:rPr sz="1350" spc="-25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Thread. S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200328" y="7832022"/>
            <a:ext cx="529886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GET</a:t>
            </a:r>
            <a:r>
              <a:rPr sz="1350" spc="-25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an toàn; l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p l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không thay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gì. POST/PUT/DELETE có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2221" y="8089197"/>
            <a:ext cx="4043565" cy="24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Mono"/>
                <a:cs typeface="Liberation Mono"/>
              </a:rPr>
              <a:t>Coroutines/Dispatchers.IO</a:t>
            </a:r>
            <a:r>
              <a:rPr sz="1350" spc="37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tránh treo UI.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00328" y="8089197"/>
            <a:ext cx="247662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ng, thay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tr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thái </a:t>
            </a:r>
            <a:r>
              <a:rPr sz="1350" spc="-15" dirty="0">
                <a:solidFill>
                  <a:srgbClr val="D1D5DB"/>
                </a:solidFill>
                <a:latin typeface="Liberation Sans"/>
                <a:cs typeface="Liberation Sans"/>
              </a:rPr>
              <a:t>server.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776417" y="8595531"/>
            <a:ext cx="422667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Ngu</a:t>
            </a:r>
            <a:r>
              <a:rPr sz="1000" spc="-11" dirty="0">
                <a:solidFill>
                  <a:srgbClr val="9CA3A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n: Best Practices of Retrofit and OkHttp, Get data from the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885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78210" y="345051"/>
            <a:ext cx="8587957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4050" b="1" spc="135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405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4050" b="1" spc="141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4050" b="1" spc="-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4050" b="1" spc="133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405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4050" b="1" spc="134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 v</a:t>
            </a:r>
            <a:r>
              <a:rPr sz="4050" b="1" spc="246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1" dirty="0">
                <a:solidFill>
                  <a:srgbClr val="22D3EE"/>
                </a:solidFill>
                <a:latin typeface="Liberation Sans"/>
                <a:cs typeface="Liberation Sans"/>
              </a:rPr>
              <a:t>HTTP/REST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1556" y="1338830"/>
            <a:ext cx="2534190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Ph</a:t>
            </a:r>
            <a:r>
              <a:rPr sz="2000" b="1" spc="1918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Th</a:t>
            </a:r>
            <a:r>
              <a:rPr sz="2000" b="1" spc="719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A3E635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HTTP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63232" y="1338830"/>
            <a:ext cx="256235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2D3EE"/>
                </a:solidFill>
                <a:latin typeface="Liberation Sans"/>
                <a:cs typeface="Liberation Sans"/>
              </a:rPr>
              <a:t>Đ</a:t>
            </a:r>
            <a:r>
              <a:rPr sz="2000" b="1" spc="655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22D3EE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22D3EE"/>
                </a:solidFill>
                <a:latin typeface="Liberation Sans"/>
                <a:cs typeface="Liberation Sans"/>
              </a:rPr>
              <a:t>đi</a:t>
            </a:r>
            <a:r>
              <a:rPr sz="2000" b="1" spc="713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22D3EE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22D3EE"/>
                </a:solidFill>
                <a:latin typeface="Liberation Sans"/>
                <a:cs typeface="Liberation Sans"/>
              </a:rPr>
              <a:t>REST</a:t>
            </a:r>
            <a:r>
              <a:rPr sz="2000" b="1" spc="-72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22D3EE"/>
                </a:solidFill>
                <a:latin typeface="Liberation Sans"/>
                <a:cs typeface="Liberation Sans"/>
              </a:rPr>
              <a:t>API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0939" y="1764598"/>
            <a:ext cx="3756014" cy="846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Tài nguyên d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a trên URL</a:t>
            </a:r>
            <a:r>
              <a:rPr sz="1350" spc="-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(vd:</a:t>
            </a:r>
            <a:r>
              <a:rPr sz="1350" spc="33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/users/{id}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).</a:t>
            </a:r>
          </a:p>
          <a:p>
            <a:pPr marL="0" marR="0">
              <a:lnSpc>
                <a:spcPts val="1564"/>
              </a:lnSpc>
              <a:spcBef>
                <a:spcPts val="823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1350" spc="-15" dirty="0">
                <a:solidFill>
                  <a:srgbClr val="FFFFFF"/>
                </a:solidFill>
                <a:latin typeface="DejaVu Sans"/>
                <a:cs typeface="DejaVu Sans"/>
              </a:rPr>
              <a:t>ườ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s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JSON đ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trao đ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Stateless: M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yêu 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là đ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 l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22226" y="1850323"/>
            <a:ext cx="176592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y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spc="-15" dirty="0">
                <a:solidFill>
                  <a:srgbClr val="FFFFFF"/>
                </a:solidFill>
                <a:latin typeface="Liberation Sans"/>
                <a:cs typeface="Liberation Sans"/>
              </a:rPr>
              <a:t>server.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5827" y="1883345"/>
            <a:ext cx="500943" cy="128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GET</a:t>
            </a:r>
          </a:p>
          <a:p>
            <a:pPr marL="0" marR="0">
              <a:lnSpc>
                <a:spcPts val="1126"/>
              </a:lnSpc>
              <a:spcBef>
                <a:spcPts val="3273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POST</a:t>
            </a:r>
          </a:p>
          <a:p>
            <a:pPr marL="0" marR="0">
              <a:lnSpc>
                <a:spcPts val="1126"/>
              </a:lnSpc>
              <a:spcBef>
                <a:spcPts val="3223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15082" y="2412298"/>
            <a:ext cx="2598539" cy="1337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57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G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t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o tài nguyên m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i.</a:t>
            </a:r>
          </a:p>
          <a:p>
            <a:pPr marL="0" marR="0">
              <a:lnSpc>
                <a:spcPts val="1564"/>
              </a:lnSpc>
              <a:spcBef>
                <a:spcPts val="27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 nh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 toàn b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tài nguyên.</a:t>
            </a:r>
          </a:p>
          <a:p>
            <a:pPr marL="248989" marR="0">
              <a:lnSpc>
                <a:spcPts val="1501"/>
              </a:lnSpc>
              <a:spcBef>
                <a:spcPts val="2816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Xóa tài nguyên.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91224" y="2797480"/>
            <a:ext cx="90783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URL-based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87641" y="2797480"/>
            <a:ext cx="550720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Liberation Sans"/>
                <a:cs typeface="Liberation Sans"/>
              </a:rPr>
              <a:t>JSON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45827" y="3540695"/>
            <a:ext cx="65740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DELETE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4367780"/>
            <a:ext cx="262293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2" dirty="0">
                <a:solidFill>
                  <a:srgbClr val="A3E635"/>
                </a:solidFill>
                <a:latin typeface="Liberation Sans"/>
                <a:cs typeface="Liberation Sans"/>
              </a:rPr>
              <a:t>Mã</a:t>
            </a:r>
            <a:r>
              <a:rPr sz="2000" b="1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-101" dirty="0">
                <a:solidFill>
                  <a:srgbClr val="A3E635"/>
                </a:solidFill>
                <a:latin typeface="Liberation Sans"/>
                <a:cs typeface="Liberation Sans"/>
              </a:rPr>
              <a:t>Tr</a:t>
            </a:r>
            <a:r>
              <a:rPr sz="2000" b="1" spc="751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A3E635"/>
                </a:solidFill>
                <a:latin typeface="Liberation Sans"/>
                <a:cs typeface="Liberation Sans"/>
              </a:rPr>
              <a:t> Thái </a:t>
            </a:r>
            <a:r>
              <a:rPr sz="2000" b="1" spc="10" dirty="0">
                <a:solidFill>
                  <a:srgbClr val="A3E635"/>
                </a:solidFill>
                <a:latin typeface="Liberation Sans"/>
                <a:cs typeface="Liberation Sans"/>
              </a:rPr>
              <a:t>HTTP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76040" y="4879273"/>
            <a:ext cx="257208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Yêu 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đ</a:t>
            </a:r>
            <a:r>
              <a:rPr sz="1350" spc="-15" dirty="0">
                <a:solidFill>
                  <a:srgbClr val="FFFFFF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 x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lý thành công.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145827" y="4912295"/>
            <a:ext cx="1169352" cy="12860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2xx: Thành công</a:t>
            </a:r>
          </a:p>
          <a:p>
            <a:pPr marL="0" marR="0">
              <a:lnSpc>
                <a:spcPts val="1126"/>
              </a:lnSpc>
              <a:spcBef>
                <a:spcPts val="3273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4xx: L</a:t>
            </a:r>
            <a:r>
              <a:rPr sz="1000" b="1" spc="32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i Client</a:t>
            </a:r>
          </a:p>
          <a:p>
            <a:pPr marL="0" marR="0">
              <a:lnSpc>
                <a:spcPts val="1126"/>
              </a:lnSpc>
              <a:spcBef>
                <a:spcPts val="3223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5xx: L</a:t>
            </a:r>
            <a:r>
              <a:rPr sz="1000" b="1" spc="32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Liberation Sans"/>
                <a:cs typeface="Liberation Sans"/>
              </a:rPr>
              <a:t>i Server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231975" y="5441248"/>
            <a:ext cx="247731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Yêu 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sai ho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 thi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 quy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74986" y="5993698"/>
            <a:ext cx="219232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Server g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p s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khi x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lý.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7073410"/>
            <a:ext cx="263495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Nguyên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T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Quan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4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700" b="1" spc="6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31527" y="7531405"/>
            <a:ext cx="99060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Main-Safety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642198" y="7531405"/>
            <a:ext cx="95720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FFFFFF"/>
                </a:solidFill>
                <a:latin typeface="Liberation Sans"/>
                <a:cs typeface="Liberation Sans"/>
              </a:rPr>
              <a:t>Idempotent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89656" y="7832022"/>
            <a:ext cx="36682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Không g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network trên Main</a:t>
            </a:r>
            <a:r>
              <a:rPr sz="1350" spc="-25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Thread. S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200328" y="7832022"/>
            <a:ext cx="529886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GET</a:t>
            </a:r>
            <a:r>
              <a:rPr sz="1350" spc="-25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an toàn; l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ặ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p l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không thay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gì. POST/PUT/DELETE có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2221" y="8089197"/>
            <a:ext cx="4043565" cy="24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Mono"/>
                <a:cs typeface="Liberation Mono"/>
              </a:rPr>
              <a:t>Coroutines/Dispatchers.IO</a:t>
            </a:r>
            <a:r>
              <a:rPr sz="1350" spc="37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tránh treo UI.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200328" y="8089197"/>
            <a:ext cx="247662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ng, thay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tr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thái </a:t>
            </a:r>
            <a:r>
              <a:rPr sz="1350" spc="-15" dirty="0">
                <a:solidFill>
                  <a:srgbClr val="D1D5DB"/>
                </a:solidFill>
                <a:latin typeface="Liberation Sans"/>
                <a:cs typeface="Liberation Sans"/>
              </a:rPr>
              <a:t>server.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776417" y="8595531"/>
            <a:ext cx="422667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Ngu</a:t>
            </a:r>
            <a:r>
              <a:rPr sz="1000" spc="-11" dirty="0">
                <a:solidFill>
                  <a:srgbClr val="9CA3A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n: Best Practices of Retrofit and OkHttp, Get data from the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784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69468" y="591490"/>
            <a:ext cx="5605229" cy="95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103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thư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viện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chính</a:t>
            </a:r>
          </a:p>
          <a:p>
            <a:pPr marL="0" marR="0">
              <a:lnSpc>
                <a:spcPts val="1955"/>
              </a:lnSpc>
              <a:spcBef>
                <a:spcPts val="514"/>
              </a:spcBef>
              <a:spcAft>
                <a:spcPts val="0"/>
              </a:spcAft>
            </a:pPr>
            <a:r>
              <a:rPr sz="1700" spc="-10" dirty="0">
                <a:solidFill>
                  <a:srgbClr val="D1D5DB"/>
                </a:solidFill>
                <a:latin typeface="DejaVu Sans"/>
                <a:cs typeface="DejaVu Sans"/>
              </a:rPr>
              <a:t>Giải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pháp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D1D5DB"/>
                </a:solidFill>
                <a:latin typeface="DejaVu Sans"/>
                <a:cs typeface="DejaVu Sans"/>
              </a:rPr>
              <a:t>mạng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lý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 dữ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liệu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 cốt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lõi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43384" y="2417645"/>
            <a:ext cx="1439833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00FFFF"/>
                </a:solidFill>
                <a:latin typeface="DejaVu Sans"/>
                <a:cs typeface="DejaVu Sans"/>
              </a:rPr>
              <a:t>OkHttp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72957" y="2417645"/>
            <a:ext cx="1536379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32CD32"/>
                </a:solidFill>
                <a:latin typeface="DejaVu Sans"/>
                <a:cs typeface="DejaVu Sans"/>
              </a:rPr>
              <a:t>Retroﬁt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493" y="3184838"/>
            <a:ext cx="475126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2" dirty="0">
                <a:solidFill>
                  <a:srgbClr val="E5E7EB"/>
                </a:solidFill>
                <a:latin typeface="DejaVu Sans"/>
                <a:cs typeface="DejaVu Sans"/>
              </a:rPr>
              <a:t>HTTP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client mạnh mẽ, là nền tảng vững chắc cho việc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giao tiếp mạng.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32065" y="3184838"/>
            <a:ext cx="445188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API client giúp tự động hóa việc tạo code giao tiếp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RESTful từ interface.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30485" y="3899968"/>
            <a:ext cx="178011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Connection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Pooling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99481" y="3899968"/>
            <a:ext cx="11050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Interceptor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292946" y="3899968"/>
            <a:ext cx="6589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Cache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140523" y="3899968"/>
            <a:ext cx="45701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TLS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60057" y="3899968"/>
            <a:ext cx="14530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31" dirty="0">
                <a:solidFill>
                  <a:srgbClr val="001F3F"/>
                </a:solidFill>
                <a:latin typeface="DejaVu Sans"/>
                <a:cs typeface="DejaVu Sans"/>
              </a:rPr>
              <a:t>Type-safe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HTTP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301929" y="3899968"/>
            <a:ext cx="112141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REST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Client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12212" y="3899968"/>
            <a:ext cx="111385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Declarative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43384" y="5208470"/>
            <a:ext cx="1945840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00FFFF"/>
                </a:solidFill>
                <a:latin typeface="DejaVu Sans"/>
                <a:cs typeface="DejaVu Sans"/>
              </a:rPr>
              <a:t>Converter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72957" y="5208470"/>
            <a:ext cx="2110186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32CD32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02493" y="5975663"/>
            <a:ext cx="453666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Chuyển đổi dữ liệu JSON từ API thành các đối tượng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Kotlin/Java.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32065" y="5975663"/>
            <a:ext cx="484193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Giải pháp hiện đại để xử lý các tác vụ bất đồng bộ một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cách tuần tự và hiệu quả.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30485" y="6690793"/>
            <a:ext cx="57281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Gson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92039" y="6690793"/>
            <a:ext cx="65004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Moshi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30834" y="6690793"/>
            <a:ext cx="183020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kotlinx-serialization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660057" y="6690793"/>
            <a:ext cx="8579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suspend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706617" y="6690793"/>
            <a:ext cx="139352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Dispatchers.IO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288362" y="6690793"/>
            <a:ext cx="54619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784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369468" y="591490"/>
            <a:ext cx="5605229" cy="95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103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thư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viện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chính</a:t>
            </a:r>
          </a:p>
          <a:p>
            <a:pPr marL="0" marR="0">
              <a:lnSpc>
                <a:spcPts val="1955"/>
              </a:lnSpc>
              <a:spcBef>
                <a:spcPts val="514"/>
              </a:spcBef>
              <a:spcAft>
                <a:spcPts val="0"/>
              </a:spcAft>
            </a:pPr>
            <a:r>
              <a:rPr sz="1700" spc="-10" dirty="0">
                <a:solidFill>
                  <a:srgbClr val="D1D5DB"/>
                </a:solidFill>
                <a:latin typeface="DejaVu Sans"/>
                <a:cs typeface="DejaVu Sans"/>
              </a:rPr>
              <a:t>Giải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pháp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D1D5DB"/>
                </a:solidFill>
                <a:latin typeface="DejaVu Sans"/>
                <a:cs typeface="DejaVu Sans"/>
              </a:rPr>
              <a:t>mạng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xử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lý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 dữ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liệu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 cốt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lõi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7" dirty="0">
                <a:solidFill>
                  <a:srgbClr val="D1D5DB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43384" y="2417645"/>
            <a:ext cx="1439833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00FFFF"/>
                </a:solidFill>
                <a:latin typeface="DejaVu Sans"/>
                <a:cs typeface="DejaVu Sans"/>
              </a:rPr>
              <a:t>OkHttp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72957" y="2417645"/>
            <a:ext cx="1536379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32CD32"/>
                </a:solidFill>
                <a:latin typeface="DejaVu Sans"/>
                <a:cs typeface="DejaVu Sans"/>
              </a:rPr>
              <a:t>Retroﬁt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2493" y="3184838"/>
            <a:ext cx="475126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2" dirty="0">
                <a:solidFill>
                  <a:srgbClr val="E5E7EB"/>
                </a:solidFill>
                <a:latin typeface="DejaVu Sans"/>
                <a:cs typeface="DejaVu Sans"/>
              </a:rPr>
              <a:t>HTTP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client mạnh mẽ, là nền tảng vững chắc cho việc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giao tiếp mạng.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32065" y="3184838"/>
            <a:ext cx="445188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API client giúp tự động hóa việc tạo code giao tiếp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RESTful từ interface.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30485" y="3899968"/>
            <a:ext cx="178011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Connection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Pooling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99481" y="3899968"/>
            <a:ext cx="11050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Interceptor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292946" y="3899968"/>
            <a:ext cx="6589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Cache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140523" y="3899968"/>
            <a:ext cx="45701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TLS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60057" y="3899968"/>
            <a:ext cx="14530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31" dirty="0">
                <a:solidFill>
                  <a:srgbClr val="001F3F"/>
                </a:solidFill>
                <a:latin typeface="DejaVu Sans"/>
                <a:cs typeface="DejaVu Sans"/>
              </a:rPr>
              <a:t>Type-safe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HTTP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301929" y="3899968"/>
            <a:ext cx="112141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REST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Client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12212" y="3899968"/>
            <a:ext cx="111385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Declarative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43384" y="5208470"/>
            <a:ext cx="1945840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00FFFF"/>
                </a:solidFill>
                <a:latin typeface="DejaVu Sans"/>
                <a:cs typeface="DejaVu Sans"/>
              </a:rPr>
              <a:t>Converter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72957" y="5208470"/>
            <a:ext cx="2110186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0" dirty="0">
                <a:solidFill>
                  <a:srgbClr val="32CD32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02493" y="5975663"/>
            <a:ext cx="453666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Chuyển đổi dữ liệu JSON từ API thành các đối tượng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Kotlin/Java.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32065" y="5975663"/>
            <a:ext cx="484193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Giải pháp hiện đại để xử lý các tác vụ bất đồng bộ một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cách tuần tự và hiệu quả.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30485" y="6690793"/>
            <a:ext cx="57281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Gson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92039" y="6690793"/>
            <a:ext cx="65004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Moshi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630834" y="6690793"/>
            <a:ext cx="183020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kotlinx-serialization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660057" y="6690793"/>
            <a:ext cx="85795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suspend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706617" y="6690793"/>
            <a:ext cx="139352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Dispatchers.IO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288362" y="6690793"/>
            <a:ext cx="54619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97310" y="412742"/>
            <a:ext cx="7749636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4050" b="1" spc="133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405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hình </a:t>
            </a:r>
            <a:r>
              <a:rPr sz="4050" b="1" spc="-10" dirty="0">
                <a:solidFill>
                  <a:srgbClr val="22D3EE"/>
                </a:solidFill>
                <a:latin typeface="Liberation Sans"/>
                <a:cs typeface="Liberation Sans"/>
              </a:rPr>
              <a:t>Gradle</a:t>
            </a:r>
            <a:r>
              <a:rPr sz="4050" b="1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22D3EE"/>
                </a:solidFill>
                <a:latin typeface="Liberation Sans"/>
                <a:cs typeface="Liberation Sans"/>
              </a:rPr>
              <a:t>Dependencies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1916" y="1644646"/>
            <a:ext cx="2669764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OkHttp 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Interceptor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74407" y="1644646"/>
            <a:ext cx="2741143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Retrofit 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Converters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009" y="2203763"/>
            <a:ext cx="487936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t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m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l</a:t>
            </a:r>
            <a:r>
              <a:rPr sz="1350" spc="-15" dirty="0">
                <a:solidFill>
                  <a:srgbClr val="D1D5DB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, 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lý và ghi l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yêu c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u/ph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89501" y="2203763"/>
            <a:ext cx="474094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Client HTTP</a:t>
            </a:r>
            <a:r>
              <a:rPr sz="1350" spc="-25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an toàn ki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u, chuy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ph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  <a:r>
              <a:rPr sz="1350" spc="-77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API sang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7009" y="2460938"/>
            <a:ext cx="43734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89501" y="2460938"/>
            <a:ext cx="112049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sz="1350" spc="-15" dirty="0">
                <a:solidFill>
                  <a:srgbClr val="D1D5DB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Kotlin.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5001" y="3246170"/>
            <a:ext cx="617155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A3E635"/>
                </a:solidFill>
                <a:latin typeface="Liberation Sans"/>
                <a:cs typeface="Liberation Sans"/>
              </a:rPr>
              <a:t>OkHttp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70905" y="3246170"/>
            <a:ext cx="1447634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A3E635"/>
                </a:solidFill>
                <a:latin typeface="Liberation Sans"/>
                <a:cs typeface="Liberation Sans"/>
              </a:rPr>
              <a:t>Logging-Interceptor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17492" y="3246170"/>
            <a:ext cx="633783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A3E635"/>
                </a:solidFill>
                <a:latin typeface="Liberation Sans"/>
                <a:cs typeface="Liberation Sans"/>
              </a:rPr>
              <a:t>Retrofit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39917" y="3246170"/>
            <a:ext cx="1031809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A3E635"/>
                </a:solidFill>
                <a:latin typeface="Liberation Sans"/>
                <a:cs typeface="Liberation Sans"/>
              </a:rPr>
              <a:t>Gson</a:t>
            </a:r>
            <a:r>
              <a:rPr sz="1200" dirty="0">
                <a:solidFill>
                  <a:srgbClr val="A3E635"/>
                </a:solidFill>
                <a:latin typeface="Liberation Sans"/>
                <a:cs typeface="Liberation Sans"/>
              </a:rPr>
              <a:t> /</a:t>
            </a:r>
            <a:r>
              <a:rPr sz="1200" spc="-14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1200" spc="-15" dirty="0">
                <a:solidFill>
                  <a:srgbClr val="A3E635"/>
                </a:solidFill>
                <a:latin typeface="Liberation Sans"/>
                <a:cs typeface="Liberation Sans"/>
              </a:rPr>
              <a:t>Moshi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21916" y="4368796"/>
            <a:ext cx="2299670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Kotlin Coroutines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74407" y="4368796"/>
            <a:ext cx="2855761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Jetpack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UI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Lifecycle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37009" y="4937438"/>
            <a:ext cx="487953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gi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hóa l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p trình 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, th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tác v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89501" y="4937438"/>
            <a:ext cx="47825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lý UI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ng,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th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danh sách và 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lý vòng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7009" y="5185088"/>
            <a:ext cx="49430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89501" y="5185088"/>
            <a:ext cx="131080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65001" y="5970320"/>
            <a:ext cx="87465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A3E635"/>
                </a:solidFill>
                <a:latin typeface="Liberation Sans"/>
                <a:cs typeface="Liberation Sans"/>
              </a:rPr>
              <a:t>Coroutines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17492" y="5970320"/>
            <a:ext cx="1057044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A3E635"/>
                </a:solidFill>
                <a:latin typeface="Liberation Sans"/>
                <a:cs typeface="Liberation Sans"/>
              </a:rPr>
              <a:t>RecyclerView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860356" y="5970320"/>
            <a:ext cx="882897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A3E635"/>
                </a:solidFill>
                <a:latin typeface="Liberation Sans"/>
                <a:cs typeface="Liberation Sans"/>
              </a:rPr>
              <a:t>ViewModel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929091" y="5970320"/>
            <a:ext cx="733472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A3E635"/>
                </a:solidFill>
                <a:latin typeface="Liberation Sans"/>
                <a:cs typeface="Liberation Sans"/>
              </a:rPr>
              <a:t>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97310" y="412742"/>
            <a:ext cx="7749636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4050" b="1" spc="133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4050" b="1" spc="-1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hình </a:t>
            </a:r>
            <a:r>
              <a:rPr sz="4050" b="1" spc="-10" dirty="0">
                <a:solidFill>
                  <a:srgbClr val="22D3EE"/>
                </a:solidFill>
                <a:latin typeface="Liberation Sans"/>
                <a:cs typeface="Liberation Sans"/>
              </a:rPr>
              <a:t>Gradle</a:t>
            </a:r>
            <a:r>
              <a:rPr sz="4050" b="1" dirty="0">
                <a:solidFill>
                  <a:srgbClr val="22D3EE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22D3EE"/>
                </a:solidFill>
                <a:latin typeface="Liberation Sans"/>
                <a:cs typeface="Liberation Sans"/>
              </a:rPr>
              <a:t>Dependencies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1916" y="1644646"/>
            <a:ext cx="2669764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OkHttp 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Interceptor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74407" y="1644646"/>
            <a:ext cx="2741143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Retrofit 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Converters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009" y="2203763"/>
            <a:ext cx="487936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t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m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l</a:t>
            </a:r>
            <a:r>
              <a:rPr sz="1350" spc="-15" dirty="0">
                <a:solidFill>
                  <a:srgbClr val="D1D5DB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, 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lý và ghi l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yêu c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u/ph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89501" y="2203763"/>
            <a:ext cx="474094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Client HTTP</a:t>
            </a:r>
            <a:r>
              <a:rPr sz="1350" spc="-25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an toàn ki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u, chuy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ph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  <a:r>
              <a:rPr sz="1350" spc="-77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API sang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7009" y="2460938"/>
            <a:ext cx="43734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89501" y="2460938"/>
            <a:ext cx="112049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sz="1350" spc="-15" dirty="0">
                <a:solidFill>
                  <a:srgbClr val="D1D5DB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Kotlin.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5001" y="3246170"/>
            <a:ext cx="617155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A3E635"/>
                </a:solidFill>
                <a:latin typeface="Liberation Sans"/>
                <a:cs typeface="Liberation Sans"/>
              </a:rPr>
              <a:t>OkHttp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70905" y="3246170"/>
            <a:ext cx="1447634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A3E635"/>
                </a:solidFill>
                <a:latin typeface="Liberation Sans"/>
                <a:cs typeface="Liberation Sans"/>
              </a:rPr>
              <a:t>Logging-Interceptor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17492" y="3246170"/>
            <a:ext cx="633783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A3E635"/>
                </a:solidFill>
                <a:latin typeface="Liberation Sans"/>
                <a:cs typeface="Liberation Sans"/>
              </a:rPr>
              <a:t>Retrofit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39917" y="3246170"/>
            <a:ext cx="1031809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A3E635"/>
                </a:solidFill>
                <a:latin typeface="Liberation Sans"/>
                <a:cs typeface="Liberation Sans"/>
              </a:rPr>
              <a:t>Gson</a:t>
            </a:r>
            <a:r>
              <a:rPr sz="1200" dirty="0">
                <a:solidFill>
                  <a:srgbClr val="A3E635"/>
                </a:solidFill>
                <a:latin typeface="Liberation Sans"/>
                <a:cs typeface="Liberation Sans"/>
              </a:rPr>
              <a:t> /</a:t>
            </a:r>
            <a:r>
              <a:rPr sz="1200" spc="-14" dirty="0">
                <a:solidFill>
                  <a:srgbClr val="A3E635"/>
                </a:solidFill>
                <a:latin typeface="Liberation Sans"/>
                <a:cs typeface="Liberation Sans"/>
              </a:rPr>
              <a:t> </a:t>
            </a:r>
            <a:r>
              <a:rPr sz="1200" spc="-15" dirty="0">
                <a:solidFill>
                  <a:srgbClr val="A3E635"/>
                </a:solidFill>
                <a:latin typeface="Liberation Sans"/>
                <a:cs typeface="Liberation Sans"/>
              </a:rPr>
              <a:t>Moshi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21916" y="4368796"/>
            <a:ext cx="2299670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Kotlin Coroutines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74407" y="4368796"/>
            <a:ext cx="2855761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Jetpack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UI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 &amp;</a:t>
            </a:r>
            <a:r>
              <a:rPr sz="2000" b="1" spc="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Lifecycle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37009" y="4937438"/>
            <a:ext cx="487953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gi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hóa l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p trình 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, th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tác v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89501" y="4937438"/>
            <a:ext cx="478253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lý UI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ng,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th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350" spc="36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danh sách và 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lý vòng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7009" y="5185088"/>
            <a:ext cx="49430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89501" y="5185088"/>
            <a:ext cx="131080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qu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65001" y="5970320"/>
            <a:ext cx="87465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A3E635"/>
                </a:solidFill>
                <a:latin typeface="Liberation Sans"/>
                <a:cs typeface="Liberation Sans"/>
              </a:rPr>
              <a:t>Coroutines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17492" y="5970320"/>
            <a:ext cx="1057044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A3E635"/>
                </a:solidFill>
                <a:latin typeface="Liberation Sans"/>
                <a:cs typeface="Liberation Sans"/>
              </a:rPr>
              <a:t>RecyclerView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860356" y="5970320"/>
            <a:ext cx="882897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A3E635"/>
                </a:solidFill>
                <a:latin typeface="Liberation Sans"/>
                <a:cs typeface="Liberation Sans"/>
              </a:rPr>
              <a:t>ViewModel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929091" y="5970320"/>
            <a:ext cx="733472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A3E635"/>
                </a:solidFill>
                <a:latin typeface="Liberation Sans"/>
                <a:cs typeface="Liberation Sans"/>
              </a:rPr>
              <a:t>Lifecycle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54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70322" y="381940"/>
            <a:ext cx="860367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000000"/>
                </a:solidFill>
                <a:latin typeface="DejaVu Sans"/>
                <a:cs typeface="DejaVu Sans"/>
              </a:rPr>
              <a:t>Định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00"/>
                </a:solidFill>
                <a:latin typeface="DejaVu Sans"/>
                <a:cs typeface="DejaVu Sans"/>
              </a:rPr>
              <a:t>nghĩa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00"/>
                </a:solidFill>
                <a:latin typeface="DejaVu Sans"/>
                <a:cs typeface="DejaVu Sans"/>
              </a:rPr>
              <a:t>Data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0000"/>
                </a:solidFill>
                <a:latin typeface="DejaVu Sans"/>
                <a:cs typeface="DejaVu Sans"/>
              </a:rPr>
              <a:t>Model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00"/>
                </a:solidFill>
                <a:latin typeface="DejaVu Sans"/>
                <a:cs typeface="DejaVu Sans"/>
              </a:rPr>
              <a:t>(DTO)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32065" y="1525979"/>
            <a:ext cx="3339651" cy="300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Ví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FFFF"/>
                </a:solidFill>
                <a:latin typeface="Liberation Mono"/>
                <a:cs typeface="Liberation Mono"/>
              </a:rPr>
              <a:t>PostDto</a:t>
            </a:r>
            <a:r>
              <a:rPr sz="1700" b="1" spc="160" dirty="0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4313" y="1714970"/>
            <a:ext cx="430742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Data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Model: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trúc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17344" y="2067698"/>
            <a:ext cx="2199864" cy="736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data class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PostDto(</a:t>
            </a:r>
          </a:p>
          <a:p>
            <a:pPr marL="409426" marR="0">
              <a:lnSpc>
                <a:spcPts val="1522"/>
              </a:lnSpc>
              <a:spcBef>
                <a:spcPts val="477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val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userId: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Int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</a:p>
          <a:p>
            <a:pPr marL="409426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val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id: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Int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2199" y="2393508"/>
            <a:ext cx="4841509" cy="1156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DTOs (Data </a:t>
            </a:r>
            <a:r>
              <a:rPr sz="1500" spc="-21" dirty="0">
                <a:solidFill>
                  <a:srgbClr val="D1D5DB"/>
                </a:solidFill>
                <a:latin typeface="DejaVu Sans"/>
                <a:cs typeface="DejaVu Sans"/>
              </a:rPr>
              <a:t>Transfer</a:t>
            </a:r>
            <a:r>
              <a:rPr sz="1500" spc="3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Objects) là các lớp đơn giản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định nghĩa cấu trúc dữ liệu, dùng để vận chuyển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dữ liệu giữa các tầng trong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ứng dụng, đặc biệt là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khi giao tiếp với API.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17344" y="2829698"/>
            <a:ext cx="2404502" cy="745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9426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val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title: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String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</a:p>
          <a:p>
            <a:pPr marL="409426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val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body: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String</a:t>
            </a:r>
          </a:p>
          <a:p>
            <a:pPr marL="0" marR="0">
              <a:lnSpc>
                <a:spcPts val="1522"/>
              </a:lnSpc>
              <a:spcBef>
                <a:spcPts val="552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0517" y="4183454"/>
            <a:ext cx="4017224" cy="1229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việc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truyền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liệu</a:t>
            </a:r>
          </a:p>
          <a:p>
            <a:pPr marL="0" marR="0">
              <a:lnSpc>
                <a:spcPts val="1955"/>
              </a:lnSpc>
              <a:spcBef>
                <a:spcPts val="1669"/>
              </a:spcBef>
              <a:spcAft>
                <a:spcPts val="0"/>
              </a:spcAft>
            </a:pP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dạng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nhất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quán</a:t>
            </a:r>
          </a:p>
          <a:p>
            <a:pPr marL="0" marR="0">
              <a:lnSpc>
                <a:spcPts val="1955"/>
              </a:lnSpc>
              <a:spcBef>
                <a:spcPts val="1794"/>
              </a:spcBef>
              <a:spcAft>
                <a:spcPts val="0"/>
              </a:spcAft>
            </a:pP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34" dirty="0">
                <a:solidFill>
                  <a:srgbClr val="FFFFFF"/>
                </a:solidFill>
                <a:latin typeface="DejaVu Sans"/>
                <a:cs typeface="DejaVu Sans"/>
              </a:rPr>
              <a:t>Type-Safety</a:t>
            </a:r>
            <a:r>
              <a:rPr sz="170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(An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kiểu)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17926" y="6375713"/>
            <a:ext cx="5655802" cy="101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Data Class hỗ trợ mapping với JSON, đảm bảo dữ liệu từ API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được chuyển đổi chính xác sang đối tượng </a:t>
            </a:r>
            <a:r>
              <a:rPr sz="1350" spc="-14" dirty="0">
                <a:solidFill>
                  <a:srgbClr val="D1D5DB"/>
                </a:solidFill>
                <a:latin typeface="DejaVu Sans"/>
                <a:cs typeface="DejaVu Sans"/>
              </a:rPr>
              <a:t>Kotlin,</a:t>
            </a:r>
            <a:r>
              <a:rPr sz="1350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dùng với thư viện như Gson hoặc kotlinx.serialization.</a:t>
            </a:r>
          </a:p>
          <a:p>
            <a:pPr marL="1676696" marR="0">
              <a:lnSpc>
                <a:spcPts val="1173"/>
              </a:lnSpc>
              <a:spcBef>
                <a:spcPts val="922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Get data from</a:t>
            </a:r>
            <a:r>
              <a:rPr sz="1000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the internet (developer.android.com)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54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70322" y="381940"/>
            <a:ext cx="860367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000000"/>
                </a:solidFill>
                <a:latin typeface="DejaVu Sans"/>
                <a:cs typeface="DejaVu Sans"/>
              </a:rPr>
              <a:t>Định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00"/>
                </a:solidFill>
                <a:latin typeface="DejaVu Sans"/>
                <a:cs typeface="DejaVu Sans"/>
              </a:rPr>
              <a:t>nghĩa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0000"/>
                </a:solidFill>
                <a:latin typeface="DejaVu Sans"/>
                <a:cs typeface="DejaVu Sans"/>
              </a:rPr>
              <a:t>Data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0000"/>
                </a:solidFill>
                <a:latin typeface="DejaVu Sans"/>
                <a:cs typeface="DejaVu Sans"/>
              </a:rPr>
              <a:t>Model</a:t>
            </a:r>
            <a:r>
              <a:rPr sz="4050" b="1" dirty="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0000"/>
                </a:solidFill>
                <a:latin typeface="DejaVu Sans"/>
                <a:cs typeface="DejaVu Sans"/>
              </a:rPr>
              <a:t>(DTO)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32065" y="1525979"/>
            <a:ext cx="3339651" cy="300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Ví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FFFF"/>
                </a:solidFill>
                <a:latin typeface="Liberation Mono"/>
                <a:cs typeface="Liberation Mono"/>
              </a:rPr>
              <a:t>PostDto</a:t>
            </a:r>
            <a:r>
              <a:rPr sz="1700" b="1" spc="160" dirty="0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4313" y="1714970"/>
            <a:ext cx="430742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Data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Model: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trúc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17344" y="2067698"/>
            <a:ext cx="2199864" cy="7362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data class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PostDto(</a:t>
            </a:r>
          </a:p>
          <a:p>
            <a:pPr marL="409426" marR="0">
              <a:lnSpc>
                <a:spcPts val="1522"/>
              </a:lnSpc>
              <a:spcBef>
                <a:spcPts val="477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val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userId: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Int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</a:p>
          <a:p>
            <a:pPr marL="409426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val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id: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Int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2199" y="2393508"/>
            <a:ext cx="4841509" cy="1156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DTOs (Data </a:t>
            </a:r>
            <a:r>
              <a:rPr sz="1500" spc="-21" dirty="0">
                <a:solidFill>
                  <a:srgbClr val="D1D5DB"/>
                </a:solidFill>
                <a:latin typeface="DejaVu Sans"/>
                <a:cs typeface="DejaVu Sans"/>
              </a:rPr>
              <a:t>Transfer</a:t>
            </a:r>
            <a:r>
              <a:rPr sz="1500" spc="3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Objects) là các lớp đơn giản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định nghĩa cấu trúc dữ liệu, dùng để vận chuyển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dữ liệu giữa các tầng trong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ứng dụng, đặc biệt là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khi giao tiếp với API.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17344" y="2829698"/>
            <a:ext cx="2404502" cy="7458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9426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val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title: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String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,</a:t>
            </a:r>
          </a:p>
          <a:p>
            <a:pPr marL="409426" marR="0">
              <a:lnSpc>
                <a:spcPts val="1522"/>
              </a:lnSpc>
              <a:spcBef>
                <a:spcPts val="502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Liberation Mono"/>
                <a:cs typeface="Liberation Mono"/>
              </a:rPr>
              <a:t>val </a:t>
            </a: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body: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String</a:t>
            </a:r>
          </a:p>
          <a:p>
            <a:pPr marL="0" marR="0">
              <a:lnSpc>
                <a:spcPts val="1522"/>
              </a:lnSpc>
              <a:spcBef>
                <a:spcPts val="552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10517" y="4183454"/>
            <a:ext cx="4017224" cy="1229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cho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việc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truyền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liệu</a:t>
            </a:r>
          </a:p>
          <a:p>
            <a:pPr marL="0" marR="0">
              <a:lnSpc>
                <a:spcPts val="1955"/>
              </a:lnSpc>
              <a:spcBef>
                <a:spcPts val="1669"/>
              </a:spcBef>
              <a:spcAft>
                <a:spcPts val="0"/>
              </a:spcAft>
            </a:pP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dạng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nhất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quán</a:t>
            </a:r>
          </a:p>
          <a:p>
            <a:pPr marL="0" marR="0">
              <a:lnSpc>
                <a:spcPts val="1955"/>
              </a:lnSpc>
              <a:spcBef>
                <a:spcPts val="1794"/>
              </a:spcBef>
              <a:spcAft>
                <a:spcPts val="0"/>
              </a:spcAft>
            </a:pPr>
            <a:r>
              <a:rPr sz="1700" spc="-14" dirty="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sz="1700" spc="-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34" dirty="0">
                <a:solidFill>
                  <a:srgbClr val="FFFFFF"/>
                </a:solidFill>
                <a:latin typeface="DejaVu Sans"/>
                <a:cs typeface="DejaVu Sans"/>
              </a:rPr>
              <a:t>Type-Safety</a:t>
            </a:r>
            <a:r>
              <a:rPr sz="170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(An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  <a:r>
              <a:rPr sz="17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DejaVu Sans"/>
                <a:cs typeface="DejaVu Sans"/>
              </a:rPr>
              <a:t>kiểu)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17926" y="6375713"/>
            <a:ext cx="5655802" cy="1017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Data Class hỗ trợ mapping với JSON, đảm bảo dữ liệu từ API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được chuyển đổi chính xác sang đối tượng </a:t>
            </a:r>
            <a:r>
              <a:rPr sz="1350" spc="-14" dirty="0">
                <a:solidFill>
                  <a:srgbClr val="D1D5DB"/>
                </a:solidFill>
                <a:latin typeface="DejaVu Sans"/>
                <a:cs typeface="DejaVu Sans"/>
              </a:rPr>
              <a:t>Kotlin,</a:t>
            </a:r>
            <a:r>
              <a:rPr sz="1350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thường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dùng với thư viện như Gson hoặc kotlinx.serialization.</a:t>
            </a:r>
          </a:p>
          <a:p>
            <a:pPr marL="1676696" marR="0">
              <a:lnSpc>
                <a:spcPts val="1173"/>
              </a:lnSpc>
              <a:spcBef>
                <a:spcPts val="922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Source: Get data from</a:t>
            </a:r>
            <a:r>
              <a:rPr sz="1000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the internet (developer.android.com)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9180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2791"/>
            <a:ext cx="9331068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9CA3AF"/>
                </a:solidFill>
                <a:latin typeface="DejaVu Sans"/>
                <a:cs typeface="DejaVu Sans"/>
              </a:rPr>
              <a:t>#06</a:t>
            </a:r>
            <a:r>
              <a:rPr sz="4050" b="1" spc="11341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lập 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OkHttpClient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7334" y="1380072"/>
            <a:ext cx="4474488" cy="959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Ghi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Log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27" dirty="0">
                <a:solidFill>
                  <a:srgbClr val="FFFFFF"/>
                </a:solidFill>
                <a:latin typeface="DejaVu Sans"/>
                <a:cs typeface="DejaVu Sans"/>
              </a:rPr>
              <a:t>HTTP</a:t>
            </a:r>
            <a:r>
              <a:rPr sz="20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(DEBUG)</a:t>
            </a:r>
          </a:p>
          <a:p>
            <a:pPr marL="0" marR="0">
              <a:lnSpc>
                <a:spcPts val="1760"/>
              </a:lnSpc>
              <a:spcBef>
                <a:spcPts val="796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Cấu hình HttpLoggingInterceptor chỉ cho môi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trường DEBUG.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8894" y="1380072"/>
            <a:ext cx="262028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Header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Mặc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18894" y="1772860"/>
            <a:ext cx="4446843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Thêm các header như Accept, User-Agent</a:t>
            </a:r>
            <a:r>
              <a:rPr sz="1500" spc="1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đồng nhất yêu cầu.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3712" y="2567355"/>
            <a:ext cx="643055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7" dirty="0">
                <a:solidFill>
                  <a:srgbClr val="FFFFFF"/>
                </a:solidFill>
                <a:latin typeface="DejaVu Sans"/>
                <a:cs typeface="DejaVu Sans"/>
              </a:rPr>
              <a:t>DEBUG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59011" y="2567355"/>
            <a:ext cx="1751796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HttpLoggingInterceptor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15273" y="2567355"/>
            <a:ext cx="911577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Interceptor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46081" y="2567355"/>
            <a:ext cx="619995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Accept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85931" y="2567355"/>
            <a:ext cx="916775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User-Agent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97334" y="3466047"/>
            <a:ext cx="292588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Thiết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Lập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Timeouts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18894" y="3466047"/>
            <a:ext cx="246153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20" dirty="0">
                <a:solidFill>
                  <a:srgbClr val="FFFFFF"/>
                </a:solidFill>
                <a:latin typeface="DejaVu Sans"/>
                <a:cs typeface="DejaVu Sans"/>
              </a:rPr>
              <a:t>Xây</a:t>
            </a:r>
            <a:r>
              <a:rPr sz="2000" b="1" spc="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Dựng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Client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97334" y="3858835"/>
            <a:ext cx="443766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Xác định thời gian chờ kết nối, đọc và ghi dữ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18894" y="3858835"/>
            <a:ext cx="4596183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Tạo instance OkHttpClient với các cấu hình đã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tích hợp.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3712" y="4653330"/>
            <a:ext cx="630668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5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46659" y="4653330"/>
            <a:ext cx="922884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7" dirty="0">
                <a:solidFill>
                  <a:srgbClr val="FFFFFF"/>
                </a:solidFill>
                <a:latin typeface="DejaVu Sans"/>
                <a:cs typeface="DejaVu Sans"/>
              </a:rPr>
              <a:t>Đọc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91755" y="4653330"/>
            <a:ext cx="888766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7" dirty="0">
                <a:solidFill>
                  <a:srgbClr val="FFFFFF"/>
                </a:solidFill>
                <a:latin typeface="DejaVu Sans"/>
                <a:cs typeface="DejaVu Sans"/>
              </a:rPr>
              <a:t>Ghi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15273" y="4653330"/>
            <a:ext cx="1556454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2" dirty="0">
                <a:solidFill>
                  <a:srgbClr val="FFFFFF"/>
                </a:solidFill>
                <a:latin typeface="DejaVu Sans"/>
                <a:cs typeface="DejaVu Sans"/>
              </a:rPr>
              <a:t>OkHttpClient.Builder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93781" y="4653330"/>
            <a:ext cx="1412808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4" dirty="0">
                <a:solidFill>
                  <a:srgbClr val="FFFFFF"/>
                </a:solidFill>
                <a:latin typeface="DejaVu Sans"/>
                <a:cs typeface="DejaVu Sans"/>
              </a:rPr>
              <a:t>Chain</a:t>
            </a: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 Interceptors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02927" y="6659185"/>
            <a:ext cx="5317521" cy="880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"OkHttp là </a:t>
            </a:r>
            <a:r>
              <a:rPr sz="1500" dirty="0">
                <a:solidFill>
                  <a:srgbClr val="00FFFF"/>
                </a:solidFill>
                <a:latin typeface="DejaVu Sans"/>
                <a:cs typeface="DejaVu Sans"/>
              </a:rPr>
              <a:t>nền tảng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cho networking </a:t>
            </a:r>
            <a:r>
              <a:rPr sz="1500" dirty="0">
                <a:solidFill>
                  <a:srgbClr val="00FFFF"/>
                </a:solidFill>
                <a:latin typeface="DejaVu Sans"/>
                <a:cs typeface="DejaVu Sans"/>
              </a:rPr>
              <a:t>mạnh </a:t>
            </a:r>
            <a:r>
              <a:rPr sz="1500" spc="10" dirty="0">
                <a:solidFill>
                  <a:srgbClr val="00FFFF"/>
                </a:solidFill>
                <a:latin typeface="DejaVu Sans"/>
                <a:cs typeface="DejaVu Sans"/>
              </a:rPr>
              <a:t>mẽ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. Cấu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hình đúng đảm bảo </a:t>
            </a:r>
            <a:r>
              <a:rPr sz="1500" dirty="0">
                <a:solidFill>
                  <a:srgbClr val="00FFFF"/>
                </a:solidFill>
                <a:latin typeface="DejaVu Sans"/>
                <a:cs typeface="DejaVu Sans"/>
              </a:rPr>
              <a:t>tính ổn định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và </a:t>
            </a:r>
            <a:r>
              <a:rPr sz="1500" dirty="0">
                <a:solidFill>
                  <a:srgbClr val="00FFFF"/>
                </a:solidFill>
                <a:latin typeface="DejaVu Sans"/>
                <a:cs typeface="DejaVu Sans"/>
              </a:rPr>
              <a:t>dễ debug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."</a:t>
            </a:r>
          </a:p>
          <a:p>
            <a:pPr marL="2524273" marR="0">
              <a:lnSpc>
                <a:spcPts val="1368"/>
              </a:lnSpc>
              <a:spcBef>
                <a:spcPts val="1051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Best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Practices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9CA3AF"/>
                </a:solidFill>
                <a:latin typeface="DejaVu Sans"/>
                <a:cs typeface="DejaVu Sans"/>
              </a:rPr>
              <a:t>Retroﬁt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&amp;</a:t>
            </a:r>
            <a:r>
              <a:rPr sz="1200" spc="-27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DejaVu Sans"/>
                <a:cs typeface="DejaVu Sans"/>
              </a:rPr>
              <a:t>OkHttp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97064" y="8928398"/>
            <a:ext cx="827672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Best Practices of Retroﬁt</a:t>
            </a:r>
            <a:r>
              <a:rPr sz="1000" spc="11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and OkHttp in Android Development, Comparison of Android networking libraries: OkHTTP,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9180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2791"/>
            <a:ext cx="9331068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9CA3AF"/>
                </a:solidFill>
                <a:latin typeface="DejaVu Sans"/>
                <a:cs typeface="DejaVu Sans"/>
              </a:rPr>
              <a:t>#06</a:t>
            </a:r>
            <a:r>
              <a:rPr sz="4050" b="1" spc="11341" dirty="0">
                <a:solidFill>
                  <a:srgbClr val="9CA3AF"/>
                </a:solidFill>
                <a:latin typeface="Times New Roman"/>
                <a:cs typeface="Times New Roman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Thiết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lập 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OkHttpClient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7334" y="1380072"/>
            <a:ext cx="4474488" cy="959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Ghi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Log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27" dirty="0">
                <a:solidFill>
                  <a:srgbClr val="FFFFFF"/>
                </a:solidFill>
                <a:latin typeface="DejaVu Sans"/>
                <a:cs typeface="DejaVu Sans"/>
              </a:rPr>
              <a:t>HTTP</a:t>
            </a:r>
            <a:r>
              <a:rPr sz="20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(DEBUG)</a:t>
            </a:r>
          </a:p>
          <a:p>
            <a:pPr marL="0" marR="0">
              <a:lnSpc>
                <a:spcPts val="1760"/>
              </a:lnSpc>
              <a:spcBef>
                <a:spcPts val="796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Cấu hình HttpLoggingInterceptor chỉ cho môi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trường DEBUG.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18894" y="1380072"/>
            <a:ext cx="262028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Header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Mặc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18894" y="1772860"/>
            <a:ext cx="4446843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Thêm các header như Accept, User-Agent</a:t>
            </a:r>
            <a:r>
              <a:rPr sz="1500" spc="1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đồng nhất yêu cầu.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3712" y="2567355"/>
            <a:ext cx="643055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7" dirty="0">
                <a:solidFill>
                  <a:srgbClr val="FFFFFF"/>
                </a:solidFill>
                <a:latin typeface="DejaVu Sans"/>
                <a:cs typeface="DejaVu Sans"/>
              </a:rPr>
              <a:t>DEBUG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59011" y="2567355"/>
            <a:ext cx="1751796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HttpLoggingInterceptor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15273" y="2567355"/>
            <a:ext cx="911577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Interceptor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46081" y="2567355"/>
            <a:ext cx="619995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Accept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85931" y="2567355"/>
            <a:ext cx="916775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User-Agent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97334" y="3466047"/>
            <a:ext cx="292588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Thiết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Lập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Timeouts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118894" y="3466047"/>
            <a:ext cx="246153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20" dirty="0">
                <a:solidFill>
                  <a:srgbClr val="FFFFFF"/>
                </a:solidFill>
                <a:latin typeface="DejaVu Sans"/>
                <a:cs typeface="DejaVu Sans"/>
              </a:rPr>
              <a:t>Xây</a:t>
            </a:r>
            <a:r>
              <a:rPr sz="2000" b="1" spc="3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Dựng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Client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97334" y="3858835"/>
            <a:ext cx="443766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Xác định thời gian chờ kết nối, đọc và ghi dữ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118894" y="3858835"/>
            <a:ext cx="4596183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Tạo instance OkHttpClient với các cấu hình đã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tích hợp.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93712" y="4653330"/>
            <a:ext cx="630668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5" dirty="0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46659" y="4653330"/>
            <a:ext cx="922884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7" dirty="0">
                <a:solidFill>
                  <a:srgbClr val="FFFFFF"/>
                </a:solidFill>
                <a:latin typeface="DejaVu Sans"/>
                <a:cs typeface="DejaVu Sans"/>
              </a:rPr>
              <a:t>Đọc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91755" y="4653330"/>
            <a:ext cx="888766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7" dirty="0">
                <a:solidFill>
                  <a:srgbClr val="FFFFFF"/>
                </a:solidFill>
                <a:latin typeface="DejaVu Sans"/>
                <a:cs typeface="DejaVu Sans"/>
              </a:rPr>
              <a:t>Ghi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0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15273" y="4653330"/>
            <a:ext cx="1556454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2" dirty="0">
                <a:solidFill>
                  <a:srgbClr val="FFFFFF"/>
                </a:solidFill>
                <a:latin typeface="DejaVu Sans"/>
                <a:cs typeface="DejaVu Sans"/>
              </a:rPr>
              <a:t>OkHttpClient.Builder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93781" y="4653330"/>
            <a:ext cx="1412808" cy="19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51"/>
              </a:lnSpc>
              <a:spcBef>
                <a:spcPts val="0"/>
              </a:spcBef>
              <a:spcAft>
                <a:spcPts val="0"/>
              </a:spcAft>
            </a:pPr>
            <a:r>
              <a:rPr sz="1050" spc="14" dirty="0">
                <a:solidFill>
                  <a:srgbClr val="FFFFFF"/>
                </a:solidFill>
                <a:latin typeface="DejaVu Sans"/>
                <a:cs typeface="DejaVu Sans"/>
              </a:rPr>
              <a:t>Chain</a:t>
            </a:r>
            <a:r>
              <a:rPr sz="1050" spc="10" dirty="0">
                <a:solidFill>
                  <a:srgbClr val="FFFFFF"/>
                </a:solidFill>
                <a:latin typeface="DejaVu Sans"/>
                <a:cs typeface="DejaVu Sans"/>
              </a:rPr>
              <a:t> Interceptors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02927" y="6659185"/>
            <a:ext cx="5317521" cy="880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"OkHttp là </a:t>
            </a:r>
            <a:r>
              <a:rPr sz="1500" dirty="0">
                <a:solidFill>
                  <a:srgbClr val="00FFFF"/>
                </a:solidFill>
                <a:latin typeface="DejaVu Sans"/>
                <a:cs typeface="DejaVu Sans"/>
              </a:rPr>
              <a:t>nền tảng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cho networking </a:t>
            </a:r>
            <a:r>
              <a:rPr sz="1500" dirty="0">
                <a:solidFill>
                  <a:srgbClr val="00FFFF"/>
                </a:solidFill>
                <a:latin typeface="DejaVu Sans"/>
                <a:cs typeface="DejaVu Sans"/>
              </a:rPr>
              <a:t>mạnh </a:t>
            </a:r>
            <a:r>
              <a:rPr sz="1500" spc="10" dirty="0">
                <a:solidFill>
                  <a:srgbClr val="00FFFF"/>
                </a:solidFill>
                <a:latin typeface="DejaVu Sans"/>
                <a:cs typeface="DejaVu Sans"/>
              </a:rPr>
              <a:t>mẽ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. Cấu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hình đúng đảm bảo </a:t>
            </a:r>
            <a:r>
              <a:rPr sz="1500" dirty="0">
                <a:solidFill>
                  <a:srgbClr val="00FFFF"/>
                </a:solidFill>
                <a:latin typeface="DejaVu Sans"/>
                <a:cs typeface="DejaVu Sans"/>
              </a:rPr>
              <a:t>tính ổn định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và </a:t>
            </a:r>
            <a:r>
              <a:rPr sz="1500" dirty="0">
                <a:solidFill>
                  <a:srgbClr val="00FFFF"/>
                </a:solidFill>
                <a:latin typeface="DejaVu Sans"/>
                <a:cs typeface="DejaVu Sans"/>
              </a:rPr>
              <a:t>dễ debug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."</a:t>
            </a:r>
          </a:p>
          <a:p>
            <a:pPr marL="2524273" marR="0">
              <a:lnSpc>
                <a:spcPts val="1368"/>
              </a:lnSpc>
              <a:spcBef>
                <a:spcPts val="1051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Best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Practices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DejaVu Sans"/>
                <a:cs typeface="DejaVu Sans"/>
              </a:rPr>
              <a:t>for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27" dirty="0">
                <a:solidFill>
                  <a:srgbClr val="9CA3AF"/>
                </a:solidFill>
                <a:latin typeface="DejaVu Sans"/>
                <a:cs typeface="DejaVu Sans"/>
              </a:rPr>
              <a:t>Retroﬁt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&amp;</a:t>
            </a:r>
            <a:r>
              <a:rPr sz="1200" spc="-27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9CA3AF"/>
                </a:solidFill>
                <a:latin typeface="DejaVu Sans"/>
                <a:cs typeface="DejaVu Sans"/>
              </a:rPr>
              <a:t>OkHttp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897064" y="8928398"/>
            <a:ext cx="827672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Best Practices of Retroﬁt</a:t>
            </a:r>
            <a:r>
              <a:rPr sz="1000" spc="11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and OkHttp in Android Development, Comparison of Android networking libraries: OkHTTP,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99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46209"/>
            <a:ext cx="5640899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Retroﬁt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FFFFFF"/>
                </a:solidFill>
                <a:latin typeface="DejaVu Sans"/>
                <a:cs typeface="DejaVu Sans"/>
              </a:rPr>
              <a:t>Service</a:t>
            </a:r>
            <a:r>
              <a:rPr sz="3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FFFF"/>
                </a:solidFill>
                <a:latin typeface="DejaVu Sans"/>
                <a:cs typeface="DejaVu Sans"/>
              </a:rPr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7066" y="1092702"/>
            <a:ext cx="2123346" cy="4168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interface</a:t>
            </a:r>
            <a:r>
              <a:rPr sz="1200" spc="407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ApiService</a:t>
            </a:r>
            <a:r>
              <a:rPr sz="1200" spc="405" dirty="0">
                <a:solidFill>
                  <a:srgbClr val="FFCB6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2E8F0"/>
                </a:solidFill>
                <a:latin typeface="Liberation Mono"/>
                <a:cs typeface="Liberation Mono"/>
              </a:rPr>
              <a:t>{</a:t>
            </a:r>
          </a:p>
          <a:p>
            <a:pPr marL="358378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@GET("posts")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58893" y="1315025"/>
            <a:ext cx="302381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Cấu trúc định kiểu an toàn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5444" y="1521327"/>
            <a:ext cx="3198448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suspend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fun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82AAFF"/>
                </a:solidFill>
                <a:latin typeface="Liberation Mono"/>
                <a:cs typeface="Liberation Mono"/>
              </a:rPr>
              <a:t>getPosts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(): List&lt;Post&gt;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49901" y="1745159"/>
            <a:ext cx="4117850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mạng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D1D5DB"/>
                </a:solidFill>
                <a:latin typeface="DejaVu Sans"/>
                <a:cs typeface="DejaVu Sans"/>
              </a:rPr>
              <a:t>rõ</a:t>
            </a:r>
            <a:r>
              <a:rPr sz="12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ràng,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đảm bảo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an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kiểu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75444" y="1949952"/>
            <a:ext cx="1765663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@GET("posts/{id}")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5444" y="2159502"/>
            <a:ext cx="4542157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suspend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fun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82AAFF"/>
                </a:solidFill>
                <a:latin typeface="Liberation Mono"/>
                <a:cs typeface="Liberation Mono"/>
              </a:rPr>
              <a:t>getPost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(</a:t>
            </a: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@Path("id")</a:t>
            </a:r>
            <a:r>
              <a:rPr sz="1200" spc="405" dirty="0">
                <a:solidFill>
                  <a:srgbClr val="FFCB6B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id: String): Post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56462" y="2317413"/>
            <a:ext cx="5796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BEF264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79915" y="2317413"/>
            <a:ext cx="14183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BEF264"/>
                </a:solidFill>
                <a:latin typeface="DejaVu Sans"/>
                <a:cs typeface="DejaVu Sans"/>
              </a:rPr>
              <a:t>Hợp đồng rõ ràng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5444" y="2588127"/>
            <a:ext cx="1407160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@POST("posts")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75444" y="2797677"/>
            <a:ext cx="5169167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suspend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fun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82AAFF"/>
                </a:solidFill>
                <a:latin typeface="Liberation Mono"/>
                <a:cs typeface="Liberation Mono"/>
              </a:rPr>
              <a:t>createPost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(</a:t>
            </a: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@Body</a:t>
            </a:r>
            <a:r>
              <a:rPr sz="1200" spc="405" dirty="0">
                <a:solidFill>
                  <a:srgbClr val="FFCB6B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post: Post): Response&lt;Post&gt;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17066" y="3016752"/>
            <a:ext cx="242025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Liberation Mono"/>
                <a:cs typeface="Liberation Mono"/>
              </a:rPr>
              <a:t>}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058893" y="3105725"/>
            <a:ext cx="264864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Hoạt động bất đồng bộ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87623" y="3336588"/>
            <a:ext cx="112441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  <a:r>
              <a:rPr sz="1000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Interface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300882" y="3336588"/>
            <a:ext cx="10153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API Deﬁnition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549901" y="3535859"/>
            <a:ext cx="4149148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cuộc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gọi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chặn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mượt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D1D5DB"/>
                </a:solidFill>
                <a:latin typeface="DejaVu Sans"/>
                <a:cs typeface="DejaVu Sans"/>
              </a:rPr>
              <a:t>mà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hàm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`suspend`.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56462" y="4108113"/>
            <a:ext cx="9357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38144" y="4108113"/>
            <a:ext cx="79500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Hiệu quả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41499" y="4963100"/>
            <a:ext cx="175076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@GET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500" b="1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@Path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908351" y="4963100"/>
            <a:ext cx="195146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@POST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500" b="1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@Body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40985" y="5039300"/>
            <a:ext cx="159026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FFFF"/>
                </a:solidFill>
                <a:latin typeface="DejaVu Sans"/>
                <a:cs typeface="DejaVu Sans"/>
              </a:rPr>
              <a:t>Lợi ích cốt lõi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89656" y="5374184"/>
            <a:ext cx="2965160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52" dirty="0">
                <a:solidFill>
                  <a:srgbClr val="D1D5DB"/>
                </a:solidFill>
                <a:latin typeface="DejaVu Sans"/>
                <a:cs typeface="DejaVu Sans"/>
              </a:rPr>
              <a:t>Truy</a:t>
            </a:r>
            <a:r>
              <a:rPr sz="1200" spc="3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xuất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từ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 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điểm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cuối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API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RESTful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tham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URL.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456508" y="5374184"/>
            <a:ext cx="3435178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Gửi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cập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nhật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tài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nguyên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máy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chủ.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432303" y="5612309"/>
            <a:ext cx="3346763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"Luồng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đoán,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quả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trạng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bất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biến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5E7EB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nguồn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chân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 duy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nhất."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32221" y="5984538"/>
            <a:ext cx="2610513" cy="195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Ví d</a:t>
            </a:r>
            <a:r>
              <a:rPr sz="1000" dirty="0">
                <a:solidFill>
                  <a:srgbClr val="FFFFFF"/>
                </a:solidFill>
                <a:latin typeface="DejaVu Sans Mono"/>
                <a:cs typeface="DejaVu Sans Mono"/>
              </a:rPr>
              <a:t>ụ</a:t>
            </a: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: getPost(@Path id: String)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499073" y="5984538"/>
            <a:ext cx="2840946" cy="195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Ví d</a:t>
            </a:r>
            <a:r>
              <a:rPr sz="1000" dirty="0">
                <a:solidFill>
                  <a:srgbClr val="FFFFFF"/>
                </a:solidFill>
                <a:latin typeface="DejaVu Sans Mono"/>
                <a:cs typeface="DejaVu Sans Mono"/>
              </a:rPr>
              <a:t>ụ</a:t>
            </a: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: createPost(@Body post: Post)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96217" y="6356013"/>
            <a:ext cx="82911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23" dirty="0">
                <a:solidFill>
                  <a:srgbClr val="67E8F9"/>
                </a:solidFill>
                <a:latin typeface="DejaVu Sans"/>
                <a:cs typeface="DejaVu Sans"/>
              </a:rPr>
              <a:t>Truy</a:t>
            </a:r>
            <a:r>
              <a:rPr sz="1000" b="1" spc="31" dirty="0">
                <a:solidFill>
                  <a:srgbClr val="67E8F9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xuất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671339" y="6356013"/>
            <a:ext cx="127259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Định tuyến URL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563069" y="6356013"/>
            <a:ext cx="41405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Tạo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123110" y="6356013"/>
            <a:ext cx="72590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Payload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0276878" y="6375063"/>
            <a:ext cx="151590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medium.com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607646" y="6841788"/>
            <a:ext cx="456608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Nguồn: GeeksforGeeks, medium.com, freecodecamp.org, reddit.com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99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46209"/>
            <a:ext cx="5640899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Retroﬁt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FFFFFF"/>
                </a:solidFill>
                <a:latin typeface="DejaVu Sans"/>
                <a:cs typeface="DejaVu Sans"/>
              </a:rPr>
              <a:t>Service</a:t>
            </a:r>
            <a:r>
              <a:rPr sz="3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FFFF"/>
                </a:solidFill>
                <a:latin typeface="DejaVu Sans"/>
                <a:cs typeface="DejaVu Sans"/>
              </a:rPr>
              <a:t>Interface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7066" y="1092702"/>
            <a:ext cx="2123346" cy="4168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interface</a:t>
            </a:r>
            <a:r>
              <a:rPr sz="1200" spc="407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ApiService</a:t>
            </a:r>
            <a:r>
              <a:rPr sz="1200" spc="405" dirty="0">
                <a:solidFill>
                  <a:srgbClr val="FFCB6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E2E8F0"/>
                </a:solidFill>
                <a:latin typeface="Liberation Mono"/>
                <a:cs typeface="Liberation Mono"/>
              </a:rPr>
              <a:t>{</a:t>
            </a:r>
          </a:p>
          <a:p>
            <a:pPr marL="358378" marR="0">
              <a:lnSpc>
                <a:spcPts val="1332"/>
              </a:lnSpc>
              <a:spcBef>
                <a:spcPts val="367"/>
              </a:spcBef>
              <a:spcAft>
                <a:spcPts val="0"/>
              </a:spcAft>
            </a:pP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@GET("posts")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058893" y="1315025"/>
            <a:ext cx="302381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Cấu trúc định kiểu an toàn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75444" y="1521327"/>
            <a:ext cx="3198448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suspend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fun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82AAFF"/>
                </a:solidFill>
                <a:latin typeface="Liberation Mono"/>
                <a:cs typeface="Liberation Mono"/>
              </a:rPr>
              <a:t>getPosts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(): List&lt;Post&gt;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49901" y="1745159"/>
            <a:ext cx="4117850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nghĩa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hoạt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mạng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36" dirty="0">
                <a:solidFill>
                  <a:srgbClr val="D1D5DB"/>
                </a:solidFill>
                <a:latin typeface="DejaVu Sans"/>
                <a:cs typeface="DejaVu Sans"/>
              </a:rPr>
              <a:t>rõ</a:t>
            </a:r>
            <a:r>
              <a:rPr sz="12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ràng,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đảm bảo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an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kiểu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75444" y="1949952"/>
            <a:ext cx="1765663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@GET("posts/{id}")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75444" y="2159502"/>
            <a:ext cx="4542157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suspend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fun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82AAFF"/>
                </a:solidFill>
                <a:latin typeface="Liberation Mono"/>
                <a:cs typeface="Liberation Mono"/>
              </a:rPr>
              <a:t>getPost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(</a:t>
            </a: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@Path("id")</a:t>
            </a:r>
            <a:r>
              <a:rPr sz="1200" spc="405" dirty="0">
                <a:solidFill>
                  <a:srgbClr val="FFCB6B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id: String): Post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56462" y="2317413"/>
            <a:ext cx="5796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BEF264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79915" y="2317413"/>
            <a:ext cx="14183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BEF264"/>
                </a:solidFill>
                <a:latin typeface="DejaVu Sans"/>
                <a:cs typeface="DejaVu Sans"/>
              </a:rPr>
              <a:t>Hợp đồng rõ ràng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75444" y="2588127"/>
            <a:ext cx="1407160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@POST("posts")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75444" y="2797677"/>
            <a:ext cx="5169167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suspend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C792EA"/>
                </a:solidFill>
                <a:latin typeface="Liberation Mono"/>
                <a:cs typeface="Liberation Mono"/>
              </a:rPr>
              <a:t>fun</a:t>
            </a:r>
            <a:r>
              <a:rPr sz="1200" spc="405" dirty="0">
                <a:solidFill>
                  <a:srgbClr val="C792EA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82AAFF"/>
                </a:solidFill>
                <a:latin typeface="Liberation Mono"/>
                <a:cs typeface="Liberation Mono"/>
              </a:rPr>
              <a:t>createPost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(</a:t>
            </a:r>
            <a:r>
              <a:rPr sz="1200" spc="-15" dirty="0">
                <a:solidFill>
                  <a:srgbClr val="FFCB6B"/>
                </a:solidFill>
                <a:latin typeface="Liberation Mono"/>
                <a:cs typeface="Liberation Mono"/>
              </a:rPr>
              <a:t>@Body</a:t>
            </a:r>
            <a:r>
              <a:rPr sz="1200" spc="405" dirty="0">
                <a:solidFill>
                  <a:srgbClr val="FFCB6B"/>
                </a:solidFill>
                <a:latin typeface="Times New Roman"/>
                <a:cs typeface="Times New Roman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Liberation Mono"/>
                <a:cs typeface="Liberation Mono"/>
              </a:rPr>
              <a:t>post: Post): Response&lt;Post&gt;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17066" y="3016752"/>
            <a:ext cx="242025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Liberation Mono"/>
                <a:cs typeface="Liberation Mono"/>
              </a:rPr>
              <a:t>}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058893" y="3105725"/>
            <a:ext cx="264864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Hoạt động bất đồng bộ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87623" y="3336588"/>
            <a:ext cx="112441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  <a:r>
              <a:rPr sz="1000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Interface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300882" y="3336588"/>
            <a:ext cx="10153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API Deﬁnition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549901" y="3535859"/>
            <a:ext cx="4149148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cuộc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gọi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chặn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mượt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D1D5DB"/>
                </a:solidFill>
                <a:latin typeface="DejaVu Sans"/>
                <a:cs typeface="DejaVu Sans"/>
              </a:rPr>
              <a:t>mà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hàm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`suspend`.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56462" y="4108113"/>
            <a:ext cx="9357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38144" y="4108113"/>
            <a:ext cx="79500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Hiệu quả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41499" y="4963100"/>
            <a:ext cx="175076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@GET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500" b="1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@Path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908351" y="4963100"/>
            <a:ext cx="195146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@POST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1500" b="1" spc="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@Body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40985" y="5039300"/>
            <a:ext cx="159026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FFFF"/>
                </a:solidFill>
                <a:latin typeface="DejaVu Sans"/>
                <a:cs typeface="DejaVu Sans"/>
              </a:rPr>
              <a:t>Lợi ích cốt lõi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89656" y="5374184"/>
            <a:ext cx="2965160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52" dirty="0">
                <a:solidFill>
                  <a:srgbClr val="D1D5DB"/>
                </a:solidFill>
                <a:latin typeface="DejaVu Sans"/>
                <a:cs typeface="DejaVu Sans"/>
              </a:rPr>
              <a:t>Truy</a:t>
            </a:r>
            <a:r>
              <a:rPr sz="1200" spc="3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xuất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từ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 các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điểm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cuối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API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RESTful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tham</a:t>
            </a:r>
            <a:r>
              <a:rPr sz="1200" spc="-1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URL.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456508" y="5374184"/>
            <a:ext cx="3435178" cy="421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D1D5DB"/>
                </a:solidFill>
                <a:latin typeface="DejaVu Sans"/>
                <a:cs typeface="DejaVu Sans"/>
              </a:rPr>
              <a:t>Gửi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tạo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hoặc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cập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nhật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D1D5DB"/>
                </a:solidFill>
                <a:latin typeface="DejaVu Sans"/>
                <a:cs typeface="DejaVu Sans"/>
              </a:rPr>
              <a:t>tài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nguyên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D1D5DB"/>
                </a:solidFill>
                <a:latin typeface="DejaVu Sans"/>
                <a:cs typeface="DejaVu Sans"/>
              </a:rPr>
              <a:t>máy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chủ.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432303" y="5612309"/>
            <a:ext cx="3346763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"Luồng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dễ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đoán,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quả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với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trạng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bất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biến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5E7EB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nguồn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chân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 duy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nhất."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32221" y="5984538"/>
            <a:ext cx="2610513" cy="195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Ví d</a:t>
            </a:r>
            <a:r>
              <a:rPr sz="1000" dirty="0">
                <a:solidFill>
                  <a:srgbClr val="FFFFFF"/>
                </a:solidFill>
                <a:latin typeface="DejaVu Sans Mono"/>
                <a:cs typeface="DejaVu Sans Mono"/>
              </a:rPr>
              <a:t>ụ</a:t>
            </a: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: getPost(@Path id: String)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499073" y="5984538"/>
            <a:ext cx="2840946" cy="195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Ví d</a:t>
            </a:r>
            <a:r>
              <a:rPr sz="1000" dirty="0">
                <a:solidFill>
                  <a:srgbClr val="FFFFFF"/>
                </a:solidFill>
                <a:latin typeface="DejaVu Sans Mono"/>
                <a:cs typeface="DejaVu Sans Mono"/>
              </a:rPr>
              <a:t>ụ</a:t>
            </a:r>
            <a:r>
              <a:rPr sz="1000" dirty="0">
                <a:solidFill>
                  <a:srgbClr val="FFFFFF"/>
                </a:solidFill>
                <a:latin typeface="Liberation Mono"/>
                <a:cs typeface="Liberation Mono"/>
              </a:rPr>
              <a:t>: createPost(@Body post: Post)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696217" y="6356013"/>
            <a:ext cx="82911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23" dirty="0">
                <a:solidFill>
                  <a:srgbClr val="67E8F9"/>
                </a:solidFill>
                <a:latin typeface="DejaVu Sans"/>
                <a:cs typeface="DejaVu Sans"/>
              </a:rPr>
              <a:t>Truy</a:t>
            </a:r>
            <a:r>
              <a:rPr sz="1000" b="1" spc="31" dirty="0">
                <a:solidFill>
                  <a:srgbClr val="67E8F9"/>
                </a:solidFill>
                <a:latin typeface="DejaVu Sans"/>
                <a:cs typeface="DejaVu Sans"/>
              </a:rPr>
              <a:t> </a:t>
            </a: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xuất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671339" y="6356013"/>
            <a:ext cx="127259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Định tuyến URL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563069" y="6356013"/>
            <a:ext cx="41405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Tạo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123110" y="6356013"/>
            <a:ext cx="72590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67E8F9"/>
                </a:solidFill>
                <a:latin typeface="DejaVu Sans"/>
                <a:cs typeface="DejaVu Sans"/>
              </a:rPr>
              <a:t>Payload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10276878" y="6375063"/>
            <a:ext cx="151590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medium.com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607646" y="6841788"/>
            <a:ext cx="456608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Nguồn: GeeksforGeeks, medium.com, freecodecamp.org, reddit.com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70112" y="334315"/>
            <a:ext cx="720410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Retroﬁt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Builder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6415" y="1514945"/>
            <a:ext cx="286601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Thiết lập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Base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1F3F"/>
                </a:solidFill>
                <a:latin typeface="DejaVu Sans"/>
                <a:cs typeface="DejaVu Sans"/>
              </a:rPr>
              <a:t>URL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09407" y="1514945"/>
            <a:ext cx="333997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Tích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hợp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OkHttpClient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6415" y="1946588"/>
            <a:ext cx="415861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Xác định điểm cuối gốc của API để </a:t>
            </a:r>
            <a:r>
              <a:rPr sz="1350" spc="-18" dirty="0">
                <a:solidFill>
                  <a:srgbClr val="001F3F"/>
                </a:solidFill>
                <a:latin typeface="DejaVu Sans"/>
                <a:cs typeface="DejaVu Sans"/>
              </a:rPr>
              <a:t>Retroﬁt</a:t>
            </a:r>
            <a:r>
              <a:rPr sz="1350" spc="14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biết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nơi gửi yêu cầu.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09407" y="1946588"/>
            <a:ext cx="425433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Kết nối OkHttpClient đã cấu hình để quản lý 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cuộc gọi </a:t>
            </a:r>
            <a:r>
              <a:rPr sz="1350" spc="-11" dirty="0">
                <a:solidFill>
                  <a:srgbClr val="001F3F"/>
                </a:solidFill>
                <a:latin typeface="DejaVu Sans"/>
                <a:cs typeface="DejaVu Sans"/>
              </a:rPr>
              <a:t>HTTP</a:t>
            </a: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 nâng </a:t>
            </a:r>
            <a:r>
              <a:rPr sz="1350" spc="-11" dirty="0">
                <a:solidFill>
                  <a:srgbClr val="001F3F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2251" y="2623618"/>
            <a:ext cx="118736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1F3F"/>
                </a:solidFill>
                <a:latin typeface="DejaVu Sans"/>
                <a:cs typeface="DejaVu Sans"/>
              </a:rPr>
              <a:t>Điểm</a:t>
            </a:r>
            <a:r>
              <a:rPr sz="1200" spc="-18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cuối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83594" y="2623618"/>
            <a:ext cx="9911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Kết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nối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gốc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65242" y="2623618"/>
            <a:ext cx="115735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1F3F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1F3F"/>
                </a:solidFill>
                <a:latin typeface="DejaVu Sans"/>
                <a:cs typeface="DejaVu Sans"/>
              </a:rPr>
              <a:t>HTTP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96671" y="2623618"/>
            <a:ext cx="98309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Interceptor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66415" y="3667595"/>
            <a:ext cx="300563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1F3F"/>
                </a:solidFill>
                <a:latin typeface="DejaVu Sans"/>
                <a:cs typeface="DejaVu Sans"/>
              </a:rPr>
              <a:t>Xử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lý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 JSON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với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Gson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09407" y="3667595"/>
            <a:ext cx="315062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Tạo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Service Instance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66415" y="4099238"/>
            <a:ext cx="425391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Thêm </a:t>
            </a:r>
            <a:r>
              <a:rPr sz="1350" spc="-10" dirty="0">
                <a:solidFill>
                  <a:srgbClr val="001F3F"/>
                </a:solidFill>
                <a:latin typeface="DejaVu Sans"/>
                <a:cs typeface="DejaVu Sans"/>
              </a:rPr>
              <a:t>GsonConverterFactory</a:t>
            </a: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 để tự động chuyển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đổi JSON sang đối tượng Kotlin/Java.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409407" y="4099238"/>
            <a:ext cx="407576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Tạo một instance của service interface để bắt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đầu thực hiện các yêu cầu API.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22251" y="4776268"/>
            <a:ext cx="126268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Phân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1F3F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1F3F"/>
                </a:solidFill>
                <a:latin typeface="DejaVu Sans"/>
                <a:cs typeface="DejaVu Sans"/>
              </a:rPr>
              <a:t>JSON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358901" y="4776268"/>
            <a:ext cx="99566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Chuyển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đổi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665242" y="4776268"/>
            <a:ext cx="114610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1F3F"/>
                </a:solidFill>
                <a:latin typeface="DejaVu Sans"/>
                <a:cs typeface="DejaVu Sans"/>
              </a:rPr>
              <a:t>Giao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1F3F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085360" y="4776268"/>
            <a:ext cx="139029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1F3F"/>
                </a:solidFill>
                <a:latin typeface="DejaVu Sans"/>
                <a:cs typeface="DejaVu Sans"/>
              </a:rPr>
              <a:t>Gọi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phương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1F3F"/>
                </a:solidFill>
                <a:latin typeface="DejaVu Sans"/>
                <a:cs typeface="DejaVu Sans"/>
              </a:rPr>
              <a:t>thức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81646" y="5813738"/>
            <a:ext cx="887412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1F3F"/>
                </a:solidFill>
                <a:latin typeface="DejaVu Sans"/>
                <a:cs typeface="DejaVu Sans"/>
              </a:rPr>
              <a:t>Retroﬁt biến các cuộc gọi HTTP</a:t>
            </a:r>
            <a:r>
              <a:rPr sz="1350" b="1" spc="-12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001F3F"/>
                </a:solidFill>
                <a:latin typeface="DejaVu Sans"/>
                <a:cs typeface="DejaVu Sans"/>
              </a:rPr>
              <a:t>phức tạp thành các phương thức Java/Kotlin đơn giản, thúc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b="1" dirty="0">
                <a:solidFill>
                  <a:srgbClr val="001F3F"/>
                </a:solidFill>
                <a:latin typeface="DejaVu Sans"/>
                <a:cs typeface="DejaVu Sans"/>
              </a:rPr>
              <a:t>đẩy sự rõ ràng và hiệu quả trong phát triển.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167389" y="6605823"/>
            <a:ext cx="40063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medium.com, geeksforgeeks.org, freecodecamp.org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70112" y="334315"/>
            <a:ext cx="720410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FFFFFF"/>
                </a:solidFill>
                <a:latin typeface="DejaVu Sans"/>
                <a:cs typeface="DejaVu Sans"/>
              </a:rPr>
              <a:t>Khởi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Retroﬁt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Builder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6415" y="1514945"/>
            <a:ext cx="286601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Thiết lập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Base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1F3F"/>
                </a:solidFill>
                <a:latin typeface="DejaVu Sans"/>
                <a:cs typeface="DejaVu Sans"/>
              </a:rPr>
              <a:t>URL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09407" y="1514945"/>
            <a:ext cx="333997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Tích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hợp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OkHttpClient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6415" y="1946588"/>
            <a:ext cx="415861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Xác định điểm cuối gốc của API để </a:t>
            </a:r>
            <a:r>
              <a:rPr sz="1350" spc="-18" dirty="0">
                <a:solidFill>
                  <a:srgbClr val="001F3F"/>
                </a:solidFill>
                <a:latin typeface="DejaVu Sans"/>
                <a:cs typeface="DejaVu Sans"/>
              </a:rPr>
              <a:t>Retroﬁt</a:t>
            </a:r>
            <a:r>
              <a:rPr sz="1350" spc="14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biết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nơi gửi yêu cầu.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09407" y="1946588"/>
            <a:ext cx="425433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Kết nối OkHttpClient đã cấu hình để quản lý 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cuộc gọi </a:t>
            </a:r>
            <a:r>
              <a:rPr sz="1350" spc="-11" dirty="0">
                <a:solidFill>
                  <a:srgbClr val="001F3F"/>
                </a:solidFill>
                <a:latin typeface="DejaVu Sans"/>
                <a:cs typeface="DejaVu Sans"/>
              </a:rPr>
              <a:t>HTTP</a:t>
            </a: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 nâng </a:t>
            </a:r>
            <a:r>
              <a:rPr sz="1350" spc="-11" dirty="0">
                <a:solidFill>
                  <a:srgbClr val="001F3F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22251" y="2623618"/>
            <a:ext cx="118736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1F3F"/>
                </a:solidFill>
                <a:latin typeface="DejaVu Sans"/>
                <a:cs typeface="DejaVu Sans"/>
              </a:rPr>
              <a:t>Điểm</a:t>
            </a:r>
            <a:r>
              <a:rPr sz="1200" spc="-18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cuối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83594" y="2623618"/>
            <a:ext cx="9911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Kết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nối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gốc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65242" y="2623618"/>
            <a:ext cx="115735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1F3F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1F3F"/>
                </a:solidFill>
                <a:latin typeface="DejaVu Sans"/>
                <a:cs typeface="DejaVu Sans"/>
              </a:rPr>
              <a:t>HTTP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096671" y="2623618"/>
            <a:ext cx="98309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Interceptor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66415" y="3667595"/>
            <a:ext cx="300563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1F3F"/>
                </a:solidFill>
                <a:latin typeface="DejaVu Sans"/>
                <a:cs typeface="DejaVu Sans"/>
              </a:rPr>
              <a:t>Xử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lý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 JSON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với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Gson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09407" y="3667595"/>
            <a:ext cx="315062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1F3F"/>
                </a:solidFill>
                <a:latin typeface="DejaVu Sans"/>
                <a:cs typeface="DejaVu Sans"/>
              </a:rPr>
              <a:t>Tạo</a:t>
            </a:r>
            <a:r>
              <a:rPr sz="2000" b="1" dirty="0">
                <a:solidFill>
                  <a:srgbClr val="001F3F"/>
                </a:solidFill>
                <a:latin typeface="DejaVu Sans"/>
                <a:cs typeface="DejaVu Sans"/>
              </a:rPr>
              <a:t> Service Instance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66415" y="4099238"/>
            <a:ext cx="425391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Thêm </a:t>
            </a:r>
            <a:r>
              <a:rPr sz="1350" spc="-10" dirty="0">
                <a:solidFill>
                  <a:srgbClr val="001F3F"/>
                </a:solidFill>
                <a:latin typeface="DejaVu Sans"/>
                <a:cs typeface="DejaVu Sans"/>
              </a:rPr>
              <a:t>GsonConverterFactory</a:t>
            </a: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 để tự động chuyển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đổi JSON sang đối tượng Kotlin/Java.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409407" y="4099238"/>
            <a:ext cx="407576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Tạo một instance của service interface để bắt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1F3F"/>
                </a:solidFill>
                <a:latin typeface="DejaVu Sans"/>
                <a:cs typeface="DejaVu Sans"/>
              </a:rPr>
              <a:t>đầu thực hiện các yêu cầu API.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822251" y="4776268"/>
            <a:ext cx="126268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Phân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1F3F"/>
                </a:solidFill>
                <a:latin typeface="DejaVu Sans"/>
                <a:cs typeface="DejaVu Sans"/>
              </a:rPr>
              <a:t>tích</a:t>
            </a:r>
            <a:r>
              <a:rPr sz="1200" spc="-12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1F3F"/>
                </a:solidFill>
                <a:latin typeface="DejaVu Sans"/>
                <a:cs typeface="DejaVu Sans"/>
              </a:rPr>
              <a:t>JSON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358901" y="4776268"/>
            <a:ext cx="99566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Chuyển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đổi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665242" y="4776268"/>
            <a:ext cx="114610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1F3F"/>
                </a:solidFill>
                <a:latin typeface="DejaVu Sans"/>
                <a:cs typeface="DejaVu Sans"/>
              </a:rPr>
              <a:t>Giao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1F3F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085360" y="4776268"/>
            <a:ext cx="139029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1F3F"/>
                </a:solidFill>
                <a:latin typeface="DejaVu Sans"/>
                <a:cs typeface="DejaVu Sans"/>
              </a:rPr>
              <a:t>Gọi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1F3F"/>
                </a:solidFill>
                <a:latin typeface="DejaVu Sans"/>
                <a:cs typeface="DejaVu Sans"/>
              </a:rPr>
              <a:t>phương</a:t>
            </a:r>
            <a:r>
              <a:rPr sz="120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1F3F"/>
                </a:solidFill>
                <a:latin typeface="DejaVu Sans"/>
                <a:cs typeface="DejaVu Sans"/>
              </a:rPr>
              <a:t>thức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81646" y="5813738"/>
            <a:ext cx="887412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1F3F"/>
                </a:solidFill>
                <a:latin typeface="DejaVu Sans"/>
                <a:cs typeface="DejaVu Sans"/>
              </a:rPr>
              <a:t>Retroﬁt biến các cuộc gọi HTTP</a:t>
            </a:r>
            <a:r>
              <a:rPr sz="1350" b="1" spc="-12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350" b="1" dirty="0">
                <a:solidFill>
                  <a:srgbClr val="001F3F"/>
                </a:solidFill>
                <a:latin typeface="DejaVu Sans"/>
                <a:cs typeface="DejaVu Sans"/>
              </a:rPr>
              <a:t>phức tạp thành các phương thức Java/Kotlin đơn giản, thúc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b="1" dirty="0">
                <a:solidFill>
                  <a:srgbClr val="001F3F"/>
                </a:solidFill>
                <a:latin typeface="DejaVu Sans"/>
                <a:cs typeface="DejaVu Sans"/>
              </a:rPr>
              <a:t>đẩy sự rõ ràng và hiệu quả trong phát triển.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167389" y="6605823"/>
            <a:ext cx="400636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medium.com, geeksforgeeks.org, freecodecamp.org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266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6723" y="403735"/>
            <a:ext cx="6190802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X</a:t>
            </a:r>
            <a:r>
              <a:rPr sz="3600" b="1" spc="22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lý l</a:t>
            </a:r>
            <a:r>
              <a:rPr sz="3600" b="1" spc="11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i v</a:t>
            </a:r>
            <a:r>
              <a:rPr sz="3600" b="1" spc="11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i Result </a:t>
            </a:r>
            <a:r>
              <a:rPr sz="3600" b="1" spc="-10" dirty="0">
                <a:solidFill>
                  <a:srgbClr val="00FFFF"/>
                </a:solidFill>
                <a:latin typeface="Liberation Sans"/>
                <a:cs typeface="Liberation Sans"/>
              </a:rPr>
              <a:t>Wrapper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92934" y="1050374"/>
            <a:ext cx="3958530" cy="259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Chu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ẩ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 hóa ph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 h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  <a:r>
              <a:rPr sz="1500" spc="-82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API trong</a:t>
            </a:r>
            <a:r>
              <a:rPr sz="1500" spc="-82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Android Kotlin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4479" y="2830005"/>
            <a:ext cx="2852067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Đóng Gói </a:t>
            </a:r>
            <a:r>
              <a:rPr sz="1800" b="1" spc="-99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800" b="1" spc="72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ng Thái</a:t>
            </a:r>
            <a:r>
              <a:rPr sz="1800" b="1" spc="-6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API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64880" y="2830005"/>
            <a:ext cx="2814451" cy="598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c Năng `safeCall`</a:t>
            </a:r>
            <a:r>
              <a:rPr sz="1800" b="1" spc="-6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An</a:t>
            </a:r>
          </a:p>
          <a:p>
            <a:pPr marL="1066502" marR="0">
              <a:lnSpc>
                <a:spcPts val="2010"/>
              </a:lnSpc>
              <a:spcBef>
                <a:spcPts val="389"/>
              </a:spcBef>
              <a:spcAft>
                <a:spcPts val="0"/>
              </a:spcAft>
            </a:pPr>
            <a:r>
              <a:rPr sz="1800" b="1" spc="-33" dirty="0">
                <a:solidFill>
                  <a:srgbClr val="FFFFFF"/>
                </a:solidFill>
                <a:latin typeface="Liberation Sans"/>
                <a:cs typeface="Liberation Sans"/>
              </a:rPr>
              <a:t>Toàn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15200" y="2830005"/>
            <a:ext cx="3136924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Chu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 Hóa X</a:t>
            </a:r>
            <a:r>
              <a:rPr sz="1800" b="1" spc="11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Lý Ph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 H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5223" y="3209814"/>
            <a:ext cx="2850504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200" spc="-33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nh nghĩa `sealed class</a:t>
            </a:r>
            <a:r>
              <a:rPr sz="1200" spc="-66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ApiResult` cho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66831" y="3209814"/>
            <a:ext cx="3231728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m b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o s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ự</a:t>
            </a:r>
            <a:r>
              <a:rPr sz="1200" spc="2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nh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 quán trong qu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 lý k</a:t>
            </a:r>
            <a:r>
              <a:rPr sz="1200" spc="11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 qu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0318" y="3441912"/>
            <a:ext cx="2760314" cy="208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`Success`, `HttpError`, `NetworkError`.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44470" y="3438414"/>
            <a:ext cx="1478309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API toàn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ng d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41192" y="3514614"/>
            <a:ext cx="3261865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B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ắ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 và x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ử</a:t>
            </a:r>
            <a:r>
              <a:rPr sz="1200" spc="2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lý ngo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i l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200" spc="44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ừ</a:t>
            </a:r>
            <a:r>
              <a:rPr sz="1200" spc="2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HTTP</a:t>
            </a:r>
            <a:r>
              <a:rPr sz="1200" spc="-21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và network m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86560" y="3743214"/>
            <a:ext cx="1171053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cách t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p trung.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12204" y="4164007"/>
            <a:ext cx="485970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Kotlin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50677" y="4164007"/>
            <a:ext cx="938110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Sealed Class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41290" y="4164007"/>
            <a:ext cx="367335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API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794200" y="4164007"/>
            <a:ext cx="797272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Coroutines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743872" y="4164007"/>
            <a:ext cx="1012142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Error Handling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08451" y="4164007"/>
            <a:ext cx="641458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Network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683525" y="4164007"/>
            <a:ext cx="752735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Scalability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588697" y="4164007"/>
            <a:ext cx="878727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Consistency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619927" y="4164007"/>
            <a:ext cx="863882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Architecture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49466" y="5160021"/>
            <a:ext cx="5312661" cy="517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Giúp chu</a:t>
            </a:r>
            <a:r>
              <a:rPr sz="1500" b="1" spc="482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n hóa vi</a:t>
            </a:r>
            <a:r>
              <a:rPr sz="1500" b="1" spc="482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c x</a:t>
            </a:r>
            <a:r>
              <a:rPr sz="1500" b="1" spc="975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lý k</a:t>
            </a:r>
            <a:r>
              <a:rPr sz="1500" b="1" spc="482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t qu</a:t>
            </a:r>
            <a:r>
              <a:rPr sz="1500" b="1" spc="9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tr</a:t>
            </a:r>
            <a:r>
              <a:rPr sz="1500" b="1" spc="9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v</a:t>
            </a:r>
            <a:r>
              <a:rPr sz="1500" b="1" spc="9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500" b="1" spc="918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API trên toàn</a:t>
            </a:r>
          </a:p>
          <a:p>
            <a:pPr marL="2236291" marR="0">
              <a:lnSpc>
                <a:spcPts val="1675"/>
              </a:lnSpc>
              <a:spcBef>
                <a:spcPts val="424"/>
              </a:spcBef>
              <a:spcAft>
                <a:spcPts val="0"/>
              </a:spcAft>
            </a:pP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ng d</a:t>
            </a:r>
            <a:r>
              <a:rPr sz="1500" b="1" spc="557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09599" y="5236221"/>
            <a:ext cx="1420117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sz="1500" b="1" spc="48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i Ích Chính: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52499" y="5659107"/>
            <a:ext cx="2428902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350" spc="-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t quán</a:t>
            </a:r>
            <a:r>
              <a:rPr sz="1350" b="1" spc="-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1350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đáng tin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52499" y="6040107"/>
            <a:ext cx="3086732" cy="618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Lu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350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u qu</a:t>
            </a:r>
            <a:r>
              <a:rPr sz="1350" b="1" spc="7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1350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b="1" spc="8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b="1" spc="8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đoán</a:t>
            </a:r>
          </a:p>
          <a:p>
            <a:pPr marL="0" marR="0">
              <a:lnSpc>
                <a:spcPts val="1571"/>
              </a:lnSpc>
              <a:spcBef>
                <a:spcPts val="1428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ễ</a:t>
            </a:r>
            <a:r>
              <a:rPr sz="1350" spc="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dàng</a:t>
            </a:r>
            <a:r>
              <a:rPr sz="1350" spc="-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1350" b="1" spc="8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r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350" b="1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1350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o trì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d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723113" y="7057803"/>
            <a:ext cx="3468774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9CA3AF"/>
                </a:solidFill>
                <a:latin typeface="Liberation Sans"/>
                <a:cs typeface="Liberation Sans"/>
              </a:rPr>
              <a:t>Source: Building a Scalable</a:t>
            </a:r>
            <a:r>
              <a:rPr sz="900" spc="-5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900" dirty="0">
                <a:solidFill>
                  <a:srgbClr val="9CA3AF"/>
                </a:solidFill>
                <a:latin typeface="Liberation Sans"/>
                <a:cs typeface="Liberation Sans"/>
              </a:rPr>
              <a:t>Android Network Layer with Retrofit...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266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6723" y="403735"/>
            <a:ext cx="6190802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X</a:t>
            </a:r>
            <a:r>
              <a:rPr sz="3600" b="1" spc="22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lý l</a:t>
            </a:r>
            <a:r>
              <a:rPr sz="3600" b="1" spc="11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i v</a:t>
            </a:r>
            <a:r>
              <a:rPr sz="3600" b="1" spc="11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i Result </a:t>
            </a:r>
            <a:r>
              <a:rPr sz="3600" b="1" spc="-10" dirty="0">
                <a:solidFill>
                  <a:srgbClr val="00FFFF"/>
                </a:solidFill>
                <a:latin typeface="Liberation Sans"/>
                <a:cs typeface="Liberation Sans"/>
              </a:rPr>
              <a:t>Wrapper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92934" y="1050374"/>
            <a:ext cx="3958530" cy="259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46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Chu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ẩ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 hóa ph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 h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</a:t>
            </a:r>
            <a:r>
              <a:rPr sz="1500" spc="-82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API trong</a:t>
            </a:r>
            <a:r>
              <a:rPr sz="1500" spc="-82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Android Kotlin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4479" y="2830005"/>
            <a:ext cx="2852067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Đóng Gói </a:t>
            </a:r>
            <a:r>
              <a:rPr sz="1800" b="1" spc="-99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1800" b="1" spc="72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ng Thái</a:t>
            </a:r>
            <a:r>
              <a:rPr sz="1800" b="1" spc="-6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API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64880" y="2830005"/>
            <a:ext cx="2814451" cy="598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c Năng `safeCall`</a:t>
            </a:r>
            <a:r>
              <a:rPr sz="1800" b="1" spc="-6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An</a:t>
            </a:r>
          </a:p>
          <a:p>
            <a:pPr marL="1066502" marR="0">
              <a:lnSpc>
                <a:spcPts val="2010"/>
              </a:lnSpc>
              <a:spcBef>
                <a:spcPts val="389"/>
              </a:spcBef>
              <a:spcAft>
                <a:spcPts val="0"/>
              </a:spcAft>
            </a:pPr>
            <a:r>
              <a:rPr sz="1800" b="1" spc="-33" dirty="0">
                <a:solidFill>
                  <a:srgbClr val="FFFFFF"/>
                </a:solidFill>
                <a:latin typeface="Liberation Sans"/>
                <a:cs typeface="Liberation Sans"/>
              </a:rPr>
              <a:t>Toàn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15200" y="2830005"/>
            <a:ext cx="3136924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Chu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 Hóa X</a:t>
            </a:r>
            <a:r>
              <a:rPr sz="1800" b="1" spc="11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Lý Ph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 H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5223" y="3209814"/>
            <a:ext cx="2850504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200" spc="-33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nh nghĩa `sealed class</a:t>
            </a:r>
            <a:r>
              <a:rPr sz="1200" spc="-66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ApiResult` cho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66831" y="3209814"/>
            <a:ext cx="3231728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m b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o s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ự</a:t>
            </a:r>
            <a:r>
              <a:rPr sz="1200" spc="2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nh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 quán trong qu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 lý k</a:t>
            </a:r>
            <a:r>
              <a:rPr sz="1200" spc="11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 qu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0318" y="3441912"/>
            <a:ext cx="2760314" cy="208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`Success`, `HttpError`, `NetworkError`.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44470" y="3438414"/>
            <a:ext cx="1478309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API toàn 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ng d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541192" y="3514614"/>
            <a:ext cx="3261865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B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ắ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 và x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ử</a:t>
            </a:r>
            <a:r>
              <a:rPr sz="1200" spc="2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lý ngo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i l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200" spc="44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ừ</a:t>
            </a:r>
            <a:r>
              <a:rPr sz="1200" spc="2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HTTP</a:t>
            </a:r>
            <a:r>
              <a:rPr sz="1200" spc="-21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và network m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86560" y="3743214"/>
            <a:ext cx="1171053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cách t</a:t>
            </a:r>
            <a:r>
              <a:rPr sz="1200" spc="15" dirty="0">
                <a:solidFill>
                  <a:srgbClr val="D1D5DB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D1D5DB"/>
                </a:solidFill>
                <a:latin typeface="Liberation Sans"/>
                <a:cs typeface="Liberation Sans"/>
              </a:rPr>
              <a:t>p trung.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12204" y="4164007"/>
            <a:ext cx="485970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Kotlin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50677" y="4164007"/>
            <a:ext cx="938110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Sealed Class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41290" y="4164007"/>
            <a:ext cx="367335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API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794200" y="4164007"/>
            <a:ext cx="797272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Coroutines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743872" y="4164007"/>
            <a:ext cx="1012142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Error Handling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908451" y="4164007"/>
            <a:ext cx="641458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Network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683525" y="4164007"/>
            <a:ext cx="752735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Scalability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588697" y="4164007"/>
            <a:ext cx="878727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Consistency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619927" y="4164007"/>
            <a:ext cx="863882" cy="187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001F3F"/>
                </a:solidFill>
                <a:latin typeface="Liberation Sans"/>
                <a:cs typeface="Liberation Sans"/>
              </a:rPr>
              <a:t>Architecture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49466" y="5160021"/>
            <a:ext cx="5312661" cy="517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Giúp chu</a:t>
            </a:r>
            <a:r>
              <a:rPr sz="1500" b="1" spc="482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n hóa vi</a:t>
            </a:r>
            <a:r>
              <a:rPr sz="1500" b="1" spc="482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c x</a:t>
            </a:r>
            <a:r>
              <a:rPr sz="1500" b="1" spc="975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lý k</a:t>
            </a:r>
            <a:r>
              <a:rPr sz="1500" b="1" spc="482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t qu</a:t>
            </a:r>
            <a:r>
              <a:rPr sz="1500" b="1" spc="9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tr</a:t>
            </a:r>
            <a:r>
              <a:rPr sz="1500" b="1" spc="9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v</a:t>
            </a:r>
            <a:r>
              <a:rPr sz="1500" b="1" spc="900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t</a:t>
            </a:r>
            <a:r>
              <a:rPr sz="1500" b="1" spc="918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API trên toàn</a:t>
            </a:r>
          </a:p>
          <a:p>
            <a:pPr marL="2236291" marR="0">
              <a:lnSpc>
                <a:spcPts val="1675"/>
              </a:lnSpc>
              <a:spcBef>
                <a:spcPts val="424"/>
              </a:spcBef>
              <a:spcAft>
                <a:spcPts val="0"/>
              </a:spcAft>
            </a:pP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ng d</a:t>
            </a:r>
            <a:r>
              <a:rPr sz="1500" b="1" spc="557" dirty="0">
                <a:solidFill>
                  <a:srgbClr val="E5E7EB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E5E7EB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09599" y="5236221"/>
            <a:ext cx="1420117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L</a:t>
            </a:r>
            <a:r>
              <a:rPr sz="1500" b="1" spc="48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Liberation Sans"/>
                <a:cs typeface="Liberation Sans"/>
              </a:rPr>
              <a:t>i Ích Chính: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52499" y="5659107"/>
            <a:ext cx="2428902" cy="237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350" spc="-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t quán</a:t>
            </a:r>
            <a:r>
              <a:rPr sz="1350" b="1" spc="-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1350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đáng tin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52499" y="6040107"/>
            <a:ext cx="3086732" cy="6186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7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Lu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350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u qu</a:t>
            </a:r>
            <a:r>
              <a:rPr sz="1350" b="1" spc="7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1350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b="1" spc="8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b="1" spc="8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đoán</a:t>
            </a:r>
          </a:p>
          <a:p>
            <a:pPr marL="0" marR="0">
              <a:lnSpc>
                <a:spcPts val="1571"/>
              </a:lnSpc>
              <a:spcBef>
                <a:spcPts val="1428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ễ</a:t>
            </a:r>
            <a:r>
              <a:rPr sz="1350" spc="31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dàng</a:t>
            </a:r>
            <a:r>
              <a:rPr sz="1350" spc="-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1350" b="1" spc="8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r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350" b="1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&amp;</a:t>
            </a:r>
            <a:r>
              <a:rPr sz="1350" spc="-7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o trì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 d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723113" y="7057803"/>
            <a:ext cx="3468774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dirty="0">
                <a:solidFill>
                  <a:srgbClr val="9CA3AF"/>
                </a:solidFill>
                <a:latin typeface="Liberation Sans"/>
                <a:cs typeface="Liberation Sans"/>
              </a:rPr>
              <a:t>Source: Building a Scalable</a:t>
            </a:r>
            <a:r>
              <a:rPr sz="900" spc="-50" dirty="0">
                <a:solidFill>
                  <a:srgbClr val="9CA3AF"/>
                </a:solidFill>
                <a:latin typeface="Liberation Sans"/>
                <a:cs typeface="Liberation Sans"/>
              </a:rPr>
              <a:t> </a:t>
            </a:r>
            <a:r>
              <a:rPr sz="900" dirty="0">
                <a:solidFill>
                  <a:srgbClr val="9CA3AF"/>
                </a:solidFill>
                <a:latin typeface="Liberation Sans"/>
                <a:cs typeface="Liberation Sans"/>
              </a:rPr>
              <a:t>Android Network Layer with Retrofit...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94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95722" y="322631"/>
            <a:ext cx="999522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Repository: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FFFF"/>
                </a:solidFill>
                <a:latin typeface="DejaVu Sans"/>
                <a:cs typeface="DejaVu Sans"/>
              </a:rPr>
              <a:t>Quản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lý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FFFF"/>
                </a:solidFill>
                <a:latin typeface="DejaVu Sans"/>
                <a:cs typeface="DejaVu Sans"/>
              </a:rPr>
              <a:t>nguồn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FFFF"/>
                </a:solidFill>
                <a:latin typeface="DejaVu Sans"/>
                <a:cs typeface="DejaVu Sans"/>
              </a:rPr>
              <a:t>dữ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8649" y="1369911"/>
            <a:ext cx="441466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47" dirty="0">
                <a:solidFill>
                  <a:srgbClr val="FFFFFF"/>
                </a:solidFill>
                <a:latin typeface="DejaVu Sans"/>
                <a:cs typeface="DejaVu Sans"/>
              </a:rPr>
              <a:t>Trừu</a:t>
            </a:r>
            <a:r>
              <a:rPr sz="2000" b="1" spc="6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tượng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nguồn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20209" y="1369911"/>
            <a:ext cx="379759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Thao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tác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Network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trên IO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9656" y="1839654"/>
            <a:ext cx="512536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Tạo lớp `Repository` ẩn giấu chi tiết API và Database, đơn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giản hóa giao diện truy cập dữ liệu.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11217" y="1839654"/>
            <a:ext cx="510037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Sử dụng `withContext(Dispatchers.IO)` đảm bảo các cuộc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gọi mạng thực hiện </a:t>
            </a:r>
            <a:r>
              <a:rPr sz="1350" spc="-12" dirty="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luồng riêng biệt, không chặn UI.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6217" y="2516684"/>
            <a:ext cx="3886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30808" y="2516684"/>
            <a:ext cx="86503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Database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17778" y="2516684"/>
            <a:ext cx="9599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19999" y="2516684"/>
            <a:ext cx="5779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8206" y="2945309"/>
            <a:ext cx="9130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50" dirty="0">
                <a:solidFill>
                  <a:srgbClr val="FFFFFF"/>
                </a:solidFill>
                <a:latin typeface="DejaVu Sans"/>
                <a:cs typeface="DejaVu Sans"/>
              </a:rPr>
              <a:t>Tách</a:t>
            </a:r>
            <a:r>
              <a:rPr sz="1200" b="1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biệt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03400" y="2945309"/>
            <a:ext cx="120371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Modular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09766" y="2945309"/>
            <a:ext cx="117419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Bất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đồng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286153" y="2945309"/>
            <a:ext cx="95522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98649" y="3798786"/>
            <a:ext cx="287451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lỗi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nhất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quán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20209" y="3798786"/>
            <a:ext cx="200569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Ví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dụ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tế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4278054"/>
            <a:ext cx="530866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Gói API calls bằng `safeCall` cung cấp cơ chế đồng bộ để xử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lý mọi lỗi, từ network đến </a:t>
            </a:r>
            <a:r>
              <a:rPr sz="1350" spc="-23" dirty="0">
                <a:solidFill>
                  <a:srgbClr val="D1D5DB"/>
                </a:solidFill>
                <a:latin typeface="DejaVu Sans"/>
                <a:cs typeface="DejaVu Sans"/>
              </a:rPr>
              <a:t>server.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11217" y="4278054"/>
            <a:ext cx="511070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Các hàm phổ biến như `fetchPosts()`,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`createPost()`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minh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họa cách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Repository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quản lý tương tác dữ liệu.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96217" y="4955084"/>
            <a:ext cx="7619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SafeCall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03920" y="4955084"/>
            <a:ext cx="159993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Exception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Handling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17778" y="4955084"/>
            <a:ext cx="58477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CRUD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248375" y="4955084"/>
            <a:ext cx="2080543" cy="631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Access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Layer</a:t>
            </a:r>
          </a:p>
          <a:p>
            <a:pPr marL="1154310" marR="0">
              <a:lnSpc>
                <a:spcPts val="1368"/>
              </a:lnSpc>
              <a:spcBef>
                <a:spcPts val="1931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Minh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họa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88206" y="5374184"/>
            <a:ext cx="92302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Mạnh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DejaVu Sans"/>
                <a:cs typeface="DejaVu Sans"/>
              </a:rPr>
              <a:t>mẽ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13371" y="5374184"/>
            <a:ext cx="80815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Ổn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709766" y="5374184"/>
            <a:ext cx="129073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264050" y="6591875"/>
            <a:ext cx="6332041" cy="870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"`Repository</a:t>
            </a:r>
            <a:r>
              <a:rPr sz="1500" spc="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Pattern`</a:t>
            </a:r>
            <a:r>
              <a:rPr sz="1500" spc="17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cùng `UseCase Layer` là bộ đôi không thể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thiếu trong</a:t>
            </a:r>
            <a:r>
              <a:rPr sz="1500" spc="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kiến trúc Android</a:t>
            </a:r>
            <a:r>
              <a:rPr sz="1500" spc="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có khả năng </a:t>
            </a:r>
            <a:r>
              <a:rPr sz="1500" spc="10" dirty="0">
                <a:solidFill>
                  <a:srgbClr val="E5E7EB"/>
                </a:solidFill>
                <a:latin typeface="DejaVu Sans"/>
                <a:cs typeface="DejaVu Sans"/>
              </a:rPr>
              <a:t>mở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 rộng."</a:t>
            </a:r>
          </a:p>
          <a:p>
            <a:pPr marL="0" marR="0">
              <a:lnSpc>
                <a:spcPts val="1368"/>
              </a:lnSpc>
              <a:spcBef>
                <a:spcPts val="1101"/>
              </a:spcBef>
              <a:spcAft>
                <a:spcPts val="0"/>
              </a:spcAft>
            </a:pPr>
            <a:r>
              <a:rPr sz="1200" dirty="0">
                <a:solidFill>
                  <a:srgbClr val="00FFFF"/>
                </a:solidFill>
                <a:latin typeface="DejaVu Sans"/>
                <a:cs typeface="DejaVu Sans"/>
              </a:rPr>
              <a:t>-</a:t>
            </a:r>
            <a:r>
              <a:rPr sz="1200" spc="-17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FFFF"/>
                </a:solidFill>
                <a:latin typeface="DejaVu Sans"/>
                <a:cs typeface="DejaVu Sans"/>
              </a:rPr>
              <a:t>Medium.com,</a:t>
            </a:r>
            <a:r>
              <a:rPr sz="1200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FFFF"/>
                </a:solidFill>
                <a:latin typeface="DejaVu Sans"/>
                <a:cs typeface="DejaVu Sans"/>
              </a:rPr>
              <a:t>Scalable</a:t>
            </a:r>
            <a:r>
              <a:rPr sz="1200" spc="-10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FFFF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FFFF"/>
                </a:solidFill>
                <a:latin typeface="DejaVu Sans"/>
                <a:cs typeface="DejaVu Sans"/>
              </a:rPr>
              <a:t>Network</a:t>
            </a:r>
            <a:r>
              <a:rPr sz="1200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FFFF"/>
                </a:solidFill>
                <a:latin typeface="DejaVu Sans"/>
                <a:cs typeface="DejaVu Sans"/>
              </a:rPr>
              <a:t>Layer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522065" y="7812584"/>
            <a:ext cx="22884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Sơ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đồ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DejaVu Sans"/>
                <a:cs typeface="DejaVu Sans"/>
              </a:rPr>
              <a:t>trừu </a:t>
            </a:r>
            <a:r>
              <a:rPr sz="1200" spc="-14" dirty="0">
                <a:solidFill>
                  <a:srgbClr val="9CA3AF"/>
                </a:solidFill>
                <a:latin typeface="DejaVu Sans"/>
                <a:cs typeface="DejaVu Sans"/>
              </a:rPr>
              <a:t>tượng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1182646" y="7891378"/>
            <a:ext cx="725397" cy="148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73"/>
              </a:lnSpc>
              <a:spcBef>
                <a:spcPts val="0"/>
              </a:spcBef>
              <a:spcAft>
                <a:spcPts val="0"/>
              </a:spcAft>
            </a:pPr>
            <a:r>
              <a:rPr sz="750" b="1" dirty="0">
                <a:solidFill>
                  <a:srgbClr val="9CA3AF"/>
                </a:solidFill>
                <a:latin typeface="DejaVu Sans"/>
                <a:cs typeface="DejaVu Sans"/>
              </a:rPr>
              <a:t>Reference: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026323" y="8034253"/>
            <a:ext cx="4891366" cy="148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7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9CA3AF"/>
                </a:solidFill>
                <a:latin typeface="DejaVu Sans"/>
                <a:cs typeface="DejaVu Sans"/>
              </a:rPr>
              <a:t>Building a Scalable Android Network Layer with Retroﬁt... • Retroﬁt with Kotlin Coroutine in Android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509294" y="8177128"/>
            <a:ext cx="5408404" cy="148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7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9CA3AF"/>
                </a:solidFill>
                <a:latin typeface="DejaVu Sans"/>
                <a:cs typeface="DejaVu Sans"/>
              </a:rPr>
              <a:t>Retroﬁt 3.0: The </a:t>
            </a:r>
            <a:r>
              <a:rPr sz="750" spc="-10" dirty="0">
                <a:solidFill>
                  <a:srgbClr val="9CA3AF"/>
                </a:solidFill>
                <a:latin typeface="DejaVu Sans"/>
                <a:cs typeface="DejaVu Sans"/>
              </a:rPr>
              <a:t>Future</a:t>
            </a:r>
            <a:r>
              <a:rPr sz="750" spc="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750" dirty="0">
                <a:solidFill>
                  <a:srgbClr val="9CA3AF"/>
                </a:solidFill>
                <a:latin typeface="DejaVu Sans"/>
                <a:cs typeface="DejaVu Sans"/>
              </a:rPr>
              <a:t>of Android Networking • Best Practices of Retroﬁt and OkHttp in Android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394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95722" y="322631"/>
            <a:ext cx="999522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Repository: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FFFF"/>
                </a:solidFill>
                <a:latin typeface="DejaVu Sans"/>
                <a:cs typeface="DejaVu Sans"/>
              </a:rPr>
              <a:t>Quản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lý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FFFF"/>
                </a:solidFill>
                <a:latin typeface="DejaVu Sans"/>
                <a:cs typeface="DejaVu Sans"/>
              </a:rPr>
              <a:t>nguồn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FFFF"/>
                </a:solidFill>
                <a:latin typeface="DejaVu Sans"/>
                <a:cs typeface="DejaVu Sans"/>
              </a:rPr>
              <a:t>dữ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8649" y="1369911"/>
            <a:ext cx="441466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47" dirty="0">
                <a:solidFill>
                  <a:srgbClr val="FFFFFF"/>
                </a:solidFill>
                <a:latin typeface="DejaVu Sans"/>
                <a:cs typeface="DejaVu Sans"/>
              </a:rPr>
              <a:t>Trừu</a:t>
            </a:r>
            <a:r>
              <a:rPr sz="2000" b="1" spc="6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tượng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nguồn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20209" y="1369911"/>
            <a:ext cx="379759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Thao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tác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Network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trên IO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9656" y="1839654"/>
            <a:ext cx="512536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Tạo lớp `Repository` ẩn giấu chi tiết API và Database, đơn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giản hóa giao diện truy cập dữ liệu.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11217" y="1839654"/>
            <a:ext cx="510037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Sử dụng `withContext(Dispatchers.IO)` đảm bảo các cuộc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gọi mạng thực hiện </a:t>
            </a:r>
            <a:r>
              <a:rPr sz="1350" spc="-12" dirty="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luồng riêng biệt, không chặn UI.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6217" y="2516684"/>
            <a:ext cx="3886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30808" y="2516684"/>
            <a:ext cx="86503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Database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17778" y="2516684"/>
            <a:ext cx="9599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19999" y="2516684"/>
            <a:ext cx="5779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88206" y="2945309"/>
            <a:ext cx="9130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50" dirty="0">
                <a:solidFill>
                  <a:srgbClr val="FFFFFF"/>
                </a:solidFill>
                <a:latin typeface="DejaVu Sans"/>
                <a:cs typeface="DejaVu Sans"/>
              </a:rPr>
              <a:t>Tách</a:t>
            </a:r>
            <a:r>
              <a:rPr sz="1200" b="1" spc="23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biệt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03400" y="2945309"/>
            <a:ext cx="120371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Modular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709766" y="2945309"/>
            <a:ext cx="117419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Bất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đồng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286153" y="2945309"/>
            <a:ext cx="95522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98649" y="3798786"/>
            <a:ext cx="287451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lỗi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nhất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quán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920209" y="3798786"/>
            <a:ext cx="200569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Ví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dụ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tế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9656" y="4278054"/>
            <a:ext cx="530866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Gói API calls bằng `safeCall` cung cấp cơ chế đồng bộ để xử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lý mọi lỗi, từ network đến </a:t>
            </a:r>
            <a:r>
              <a:rPr sz="1350" spc="-23" dirty="0">
                <a:solidFill>
                  <a:srgbClr val="D1D5DB"/>
                </a:solidFill>
                <a:latin typeface="DejaVu Sans"/>
                <a:cs typeface="DejaVu Sans"/>
              </a:rPr>
              <a:t>server.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11217" y="4278054"/>
            <a:ext cx="511070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Các hàm phổ biến như `fetchPosts()`,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`createPost()`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minh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họa cách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Repository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quản lý tương tác dữ liệu.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96217" y="4955084"/>
            <a:ext cx="7619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SafeCall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603920" y="4955084"/>
            <a:ext cx="159993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Exception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Handling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17778" y="4955084"/>
            <a:ext cx="58477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CRUD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248375" y="4955084"/>
            <a:ext cx="2080543" cy="6310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Access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Layer</a:t>
            </a:r>
          </a:p>
          <a:p>
            <a:pPr marL="1154310" marR="0">
              <a:lnSpc>
                <a:spcPts val="1368"/>
              </a:lnSpc>
              <a:spcBef>
                <a:spcPts val="1931"/>
              </a:spcBef>
              <a:spcAft>
                <a:spcPts val="0"/>
              </a:spcAft>
            </a:pP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Minh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họa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88206" y="5374184"/>
            <a:ext cx="92302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Mạnh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25" dirty="0">
                <a:solidFill>
                  <a:srgbClr val="FFFFFF"/>
                </a:solidFill>
                <a:latin typeface="DejaVu Sans"/>
                <a:cs typeface="DejaVu Sans"/>
              </a:rPr>
              <a:t>mẽ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13371" y="5374184"/>
            <a:ext cx="80815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Ổn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709766" y="5374184"/>
            <a:ext cx="129073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tương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264050" y="6591875"/>
            <a:ext cx="6332041" cy="870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"`Repository</a:t>
            </a:r>
            <a:r>
              <a:rPr sz="1500" spc="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Pattern`</a:t>
            </a:r>
            <a:r>
              <a:rPr sz="1500" spc="17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cùng `UseCase Layer` là bộ đôi không thể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thiếu trong</a:t>
            </a:r>
            <a:r>
              <a:rPr sz="1500" spc="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kiến trúc Android</a:t>
            </a:r>
            <a:r>
              <a:rPr sz="1500" spc="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có khả năng </a:t>
            </a:r>
            <a:r>
              <a:rPr sz="1500" spc="10" dirty="0">
                <a:solidFill>
                  <a:srgbClr val="E5E7EB"/>
                </a:solidFill>
                <a:latin typeface="DejaVu Sans"/>
                <a:cs typeface="DejaVu Sans"/>
              </a:rPr>
              <a:t>mở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 rộng."</a:t>
            </a:r>
          </a:p>
          <a:p>
            <a:pPr marL="0" marR="0">
              <a:lnSpc>
                <a:spcPts val="1368"/>
              </a:lnSpc>
              <a:spcBef>
                <a:spcPts val="1101"/>
              </a:spcBef>
              <a:spcAft>
                <a:spcPts val="0"/>
              </a:spcAft>
            </a:pPr>
            <a:r>
              <a:rPr sz="1200" dirty="0">
                <a:solidFill>
                  <a:srgbClr val="00FFFF"/>
                </a:solidFill>
                <a:latin typeface="DejaVu Sans"/>
                <a:cs typeface="DejaVu Sans"/>
              </a:rPr>
              <a:t>-</a:t>
            </a:r>
            <a:r>
              <a:rPr sz="1200" spc="-17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FFFF"/>
                </a:solidFill>
                <a:latin typeface="DejaVu Sans"/>
                <a:cs typeface="DejaVu Sans"/>
              </a:rPr>
              <a:t>Medium.com,</a:t>
            </a:r>
            <a:r>
              <a:rPr sz="1200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FFFF"/>
                </a:solidFill>
                <a:latin typeface="DejaVu Sans"/>
                <a:cs typeface="DejaVu Sans"/>
              </a:rPr>
              <a:t>Scalable</a:t>
            </a:r>
            <a:r>
              <a:rPr sz="1200" spc="-10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00FFFF"/>
                </a:solidFill>
                <a:latin typeface="DejaVu Sans"/>
                <a:cs typeface="DejaVu Sans"/>
              </a:rPr>
              <a:t>Android</a:t>
            </a:r>
            <a:r>
              <a:rPr sz="1200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FFFF"/>
                </a:solidFill>
                <a:latin typeface="DejaVu Sans"/>
                <a:cs typeface="DejaVu Sans"/>
              </a:rPr>
              <a:t>Network</a:t>
            </a:r>
            <a:r>
              <a:rPr sz="1200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FFFF"/>
                </a:solidFill>
                <a:latin typeface="DejaVu Sans"/>
                <a:cs typeface="DejaVu Sans"/>
              </a:rPr>
              <a:t>Layer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522065" y="7812584"/>
            <a:ext cx="22884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Sơ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đồ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9CA3AF"/>
                </a:solidFill>
                <a:latin typeface="DejaVu Sans"/>
                <a:cs typeface="DejaVu Sans"/>
              </a:rPr>
              <a:t>trừu </a:t>
            </a:r>
            <a:r>
              <a:rPr sz="1200" spc="-14" dirty="0">
                <a:solidFill>
                  <a:srgbClr val="9CA3AF"/>
                </a:solidFill>
                <a:latin typeface="DejaVu Sans"/>
                <a:cs typeface="DejaVu Sans"/>
              </a:rPr>
              <a:t>tượng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hóa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CA3A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9CA3AF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1182646" y="7891378"/>
            <a:ext cx="725397" cy="148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73"/>
              </a:lnSpc>
              <a:spcBef>
                <a:spcPts val="0"/>
              </a:spcBef>
              <a:spcAft>
                <a:spcPts val="0"/>
              </a:spcAft>
            </a:pPr>
            <a:r>
              <a:rPr sz="750" b="1" dirty="0">
                <a:solidFill>
                  <a:srgbClr val="9CA3AF"/>
                </a:solidFill>
                <a:latin typeface="DejaVu Sans"/>
                <a:cs typeface="DejaVu Sans"/>
              </a:rPr>
              <a:t>Reference: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026323" y="8034253"/>
            <a:ext cx="4891366" cy="148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7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9CA3AF"/>
                </a:solidFill>
                <a:latin typeface="DejaVu Sans"/>
                <a:cs typeface="DejaVu Sans"/>
              </a:rPr>
              <a:t>Building a Scalable Android Network Layer with Retroﬁt... • Retroﬁt with Kotlin Coroutine in Android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509294" y="8177128"/>
            <a:ext cx="5408404" cy="148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73"/>
              </a:lnSpc>
              <a:spcBef>
                <a:spcPts val="0"/>
              </a:spcBef>
              <a:spcAft>
                <a:spcPts val="0"/>
              </a:spcAft>
            </a:pPr>
            <a:r>
              <a:rPr sz="750" dirty="0">
                <a:solidFill>
                  <a:srgbClr val="9CA3AF"/>
                </a:solidFill>
                <a:latin typeface="DejaVu Sans"/>
                <a:cs typeface="DejaVu Sans"/>
              </a:rPr>
              <a:t>Retroﬁt 3.0: The </a:t>
            </a:r>
            <a:r>
              <a:rPr sz="750" spc="-10" dirty="0">
                <a:solidFill>
                  <a:srgbClr val="9CA3AF"/>
                </a:solidFill>
                <a:latin typeface="DejaVu Sans"/>
                <a:cs typeface="DejaVu Sans"/>
              </a:rPr>
              <a:t>Future</a:t>
            </a:r>
            <a:r>
              <a:rPr sz="750" spc="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750" dirty="0">
                <a:solidFill>
                  <a:srgbClr val="9CA3AF"/>
                </a:solidFill>
                <a:latin typeface="DejaVu Sans"/>
                <a:cs typeface="DejaVu Sans"/>
              </a:rPr>
              <a:t>of Android Networking • Best Practices of Retroﬁt and OkHttp in Android Development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8242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16831" y="322631"/>
            <a:ext cx="971071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20" dirty="0">
                <a:solidFill>
                  <a:srgbClr val="FFFFFF"/>
                </a:solidFill>
                <a:latin typeface="DejaVu Sans"/>
                <a:cs typeface="DejaVu Sans"/>
              </a:rPr>
              <a:t>ViewModel: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FFFF"/>
                </a:solidFill>
                <a:latin typeface="DejaVu Sans"/>
                <a:cs typeface="DejaVu Sans"/>
              </a:rPr>
              <a:t>Quản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lý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3795" y="1379436"/>
            <a:ext cx="313261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nghĩa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`UiState`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25356" y="1379436"/>
            <a:ext cx="331012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Quản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 với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StateFlow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3795" y="1857950"/>
            <a:ext cx="3993114" cy="652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Biểu diễn các trạng thái của giao diện.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Đảm bảo UI nhất quán và dễ quản </a:t>
            </a:r>
            <a:r>
              <a:rPr sz="1500" spc="-68" dirty="0">
                <a:solidFill>
                  <a:srgbClr val="D1D5DB"/>
                </a:solidFill>
                <a:latin typeface="DejaVu Sans"/>
                <a:cs typeface="DejaVu Sans"/>
              </a:rPr>
              <a:t>lý.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25356" y="1857950"/>
            <a:ext cx="5147390" cy="652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`MutableStateFlow`: Cập nhật trạng thái (private).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`StateFlow`: Expose trạng thái bất biến cho UI.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2344" y="2573834"/>
            <a:ext cx="7442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2CD32"/>
                </a:solidFill>
                <a:latin typeface="DejaVu Sans"/>
                <a:cs typeface="DejaVu Sans"/>
              </a:rPr>
              <a:t>Loading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03226" y="2573834"/>
            <a:ext cx="7536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32CD32"/>
                </a:solidFill>
                <a:latin typeface="DejaVu Sans"/>
                <a:cs typeface="DejaVu Sans"/>
              </a:rPr>
              <a:t>Success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6014" y="2573834"/>
            <a:ext cx="5223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32CD32"/>
                </a:solidFill>
                <a:latin typeface="DejaVu Sans"/>
                <a:cs typeface="DejaVu Sans"/>
              </a:rPr>
              <a:t>Error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23905" y="2573834"/>
            <a:ext cx="8020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32CD32"/>
                </a:solidFill>
                <a:latin typeface="DejaVu Sans"/>
                <a:cs typeface="DejaVu Sans"/>
              </a:rPr>
              <a:t>Reactive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878364" y="2573834"/>
            <a:ext cx="96034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2CD32"/>
                </a:solidFill>
                <a:latin typeface="DejaVu Sans"/>
                <a:cs typeface="DejaVu Sans"/>
              </a:rPr>
              <a:t>Immutable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97726" y="2573834"/>
            <a:ext cx="100395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32CD32"/>
                </a:solidFill>
                <a:latin typeface="DejaVu Sans"/>
                <a:cs typeface="DejaVu Sans"/>
              </a:rPr>
              <a:t>Observable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3795" y="3484461"/>
            <a:ext cx="494338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Coroutine trong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viewModelScope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25356" y="3484461"/>
            <a:ext cx="312860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56" dirty="0">
                <a:solidFill>
                  <a:srgbClr val="FFFFFF"/>
                </a:solidFill>
                <a:latin typeface="DejaVu Sans"/>
                <a:cs typeface="DejaVu Sans"/>
              </a:rPr>
              <a:t>Tách</a:t>
            </a:r>
            <a:r>
              <a:rPr sz="2000" b="1" spc="7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biệt Logic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3795" y="3972500"/>
            <a:ext cx="402601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Gắn coroutine với vòng đời ViewModel.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25356" y="3972500"/>
            <a:ext cx="384040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ViewModel chứa logic, độc lập với UI.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03795" y="4353500"/>
            <a:ext cx="5195205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Tự động hủy khi ViewModel bị clear, tránh memory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leak.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25356" y="4353500"/>
            <a:ext cx="457733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UI chỉ quan sát và hiển thị trạng thái dữ liệu.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723905" y="4678859"/>
            <a:ext cx="7915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6" dirty="0">
                <a:solidFill>
                  <a:srgbClr val="32CD32"/>
                </a:solidFill>
                <a:latin typeface="DejaVu Sans"/>
                <a:cs typeface="DejaVu Sans"/>
              </a:rPr>
              <a:t>Testable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849343" y="4678859"/>
            <a:ext cx="11148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32CD32"/>
                </a:solidFill>
                <a:latin typeface="DejaVu Sans"/>
                <a:cs typeface="DejaVu Sans"/>
              </a:rPr>
              <a:t>Maintainable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02344" y="4974134"/>
            <a:ext cx="131994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2CD32"/>
                </a:solidFill>
                <a:latin typeface="DejaVu Sans"/>
                <a:cs typeface="DejaVu Sans"/>
              </a:rPr>
              <a:t>Lifecycle-aware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577851" y="4974134"/>
            <a:ext cx="107746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32CD32"/>
                </a:solidFill>
                <a:latin typeface="DejaVu Sans"/>
                <a:cs typeface="DejaVu Sans"/>
              </a:rPr>
              <a:t>Cancellation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84212" y="5629095"/>
            <a:ext cx="344481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Ví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Phương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`load()`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32370" y="6097329"/>
            <a:ext cx="5261052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1. Cập nhật trạng thái:</a:t>
            </a:r>
            <a:r>
              <a:rPr sz="1350" spc="333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_posts.value = UiState.Loading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32370" y="6411654"/>
            <a:ext cx="432309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2. Khởi chạy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`viewModelScope` để gọi API: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73633" y="6706929"/>
            <a:ext cx="4285871" cy="24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DejaVu Sans"/>
                <a:cs typeface="DejaVu Sans"/>
              </a:rPr>
              <a:t>Thành công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: Cập nhật</a:t>
            </a:r>
            <a:r>
              <a:rPr sz="1350" spc="33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UiState.Success(data)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73633" y="6973629"/>
            <a:ext cx="4289314" cy="24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87171"/>
                </a:solidFill>
                <a:latin typeface="DejaVu Sans"/>
                <a:cs typeface="DejaVu Sans"/>
              </a:rPr>
              <a:t>Thất bại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: Cập nhật</a:t>
            </a:r>
            <a:r>
              <a:rPr sz="1350" spc="33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UiState.Error(exception)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30919" y="7403009"/>
            <a:ext cx="11919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2CD32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32CD32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32CD32"/>
                </a:solidFill>
                <a:latin typeface="DejaVu Sans"/>
                <a:cs typeface="DejaVu Sans"/>
              </a:rPr>
              <a:t>Fetching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482304" y="7403009"/>
            <a:ext cx="113563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32CD32"/>
                </a:solidFill>
                <a:latin typeface="DejaVu Sans"/>
                <a:cs typeface="DejaVu Sans"/>
              </a:rPr>
              <a:t>State</a:t>
            </a:r>
            <a:r>
              <a:rPr sz="1200" spc="-10" dirty="0">
                <a:solidFill>
                  <a:srgbClr val="32CD32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2CD32"/>
                </a:solidFill>
                <a:latin typeface="DejaVu Sans"/>
                <a:cs typeface="DejaVu Sans"/>
              </a:rPr>
              <a:t>Update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910309" y="7984788"/>
            <a:ext cx="826353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Building a Scalable Android Network Layer with Retroﬁt</a:t>
            </a:r>
            <a:r>
              <a:rPr sz="1000" spc="11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(Medium), Get data from</a:t>
            </a:r>
            <a:r>
              <a:rPr sz="1000" spc="14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the internet (developer.android.com)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8242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16831" y="322631"/>
            <a:ext cx="9710711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20" dirty="0">
                <a:solidFill>
                  <a:srgbClr val="FFFFFF"/>
                </a:solidFill>
                <a:latin typeface="DejaVu Sans"/>
                <a:cs typeface="DejaVu Sans"/>
              </a:rPr>
              <a:t>ViewModel: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FFFF"/>
                </a:solidFill>
                <a:latin typeface="DejaVu Sans"/>
                <a:cs typeface="DejaVu Sans"/>
              </a:rPr>
              <a:t>Quản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lý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3795" y="1379436"/>
            <a:ext cx="313261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Định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nghĩa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`UiState`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25356" y="1379436"/>
            <a:ext cx="331012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Quản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lý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 với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StateFlow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3795" y="1857950"/>
            <a:ext cx="3993114" cy="652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Biểu diễn các trạng thái của giao diện.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Đảm bảo UI nhất quán và dễ quản </a:t>
            </a:r>
            <a:r>
              <a:rPr sz="1500" spc="-68" dirty="0">
                <a:solidFill>
                  <a:srgbClr val="D1D5DB"/>
                </a:solidFill>
                <a:latin typeface="DejaVu Sans"/>
                <a:cs typeface="DejaVu Sans"/>
              </a:rPr>
              <a:t>lý.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25356" y="1857950"/>
            <a:ext cx="5147390" cy="652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`MutableStateFlow`: Cập nhật trạng thái (private).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`StateFlow`: Expose trạng thái bất biến cho UI.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2344" y="2573834"/>
            <a:ext cx="74426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32CD32"/>
                </a:solidFill>
                <a:latin typeface="DejaVu Sans"/>
                <a:cs typeface="DejaVu Sans"/>
              </a:rPr>
              <a:t>Loading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03226" y="2573834"/>
            <a:ext cx="7536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32CD32"/>
                </a:solidFill>
                <a:latin typeface="DejaVu Sans"/>
                <a:cs typeface="DejaVu Sans"/>
              </a:rPr>
              <a:t>Success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16014" y="2573834"/>
            <a:ext cx="5223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32CD32"/>
                </a:solidFill>
                <a:latin typeface="DejaVu Sans"/>
                <a:cs typeface="DejaVu Sans"/>
              </a:rPr>
              <a:t>Error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23905" y="2573834"/>
            <a:ext cx="80202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32CD32"/>
                </a:solidFill>
                <a:latin typeface="DejaVu Sans"/>
                <a:cs typeface="DejaVu Sans"/>
              </a:rPr>
              <a:t>Reactive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878364" y="2573834"/>
            <a:ext cx="96034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2CD32"/>
                </a:solidFill>
                <a:latin typeface="DejaVu Sans"/>
                <a:cs typeface="DejaVu Sans"/>
              </a:rPr>
              <a:t>Immutable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97726" y="2573834"/>
            <a:ext cx="100395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32CD32"/>
                </a:solidFill>
                <a:latin typeface="DejaVu Sans"/>
                <a:cs typeface="DejaVu Sans"/>
              </a:rPr>
              <a:t>Observable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3795" y="3484461"/>
            <a:ext cx="494338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Coroutine trong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viewModelScope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25356" y="3484461"/>
            <a:ext cx="312860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56" dirty="0">
                <a:solidFill>
                  <a:srgbClr val="FFFFFF"/>
                </a:solidFill>
                <a:latin typeface="DejaVu Sans"/>
                <a:cs typeface="DejaVu Sans"/>
              </a:rPr>
              <a:t>Tách</a:t>
            </a:r>
            <a:r>
              <a:rPr sz="2000" b="1" spc="7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biệt Logic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3795" y="3972500"/>
            <a:ext cx="402601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Gắn coroutine với vòng đời ViewModel.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25356" y="3972500"/>
            <a:ext cx="384040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ViewModel chứa logic, độc lập với UI.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03795" y="4353500"/>
            <a:ext cx="5195205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Tự động hủy khi ViewModel bị clear, tránh memory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leak.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425356" y="4353500"/>
            <a:ext cx="457733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- UI chỉ quan sát và hiển thị trạng thái dữ liệu.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723905" y="4678859"/>
            <a:ext cx="7915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6" dirty="0">
                <a:solidFill>
                  <a:srgbClr val="32CD32"/>
                </a:solidFill>
                <a:latin typeface="DejaVu Sans"/>
                <a:cs typeface="DejaVu Sans"/>
              </a:rPr>
              <a:t>Testable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849343" y="4678859"/>
            <a:ext cx="11148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32CD32"/>
                </a:solidFill>
                <a:latin typeface="DejaVu Sans"/>
                <a:cs typeface="DejaVu Sans"/>
              </a:rPr>
              <a:t>Maintainable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02344" y="4974134"/>
            <a:ext cx="131994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2CD32"/>
                </a:solidFill>
                <a:latin typeface="DejaVu Sans"/>
                <a:cs typeface="DejaVu Sans"/>
              </a:rPr>
              <a:t>Lifecycle-aware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577851" y="4974134"/>
            <a:ext cx="107746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32CD32"/>
                </a:solidFill>
                <a:latin typeface="DejaVu Sans"/>
                <a:cs typeface="DejaVu Sans"/>
              </a:rPr>
              <a:t>Cancellation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84212" y="5629095"/>
            <a:ext cx="344481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Ví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dụ: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Phương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`load()`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32370" y="6097329"/>
            <a:ext cx="5261052" cy="247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1. Cập nhật trạng thái:</a:t>
            </a:r>
            <a:r>
              <a:rPr sz="1350" spc="333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_posts.value = UiState.Loading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32370" y="6411654"/>
            <a:ext cx="4323093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2. Khởi chạy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`viewModelScope` để gọi API: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973633" y="6706929"/>
            <a:ext cx="4285871" cy="24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FFFF"/>
                </a:solidFill>
                <a:latin typeface="DejaVu Sans"/>
                <a:cs typeface="DejaVu Sans"/>
              </a:rPr>
              <a:t>Thành công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: Cập nhật</a:t>
            </a:r>
            <a:r>
              <a:rPr sz="1350" spc="33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UiState.Success(data)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73633" y="6973629"/>
            <a:ext cx="4289314" cy="2477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87171"/>
                </a:solidFill>
                <a:latin typeface="DejaVu Sans"/>
                <a:cs typeface="DejaVu Sans"/>
              </a:rPr>
              <a:t>Thất bại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: Cập nhật</a:t>
            </a:r>
            <a:r>
              <a:rPr sz="1350" spc="335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UiState.Error(exception)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930919" y="7403009"/>
            <a:ext cx="11919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32CD32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32CD32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32CD32"/>
                </a:solidFill>
                <a:latin typeface="DejaVu Sans"/>
                <a:cs typeface="DejaVu Sans"/>
              </a:rPr>
              <a:t>Fetching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482304" y="7403009"/>
            <a:ext cx="113563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32CD32"/>
                </a:solidFill>
                <a:latin typeface="DejaVu Sans"/>
                <a:cs typeface="DejaVu Sans"/>
              </a:rPr>
              <a:t>State</a:t>
            </a:r>
            <a:r>
              <a:rPr sz="1200" spc="-10" dirty="0">
                <a:solidFill>
                  <a:srgbClr val="32CD32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32CD32"/>
                </a:solidFill>
                <a:latin typeface="DejaVu Sans"/>
                <a:cs typeface="DejaVu Sans"/>
              </a:rPr>
              <a:t>Update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910309" y="7984788"/>
            <a:ext cx="826353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Building a Scalable Android Network Layer with Retroﬁt</a:t>
            </a:r>
            <a:r>
              <a:rPr sz="1000" spc="11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(Medium), Get data from</a:t>
            </a:r>
            <a:r>
              <a:rPr sz="1000" spc="14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the internet (developer.android.com)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90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813" y="448615"/>
            <a:ext cx="10188600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25" dirty="0">
                <a:solidFill>
                  <a:srgbClr val="FFFFFF"/>
                </a:solidFill>
                <a:latin typeface="DejaVu Sans"/>
                <a:cs typeface="DejaVu Sans"/>
              </a:rPr>
              <a:t>Activity/Fragment:</a:t>
            </a:r>
            <a:r>
              <a:rPr sz="405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22D3EE"/>
                </a:solidFill>
                <a:latin typeface="DejaVu Sans"/>
                <a:cs typeface="DejaVu Sans"/>
              </a:rPr>
              <a:t>Hiển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22D3EE"/>
                </a:solidFill>
                <a:latin typeface="DejaVu Sans"/>
                <a:cs typeface="DejaVu Sans"/>
              </a:rPr>
              <a:t>thị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22D3EE"/>
                </a:solidFill>
                <a:latin typeface="DejaVu Sans"/>
                <a:cs typeface="DejaVu Sans"/>
              </a:rPr>
              <a:t>Dữ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96331" y="1600670"/>
            <a:ext cx="3142625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Thập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An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-58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96331" y="2365688"/>
            <a:ext cx="85578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Sử dụng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96331" y="2622863"/>
            <a:ext cx="33435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`lifecycleScope.launchWhenStarted`.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96331" y="2927663"/>
            <a:ext cx="3189402" cy="532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Đảm bảo an toàn vòng đời Android.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Tự động hủy coroutine khi dừng.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94548" y="3880918"/>
            <a:ext cx="217581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34231" y="4239095"/>
            <a:ext cx="2963381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Quy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37" dirty="0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sz="2000" b="1" spc="5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Thập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`StateFlow`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31532" y="4696295"/>
            <a:ext cx="316412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23937" y="5185088"/>
            <a:ext cx="3991969" cy="134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`lifecycleScope` - Khởi tạo Coroutine.</a:t>
            </a:r>
          </a:p>
          <a:p>
            <a:pPr marL="0" marR="0">
              <a:lnSpc>
                <a:spcPts val="1564"/>
              </a:lnSpc>
              <a:spcBef>
                <a:spcPts val="27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`launchWhenStarted` - </a:t>
            </a:r>
            <a:r>
              <a:rPr sz="1350" spc="-17" dirty="0">
                <a:solidFill>
                  <a:srgbClr val="FFFFFF"/>
                </a:solidFill>
                <a:latin typeface="DejaVu Sans"/>
                <a:cs typeface="DejaVu Sans"/>
              </a:rPr>
              <a:t>Tiết</a:t>
            </a:r>
            <a:r>
              <a:rPr sz="1350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kiệm tài nguyên.</a:t>
            </a:r>
          </a:p>
          <a:p>
            <a:pPr marL="0" marR="0">
              <a:lnSpc>
                <a:spcPts val="1564"/>
              </a:lnSpc>
              <a:spcBef>
                <a:spcPts val="278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`StateFlow` - Nhận dữ liệu động.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93854" y="5299388"/>
            <a:ext cx="3738546" cy="126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1" dirty="0">
                <a:solidFill>
                  <a:srgbClr val="FFFFFF"/>
                </a:solidFill>
                <a:latin typeface="DejaVu Sans"/>
                <a:cs typeface="DejaVu Sans"/>
              </a:rPr>
              <a:t>ProgressBar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- Hiển thị trạng thái tải.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spc="-11" dirty="0">
                <a:solidFill>
                  <a:srgbClr val="FFFFFF"/>
                </a:solidFill>
                <a:latin typeface="DejaVu Sans"/>
                <a:cs typeface="DejaVu Sans"/>
              </a:rPr>
              <a:t>RecyclerView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- Hiển thị danh sách dữ liệu.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spc="-38" dirty="0">
                <a:solidFill>
                  <a:srgbClr val="FFFFFF"/>
                </a:solidFill>
                <a:latin typeface="DejaVu Sans"/>
                <a:cs typeface="DejaVu Sans"/>
              </a:rPr>
              <a:t>TextView</a:t>
            </a:r>
            <a:r>
              <a:rPr sz="1350" spc="3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- Hiển thị thông báo/lỗi.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Adapter - Quản lý hiển thị dữ liệu.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0666" y="6834422"/>
            <a:ext cx="5796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76982" y="6834422"/>
            <a:ext cx="9357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701527" y="6834422"/>
            <a:ext cx="8777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StateFlow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607967" y="6834422"/>
            <a:ext cx="3039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00886" y="6834422"/>
            <a:ext cx="111489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RecyclerView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02239" y="6834422"/>
            <a:ext cx="7322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Adapter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91654" y="7745804"/>
            <a:ext cx="4405278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`UiState`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-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 Nguồn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Liệu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Đáng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Tin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Cậy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927055" y="7745804"/>
            <a:ext cx="4225322" cy="8809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6" dirty="0">
                <a:solidFill>
                  <a:srgbClr val="FFFFFF"/>
                </a:solidFill>
                <a:latin typeface="DejaVu Sans"/>
                <a:cs typeface="DejaVu Sans"/>
              </a:rPr>
              <a:t>Lý</a:t>
            </a:r>
            <a:r>
              <a:rPr sz="1700" b="1" spc="10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</a:p>
          <a:p>
            <a:pPr marL="213270" marR="0">
              <a:lnSpc>
                <a:spcPts val="1368"/>
              </a:lnSpc>
              <a:spcBef>
                <a:spcPts val="937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(Snackbar,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44" dirty="0">
                <a:solidFill>
                  <a:srgbClr val="FFFFFF"/>
                </a:solidFill>
                <a:latin typeface="DejaVu Sans"/>
                <a:cs typeface="DejaVu Sans"/>
              </a:rPr>
              <a:t>Toast,</a:t>
            </a:r>
            <a:r>
              <a:rPr sz="1200" spc="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Dialog).</a:t>
            </a:r>
          </a:p>
          <a:p>
            <a:pPr marL="213270" marR="0">
              <a:lnSpc>
                <a:spcPts val="1368"/>
              </a:lnSpc>
              <a:spcBef>
                <a:spcPts val="906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rỗng/lỗi.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38696" y="8423588"/>
            <a:ext cx="430343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"Ánh xạ dữ liệu và lỗi vào trạng thái UI (Loading,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Success, </a:t>
            </a:r>
            <a:r>
              <a:rPr sz="1350" spc="-14" dirty="0">
                <a:solidFill>
                  <a:srgbClr val="D1D5DB"/>
                </a:solidFill>
                <a:latin typeface="DejaVu Sans"/>
                <a:cs typeface="DejaVu Sans"/>
              </a:rPr>
              <a:t>Error)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để UI luôn đồng bộ."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055047" y="8796572"/>
            <a:ext cx="132303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User Experience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566992" y="8796572"/>
            <a:ext cx="9894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Robustness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19646" y="9091847"/>
            <a:ext cx="136002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Immutable State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68649" y="9091847"/>
            <a:ext cx="135941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Predictable Flow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947272" y="9482372"/>
            <a:ext cx="4226531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Building a Scalable Android Network Layer with Retroﬁt</a:t>
            </a:r>
          </a:p>
          <a:p>
            <a:pPr marL="247352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Get data from</a:t>
            </a:r>
            <a:r>
              <a:rPr sz="1000" spc="14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the internet (developer.android.com)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90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813" y="448615"/>
            <a:ext cx="10188600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25" dirty="0">
                <a:solidFill>
                  <a:srgbClr val="FFFFFF"/>
                </a:solidFill>
                <a:latin typeface="DejaVu Sans"/>
                <a:cs typeface="DejaVu Sans"/>
              </a:rPr>
              <a:t>Activity/Fragment:</a:t>
            </a:r>
            <a:r>
              <a:rPr sz="405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22D3EE"/>
                </a:solidFill>
                <a:latin typeface="DejaVu Sans"/>
                <a:cs typeface="DejaVu Sans"/>
              </a:rPr>
              <a:t>Hiển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22D3EE"/>
                </a:solidFill>
                <a:latin typeface="DejaVu Sans"/>
                <a:cs typeface="DejaVu Sans"/>
              </a:rPr>
              <a:t>thị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22D3EE"/>
                </a:solidFill>
                <a:latin typeface="DejaVu Sans"/>
                <a:cs typeface="DejaVu Sans"/>
              </a:rPr>
              <a:t>Dữ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96331" y="1600670"/>
            <a:ext cx="3142625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Thập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An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-58" dirty="0">
                <a:solidFill>
                  <a:srgbClr val="FFFFFF"/>
                </a:solidFill>
                <a:latin typeface="DejaVu Sans"/>
                <a:cs typeface="DejaVu Sans"/>
              </a:rPr>
              <a:t>Toàn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96331" y="2365688"/>
            <a:ext cx="85578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Sử dụng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96331" y="2622863"/>
            <a:ext cx="33435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`lifecycleScope.launchWhenStarted`.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96331" y="2927663"/>
            <a:ext cx="3189402" cy="532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Đảm bảo an toàn vòng đời Android.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Tự động hủy coroutine khi dừng.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94548" y="3880918"/>
            <a:ext cx="217581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D1D5DB"/>
                </a:solidFill>
                <a:latin typeface="DejaVu Sans"/>
                <a:cs typeface="DejaVu Sans"/>
              </a:rPr>
              <a:t>Giao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D1D5DB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dùng</a:t>
            </a:r>
            <a:r>
              <a:rPr sz="12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D1D5DB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34231" y="4239095"/>
            <a:ext cx="2963381" cy="679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Quy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-37" dirty="0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sz="2000" b="1" spc="5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Thập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`StateFlow`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031532" y="4696295"/>
            <a:ext cx="316412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Thành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Phần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UI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23937" y="5185088"/>
            <a:ext cx="3991969" cy="1341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`lifecycleScope` - Khởi tạo Coroutine.</a:t>
            </a:r>
          </a:p>
          <a:p>
            <a:pPr marL="0" marR="0">
              <a:lnSpc>
                <a:spcPts val="1564"/>
              </a:lnSpc>
              <a:spcBef>
                <a:spcPts val="27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`launchWhenStarted` - </a:t>
            </a:r>
            <a:r>
              <a:rPr sz="1350" spc="-17" dirty="0">
                <a:solidFill>
                  <a:srgbClr val="FFFFFF"/>
                </a:solidFill>
                <a:latin typeface="DejaVu Sans"/>
                <a:cs typeface="DejaVu Sans"/>
              </a:rPr>
              <a:t>Tiết</a:t>
            </a:r>
            <a:r>
              <a:rPr sz="1350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kiệm tài nguyên.</a:t>
            </a:r>
          </a:p>
          <a:p>
            <a:pPr marL="0" marR="0">
              <a:lnSpc>
                <a:spcPts val="1564"/>
              </a:lnSpc>
              <a:spcBef>
                <a:spcPts val="278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`StateFlow` - Nhận dữ liệu động.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93854" y="5299388"/>
            <a:ext cx="3738546" cy="1265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1" dirty="0">
                <a:solidFill>
                  <a:srgbClr val="FFFFFF"/>
                </a:solidFill>
                <a:latin typeface="DejaVu Sans"/>
                <a:cs typeface="DejaVu Sans"/>
              </a:rPr>
              <a:t>ProgressBar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- Hiển thị trạng thái tải.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spc="-11" dirty="0">
                <a:solidFill>
                  <a:srgbClr val="FFFFFF"/>
                </a:solidFill>
                <a:latin typeface="DejaVu Sans"/>
                <a:cs typeface="DejaVu Sans"/>
              </a:rPr>
              <a:t>RecyclerView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 - Hiển thị danh sách dữ liệu.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spc="-38" dirty="0">
                <a:solidFill>
                  <a:srgbClr val="FFFFFF"/>
                </a:solidFill>
                <a:latin typeface="DejaVu Sans"/>
                <a:cs typeface="DejaVu Sans"/>
              </a:rPr>
              <a:t>TextView</a:t>
            </a:r>
            <a:r>
              <a:rPr sz="1350" spc="3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- Hiển thị thông báo/lỗi.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Adapter - Quản lý hiển thị dữ liệu.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10666" y="6834422"/>
            <a:ext cx="5796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76982" y="6834422"/>
            <a:ext cx="9357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701527" y="6834422"/>
            <a:ext cx="87774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StateFlow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607967" y="6834422"/>
            <a:ext cx="3039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100886" y="6834422"/>
            <a:ext cx="111489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RecyclerView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02239" y="6834422"/>
            <a:ext cx="73228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Adapter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91654" y="7745804"/>
            <a:ext cx="4405278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`UiState`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-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 Nguồn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Liệu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Đáng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Tin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Cậy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927055" y="7745804"/>
            <a:ext cx="4225322" cy="8809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Xử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6" dirty="0">
                <a:solidFill>
                  <a:srgbClr val="FFFFFF"/>
                </a:solidFill>
                <a:latin typeface="DejaVu Sans"/>
                <a:cs typeface="DejaVu Sans"/>
              </a:rPr>
              <a:t>Lý</a:t>
            </a:r>
            <a:r>
              <a:rPr sz="1700" b="1" spc="10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Phản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Hồi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Người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Dùng</a:t>
            </a:r>
          </a:p>
          <a:p>
            <a:pPr marL="213270" marR="0">
              <a:lnSpc>
                <a:spcPts val="1368"/>
              </a:lnSpc>
              <a:spcBef>
                <a:spcPts val="937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(Snackbar,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44" dirty="0">
                <a:solidFill>
                  <a:srgbClr val="FFFFFF"/>
                </a:solidFill>
                <a:latin typeface="DejaVu Sans"/>
                <a:cs typeface="DejaVu Sans"/>
              </a:rPr>
              <a:t>Toast,</a:t>
            </a:r>
            <a:r>
              <a:rPr sz="1200" spc="2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Dialog).</a:t>
            </a:r>
          </a:p>
          <a:p>
            <a:pPr marL="213270" marR="0">
              <a:lnSpc>
                <a:spcPts val="1368"/>
              </a:lnSpc>
              <a:spcBef>
                <a:spcPts val="906"/>
              </a:spcBef>
              <a:spcAft>
                <a:spcPts val="0"/>
              </a:spcAft>
            </a:pP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FFFFFF"/>
                </a:solidFill>
                <a:latin typeface="DejaVu Sans"/>
                <a:cs typeface="DejaVu Sans"/>
              </a:rPr>
              <a:t>rỗng/lỗi.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38696" y="8423588"/>
            <a:ext cx="430343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"Ánh xạ dữ liệu và lỗi vào trạng thái UI (Loading,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Success, </a:t>
            </a:r>
            <a:r>
              <a:rPr sz="1350" spc="-14" dirty="0">
                <a:solidFill>
                  <a:srgbClr val="D1D5DB"/>
                </a:solidFill>
                <a:latin typeface="DejaVu Sans"/>
                <a:cs typeface="DejaVu Sans"/>
              </a:rPr>
              <a:t>Error)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để UI luôn đồng bộ."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055047" y="8796572"/>
            <a:ext cx="132303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User Experience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566992" y="8796572"/>
            <a:ext cx="98944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Robustness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19646" y="9091847"/>
            <a:ext cx="136002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Immutable State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68649" y="9091847"/>
            <a:ext cx="135941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F172A"/>
                </a:solidFill>
                <a:latin typeface="DejaVu Sans"/>
                <a:cs typeface="DejaVu Sans"/>
              </a:rPr>
              <a:t>Predictable Flow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947272" y="9482372"/>
            <a:ext cx="4226531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Building a Scalable Android Network Layer with Retroﬁt</a:t>
            </a:r>
          </a:p>
          <a:p>
            <a:pPr marL="247352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Get data from</a:t>
            </a:r>
            <a:r>
              <a:rPr sz="1000" spc="14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the internet (developer.android.com)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9637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2791"/>
            <a:ext cx="8668556" cy="95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Retry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Exponential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34" dirty="0">
                <a:solidFill>
                  <a:srgbClr val="00FFFF"/>
                </a:solidFill>
                <a:latin typeface="DejaVu Sans"/>
                <a:cs typeface="DejaVu Sans"/>
              </a:rPr>
              <a:t>Backoﬀ</a:t>
            </a:r>
          </a:p>
          <a:p>
            <a:pPr marL="0" marR="0">
              <a:lnSpc>
                <a:spcPts val="1955"/>
              </a:lnSpc>
              <a:spcBef>
                <a:spcPts val="514"/>
              </a:spcBef>
              <a:spcAft>
                <a:spcPts val="0"/>
              </a:spcAft>
            </a:pP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Tăng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cường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ổn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cuộc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gọi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D1D5DB"/>
                </a:solidFill>
                <a:latin typeface="DejaVu Sans"/>
                <a:cs typeface="DejaVu Sans"/>
              </a:rPr>
              <a:t>mạng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6509" y="2311346"/>
            <a:ext cx="2881003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Tự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lại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8670" y="2315030"/>
            <a:ext cx="173988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Số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lần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lại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8670" y="2621339"/>
            <a:ext cx="457647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Cấu hình số lần tối đa để thử lại (ví dụ: 3 lần), tránh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vòng lặp vô hạn.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6509" y="2811085"/>
            <a:ext cx="156581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40" dirty="0">
                <a:solidFill>
                  <a:srgbClr val="E5E7EB"/>
                </a:solidFill>
                <a:latin typeface="DejaVu Sans"/>
                <a:cs typeface="DejaVu Sans"/>
              </a:rPr>
              <a:t>Triển</a:t>
            </a:r>
            <a:r>
              <a:rPr sz="1500" spc="5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khai hàm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80812" y="2811085"/>
            <a:ext cx="215536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để tự động thực hiện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06227" y="2842164"/>
            <a:ext cx="138155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retryBackoff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6509" y="3106360"/>
            <a:ext cx="5106054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lại các cuộc gọi API thất bại, giúp ứng dụng tự phục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hồi sau các lỗi mạng tạm thời.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88670" y="3686630"/>
            <a:ext cx="4775299" cy="79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chờ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ban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đầu</a:t>
            </a:r>
          </a:p>
          <a:p>
            <a:pPr marL="0" marR="0">
              <a:lnSpc>
                <a:spcPts val="1564"/>
              </a:lnSpc>
              <a:spcBef>
                <a:spcPts val="331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Thiết lập độ trễ ban đầu (ví dụ: 300ms) cho lần thử lại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đầu tiên.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6509" y="4968821"/>
            <a:ext cx="4289990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chờ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dần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88670" y="5048705"/>
            <a:ext cx="144791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số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88670" y="5345489"/>
            <a:ext cx="471102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Xác định cách thời gian chờ tăng lên sau mỗi lần thất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bại (ví dụ: nhân đôi).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6509" y="5478085"/>
            <a:ext cx="4854072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Thay vì thử lại ngay lập tức, cơ chế này tăng dần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thời gian chờ giữa mỗi lần thử lại, giảm tải cho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server và tăng khả năng thành công.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76712" y="6791780"/>
            <a:ext cx="399081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0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chờ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dần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9637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2791"/>
            <a:ext cx="8668556" cy="954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Retry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Exponential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34" dirty="0">
                <a:solidFill>
                  <a:srgbClr val="00FFFF"/>
                </a:solidFill>
                <a:latin typeface="DejaVu Sans"/>
                <a:cs typeface="DejaVu Sans"/>
              </a:rPr>
              <a:t>Backoﬀ</a:t>
            </a:r>
          </a:p>
          <a:p>
            <a:pPr marL="0" marR="0">
              <a:lnSpc>
                <a:spcPts val="1955"/>
              </a:lnSpc>
              <a:spcBef>
                <a:spcPts val="514"/>
              </a:spcBef>
              <a:spcAft>
                <a:spcPts val="0"/>
              </a:spcAft>
            </a:pP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Tăng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cường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độ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ổn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cho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các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cuộc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gọi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5" dirty="0">
                <a:solidFill>
                  <a:srgbClr val="D1D5DB"/>
                </a:solidFill>
                <a:latin typeface="DejaVu Sans"/>
                <a:cs typeface="DejaVu Sans"/>
              </a:rPr>
              <a:t>mạng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6509" y="2311346"/>
            <a:ext cx="2881003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Tự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lại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8670" y="2315030"/>
            <a:ext cx="173988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Số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lần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thử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lại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8670" y="2621339"/>
            <a:ext cx="457647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Cấu hình số lần tối đa để thử lại (ví dụ: 3 lần), tránh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vòng lặp vô hạn.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6509" y="2811085"/>
            <a:ext cx="156581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40" dirty="0">
                <a:solidFill>
                  <a:srgbClr val="E5E7EB"/>
                </a:solidFill>
                <a:latin typeface="DejaVu Sans"/>
                <a:cs typeface="DejaVu Sans"/>
              </a:rPr>
              <a:t>Triển</a:t>
            </a:r>
            <a:r>
              <a:rPr sz="1500" spc="5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khai hàm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580812" y="2811085"/>
            <a:ext cx="215536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để tự động thực hiện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06227" y="2842164"/>
            <a:ext cx="1381553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32CD32"/>
                </a:solidFill>
                <a:latin typeface="Liberation Mono"/>
                <a:cs typeface="Liberation Mono"/>
              </a:rPr>
              <a:t>retryBackoff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6509" y="3106360"/>
            <a:ext cx="5106054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lại các cuộc gọi API thất bại, giúp ứng dụng tự phục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hồi sau các lỗi mạng tạm thời.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88670" y="3686630"/>
            <a:ext cx="4775299" cy="79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chờ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ban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đầu</a:t>
            </a:r>
          </a:p>
          <a:p>
            <a:pPr marL="0" marR="0">
              <a:lnSpc>
                <a:spcPts val="1564"/>
              </a:lnSpc>
              <a:spcBef>
                <a:spcPts val="331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Thiết lập độ trễ ban đầu (ví dụ: 300ms) cho lần thử lại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đầu tiên.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6509" y="4968821"/>
            <a:ext cx="4289990" cy="4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1" dirty="0">
                <a:solidFill>
                  <a:srgbClr val="FFFFFF"/>
                </a:solidFill>
                <a:latin typeface="DejaVu Sans"/>
                <a:cs typeface="DejaVu Sans"/>
              </a:rPr>
              <a:t>chờ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0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25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500" b="1" spc="12" dirty="0">
                <a:solidFill>
                  <a:srgbClr val="FFFFFF"/>
                </a:solidFill>
                <a:latin typeface="DejaVu Sans"/>
                <a:cs typeface="DejaVu Sans"/>
              </a:rPr>
              <a:t>dần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88670" y="5048705"/>
            <a:ext cx="144791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Hệ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số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88670" y="5345489"/>
            <a:ext cx="471102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Xác định cách thời gian chờ tăng lên sau mỗi lần thất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bại (ví dụ: nhân đôi).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6509" y="5478085"/>
            <a:ext cx="4854072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Thay vì thử lại ngay lập tức, cơ chế này tăng dần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thời gian chờ giữa mỗi lần thử lại, giảm tải cho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server và tăng khả năng thành công.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76712" y="6791780"/>
            <a:ext cx="399081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20" dirty="0">
                <a:solidFill>
                  <a:srgbClr val="FFFFFF"/>
                </a:solidFill>
                <a:latin typeface="DejaVu Sans"/>
                <a:cs typeface="DejaVu Sans"/>
              </a:rPr>
              <a:t>Mô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chờ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Tăng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dần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2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3834" y="322631"/>
            <a:ext cx="739732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OkHttp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Cache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22D3EE"/>
                </a:solidFill>
                <a:latin typeface="DejaVu Sans"/>
                <a:cs typeface="DejaVu Sans"/>
              </a:rPr>
              <a:t>cho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22D3EE"/>
                </a:solidFill>
                <a:latin typeface="DejaVu Sans"/>
                <a:cs typeface="DejaVu Sans"/>
              </a:rPr>
              <a:t>Oﬄine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7198" y="1579462"/>
            <a:ext cx="237617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hình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Cache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69632" y="1579462"/>
            <a:ext cx="282126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Oﬄine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Interceptor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5641" y="2096830"/>
            <a:ext cx="485733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Xác định thư mục và dung lượng bộ nhớ đệm hiệu quả.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18075" y="2096830"/>
            <a:ext cx="478854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Tự động sử dụng dữ liệu từ cache khi không có kết nối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mạng.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4190" y="2811960"/>
            <a:ext cx="6806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OkHttp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84052" y="2811960"/>
            <a:ext cx="155010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E5E7EB"/>
                </a:solidFill>
                <a:latin typeface="DejaVu Sans"/>
                <a:cs typeface="DejaVu Sans"/>
              </a:rPr>
              <a:t>Kích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thước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đệm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16625" y="2811960"/>
            <a:ext cx="12138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Chế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Oﬄine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89887" y="2811960"/>
            <a:ext cx="10002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mạng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7198" y="3884512"/>
            <a:ext cx="331784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Header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Cache-Control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69632" y="3884512"/>
            <a:ext cx="230603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54" dirty="0">
                <a:solidFill>
                  <a:srgbClr val="FFFFFF"/>
                </a:solidFill>
                <a:latin typeface="DejaVu Sans"/>
                <a:cs typeface="DejaVu Sans"/>
              </a:rPr>
              <a:t>Yêu</a:t>
            </a:r>
            <a:r>
              <a:rPr sz="2000" b="1" spc="7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cầu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Server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5641" y="4401880"/>
            <a:ext cx="460349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Kiểm soát chi tiết hành vi lưu trữ và hết hạn dữ liệu.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18075" y="4401880"/>
            <a:ext cx="486990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Cần cấu hình Cache-Control phù hợp để tối ưu caching.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44190" y="5117010"/>
            <a:ext cx="112541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E5E7EB"/>
                </a:solidFill>
                <a:latin typeface="DejaVu Sans"/>
                <a:cs typeface="DejaVu Sans"/>
              </a:rPr>
              <a:t>HTTP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Header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29048" y="5117010"/>
            <a:ext cx="14072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Kiểm</a:t>
            </a: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soát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Cache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16625" y="5117010"/>
            <a:ext cx="13524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Cấu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Server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528594" y="5117010"/>
            <a:ext cx="135289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530548" y="5982275"/>
            <a:ext cx="10091551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OkHttp Cache giúp ứng dụng Android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hoạt động mượt 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mà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ngay cả khi không có kết nối mạng, tăng trải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nghiệm người dùng.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2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03834" y="322631"/>
            <a:ext cx="739732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OkHttp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Cache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22D3EE"/>
                </a:solidFill>
                <a:latin typeface="DejaVu Sans"/>
                <a:cs typeface="DejaVu Sans"/>
              </a:rPr>
              <a:t>cho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22D3EE"/>
                </a:solidFill>
                <a:latin typeface="DejaVu Sans"/>
                <a:cs typeface="DejaVu Sans"/>
              </a:rPr>
              <a:t>Oﬄine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7198" y="1579462"/>
            <a:ext cx="237617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Cấu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hình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Cache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69632" y="1579462"/>
            <a:ext cx="2821261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Oﬄine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Interceptor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5641" y="2096830"/>
            <a:ext cx="485733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Xác định thư mục và dung lượng bộ nhớ đệm hiệu quả.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18075" y="2096830"/>
            <a:ext cx="478854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Tự động sử dụng dữ liệu từ cache khi không có kết nối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mạng.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44190" y="2811960"/>
            <a:ext cx="6806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OkHttp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84052" y="2811960"/>
            <a:ext cx="155010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E5E7EB"/>
                </a:solidFill>
                <a:latin typeface="DejaVu Sans"/>
                <a:cs typeface="DejaVu Sans"/>
              </a:rPr>
              <a:t>Kích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thước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bộ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đệm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16625" y="2811960"/>
            <a:ext cx="12138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Chế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Oﬄine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89887" y="2811960"/>
            <a:ext cx="100028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E5E7EB"/>
                </a:solidFill>
                <a:latin typeface="DejaVu Sans"/>
                <a:cs typeface="DejaVu Sans"/>
              </a:rPr>
              <a:t>Xử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mạng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97198" y="3884512"/>
            <a:ext cx="331784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Header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Cache-Control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69632" y="3884512"/>
            <a:ext cx="230603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54" dirty="0">
                <a:solidFill>
                  <a:srgbClr val="FFFFFF"/>
                </a:solidFill>
                <a:latin typeface="DejaVu Sans"/>
                <a:cs typeface="DejaVu Sans"/>
              </a:rPr>
              <a:t>Yêu</a:t>
            </a:r>
            <a:r>
              <a:rPr sz="2000" b="1" spc="7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cầu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Server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5641" y="4401880"/>
            <a:ext cx="460349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Kiểm soát chi tiết hành vi lưu trữ và hết hạn dữ liệu.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18075" y="4401880"/>
            <a:ext cx="486990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Cần cấu hình Cache-Control phù hợp để tối ưu caching.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44190" y="5117010"/>
            <a:ext cx="112541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E5E7EB"/>
                </a:solidFill>
                <a:latin typeface="DejaVu Sans"/>
                <a:cs typeface="DejaVu Sans"/>
              </a:rPr>
              <a:t>HTTP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Header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29048" y="5117010"/>
            <a:ext cx="140728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Kiểm</a:t>
            </a:r>
            <a:r>
              <a:rPr sz="1200" spc="-18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soát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Cache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16625" y="5117010"/>
            <a:ext cx="135245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Cấu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Server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528594" y="5117010"/>
            <a:ext cx="135289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ưu</a:t>
            </a:r>
            <a:r>
              <a:rPr sz="120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5E7EB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530548" y="5982275"/>
            <a:ext cx="10091551" cy="5664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OkHttp Cache giúp ứng dụng Android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hoạt động mượt 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mà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 ngay cả khi không có kết nối mạng, tăng trải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nghiệm người dùng.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199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906" y="344543"/>
            <a:ext cx="8095491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4050" b="1" spc="135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4050" b="1" spc="-2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tra tr</a:t>
            </a:r>
            <a:r>
              <a:rPr sz="4050" b="1" spc="134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 thái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k</a:t>
            </a:r>
            <a:r>
              <a:rPr sz="4050" b="1" spc="1339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t</a:t>
            </a:r>
            <a:r>
              <a:rPr sz="4050" b="1" spc="-10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n</a:t>
            </a:r>
            <a:r>
              <a:rPr sz="4050" b="1" spc="1338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i</a:t>
            </a:r>
            <a:r>
              <a:rPr sz="4050" b="1" spc="-10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m</a:t>
            </a:r>
            <a:r>
              <a:rPr sz="4050" b="1" spc="1332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8541" y="1433572"/>
            <a:ext cx="4262345" cy="34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S</a:t>
            </a:r>
            <a:r>
              <a:rPr sz="2000" b="1" spc="1289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d</a:t>
            </a:r>
            <a:r>
              <a:rPr sz="2000" b="1" spc="728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BEF264"/>
                </a:solidFill>
                <a:latin typeface="Liberation Sans"/>
                <a:cs typeface="Liberation Sans"/>
              </a:rPr>
              <a:t>ng</a:t>
            </a:r>
            <a:r>
              <a:rPr sz="2000" b="1" spc="676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Mono"/>
                <a:cs typeface="Liberation Mono"/>
              </a:rPr>
              <a:t>ConnectivityManager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0543" y="1433572"/>
            <a:ext cx="3002571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sz="2000" b="1" spc="12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2000" b="1" spc="120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tính năng Offline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8541" y="1887160"/>
            <a:ext cx="455100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Công c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500" spc="68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h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th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đ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giám sát và qu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lý tr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thái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90543" y="1868110"/>
            <a:ext cx="423316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Cho phép ng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ườ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 dùng truy c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ậ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ữ</a:t>
            </a:r>
            <a:r>
              <a:rPr sz="1500" spc="68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li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đã cache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8541" y="2191960"/>
            <a:ext cx="305723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k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n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trên thi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b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50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Android.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90543" y="2172910"/>
            <a:ext cx="420479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và th</a:t>
            </a:r>
            <a:r>
              <a:rPr sz="1500" spc="23" dirty="0">
                <a:solidFill>
                  <a:srgbClr val="D1D5DB"/>
                </a:solidFill>
                <a:latin typeface="DejaVu Sans"/>
                <a:cs typeface="DejaVu Sans"/>
              </a:rPr>
              <a:t>ự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 hi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các tác v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500" spc="68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ơ</a:t>
            </a:r>
            <a:r>
              <a:rPr sz="1500" spc="27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b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ngay c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khi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90543" y="2468185"/>
            <a:ext cx="69696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88541" y="2814697"/>
            <a:ext cx="3368333" cy="34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BEF264"/>
                </a:solidFill>
                <a:latin typeface="Liberation Sans"/>
                <a:cs typeface="Liberation Sans"/>
              </a:rPr>
              <a:t>Xác</a:t>
            </a: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 đ</a:t>
            </a:r>
            <a:r>
              <a:rPr sz="2000" b="1" spc="-20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BEF264"/>
                </a:solidFill>
                <a:latin typeface="Liberation Sans"/>
                <a:cs typeface="Liberation Sans"/>
              </a:rPr>
              <a:t>nh</a:t>
            </a:r>
            <a:r>
              <a:rPr sz="2000" b="1" spc="676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Mono"/>
                <a:cs typeface="Liberation Mono"/>
              </a:rPr>
              <a:t>activeNetwork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90543" y="3090922"/>
            <a:ext cx="3867984" cy="667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2000" b="1" spc="65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2000" b="1" spc="128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2000" b="1" spc="64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nghi</a:t>
            </a:r>
            <a:r>
              <a:rPr sz="2000" b="1" spc="71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2000" b="1" spc="191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dùng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(UX)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88541" y="3277810"/>
            <a:ext cx="415991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 di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cho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đang ho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đ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(Wi-Fi, 4G,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88541" y="3573085"/>
            <a:ext cx="307099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Ethernet)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mà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 thi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b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500" spc="77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đang k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n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90543" y="3877885"/>
            <a:ext cx="412754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Thông báo cho ng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ườ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 dùng v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tr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thái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90543" y="4173160"/>
            <a:ext cx="411048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và đi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ch</a:t>
            </a:r>
            <a:r>
              <a:rPr sz="1500" spc="33" dirty="0">
                <a:solidFill>
                  <a:srgbClr val="D1D5DB"/>
                </a:solidFill>
                <a:latin typeface="DejaVu Sans"/>
                <a:cs typeface="DejaVu Sans"/>
              </a:rPr>
              <a:t>ỉ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nh giao di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tránh gây khó ch</a:t>
            </a:r>
            <a:r>
              <a:rPr sz="1500" spc="33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88541" y="4195822"/>
            <a:ext cx="4271423" cy="34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BEF264"/>
                </a:solidFill>
                <a:latin typeface="Liberation Sans"/>
                <a:cs typeface="Liberation Sans"/>
              </a:rPr>
              <a:t>Ki</a:t>
            </a:r>
            <a:r>
              <a:rPr sz="2000" b="1" spc="711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tra</a:t>
            </a:r>
            <a:r>
              <a:rPr sz="2000" b="1" spc="678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Mono"/>
                <a:cs typeface="Liberation Mono"/>
              </a:rPr>
              <a:t>NetworkCapabilities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88541" y="4658935"/>
            <a:ext cx="447629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Cung c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thông tin chi ti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v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kh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năng c</a:t>
            </a:r>
            <a:r>
              <a:rPr sz="1500" spc="23" dirty="0">
                <a:solidFill>
                  <a:srgbClr val="D1D5DB"/>
                </a:solidFill>
                <a:latin typeface="DejaVu Sans"/>
                <a:cs typeface="DejaVu Sans"/>
              </a:rPr>
              <a:t>ủ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ng,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88541" y="4954210"/>
            <a:ext cx="4557037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quan tr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ọ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nh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là</a:t>
            </a:r>
            <a:r>
              <a:rPr sz="1500" spc="343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NET_CAPABILITY_INTERNET</a:t>
            </a:r>
            <a:r>
              <a:rPr sz="1500" spc="-4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41499" y="5729877"/>
            <a:ext cx="465861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1700" b="1" spc="56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trong</a:t>
            </a:r>
            <a:r>
              <a:rPr sz="1700" b="1" spc="-7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Android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Networking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700" b="1" spc="58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36699" y="6155115"/>
            <a:ext cx="1082486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5" dirty="0">
                <a:solidFill>
                  <a:srgbClr val="D1D5DB"/>
                </a:solidFill>
                <a:latin typeface="Liberation Sans"/>
                <a:cs typeface="Liberation Sans"/>
              </a:rPr>
              <a:t>Vi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ki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m tra k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là b</a:t>
            </a:r>
            <a:r>
              <a:rPr sz="1350" spc="-15" dirty="0">
                <a:solidFill>
                  <a:srgbClr val="D1D5DB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tiên và c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ơ</a:t>
            </a:r>
            <a:r>
              <a:rPr sz="1350" spc="34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nh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trong chu trình x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lý m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ng. Nó quy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nh li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d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có nên th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m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yêu c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36699" y="6412290"/>
            <a:ext cx="1051256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t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server 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ằ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Retrofit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hay s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d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t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cache c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a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OkHttp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, t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c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350" spc="-15" dirty="0">
                <a:solidFill>
                  <a:srgbClr val="D1D5DB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đi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ph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trên các lu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Kotlin Coroutines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746753" y="6947198"/>
            <a:ext cx="242704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Ngu</a:t>
            </a:r>
            <a:r>
              <a:rPr sz="1000" spc="-11" dirty="0">
                <a:solidFill>
                  <a:srgbClr val="9CA3A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n: developer.android.com, Medium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199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906" y="344543"/>
            <a:ext cx="8095491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4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4050" b="1" spc="135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4050" b="1" spc="-2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tra tr</a:t>
            </a:r>
            <a:r>
              <a:rPr sz="4050" b="1" spc="134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4050" b="1" dirty="0">
                <a:solidFill>
                  <a:srgbClr val="FFFFFF"/>
                </a:solidFill>
                <a:latin typeface="Liberation Sans"/>
                <a:cs typeface="Liberation Sans"/>
              </a:rPr>
              <a:t> thái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k</a:t>
            </a:r>
            <a:r>
              <a:rPr sz="4050" b="1" spc="1339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t</a:t>
            </a:r>
            <a:r>
              <a:rPr sz="4050" b="1" spc="-10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n</a:t>
            </a:r>
            <a:r>
              <a:rPr sz="4050" b="1" spc="1338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i</a:t>
            </a:r>
            <a:r>
              <a:rPr sz="4050" b="1" spc="-10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FFFF"/>
                </a:solidFill>
                <a:latin typeface="Liberation Sans"/>
                <a:cs typeface="Liberation Sans"/>
              </a:rPr>
              <a:t>m</a:t>
            </a:r>
            <a:r>
              <a:rPr sz="4050" b="1" spc="1332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8541" y="1433572"/>
            <a:ext cx="4262345" cy="34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S</a:t>
            </a:r>
            <a:r>
              <a:rPr sz="2000" b="1" spc="1289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d</a:t>
            </a:r>
            <a:r>
              <a:rPr sz="2000" b="1" spc="728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BEF264"/>
                </a:solidFill>
                <a:latin typeface="Liberation Sans"/>
                <a:cs typeface="Liberation Sans"/>
              </a:rPr>
              <a:t>ng</a:t>
            </a:r>
            <a:r>
              <a:rPr sz="2000" b="1" spc="676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Mono"/>
                <a:cs typeface="Liberation Mono"/>
              </a:rPr>
              <a:t>ConnectivityManager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0543" y="1433572"/>
            <a:ext cx="3002571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H</a:t>
            </a:r>
            <a:r>
              <a:rPr sz="2000" b="1" spc="121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2000" b="1" spc="120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tính năng Offline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8541" y="1887160"/>
            <a:ext cx="455100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Công c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500" spc="68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h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th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đ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giám sát và qu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lý tr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thái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90543" y="1868110"/>
            <a:ext cx="423316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Cho phép ng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ườ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 dùng truy c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ậ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ữ</a:t>
            </a:r>
            <a:r>
              <a:rPr sz="1500" spc="68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li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đã cache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8541" y="2191960"/>
            <a:ext cx="305723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k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n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trên thi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b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50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Android.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90543" y="2172910"/>
            <a:ext cx="420479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và th</a:t>
            </a:r>
            <a:r>
              <a:rPr sz="1500" spc="23" dirty="0">
                <a:solidFill>
                  <a:srgbClr val="D1D5DB"/>
                </a:solidFill>
                <a:latin typeface="DejaVu Sans"/>
                <a:cs typeface="DejaVu Sans"/>
              </a:rPr>
              <a:t>ự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 hi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các tác v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500" spc="68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ơ</a:t>
            </a:r>
            <a:r>
              <a:rPr sz="1500" spc="27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b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ngay c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khi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90543" y="2468185"/>
            <a:ext cx="69696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88541" y="2814697"/>
            <a:ext cx="3368333" cy="34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BEF264"/>
                </a:solidFill>
                <a:latin typeface="Liberation Sans"/>
                <a:cs typeface="Liberation Sans"/>
              </a:rPr>
              <a:t>Xác</a:t>
            </a: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 đ</a:t>
            </a:r>
            <a:r>
              <a:rPr sz="2000" b="1" spc="-20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BEF264"/>
                </a:solidFill>
                <a:latin typeface="Liberation Sans"/>
                <a:cs typeface="Liberation Sans"/>
              </a:rPr>
              <a:t>nh</a:t>
            </a:r>
            <a:r>
              <a:rPr sz="2000" b="1" spc="676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Mono"/>
                <a:cs typeface="Liberation Mono"/>
              </a:rPr>
              <a:t>activeNetwork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90543" y="3090922"/>
            <a:ext cx="3867984" cy="667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2000" b="1" spc="65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2000" b="1" spc="128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tr</a:t>
            </a:r>
            <a:r>
              <a:rPr sz="2000" b="1" spc="64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nghi</a:t>
            </a:r>
            <a:r>
              <a:rPr sz="2000" b="1" spc="71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2000" b="1" spc="1919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i </a:t>
            </a:r>
            <a:r>
              <a:rPr sz="2000" b="1" spc="10" dirty="0">
                <a:solidFill>
                  <a:srgbClr val="FFFFFF"/>
                </a:solidFill>
                <a:latin typeface="Liberation Sans"/>
                <a:cs typeface="Liberation Sans"/>
              </a:rPr>
              <a:t>dùng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(UX)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88541" y="3277810"/>
            <a:ext cx="415991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 di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cho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đang ho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đ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(Wi-Fi, 4G,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88541" y="3573085"/>
            <a:ext cx="307099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Ethernet)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mà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 thi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b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500" spc="77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đang k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n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90543" y="3877885"/>
            <a:ext cx="412754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Thông báo cho ng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ườ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i dùng v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tr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thái 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90543" y="4173160"/>
            <a:ext cx="411048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và đi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ch</a:t>
            </a:r>
            <a:r>
              <a:rPr sz="1500" spc="33" dirty="0">
                <a:solidFill>
                  <a:srgbClr val="D1D5DB"/>
                </a:solidFill>
                <a:latin typeface="DejaVu Sans"/>
                <a:cs typeface="DejaVu Sans"/>
              </a:rPr>
              <a:t>ỉ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nh giao di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tránh gây khó ch</a:t>
            </a:r>
            <a:r>
              <a:rPr sz="1500" spc="33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88541" y="4195822"/>
            <a:ext cx="4271423" cy="346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83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BEF264"/>
                </a:solidFill>
                <a:latin typeface="Liberation Sans"/>
                <a:cs typeface="Liberation Sans"/>
              </a:rPr>
              <a:t>Ki</a:t>
            </a:r>
            <a:r>
              <a:rPr sz="2000" b="1" spc="711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Sans"/>
                <a:cs typeface="Liberation Sans"/>
              </a:rPr>
              <a:t>tra</a:t>
            </a:r>
            <a:r>
              <a:rPr sz="2000" b="1" spc="678" dirty="0">
                <a:solidFill>
                  <a:srgbClr val="BEF264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BEF264"/>
                </a:solidFill>
                <a:latin typeface="Liberation Mono"/>
                <a:cs typeface="Liberation Mono"/>
              </a:rPr>
              <a:t>NetworkCapabilities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88541" y="4658935"/>
            <a:ext cx="447629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Cung c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thông tin chi ti</a:t>
            </a:r>
            <a:r>
              <a:rPr sz="1500" spc="-23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v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500" spc="21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kh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năng c</a:t>
            </a:r>
            <a:r>
              <a:rPr sz="1500" spc="23" dirty="0">
                <a:solidFill>
                  <a:srgbClr val="D1D5DB"/>
                </a:solidFill>
                <a:latin typeface="DejaVu Sans"/>
                <a:cs typeface="DejaVu Sans"/>
              </a:rPr>
              <a:t>ủ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D1D5DB"/>
                </a:solidFill>
                <a:latin typeface="Liberation Sans"/>
                <a:cs typeface="Liberation Sans"/>
              </a:rPr>
              <a:t> m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ng,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188541" y="4954210"/>
            <a:ext cx="4557037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quan tr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ọ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ng nh</a:t>
            </a:r>
            <a:r>
              <a:rPr sz="1500" spc="-18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t là</a:t>
            </a:r>
            <a:r>
              <a:rPr sz="1500" spc="343" dirty="0">
                <a:solidFill>
                  <a:srgbClr val="D1D5DB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NET_CAPABILITY_INTERNET</a:t>
            </a:r>
            <a:r>
              <a:rPr sz="1500" spc="-4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41499" y="5729877"/>
            <a:ext cx="465861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B</a:t>
            </a:r>
            <a:r>
              <a:rPr sz="1700" b="1" spc="56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c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nh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trong</a:t>
            </a:r>
            <a:r>
              <a:rPr sz="1700" b="1" spc="-7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Android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Liberation Sans"/>
                <a:cs typeface="Liberation Sans"/>
              </a:rPr>
              <a:t>Networking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700" b="1" spc="58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36699" y="6155115"/>
            <a:ext cx="1082486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15" dirty="0">
                <a:solidFill>
                  <a:srgbClr val="D1D5DB"/>
                </a:solidFill>
                <a:latin typeface="Liberation Sans"/>
                <a:cs typeface="Liberation Sans"/>
              </a:rPr>
              <a:t>Vi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ki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m tra k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là b</a:t>
            </a:r>
            <a:r>
              <a:rPr sz="1350" spc="-15" dirty="0">
                <a:solidFill>
                  <a:srgbClr val="D1D5DB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tiên và c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ơ</a:t>
            </a:r>
            <a:r>
              <a:rPr sz="1350" spc="34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nh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trong chu trình x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lý m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ng. Nó quy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nh li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d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có nên th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hi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m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yêu c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36699" y="6412290"/>
            <a:ext cx="1051256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t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server 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ằ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Retrofit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hay s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d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t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cache c</a:t>
            </a:r>
            <a:r>
              <a:rPr sz="1350" spc="-31" dirty="0">
                <a:solidFill>
                  <a:srgbClr val="D1D5DB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a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OkHttp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, t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t c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đ</a:t>
            </a:r>
            <a:r>
              <a:rPr sz="1350" spc="-15" dirty="0">
                <a:solidFill>
                  <a:srgbClr val="D1D5DB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c đi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u ph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trên các lu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ng n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n b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i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Kotlin Coroutines</a:t>
            </a:r>
            <a:r>
              <a:rPr sz="1350" dirty="0">
                <a:solidFill>
                  <a:srgbClr val="D1D5DB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746753" y="6947198"/>
            <a:ext cx="242704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Ngu</a:t>
            </a:r>
            <a:r>
              <a:rPr sz="1000" spc="-11" dirty="0">
                <a:solidFill>
                  <a:srgbClr val="9CA3AF"/>
                </a:solidFill>
                <a:latin typeface="DejaVu Sans"/>
                <a:cs typeface="DejaVu Sans"/>
              </a:rPr>
              <a:t>ồ</a:t>
            </a:r>
            <a:r>
              <a:rPr sz="1000" dirty="0">
                <a:solidFill>
                  <a:srgbClr val="9CA3AF"/>
                </a:solidFill>
                <a:latin typeface="Liberation Sans"/>
                <a:cs typeface="Liberation Sans"/>
              </a:rPr>
              <a:t>n: developer.android.com, Medium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00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36154" y="677215"/>
            <a:ext cx="767202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thao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22D3EE"/>
                </a:solidFill>
                <a:latin typeface="DejaVu Sans"/>
                <a:cs typeface="DejaVu Sans"/>
              </a:rPr>
              <a:t>nâng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22D3EE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1068" y="2362671"/>
            <a:ext cx="250817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Gửi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JSON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55640" y="2362671"/>
            <a:ext cx="238942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Tải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lên File/Ảnh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80361" y="2362671"/>
            <a:ext cx="276775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Tải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File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về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1068" y="2803084"/>
            <a:ext cx="2774502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Sử dụng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@Body</a:t>
            </a:r>
            <a:r>
              <a:rPr sz="1500" spc="10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để gửi JSON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55640" y="2803084"/>
            <a:ext cx="2808352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Dùng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@Multipart</a:t>
            </a:r>
            <a:r>
              <a:rPr sz="1500" spc="10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và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@Part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80361" y="2803084"/>
            <a:ext cx="2759474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Nhận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ResponseBody</a:t>
            </a:r>
            <a:r>
              <a:rPr sz="1500" spc="10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để lưu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1068" y="3107884"/>
            <a:ext cx="205110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body request.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55640" y="3107884"/>
            <a:ext cx="216772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cho dữ liệu dạng ﬁle.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80361" y="3107884"/>
            <a:ext cx="215647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trực tiếp vào bộ nhớ.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29617" y="3604693"/>
            <a:ext cx="7120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7" dirty="0">
                <a:solidFill>
                  <a:srgbClr val="FFFFFF"/>
                </a:solidFill>
                <a:latin typeface="DejaVu Sans"/>
                <a:cs typeface="DejaVu Sans"/>
              </a:rPr>
              <a:t>Retroﬁt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90911" y="3604693"/>
            <a:ext cx="5779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29617" y="3985693"/>
            <a:ext cx="97535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HTTP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POST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954189" y="3985693"/>
            <a:ext cx="104988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7" dirty="0">
                <a:solidFill>
                  <a:srgbClr val="FFFFFF"/>
                </a:solidFill>
                <a:latin typeface="DejaVu Sans"/>
                <a:cs typeface="DejaVu Sans"/>
              </a:rPr>
              <a:t>File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33" dirty="0">
                <a:solidFill>
                  <a:srgbClr val="FFFFFF"/>
                </a:solidFill>
                <a:latin typeface="DejaVu Sans"/>
                <a:cs typeface="DejaVu Sans"/>
              </a:rPr>
              <a:t>Transfer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63592" y="3985693"/>
            <a:ext cx="9753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HTTP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POST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78910" y="3985693"/>
            <a:ext cx="69606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Stream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730976" y="3985693"/>
            <a:ext cx="73675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Storage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02097" y="5021655"/>
            <a:ext cx="405267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Kiến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mạng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hiện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đại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49412" y="5508939"/>
            <a:ext cx="277697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7" dirty="0">
                <a:solidFill>
                  <a:srgbClr val="E5E7EB"/>
                </a:solidFill>
                <a:latin typeface="DejaVu Sans"/>
                <a:cs typeface="DejaVu Sans"/>
              </a:rPr>
              <a:t>Retroﬁt</a:t>
            </a:r>
            <a:r>
              <a:rPr sz="1200" spc="98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spc="-27" dirty="0">
                <a:solidFill>
                  <a:srgbClr val="E5E7EB"/>
                </a:solidFill>
                <a:latin typeface="DejaVu Sans"/>
                <a:cs typeface="DejaVu Sans"/>
              </a:rPr>
              <a:t>Type-safe</a:t>
            </a:r>
            <a:r>
              <a:rPr sz="1350" spc="2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spc="-11" dirty="0">
                <a:solidFill>
                  <a:srgbClr val="E5E7EB"/>
                </a:solidFill>
                <a:latin typeface="DejaVu Sans"/>
                <a:cs typeface="DejaVu Sans"/>
              </a:rPr>
              <a:t>HTTP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Client.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49412" y="5899464"/>
            <a:ext cx="3592026" cy="617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OkHttp</a:t>
            </a:r>
            <a:r>
              <a:rPr sz="1200" spc="96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Underlying eﬃcient </a:t>
            </a:r>
            <a:r>
              <a:rPr sz="1350" spc="-11" dirty="0">
                <a:solidFill>
                  <a:srgbClr val="E5E7EB"/>
                </a:solidFill>
                <a:latin typeface="DejaVu Sans"/>
                <a:cs typeface="DejaVu Sans"/>
              </a:rPr>
              <a:t>HTTP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client.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Coroutines</a:t>
            </a:r>
            <a:r>
              <a:rPr sz="1200" spc="96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Simpliﬁed async operations.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48804" y="6900343"/>
            <a:ext cx="11067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Performance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06575" y="6900343"/>
            <a:ext cx="92008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Scalability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997671" y="7577372"/>
            <a:ext cx="8176102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35229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Nguồn tham khảo: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Building a Scalable Android Network Layer with Retroﬁt,</a:t>
            </a:r>
            <a:r>
              <a:rPr sz="1000" spc="10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Retroﬁt</a:t>
            </a:r>
            <a:r>
              <a:rPr sz="1000" spc="11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with Kotlin</a:t>
            </a:r>
            <a:r>
              <a:rPr sz="1000" spc="14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Coroutine, How to handle RESTful web Services...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00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36154" y="677215"/>
            <a:ext cx="767202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thao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22D3EE"/>
                </a:solidFill>
                <a:latin typeface="DejaVu Sans"/>
                <a:cs typeface="DejaVu Sans"/>
              </a:rPr>
              <a:t>nâng</a:t>
            </a:r>
            <a:r>
              <a:rPr sz="4050" b="1" dirty="0">
                <a:solidFill>
                  <a:srgbClr val="22D3EE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22D3EE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1068" y="2362671"/>
            <a:ext cx="250817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Gửi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liệu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JSON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55640" y="2362671"/>
            <a:ext cx="238942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Tải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lên File/Ảnh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80361" y="2362671"/>
            <a:ext cx="276775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Tải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File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về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thiết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1068" y="2803084"/>
            <a:ext cx="2774502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Sử dụng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@Body</a:t>
            </a:r>
            <a:r>
              <a:rPr sz="1500" spc="10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để gửi JSON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55640" y="2803084"/>
            <a:ext cx="2808352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Dùng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@Multipart</a:t>
            </a:r>
            <a:r>
              <a:rPr sz="1500" spc="10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và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@Part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80361" y="2803084"/>
            <a:ext cx="2759474" cy="274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Nhận </a:t>
            </a:r>
            <a:r>
              <a:rPr sz="1500" dirty="0">
                <a:solidFill>
                  <a:srgbClr val="D1D5DB"/>
                </a:solidFill>
                <a:latin typeface="Liberation Mono"/>
                <a:cs typeface="Liberation Mono"/>
              </a:rPr>
              <a:t>ResponseBody</a:t>
            </a:r>
            <a:r>
              <a:rPr sz="1500" spc="105" dirty="0">
                <a:solidFill>
                  <a:srgbClr val="D1D5D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để lưu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1068" y="3107884"/>
            <a:ext cx="205110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trong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body request.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55640" y="3107884"/>
            <a:ext cx="216772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cho dữ liệu dạng ﬁle.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380361" y="3107884"/>
            <a:ext cx="215647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trực tiếp vào bộ nhớ.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29617" y="3604693"/>
            <a:ext cx="7120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7" dirty="0">
                <a:solidFill>
                  <a:srgbClr val="FFFFFF"/>
                </a:solidFill>
                <a:latin typeface="DejaVu Sans"/>
                <a:cs typeface="DejaVu Sans"/>
              </a:rPr>
              <a:t>Retroﬁt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90911" y="3604693"/>
            <a:ext cx="5779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Kotlin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29617" y="3985693"/>
            <a:ext cx="97535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HTTP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POST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954189" y="3985693"/>
            <a:ext cx="104988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7" dirty="0">
                <a:solidFill>
                  <a:srgbClr val="FFFFFF"/>
                </a:solidFill>
                <a:latin typeface="DejaVu Sans"/>
                <a:cs typeface="DejaVu Sans"/>
              </a:rPr>
              <a:t>File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33" dirty="0">
                <a:solidFill>
                  <a:srgbClr val="FFFFFF"/>
                </a:solidFill>
                <a:latin typeface="DejaVu Sans"/>
                <a:cs typeface="DejaVu Sans"/>
              </a:rPr>
              <a:t>Transfer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63592" y="3985693"/>
            <a:ext cx="9753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FFFFFF"/>
                </a:solidFill>
                <a:latin typeface="DejaVu Sans"/>
                <a:cs typeface="DejaVu Sans"/>
              </a:rPr>
              <a:t>HTTP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POST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78910" y="3985693"/>
            <a:ext cx="69606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Stream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730976" y="3985693"/>
            <a:ext cx="73675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Storage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02097" y="5021655"/>
            <a:ext cx="405267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Kiến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trúc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FFFFFF"/>
                </a:solidFill>
                <a:latin typeface="DejaVu Sans"/>
                <a:cs typeface="DejaVu Sans"/>
              </a:rPr>
              <a:t>mạng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hiện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đại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Android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49412" y="5508939"/>
            <a:ext cx="2776975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7" dirty="0">
                <a:solidFill>
                  <a:srgbClr val="E5E7EB"/>
                </a:solidFill>
                <a:latin typeface="DejaVu Sans"/>
                <a:cs typeface="DejaVu Sans"/>
              </a:rPr>
              <a:t>Retroﬁt</a:t>
            </a:r>
            <a:r>
              <a:rPr sz="1200" spc="98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spc="-27" dirty="0">
                <a:solidFill>
                  <a:srgbClr val="E5E7EB"/>
                </a:solidFill>
                <a:latin typeface="DejaVu Sans"/>
                <a:cs typeface="DejaVu Sans"/>
              </a:rPr>
              <a:t>Type-safe</a:t>
            </a:r>
            <a:r>
              <a:rPr sz="1350" spc="2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spc="-11" dirty="0">
                <a:solidFill>
                  <a:srgbClr val="E5E7EB"/>
                </a:solidFill>
                <a:latin typeface="DejaVu Sans"/>
                <a:cs typeface="DejaVu Sans"/>
              </a:rPr>
              <a:t>HTTP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Client.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249412" y="5899464"/>
            <a:ext cx="3592026" cy="617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E5E7EB"/>
                </a:solidFill>
                <a:latin typeface="DejaVu Sans"/>
                <a:cs typeface="DejaVu Sans"/>
              </a:rPr>
              <a:t>OkHttp</a:t>
            </a:r>
            <a:r>
              <a:rPr sz="1200" spc="96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Underlying eﬃcient </a:t>
            </a:r>
            <a:r>
              <a:rPr sz="1350" spc="-11" dirty="0">
                <a:solidFill>
                  <a:srgbClr val="E5E7EB"/>
                </a:solidFill>
                <a:latin typeface="DejaVu Sans"/>
                <a:cs typeface="DejaVu Sans"/>
              </a:rPr>
              <a:t>HTTP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 client.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sz="1200" spc="-15" dirty="0">
                <a:solidFill>
                  <a:srgbClr val="E5E7EB"/>
                </a:solidFill>
                <a:latin typeface="DejaVu Sans"/>
                <a:cs typeface="DejaVu Sans"/>
              </a:rPr>
              <a:t>Coroutines</a:t>
            </a:r>
            <a:r>
              <a:rPr sz="1200" spc="964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E5E7EB"/>
                </a:solidFill>
                <a:latin typeface="DejaVu Sans"/>
                <a:cs typeface="DejaVu Sans"/>
              </a:rPr>
              <a:t>Simpliﬁed async operations.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48804" y="6900343"/>
            <a:ext cx="11067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FFFFFF"/>
                </a:solidFill>
                <a:latin typeface="DejaVu Sans"/>
                <a:cs typeface="DejaVu Sans"/>
              </a:rPr>
              <a:t>Performance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06575" y="6900343"/>
            <a:ext cx="92008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Scalability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997671" y="7577372"/>
            <a:ext cx="8176102" cy="3585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35229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Nguồn tham khảo: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Building a Scalable Android Network Layer with Retroﬁt,</a:t>
            </a:r>
            <a:r>
              <a:rPr sz="1000" spc="10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Retroﬁt</a:t>
            </a:r>
            <a:r>
              <a:rPr sz="1000" spc="11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with Kotlin</a:t>
            </a:r>
            <a:r>
              <a:rPr sz="1000" spc="14" dirty="0">
                <a:solidFill>
                  <a:srgbClr val="6B7280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Coroutine, How to handle RESTful web Services...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46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4114" y="522656"/>
            <a:ext cx="1031612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Timeouts,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Cancellation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4050" b="1" spc="-2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Lifecycle-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14044" y="1160831"/>
            <a:ext cx="1916370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00FFFF"/>
                </a:solidFill>
                <a:latin typeface="DejaVu Sans"/>
                <a:cs typeface="DejaVu Sans"/>
              </a:rPr>
              <a:t>aware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76389" y="1885770"/>
            <a:ext cx="439141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4" dirty="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ổn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3423" y="2973884"/>
            <a:ext cx="158389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OkHttp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Timeouts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85446" y="2973884"/>
            <a:ext cx="176816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Coroutine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001F3F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7478" y="3572450"/>
            <a:ext cx="5069026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Thiết lập timeouts cứng trong</a:t>
            </a:r>
            <a:r>
              <a:rPr sz="1500" spc="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OkHttp để tránh treo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ứng dụng khi mạng chậm hoặc không phản hồi.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89501" y="3572450"/>
            <a:ext cx="4958595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ViewModelScope tự động hủy bỏ coroutine khi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ViewModel bị phá hủy, ngăn chặn các tác vụ chạy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ngầm không cần thiết.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2756" y="4651038"/>
            <a:ext cx="130359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86EFAC"/>
                </a:solidFill>
                <a:latin typeface="DejaVu Sans"/>
                <a:cs typeface="DejaVu Sans"/>
              </a:rPr>
              <a:t>Ổn định ứng dụng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69777" y="4651038"/>
            <a:ext cx="126902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3C5FD"/>
                </a:solidFill>
                <a:latin typeface="DejaVu Sans"/>
                <a:cs typeface="DejaVu Sans"/>
              </a:rPr>
              <a:t>Kiểm soát kết nối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74779" y="4651038"/>
            <a:ext cx="137046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DE047"/>
                </a:solidFill>
                <a:latin typeface="DejaVu Sans"/>
                <a:cs typeface="DejaVu Sans"/>
              </a:rPr>
              <a:t>Quản lý tài nguyên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48773" y="4651038"/>
            <a:ext cx="80273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25" dirty="0">
                <a:solidFill>
                  <a:srgbClr val="FCA5A5"/>
                </a:solidFill>
                <a:latin typeface="DejaVu Sans"/>
                <a:cs typeface="DejaVu Sans"/>
              </a:rPr>
              <a:t>Tránh</a:t>
            </a:r>
            <a:r>
              <a:rPr sz="1000" spc="34" dirty="0">
                <a:solidFill>
                  <a:srgbClr val="FCA5A5"/>
                </a:solidFill>
                <a:latin typeface="DejaVu Sans"/>
                <a:cs typeface="DejaVu Sans"/>
              </a:rPr>
              <a:t> </a:t>
            </a:r>
            <a:r>
              <a:rPr sz="1000" spc="-18" dirty="0">
                <a:solidFill>
                  <a:srgbClr val="FCA5A5"/>
                </a:solidFill>
                <a:latin typeface="DejaVu Sans"/>
                <a:cs typeface="DejaVu Sans"/>
              </a:rPr>
              <a:t>rò</a:t>
            </a:r>
            <a:r>
              <a:rPr sz="1000" spc="25" dirty="0">
                <a:solidFill>
                  <a:srgbClr val="FCA5A5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CA5A5"/>
                </a:solidFill>
                <a:latin typeface="DejaVu Sans"/>
                <a:cs typeface="DejaVu Sans"/>
              </a:rPr>
              <a:t>rỉ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73423" y="5850434"/>
            <a:ext cx="15520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Context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Hygiene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85446" y="5850434"/>
            <a:ext cx="151771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User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Experience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77478" y="6449000"/>
            <a:ext cx="4846754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38" dirty="0">
                <a:solidFill>
                  <a:srgbClr val="E5E7EB"/>
                </a:solidFill>
                <a:latin typeface="DejaVu Sans"/>
                <a:cs typeface="DejaVu Sans"/>
              </a:rPr>
              <a:t>Tránh</a:t>
            </a:r>
            <a:r>
              <a:rPr sz="1500" spc="5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giữ tham chiếu Context lâu dài (đặc biệt là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Activity Context) trong</a:t>
            </a:r>
            <a:r>
              <a:rPr sz="1500" spc="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Repository</a:t>
            </a:r>
            <a:r>
              <a:rPr sz="1500" spc="11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để ngăn chặn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memory leak.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89501" y="6449000"/>
            <a:ext cx="4804293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Hiển thị thanh tiến trình (Progress</a:t>
            </a:r>
            <a:r>
              <a:rPr sz="1500" spc="15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Bar) và cung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cấp tùy chọn Hủy (Cancel) cho các request chạy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dài.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2756" y="7527588"/>
            <a:ext cx="116885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8B4FE"/>
                </a:solidFill>
                <a:latin typeface="DejaVu Sans"/>
                <a:cs typeface="DejaVu Sans"/>
              </a:rPr>
              <a:t>Hiệu suất tối ưu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35088" y="7527588"/>
            <a:ext cx="107360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9A8D4"/>
                </a:solidFill>
                <a:latin typeface="DejaVu Sans"/>
                <a:cs typeface="DejaVu Sans"/>
              </a:rPr>
              <a:t>Bảo vệ bộ nhớ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74779" y="7527588"/>
            <a:ext cx="146939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5B4FC"/>
                </a:solidFill>
                <a:latin typeface="DejaVu Sans"/>
                <a:cs typeface="DejaVu Sans"/>
              </a:rPr>
              <a:t>Phản hồi người dùng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147743" y="7527588"/>
            <a:ext cx="144196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5EEAD4"/>
                </a:solidFill>
                <a:latin typeface="DejaVu Sans"/>
                <a:cs typeface="DejaVu Sans"/>
              </a:rPr>
              <a:t>Kiểm soát tương tác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44848" y="8382575"/>
            <a:ext cx="9263048" cy="556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"Đảm bảo ứng dụng Android</a:t>
            </a:r>
            <a:r>
              <a:rPr sz="1500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phản hồi nhanh, ổn định và hiệu quả bằng cách áp dụng các thực</a:t>
            </a:r>
          </a:p>
          <a:p>
            <a:pPr marL="258693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hành xử lý tài nguyên &amp;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mạng xuất sắc."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550050" y="9203988"/>
            <a:ext cx="462369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Best Practices of Retroﬁt</a:t>
            </a:r>
            <a:r>
              <a:rPr sz="1000" spc="11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and OkHttp in Android Development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461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4114" y="522656"/>
            <a:ext cx="1031612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Timeouts,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FFFFFF"/>
                </a:solidFill>
                <a:latin typeface="DejaVu Sans"/>
                <a:cs typeface="DejaVu Sans"/>
              </a:rPr>
              <a:t>Cancellation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&amp;</a:t>
            </a:r>
            <a:r>
              <a:rPr sz="4050" b="1" spc="-2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Lifecycle-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14044" y="1160831"/>
            <a:ext cx="1916370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00FFFF"/>
                </a:solidFill>
                <a:latin typeface="DejaVu Sans"/>
                <a:cs typeface="DejaVu Sans"/>
              </a:rPr>
              <a:t>aware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76389" y="1885770"/>
            <a:ext cx="439141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4" dirty="0">
                <a:solidFill>
                  <a:srgbClr val="D1D5DB"/>
                </a:solidFill>
                <a:latin typeface="DejaVu Sans"/>
                <a:cs typeface="DejaVu Sans"/>
              </a:rPr>
              <a:t>Đảm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bảo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ổn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D1D5DB"/>
                </a:solidFill>
                <a:latin typeface="DejaVu Sans"/>
                <a:cs typeface="DejaVu Sans"/>
              </a:rPr>
              <a:t>định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D1D5DB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D1D5DB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D1D5DB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73423" y="2973884"/>
            <a:ext cx="158389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OkHttp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Timeouts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85446" y="2973884"/>
            <a:ext cx="176816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Coroutine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001F3F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7478" y="3572450"/>
            <a:ext cx="5069026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Thiết lập timeouts cứng trong</a:t>
            </a:r>
            <a:r>
              <a:rPr sz="1500" spc="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OkHttp để tránh treo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ứng dụng khi mạng chậm hoặc không phản hồi.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89501" y="3572450"/>
            <a:ext cx="4958595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ViewModelScope tự động hủy bỏ coroutine khi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ViewModel bị phá hủy, ngăn chặn các tác vụ chạy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ngầm không cần thiết.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2756" y="4651038"/>
            <a:ext cx="130359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86EFAC"/>
                </a:solidFill>
                <a:latin typeface="DejaVu Sans"/>
                <a:cs typeface="DejaVu Sans"/>
              </a:rPr>
              <a:t>Ổn định ứng dụng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69777" y="4651038"/>
            <a:ext cx="126902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3C5FD"/>
                </a:solidFill>
                <a:latin typeface="DejaVu Sans"/>
                <a:cs typeface="DejaVu Sans"/>
              </a:rPr>
              <a:t>Kiểm soát kết nối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74779" y="4651038"/>
            <a:ext cx="137046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DE047"/>
                </a:solidFill>
                <a:latin typeface="DejaVu Sans"/>
                <a:cs typeface="DejaVu Sans"/>
              </a:rPr>
              <a:t>Quản lý tài nguyên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48773" y="4651038"/>
            <a:ext cx="80273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spc="-25" dirty="0">
                <a:solidFill>
                  <a:srgbClr val="FCA5A5"/>
                </a:solidFill>
                <a:latin typeface="DejaVu Sans"/>
                <a:cs typeface="DejaVu Sans"/>
              </a:rPr>
              <a:t>Tránh</a:t>
            </a:r>
            <a:r>
              <a:rPr sz="1000" spc="34" dirty="0">
                <a:solidFill>
                  <a:srgbClr val="FCA5A5"/>
                </a:solidFill>
                <a:latin typeface="DejaVu Sans"/>
                <a:cs typeface="DejaVu Sans"/>
              </a:rPr>
              <a:t> </a:t>
            </a:r>
            <a:r>
              <a:rPr sz="1000" spc="-18" dirty="0">
                <a:solidFill>
                  <a:srgbClr val="FCA5A5"/>
                </a:solidFill>
                <a:latin typeface="DejaVu Sans"/>
                <a:cs typeface="DejaVu Sans"/>
              </a:rPr>
              <a:t>rò</a:t>
            </a:r>
            <a:r>
              <a:rPr sz="1000" spc="25" dirty="0">
                <a:solidFill>
                  <a:srgbClr val="FCA5A5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CA5A5"/>
                </a:solidFill>
                <a:latin typeface="DejaVu Sans"/>
                <a:cs typeface="DejaVu Sans"/>
              </a:rPr>
              <a:t>rỉ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73423" y="5850434"/>
            <a:ext cx="155204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Context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Hygiene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85446" y="5850434"/>
            <a:ext cx="151771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User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Experience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77478" y="6449000"/>
            <a:ext cx="4846754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38" dirty="0">
                <a:solidFill>
                  <a:srgbClr val="E5E7EB"/>
                </a:solidFill>
                <a:latin typeface="DejaVu Sans"/>
                <a:cs typeface="DejaVu Sans"/>
              </a:rPr>
              <a:t>Tránh</a:t>
            </a:r>
            <a:r>
              <a:rPr sz="1500" spc="5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giữ tham chiếu Context lâu dài (đặc biệt là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Activity Context) trong</a:t>
            </a:r>
            <a:r>
              <a:rPr sz="1500" spc="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Repository</a:t>
            </a:r>
            <a:r>
              <a:rPr sz="1500" spc="11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để ngăn chặn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memory leak.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89501" y="6449000"/>
            <a:ext cx="4804293" cy="861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Hiển thị thanh tiến trình (Progress</a:t>
            </a:r>
            <a:r>
              <a:rPr sz="1500" spc="15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Bar) và cung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cấp tùy chọn Hủy (Cancel) cho các request chạy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dài.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2756" y="7527588"/>
            <a:ext cx="116885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D8B4FE"/>
                </a:solidFill>
                <a:latin typeface="DejaVu Sans"/>
                <a:cs typeface="DejaVu Sans"/>
              </a:rPr>
              <a:t>Hiệu suất tối ưu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135088" y="7527588"/>
            <a:ext cx="1073608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9A8D4"/>
                </a:solidFill>
                <a:latin typeface="DejaVu Sans"/>
                <a:cs typeface="DejaVu Sans"/>
              </a:rPr>
              <a:t>Bảo vệ bộ nhớ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574779" y="7527588"/>
            <a:ext cx="146939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A5B4FC"/>
                </a:solidFill>
                <a:latin typeface="DejaVu Sans"/>
                <a:cs typeface="DejaVu Sans"/>
              </a:rPr>
              <a:t>Phản hồi người dùng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147743" y="7527588"/>
            <a:ext cx="144196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5EEAD4"/>
                </a:solidFill>
                <a:latin typeface="DejaVu Sans"/>
                <a:cs typeface="DejaVu Sans"/>
              </a:rPr>
              <a:t>Kiểm soát tương tác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44848" y="8382575"/>
            <a:ext cx="9263048" cy="556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"Đảm bảo ứng dụng Android</a:t>
            </a:r>
            <a:r>
              <a:rPr sz="1500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phản hồi nhanh, ổn định và hiệu quả bằng cách áp dụng các thực</a:t>
            </a:r>
          </a:p>
          <a:p>
            <a:pPr marL="258693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hành xử lý tài nguyên &amp;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mạng xuất sắc."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550050" y="9203988"/>
            <a:ext cx="462369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Source: Best Practices of Retroﬁt</a:t>
            </a:r>
            <a:r>
              <a:rPr sz="1000" spc="11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and OkHttp in Android Development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728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57178" y="399974"/>
            <a:ext cx="4630082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FFFFFF"/>
                </a:solidFill>
                <a:latin typeface="DejaVu Sans"/>
                <a:cs typeface="DejaVu Sans"/>
              </a:rPr>
              <a:t>mật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cơ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0548" y="1828254"/>
            <a:ext cx="246716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23" dirty="0">
                <a:solidFill>
                  <a:srgbClr val="FFFFFF"/>
                </a:solidFill>
                <a:latin typeface="DejaVu Sans"/>
                <a:cs typeface="DejaVu Sans"/>
              </a:rPr>
              <a:t>HTTPS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Bắt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Buộc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25604" y="1828254"/>
            <a:ext cx="295437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Ghép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Chứng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5584" y="2421068"/>
            <a:ext cx="4765201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Luôn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spc="10" dirty="0">
                <a:solidFill>
                  <a:srgbClr val="D1D5DB"/>
                </a:solidFill>
                <a:latin typeface="DejaVu Sans"/>
                <a:cs typeface="DejaVu Sans"/>
              </a:rPr>
              <a:t>mã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 hóa dữ liệu nhạy cảm khi truyền tải để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bảo vệ khỏi các cuộc tấn công nghe lén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(eavesdropping).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60640" y="2421068"/>
            <a:ext cx="4718705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Cân nhắc Certiﬁcate Pinning</a:t>
            </a:r>
            <a:r>
              <a:rPr sz="1500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cho các API cực kỳ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nhạy cảm để chống lại các cuộc tấn công trung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gian (Man-in-the-Middle).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5415" y="3508427"/>
            <a:ext cx="146176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nhạy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cảm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80472" y="3508427"/>
            <a:ext cx="12822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30548" y="4733380"/>
            <a:ext cx="289387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Ghi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Log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Mật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25604" y="4733380"/>
            <a:ext cx="233654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Lưu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trữ </a:t>
            </a:r>
            <a:r>
              <a:rPr sz="2000" b="1" spc="15" dirty="0">
                <a:solidFill>
                  <a:srgbClr val="FFFFFF"/>
                </a:solidFill>
                <a:latin typeface="DejaVu Sans"/>
                <a:cs typeface="DejaVu Sans"/>
              </a:rPr>
              <a:t>Mã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65584" y="5316668"/>
            <a:ext cx="4938347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Không bao giờ ghi log access token</a:t>
            </a:r>
            <a:r>
              <a:rPr sz="1500" spc="1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hay mật khẩu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sz="1500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môi trường production để tránh rủi </a:t>
            </a:r>
            <a:r>
              <a:rPr sz="1500" spc="-28" dirty="0">
                <a:solidFill>
                  <a:srgbClr val="D1D5DB"/>
                </a:solidFill>
                <a:latin typeface="DejaVu Sans"/>
                <a:cs typeface="DejaVu Sans"/>
              </a:rPr>
              <a:t>ro</a:t>
            </a:r>
            <a:r>
              <a:rPr sz="1500" spc="3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lộ thông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tin xác thực.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60640" y="5316668"/>
            <a:ext cx="4783201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Sử dụng `EncryptedSharedPreferences` để lưu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trữ token</a:t>
            </a:r>
            <a:r>
              <a:rPr sz="1500" spc="1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và dữ liệu nhạy cảm một cách an toàn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sz="1500" spc="17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thiết bị.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85415" y="6413552"/>
            <a:ext cx="179833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Production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80472" y="6413552"/>
            <a:ext cx="122652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Lưu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trữ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cục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01370" y="6947706"/>
            <a:ext cx="460163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Best Practices of Retroﬁt</a:t>
            </a:r>
            <a:r>
              <a:rPr sz="1000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and OkHttp in Android Development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7285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57178" y="399974"/>
            <a:ext cx="4630082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2" dirty="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5" dirty="0">
                <a:solidFill>
                  <a:srgbClr val="FFFFFF"/>
                </a:solidFill>
                <a:latin typeface="DejaVu Sans"/>
                <a:cs typeface="DejaVu Sans"/>
              </a:rPr>
              <a:t>mật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cơ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FFFF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0548" y="1828254"/>
            <a:ext cx="246716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23" dirty="0">
                <a:solidFill>
                  <a:srgbClr val="FFFFFF"/>
                </a:solidFill>
                <a:latin typeface="DejaVu Sans"/>
                <a:cs typeface="DejaVu Sans"/>
              </a:rPr>
              <a:t>HTTPS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Bắt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Buộc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25604" y="1828254"/>
            <a:ext cx="295437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Ghép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nối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Chứng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chỉ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5584" y="2421068"/>
            <a:ext cx="4765201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Luôn</a:t>
            </a:r>
            <a:r>
              <a:rPr sz="1500" spc="12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spc="10" dirty="0">
                <a:solidFill>
                  <a:srgbClr val="D1D5DB"/>
                </a:solidFill>
                <a:latin typeface="DejaVu Sans"/>
                <a:cs typeface="DejaVu Sans"/>
              </a:rPr>
              <a:t>mã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 hóa dữ liệu nhạy cảm khi truyền tải để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bảo vệ khỏi các cuộc tấn công nghe lén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(eavesdropping).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60640" y="2421068"/>
            <a:ext cx="4718705" cy="852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Cân nhắc Certiﬁcate Pinning</a:t>
            </a:r>
            <a:r>
              <a:rPr sz="1500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cho các API cực kỳ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nhạy cảm để chống lại các cuộc tấn công trung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gian (Man-in-the-Middle).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5415" y="3508427"/>
            <a:ext cx="146176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nhạy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cảm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80472" y="3508427"/>
            <a:ext cx="128228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API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30548" y="4733380"/>
            <a:ext cx="289387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Không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Ghi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Log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FFFFFF"/>
                </a:solidFill>
                <a:latin typeface="DejaVu Sans"/>
                <a:cs typeface="DejaVu Sans"/>
              </a:rPr>
              <a:t>Mật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225604" y="4733380"/>
            <a:ext cx="233654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Lưu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trữ </a:t>
            </a:r>
            <a:r>
              <a:rPr sz="2000" b="1" spc="15" dirty="0">
                <a:solidFill>
                  <a:srgbClr val="FFFFFF"/>
                </a:solidFill>
                <a:latin typeface="DejaVu Sans"/>
                <a:cs typeface="DejaVu Sans"/>
              </a:rPr>
              <a:t>Mã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65584" y="5316668"/>
            <a:ext cx="4938347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Không bao giờ ghi log access token</a:t>
            </a:r>
            <a:r>
              <a:rPr sz="1500" spc="1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hay mật khẩu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ở</a:t>
            </a:r>
            <a:r>
              <a:rPr sz="1500" spc="1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môi trường production để tránh rủi </a:t>
            </a:r>
            <a:r>
              <a:rPr sz="1500" spc="-28" dirty="0">
                <a:solidFill>
                  <a:srgbClr val="D1D5DB"/>
                </a:solidFill>
                <a:latin typeface="DejaVu Sans"/>
                <a:cs typeface="DejaVu Sans"/>
              </a:rPr>
              <a:t>ro</a:t>
            </a:r>
            <a:r>
              <a:rPr sz="1500" spc="3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lộ thông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tin xác thực.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60640" y="5316668"/>
            <a:ext cx="4783201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Sử dụng `EncryptedSharedPreferences` để lưu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trữ token</a:t>
            </a:r>
            <a:r>
              <a:rPr sz="1500" spc="18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và dữ liệu nhạy cảm một cách an toàn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trên</a:t>
            </a:r>
            <a:r>
              <a:rPr sz="1500" spc="17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D1D5DB"/>
                </a:solidFill>
                <a:latin typeface="DejaVu Sans"/>
                <a:cs typeface="DejaVu Sans"/>
              </a:rPr>
              <a:t>thiết bị.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85415" y="6413552"/>
            <a:ext cx="179833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Môi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Production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80472" y="6413552"/>
            <a:ext cx="122652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Lưu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trữ</a:t>
            </a: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cục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01370" y="6947706"/>
            <a:ext cx="4601634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Nguồn: Best Practices of Retroﬁt</a:t>
            </a:r>
            <a:r>
              <a:rPr sz="1000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FFFFFF"/>
                </a:solidFill>
                <a:latin typeface="DejaVu Sans"/>
                <a:cs typeface="DejaVu Sans"/>
              </a:rPr>
              <a:t>and OkHttp in Android Development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647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9278" y="399466"/>
            <a:ext cx="912563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8" dirty="0">
                <a:solidFill>
                  <a:srgbClr val="FFFFFF"/>
                </a:solidFill>
                <a:latin typeface="DejaVu Sans"/>
                <a:cs typeface="DejaVu Sans"/>
              </a:rPr>
              <a:t>Mở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rộng: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23" dirty="0">
                <a:solidFill>
                  <a:srgbClr val="00FFFF"/>
                </a:solidFill>
                <a:latin typeface="DejaVu Sans"/>
                <a:cs typeface="DejaVu Sans"/>
              </a:rPr>
              <a:t>Pagination</a:t>
            </a:r>
            <a:r>
              <a:rPr sz="4050" b="1" spc="401" dirty="0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86" dirty="0">
                <a:solidFill>
                  <a:srgbClr val="32CD32"/>
                </a:solidFill>
                <a:latin typeface="DejaVu Sans"/>
                <a:cs typeface="DejaVu Sans"/>
              </a:rPr>
              <a:t>Testing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6806" y="3370796"/>
            <a:ext cx="362395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Phân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trang (Pagination)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59797" y="3370796"/>
            <a:ext cx="282012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thử </a:t>
            </a:r>
            <a:r>
              <a:rPr sz="2000" b="1" spc="-21" dirty="0">
                <a:solidFill>
                  <a:srgbClr val="FFFFFF"/>
                </a:solidFill>
                <a:latin typeface="DejaVu Sans"/>
                <a:cs typeface="DejaVu Sans"/>
              </a:rPr>
              <a:t>(Testing)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7649" y="3907969"/>
            <a:ext cx="18158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Tải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dữ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liệu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hiệu</a:t>
            </a:r>
            <a:r>
              <a:rPr sz="1200" b="1" spc="-1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22363" y="3907969"/>
            <a:ext cx="119417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Cuộn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vô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hạn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0640" y="3907969"/>
            <a:ext cx="177654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Đảm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bảo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độ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tin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 cậy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26064" y="3907969"/>
            <a:ext cx="134408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Giả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001F3F"/>
                </a:solidFill>
                <a:latin typeface="DejaVu Sans"/>
                <a:cs typeface="DejaVu Sans"/>
              </a:rPr>
              <a:t>lập</a:t>
            </a: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Server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9656" y="4345364"/>
            <a:ext cx="4180752" cy="913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Sử dụng 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Jetpack </a:t>
            </a:r>
            <a:r>
              <a:rPr sz="1350" b="1" spc="-11" dirty="0">
                <a:solidFill>
                  <a:srgbClr val="FFFFFF"/>
                </a:solidFill>
                <a:latin typeface="DejaVu Sans"/>
                <a:cs typeface="DejaVu Sans"/>
              </a:rPr>
              <a:t>Paging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 3</a:t>
            </a:r>
            <a:r>
              <a:rPr sz="1350" b="1" spc="-4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cho danh sách lớn.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Quản lý tải và hiển thị dữ liệu theo từng trang.</a:t>
            </a:r>
          </a:p>
          <a:p>
            <a:pPr marL="0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Tối ưu hóa bộ nhớ và hiệu suất mạng.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32648" y="4345364"/>
            <a:ext cx="4328509" cy="913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Sử dụng 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MockWebServer</a:t>
            </a:r>
            <a:r>
              <a:rPr sz="1350" b="1" spc="-3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để giả lập API </a:t>
            </a:r>
            <a:r>
              <a:rPr sz="1350" spc="-23" dirty="0">
                <a:solidFill>
                  <a:srgbClr val="D1D5DB"/>
                </a:solidFill>
                <a:latin typeface="DejaVu Sans"/>
                <a:cs typeface="DejaVu Sans"/>
              </a:rPr>
              <a:t>server.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Kiểm thử các trường hợp oﬄine, lỗi, và timeouts.</a:t>
            </a:r>
          </a:p>
          <a:p>
            <a:pPr marL="0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Cô lập logic mạng khỏi các dependency thực.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5801935"/>
            <a:ext cx="205955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điểm</a:t>
            </a: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Paging</a:t>
            </a:r>
            <a:r>
              <a:rPr sz="1500" b="1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94548" y="5801935"/>
            <a:ext cx="267263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Lợi ích MockWebServer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5435" y="6174164"/>
            <a:ext cx="4175021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Tích hợp liền mạch với </a:t>
            </a:r>
            <a:r>
              <a:rPr sz="1350" spc="-14" dirty="0">
                <a:solidFill>
                  <a:srgbClr val="D1D5DB"/>
                </a:solidFill>
                <a:latin typeface="DejaVu Sans"/>
                <a:cs typeface="DejaVu Sans"/>
              </a:rPr>
              <a:t>Coroutines/Flow.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Tự động xử lý trạng thái loading và lỗi.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Phục hồi trạng thái cuộn một cách thông minh.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08426" y="6174164"/>
            <a:ext cx="4544431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Tăng tốc độ và tính ổn định của unit test.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spc="-60" dirty="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sz="1350" spc="5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quyền kiểm soát các phản hồi từ </a:t>
            </a:r>
            <a:r>
              <a:rPr sz="1350" spc="-23" dirty="0">
                <a:solidFill>
                  <a:srgbClr val="D1D5DB"/>
                </a:solidFill>
                <a:latin typeface="DejaVu Sans"/>
                <a:cs typeface="DejaVu Sans"/>
              </a:rPr>
              <a:t>server.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spc="-76" dirty="0">
                <a:solidFill>
                  <a:srgbClr val="D1D5DB"/>
                </a:solidFill>
                <a:latin typeface="DejaVu Sans"/>
                <a:cs typeface="DejaVu Sans"/>
              </a:rPr>
              <a:t>Tái</a:t>
            </a:r>
            <a:r>
              <a:rPr sz="1350" spc="73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tạo các kịch bản lỗi phức tạp một cách dễ dàng.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647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9278" y="399466"/>
            <a:ext cx="9125634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8" dirty="0">
                <a:solidFill>
                  <a:srgbClr val="FFFFFF"/>
                </a:solidFill>
                <a:latin typeface="DejaVu Sans"/>
                <a:cs typeface="DejaVu Sans"/>
              </a:rPr>
              <a:t>Mở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rộng: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23" dirty="0">
                <a:solidFill>
                  <a:srgbClr val="00FFFF"/>
                </a:solidFill>
                <a:latin typeface="DejaVu Sans"/>
                <a:cs typeface="DejaVu Sans"/>
              </a:rPr>
              <a:t>Pagination</a:t>
            </a:r>
            <a:r>
              <a:rPr sz="4050" b="1" spc="401" dirty="0">
                <a:solidFill>
                  <a:srgbClr val="00FFFF"/>
                </a:solidFill>
                <a:latin typeface="Times New Roman"/>
                <a:cs typeface="Times New Roman"/>
              </a:rPr>
              <a:t> </a:t>
            </a:r>
            <a:r>
              <a:rPr sz="4050" b="1" spc="-11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405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050" b="1" spc="-86" dirty="0">
                <a:solidFill>
                  <a:srgbClr val="32CD32"/>
                </a:solidFill>
                <a:latin typeface="DejaVu Sans"/>
                <a:cs typeface="DejaVu Sans"/>
              </a:rPr>
              <a:t>Testing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6806" y="3370796"/>
            <a:ext cx="362395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Phân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trang (Pagination)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59797" y="3370796"/>
            <a:ext cx="282012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Kiểm</a:t>
            </a: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thử </a:t>
            </a:r>
            <a:r>
              <a:rPr sz="2000" b="1" spc="-21" dirty="0">
                <a:solidFill>
                  <a:srgbClr val="FFFFFF"/>
                </a:solidFill>
                <a:latin typeface="DejaVu Sans"/>
                <a:cs typeface="DejaVu Sans"/>
              </a:rPr>
              <a:t>(Testing)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7649" y="3907969"/>
            <a:ext cx="181582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Tải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dữ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liệu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hiệu</a:t>
            </a:r>
            <a:r>
              <a:rPr sz="1200" b="1" spc="-1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22363" y="3907969"/>
            <a:ext cx="119417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Cuộn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vô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hạn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0640" y="3907969"/>
            <a:ext cx="177654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Đảm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1F3F"/>
                </a:solidFill>
                <a:latin typeface="DejaVu Sans"/>
                <a:cs typeface="DejaVu Sans"/>
              </a:rPr>
              <a:t>bảo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1F3F"/>
                </a:solidFill>
                <a:latin typeface="DejaVu Sans"/>
                <a:cs typeface="DejaVu Sans"/>
              </a:rPr>
              <a:t>độ</a:t>
            </a:r>
            <a:r>
              <a:rPr sz="1200" b="1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tin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 cậy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26064" y="3907969"/>
            <a:ext cx="134408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Giả</a:t>
            </a:r>
            <a:r>
              <a:rPr sz="1200" b="1" spc="-10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001F3F"/>
                </a:solidFill>
                <a:latin typeface="DejaVu Sans"/>
                <a:cs typeface="DejaVu Sans"/>
              </a:rPr>
              <a:t>lập</a:t>
            </a:r>
            <a:r>
              <a:rPr sz="1200" b="1" spc="-14" dirty="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1F3F"/>
                </a:solidFill>
                <a:latin typeface="DejaVu Sans"/>
                <a:cs typeface="DejaVu Sans"/>
              </a:rPr>
              <a:t>Server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9656" y="4345364"/>
            <a:ext cx="4180752" cy="913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Sử dụng 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Jetpack </a:t>
            </a:r>
            <a:r>
              <a:rPr sz="1350" b="1" spc="-11" dirty="0">
                <a:solidFill>
                  <a:srgbClr val="FFFFFF"/>
                </a:solidFill>
                <a:latin typeface="DejaVu Sans"/>
                <a:cs typeface="DejaVu Sans"/>
              </a:rPr>
              <a:t>Paging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 3</a:t>
            </a:r>
            <a:r>
              <a:rPr sz="1350" b="1" spc="-47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cho danh sách lớn.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Quản lý tải và hiển thị dữ liệu theo từng trang.</a:t>
            </a:r>
          </a:p>
          <a:p>
            <a:pPr marL="0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Tối ưu hóa bộ nhớ và hiệu suất mạng.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32648" y="4345364"/>
            <a:ext cx="4328509" cy="913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Sử dụng </a:t>
            </a:r>
            <a:r>
              <a:rPr sz="1350" b="1" dirty="0">
                <a:solidFill>
                  <a:srgbClr val="FFFFFF"/>
                </a:solidFill>
                <a:latin typeface="DejaVu Sans"/>
                <a:cs typeface="DejaVu Sans"/>
              </a:rPr>
              <a:t>MockWebServer</a:t>
            </a:r>
            <a:r>
              <a:rPr sz="1350" b="1" spc="-36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để giả lập API </a:t>
            </a:r>
            <a:r>
              <a:rPr sz="1350" spc="-23" dirty="0">
                <a:solidFill>
                  <a:srgbClr val="D1D5DB"/>
                </a:solidFill>
                <a:latin typeface="DejaVu Sans"/>
                <a:cs typeface="DejaVu Sans"/>
              </a:rPr>
              <a:t>server.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Kiểm thử các trường hợp oﬄine, lỗi, và timeouts.</a:t>
            </a:r>
          </a:p>
          <a:p>
            <a:pPr marL="0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Cô lập logic mạng khỏi các dependency thực.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5801935"/>
            <a:ext cx="205955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điểm</a:t>
            </a: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Paging</a:t>
            </a:r>
            <a:r>
              <a:rPr sz="1500" b="1" spc="12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94548" y="5801935"/>
            <a:ext cx="267263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Lợi ích MockWebServer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5435" y="6174164"/>
            <a:ext cx="4175021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Tích hợp liền mạch với </a:t>
            </a:r>
            <a:r>
              <a:rPr sz="1350" spc="-14" dirty="0">
                <a:solidFill>
                  <a:srgbClr val="D1D5DB"/>
                </a:solidFill>
                <a:latin typeface="DejaVu Sans"/>
                <a:cs typeface="DejaVu Sans"/>
              </a:rPr>
              <a:t>Coroutines/Flow.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Tự động xử lý trạng thái loading và lỗi.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Phục hồi trạng thái cuộn một cách thông minh.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08426" y="6174164"/>
            <a:ext cx="4544431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Tăng tốc độ và tính ổn định của unit test.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spc="-60" dirty="0">
                <a:solidFill>
                  <a:srgbClr val="D1D5DB"/>
                </a:solidFill>
                <a:latin typeface="DejaVu Sans"/>
                <a:cs typeface="DejaVu Sans"/>
              </a:rPr>
              <a:t>Toàn</a:t>
            </a:r>
            <a:r>
              <a:rPr sz="1350" spc="5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quyền kiểm soát các phản hồi từ </a:t>
            </a:r>
            <a:r>
              <a:rPr sz="1350" spc="-23" dirty="0">
                <a:solidFill>
                  <a:srgbClr val="D1D5DB"/>
                </a:solidFill>
                <a:latin typeface="DejaVu Sans"/>
                <a:cs typeface="DejaVu Sans"/>
              </a:rPr>
              <a:t>server.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spc="-76" dirty="0">
                <a:solidFill>
                  <a:srgbClr val="D1D5DB"/>
                </a:solidFill>
                <a:latin typeface="DejaVu Sans"/>
                <a:cs typeface="DejaVu Sans"/>
              </a:rPr>
              <a:t>Tái</a:t>
            </a:r>
            <a:r>
              <a:rPr sz="1350" spc="73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tạo các kịch bản lỗi phức tạp một cách dễ dàng.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10805" y="405258"/>
            <a:ext cx="612263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Bài Lab </a:t>
            </a:r>
            <a:r>
              <a:rPr sz="3600" b="1" spc="-267" dirty="0">
                <a:solidFill>
                  <a:srgbClr val="FFFFFF"/>
                </a:solidFill>
                <a:latin typeface="Liberation Sans"/>
                <a:cs typeface="Liberation Sans"/>
              </a:rPr>
              <a:t>Tu</a:t>
            </a:r>
            <a:r>
              <a:rPr sz="3600" b="1" spc="144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n 9: </a:t>
            </a:r>
            <a:r>
              <a:rPr sz="3600" b="1" dirty="0">
                <a:solidFill>
                  <a:srgbClr val="00FFFF"/>
                </a:solidFill>
                <a:latin typeface="Liberation Sans"/>
                <a:cs typeface="Liberation Sans"/>
              </a:rPr>
              <a:t>Th</a:t>
            </a:r>
            <a:r>
              <a:rPr sz="3600" b="1" spc="1250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00FFFF"/>
                </a:solidFill>
                <a:latin typeface="Liberation Sans"/>
                <a:cs typeface="Liberation Sans"/>
              </a:rPr>
              <a:t>c chi</a:t>
            </a:r>
            <a:r>
              <a:rPr sz="3600" b="1" spc="1250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00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799" y="1507555"/>
            <a:ext cx="2565089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800" b="1" spc="11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u &amp; Hi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96099" y="1507555"/>
            <a:ext cx="2143273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G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800" b="1" spc="11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u JSON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599" y="1925464"/>
            <a:ext cx="5300215" cy="22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u 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ừ</a:t>
            </a:r>
            <a:r>
              <a:rPr sz="1200" spc="3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GET /posts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trên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RecyclerView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x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lý các tr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8899" y="1925464"/>
            <a:ext cx="5147220" cy="22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o màn hình form 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spc="4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u qua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POST JSON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 c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p nh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l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9599" y="2163589"/>
            <a:ext cx="1793304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thái và vu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spc="4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làm m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8899" y="2167087"/>
            <a:ext cx="2219771" cy="208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danh sách sau khi thành công.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3899" y="2573053"/>
            <a:ext cx="755711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GET /posts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32049" y="2573053"/>
            <a:ext cx="889489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RecyclerView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71911" y="2573053"/>
            <a:ext cx="1403728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Loading/Success/Error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28057" y="2573053"/>
            <a:ext cx="908298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SwipeRefresh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53199" y="2573053"/>
            <a:ext cx="584206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Form UI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289898" y="2573053"/>
            <a:ext cx="806611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POST JSON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248946" y="2573053"/>
            <a:ext cx="1095226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C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p nh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t t</a:t>
            </a:r>
            <a:r>
              <a:rPr sz="900" b="1" spc="350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c th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66799" y="3422080"/>
            <a:ext cx="2450826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Upload</a:t>
            </a:r>
            <a:r>
              <a:rPr sz="1800" b="1" spc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nh Multipart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96099" y="3422080"/>
            <a:ext cx="2667223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1800" b="1" spc="15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u Cache &amp; Offline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9599" y="3839989"/>
            <a:ext cx="5124300" cy="22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ọ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nh 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ừ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b</a:t>
            </a:r>
            <a:r>
              <a:rPr sz="1200" spc="-33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upload b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ằ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Multipart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trình và cho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38899" y="3839989"/>
            <a:ext cx="5223941" cy="22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Kích ho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OkHttp cache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thêm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offline interceptor</a:t>
            </a:r>
            <a:r>
              <a:rPr sz="1200" spc="-86" dirty="0">
                <a:solidFill>
                  <a:srgbClr val="00FFFF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spc="4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 d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09599" y="4078114"/>
            <a:ext cx="1872257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phép 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ườ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 dùng 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ủ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y b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ỏ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438899" y="4078114"/>
            <a:ext cx="2682701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ẫ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ho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đ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 khi m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k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n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 m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23899" y="4487578"/>
            <a:ext cx="679325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Ch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n</a:t>
            </a:r>
            <a:r>
              <a:rPr sz="900" b="1" spc="52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55700" y="4487578"/>
            <a:ext cx="1054019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Multipart Upload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62249" y="4487578"/>
            <a:ext cx="842348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-15" dirty="0">
                <a:solidFill>
                  <a:srgbClr val="001F3F"/>
                </a:solidFill>
                <a:latin typeface="Liberation Sans"/>
                <a:cs typeface="Liberation Sans"/>
              </a:rPr>
              <a:t>Ti</a:t>
            </a:r>
            <a:r>
              <a:rPr sz="900" b="1" spc="291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n trình t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757016" y="4487578"/>
            <a:ext cx="844692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H</a:t>
            </a:r>
            <a:r>
              <a:rPr sz="900" b="1" spc="350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y thao tác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553199" y="4487578"/>
            <a:ext cx="908186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OkHttp Cache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613897" y="4487578"/>
            <a:ext cx="1143093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Offline Interceptor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909446" y="4487578"/>
            <a:ext cx="1091989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Ho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t đ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ng offline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10805" y="405258"/>
            <a:ext cx="612263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Bài Lab </a:t>
            </a:r>
            <a:r>
              <a:rPr sz="3600" b="1" spc="-267" dirty="0">
                <a:solidFill>
                  <a:srgbClr val="FFFFFF"/>
                </a:solidFill>
                <a:latin typeface="Liberation Sans"/>
                <a:cs typeface="Liberation Sans"/>
              </a:rPr>
              <a:t>Tu</a:t>
            </a:r>
            <a:r>
              <a:rPr sz="3600" b="1" spc="1442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FFFFFF"/>
                </a:solidFill>
                <a:latin typeface="Liberation Sans"/>
                <a:cs typeface="Liberation Sans"/>
              </a:rPr>
              <a:t>n 9: </a:t>
            </a:r>
            <a:r>
              <a:rPr sz="3600" b="1" dirty="0">
                <a:solidFill>
                  <a:srgbClr val="00FFFF"/>
                </a:solidFill>
                <a:latin typeface="Liberation Sans"/>
                <a:cs typeface="Liberation Sans"/>
              </a:rPr>
              <a:t>Th</a:t>
            </a:r>
            <a:r>
              <a:rPr sz="3600" b="1" spc="1250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00FFFF"/>
                </a:solidFill>
                <a:latin typeface="Liberation Sans"/>
                <a:cs typeface="Liberation Sans"/>
              </a:rPr>
              <a:t>c chi</a:t>
            </a:r>
            <a:r>
              <a:rPr sz="3600" b="1" spc="1250" dirty="0">
                <a:solidFill>
                  <a:srgbClr val="00FFFF"/>
                </a:solidFill>
                <a:latin typeface="Liberation Sans"/>
                <a:cs typeface="Liberation Sans"/>
              </a:rPr>
              <a:t> </a:t>
            </a:r>
            <a:r>
              <a:rPr sz="3600" b="1" dirty="0">
                <a:solidFill>
                  <a:srgbClr val="00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799" y="1507555"/>
            <a:ext cx="2565089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800" b="1" spc="11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u &amp; Hi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96099" y="1507555"/>
            <a:ext cx="2143273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G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800" b="1" spc="11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u JSON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9599" y="1925464"/>
            <a:ext cx="5300215" cy="22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u 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ừ</a:t>
            </a:r>
            <a:r>
              <a:rPr sz="1200" spc="3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GET /posts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trên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RecyclerView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x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lý các tr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8899" y="1925464"/>
            <a:ext cx="5147220" cy="22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o màn hình form 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spc="4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g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 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u qua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POST JSON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ự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 c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p nh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l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9599" y="2163589"/>
            <a:ext cx="1793304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thái và vu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spc="4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làm m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8899" y="2167087"/>
            <a:ext cx="2219771" cy="208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danh sách sau khi thành công.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3899" y="2573053"/>
            <a:ext cx="755711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GET /posts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32049" y="2573053"/>
            <a:ext cx="889489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RecyclerView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71911" y="2573053"/>
            <a:ext cx="1403728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Loading/Success/Error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28057" y="2573053"/>
            <a:ext cx="908298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SwipeRefresh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53199" y="2573053"/>
            <a:ext cx="584206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Form UI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289898" y="2573053"/>
            <a:ext cx="806611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POST JSON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248946" y="2573053"/>
            <a:ext cx="1095226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C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p nh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t t</a:t>
            </a:r>
            <a:r>
              <a:rPr sz="900" b="1" spc="350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c th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66799" y="3422080"/>
            <a:ext cx="2450826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Upload</a:t>
            </a:r>
            <a:r>
              <a:rPr sz="1800" b="1" spc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nh Multipart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96099" y="3422080"/>
            <a:ext cx="2667223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800" b="1" spc="6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  <a:r>
              <a:rPr sz="1800" b="1" spc="157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Liberation Sans"/>
                <a:cs typeface="Liberation Sans"/>
              </a:rPr>
              <a:t>u Cache &amp; Offline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09599" y="3839989"/>
            <a:ext cx="5124300" cy="22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ọ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nh t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ừ</a:t>
            </a:r>
            <a:r>
              <a:rPr sz="1200" spc="2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b</a:t>
            </a:r>
            <a:r>
              <a:rPr sz="1200" spc="-33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upload b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ằ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Multipart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hi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th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ị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trình và cho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38899" y="3839989"/>
            <a:ext cx="5223941" cy="225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Kích ho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OkHttp cache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, thêm</a:t>
            </a:r>
            <a:r>
              <a:rPr sz="1200" spc="3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FFFF"/>
                </a:solidFill>
                <a:latin typeface="Liberation Mono"/>
                <a:cs typeface="Liberation Mono"/>
              </a:rPr>
              <a:t>offline interceptor</a:t>
            </a:r>
            <a:r>
              <a:rPr sz="1200" spc="-86" dirty="0">
                <a:solidFill>
                  <a:srgbClr val="00FFFF"/>
                </a:solidFill>
                <a:latin typeface="Liberation Mono"/>
                <a:cs typeface="Liberation Mono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spc="4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 d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ụ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09599" y="4078114"/>
            <a:ext cx="1872257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phép ng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ườ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 dùng 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ủ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y b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ỏ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438899" y="4078114"/>
            <a:ext cx="2682701" cy="215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ẫ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 ho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đ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ộ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 khi m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k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t n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 m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23899" y="4487578"/>
            <a:ext cx="679325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Ch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n</a:t>
            </a:r>
            <a:r>
              <a:rPr sz="900" b="1" spc="52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55700" y="4487578"/>
            <a:ext cx="1054019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Multipart Upload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62249" y="4487578"/>
            <a:ext cx="842348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-15" dirty="0">
                <a:solidFill>
                  <a:srgbClr val="001F3F"/>
                </a:solidFill>
                <a:latin typeface="Liberation Sans"/>
                <a:cs typeface="Liberation Sans"/>
              </a:rPr>
              <a:t>Ti</a:t>
            </a:r>
            <a:r>
              <a:rPr sz="900" b="1" spc="291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n trình t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757016" y="4487578"/>
            <a:ext cx="844692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H</a:t>
            </a:r>
            <a:r>
              <a:rPr sz="900" b="1" spc="350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y thao tác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6553199" y="4487578"/>
            <a:ext cx="908186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OkHttp Cache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613897" y="4487578"/>
            <a:ext cx="1143093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Offline Interceptor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909446" y="4487578"/>
            <a:ext cx="1091989" cy="1657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Ho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t đ</a:t>
            </a:r>
            <a:r>
              <a:rPr sz="900" b="1" spc="275" dirty="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sz="900" b="1" dirty="0">
                <a:solidFill>
                  <a:srgbClr val="001F3F"/>
                </a:solidFill>
                <a:latin typeface="Liberation Sans"/>
                <a:cs typeface="Liberation Sans"/>
              </a:rPr>
              <a:t>ng offline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104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33849" y="384944"/>
            <a:ext cx="4076727" cy="1058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79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thường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gặp</a:t>
            </a:r>
          </a:p>
          <a:p>
            <a:pPr marL="0" marR="0">
              <a:lnSpc>
                <a:spcPts val="427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và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cách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tránh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42396" y="1953835"/>
            <a:ext cx="264964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NetworkOnMainThread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79879" y="1953835"/>
            <a:ext cx="235137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Log </a:t>
            </a:r>
            <a:r>
              <a:rPr sz="1500" b="1" spc="-41" dirty="0">
                <a:solidFill>
                  <a:srgbClr val="FFFFFF"/>
                </a:solidFill>
                <a:latin typeface="DejaVu Sans"/>
                <a:cs typeface="DejaVu Sans"/>
              </a:rPr>
              <a:t>Token</a:t>
            </a:r>
            <a:r>
              <a:rPr sz="1500" b="1" spc="5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ở</a:t>
            </a:r>
            <a:r>
              <a:rPr sz="15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Release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15247" y="2403019"/>
            <a:ext cx="11595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E2E8F0"/>
                </a:solidFill>
                <a:latin typeface="DejaVu Sans"/>
                <a:cs typeface="DejaVu Sans"/>
              </a:rPr>
              <a:t>Luôn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sử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02683" y="2403019"/>
            <a:ext cx="81499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hoặc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các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52730" y="2403019"/>
            <a:ext cx="39371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Tắt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86253" y="2403019"/>
            <a:ext cx="2627704" cy="22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7233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OkHttp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ở</a:t>
            </a:r>
            <a:r>
              <a:rPr sz="1200" spc="-23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2E8F0"/>
                </a:solidFill>
                <a:latin typeface="DejaVu Sans"/>
                <a:cs typeface="DejaVu Sans"/>
              </a:rPr>
              <a:t>môi</a:t>
            </a:r>
          </a:p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BODY logging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14640" y="2422670"/>
            <a:ext cx="1048657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coroutines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15247" y="2631619"/>
            <a:ext cx="2714389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luồng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nền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(IO)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tác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vụ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mạng,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tránh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block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UI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chính.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52730" y="2631619"/>
            <a:ext cx="2840266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production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tránh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lộ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thông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tin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 nhạy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cảm</a:t>
            </a:r>
            <a:r>
              <a:rPr sz="1200" spc="-17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như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E2E8F0"/>
                </a:solidFill>
                <a:latin typeface="DejaVu Sans"/>
                <a:cs typeface="DejaVu Sans"/>
              </a:rPr>
              <a:t>token.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21808" y="3213398"/>
            <a:ext cx="9357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03490" y="3213398"/>
            <a:ext cx="85974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IO Thread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59291" y="3213398"/>
            <a:ext cx="75009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Security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755385" y="3213398"/>
            <a:ext cx="9401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Production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279879" y="3973135"/>
            <a:ext cx="2270014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Crash khi xoay</a:t>
            </a:r>
            <a:r>
              <a:rPr sz="15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màn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42396" y="4058860"/>
            <a:ext cx="200649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Lỗi </a:t>
            </a:r>
            <a:r>
              <a:rPr sz="1500" b="1" spc="20" dirty="0">
                <a:solidFill>
                  <a:srgbClr val="FFFFFF"/>
                </a:solidFill>
                <a:latin typeface="DejaVu Sans"/>
                <a:cs typeface="DejaVu Sans"/>
              </a:rPr>
              <a:t>HTTP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4xx/5xx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15247" y="4508044"/>
            <a:ext cx="3027361" cy="650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Bọc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lệnh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gọi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API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hàm</a:t>
            </a:r>
          </a:p>
          <a:p>
            <a:pPr marL="44797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safeCall</a:t>
            </a:r>
            <a:r>
              <a:rPr sz="1200" dirty="0">
                <a:solidFill>
                  <a:srgbClr val="93C5FD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bắt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lỗi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thông</a:t>
            </a:r>
          </a:p>
          <a:p>
            <a:pPr marL="0" marR="0">
              <a:lnSpc>
                <a:spcPts val="1368"/>
              </a:lnSpc>
              <a:spcBef>
                <a:spcPts val="313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thân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thiện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52730" y="4631869"/>
            <a:ext cx="2998206" cy="650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E2E8F0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logic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mạng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trong</a:t>
            </a:r>
            <a:r>
              <a:rPr sz="1200" spc="349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3C5FD"/>
                </a:solidFill>
                <a:latin typeface="Liberation Mono"/>
                <a:cs typeface="Liberation Mono"/>
              </a:rPr>
              <a:t>ViewModel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,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tồn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tại</a:t>
            </a:r>
          </a:p>
          <a:p>
            <a:pPr marL="0" marR="0">
              <a:lnSpc>
                <a:spcPts val="1368"/>
              </a:lnSpc>
              <a:spcBef>
                <a:spcPts val="313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qua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thay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đổi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cấu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421808" y="5442248"/>
            <a:ext cx="8783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API Errors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446192" y="5442248"/>
            <a:ext cx="72559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safeCall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59291" y="5442248"/>
            <a:ext cx="9381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ViewModel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941122" y="5442248"/>
            <a:ext cx="78629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842396" y="6287710"/>
            <a:ext cx="325891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Memory Leak do giữ Context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315247" y="6736894"/>
            <a:ext cx="197031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46" dirty="0">
                <a:solidFill>
                  <a:srgbClr val="E2E8F0"/>
                </a:solidFill>
                <a:latin typeface="DejaVu Sans"/>
                <a:cs typeface="DejaVu Sans"/>
              </a:rPr>
              <a:t>Tránh</a:t>
            </a:r>
            <a:r>
              <a:rPr sz="1200" spc="21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giữ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tham</a:t>
            </a: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chiếu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tới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751066" y="6736894"/>
            <a:ext cx="279658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đối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tượng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có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vòng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đời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dài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225455" y="6756545"/>
            <a:ext cx="1585717" cy="207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Activity Context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315247" y="6965494"/>
            <a:ext cx="5436373" cy="217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như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Singleton.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Thay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vào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đó,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hãy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dùng</a:t>
            </a:r>
            <a:r>
              <a:rPr sz="1200" spc="34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ApplicationContext</a:t>
            </a:r>
            <a:r>
              <a:rPr sz="1200" dirty="0">
                <a:solidFill>
                  <a:srgbClr val="93C5FD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nếu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cần.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421808" y="7347248"/>
            <a:ext cx="110154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Context Leak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669433" y="7347248"/>
            <a:ext cx="8422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Singleton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104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33849" y="384944"/>
            <a:ext cx="4076727" cy="1058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79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Lỗi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thường</a:t>
            </a:r>
            <a:r>
              <a:rPr sz="3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FFFFFF"/>
                </a:solidFill>
                <a:latin typeface="DejaVu Sans"/>
                <a:cs typeface="DejaVu Sans"/>
              </a:rPr>
              <a:t>gặp</a:t>
            </a:r>
          </a:p>
          <a:p>
            <a:pPr marL="0" marR="0">
              <a:lnSpc>
                <a:spcPts val="427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và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1" dirty="0">
                <a:solidFill>
                  <a:srgbClr val="00FFFF"/>
                </a:solidFill>
                <a:latin typeface="DejaVu Sans"/>
                <a:cs typeface="DejaVu Sans"/>
              </a:rPr>
              <a:t>cách</a:t>
            </a:r>
            <a:r>
              <a:rPr sz="4050" b="1" dirty="0">
                <a:solidFill>
                  <a:srgbClr val="00FFFF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FFFF"/>
                </a:solidFill>
                <a:latin typeface="DejaVu Sans"/>
                <a:cs typeface="DejaVu Sans"/>
              </a:rPr>
              <a:t>tránh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42396" y="1953835"/>
            <a:ext cx="264964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NetworkOnMainThread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79879" y="1953835"/>
            <a:ext cx="235137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Log </a:t>
            </a:r>
            <a:r>
              <a:rPr sz="1500" b="1" spc="-41" dirty="0">
                <a:solidFill>
                  <a:srgbClr val="FFFFFF"/>
                </a:solidFill>
                <a:latin typeface="DejaVu Sans"/>
                <a:cs typeface="DejaVu Sans"/>
              </a:rPr>
              <a:t>Token</a:t>
            </a:r>
            <a:r>
              <a:rPr sz="1500" b="1" spc="54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ở</a:t>
            </a:r>
            <a:r>
              <a:rPr sz="1500" b="1" spc="1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Release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15247" y="2403019"/>
            <a:ext cx="115954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1" dirty="0">
                <a:solidFill>
                  <a:srgbClr val="E2E8F0"/>
                </a:solidFill>
                <a:latin typeface="DejaVu Sans"/>
                <a:cs typeface="DejaVu Sans"/>
              </a:rPr>
              <a:t>Luôn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sử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02683" y="2403019"/>
            <a:ext cx="81499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hoặc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các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52730" y="2403019"/>
            <a:ext cx="39371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Tắt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86253" y="2403019"/>
            <a:ext cx="2627704" cy="226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7233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OkHttp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ở</a:t>
            </a:r>
            <a:r>
              <a:rPr sz="1200" spc="-23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E2E8F0"/>
                </a:solidFill>
                <a:latin typeface="DejaVu Sans"/>
                <a:cs typeface="DejaVu Sans"/>
              </a:rPr>
              <a:t>môi</a:t>
            </a:r>
          </a:p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BODY logging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14640" y="2422670"/>
            <a:ext cx="1048657" cy="207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coroutines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15247" y="2631619"/>
            <a:ext cx="2714389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luồng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nền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(IO)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tác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vụ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mạng,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tránh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block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UI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chính.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52730" y="2631619"/>
            <a:ext cx="2840266" cy="421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trường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production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tránh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lộ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thông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tin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 nhạy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cảm</a:t>
            </a:r>
            <a:r>
              <a:rPr sz="1200" spc="-17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như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21" dirty="0">
                <a:solidFill>
                  <a:srgbClr val="E2E8F0"/>
                </a:solidFill>
                <a:latin typeface="DejaVu Sans"/>
                <a:cs typeface="DejaVu Sans"/>
              </a:rPr>
              <a:t>token.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21808" y="3213398"/>
            <a:ext cx="9357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03490" y="3213398"/>
            <a:ext cx="85974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IO Thread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859291" y="3213398"/>
            <a:ext cx="75009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Security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755385" y="3213398"/>
            <a:ext cx="9401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Production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279879" y="3973135"/>
            <a:ext cx="2270014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Crash khi xoay</a:t>
            </a:r>
            <a:r>
              <a:rPr sz="1500" b="1" spc="18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b="1" spc="10" dirty="0">
                <a:solidFill>
                  <a:srgbClr val="FFFFFF"/>
                </a:solidFill>
                <a:latin typeface="DejaVu Sans"/>
                <a:cs typeface="DejaVu Sans"/>
              </a:rPr>
              <a:t>màn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842396" y="4058860"/>
            <a:ext cx="200649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Lỗi </a:t>
            </a:r>
            <a:r>
              <a:rPr sz="1500" b="1" spc="20" dirty="0">
                <a:solidFill>
                  <a:srgbClr val="FFFFFF"/>
                </a:solidFill>
                <a:latin typeface="DejaVu Sans"/>
                <a:cs typeface="DejaVu Sans"/>
              </a:rPr>
              <a:t>HTTP</a:t>
            </a: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 4xx/5xx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315247" y="4508044"/>
            <a:ext cx="3027361" cy="650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Bọc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lệnh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gọi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API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hàm</a:t>
            </a:r>
          </a:p>
          <a:p>
            <a:pPr marL="44797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safeCall</a:t>
            </a:r>
            <a:r>
              <a:rPr sz="1200" dirty="0">
                <a:solidFill>
                  <a:srgbClr val="93C5FD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bắt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lỗi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hiển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thị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thông</a:t>
            </a:r>
          </a:p>
          <a:p>
            <a:pPr marL="0" marR="0">
              <a:lnSpc>
                <a:spcPts val="1368"/>
              </a:lnSpc>
              <a:spcBef>
                <a:spcPts val="313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báo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thân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thiện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người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dùng.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52730" y="4631869"/>
            <a:ext cx="2998206" cy="650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E2E8F0"/>
                </a:solidFill>
                <a:latin typeface="DejaVu Sans"/>
                <a:cs typeface="DejaVu Sans"/>
              </a:rPr>
              <a:t>Quản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lý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logic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trạng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thái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mạng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trong</a:t>
            </a:r>
            <a:r>
              <a:rPr sz="1200" spc="349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3C5FD"/>
                </a:solidFill>
                <a:latin typeface="Liberation Mono"/>
                <a:cs typeface="Liberation Mono"/>
              </a:rPr>
              <a:t>ViewModel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,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giúp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tồn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tại</a:t>
            </a:r>
          </a:p>
          <a:p>
            <a:pPr marL="0" marR="0">
              <a:lnSpc>
                <a:spcPts val="1368"/>
              </a:lnSpc>
              <a:spcBef>
                <a:spcPts val="313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qua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thay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đổi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cấu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421808" y="5442248"/>
            <a:ext cx="87836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API Errors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446192" y="5442248"/>
            <a:ext cx="72559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safeCall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859291" y="5442248"/>
            <a:ext cx="93812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ViewModel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941122" y="5442248"/>
            <a:ext cx="78629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Lifecycle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842396" y="6287710"/>
            <a:ext cx="325891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DejaVu Sans"/>
                <a:cs typeface="DejaVu Sans"/>
              </a:rPr>
              <a:t>Memory Leak do giữ Context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315247" y="6736894"/>
            <a:ext cx="197031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46" dirty="0">
                <a:solidFill>
                  <a:srgbClr val="E2E8F0"/>
                </a:solidFill>
                <a:latin typeface="DejaVu Sans"/>
                <a:cs typeface="DejaVu Sans"/>
              </a:rPr>
              <a:t>Tránh</a:t>
            </a:r>
            <a:r>
              <a:rPr sz="1200" spc="21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giữ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tham</a:t>
            </a: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chiếu</a:t>
            </a:r>
            <a:r>
              <a:rPr sz="1200" spc="-1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E2E8F0"/>
                </a:solidFill>
                <a:latin typeface="DejaVu Sans"/>
                <a:cs typeface="DejaVu Sans"/>
              </a:rPr>
              <a:t>tới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751066" y="6736894"/>
            <a:ext cx="279658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E2E8F0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các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đối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tượng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E2E8F0"/>
                </a:solidFill>
                <a:latin typeface="DejaVu Sans"/>
                <a:cs typeface="DejaVu Sans"/>
              </a:rPr>
              <a:t>có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vòng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đời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dài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7225455" y="6756545"/>
            <a:ext cx="1585717" cy="207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32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Activity Context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315247" y="6965494"/>
            <a:ext cx="5436373" cy="217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như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E2E8F0"/>
                </a:solidFill>
                <a:latin typeface="DejaVu Sans"/>
                <a:cs typeface="DejaVu Sans"/>
              </a:rPr>
              <a:t>Singleton.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Thay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vào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đó,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hãy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dùng</a:t>
            </a:r>
            <a:r>
              <a:rPr sz="1200" spc="345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93C5FD"/>
                </a:solidFill>
                <a:latin typeface="Liberation Mono"/>
                <a:cs typeface="Liberation Mono"/>
              </a:rPr>
              <a:t>ApplicationContext</a:t>
            </a:r>
            <a:r>
              <a:rPr sz="1200" dirty="0">
                <a:solidFill>
                  <a:srgbClr val="93C5FD"/>
                </a:solidFill>
                <a:latin typeface="Liberation Mono"/>
                <a:cs typeface="Liberation Mono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nếu</a:t>
            </a:r>
            <a:r>
              <a:rPr sz="1200" dirty="0">
                <a:solidFill>
                  <a:srgbClr val="E2E8F0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E2E8F0"/>
                </a:solidFill>
                <a:latin typeface="DejaVu Sans"/>
                <a:cs typeface="DejaVu Sans"/>
              </a:rPr>
              <a:t>cần.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421808" y="7347248"/>
            <a:ext cx="110154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Context Leak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6669433" y="7347248"/>
            <a:ext cx="842236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FFFFFF"/>
                </a:solidFill>
                <a:latin typeface="DejaVu Sans"/>
                <a:cs typeface="DejaVu Sans"/>
              </a:rPr>
              <a:t>Singleton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101812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06812" y="405061"/>
            <a:ext cx="3330716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Tổng </a:t>
            </a:r>
            <a:r>
              <a:rPr sz="5050" b="1" dirty="0">
                <a:solidFill>
                  <a:srgbClr val="00FFFF"/>
                </a:solidFill>
                <a:latin typeface="DejaVu Sans"/>
                <a:cs typeface="DejaVu Sans"/>
              </a:rPr>
              <a:t>kết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04" y="1285329"/>
            <a:ext cx="669390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Những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điểm</a:t>
            </a:r>
            <a:r>
              <a:rPr sz="2000" spc="1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chính cần </a:t>
            </a: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ghi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nhớ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và </a:t>
            </a: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phát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triển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7141" y="2266404"/>
            <a:ext cx="334411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công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cụ tiêu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chuẩn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12197" y="2266404"/>
            <a:ext cx="289801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Kiến trúc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bền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vững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5584" y="2783773"/>
            <a:ext cx="438375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OkHttp + </a:t>
            </a:r>
            <a:r>
              <a:rPr sz="1350" spc="-18" dirty="0">
                <a:solidFill>
                  <a:srgbClr val="D1D5DB"/>
                </a:solidFill>
                <a:latin typeface="DejaVu Sans"/>
                <a:cs typeface="DejaVu Sans"/>
              </a:rPr>
              <a:t>Retroﬁt</a:t>
            </a:r>
            <a:r>
              <a:rPr sz="1350" spc="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+ Coroutines là bộ công cụ tiêu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chuẩn cho Android Networking.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0640" y="2783773"/>
            <a:ext cx="490997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Tổ chức kiến trúc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Repository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+ ViewModel giúp UI mượt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mà và dễ test.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93576" y="4908602"/>
            <a:ext cx="6806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OkHttp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62881" y="4908602"/>
            <a:ext cx="7120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7" dirty="0">
                <a:solidFill>
                  <a:srgbClr val="FFFFFF"/>
                </a:solidFill>
                <a:latin typeface="DejaVu Sans"/>
                <a:cs typeface="DejaVu Sans"/>
              </a:rPr>
              <a:t>Retroﬁt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53617" y="4908602"/>
            <a:ext cx="9599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88632" y="4908602"/>
            <a:ext cx="153068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Repository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DejaVu Sans"/>
                <a:cs typeface="DejaVu Sans"/>
              </a:rPr>
              <a:t>Pattern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08192" y="4908602"/>
            <a:ext cx="9585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ViewModel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27484" y="6019255"/>
            <a:ext cx="335261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yếu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tố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trọng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540" y="6019255"/>
            <a:ext cx="299888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Khám phá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nâng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84076" y="6545393"/>
            <a:ext cx="1042761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Timeouts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79132" y="6545393"/>
            <a:ext cx="979152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Paging</a:t>
            </a:r>
            <a:r>
              <a:rPr sz="1500" spc="18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3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84076" y="6974018"/>
            <a:ext cx="1756283" cy="690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Logging (Debug)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Cache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79132" y="6974018"/>
            <a:ext cx="2028852" cy="690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MockWebServer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kotlinx-serialization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84076" y="7821743"/>
            <a:ext cx="1699109" cy="111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10" dirty="0">
                <a:solidFill>
                  <a:srgbClr val="E5E7EB"/>
                </a:solidFill>
                <a:latin typeface="DejaVu Sans"/>
                <a:cs typeface="DejaVu Sans"/>
              </a:rPr>
              <a:t>Retry</a:t>
            </a:r>
            <a:r>
              <a:rPr sz="1500" spc="2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&amp;</a:t>
            </a:r>
            <a:r>
              <a:rPr sz="1500" spc="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Backoﬀ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Oﬄine Handling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Security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85378" y="9565572"/>
            <a:ext cx="165346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Liên hệ: 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x@y.com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891063" y="9595656"/>
            <a:ext cx="58817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Nguồn tham khảo: Best Practices of Retroﬁt,</a:t>
            </a:r>
            <a:r>
              <a:rPr sz="1000" spc="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Repository Pattern,</a:t>
            </a:r>
            <a:r>
              <a:rPr sz="1000" spc="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kotlinx.serialization docs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101812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06812" y="405061"/>
            <a:ext cx="3330716" cy="783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sz="5050" b="1" dirty="0">
                <a:solidFill>
                  <a:srgbClr val="FFFFFF"/>
                </a:solidFill>
                <a:latin typeface="DejaVu Sans"/>
                <a:cs typeface="DejaVu Sans"/>
              </a:rPr>
              <a:t>Tổng </a:t>
            </a:r>
            <a:r>
              <a:rPr sz="5050" b="1" dirty="0">
                <a:solidFill>
                  <a:srgbClr val="00FFFF"/>
                </a:solidFill>
                <a:latin typeface="DejaVu Sans"/>
                <a:cs typeface="DejaVu Sans"/>
              </a:rPr>
              <a:t>kết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04" y="1285329"/>
            <a:ext cx="669390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Những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điểm</a:t>
            </a:r>
            <a:r>
              <a:rPr sz="2000" spc="11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chính cần </a:t>
            </a: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ghi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nhớ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và </a:t>
            </a: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hướng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D1D5DB"/>
                </a:solidFill>
                <a:latin typeface="DejaVu Sans"/>
                <a:cs typeface="DejaVu Sans"/>
              </a:rPr>
              <a:t>phát</a:t>
            </a:r>
            <a:r>
              <a:rPr sz="2000" dirty="0">
                <a:solidFill>
                  <a:srgbClr val="D1D5DB"/>
                </a:solidFill>
                <a:latin typeface="DejaVu Sans"/>
                <a:cs typeface="DejaVu Sans"/>
              </a:rPr>
              <a:t> triển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7141" y="2266404"/>
            <a:ext cx="334411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FFFFFF"/>
                </a:solidFill>
                <a:latin typeface="DejaVu Sans"/>
                <a:cs typeface="DejaVu Sans"/>
              </a:rPr>
              <a:t>Bộ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công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cụ tiêu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chuẩn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12197" y="2266404"/>
            <a:ext cx="289801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Kiến trúc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bền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vững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5584" y="2783773"/>
            <a:ext cx="438375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OkHttp + </a:t>
            </a:r>
            <a:r>
              <a:rPr sz="1350" spc="-18" dirty="0">
                <a:solidFill>
                  <a:srgbClr val="D1D5DB"/>
                </a:solidFill>
                <a:latin typeface="DejaVu Sans"/>
                <a:cs typeface="DejaVu Sans"/>
              </a:rPr>
              <a:t>Retroﬁt</a:t>
            </a:r>
            <a:r>
              <a:rPr sz="1350" spc="14" dirty="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+ Coroutines là bộ công cụ tiêu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chuẩn cho Android Networking.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60640" y="2783773"/>
            <a:ext cx="490997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Tổ chức kiến trúc </a:t>
            </a:r>
            <a:r>
              <a:rPr sz="1350" spc="-10" dirty="0">
                <a:solidFill>
                  <a:srgbClr val="D1D5DB"/>
                </a:solidFill>
                <a:latin typeface="DejaVu Sans"/>
                <a:cs typeface="DejaVu Sans"/>
              </a:rPr>
              <a:t>Repository</a:t>
            </a: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 + ViewModel giúp UI mượt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D1D5DB"/>
                </a:solidFill>
                <a:latin typeface="DejaVu Sans"/>
                <a:cs typeface="DejaVu Sans"/>
              </a:rPr>
              <a:t>mà và dễ test.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93576" y="4908602"/>
            <a:ext cx="68067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FFFFFF"/>
                </a:solidFill>
                <a:latin typeface="DejaVu Sans"/>
                <a:cs typeface="DejaVu Sans"/>
              </a:rPr>
              <a:t>OkHttp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62881" y="4908602"/>
            <a:ext cx="7120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7" dirty="0">
                <a:solidFill>
                  <a:srgbClr val="FFFFFF"/>
                </a:solidFill>
                <a:latin typeface="DejaVu Sans"/>
                <a:cs typeface="DejaVu Sans"/>
              </a:rPr>
              <a:t>Retroﬁt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53617" y="4908602"/>
            <a:ext cx="95990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FFFFFF"/>
                </a:solidFill>
                <a:latin typeface="DejaVu Sans"/>
                <a:cs typeface="DejaVu Sans"/>
              </a:rPr>
              <a:t>Coroutines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88632" y="4908602"/>
            <a:ext cx="153068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Repository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DejaVu Sans"/>
                <a:cs typeface="DejaVu Sans"/>
              </a:rPr>
              <a:t>Pattern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08192" y="4908602"/>
            <a:ext cx="9585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FFFFFF"/>
                </a:solidFill>
                <a:latin typeface="DejaVu Sans"/>
                <a:cs typeface="DejaVu Sans"/>
              </a:rPr>
              <a:t>ViewModel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27484" y="6019255"/>
            <a:ext cx="335261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yếu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tố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trọng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22540" y="6019255"/>
            <a:ext cx="2998884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Khám phá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nâng</a:t>
            </a:r>
            <a:r>
              <a:rPr sz="20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84076" y="6545393"/>
            <a:ext cx="1042761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Timeouts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879132" y="6545393"/>
            <a:ext cx="979152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Paging</a:t>
            </a:r>
            <a:r>
              <a:rPr sz="1500" spc="18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3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184076" y="6974018"/>
            <a:ext cx="1756283" cy="690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Logging (Debug)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Cache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879132" y="6974018"/>
            <a:ext cx="2028852" cy="690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MockWebServer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kotlinx-serialization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184076" y="7821743"/>
            <a:ext cx="1699109" cy="111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10" dirty="0">
                <a:solidFill>
                  <a:srgbClr val="E5E7EB"/>
                </a:solidFill>
                <a:latin typeface="DejaVu Sans"/>
                <a:cs typeface="DejaVu Sans"/>
              </a:rPr>
              <a:t>Retry</a:t>
            </a:r>
            <a:r>
              <a:rPr sz="1500" spc="20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&amp;</a:t>
            </a:r>
            <a:r>
              <a:rPr sz="1500" spc="12" dirty="0">
                <a:solidFill>
                  <a:srgbClr val="E5E7EB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Backoﬀ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Oﬄine Handling</a:t>
            </a:r>
          </a:p>
          <a:p>
            <a:pPr marL="0" marR="0">
              <a:lnSpc>
                <a:spcPts val="1760"/>
              </a:lnSpc>
              <a:spcBef>
                <a:spcPts val="1614"/>
              </a:spcBef>
              <a:spcAft>
                <a:spcPts val="0"/>
              </a:spcAft>
            </a:pPr>
            <a:r>
              <a:rPr sz="1500" dirty="0">
                <a:solidFill>
                  <a:srgbClr val="E5E7EB"/>
                </a:solidFill>
                <a:latin typeface="DejaVu Sans"/>
                <a:cs typeface="DejaVu Sans"/>
              </a:rPr>
              <a:t>Security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85378" y="9565572"/>
            <a:ext cx="165346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DejaVu Sans"/>
                <a:cs typeface="DejaVu Sans"/>
              </a:rPr>
              <a:t>Liên hệ: </a:t>
            </a:r>
            <a:r>
              <a:rPr sz="1350" spc="-31" dirty="0">
                <a:solidFill>
                  <a:srgbClr val="FFFFFF"/>
                </a:solidFill>
                <a:latin typeface="DejaVu Sans"/>
                <a:cs typeface="DejaVu Sans"/>
              </a:rPr>
              <a:t>x@y.com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891063" y="9595656"/>
            <a:ext cx="58817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Nguồn tham khảo: Best Practices of Retroﬁt,</a:t>
            </a:r>
            <a:r>
              <a:rPr sz="1000" spc="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Repository Pattern,</a:t>
            </a:r>
            <a:r>
              <a:rPr sz="1000" spc="10" dirty="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sz="1000" dirty="0">
                <a:solidFill>
                  <a:srgbClr val="9CA3AF"/>
                </a:solidFill>
                <a:latin typeface="DejaVu Sans"/>
                <a:cs typeface="DejaVu Sans"/>
              </a:rPr>
              <a:t>kotlinx.serialization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6823</Words>
  <Application>Microsoft Office PowerPoint</Application>
  <PresentationFormat>Widescreen</PresentationFormat>
  <Paragraphs>1151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Calibri</vt:lpstr>
      <vt:lpstr>DejaVu Sans Mono</vt:lpstr>
      <vt:lpstr>Times New Roman</vt:lpstr>
      <vt:lpstr>DejaVu Sans</vt:lpstr>
      <vt:lpstr>Liberation Mono</vt:lpstr>
      <vt:lpstr>Liberation Sans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Thai Thao</cp:lastModifiedBy>
  <cp:revision>2</cp:revision>
  <dcterms:modified xsi:type="dcterms:W3CDTF">2025-11-03T02:49:35Z</dcterms:modified>
</cp:coreProperties>
</file>