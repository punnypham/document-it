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8077200"/>
  <p:notesSz cx="12192000" cy="8077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Relationship Id="rId37" Type="http://schemas.openxmlformats.org/officeDocument/2006/relationships/slide" Target="slides/slide32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0676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41797" y="363360"/>
            <a:ext cx="7860658" cy="20933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8409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spc="-153" b="1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6050" spc="-1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spc="-152" b="1">
                <a:solidFill>
                  <a:srgbClr val="e0e0e0"/>
                </a:solidFill>
                <a:latin typeface="DejaVu Sans"/>
                <a:cs typeface="DejaVu Sans"/>
              </a:rPr>
              <a:t>tiêu</a:t>
            </a:r>
            <a:r>
              <a:rPr dirty="0" sz="6050" spc="-15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spc="-152" b="1">
                <a:solidFill>
                  <a:srgbClr val="ff7f00"/>
                </a:solidFill>
                <a:latin typeface="DejaVu Sans"/>
                <a:cs typeface="DejaVu Sans"/>
              </a:rPr>
              <a:t>tuần</a:t>
            </a:r>
            <a:r>
              <a:rPr dirty="0" sz="6050" spc="-152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7f00"/>
                </a:solidFill>
                <a:latin typeface="DejaVu Sans"/>
                <a:cs typeface="DejaVu Sans"/>
              </a:rPr>
              <a:t>3</a:t>
            </a:r>
          </a:p>
          <a:p>
            <a:pPr marL="0" marR="0">
              <a:lnSpc>
                <a:spcPts val="3520"/>
              </a:lnSpc>
              <a:spcBef>
                <a:spcPts val="691"/>
              </a:spcBef>
              <a:spcAft>
                <a:spcPts val="0"/>
              </a:spcAft>
            </a:pPr>
            <a:r>
              <a:rPr dirty="0" sz="3000" spc="14">
                <a:solidFill>
                  <a:srgbClr val="d1d5db"/>
                </a:solidFill>
                <a:latin typeface="DejaVu Sans"/>
                <a:cs typeface="DejaVu Sans"/>
              </a:rPr>
              <a:t>Layout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 spc="17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d1d5db"/>
                </a:solidFill>
                <a:latin typeface="DejaVu Sans"/>
                <a:cs typeface="DejaVu Sans"/>
              </a:rPr>
              <a:t>Components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3000" spc="2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</a:p>
          <a:p>
            <a:pPr marL="2494210" marR="0">
              <a:lnSpc>
                <a:spcPts val="2932"/>
              </a:lnSpc>
              <a:spcBef>
                <a:spcPts val="2098"/>
              </a:spcBef>
              <a:spcAft>
                <a:spcPts val="0"/>
              </a:spcAft>
            </a:pPr>
            <a:r>
              <a:rPr dirty="0" sz="2500">
                <a:solidFill>
                  <a:srgbClr val="9ca3af"/>
                </a:solidFill>
                <a:latin typeface="DejaVu Sans"/>
                <a:cs typeface="DejaVu Sans"/>
              </a:rPr>
              <a:t>Presenter:</a:t>
            </a:r>
            <a:r>
              <a:rPr dirty="0" sz="2500" spc="1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9ca3af"/>
                </a:solidFill>
                <a:latin typeface="DejaVu Sans"/>
                <a:cs typeface="DejaVu Sans"/>
              </a:rPr>
              <a:t>Agnes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24223" y="3305645"/>
            <a:ext cx="494387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2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24223" y="4162895"/>
            <a:ext cx="7163734" cy="669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3</a:t>
            </a:r>
            <a:r>
              <a:rPr dirty="0" sz="2000" spc="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chính: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LinearLayout,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RelativeLayout,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ConstraintLayout.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24223" y="5353520"/>
            <a:ext cx="7042724" cy="12314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Làm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quen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Components: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38">
                <a:solidFill>
                  <a:srgbClr val="e0e0e0"/>
                </a:solidFill>
                <a:latin typeface="DejaVu Sans"/>
                <a:cs typeface="DejaVu Sans"/>
              </a:rPr>
              <a:t>TextView,</a:t>
            </a:r>
            <a:r>
              <a:rPr dirty="0" sz="2000" spc="49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34">
                <a:solidFill>
                  <a:srgbClr val="e0e0e0"/>
                </a:solidFill>
                <a:latin typeface="DejaVu Sans"/>
                <a:cs typeface="DejaVu Sans"/>
              </a:rPr>
              <a:t>EditText,</a:t>
            </a:r>
            <a:r>
              <a:rPr dirty="0" sz="2000" spc="4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Button.</a:t>
            </a:r>
          </a:p>
          <a:p>
            <a:pPr marL="0" marR="0">
              <a:lnSpc>
                <a:spcPts val="2346"/>
              </a:lnSpc>
              <a:spcBef>
                <a:spcPts val="4753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Viết</a:t>
            </a:r>
            <a:r>
              <a:rPr dirty="0" sz="2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2000" spc="1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khiển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bằng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24223" y="7144220"/>
            <a:ext cx="677225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hành: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tên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+</a:t>
            </a:r>
            <a:r>
              <a:rPr dirty="0" sz="2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chào.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0676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41797" y="363360"/>
            <a:ext cx="7860658" cy="20933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8409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spc="-153" b="1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6050" spc="-1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spc="-152" b="1">
                <a:solidFill>
                  <a:srgbClr val="e0e0e0"/>
                </a:solidFill>
                <a:latin typeface="DejaVu Sans"/>
                <a:cs typeface="DejaVu Sans"/>
              </a:rPr>
              <a:t>tiêu</a:t>
            </a:r>
            <a:r>
              <a:rPr dirty="0" sz="6050" spc="-15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6050" spc="-152" b="1">
                <a:solidFill>
                  <a:srgbClr val="ff7f00"/>
                </a:solidFill>
                <a:latin typeface="DejaVu Sans"/>
                <a:cs typeface="DejaVu Sans"/>
              </a:rPr>
              <a:t>tuần</a:t>
            </a:r>
            <a:r>
              <a:rPr dirty="0" sz="6050" spc="-152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ff7f00"/>
                </a:solidFill>
                <a:latin typeface="DejaVu Sans"/>
                <a:cs typeface="DejaVu Sans"/>
              </a:rPr>
              <a:t>3</a:t>
            </a:r>
          </a:p>
          <a:p>
            <a:pPr marL="0" marR="0">
              <a:lnSpc>
                <a:spcPts val="3520"/>
              </a:lnSpc>
              <a:spcBef>
                <a:spcPts val="691"/>
              </a:spcBef>
              <a:spcAft>
                <a:spcPts val="0"/>
              </a:spcAft>
            </a:pPr>
            <a:r>
              <a:rPr dirty="0" sz="3000" spc="14">
                <a:solidFill>
                  <a:srgbClr val="d1d5db"/>
                </a:solidFill>
                <a:latin typeface="DejaVu Sans"/>
                <a:cs typeface="DejaVu Sans"/>
              </a:rPr>
              <a:t>Layout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 spc="17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d1d5db"/>
                </a:solidFill>
                <a:latin typeface="DejaVu Sans"/>
                <a:cs typeface="DejaVu Sans"/>
              </a:rPr>
              <a:t>Components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3000" spc="2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</a:p>
          <a:p>
            <a:pPr marL="2494210" marR="0">
              <a:lnSpc>
                <a:spcPts val="2932"/>
              </a:lnSpc>
              <a:spcBef>
                <a:spcPts val="2098"/>
              </a:spcBef>
              <a:spcAft>
                <a:spcPts val="0"/>
              </a:spcAft>
            </a:pPr>
            <a:r>
              <a:rPr dirty="0" sz="2500">
                <a:solidFill>
                  <a:srgbClr val="9ca3af"/>
                </a:solidFill>
                <a:latin typeface="DejaVu Sans"/>
                <a:cs typeface="DejaVu Sans"/>
              </a:rPr>
              <a:t>Presenter:</a:t>
            </a:r>
            <a:r>
              <a:rPr dirty="0" sz="2500" spc="1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9ca3af"/>
                </a:solidFill>
                <a:latin typeface="DejaVu Sans"/>
                <a:cs typeface="DejaVu Sans"/>
              </a:rPr>
              <a:t>Agnes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24223" y="3305645"/>
            <a:ext cx="494387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2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24223" y="4162895"/>
            <a:ext cx="7163734" cy="669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3</a:t>
            </a:r>
            <a:r>
              <a:rPr dirty="0" sz="2000" spc="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chính: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LinearLayout,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RelativeLayout,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ConstraintLayout.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24223" y="5353520"/>
            <a:ext cx="7042724" cy="12314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Làm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quen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Components: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38">
                <a:solidFill>
                  <a:srgbClr val="e0e0e0"/>
                </a:solidFill>
                <a:latin typeface="DejaVu Sans"/>
                <a:cs typeface="DejaVu Sans"/>
              </a:rPr>
              <a:t>TextView,</a:t>
            </a:r>
            <a:r>
              <a:rPr dirty="0" sz="2000" spc="49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34">
                <a:solidFill>
                  <a:srgbClr val="e0e0e0"/>
                </a:solidFill>
                <a:latin typeface="DejaVu Sans"/>
                <a:cs typeface="DejaVu Sans"/>
              </a:rPr>
              <a:t>EditText,</a:t>
            </a:r>
            <a:r>
              <a:rPr dirty="0" sz="2000" spc="4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Button.</a:t>
            </a:r>
          </a:p>
          <a:p>
            <a:pPr marL="0" marR="0">
              <a:lnSpc>
                <a:spcPts val="2346"/>
              </a:lnSpc>
              <a:spcBef>
                <a:spcPts val="4753"/>
              </a:spcBef>
              <a:spcAft>
                <a:spcPts val="0"/>
              </a:spcAft>
            </a:pP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Viết</a:t>
            </a:r>
            <a:r>
              <a:rPr dirty="0" sz="2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2000" spc="1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khiển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bằng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24223" y="7144220"/>
            <a:ext cx="677225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hành: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tên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+</a:t>
            </a:r>
            <a:r>
              <a:rPr dirty="0" sz="2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e0e0e0"/>
                </a:solidFill>
                <a:latin typeface="DejaVu Sans"/>
                <a:cs typeface="DejaVu Sans"/>
              </a:rPr>
              <a:t>chào.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4046" y="491801"/>
            <a:ext cx="4736213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31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5050" spc="2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7f0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2019770"/>
            <a:ext cx="278088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5084" y="2593533"/>
            <a:ext cx="327017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sắp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xếp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084" y="2907858"/>
            <a:ext cx="4028732" cy="5759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5">
                <a:solidFill>
                  <a:srgbClr val="e0e0e0"/>
                </a:solidFill>
                <a:latin typeface="DejaVu Sans"/>
                <a:cs typeface="DejaVu Sans"/>
              </a:rPr>
              <a:t>(TextView,</a:t>
            </a:r>
            <a:r>
              <a:rPr dirty="0" sz="1500" spc="3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Button,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21">
                <a:solidFill>
                  <a:srgbClr val="e0e0e0"/>
                </a:solidFill>
                <a:latin typeface="DejaVu Sans"/>
                <a:cs typeface="DejaVu Sans"/>
              </a:rPr>
              <a:t>EditText…)</a:t>
            </a:r>
            <a:r>
              <a:rPr dirty="0" sz="1500" spc="3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46997" y="3440504"/>
            <a:ext cx="2512683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1: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File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01595" y="3478604"/>
            <a:ext cx="249593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2: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4554" y="3911903"/>
            <a:ext cx="970796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8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Structure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4745" y="3911903"/>
            <a:ext cx="1292258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Views</a:t>
            </a:r>
            <a:r>
              <a:rPr dirty="0" sz="1050" spc="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050" spc="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Widgets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92467" y="3908738"/>
            <a:ext cx="2988156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Ít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nhưng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biết.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mã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nguồn.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37869" y="4127813"/>
            <a:ext cx="275705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Thường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nhất.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27339" y="4931078"/>
            <a:ext cx="881452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res/layout/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25108" y="4931078"/>
            <a:ext cx="934037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e0e0e0"/>
                </a:solidFill>
                <a:latin typeface="DejaVu Sans"/>
                <a:cs typeface="DejaVu Sans"/>
              </a:rPr>
              <a:t>Declarative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081937" y="4931078"/>
            <a:ext cx="754356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e0e0e0"/>
                </a:solidFill>
                <a:latin typeface="DejaVu Sans"/>
                <a:cs typeface="DejaVu Sans"/>
              </a:rPr>
              <a:t>Dynamic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55732" y="4931078"/>
            <a:ext cx="1116783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Programmatic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88826" y="6031304"/>
            <a:ext cx="616597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Mỗi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(Activity)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thường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1</a:t>
            </a:r>
            <a:r>
              <a:rPr dirty="0" sz="1700" spc="-2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351912" y="6605822"/>
            <a:ext cx="282186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9ca3af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4046" y="491801"/>
            <a:ext cx="4736213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31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5050" spc="2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7f00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2019770"/>
            <a:ext cx="278088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5084" y="2593533"/>
            <a:ext cx="327017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sắp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xếp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084" y="2907858"/>
            <a:ext cx="4028732" cy="5759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5">
                <a:solidFill>
                  <a:srgbClr val="e0e0e0"/>
                </a:solidFill>
                <a:latin typeface="DejaVu Sans"/>
                <a:cs typeface="DejaVu Sans"/>
              </a:rPr>
              <a:t>(TextView,</a:t>
            </a:r>
            <a:r>
              <a:rPr dirty="0" sz="1500" spc="3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Button,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21">
                <a:solidFill>
                  <a:srgbClr val="e0e0e0"/>
                </a:solidFill>
                <a:latin typeface="DejaVu Sans"/>
                <a:cs typeface="DejaVu Sans"/>
              </a:rPr>
              <a:t>EditText…)</a:t>
            </a:r>
            <a:r>
              <a:rPr dirty="0" sz="1500" spc="3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46997" y="3440504"/>
            <a:ext cx="2512683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1: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File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01595" y="3478604"/>
            <a:ext cx="249593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2: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4554" y="3911903"/>
            <a:ext cx="970796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8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Structure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4745" y="3911903"/>
            <a:ext cx="1292258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Views</a:t>
            </a:r>
            <a:r>
              <a:rPr dirty="0" sz="1050" spc="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050" spc="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Widgets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92467" y="3908738"/>
            <a:ext cx="2988156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Ít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nhưng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biết.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mã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nguồn.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37869" y="4127813"/>
            <a:ext cx="275705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Thường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nhất.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27339" y="4931078"/>
            <a:ext cx="881452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res/layout/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25108" y="4931078"/>
            <a:ext cx="934037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2">
                <a:solidFill>
                  <a:srgbClr val="e0e0e0"/>
                </a:solidFill>
                <a:latin typeface="DejaVu Sans"/>
                <a:cs typeface="DejaVu Sans"/>
              </a:rPr>
              <a:t>Declarative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081937" y="4931078"/>
            <a:ext cx="754356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5">
                <a:solidFill>
                  <a:srgbClr val="e0e0e0"/>
                </a:solidFill>
                <a:latin typeface="DejaVu Sans"/>
                <a:cs typeface="DejaVu Sans"/>
              </a:rPr>
              <a:t>Dynamic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55732" y="4931078"/>
            <a:ext cx="1116783" cy="1969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Programmatic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88826" y="6031304"/>
            <a:ext cx="616597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Mỗi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(Activity)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thường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1</a:t>
            </a:r>
            <a:r>
              <a:rPr dirty="0" sz="1700" spc="-2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351912" y="6605822"/>
            <a:ext cx="282186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9ca3af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83458" y="386208"/>
            <a:ext cx="6187008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Thu</a:t>
            </a:r>
            <a:r>
              <a:rPr dirty="0" sz="3600" spc="1175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tính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3600" spc="2175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3600" spc="1175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ff7f00"/>
                </a:solidFill>
                <a:latin typeface="Liberation Sans"/>
                <a:cs typeface="Liberation Sans"/>
              </a:rPr>
              <a:t>c</a:t>
            </a:r>
            <a:r>
              <a:rPr dirty="0" sz="3600" spc="1250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ff7f00"/>
                </a:solidFill>
                <a:latin typeface="Liberation Sans"/>
                <a:cs typeface="Liberation Sans"/>
              </a:rPr>
              <a:t>a</a:t>
            </a:r>
            <a:r>
              <a:rPr dirty="0" sz="3600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3600" spc="-21" b="1">
                <a:solidFill>
                  <a:srgbClr val="ff7f00"/>
                </a:solidFill>
                <a:latin typeface="Liberation Sans"/>
                <a:cs typeface="Liberation Sans"/>
              </a:rPr>
              <a:t>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6324" y="1332496"/>
            <a:ext cx="1625612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Kích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1500" spc="1457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05574" y="1332496"/>
            <a:ext cx="1436916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Đ</a:t>
            </a:r>
            <a:r>
              <a:rPr dirty="0" sz="1500" spc="33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danh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(id)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7299" y="1847897"/>
            <a:ext cx="3340651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Xác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đ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ị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không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gian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ể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ị</a:t>
            </a:r>
            <a:r>
              <a:rPr dirty="0" sz="1050" spc="37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ủ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trên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màn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86549" y="1847897"/>
            <a:ext cx="2341717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Cung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ID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duy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 spc="-18">
                <a:solidFill>
                  <a:srgbClr val="e0e0e0"/>
                </a:solidFill>
                <a:latin typeface="Liberation Sans"/>
                <a:cs typeface="Liberation Sans"/>
              </a:rPr>
              <a:t>View.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57299" y="2076497"/>
            <a:ext cx="2804805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Thu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tính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ắ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bu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ọ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thành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ầ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86549" y="2076497"/>
            <a:ext cx="3647293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phép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tham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ế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và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ươ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tác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ớ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ừ</a:t>
            </a:r>
            <a:r>
              <a:rPr dirty="0" sz="1050" spc="38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Kotlin/Java.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0624" y="2409918"/>
            <a:ext cx="975493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layout_width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18593" y="2409918"/>
            <a:ext cx="1044085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layout_height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19874" y="2428968"/>
            <a:ext cx="838311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android:id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90624" y="2789504"/>
            <a:ext cx="3142319" cy="323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ff7f00"/>
                </a:solidFill>
                <a:latin typeface="Liberation Sans"/>
                <a:cs typeface="Liberation Sans"/>
              </a:rPr>
              <a:t>match_parent:</a:t>
            </a:r>
            <a:r>
              <a:rPr dirty="0" sz="900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Chi</a:t>
            </a:r>
            <a:r>
              <a:rPr dirty="0" sz="900" spc="-28">
                <a:solidFill>
                  <a:srgbClr val="e0e0e0"/>
                </a:solidFill>
                <a:latin typeface="DejaVu Sans"/>
                <a:cs typeface="DejaVu Sans"/>
              </a:rPr>
              <a:t>ế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toàn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900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không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gian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900" spc="30">
                <a:solidFill>
                  <a:srgbClr val="e0e0e0"/>
                </a:solidFill>
                <a:latin typeface="DejaVu Sans"/>
                <a:cs typeface="DejaVu Sans"/>
              </a:rPr>
              <a:t>ủ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cha.</a:t>
            </a:r>
          </a:p>
          <a:p>
            <a:pPr marL="0" marR="0">
              <a:lnSpc>
                <a:spcPts val="1047"/>
              </a:lnSpc>
              <a:spcBef>
                <a:spcPts val="152"/>
              </a:spcBef>
              <a:spcAft>
                <a:spcPts val="0"/>
              </a:spcAft>
            </a:pPr>
            <a:r>
              <a:rPr dirty="0" sz="900" b="1">
                <a:solidFill>
                  <a:srgbClr val="ff7f00"/>
                </a:solidFill>
                <a:latin typeface="Liberation Sans"/>
                <a:cs typeface="Liberation Sans"/>
              </a:rPr>
              <a:t>wrap_content:</a:t>
            </a:r>
            <a:r>
              <a:rPr dirty="0" sz="900" spc="-15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ự</a:t>
            </a:r>
            <a:r>
              <a:rPr dirty="0" sz="900" spc="55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đi</a:t>
            </a:r>
            <a:r>
              <a:rPr dirty="0" sz="900" spc="-28">
                <a:solidFill>
                  <a:srgbClr val="e0e0e0"/>
                </a:solidFill>
                <a:latin typeface="DejaVu Sans"/>
                <a:cs typeface="DejaVu Sans"/>
              </a:rPr>
              <a:t>ề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ch</a:t>
            </a:r>
            <a:r>
              <a:rPr dirty="0" sz="900" spc="-25">
                <a:solidFill>
                  <a:srgbClr val="e0e0e0"/>
                </a:solidFill>
                <a:latin typeface="DejaVu Sans"/>
                <a:cs typeface="DejaVu Sans"/>
              </a:rPr>
              <a:t>ỉ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kích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ướ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v</a:t>
            </a:r>
            <a:r>
              <a:rPr dirty="0" sz="900" spc="30">
                <a:solidFill>
                  <a:srgbClr val="e0e0e0"/>
                </a:solidFill>
                <a:latin typeface="DejaVu Sans"/>
                <a:cs typeface="DejaVu Sans"/>
              </a:rPr>
              <a:t>ừ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đ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ủ</a:t>
            </a:r>
            <a:r>
              <a:rPr dirty="0" sz="900" spc="55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900" spc="-25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dung.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57974" y="2829018"/>
            <a:ext cx="769720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&lt;TextView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32338" y="2981418"/>
            <a:ext cx="2278726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android:id="@+id/myTextView"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35250" y="3335053"/>
            <a:ext cx="2517874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in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Developers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64500" y="3335053"/>
            <a:ext cx="2517874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in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Developers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76324" y="4094746"/>
            <a:ext cx="2296417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dung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Văn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(text)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05574" y="4094746"/>
            <a:ext cx="1693105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G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ý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(hint)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57299" y="4610147"/>
            <a:ext cx="3095745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ứ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chu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ỗ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ký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ự</a:t>
            </a:r>
            <a:r>
              <a:rPr dirty="0" sz="1050" spc="38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ể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ị</a:t>
            </a:r>
            <a:r>
              <a:rPr dirty="0" sz="1050" spc="37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ự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ế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trên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giao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86549" y="4610147"/>
            <a:ext cx="3132859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Văn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ả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ờ</a:t>
            </a:r>
            <a:r>
              <a:rPr dirty="0" sz="1050" spc="62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xu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khi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ườ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ậ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li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ố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57299" y="4838747"/>
            <a:ext cx="2475002" cy="2019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Áp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 spc="3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Mono"/>
                <a:cs typeface="Liberation Mono"/>
              </a:rPr>
              <a:t>TextView</a:t>
            </a:r>
            <a:r>
              <a:rPr dirty="0" sz="1050" spc="-37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và</a:t>
            </a:r>
            <a:r>
              <a:rPr dirty="0" sz="1050" spc="3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Mono"/>
                <a:cs typeface="Liberation Mono"/>
              </a:rPr>
              <a:t>Button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686549" y="4838747"/>
            <a:ext cx="2848226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ướ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ẫ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ườ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dùng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ề</a:t>
            </a:r>
            <a:r>
              <a:rPr dirty="0" sz="1050" spc="57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ữ</a:t>
            </a:r>
            <a:r>
              <a:rPr dirty="0" sz="1050" spc="38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li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ầ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ậ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90624" y="5200743"/>
            <a:ext cx="975493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android:text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619874" y="5191218"/>
            <a:ext cx="975493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android:hint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228724" y="5600793"/>
            <a:ext cx="632538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657974" y="5591268"/>
            <a:ext cx="769720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&lt;EditText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503089" y="5742254"/>
            <a:ext cx="2141766" cy="1785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android:text="B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â</a:t>
            </a:r>
            <a:r>
              <a:rPr dirty="0" sz="900" spc="-540">
                <a:solidFill>
                  <a:srgbClr val="e0e0e0"/>
                </a:solidFill>
                <a:latin typeface="Liberation Mono"/>
                <a:cs typeface="Liberation Mono"/>
              </a:rPr>
              <a:t>m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́</a:t>
            </a:r>
            <a:r>
              <a:rPr dirty="0" sz="900" spc="313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vào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đây"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932338" y="5743668"/>
            <a:ext cx="1249858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android:hint="Nh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029797" y="5732729"/>
            <a:ext cx="1387710" cy="1785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ậ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p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m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ậ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t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kh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ẩ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u..."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396852" y="6097303"/>
            <a:ext cx="2556160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UI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Adapty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826102" y="6097303"/>
            <a:ext cx="2556160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UI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Adapty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83458" y="386208"/>
            <a:ext cx="6187008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Thu</a:t>
            </a:r>
            <a:r>
              <a:rPr dirty="0" sz="3600" spc="1175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tính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3600" spc="2175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3600" spc="1175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36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ff7f00"/>
                </a:solidFill>
                <a:latin typeface="Liberation Sans"/>
                <a:cs typeface="Liberation Sans"/>
              </a:rPr>
              <a:t>c</a:t>
            </a:r>
            <a:r>
              <a:rPr dirty="0" sz="3600" spc="1250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3600" b="1">
                <a:solidFill>
                  <a:srgbClr val="ff7f00"/>
                </a:solidFill>
                <a:latin typeface="Liberation Sans"/>
                <a:cs typeface="Liberation Sans"/>
              </a:rPr>
              <a:t>a</a:t>
            </a:r>
            <a:r>
              <a:rPr dirty="0" sz="3600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3600" spc="-21" b="1">
                <a:solidFill>
                  <a:srgbClr val="ff7f00"/>
                </a:solidFill>
                <a:latin typeface="Liberation Sans"/>
                <a:cs typeface="Liberation Sans"/>
              </a:rPr>
              <a:t>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6324" y="1332496"/>
            <a:ext cx="1625612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Kích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1500" spc="1457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05574" y="1332496"/>
            <a:ext cx="1436916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Đ</a:t>
            </a:r>
            <a:r>
              <a:rPr dirty="0" sz="1500" spc="33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danh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(id)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7299" y="1847897"/>
            <a:ext cx="3340651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Xác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đ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ị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không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gian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ể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ị</a:t>
            </a:r>
            <a:r>
              <a:rPr dirty="0" sz="1050" spc="37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ủ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trên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màn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86549" y="1847897"/>
            <a:ext cx="2341717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Cung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ID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duy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 spc="-18">
                <a:solidFill>
                  <a:srgbClr val="e0e0e0"/>
                </a:solidFill>
                <a:latin typeface="Liberation Sans"/>
                <a:cs typeface="Liberation Sans"/>
              </a:rPr>
              <a:t>View.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57299" y="2076497"/>
            <a:ext cx="2804805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Thu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tính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ắ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bu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ọ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thành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ầ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86549" y="2076497"/>
            <a:ext cx="3647293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phép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tham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ế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và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ươ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tác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ớ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ừ</a:t>
            </a:r>
            <a:r>
              <a:rPr dirty="0" sz="1050" spc="38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Kotlin/Java.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0624" y="2409918"/>
            <a:ext cx="975493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layout_width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18593" y="2409918"/>
            <a:ext cx="1044085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layout_height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19874" y="2428968"/>
            <a:ext cx="838311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android:id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90624" y="2789504"/>
            <a:ext cx="3142319" cy="3235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ff7f00"/>
                </a:solidFill>
                <a:latin typeface="Liberation Sans"/>
                <a:cs typeface="Liberation Sans"/>
              </a:rPr>
              <a:t>match_parent:</a:t>
            </a:r>
            <a:r>
              <a:rPr dirty="0" sz="900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Chi</a:t>
            </a:r>
            <a:r>
              <a:rPr dirty="0" sz="900" spc="-28">
                <a:solidFill>
                  <a:srgbClr val="e0e0e0"/>
                </a:solidFill>
                <a:latin typeface="DejaVu Sans"/>
                <a:cs typeface="DejaVu Sans"/>
              </a:rPr>
              <a:t>ế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toàn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900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không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gian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900" spc="30">
                <a:solidFill>
                  <a:srgbClr val="e0e0e0"/>
                </a:solidFill>
                <a:latin typeface="DejaVu Sans"/>
                <a:cs typeface="DejaVu Sans"/>
              </a:rPr>
              <a:t>ủ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View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cha.</a:t>
            </a:r>
          </a:p>
          <a:p>
            <a:pPr marL="0" marR="0">
              <a:lnSpc>
                <a:spcPts val="1047"/>
              </a:lnSpc>
              <a:spcBef>
                <a:spcPts val="152"/>
              </a:spcBef>
              <a:spcAft>
                <a:spcPts val="0"/>
              </a:spcAft>
            </a:pPr>
            <a:r>
              <a:rPr dirty="0" sz="900" b="1">
                <a:solidFill>
                  <a:srgbClr val="ff7f00"/>
                </a:solidFill>
                <a:latin typeface="Liberation Sans"/>
                <a:cs typeface="Liberation Sans"/>
              </a:rPr>
              <a:t>wrap_content:</a:t>
            </a:r>
            <a:r>
              <a:rPr dirty="0" sz="900" spc="-15" b="1">
                <a:solidFill>
                  <a:srgbClr val="ff7f0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ự</a:t>
            </a:r>
            <a:r>
              <a:rPr dirty="0" sz="900" spc="55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đi</a:t>
            </a:r>
            <a:r>
              <a:rPr dirty="0" sz="900" spc="-28">
                <a:solidFill>
                  <a:srgbClr val="e0e0e0"/>
                </a:solidFill>
                <a:latin typeface="DejaVu Sans"/>
                <a:cs typeface="DejaVu Sans"/>
              </a:rPr>
              <a:t>ề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ch</a:t>
            </a:r>
            <a:r>
              <a:rPr dirty="0" sz="900" spc="-25">
                <a:solidFill>
                  <a:srgbClr val="e0e0e0"/>
                </a:solidFill>
                <a:latin typeface="DejaVu Sans"/>
                <a:cs typeface="DejaVu Sans"/>
              </a:rPr>
              <a:t>ỉ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kích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ướ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v</a:t>
            </a:r>
            <a:r>
              <a:rPr dirty="0" sz="900" spc="30">
                <a:solidFill>
                  <a:srgbClr val="e0e0e0"/>
                </a:solidFill>
                <a:latin typeface="DejaVu Sans"/>
                <a:cs typeface="DejaVu Sans"/>
              </a:rPr>
              <a:t>ừ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đ</a:t>
            </a:r>
            <a:r>
              <a:rPr dirty="0" sz="900">
                <a:solidFill>
                  <a:srgbClr val="e0e0e0"/>
                </a:solidFill>
                <a:latin typeface="DejaVu Sans"/>
                <a:cs typeface="DejaVu Sans"/>
              </a:rPr>
              <a:t>ủ</a:t>
            </a:r>
            <a:r>
              <a:rPr dirty="0" sz="900" spc="55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900" spc="-25">
                <a:solidFill>
                  <a:srgbClr val="e0e0e0"/>
                </a:solidFill>
                <a:latin typeface="DejaVu Sans"/>
                <a:cs typeface="DejaVu Sans"/>
              </a:rPr>
              <a:t>ộ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Sans"/>
                <a:cs typeface="Liberation Sans"/>
              </a:rPr>
              <a:t>dung.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57974" y="2829018"/>
            <a:ext cx="769720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&lt;TextView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32338" y="2981418"/>
            <a:ext cx="2278726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android:id="@+id/myTextView"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35250" y="3335053"/>
            <a:ext cx="2517874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in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Developers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64500" y="3335053"/>
            <a:ext cx="2517874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in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Developers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76324" y="4094746"/>
            <a:ext cx="2296417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dung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Văn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(text)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05574" y="4094746"/>
            <a:ext cx="1693105" cy="2509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G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ý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500" spc="482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Liberation Sans"/>
                <a:cs typeface="Liberation Sans"/>
              </a:rPr>
              <a:t>(hint)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57299" y="4610147"/>
            <a:ext cx="3095745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ứ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a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chu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ỗ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ký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ự</a:t>
            </a:r>
            <a:r>
              <a:rPr dirty="0" sz="1050" spc="38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ể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th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ị</a:t>
            </a:r>
            <a:r>
              <a:rPr dirty="0" sz="1050" spc="37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ự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ế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trên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giao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86549" y="4610147"/>
            <a:ext cx="3132859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Văn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b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ả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m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ờ</a:t>
            </a:r>
            <a:r>
              <a:rPr dirty="0" sz="1050" spc="62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xu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khi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ườ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ậ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li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tr</a:t>
            </a:r>
            <a:r>
              <a:rPr dirty="0" sz="1050" spc="33">
                <a:solidFill>
                  <a:srgbClr val="e0e0e0"/>
                </a:solidFill>
                <a:latin typeface="DejaVu Sans"/>
                <a:cs typeface="DejaVu Sans"/>
              </a:rPr>
              <a:t>ố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57299" y="4838747"/>
            <a:ext cx="2475002" cy="2019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Áp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1050" spc="10">
                <a:solidFill>
                  <a:srgbClr val="e0e0e0"/>
                </a:solidFill>
                <a:latin typeface="DejaVu Sans"/>
                <a:cs typeface="DejaVu Sans"/>
              </a:rPr>
              <a:t>ụ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cho</a:t>
            </a:r>
            <a:r>
              <a:rPr dirty="0" sz="1050" spc="3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Mono"/>
                <a:cs typeface="Liberation Mono"/>
              </a:rPr>
              <a:t>TextView</a:t>
            </a:r>
            <a:r>
              <a:rPr dirty="0" sz="1050" spc="-37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và</a:t>
            </a:r>
            <a:r>
              <a:rPr dirty="0" sz="1050" spc="30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Mono"/>
                <a:cs typeface="Liberation Mono"/>
              </a:rPr>
              <a:t>Button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686549" y="4838747"/>
            <a:ext cx="2848226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H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ướ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ẫ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ng</a:t>
            </a:r>
            <a:r>
              <a:rPr dirty="0" sz="1050" spc="20">
                <a:solidFill>
                  <a:srgbClr val="e0e0e0"/>
                </a:solidFill>
                <a:latin typeface="DejaVu Sans"/>
                <a:cs typeface="DejaVu Sans"/>
              </a:rPr>
              <a:t>ườ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i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dùng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v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ề</a:t>
            </a:r>
            <a:r>
              <a:rPr dirty="0" sz="1050" spc="57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ữ</a:t>
            </a:r>
            <a:r>
              <a:rPr dirty="0" sz="1050" spc="38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li</a:t>
            </a:r>
            <a:r>
              <a:rPr dirty="0" sz="1050" spc="28">
                <a:solidFill>
                  <a:srgbClr val="e0e0e0"/>
                </a:solidFill>
                <a:latin typeface="DejaVu Sans"/>
                <a:cs typeface="DejaVu Sans"/>
              </a:rPr>
              <a:t>ệ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u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c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ầ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nh</a:t>
            </a:r>
            <a:r>
              <a:rPr dirty="0" sz="1050" spc="31">
                <a:solidFill>
                  <a:srgbClr val="e0e0e0"/>
                </a:solidFill>
                <a:latin typeface="DejaVu Sans"/>
                <a:cs typeface="DejaVu Sans"/>
              </a:rPr>
              <a:t>ậ</a:t>
            </a:r>
            <a:r>
              <a:rPr dirty="0" sz="1050">
                <a:solidFill>
                  <a:srgbClr val="e0e0e0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90624" y="5200743"/>
            <a:ext cx="975493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android:text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619874" y="5191218"/>
            <a:ext cx="975493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1a2b3c"/>
                </a:solidFill>
                <a:latin typeface="Liberation Mono"/>
                <a:cs typeface="Liberation Mono"/>
              </a:rPr>
              <a:t>android:hint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228724" y="5600793"/>
            <a:ext cx="632538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657974" y="5591268"/>
            <a:ext cx="769720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&lt;EditText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503089" y="5742254"/>
            <a:ext cx="2141766" cy="1785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android:text="B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â</a:t>
            </a:r>
            <a:r>
              <a:rPr dirty="0" sz="900" spc="-540">
                <a:solidFill>
                  <a:srgbClr val="e0e0e0"/>
                </a:solidFill>
                <a:latin typeface="Liberation Mono"/>
                <a:cs typeface="Liberation Mono"/>
              </a:rPr>
              <a:t>m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́</a:t>
            </a:r>
            <a:r>
              <a:rPr dirty="0" sz="900" spc="313">
                <a:solidFill>
                  <a:srgbClr val="e0e0e0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vào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đây"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932338" y="5743668"/>
            <a:ext cx="1249858" cy="167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android:hint="Nh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029797" y="5732729"/>
            <a:ext cx="1387710" cy="1785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ậ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p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m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ậ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t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kh</a:t>
            </a:r>
            <a:r>
              <a:rPr dirty="0" sz="900">
                <a:solidFill>
                  <a:srgbClr val="e0e0e0"/>
                </a:solidFill>
                <a:latin typeface="DejaVu Sans Mono"/>
                <a:cs typeface="DejaVu Sans Mono"/>
              </a:rPr>
              <a:t>ẩ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u..."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9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396852" y="6097303"/>
            <a:ext cx="2556160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UI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Adapty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826102" y="6097303"/>
            <a:ext cx="2556160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Android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UI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Layouts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and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-</a:t>
            </a:r>
            <a:r>
              <a:rPr dirty="0" sz="900" spc="-33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900" i="1">
                <a:solidFill>
                  <a:srgbClr val="9ca3af"/>
                </a:solidFill>
                <a:latin typeface="Liberation Sans"/>
                <a:cs typeface="Liberation Sans"/>
              </a:rPr>
              <a:t>Adapty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613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57513" y="380416"/>
            <a:ext cx="3971909" cy="107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7447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23" b="1">
                <a:solidFill>
                  <a:srgbClr val="e0e0e0"/>
                </a:solidFill>
                <a:latin typeface="DejaVu Sans"/>
                <a:cs typeface="DejaVu Sans"/>
              </a:rPr>
              <a:t>LinearLayout</a:t>
            </a:r>
          </a:p>
          <a:p>
            <a:pPr marL="0" marR="0">
              <a:lnSpc>
                <a:spcPts val="2932"/>
              </a:lnSpc>
              <a:spcBef>
                <a:spcPts val="585"/>
              </a:spcBef>
              <a:spcAft>
                <a:spcPts val="0"/>
              </a:spcAft>
            </a:pPr>
            <a:r>
              <a:rPr dirty="0" sz="2500" spc="10">
                <a:solidFill>
                  <a:srgbClr val="ff7f00"/>
                </a:solidFill>
                <a:latin typeface="DejaVu Sans"/>
                <a:cs typeface="DejaVu Sans"/>
              </a:rPr>
              <a:t>Sắp</a:t>
            </a:r>
            <a:r>
              <a:rPr dirty="0" sz="25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ff7f00"/>
                </a:solidFill>
                <a:latin typeface="DejaVu Sans"/>
                <a:cs typeface="DejaVu Sans"/>
              </a:rPr>
              <a:t>Xếp</a:t>
            </a:r>
            <a:r>
              <a:rPr dirty="0" sz="25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ff7f00"/>
                </a:solidFill>
                <a:latin typeface="DejaVu Sans"/>
                <a:cs typeface="DejaVu Sans"/>
              </a:rPr>
              <a:t>Thẳng</a:t>
            </a:r>
            <a:r>
              <a:rPr dirty="0" sz="25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ff7f00"/>
                </a:solidFill>
                <a:latin typeface="DejaVu Sans"/>
                <a:cs typeface="DejaVu Sans"/>
              </a:rPr>
              <a:t>Hàng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88670" y="1981655"/>
            <a:ext cx="17933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Dọc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 b="1">
                <a:solidFill>
                  <a:srgbClr val="e0e0e0"/>
                </a:solidFill>
                <a:latin typeface="DejaVu Sans"/>
                <a:cs typeface="DejaVu Sans"/>
              </a:rPr>
              <a:t>(Vertical)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05681" y="2065871"/>
            <a:ext cx="159298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8670" y="2278439"/>
            <a:ext cx="333722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xuống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dưới.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681" y="2506285"/>
            <a:ext cx="4359000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(Views)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chiều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duy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nhất: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hàng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ngang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hàng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dọc.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88670" y="3048455"/>
            <a:ext cx="244593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Ngang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(Horizontal)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8670" y="3345239"/>
            <a:ext cx="316000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07447" y="4370921"/>
            <a:ext cx="178519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tính: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84242" y="4735347"/>
            <a:ext cx="3378927" cy="328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7f00"/>
                </a:solidFill>
                <a:latin typeface="Liberation Mono"/>
                <a:cs typeface="Liberation Mono"/>
              </a:rPr>
              <a:t>android:layout_weight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67581" y="4828121"/>
            <a:ext cx="178519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tính: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07447" y="5164514"/>
            <a:ext cx="432879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chia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sẵn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4376" y="5192547"/>
            <a:ext cx="3071639" cy="328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7f00"/>
                </a:solidFill>
                <a:latin typeface="Liberation Mono"/>
                <a:cs typeface="Liberation Mono"/>
              </a:rPr>
              <a:t>android:orientation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67581" y="5621714"/>
            <a:ext cx="436356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51099" y="6161925"/>
            <a:ext cx="97183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f00"/>
                </a:solidFill>
                <a:latin typeface="Liberation Mono"/>
                <a:cs typeface="Liberation Mono"/>
              </a:rPr>
              <a:t>vertical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51099" y="6581024"/>
            <a:ext cx="1176694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f00"/>
                </a:solidFill>
                <a:latin typeface="Liberation Mono"/>
                <a:cs typeface="Liberation Mono"/>
              </a:rPr>
              <a:t>horizontal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367289" y="7070269"/>
            <a:ext cx="58312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Ví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dụ: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147098" y="7070269"/>
            <a:ext cx="166968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chia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đều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890271" y="7089920"/>
            <a:ext cx="1317535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layout_weight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71656" y="7709198"/>
            <a:ext cx="320215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e0e0e0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spc="-14">
                <a:solidFill>
                  <a:srgbClr val="e0e0e0"/>
                </a:solidFill>
                <a:latin typeface="DejaVu Sans"/>
                <a:cs typeface="DejaVu Sans"/>
              </a:rPr>
              <a:t>Adapty.io,</a:t>
            </a:r>
            <a:r>
              <a:rPr dirty="0" sz="1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GeeksforGeeks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613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57513" y="380416"/>
            <a:ext cx="3971909" cy="107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7447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23" b="1">
                <a:solidFill>
                  <a:srgbClr val="e0e0e0"/>
                </a:solidFill>
                <a:latin typeface="DejaVu Sans"/>
                <a:cs typeface="DejaVu Sans"/>
              </a:rPr>
              <a:t>LinearLayout</a:t>
            </a:r>
          </a:p>
          <a:p>
            <a:pPr marL="0" marR="0">
              <a:lnSpc>
                <a:spcPts val="2932"/>
              </a:lnSpc>
              <a:spcBef>
                <a:spcPts val="585"/>
              </a:spcBef>
              <a:spcAft>
                <a:spcPts val="0"/>
              </a:spcAft>
            </a:pPr>
            <a:r>
              <a:rPr dirty="0" sz="2500" spc="10">
                <a:solidFill>
                  <a:srgbClr val="ff7f00"/>
                </a:solidFill>
                <a:latin typeface="DejaVu Sans"/>
                <a:cs typeface="DejaVu Sans"/>
              </a:rPr>
              <a:t>Sắp</a:t>
            </a:r>
            <a:r>
              <a:rPr dirty="0" sz="25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ff7f00"/>
                </a:solidFill>
                <a:latin typeface="DejaVu Sans"/>
                <a:cs typeface="DejaVu Sans"/>
              </a:rPr>
              <a:t>Xếp</a:t>
            </a:r>
            <a:r>
              <a:rPr dirty="0" sz="25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ff7f00"/>
                </a:solidFill>
                <a:latin typeface="DejaVu Sans"/>
                <a:cs typeface="DejaVu Sans"/>
              </a:rPr>
              <a:t>Thẳng</a:t>
            </a:r>
            <a:r>
              <a:rPr dirty="0" sz="25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ff7f00"/>
                </a:solidFill>
                <a:latin typeface="DejaVu Sans"/>
                <a:cs typeface="DejaVu Sans"/>
              </a:rPr>
              <a:t>Hàng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88670" y="1981655"/>
            <a:ext cx="17933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Dọc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 b="1">
                <a:solidFill>
                  <a:srgbClr val="e0e0e0"/>
                </a:solidFill>
                <a:latin typeface="DejaVu Sans"/>
                <a:cs typeface="DejaVu Sans"/>
              </a:rPr>
              <a:t>(Vertical)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05681" y="2065871"/>
            <a:ext cx="159298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8670" y="2278439"/>
            <a:ext cx="333722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xuống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dưới.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681" y="2506285"/>
            <a:ext cx="4359000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(Views)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chiều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duy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nhất: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hàng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ngang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hàng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dọc.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88670" y="3048455"/>
            <a:ext cx="244593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Ngang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(Horizontal)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88670" y="3345239"/>
            <a:ext cx="316000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07447" y="4370921"/>
            <a:ext cx="178519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tính: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84242" y="4735347"/>
            <a:ext cx="3378927" cy="328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7f00"/>
                </a:solidFill>
                <a:latin typeface="Liberation Mono"/>
                <a:cs typeface="Liberation Mono"/>
              </a:rPr>
              <a:t>android:layout_weight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67581" y="4828121"/>
            <a:ext cx="178519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tính: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07447" y="5164514"/>
            <a:ext cx="432879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chia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sẵn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4376" y="5192547"/>
            <a:ext cx="3071639" cy="328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7f00"/>
                </a:solidFill>
                <a:latin typeface="Liberation Mono"/>
                <a:cs typeface="Liberation Mono"/>
              </a:rPr>
              <a:t>android:orientation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67581" y="5621714"/>
            <a:ext cx="436356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51099" y="6161925"/>
            <a:ext cx="97183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f00"/>
                </a:solidFill>
                <a:latin typeface="Liberation Mono"/>
                <a:cs typeface="Liberation Mono"/>
              </a:rPr>
              <a:t>vertical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51099" y="6581024"/>
            <a:ext cx="1176694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7f00"/>
                </a:solidFill>
                <a:latin typeface="Liberation Mono"/>
                <a:cs typeface="Liberation Mono"/>
              </a:rPr>
              <a:t>horizontal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367289" y="7070269"/>
            <a:ext cx="58312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Ví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dụ: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147098" y="7070269"/>
            <a:ext cx="166968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chia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đều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890271" y="7089920"/>
            <a:ext cx="1317535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layout_weight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71656" y="7709198"/>
            <a:ext cx="320215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e0e0e0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spc="-14">
                <a:solidFill>
                  <a:srgbClr val="e0e0e0"/>
                </a:solidFill>
                <a:latin typeface="DejaVu Sans"/>
                <a:cs typeface="DejaVu Sans"/>
              </a:rPr>
              <a:t>Adapty.io,</a:t>
            </a:r>
            <a:r>
              <a:rPr dirty="0" sz="10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GeeksforGeeks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5035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36315" y="345701"/>
            <a:ext cx="987175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LinearLayout:</a:t>
            </a:r>
            <a:r>
              <a:rPr dirty="0" sz="3000" spc="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7f00"/>
                </a:solidFill>
                <a:latin typeface="DejaVu Sans"/>
                <a:cs typeface="DejaVu Sans"/>
              </a:rPr>
              <a:t>Chia</a:t>
            </a:r>
            <a:r>
              <a:rPr dirty="0" sz="3000" spc="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20" b="1">
                <a:solidFill>
                  <a:srgbClr val="ff7f00"/>
                </a:solidFill>
                <a:latin typeface="DejaVu Sans"/>
                <a:cs typeface="DejaVu Sans"/>
              </a:rPr>
              <a:t>màn</a:t>
            </a: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7f00"/>
                </a:solidFill>
                <a:latin typeface="DejaVu Sans"/>
                <a:cs typeface="DejaVu Sans"/>
              </a:rPr>
              <a:t>hình</a:t>
            </a:r>
            <a:r>
              <a:rPr dirty="0" sz="3000" spc="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7f00"/>
                </a:solidFill>
                <a:latin typeface="DejaVu Sans"/>
                <a:cs typeface="DejaVu Sans"/>
              </a:rPr>
              <a:t>ngang</a:t>
            </a: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7f00"/>
                </a:solidFill>
                <a:latin typeface="DejaVu Sans"/>
                <a:cs typeface="DejaVu Sans"/>
              </a:rPr>
              <a:t>với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93703" y="774326"/>
            <a:ext cx="3569263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`layout_weight`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493228"/>
            <a:ext cx="430166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quả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hiển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thị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trên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thiết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94548" y="1666187"/>
            <a:ext cx="420875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0" b="1">
                <a:solidFill>
                  <a:srgbClr val="ff7f00"/>
                </a:solidFill>
                <a:latin typeface="DejaVu Sans"/>
                <a:cs typeface="DejaVu Sans"/>
              </a:rPr>
              <a:t>Mã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7f00"/>
                </a:solidFill>
                <a:latin typeface="DejaVu Sans"/>
                <a:cs typeface="DejaVu Sans"/>
              </a:rPr>
              <a:t>XML: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Sử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`layout_weight`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2167232"/>
            <a:ext cx="1151087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&lt;LinearLayout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29773" y="2338682"/>
            <a:ext cx="2917994" cy="526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android:layout_width="match_parent"</a:t>
            </a:r>
          </a:p>
          <a:p>
            <a:pPr marL="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android:orientation="horizontal"&gt;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29773" y="3024482"/>
            <a:ext cx="690154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7005" y="3195932"/>
            <a:ext cx="2917994" cy="6879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android:layout_width="0dp"</a:t>
            </a:r>
          </a:p>
          <a:p>
            <a:pPr marL="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android:layout_weight="1"</a:t>
            </a:r>
          </a:p>
          <a:p>
            <a:pPr marL="0" marR="0">
              <a:lnSpc>
                <a:spcPts val="1141"/>
              </a:lnSpc>
              <a:spcBef>
                <a:spcPts val="183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android:text="Nút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1"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29773" y="4043657"/>
            <a:ext cx="690154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22540" y="4215107"/>
            <a:ext cx="3531970" cy="8689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4464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android:layout_width="0dp"</a:t>
            </a:r>
          </a:p>
          <a:p>
            <a:pPr marL="614464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614464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android:layout_weight="1"</a:t>
            </a:r>
          </a:p>
          <a:p>
            <a:pPr marL="614464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android:text="Nút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2"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&lt;/LinearLayout&gt;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15021" y="5172897"/>
            <a:ext cx="67623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Nút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509962" y="5172897"/>
            <a:ext cx="67623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Nút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5373676"/>
            <a:ext cx="102154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ff7f00"/>
                </a:solidFill>
                <a:latin typeface="DejaVu Sans"/>
                <a:cs typeface="DejaVu Sans"/>
              </a:rPr>
              <a:t>XML</a:t>
            </a:r>
            <a:r>
              <a:rPr dirty="0" sz="12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7f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775673" y="5373676"/>
            <a:ext cx="185508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ff7f00"/>
                </a:solidFill>
                <a:latin typeface="DejaVu Sans"/>
                <a:cs typeface="DejaVu Sans"/>
              </a:rPr>
              <a:t>Orientation:</a:t>
            </a:r>
            <a:r>
              <a:rPr dirty="0" sz="12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7f00"/>
                </a:solidFill>
                <a:latin typeface="DejaVu Sans"/>
                <a:cs typeface="DejaVu Sans"/>
              </a:rPr>
              <a:t>Horizontal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32648" y="6238187"/>
            <a:ext cx="341231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61" b="1">
                <a:solidFill>
                  <a:srgbClr val="ff7f00"/>
                </a:solidFill>
                <a:latin typeface="DejaVu Sans"/>
                <a:cs typeface="DejaVu Sans"/>
              </a:rPr>
              <a:t>Vai</a:t>
            </a:r>
            <a:r>
              <a:rPr dirty="0" sz="1700" spc="46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trò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`layout_weight`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32648" y="6659551"/>
            <a:ext cx="509849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tỷ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lệ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gian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chiếm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`LinearLayout`.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2648" y="6954826"/>
            <a:ext cx="440363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36">
                <a:solidFill>
                  <a:srgbClr val="d1d5db"/>
                </a:solidFill>
                <a:latin typeface="DejaVu Sans"/>
                <a:cs typeface="DejaVu Sans"/>
              </a:rPr>
              <a:t>kèm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`layout_width="0dp"`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(ngang)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`layout_height="0dp"`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(dọc).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2648" y="7469176"/>
            <a:ext cx="521377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`layout_weight="1"`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cả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hai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3f4f6"/>
                </a:solidFill>
                <a:latin typeface="DejaVu Sans"/>
                <a:cs typeface="DejaVu Sans"/>
              </a:rPr>
              <a:t>chia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đều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còn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lại.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42429" y="7983526"/>
            <a:ext cx="151545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mô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phỏng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21757" y="7983526"/>
            <a:ext cx="163178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chia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đều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32648" y="7974001"/>
            <a:ext cx="497984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Đem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lại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phân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bổ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432648" y="8193076"/>
            <a:ext cx="52534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708426" y="8621701"/>
            <a:ext cx="17133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801099" y="8621701"/>
            <a:ext cx="10665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Cân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1556" y="9476688"/>
            <a:ext cx="242867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Lợi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ích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khi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áp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65435" y="9859951"/>
            <a:ext cx="5255001" cy="754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thích</a:t>
            </a:r>
            <a:r>
              <a:rPr dirty="0" sz="1200" spc="-1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,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nhau.</a:t>
            </a:r>
          </a:p>
          <a:p>
            <a:pPr marL="0" marR="0">
              <a:lnSpc>
                <a:spcPts val="1368"/>
              </a:lnSpc>
              <a:spcBef>
                <a:spcPts val="756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phân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bổ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gian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xác.</a:t>
            </a:r>
          </a:p>
          <a:p>
            <a:pPr marL="0" marR="0">
              <a:lnSpc>
                <a:spcPts val="1368"/>
              </a:lnSpc>
              <a:spcBef>
                <a:spcPts val="731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giản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tỷ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lệ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79549" y="10746530"/>
            <a:ext cx="136102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Responsive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272158" y="10746530"/>
            <a:ext cx="98242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782198" y="11251355"/>
            <a:ext cx="313547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5035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36315" y="345701"/>
            <a:ext cx="987175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LinearLayout:</a:t>
            </a:r>
            <a:r>
              <a:rPr dirty="0" sz="3000" spc="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7f00"/>
                </a:solidFill>
                <a:latin typeface="DejaVu Sans"/>
                <a:cs typeface="DejaVu Sans"/>
              </a:rPr>
              <a:t>Chia</a:t>
            </a:r>
            <a:r>
              <a:rPr dirty="0" sz="3000" spc="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20" b="1">
                <a:solidFill>
                  <a:srgbClr val="ff7f00"/>
                </a:solidFill>
                <a:latin typeface="DejaVu Sans"/>
                <a:cs typeface="DejaVu Sans"/>
              </a:rPr>
              <a:t>màn</a:t>
            </a: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7f00"/>
                </a:solidFill>
                <a:latin typeface="DejaVu Sans"/>
                <a:cs typeface="DejaVu Sans"/>
              </a:rPr>
              <a:t>hình</a:t>
            </a:r>
            <a:r>
              <a:rPr dirty="0" sz="3000" spc="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7f00"/>
                </a:solidFill>
                <a:latin typeface="DejaVu Sans"/>
                <a:cs typeface="DejaVu Sans"/>
              </a:rPr>
              <a:t>ngang</a:t>
            </a: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7f00"/>
                </a:solidFill>
                <a:latin typeface="DejaVu Sans"/>
                <a:cs typeface="DejaVu Sans"/>
              </a:rPr>
              <a:t>với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93703" y="774326"/>
            <a:ext cx="3569263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`layout_weight`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493228"/>
            <a:ext cx="430166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quả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hiển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thị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trên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thiết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94548" y="1666187"/>
            <a:ext cx="420875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0" b="1">
                <a:solidFill>
                  <a:srgbClr val="ff7f00"/>
                </a:solidFill>
                <a:latin typeface="DejaVu Sans"/>
                <a:cs typeface="DejaVu Sans"/>
              </a:rPr>
              <a:t>Mã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7f00"/>
                </a:solidFill>
                <a:latin typeface="DejaVu Sans"/>
                <a:cs typeface="DejaVu Sans"/>
              </a:rPr>
              <a:t>XML: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Sử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`layout_weight`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2167232"/>
            <a:ext cx="1151087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&lt;LinearLayout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29773" y="2338682"/>
            <a:ext cx="2917994" cy="526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android:layout_width="match_parent"</a:t>
            </a:r>
          </a:p>
          <a:p>
            <a:pPr marL="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android:orientation="horizontal"&gt;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29773" y="3024482"/>
            <a:ext cx="690154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37005" y="3195932"/>
            <a:ext cx="2917994" cy="6879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android:layout_width="0dp"</a:t>
            </a:r>
          </a:p>
          <a:p>
            <a:pPr marL="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android:layout_weight="1"</a:t>
            </a:r>
          </a:p>
          <a:p>
            <a:pPr marL="0" marR="0">
              <a:lnSpc>
                <a:spcPts val="1141"/>
              </a:lnSpc>
              <a:spcBef>
                <a:spcPts val="183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android:text="Nút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1"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29773" y="4043657"/>
            <a:ext cx="690154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22540" y="4215107"/>
            <a:ext cx="3531970" cy="8689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4464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android:layout_width="0dp"</a:t>
            </a:r>
          </a:p>
          <a:p>
            <a:pPr marL="614464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614464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android:layout_weight="1"</a:t>
            </a:r>
          </a:p>
          <a:p>
            <a:pPr marL="614464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android:text="Nút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2"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/&gt;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Mono"/>
                <a:cs typeface="Liberation Mono"/>
              </a:rPr>
              <a:t>&lt;/LinearLayout&gt;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15021" y="5172897"/>
            <a:ext cx="67623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Nút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509962" y="5172897"/>
            <a:ext cx="67623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Nút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5373676"/>
            <a:ext cx="102154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ff7f00"/>
                </a:solidFill>
                <a:latin typeface="DejaVu Sans"/>
                <a:cs typeface="DejaVu Sans"/>
              </a:rPr>
              <a:t>XML</a:t>
            </a:r>
            <a:r>
              <a:rPr dirty="0" sz="12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7f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775673" y="5373676"/>
            <a:ext cx="185508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ff7f00"/>
                </a:solidFill>
                <a:latin typeface="DejaVu Sans"/>
                <a:cs typeface="DejaVu Sans"/>
              </a:rPr>
              <a:t>Orientation:</a:t>
            </a:r>
            <a:r>
              <a:rPr dirty="0" sz="12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7f00"/>
                </a:solidFill>
                <a:latin typeface="DejaVu Sans"/>
                <a:cs typeface="DejaVu Sans"/>
              </a:rPr>
              <a:t>Horizontal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32648" y="6238187"/>
            <a:ext cx="341231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61" b="1">
                <a:solidFill>
                  <a:srgbClr val="ff7f00"/>
                </a:solidFill>
                <a:latin typeface="DejaVu Sans"/>
                <a:cs typeface="DejaVu Sans"/>
              </a:rPr>
              <a:t>Vai</a:t>
            </a:r>
            <a:r>
              <a:rPr dirty="0" sz="1700" spc="46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trò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`layout_weight`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32648" y="6659551"/>
            <a:ext cx="509849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tỷ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lệ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gian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chiếm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`LinearLayout`.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2648" y="6954826"/>
            <a:ext cx="440363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36">
                <a:solidFill>
                  <a:srgbClr val="d1d5db"/>
                </a:solidFill>
                <a:latin typeface="DejaVu Sans"/>
                <a:cs typeface="DejaVu Sans"/>
              </a:rPr>
              <a:t>kèm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`layout_width="0dp"`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(ngang)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`layout_height="0dp"`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(dọc).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2648" y="7469176"/>
            <a:ext cx="521377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`layout_weight="1"`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cả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hai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3f4f6"/>
                </a:solidFill>
                <a:latin typeface="DejaVu Sans"/>
                <a:cs typeface="DejaVu Sans"/>
              </a:rPr>
              <a:t>chia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đều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còn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lại.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42429" y="7983526"/>
            <a:ext cx="151545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mô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phỏng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21757" y="7983526"/>
            <a:ext cx="163178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chia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đều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32648" y="7974001"/>
            <a:ext cx="497984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Đem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lại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phân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bổ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432648" y="8193076"/>
            <a:ext cx="52534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708426" y="8621701"/>
            <a:ext cx="17133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801099" y="8621701"/>
            <a:ext cx="10665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Cân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1556" y="9476688"/>
            <a:ext cx="242867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Lợi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ích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khi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áp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65435" y="9859951"/>
            <a:ext cx="5255001" cy="754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thích</a:t>
            </a:r>
            <a:r>
              <a:rPr dirty="0" sz="1200" spc="-1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,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nhau.</a:t>
            </a:r>
          </a:p>
          <a:p>
            <a:pPr marL="0" marR="0">
              <a:lnSpc>
                <a:spcPts val="1368"/>
              </a:lnSpc>
              <a:spcBef>
                <a:spcPts val="756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phân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bổ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3f4f6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gian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xác.</a:t>
            </a:r>
          </a:p>
          <a:p>
            <a:pPr marL="0" marR="0">
              <a:lnSpc>
                <a:spcPts val="1368"/>
              </a:lnSpc>
              <a:spcBef>
                <a:spcPts val="731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giản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tỷ</a:t>
            </a:r>
            <a:r>
              <a:rPr dirty="0" sz="1200" spc="-12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3f4f6"/>
                </a:solidFill>
                <a:latin typeface="DejaVu Sans"/>
                <a:cs typeface="DejaVu Sans"/>
              </a:rPr>
              <a:t>lệ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79549" y="10746530"/>
            <a:ext cx="136102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Responsive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272158" y="10746530"/>
            <a:ext cx="98242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782198" y="11251355"/>
            <a:ext cx="313547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91043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585527"/>
            <a:ext cx="5565083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Relative</a:t>
            </a:r>
            <a:r>
              <a:rPr dirty="0" sz="5050" spc="-31" b="1">
                <a:solidFill>
                  <a:srgbClr val="ff7f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7541" y="1791910"/>
            <a:ext cx="236844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Dynamic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Positioning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2295980"/>
            <a:ext cx="5647997" cy="591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3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sắp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xếp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dựa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trí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đối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3323171"/>
            <a:ext cx="332736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Thuộc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tính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vị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trí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0862" y="3839785"/>
            <a:ext cx="4436035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layout_below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Đặt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dưới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0862" y="4268410"/>
            <a:ext cx="4934807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layout_toLeftOf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/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toRightOf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Đặt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cạnh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80829" y="4573210"/>
            <a:ext cx="66958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0862" y="4992310"/>
            <a:ext cx="4765132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alignParentTop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/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Bottom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...: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lề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0862" y="5420935"/>
            <a:ext cx="4295660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centerInParent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cha.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6306005"/>
            <a:ext cx="93358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Lợi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ích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6698039"/>
            <a:ext cx="5641787" cy="4844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hoạt,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09780" y="6765469"/>
            <a:ext cx="275914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Ví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dụ: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Vị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trí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tế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6360" y="7375069"/>
            <a:ext cx="10885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1a2b3c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a2b3c"/>
                </a:solidFill>
                <a:latin typeface="DejaVu Sans"/>
                <a:cs typeface="DejaVu Sans"/>
              </a:rPr>
              <a:t>Thích</a:t>
            </a:r>
            <a:r>
              <a:rPr dirty="0" sz="1200" spc="-1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ứng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57374" y="7375069"/>
            <a:ext cx="84967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1a2b3c"/>
                </a:solidFill>
                <a:latin typeface="DejaVu Sans"/>
                <a:cs typeface="DejaVu Sans"/>
              </a:rPr>
              <a:t>Linh</a:t>
            </a:r>
            <a:r>
              <a:rPr dirty="0" sz="1200" spc="-1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84063" y="7582355"/>
            <a:ext cx="10671135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"Làm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chủ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chìa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khóa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mở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rộng."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84063" y="8222039"/>
            <a:ext cx="289480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Nguyên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tắc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386934" y="8852198"/>
            <a:ext cx="453064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all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you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need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know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91043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585527"/>
            <a:ext cx="5565083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Relative</a:t>
            </a:r>
            <a:r>
              <a:rPr dirty="0" sz="5050" spc="-31" b="1">
                <a:solidFill>
                  <a:srgbClr val="ff7f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7541" y="1791910"/>
            <a:ext cx="236844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Dynamic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Positioning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2295980"/>
            <a:ext cx="5647997" cy="591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3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sắp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xếp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dựa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trí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đối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3323171"/>
            <a:ext cx="332736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Thuộc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tính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7f00"/>
                </a:solidFill>
                <a:latin typeface="DejaVu Sans"/>
                <a:cs typeface="DejaVu Sans"/>
              </a:rPr>
              <a:t>vị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trí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7f0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0862" y="3839785"/>
            <a:ext cx="4436035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layout_below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Đặt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dưới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0862" y="4268410"/>
            <a:ext cx="4934807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layout_toLeftOf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/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toRightOf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Đặt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cạnh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80829" y="4573210"/>
            <a:ext cx="66958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0862" y="4992310"/>
            <a:ext cx="4765132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alignParentTop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/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Bottom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...: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lề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0862" y="5420935"/>
            <a:ext cx="4295660" cy="264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centerInParent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cha.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6306005"/>
            <a:ext cx="93358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Lợi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ích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6698039"/>
            <a:ext cx="5641787" cy="4844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hoạt,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09780" y="6765469"/>
            <a:ext cx="275914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Ví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dụ: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Vị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trí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tế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6360" y="7375069"/>
            <a:ext cx="10885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1a2b3c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a2b3c"/>
                </a:solidFill>
                <a:latin typeface="DejaVu Sans"/>
                <a:cs typeface="DejaVu Sans"/>
              </a:rPr>
              <a:t>Thích</a:t>
            </a:r>
            <a:r>
              <a:rPr dirty="0" sz="1200" spc="-1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ứng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57374" y="7375069"/>
            <a:ext cx="84967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1a2b3c"/>
                </a:solidFill>
                <a:latin typeface="DejaVu Sans"/>
                <a:cs typeface="DejaVu Sans"/>
              </a:rPr>
              <a:t>Linh</a:t>
            </a:r>
            <a:r>
              <a:rPr dirty="0" sz="1200" spc="-1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84063" y="7582355"/>
            <a:ext cx="10671135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"Làm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chủ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chìa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khóa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mở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rộng."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84063" y="8222039"/>
            <a:ext cx="289480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Nguyên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tắc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386934" y="8852198"/>
            <a:ext cx="453064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all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you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need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know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991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4632609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dirty="0" sz="3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ffffff"/>
                </a:solidFill>
                <a:latin typeface="DejaVu Sans"/>
                <a:cs typeface="DejaVu Sans"/>
              </a:rPr>
              <a:t>dụ</a:t>
            </a:r>
            <a:r>
              <a:rPr dirty="0" sz="3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976" y="1295870"/>
            <a:ext cx="383919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5641" y="1851338"/>
            <a:ext cx="4954768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RelativeLayout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nhóm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(ViewGroup)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chúng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cha.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888808"/>
            <a:ext cx="16720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7f00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trí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đối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3317433"/>
            <a:ext cx="3864035" cy="680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7f00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</a:p>
          <a:p>
            <a:pPr marL="0" marR="0">
              <a:lnSpc>
                <a:spcPts val="1760"/>
              </a:lnSpc>
              <a:spcBef>
                <a:spcPts val="1539"/>
              </a:spcBef>
              <a:spcAft>
                <a:spcPts val="0"/>
              </a:spcAft>
            </a:pPr>
            <a:r>
              <a:rPr dirty="0" sz="1500">
                <a:solidFill>
                  <a:srgbClr val="ff7f00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dàng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31817" y="3516704"/>
            <a:ext cx="331133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nằm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dưới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43" b="1">
                <a:solidFill>
                  <a:srgbClr val="e0e0e0"/>
                </a:solidFill>
                <a:latin typeface="DejaVu Sans"/>
                <a:cs typeface="DejaVu Sans"/>
              </a:rPr>
              <a:t>TextView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50532" y="4152386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90cdf4"/>
                </a:solidFill>
                <a:latin typeface="Liberation Mono"/>
                <a:cs typeface="Liberation Mono"/>
              </a:rPr>
              <a:t>TextView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08850" y="4371461"/>
            <a:ext cx="2661921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"@+id/myTextView"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...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08910" y="4790561"/>
            <a:ext cx="3108722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"Đây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là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TextView"</a:t>
            </a:r>
            <a:r>
              <a:rPr dirty="0" sz="1200" spc="-14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50532" y="5219186"/>
            <a:ext cx="77978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90cdf4"/>
                </a:solidFill>
                <a:latin typeface="Liberation Mono"/>
                <a:cs typeface="Liberation Mono"/>
              </a:rPr>
              <a:t>Button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08850" y="5438261"/>
            <a:ext cx="421277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...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08910" y="5647811"/>
            <a:ext cx="4721124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android:layout_below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"@id/myTextView"</a:t>
            </a:r>
            <a:r>
              <a:rPr dirty="0" sz="1200" spc="-14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&lt;--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Key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Attri</a:t>
            </a:r>
          </a:p>
          <a:p>
            <a:pPr marL="0" marR="0">
              <a:lnSpc>
                <a:spcPts val="1368"/>
              </a:lnSpc>
              <a:spcBef>
                <a:spcPts val="205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"Nút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c</a:t>
            </a:r>
            <a:r>
              <a:rPr dirty="0" sz="1200" spc="-360">
                <a:solidFill>
                  <a:srgbClr val="f6ad55"/>
                </a:solidFill>
                <a:latin typeface="DejaVu Sans Mono"/>
                <a:cs typeface="DejaVu Sans Mono"/>
              </a:rPr>
              <a:t>ủ</a:t>
            </a:r>
            <a:r>
              <a:rPr dirty="0" sz="1200">
                <a:solidFill>
                  <a:srgbClr val="f6ad55"/>
                </a:solidFill>
                <a:latin typeface="Liberation Mono"/>
                <a:cs typeface="Liberation Mono"/>
              </a:rPr>
              <a:t>a</a:t>
            </a:r>
            <a:r>
              <a:rPr dirty="0" sz="1200" spc="-30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tôi"</a:t>
            </a:r>
            <a:r>
              <a:rPr dirty="0" sz="1200" spc="-14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3399" y="6888554"/>
            <a:ext cx="362985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47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1700" spc="2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e0e0e0"/>
                </a:solidFill>
                <a:latin typeface="DejaVu Sans"/>
                <a:cs typeface="DejaVu Sans"/>
              </a:rPr>
              <a:t>Layouts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1556" y="7442513"/>
            <a:ext cx="464214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Bố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cục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350" spc="-43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trúc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8789" y="7785413"/>
            <a:ext cx="438180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đặt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dàng.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8789" y="8080688"/>
            <a:ext cx="526548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30562" y="8739422"/>
            <a:ext cx="81432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Kotlin</a:t>
            </a:r>
            <a:r>
              <a:rPr dirty="0" sz="1000" spc="14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6b7280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GeeksforGeeks,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991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4632609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dirty="0" sz="3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ffffff"/>
                </a:solidFill>
                <a:latin typeface="DejaVu Sans"/>
                <a:cs typeface="DejaVu Sans"/>
              </a:rPr>
              <a:t>dụ</a:t>
            </a:r>
            <a:r>
              <a:rPr dirty="0" sz="3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ff7f00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976" y="1295870"/>
            <a:ext cx="383919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5641" y="1851338"/>
            <a:ext cx="4954768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RelativeLayout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nhóm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(ViewGroup)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chúng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cha.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888808"/>
            <a:ext cx="16720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7f00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trí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đối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3317433"/>
            <a:ext cx="3864035" cy="680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7f00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</a:p>
          <a:p>
            <a:pPr marL="0" marR="0">
              <a:lnSpc>
                <a:spcPts val="1760"/>
              </a:lnSpc>
              <a:spcBef>
                <a:spcPts val="1539"/>
              </a:spcBef>
              <a:spcAft>
                <a:spcPts val="0"/>
              </a:spcAft>
            </a:pPr>
            <a:r>
              <a:rPr dirty="0" sz="1500">
                <a:solidFill>
                  <a:srgbClr val="ff7f00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dàng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31817" y="3516704"/>
            <a:ext cx="331133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nằm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dưới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43" b="1">
                <a:solidFill>
                  <a:srgbClr val="e0e0e0"/>
                </a:solidFill>
                <a:latin typeface="DejaVu Sans"/>
                <a:cs typeface="DejaVu Sans"/>
              </a:rPr>
              <a:t>TextView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50532" y="4152386"/>
            <a:ext cx="959031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90cdf4"/>
                </a:solidFill>
                <a:latin typeface="Liberation Mono"/>
                <a:cs typeface="Liberation Mono"/>
              </a:rPr>
              <a:t>TextView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08850" y="4371461"/>
            <a:ext cx="2661921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"@+id/myTextView"</a:t>
            </a:r>
          </a:p>
          <a:p>
            <a:pPr marL="0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...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08910" y="4790561"/>
            <a:ext cx="3108722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"Đây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là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TextView"</a:t>
            </a:r>
            <a:r>
              <a:rPr dirty="0" sz="1200" spc="-14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50532" y="5219186"/>
            <a:ext cx="77978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90cdf4"/>
                </a:solidFill>
                <a:latin typeface="Liberation Mono"/>
                <a:cs typeface="Liberation Mono"/>
              </a:rPr>
              <a:t>Button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08850" y="5438261"/>
            <a:ext cx="421277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...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08910" y="5647811"/>
            <a:ext cx="4721124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android:layout_below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"@id/myTextView"</a:t>
            </a:r>
            <a:r>
              <a:rPr dirty="0" sz="1200" spc="-14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&lt;--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Key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0aec0"/>
                </a:solidFill>
                <a:latin typeface="Liberation Mono"/>
                <a:cs typeface="Liberation Mono"/>
              </a:rPr>
              <a:t>Attri</a:t>
            </a:r>
          </a:p>
          <a:p>
            <a:pPr marL="0" marR="0">
              <a:lnSpc>
                <a:spcPts val="1368"/>
              </a:lnSpc>
              <a:spcBef>
                <a:spcPts val="205"/>
              </a:spcBef>
              <a:spcAft>
                <a:spcPts val="0"/>
              </a:spcAft>
            </a:pPr>
            <a:r>
              <a:rPr dirty="0" sz="1200" spc="-15">
                <a:solidFill>
                  <a:srgbClr val="68d391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"Nút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c</a:t>
            </a:r>
            <a:r>
              <a:rPr dirty="0" sz="1200" spc="-360">
                <a:solidFill>
                  <a:srgbClr val="f6ad55"/>
                </a:solidFill>
                <a:latin typeface="DejaVu Sans Mono"/>
                <a:cs typeface="DejaVu Sans Mono"/>
              </a:rPr>
              <a:t>ủ</a:t>
            </a:r>
            <a:r>
              <a:rPr dirty="0" sz="1200">
                <a:solidFill>
                  <a:srgbClr val="f6ad55"/>
                </a:solidFill>
                <a:latin typeface="Liberation Mono"/>
                <a:cs typeface="Liberation Mono"/>
              </a:rPr>
              <a:t>a</a:t>
            </a:r>
            <a:r>
              <a:rPr dirty="0" sz="1200" spc="-30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f6ad55"/>
                </a:solidFill>
                <a:latin typeface="Liberation Mono"/>
                <a:cs typeface="Liberation Mono"/>
              </a:rPr>
              <a:t>tôi"</a:t>
            </a:r>
            <a:r>
              <a:rPr dirty="0" sz="1200" spc="-14">
                <a:solidFill>
                  <a:srgbClr val="f6ad55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3399" y="6888554"/>
            <a:ext cx="362985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47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1700" spc="2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e0e0e0"/>
                </a:solidFill>
                <a:latin typeface="DejaVu Sans"/>
                <a:cs typeface="DejaVu Sans"/>
              </a:rPr>
              <a:t>Layouts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1556" y="7442513"/>
            <a:ext cx="464214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Bố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cục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350" spc="-43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trúc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8789" y="7785413"/>
            <a:ext cx="438180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đặt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dàng.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8789" y="8080688"/>
            <a:ext cx="526548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30562" y="8739422"/>
            <a:ext cx="81432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Kotlin</a:t>
            </a:r>
            <a:r>
              <a:rPr dirty="0" sz="1000" spc="14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6b7280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GeeksforGeeks,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0676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08486" y="381940"/>
            <a:ext cx="514377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ff7f00"/>
                </a:solidFill>
                <a:latin typeface="DejaVu Sans"/>
                <a:cs typeface="DejaVu Sans"/>
              </a:rPr>
              <a:t>Constraint</a:t>
            </a:r>
            <a:r>
              <a:rPr dirty="0" sz="4050" spc="-37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90228" y="1528243"/>
            <a:ext cx="170293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2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ĐA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30094" y="1528243"/>
            <a:ext cx="17301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200" spc="-1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42838" y="1993458"/>
            <a:ext cx="47359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thay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thế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LinearLayout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2704" y="1993458"/>
            <a:ext cx="447159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'nested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layout',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42838" y="2288733"/>
            <a:ext cx="105048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82704" y="2288733"/>
            <a:ext cx="85305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42838" y="2604568"/>
            <a:ext cx="10066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Phức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82704" y="2604568"/>
            <a:ext cx="13044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Cấu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trúc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phẳng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46638" y="3440504"/>
            <a:ext cx="166285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Lợi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ích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90228" y="3576118"/>
            <a:ext cx="336191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2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BUỘC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e0e0e0"/>
                </a:solidFill>
                <a:latin typeface="DejaVu Sans"/>
                <a:cs typeface="DejaVu Sans"/>
              </a:rPr>
              <a:t>(CONSTRAINTS)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60516" y="3870638"/>
            <a:ext cx="3081560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phẳng,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ít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lồng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ghép.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Tăng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tốc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e0e0e0"/>
                </a:solidFill>
                <a:latin typeface="DejaVu Sans"/>
                <a:cs typeface="DejaVu Sans"/>
              </a:rPr>
              <a:t>render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42838" y="4041333"/>
            <a:ext cx="470932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bằng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parent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42838" y="4336608"/>
            <a:ext cx="157591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60516" y="4556438"/>
            <a:ext cx="361055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lỗi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đơn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layout.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42838" y="4652443"/>
            <a:ext cx="118307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Quan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5213" y="5689158"/>
            <a:ext cx="5374823" cy="11569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ConstraintLayout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giải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pháp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mạnh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mẽ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bạn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nhưng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vẫn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duy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trì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phẳng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suất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73117" y="7072547"/>
            <a:ext cx="151533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Responsive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034485" y="7072547"/>
            <a:ext cx="153176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Performance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Boost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712373" y="7072547"/>
            <a:ext cx="11766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Flat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Hierarchy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87995" y="7443268"/>
            <a:ext cx="332817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Constraints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Studio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617766" y="7825022"/>
            <a:ext cx="455601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Adapty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6b7280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Attributes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0676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08486" y="381940"/>
            <a:ext cx="514377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ff7f00"/>
                </a:solidFill>
                <a:latin typeface="DejaVu Sans"/>
                <a:cs typeface="DejaVu Sans"/>
              </a:rPr>
              <a:t>Constraint</a:t>
            </a:r>
            <a:r>
              <a:rPr dirty="0" sz="4050" spc="-37" b="1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90228" y="1528243"/>
            <a:ext cx="170293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2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ĐA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30094" y="1528243"/>
            <a:ext cx="17301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200" spc="-1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42838" y="1993458"/>
            <a:ext cx="473594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thay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thế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LinearLayout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2704" y="1993458"/>
            <a:ext cx="447159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'nested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layout',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42838" y="2288733"/>
            <a:ext cx="105048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82704" y="2288733"/>
            <a:ext cx="85305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42838" y="2604568"/>
            <a:ext cx="10066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Phức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82704" y="2604568"/>
            <a:ext cx="13044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Cấu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trúc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phẳng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46638" y="3440504"/>
            <a:ext cx="166285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Lợi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ích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90228" y="3576118"/>
            <a:ext cx="336191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2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e0e0e0"/>
                </a:solidFill>
                <a:latin typeface="DejaVu Sans"/>
                <a:cs typeface="DejaVu Sans"/>
              </a:rPr>
              <a:t>BUỘC</a:t>
            </a:r>
            <a:r>
              <a:rPr dirty="0" sz="12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e0e0e0"/>
                </a:solidFill>
                <a:latin typeface="DejaVu Sans"/>
                <a:cs typeface="DejaVu Sans"/>
              </a:rPr>
              <a:t>(CONSTRAINTS)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60516" y="3870638"/>
            <a:ext cx="3081560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phẳng,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ít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lồng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ghép.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Tăng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tốc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e0e0e0"/>
                </a:solidFill>
                <a:latin typeface="DejaVu Sans"/>
                <a:cs typeface="DejaVu Sans"/>
              </a:rPr>
              <a:t>render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42838" y="4041333"/>
            <a:ext cx="470932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bằng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parent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42838" y="4336608"/>
            <a:ext cx="157591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khác.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60516" y="4556438"/>
            <a:ext cx="361055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lỗi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đơn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layout.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42838" y="4652443"/>
            <a:ext cx="118307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Quan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5213" y="5689158"/>
            <a:ext cx="5374823" cy="11569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ConstraintLayout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giải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pháp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mạnh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mẽ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bạn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nhưng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vẫn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duy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trì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phẳng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suất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73117" y="7072547"/>
            <a:ext cx="151533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Responsive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034485" y="7072547"/>
            <a:ext cx="153176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Performance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Boost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712373" y="7072547"/>
            <a:ext cx="11766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Flat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0e0e0"/>
                </a:solidFill>
                <a:latin typeface="DejaVu Sans"/>
                <a:cs typeface="DejaVu Sans"/>
              </a:rPr>
              <a:t>Hierarchy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87995" y="7443268"/>
            <a:ext cx="332817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Constraints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Studio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617766" y="7825022"/>
            <a:ext cx="455601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Adapty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28">
                <a:solidFill>
                  <a:srgbClr val="6b7280"/>
                </a:solidFill>
                <a:latin typeface="DejaVu Sans"/>
                <a:cs typeface="DejaVu Sans"/>
              </a:rPr>
              <a:t>Types</a:t>
            </a:r>
            <a:r>
              <a:rPr dirty="0" sz="1000" spc="34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Attributes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991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10520" y="334315"/>
            <a:ext cx="660812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4050" spc="-20" b="1">
                <a:solidFill>
                  <a:srgbClr val="ff7f00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53519" y="1002104"/>
            <a:ext cx="363715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đáp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69707" y="1767122"/>
            <a:ext cx="150133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UI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Responsiveness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33703" y="2069658"/>
            <a:ext cx="151209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Lợi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ích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63146" y="2433118"/>
            <a:ext cx="397936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ConstraintLayout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63146" y="2652193"/>
            <a:ext cx="4221268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đáp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69707" y="3634022"/>
            <a:ext cx="134952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66534"/>
                </a:solidFill>
                <a:latin typeface="DejaVu Sans"/>
                <a:cs typeface="DejaVu Sans"/>
              </a:rPr>
              <a:t>Constraint</a:t>
            </a:r>
            <a:r>
              <a:rPr dirty="0" sz="1000" b="1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66534"/>
                </a:solidFill>
                <a:latin typeface="DejaVu Sans"/>
                <a:cs typeface="DejaVu Sans"/>
              </a:rPr>
              <a:t>Rules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63146" y="3936558"/>
            <a:ext cx="4181645" cy="12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Ràng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buộc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Nút: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Cạnh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trên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spc="-36" b="1">
                <a:solidFill>
                  <a:srgbClr val="ff7f00"/>
                </a:solidFill>
                <a:latin typeface="DejaVu Sans"/>
                <a:cs typeface="DejaVu Sans"/>
              </a:rPr>
              <a:t>Trái</a:t>
            </a:r>
          </a:p>
          <a:p>
            <a:pPr marL="356443" marR="0">
              <a:lnSpc>
                <a:spcPts val="1332"/>
              </a:lnSpc>
              <a:spcBef>
                <a:spcPts val="1214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Liberation Mono"/>
                <a:cs typeface="Liberation Mono"/>
              </a:rPr>
              <a:t>layout_constraintTop_toTopOf="parent"</a:t>
            </a:r>
          </a:p>
          <a:p>
            <a:pPr marL="356443" marR="0">
              <a:lnSpc>
                <a:spcPts val="1332"/>
              </a:lnSpc>
              <a:spcBef>
                <a:spcPts val="1192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Liberation Mono"/>
                <a:cs typeface="Liberation Mono"/>
              </a:rPr>
              <a:t>layout_constraintStart_toStartOf="parent"</a:t>
            </a:r>
          </a:p>
          <a:p>
            <a:pPr marL="313878" marR="0">
              <a:lnSpc>
                <a:spcPts val="1368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rộng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cao:</a:t>
            </a:r>
            <a:r>
              <a:rPr dirty="0" sz="1200" spc="33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Liberation Mono"/>
                <a:cs typeface="Liberation Mono"/>
              </a:rPr>
              <a:t>wrap_content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69707" y="5719997"/>
            <a:ext cx="15214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XML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Code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Example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63146" y="6046574"/>
            <a:ext cx="3993503" cy="354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&lt;androidx.constraintlayout.widget.ConstraintLayout</a:t>
            </a:r>
          </a:p>
          <a:p>
            <a:pPr marL="30733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android:layout_width="match_parent"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70476" y="6389474"/>
            <a:ext cx="2994816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android:layout_height="match_parent"&gt;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870476" y="6732374"/>
            <a:ext cx="690154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77658" y="6894299"/>
            <a:ext cx="2917994" cy="6974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android:id="@+id/myButton"</a:t>
            </a:r>
          </a:p>
          <a:p>
            <a:pPr marL="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android:layout_width="wrap_content"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0" marR="0">
              <a:lnSpc>
                <a:spcPts val="1173"/>
              </a:lnSpc>
              <a:spcBef>
                <a:spcPts val="111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android:text="Nút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ví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d</a:t>
            </a:r>
            <a:r>
              <a:rPr dirty="0" sz="1000">
                <a:solidFill>
                  <a:srgbClr val="e0e0e0"/>
                </a:solidFill>
                <a:latin typeface="DejaVu Sans Mono"/>
                <a:cs typeface="DejaVu Sans Mono"/>
              </a:rPr>
              <a:t>ụ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63146" y="7580099"/>
            <a:ext cx="4223290" cy="526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4511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app:layout_constraintTop_toTopOf="parent"</a:t>
            </a:r>
          </a:p>
          <a:p>
            <a:pPr marL="614511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app:layout_constraintStart_toStartOf="parent"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77949" y="7805218"/>
            <a:ext cx="4337454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"ConstraintLayout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suất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giảm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tạp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8">
                <a:solidFill>
                  <a:srgbClr val="d1d5db"/>
                </a:solidFill>
                <a:latin typeface="DejaVu Sans"/>
                <a:cs typeface="DejaVu Sans"/>
              </a:rPr>
              <a:t>Hierarchy."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77949" y="8263172"/>
            <a:ext cx="99804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Tối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ưu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hóa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563146" y="8265899"/>
            <a:ext cx="4147147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&lt;/androidx.constraintlayout.widget.ConstraintLayout&gt;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452668" y="8653697"/>
            <a:ext cx="246495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991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10520" y="334315"/>
            <a:ext cx="660812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4050" spc="-20" b="1">
                <a:solidFill>
                  <a:srgbClr val="ff7f00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53519" y="1002104"/>
            <a:ext cx="363715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đáp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69707" y="1767122"/>
            <a:ext cx="150133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UI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a3412"/>
                </a:solidFill>
                <a:latin typeface="DejaVu Sans"/>
                <a:cs typeface="DejaVu Sans"/>
              </a:rPr>
              <a:t>Responsiveness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33703" y="2069658"/>
            <a:ext cx="151209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Lợi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ích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63146" y="2433118"/>
            <a:ext cx="397936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ConstraintLayout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63146" y="2652193"/>
            <a:ext cx="4221268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đáp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69707" y="3634022"/>
            <a:ext cx="134952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66534"/>
                </a:solidFill>
                <a:latin typeface="DejaVu Sans"/>
                <a:cs typeface="DejaVu Sans"/>
              </a:rPr>
              <a:t>Constraint</a:t>
            </a:r>
            <a:r>
              <a:rPr dirty="0" sz="1000" b="1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66534"/>
                </a:solidFill>
                <a:latin typeface="DejaVu Sans"/>
                <a:cs typeface="DejaVu Sans"/>
              </a:rPr>
              <a:t>Rules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63146" y="3936558"/>
            <a:ext cx="4181645" cy="12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Ràng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buộc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Nút: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Cạnh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trên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7f0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500" spc="-36" b="1">
                <a:solidFill>
                  <a:srgbClr val="ff7f00"/>
                </a:solidFill>
                <a:latin typeface="DejaVu Sans"/>
                <a:cs typeface="DejaVu Sans"/>
              </a:rPr>
              <a:t>Trái</a:t>
            </a:r>
          </a:p>
          <a:p>
            <a:pPr marL="356443" marR="0">
              <a:lnSpc>
                <a:spcPts val="1332"/>
              </a:lnSpc>
              <a:spcBef>
                <a:spcPts val="1214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Liberation Mono"/>
                <a:cs typeface="Liberation Mono"/>
              </a:rPr>
              <a:t>layout_constraintTop_toTopOf="parent"</a:t>
            </a:r>
          </a:p>
          <a:p>
            <a:pPr marL="356443" marR="0">
              <a:lnSpc>
                <a:spcPts val="1332"/>
              </a:lnSpc>
              <a:spcBef>
                <a:spcPts val="1192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Liberation Mono"/>
                <a:cs typeface="Liberation Mono"/>
              </a:rPr>
              <a:t>layout_constraintStart_toStartOf="parent"</a:t>
            </a:r>
          </a:p>
          <a:p>
            <a:pPr marL="313878" marR="0">
              <a:lnSpc>
                <a:spcPts val="1368"/>
              </a:lnSpc>
              <a:spcBef>
                <a:spcPts val="1105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rộng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Chiều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cao:</a:t>
            </a:r>
            <a:r>
              <a:rPr dirty="0" sz="1200" spc="33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Liberation Mono"/>
                <a:cs typeface="Liberation Mono"/>
              </a:rPr>
              <a:t>wrap_content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69707" y="5719997"/>
            <a:ext cx="15214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XML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Code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6b21a8"/>
                </a:solidFill>
                <a:latin typeface="DejaVu Sans"/>
                <a:cs typeface="DejaVu Sans"/>
              </a:rPr>
              <a:t>Example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63146" y="6046574"/>
            <a:ext cx="3993503" cy="354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&lt;androidx.constraintlayout.widget.ConstraintLayout</a:t>
            </a:r>
          </a:p>
          <a:p>
            <a:pPr marL="30733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android:layout_width="match_parent"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70476" y="6389474"/>
            <a:ext cx="2994816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android:layout_height="match_parent"&gt;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870476" y="6732374"/>
            <a:ext cx="690154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&lt;Button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77658" y="6894299"/>
            <a:ext cx="2917994" cy="6974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android:id="@+id/myButton"</a:t>
            </a:r>
          </a:p>
          <a:p>
            <a:pPr marL="0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android:layout_width="wrap_content"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android:layout_height="wrap_content"</a:t>
            </a:r>
          </a:p>
          <a:p>
            <a:pPr marL="0" marR="0">
              <a:lnSpc>
                <a:spcPts val="1173"/>
              </a:lnSpc>
              <a:spcBef>
                <a:spcPts val="111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android:text="Nút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ví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d</a:t>
            </a:r>
            <a:r>
              <a:rPr dirty="0" sz="1000">
                <a:solidFill>
                  <a:srgbClr val="e0e0e0"/>
                </a:solidFill>
                <a:latin typeface="DejaVu Sans Mono"/>
                <a:cs typeface="DejaVu Sans Mono"/>
              </a:rPr>
              <a:t>ụ</a:t>
            </a: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63146" y="7580099"/>
            <a:ext cx="4223290" cy="526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4511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app:layout_constraintTop_toTopOf="parent"</a:t>
            </a:r>
          </a:p>
          <a:p>
            <a:pPr marL="614511" marR="0">
              <a:lnSpc>
                <a:spcPts val="1141"/>
              </a:lnSpc>
              <a:spcBef>
                <a:spcPts val="25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app:layout_constraintStart_toStartOf="parent"</a:t>
            </a:r>
          </a:p>
          <a:p>
            <a:pPr marL="0" marR="0">
              <a:lnSpc>
                <a:spcPts val="1141"/>
              </a:lnSpc>
              <a:spcBef>
                <a:spcPts val="208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77949" y="7805218"/>
            <a:ext cx="4337454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"ConstraintLayout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suất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giảm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tạp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8">
                <a:solidFill>
                  <a:srgbClr val="d1d5db"/>
                </a:solidFill>
                <a:latin typeface="DejaVu Sans"/>
                <a:cs typeface="DejaVu Sans"/>
              </a:rPr>
              <a:t>Hierarchy."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77949" y="8263172"/>
            <a:ext cx="99804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Tối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ưu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hóa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563146" y="8265899"/>
            <a:ext cx="4147147" cy="183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Liberation Mono"/>
                <a:cs typeface="Liberation Mono"/>
              </a:rPr>
              <a:t>&lt;/androidx.constraintlayout.widget.ConstraintLayout&gt;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452668" y="8653697"/>
            <a:ext cx="246495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153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55787" y="334315"/>
            <a:ext cx="7832748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Components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1991195"/>
            <a:ext cx="148431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0" b="1">
                <a:solidFill>
                  <a:srgbClr val="e0e0e0"/>
                </a:solidFill>
                <a:latin typeface="DejaVu Sans"/>
                <a:cs typeface="DejaVu Sans"/>
              </a:rPr>
              <a:t>TextView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8075" y="1991195"/>
            <a:ext cx="135655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5" b="1">
                <a:solidFill>
                  <a:srgbClr val="e0e0e0"/>
                </a:solidFill>
                <a:latin typeface="DejaVu Sans"/>
                <a:cs typeface="DejaVu Sans"/>
              </a:rPr>
              <a:t>EditText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422083"/>
            <a:ext cx="17147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88632" y="2422083"/>
            <a:ext cx="275054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1645" y="2891072"/>
            <a:ext cx="62427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Display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37109" y="2891072"/>
            <a:ext cx="8544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Element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24636" y="2891072"/>
            <a:ext cx="48387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7dd3fc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39755" y="2891072"/>
            <a:ext cx="84198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7dd3fc"/>
                </a:solidFill>
                <a:latin typeface="DejaVu Sans"/>
                <a:cs typeface="DejaVu Sans"/>
              </a:rPr>
              <a:t>Interactive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5084" y="4439120"/>
            <a:ext cx="113277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18075" y="4439120"/>
            <a:ext cx="174022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ImageView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5641" y="4879533"/>
            <a:ext cx="330832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bấm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88632" y="4879533"/>
            <a:ext cx="17800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1645" y="5338997"/>
            <a:ext cx="55557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Action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66267" y="5338997"/>
            <a:ext cx="84692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24636" y="5338997"/>
            <a:ext cx="5368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Media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392738" y="5338997"/>
            <a:ext cx="5373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Visual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55637" y="6336104"/>
            <a:ext cx="240916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98629" y="6336104"/>
            <a:ext cx="34141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50837" y="6804338"/>
            <a:ext cx="495453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bằng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ﬁle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e0e0e0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93829" y="6804338"/>
            <a:ext cx="508772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hiện,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như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nút,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hồi.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3795" y="7386872"/>
            <a:ext cx="258283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9ca3af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CloudDevs.com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46787" y="7386872"/>
            <a:ext cx="164675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GeeksforGeeks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153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55787" y="334315"/>
            <a:ext cx="7832748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Components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1991195"/>
            <a:ext cx="148431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0" b="1">
                <a:solidFill>
                  <a:srgbClr val="e0e0e0"/>
                </a:solidFill>
                <a:latin typeface="DejaVu Sans"/>
                <a:cs typeface="DejaVu Sans"/>
              </a:rPr>
              <a:t>TextView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8075" y="1991195"/>
            <a:ext cx="135655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5" b="1">
                <a:solidFill>
                  <a:srgbClr val="e0e0e0"/>
                </a:solidFill>
                <a:latin typeface="DejaVu Sans"/>
                <a:cs typeface="DejaVu Sans"/>
              </a:rPr>
              <a:t>EditText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422083"/>
            <a:ext cx="17147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88632" y="2422083"/>
            <a:ext cx="275054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1645" y="2891072"/>
            <a:ext cx="62427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Display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37109" y="2891072"/>
            <a:ext cx="8544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Element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24636" y="2891072"/>
            <a:ext cx="48387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7dd3fc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39755" y="2891072"/>
            <a:ext cx="84198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7dd3fc"/>
                </a:solidFill>
                <a:latin typeface="DejaVu Sans"/>
                <a:cs typeface="DejaVu Sans"/>
              </a:rPr>
              <a:t>Interactive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5084" y="4439120"/>
            <a:ext cx="113277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18075" y="4439120"/>
            <a:ext cx="174022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ImageView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5641" y="4879533"/>
            <a:ext cx="330832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bấm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88632" y="4879533"/>
            <a:ext cx="17800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1645" y="5338997"/>
            <a:ext cx="55557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Action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66267" y="5338997"/>
            <a:ext cx="84692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24636" y="5338997"/>
            <a:ext cx="5368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Media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392738" y="5338997"/>
            <a:ext cx="5373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Visual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55637" y="6336104"/>
            <a:ext cx="240916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98629" y="6336104"/>
            <a:ext cx="34141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50837" y="6804338"/>
            <a:ext cx="495453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bằng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ﬁle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e0e0e0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93829" y="6804338"/>
            <a:ext cx="508772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hiện,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như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nút,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hồi.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3795" y="7386872"/>
            <a:ext cx="258283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9ca3af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CloudDevs.com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46787" y="7386872"/>
            <a:ext cx="164675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GeeksforGeeks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71663" y="334315"/>
            <a:ext cx="620084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7f00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51101" y="1002104"/>
            <a:ext cx="424219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Thành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1362" y="1810220"/>
            <a:ext cx="148431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0" b="1">
                <a:solidFill>
                  <a:srgbClr val="e0e0e0"/>
                </a:solidFill>
                <a:latin typeface="DejaVu Sans"/>
                <a:cs typeface="DejaVu Sans"/>
              </a:rPr>
              <a:t>TextView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36641" y="1810220"/>
            <a:ext cx="135655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5" b="1">
                <a:solidFill>
                  <a:srgbClr val="e0e0e0"/>
                </a:solidFill>
                <a:latin typeface="DejaVu Sans"/>
                <a:cs typeface="DejaVu Sans"/>
              </a:rPr>
              <a:t>EditText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31919" y="1810220"/>
            <a:ext cx="113277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2370" y="2318818"/>
            <a:ext cx="3017021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tĩnh,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sửa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tiếp.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27648" y="2318818"/>
            <a:ext cx="3172708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nhập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sửa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bản.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22926" y="2318818"/>
            <a:ext cx="3233644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nhấn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vào.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0438" y="2928418"/>
            <a:ext cx="2879157" cy="869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52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dung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bản.</a:t>
            </a:r>
          </a:p>
          <a:p>
            <a:pPr marL="0" marR="0">
              <a:lnSpc>
                <a:spcPts val="1368"/>
              </a:lnSpc>
              <a:spcBef>
                <a:spcPts val="113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android:textSize</a:t>
            </a:r>
            <a:r>
              <a:rPr dirty="0" sz="1200" spc="52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chữ.</a:t>
            </a:r>
          </a:p>
          <a:p>
            <a:pPr marL="0" marR="0">
              <a:lnSpc>
                <a:spcPts val="1368"/>
              </a:lnSpc>
              <a:spcBef>
                <a:spcPts val="1205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android:textColor</a:t>
            </a:r>
            <a:r>
              <a:rPr dirty="0" sz="1200" spc="54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chữ.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23780" y="2909368"/>
            <a:ext cx="16909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danh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tham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619058" y="2909368"/>
            <a:ext cx="16909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danh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tham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83186" y="3028436"/>
            <a:ext cx="1048657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android:id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8464" y="3028436"/>
            <a:ext cx="1048657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android:id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723780" y="3128443"/>
            <a:ext cx="60468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chiếu.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19058" y="3128443"/>
            <a:ext cx="60468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chiếu.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01481" y="3423718"/>
            <a:ext cx="1547426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gợi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ý</a:t>
            </a:r>
            <a:r>
              <a:rPr dirty="0" sz="1200" spc="-2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khi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trống.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800777" y="3442768"/>
            <a:ext cx="130077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Nhãn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nút.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680994" y="3447536"/>
            <a:ext cx="1227909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781698" y="3533261"/>
            <a:ext cx="1227909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android:hint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42714" y="4558417"/>
            <a:ext cx="2120270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33b5e5"/>
                </a:solidFill>
                <a:latin typeface="DejaVu Sans"/>
                <a:cs typeface="DejaVu Sans"/>
              </a:rPr>
              <a:t>Welcome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639894" y="4727888"/>
            <a:ext cx="89382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SUBMIT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835723" y="4813613"/>
            <a:ext cx="174849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Enter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your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name...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19249" y="5023918"/>
            <a:ext cx="135287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(Ví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dụ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40">
                <a:solidFill>
                  <a:srgbClr val="9ca3af"/>
                </a:solidFill>
                <a:latin typeface="DejaVu Sans"/>
                <a:cs typeface="DejaVu Sans"/>
              </a:rPr>
              <a:t>TextView)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60362" y="6053372"/>
            <a:ext cx="9871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0" b="1">
                <a:solidFill>
                  <a:srgbClr val="000000"/>
                </a:solidFill>
                <a:latin typeface="DejaVu Sans"/>
                <a:cs typeface="DejaVu Sans"/>
              </a:rPr>
              <a:t>READ-ONLY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918691" y="6053372"/>
            <a:ext cx="7656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0" b="1">
                <a:solidFill>
                  <a:srgbClr val="000000"/>
                </a:solidFill>
                <a:latin typeface="DejaVu Sans"/>
                <a:cs typeface="DejaVu Sans"/>
              </a:rPr>
              <a:t>DISPLAY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655641" y="6053372"/>
            <a:ext cx="10188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USER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863381" y="6053372"/>
            <a:ext cx="84673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EDITABLE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550919" y="6053372"/>
            <a:ext cx="112445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864178" y="6053372"/>
            <a:ext cx="69634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ACTION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71663" y="334315"/>
            <a:ext cx="620084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7f00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51101" y="1002104"/>
            <a:ext cx="424219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Thành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1362" y="1810220"/>
            <a:ext cx="148431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0" b="1">
                <a:solidFill>
                  <a:srgbClr val="e0e0e0"/>
                </a:solidFill>
                <a:latin typeface="DejaVu Sans"/>
                <a:cs typeface="DejaVu Sans"/>
              </a:rPr>
              <a:t>TextView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36641" y="1810220"/>
            <a:ext cx="135655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25" b="1">
                <a:solidFill>
                  <a:srgbClr val="e0e0e0"/>
                </a:solidFill>
                <a:latin typeface="DejaVu Sans"/>
                <a:cs typeface="DejaVu Sans"/>
              </a:rPr>
              <a:t>EditText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31919" y="1810220"/>
            <a:ext cx="113277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2370" y="2318818"/>
            <a:ext cx="3017021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tĩnh,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sửa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tiếp.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27648" y="2318818"/>
            <a:ext cx="3172708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nhập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sửa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bản.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22926" y="2318818"/>
            <a:ext cx="3233644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nhấn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d1d5db"/>
                </a:solidFill>
                <a:latin typeface="DejaVu Sans"/>
                <a:cs typeface="DejaVu Sans"/>
              </a:rPr>
              <a:t>vào.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0438" y="2928418"/>
            <a:ext cx="2879157" cy="869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52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dung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bản.</a:t>
            </a:r>
          </a:p>
          <a:p>
            <a:pPr marL="0" marR="0">
              <a:lnSpc>
                <a:spcPts val="1368"/>
              </a:lnSpc>
              <a:spcBef>
                <a:spcPts val="113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android:textSize</a:t>
            </a:r>
            <a:r>
              <a:rPr dirty="0" sz="1200" spc="52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chữ.</a:t>
            </a:r>
          </a:p>
          <a:p>
            <a:pPr marL="0" marR="0">
              <a:lnSpc>
                <a:spcPts val="1368"/>
              </a:lnSpc>
              <a:spcBef>
                <a:spcPts val="1205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android:textColor</a:t>
            </a:r>
            <a:r>
              <a:rPr dirty="0" sz="1200" spc="54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chữ.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23780" y="2909368"/>
            <a:ext cx="16909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danh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tham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619058" y="2909368"/>
            <a:ext cx="169099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danh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tham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83186" y="3028436"/>
            <a:ext cx="1048657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android:id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8464" y="3028436"/>
            <a:ext cx="1048657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android:id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723780" y="3128443"/>
            <a:ext cx="60468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chiếu.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19058" y="3128443"/>
            <a:ext cx="60468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chiếu.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01481" y="3423718"/>
            <a:ext cx="1547426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gợi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ý</a:t>
            </a:r>
            <a:r>
              <a:rPr dirty="0" sz="1200" spc="-2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khi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trống.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800777" y="3442768"/>
            <a:ext cx="130077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Nhãn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nút.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680994" y="3447536"/>
            <a:ext cx="1227909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android:text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781698" y="3533261"/>
            <a:ext cx="1227909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7f00"/>
                </a:solidFill>
                <a:latin typeface="Liberation Mono"/>
                <a:cs typeface="Liberation Mono"/>
              </a:rPr>
              <a:t>android:hint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42714" y="4558417"/>
            <a:ext cx="2120270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b="1">
                <a:solidFill>
                  <a:srgbClr val="33b5e5"/>
                </a:solidFill>
                <a:latin typeface="DejaVu Sans"/>
                <a:cs typeface="DejaVu Sans"/>
              </a:rPr>
              <a:t>Welcome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639894" y="4727888"/>
            <a:ext cx="89382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SUBMIT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835723" y="4813613"/>
            <a:ext cx="174849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Enter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your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6b7280"/>
                </a:solidFill>
                <a:latin typeface="DejaVu Sans"/>
                <a:cs typeface="DejaVu Sans"/>
              </a:rPr>
              <a:t>name...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19249" y="5023918"/>
            <a:ext cx="135287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(Ví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dụ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40">
                <a:solidFill>
                  <a:srgbClr val="9ca3af"/>
                </a:solidFill>
                <a:latin typeface="DejaVu Sans"/>
                <a:cs typeface="DejaVu Sans"/>
              </a:rPr>
              <a:t>TextView)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60362" y="6053372"/>
            <a:ext cx="9871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0" b="1">
                <a:solidFill>
                  <a:srgbClr val="000000"/>
                </a:solidFill>
                <a:latin typeface="DejaVu Sans"/>
                <a:cs typeface="DejaVu Sans"/>
              </a:rPr>
              <a:t>READ-ONLY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918691" y="6053372"/>
            <a:ext cx="7656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0" b="1">
                <a:solidFill>
                  <a:srgbClr val="000000"/>
                </a:solidFill>
                <a:latin typeface="DejaVu Sans"/>
                <a:cs typeface="DejaVu Sans"/>
              </a:rPr>
              <a:t>DISPLAY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655641" y="6053372"/>
            <a:ext cx="10188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USER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863381" y="6053372"/>
            <a:ext cx="84673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EDITABLE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550919" y="6053372"/>
            <a:ext cx="112445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INTERACTION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864178" y="6053372"/>
            <a:ext cx="69634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ACTION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7138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80416"/>
            <a:ext cx="890370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7f00"/>
                </a:solidFill>
                <a:latin typeface="DejaVu Sans"/>
                <a:cs typeface="DejaVu Sans"/>
              </a:rPr>
              <a:t>(Event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7f00"/>
                </a:solidFill>
                <a:latin typeface="DejaVu Sans"/>
                <a:cs typeface="DejaVu Sans"/>
              </a:rPr>
              <a:t>Handling)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30867" y="403994"/>
            <a:ext cx="686841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e0e0e0"/>
                </a:solidFill>
                <a:latin typeface="DejaVu Sans"/>
                <a:cs typeface="DejaVu Sans"/>
              </a:rPr>
              <a:t>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540" y="1444571"/>
            <a:ext cx="286183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minh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họa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72331" y="1473146"/>
            <a:ext cx="386400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500" spc="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tâm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1981655"/>
            <a:ext cx="4686089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thông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nhỏ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50">
                <a:solidFill>
                  <a:srgbClr val="e0e0e0"/>
                </a:solidFill>
                <a:latin typeface="DejaVu Sans"/>
                <a:cs typeface="DejaVu Sans"/>
              </a:rPr>
              <a:t>(Toast)</a:t>
            </a:r>
            <a:r>
              <a:rPr dirty="0" sz="1700" spc="3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nhấn.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6053" y="2067380"/>
            <a:ext cx="4538118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ff7f00"/>
                </a:solidFill>
                <a:latin typeface="DejaVu Sans"/>
                <a:cs typeface="DejaVu Sans"/>
              </a:rPr>
              <a:t>•</a:t>
            </a:r>
            <a:r>
              <a:rPr dirty="0" sz="1700" spc="12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kiện: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(chạm,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nhấn).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6053" y="2838905"/>
            <a:ext cx="501257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ff7f00"/>
                </a:solidFill>
                <a:latin typeface="DejaVu Sans"/>
                <a:cs typeface="DejaVu Sans"/>
              </a:rPr>
              <a:t>•</a:t>
            </a:r>
            <a:r>
              <a:rPr dirty="0" sz="1700" spc="12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23">
                <a:solidFill>
                  <a:srgbClr val="e0e0e0"/>
                </a:solidFill>
                <a:latin typeface="DejaVu Sans"/>
                <a:cs typeface="DejaVu Sans"/>
              </a:rPr>
              <a:t>Kotlin:</a:t>
            </a:r>
            <a:r>
              <a:rPr dirty="0" sz="17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`setOnClickListener`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ff7f00"/>
                </a:solidFill>
                <a:latin typeface="DejaVu Sans"/>
                <a:cs typeface="DejaVu Sans"/>
              </a:rPr>
              <a:t>bắt</a:t>
            </a:r>
            <a:r>
              <a:rPr dirty="0" sz="17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ff7f00"/>
                </a:solidFill>
                <a:latin typeface="DejaVu Sans"/>
                <a:cs typeface="DejaVu Sans"/>
              </a:rPr>
              <a:t>sự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31197" y="2932950"/>
            <a:ext cx="2916173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7e8f9"/>
                </a:solidFill>
                <a:latin typeface="Liberation Mono"/>
                <a:cs typeface="Liberation Mono"/>
              </a:rPr>
              <a:t>button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facc15"/>
                </a:solidFill>
                <a:latin typeface="Liberation Mono"/>
                <a:cs typeface="Liberation Mono"/>
              </a:rPr>
              <a:t>setOnClickListener</a:t>
            </a:r>
            <a:r>
              <a:rPr dirty="0" sz="1350" spc="469">
                <a:solidFill>
                  <a:srgbClr val="facc1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{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6053" y="3134180"/>
            <a:ext cx="66954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ff7f00"/>
                </a:solidFill>
                <a:latin typeface="DejaVu Sans"/>
                <a:cs typeface="DejaVu Sans"/>
              </a:rPr>
              <a:t>kiện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40623" y="3180600"/>
            <a:ext cx="527052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084fc"/>
                </a:solidFill>
                <a:latin typeface="Liberation Mono"/>
                <a:cs typeface="Liberation Mono"/>
              </a:rPr>
              <a:t>Toast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facc15"/>
                </a:solidFill>
                <a:latin typeface="Liberation Mono"/>
                <a:cs typeface="Liberation Mono"/>
              </a:rPr>
              <a:t>makeText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this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35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ade80"/>
                </a:solidFill>
                <a:latin typeface="Liberation Mono"/>
                <a:cs typeface="Liberation Mono"/>
              </a:rPr>
              <a:t>"Hello</a:t>
            </a:r>
            <a:r>
              <a:rPr dirty="0" sz="1350">
                <a:solidFill>
                  <a:srgbClr val="4ade8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ade80"/>
                </a:solidFill>
                <a:latin typeface="Liberation Mono"/>
                <a:cs typeface="Liberation Mono"/>
              </a:rPr>
              <a:t>Toast!"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35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c084fc"/>
                </a:solidFill>
                <a:latin typeface="Liberation Mono"/>
                <a:cs typeface="Liberation Mono"/>
              </a:rPr>
              <a:t>Toast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f87171"/>
                </a:solidFill>
                <a:latin typeface="Liberation Mono"/>
                <a:cs typeface="Liberation Mono"/>
              </a:rPr>
              <a:t>LENGTH_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31197" y="3437775"/>
            <a:ext cx="254829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0856" y="3736519"/>
            <a:ext cx="178885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25526" y="3736519"/>
            <a:ext cx="216356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`setOnClickListener`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80246" y="7383085"/>
            <a:ext cx="513597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500" spc="-4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chìa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khóa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80246" y="7678360"/>
            <a:ext cx="121837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sống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737126" y="8298994"/>
            <a:ext cx="41805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Reference: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GeeksforGeeks: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Handling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in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7138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80416"/>
            <a:ext cx="890370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kiện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7f00"/>
                </a:solidFill>
                <a:latin typeface="DejaVu Sans"/>
                <a:cs typeface="DejaVu Sans"/>
              </a:rPr>
              <a:t>(Event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7f00"/>
                </a:solidFill>
                <a:latin typeface="DejaVu Sans"/>
                <a:cs typeface="DejaVu Sans"/>
              </a:rPr>
              <a:t>Handling)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30867" y="403994"/>
            <a:ext cx="686841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e0e0e0"/>
                </a:solidFill>
                <a:latin typeface="DejaVu Sans"/>
                <a:cs typeface="DejaVu Sans"/>
              </a:rPr>
              <a:t>12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2540" y="1444571"/>
            <a:ext cx="286183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minh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họa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72331" y="1473146"/>
            <a:ext cx="386400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500" spc="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tâm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2540" y="1981655"/>
            <a:ext cx="4686089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thông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nhỏ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50">
                <a:solidFill>
                  <a:srgbClr val="e0e0e0"/>
                </a:solidFill>
                <a:latin typeface="DejaVu Sans"/>
                <a:cs typeface="DejaVu Sans"/>
              </a:rPr>
              <a:t>(Toast)</a:t>
            </a:r>
            <a:r>
              <a:rPr dirty="0" sz="1700" spc="3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nhấn.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6053" y="2067380"/>
            <a:ext cx="4538118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ff7f00"/>
                </a:solidFill>
                <a:latin typeface="DejaVu Sans"/>
                <a:cs typeface="DejaVu Sans"/>
              </a:rPr>
              <a:t>•</a:t>
            </a:r>
            <a:r>
              <a:rPr dirty="0" sz="1700" spc="12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kiện: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(chạm,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nhấn).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6053" y="2838905"/>
            <a:ext cx="501257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ff7f00"/>
                </a:solidFill>
                <a:latin typeface="DejaVu Sans"/>
                <a:cs typeface="DejaVu Sans"/>
              </a:rPr>
              <a:t>•</a:t>
            </a:r>
            <a:r>
              <a:rPr dirty="0" sz="1700" spc="12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23">
                <a:solidFill>
                  <a:srgbClr val="e0e0e0"/>
                </a:solidFill>
                <a:latin typeface="DejaVu Sans"/>
                <a:cs typeface="DejaVu Sans"/>
              </a:rPr>
              <a:t>Kotlin:</a:t>
            </a:r>
            <a:r>
              <a:rPr dirty="0" sz="17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`setOnClickListener`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ff7f00"/>
                </a:solidFill>
                <a:latin typeface="DejaVu Sans"/>
                <a:cs typeface="DejaVu Sans"/>
              </a:rPr>
              <a:t>bắt</a:t>
            </a:r>
            <a:r>
              <a:rPr dirty="0" sz="1700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ff7f00"/>
                </a:solidFill>
                <a:latin typeface="DejaVu Sans"/>
                <a:cs typeface="DejaVu Sans"/>
              </a:rPr>
              <a:t>sự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31197" y="2932950"/>
            <a:ext cx="2916173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7e8f9"/>
                </a:solidFill>
                <a:latin typeface="Liberation Mono"/>
                <a:cs typeface="Liberation Mono"/>
              </a:rPr>
              <a:t>button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facc15"/>
                </a:solidFill>
                <a:latin typeface="Liberation Mono"/>
                <a:cs typeface="Liberation Mono"/>
              </a:rPr>
              <a:t>setOnClickListener</a:t>
            </a:r>
            <a:r>
              <a:rPr dirty="0" sz="1350" spc="469">
                <a:solidFill>
                  <a:srgbClr val="facc15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{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06053" y="3134180"/>
            <a:ext cx="66954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ff7f00"/>
                </a:solidFill>
                <a:latin typeface="DejaVu Sans"/>
                <a:cs typeface="DejaVu Sans"/>
              </a:rPr>
              <a:t>kiện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40623" y="3180600"/>
            <a:ext cx="527052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084fc"/>
                </a:solidFill>
                <a:latin typeface="Liberation Mono"/>
                <a:cs typeface="Liberation Mono"/>
              </a:rPr>
              <a:t>Toast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facc15"/>
                </a:solidFill>
                <a:latin typeface="Liberation Mono"/>
                <a:cs typeface="Liberation Mono"/>
              </a:rPr>
              <a:t>makeText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this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35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4ade80"/>
                </a:solidFill>
                <a:latin typeface="Liberation Mono"/>
                <a:cs typeface="Liberation Mono"/>
              </a:rPr>
              <a:t>"Hello</a:t>
            </a:r>
            <a:r>
              <a:rPr dirty="0" sz="1350">
                <a:solidFill>
                  <a:srgbClr val="4ade8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4ade80"/>
                </a:solidFill>
                <a:latin typeface="Liberation Mono"/>
                <a:cs typeface="Liberation Mono"/>
              </a:rPr>
              <a:t>Toast!"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  <a:r>
              <a:rPr dirty="0" sz="135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c084fc"/>
                </a:solidFill>
                <a:latin typeface="Liberation Mono"/>
                <a:cs typeface="Liberation Mono"/>
              </a:rPr>
              <a:t>Toast</a:t>
            </a: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f87171"/>
                </a:solidFill>
                <a:latin typeface="Liberation Mono"/>
                <a:cs typeface="Liberation Mono"/>
              </a:rPr>
              <a:t>LENGTH_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31197" y="3437775"/>
            <a:ext cx="254829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ffff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0856" y="3736519"/>
            <a:ext cx="178885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25526" y="3736519"/>
            <a:ext cx="216356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`setOnClickListener`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80246" y="7383085"/>
            <a:ext cx="513597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500" spc="-4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chìa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khóa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80246" y="7678360"/>
            <a:ext cx="121837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sống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737126" y="8298994"/>
            <a:ext cx="41805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Reference: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GeeksforGeeks: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Event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Handling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in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419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94022" y="333300"/>
            <a:ext cx="1035619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hành: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7f00"/>
                </a:solidFill>
                <a:latin typeface="DejaVu Sans"/>
                <a:cs typeface="DejaVu Sans"/>
              </a:rPr>
              <a:t>"Hello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ff7f00"/>
                </a:solidFill>
                <a:latin typeface="DejaVu Sans"/>
                <a:cs typeface="DejaVu Sans"/>
              </a:rPr>
              <a:t>Name"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24485" y="1001088"/>
            <a:ext cx="389541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cơ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076" y="1809204"/>
            <a:ext cx="4171936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XML: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69632" y="1847304"/>
            <a:ext cx="425005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Code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Kotlin: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9189" y="2441627"/>
            <a:ext cx="180806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Lấy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liệu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38">
                <a:solidFill>
                  <a:srgbClr val="e0e0e0"/>
                </a:solidFill>
                <a:latin typeface="DejaVu Sans"/>
                <a:cs typeface="DejaVu Sans"/>
              </a:rPr>
              <a:t>EditText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3633" y="2698802"/>
            <a:ext cx="2268169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tên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Đặt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chào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mừng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59189" y="2822627"/>
            <a:ext cx="212396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lời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chào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qua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51">
                <a:solidFill>
                  <a:srgbClr val="e0e0e0"/>
                </a:solidFill>
                <a:latin typeface="DejaVu Sans"/>
                <a:cs typeface="DejaVu Sans"/>
              </a:rPr>
              <a:t>Toast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60640" y="3260023"/>
            <a:ext cx="493148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7">
                <a:solidFill>
                  <a:srgbClr val="d1d5db"/>
                </a:solidFill>
                <a:latin typeface="DejaVu Sans"/>
                <a:cs typeface="DejaVu Sans"/>
              </a:rPr>
              <a:t>Kotlin</a:t>
            </a:r>
            <a:r>
              <a:rPr dirty="0" sz="135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5084" y="3517198"/>
            <a:ext cx="447253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XML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bố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cục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26732" y="4060877"/>
            <a:ext cx="4480105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"Sự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kiện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là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(như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chạm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nút)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9ca3af"/>
                </a:solidFill>
                <a:latin typeface="DejaVu Sans"/>
                <a:cs typeface="DejaVu Sans"/>
              </a:rPr>
              <a:t>mà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dụng."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1176" y="4318052"/>
            <a:ext cx="4827558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"Layouts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tạo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giao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diện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thích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ứng,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nhiều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9ca3af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hình."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5976" y="7678114"/>
            <a:ext cx="500707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Quy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'Hello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Name'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50862" y="8213022"/>
            <a:ext cx="222978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(XML)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80434" y="8213022"/>
            <a:ext cx="2228594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Lắng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49">
                <a:solidFill>
                  <a:srgbClr val="d1d5db"/>
                </a:solidFill>
                <a:latin typeface="DejaVu Sans"/>
                <a:cs typeface="DejaVu Sans"/>
              </a:rPr>
              <a:t>Toast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50862" y="8555922"/>
            <a:ext cx="265069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chiếu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7">
                <a:solidFill>
                  <a:srgbClr val="d1d5db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748140" y="9167032"/>
            <a:ext cx="442571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e0e0e0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CloudDevs,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Medium,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GeeksforGeeks,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419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94022" y="333300"/>
            <a:ext cx="1035619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hành: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7f00"/>
                </a:solidFill>
                <a:latin typeface="DejaVu Sans"/>
                <a:cs typeface="DejaVu Sans"/>
              </a:rPr>
              <a:t>"Hello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ff7f00"/>
                </a:solidFill>
                <a:latin typeface="DejaVu Sans"/>
                <a:cs typeface="DejaVu Sans"/>
              </a:rPr>
              <a:t>Name"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24485" y="1001088"/>
            <a:ext cx="389541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cơ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076" y="1809204"/>
            <a:ext cx="4171936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trúc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XML: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69632" y="1847304"/>
            <a:ext cx="425005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Code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Kotlin: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9189" y="2441627"/>
            <a:ext cx="180806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Lấy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liệu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38">
                <a:solidFill>
                  <a:srgbClr val="e0e0e0"/>
                </a:solidFill>
                <a:latin typeface="DejaVu Sans"/>
                <a:cs typeface="DejaVu Sans"/>
              </a:rPr>
              <a:t>EditText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3633" y="2698802"/>
            <a:ext cx="2268169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nhập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tên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Đặt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chào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mừng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59189" y="2822627"/>
            <a:ext cx="212396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lời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chào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qua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51">
                <a:solidFill>
                  <a:srgbClr val="e0e0e0"/>
                </a:solidFill>
                <a:latin typeface="DejaVu Sans"/>
                <a:cs typeface="DejaVu Sans"/>
              </a:rPr>
              <a:t>Toast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60640" y="3260023"/>
            <a:ext cx="493148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7">
                <a:solidFill>
                  <a:srgbClr val="d1d5db"/>
                </a:solidFill>
                <a:latin typeface="DejaVu Sans"/>
                <a:cs typeface="DejaVu Sans"/>
              </a:rPr>
              <a:t>Kotlin</a:t>
            </a:r>
            <a:r>
              <a:rPr dirty="0" sz="135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5084" y="3517198"/>
            <a:ext cx="447253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XML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bố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cục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26732" y="4060877"/>
            <a:ext cx="4480105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"Sự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kiện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là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(như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chạm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nút)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9ca3af"/>
                </a:solidFill>
                <a:latin typeface="DejaVu Sans"/>
                <a:cs typeface="DejaVu Sans"/>
              </a:rPr>
              <a:t>mà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dụng."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1176" y="4318052"/>
            <a:ext cx="4827558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"Layouts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tạo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giao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diện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thích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ứng,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nhiều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9ca3af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hình."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5976" y="7678114"/>
            <a:ext cx="500707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Quy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'Hello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Name'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50862" y="8213022"/>
            <a:ext cx="222978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(XML)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80434" y="8213022"/>
            <a:ext cx="2228594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Lắng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logic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49">
                <a:solidFill>
                  <a:srgbClr val="d1d5db"/>
                </a:solidFill>
                <a:latin typeface="DejaVu Sans"/>
                <a:cs typeface="DejaVu Sans"/>
              </a:rPr>
              <a:t>Toast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50862" y="8555922"/>
            <a:ext cx="265069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chiếu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7">
                <a:solidFill>
                  <a:srgbClr val="d1d5db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748140" y="9167032"/>
            <a:ext cx="442571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Scaler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 spc="-20">
                <a:solidFill>
                  <a:srgbClr val="e0e0e0"/>
                </a:solidFill>
                <a:latin typeface="DejaVu Sans"/>
                <a:cs typeface="DejaVu Sans"/>
              </a:rPr>
              <a:t>Topics,</a:t>
            </a:r>
            <a:r>
              <a:rPr dirty="0" sz="10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CloudDevs,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Medium,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GeeksforGeeks,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Adapty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179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80382" y="308667"/>
            <a:ext cx="4783639" cy="114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8002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134" b="1">
                <a:solidFill>
                  <a:srgbClr val="e0e0e0"/>
                </a:solidFill>
                <a:latin typeface="DejaVu Sans"/>
                <a:cs typeface="DejaVu Sans"/>
              </a:rPr>
              <a:t>dp</a:t>
            </a:r>
            <a:r>
              <a:rPr dirty="0" sz="5050" spc="-129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spc="-133" b="1">
                <a:solidFill>
                  <a:srgbClr val="e0e0e0"/>
                </a:solidFill>
                <a:latin typeface="DejaVu Sans"/>
                <a:cs typeface="DejaVu Sans"/>
              </a:rPr>
              <a:t>vs</a:t>
            </a:r>
            <a:r>
              <a:rPr dirty="0" sz="5050" spc="-127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spc="-133" b="1">
                <a:solidFill>
                  <a:srgbClr val="ff7f00"/>
                </a:solidFill>
                <a:latin typeface="DejaVu Sans"/>
                <a:cs typeface="DejaVu Sans"/>
              </a:rPr>
              <a:t>sp</a:t>
            </a:r>
          </a:p>
          <a:p>
            <a:pPr marL="0" marR="0">
              <a:lnSpc>
                <a:spcPts val="2346"/>
              </a:lnSpc>
              <a:spcBef>
                <a:spcPts val="465"/>
              </a:spcBef>
              <a:spcAft>
                <a:spcPts val="0"/>
              </a:spcAft>
            </a:pP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Density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vs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Scale-Independent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000" spc="-14">
                <a:solidFill>
                  <a:srgbClr val="9ca3af"/>
                </a:solidFill>
                <a:latin typeface="DejaVu Sans"/>
                <a:cs typeface="DejaVu Sans"/>
              </a:rPr>
              <a:t>Pixels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2465" y="3160611"/>
            <a:ext cx="467177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Density-Independent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Pixel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(dp)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77210" y="3160611"/>
            <a:ext cx="431341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Scale-Independent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Pixel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(sp)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9060" y="3707309"/>
            <a:ext cx="149196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44617" y="3707309"/>
            <a:ext cx="165044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28">
                <a:solidFill>
                  <a:srgbClr val="e5e7eb"/>
                </a:solidFill>
                <a:latin typeface="DejaVu Sans"/>
                <a:cs typeface="DejaVu Sans"/>
              </a:rPr>
              <a:t>Font</a:t>
            </a:r>
            <a:r>
              <a:rPr dirty="0" sz="1200" spc="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Chữ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9060" y="4135934"/>
            <a:ext cx="190610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5e7eb"/>
                </a:solidFill>
                <a:latin typeface="DejaVu Sans"/>
                <a:cs typeface="DejaVu Sans"/>
              </a:rPr>
              <a:t>Độc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lập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5e7eb"/>
                </a:solidFill>
                <a:latin typeface="DejaVu Sans"/>
                <a:cs typeface="DejaVu Sans"/>
              </a:rPr>
              <a:t>Mật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độ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thị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44617" y="4135934"/>
            <a:ext cx="18803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5e7eb"/>
                </a:solidFill>
                <a:latin typeface="DejaVu Sans"/>
                <a:cs typeface="DejaVu Sans"/>
              </a:rPr>
              <a:t>Độc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lập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Tỷ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lệ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87">
                <a:solidFill>
                  <a:srgbClr val="e5e7eb"/>
                </a:solidFill>
                <a:latin typeface="DejaVu Sans"/>
                <a:cs typeface="DejaVu Sans"/>
              </a:rPr>
              <a:t>Tù</a:t>
            </a:r>
            <a:r>
              <a:rPr dirty="0" sz="1200" spc="-397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y</a:t>
            </a:r>
            <a:r>
              <a:rPr dirty="0" sz="1200" spc="-2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chỉnh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3871" y="4573329"/>
            <a:ext cx="502889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</a:p>
          <a:p>
            <a:pPr marL="1735782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bị.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31185" y="4573329"/>
            <a:ext cx="500561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đọc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cài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đặt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font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1917948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5906" y="6562545"/>
            <a:ext cx="6040733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e5e7eb"/>
                </a:solidFill>
                <a:latin typeface="DejaVu Sans"/>
                <a:cs typeface="DejaVu Sans"/>
              </a:rPr>
              <a:t>Cùng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nhau,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dp</a:t>
            </a:r>
            <a:r>
              <a:rPr dirty="0" sz="1700" spc="109" b="1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sp</a:t>
            </a:r>
            <a:r>
              <a:rPr dirty="0" sz="1700" spc="107" b="1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giúp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hiển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thị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đồng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nhất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thích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e5e7eb"/>
                </a:solidFill>
                <a:latin typeface="DejaVu Sans"/>
                <a:cs typeface="DejaVu Sans"/>
              </a:rPr>
              <a:t>trên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màn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hình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có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độ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phân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giải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nhau.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179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80382" y="308667"/>
            <a:ext cx="4783639" cy="1140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8002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134" b="1">
                <a:solidFill>
                  <a:srgbClr val="e0e0e0"/>
                </a:solidFill>
                <a:latin typeface="DejaVu Sans"/>
                <a:cs typeface="DejaVu Sans"/>
              </a:rPr>
              <a:t>dp</a:t>
            </a:r>
            <a:r>
              <a:rPr dirty="0" sz="5050" spc="-129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spc="-133" b="1">
                <a:solidFill>
                  <a:srgbClr val="e0e0e0"/>
                </a:solidFill>
                <a:latin typeface="DejaVu Sans"/>
                <a:cs typeface="DejaVu Sans"/>
              </a:rPr>
              <a:t>vs</a:t>
            </a:r>
            <a:r>
              <a:rPr dirty="0" sz="5050" spc="-127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spc="-133" b="1">
                <a:solidFill>
                  <a:srgbClr val="ff7f00"/>
                </a:solidFill>
                <a:latin typeface="DejaVu Sans"/>
                <a:cs typeface="DejaVu Sans"/>
              </a:rPr>
              <a:t>sp</a:t>
            </a:r>
          </a:p>
          <a:p>
            <a:pPr marL="0" marR="0">
              <a:lnSpc>
                <a:spcPts val="2346"/>
              </a:lnSpc>
              <a:spcBef>
                <a:spcPts val="465"/>
              </a:spcBef>
              <a:spcAft>
                <a:spcPts val="0"/>
              </a:spcAft>
            </a:pP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Density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vs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Scale-Independent</a:t>
            </a:r>
            <a:r>
              <a:rPr dirty="0" sz="2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2000" spc="-14">
                <a:solidFill>
                  <a:srgbClr val="9ca3af"/>
                </a:solidFill>
                <a:latin typeface="DejaVu Sans"/>
                <a:cs typeface="DejaVu Sans"/>
              </a:rPr>
              <a:t>Pixels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2465" y="3160611"/>
            <a:ext cx="467177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Density-Independent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Pixel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(dp)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77210" y="3160611"/>
            <a:ext cx="431341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Scale-Independent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Pixel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(sp)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9060" y="3707309"/>
            <a:ext cx="149196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44617" y="3707309"/>
            <a:ext cx="165044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Kích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28">
                <a:solidFill>
                  <a:srgbClr val="e5e7eb"/>
                </a:solidFill>
                <a:latin typeface="DejaVu Sans"/>
                <a:cs typeface="DejaVu Sans"/>
              </a:rPr>
              <a:t>Font</a:t>
            </a:r>
            <a:r>
              <a:rPr dirty="0" sz="1200" spc="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Chữ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9060" y="4135934"/>
            <a:ext cx="190610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5e7eb"/>
                </a:solidFill>
                <a:latin typeface="DejaVu Sans"/>
                <a:cs typeface="DejaVu Sans"/>
              </a:rPr>
              <a:t>Độc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lập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5e7eb"/>
                </a:solidFill>
                <a:latin typeface="DejaVu Sans"/>
                <a:cs typeface="DejaVu Sans"/>
              </a:rPr>
              <a:t>Mật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độ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thị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44617" y="4135934"/>
            <a:ext cx="18803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5e7eb"/>
                </a:solidFill>
                <a:latin typeface="DejaVu Sans"/>
                <a:cs typeface="DejaVu Sans"/>
              </a:rPr>
              <a:t>Độc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lập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Tỷ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lệ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87">
                <a:solidFill>
                  <a:srgbClr val="e5e7eb"/>
                </a:solidFill>
                <a:latin typeface="DejaVu Sans"/>
                <a:cs typeface="DejaVu Sans"/>
              </a:rPr>
              <a:t>Tù</a:t>
            </a:r>
            <a:r>
              <a:rPr dirty="0" sz="1200" spc="-397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y</a:t>
            </a:r>
            <a:r>
              <a:rPr dirty="0" sz="1200" spc="-2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chỉnh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3871" y="4573329"/>
            <a:ext cx="502889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</a:p>
          <a:p>
            <a:pPr marL="1735782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bị.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31185" y="4573329"/>
            <a:ext cx="500561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đọc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cài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đặt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font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1917948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5906" y="6562545"/>
            <a:ext cx="6040733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e5e7eb"/>
                </a:solidFill>
                <a:latin typeface="DejaVu Sans"/>
                <a:cs typeface="DejaVu Sans"/>
              </a:rPr>
              <a:t>Cùng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nhau,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dp</a:t>
            </a:r>
            <a:r>
              <a:rPr dirty="0" sz="1700" spc="109" b="1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sp</a:t>
            </a:r>
            <a:r>
              <a:rPr dirty="0" sz="1700" spc="107" b="1">
                <a:solidFill>
                  <a:srgbClr val="ff7f00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giúp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hiển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thị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đồng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nhất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thích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e5e7eb"/>
                </a:solidFill>
                <a:latin typeface="DejaVu Sans"/>
                <a:cs typeface="DejaVu Sans"/>
              </a:rPr>
              <a:t>trên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màn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hình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có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độ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phân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giải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nhau.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9058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734633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Lỗi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thường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5e7eb"/>
                </a:solidFill>
                <a:latin typeface="DejaVu Sans"/>
                <a:cs typeface="DejaVu Sans"/>
              </a:rPr>
              <a:t>gặp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97316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f97316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97316"/>
                </a:solidFill>
                <a:latin typeface="DejaVu Sans"/>
                <a:cs typeface="DejaVu Sans"/>
              </a:rPr>
              <a:t>Bài</a:t>
            </a:r>
            <a:r>
              <a:rPr dirty="0" sz="4050" b="1">
                <a:solidFill>
                  <a:srgbClr val="f97316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97316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150820"/>
            <a:ext cx="296553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e5e7eb"/>
                </a:solidFill>
                <a:latin typeface="DejaVu Sans"/>
                <a:cs typeface="DejaVu Sans"/>
              </a:rPr>
              <a:t>Lỗi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5e7eb"/>
                </a:solidFill>
                <a:latin typeface="DejaVu Sans"/>
                <a:cs typeface="DejaVu Sans"/>
              </a:rPr>
              <a:t>Thường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5e7eb"/>
                </a:solidFill>
                <a:latin typeface="DejaVu Sans"/>
                <a:cs typeface="DejaVu Sans"/>
              </a:rPr>
              <a:t>Gặp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150820"/>
            <a:ext cx="352070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5e7eb"/>
                </a:solidFill>
                <a:latin typeface="DejaVu Sans"/>
                <a:cs typeface="DejaVu Sans"/>
              </a:rPr>
              <a:t>Bài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e5e7eb"/>
                </a:solidFill>
                <a:latin typeface="DejaVu Sans"/>
                <a:cs typeface="DejaVu Sans"/>
              </a:rPr>
              <a:t>Tập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5e7eb"/>
                </a:solidFill>
                <a:latin typeface="DejaVu Sans"/>
                <a:cs typeface="DejaVu Sans"/>
              </a:rPr>
              <a:t>Thực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5e7eb"/>
                </a:solidFill>
                <a:latin typeface="DejaVu Sans"/>
                <a:cs typeface="DejaVu Sans"/>
              </a:rPr>
              <a:t>Hành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213" y="1897454"/>
            <a:ext cx="318738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Quá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3f4f6"/>
                </a:solidFill>
                <a:latin typeface="DejaVu Sans"/>
                <a:cs typeface="DejaVu Sans"/>
              </a:rPr>
              <a:t>nhiều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3f4f6"/>
                </a:solidFill>
                <a:latin typeface="DejaVu Sans"/>
                <a:cs typeface="DejaVu Sans"/>
              </a:rPr>
              <a:t>Nested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f3f4f6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31532" y="1983179"/>
            <a:ext cx="4360070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Tạo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màn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hình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"Hello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Name"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củng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cố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kiến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thức.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1213" y="2241863"/>
            <a:ext cx="4295693" cy="4844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chậm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suất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render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UI,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khiến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app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lag.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36419" y="2755458"/>
            <a:ext cx="4803426" cy="6902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gồm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28">
                <a:solidFill>
                  <a:srgbClr val="d1d5db"/>
                </a:solidFill>
                <a:latin typeface="DejaVu Sans"/>
                <a:cs typeface="DejaVu Sans"/>
              </a:rPr>
              <a:t>TextView,</a:t>
            </a:r>
            <a:r>
              <a:rPr dirty="0" sz="15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30">
                <a:solidFill>
                  <a:srgbClr val="d1d5db"/>
                </a:solidFill>
                <a:latin typeface="DejaVu Sans"/>
                <a:cs typeface="DejaVu Sans"/>
              </a:rPr>
              <a:t>EditText</a:t>
            </a:r>
            <a:r>
              <a:rPr dirty="0" sz="15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Button.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Nhập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tên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30">
                <a:solidFill>
                  <a:srgbClr val="d1d5db"/>
                </a:solidFill>
                <a:latin typeface="DejaVu Sans"/>
                <a:cs typeface="DejaVu Sans"/>
              </a:rPr>
              <a:t>EditText</a:t>
            </a:r>
            <a:r>
              <a:rPr dirty="0" sz="15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nhấn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Button.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47774" y="2881547"/>
            <a:ext cx="76118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Hiệu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55031" y="2881547"/>
            <a:ext cx="55551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Lag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1213" y="3602429"/>
            <a:ext cx="276088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Quên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Đặt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ID</a:t>
            </a:r>
            <a:r>
              <a:rPr dirty="0" sz="1700" spc="-17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3f4f6"/>
                </a:solidFill>
                <a:latin typeface="DejaVu Sans"/>
                <a:cs typeface="DejaVu Sans"/>
              </a:rPr>
              <a:t>cho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f3f4f6"/>
                </a:solidFill>
                <a:latin typeface="DejaVu Sans"/>
                <a:cs typeface="DejaVu Sans"/>
              </a:rPr>
              <a:t>View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36419" y="3612708"/>
            <a:ext cx="409162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6">
                <a:solidFill>
                  <a:srgbClr val="d1d5db"/>
                </a:solidFill>
                <a:latin typeface="DejaVu Sans"/>
                <a:cs typeface="DejaVu Sans"/>
              </a:rPr>
              <a:t>Toast</a:t>
            </a:r>
            <a:r>
              <a:rPr dirty="0" sz="1500" spc="5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dung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"Hello,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25">
                <a:solidFill>
                  <a:srgbClr val="d1d5db"/>
                </a:solidFill>
                <a:latin typeface="DejaVu Sans"/>
                <a:cs typeface="DejaVu Sans"/>
              </a:rPr>
              <a:t>[Tên]".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1213" y="3946838"/>
            <a:ext cx="440132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chiếu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36419" y="4041333"/>
            <a:ext cx="1021912" cy="852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sánh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986116" y="4041333"/>
            <a:ext cx="37334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d1d5db"/>
                </a:solidFill>
                <a:latin typeface="DejaVu Sans"/>
                <a:cs typeface="DejaVu Sans"/>
              </a:rPr>
              <a:t>LinearLayout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 b="1">
                <a:solidFill>
                  <a:srgbClr val="d1d5db"/>
                </a:solidFill>
                <a:latin typeface="DejaVu Sans"/>
                <a:cs typeface="DejaVu Sans"/>
              </a:rPr>
              <a:t>ConstraintLayout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47774" y="4586522"/>
            <a:ext cx="90243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Tham</a:t>
            </a: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chiếu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296268" y="4586522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50532" y="5128693"/>
            <a:ext cx="112428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LinearLayout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963196" y="5128693"/>
            <a:ext cx="143443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585869" y="5128693"/>
            <a:ext cx="56289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51">
                <a:solidFill>
                  <a:srgbClr val="d1d5db"/>
                </a:solidFill>
                <a:latin typeface="DejaVu Sans"/>
                <a:cs typeface="DejaVu Sans"/>
              </a:rPr>
              <a:t>Toast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41213" y="5307404"/>
            <a:ext cx="406931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Không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66" b="1">
                <a:solidFill>
                  <a:srgbClr val="f3f4f6"/>
                </a:solidFill>
                <a:latin typeface="DejaVu Sans"/>
                <a:cs typeface="DejaVu Sans"/>
              </a:rPr>
              <a:t>Test</a:t>
            </a:r>
            <a:r>
              <a:rPr dirty="0" sz="1700" spc="49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56" b="1">
                <a:solidFill>
                  <a:srgbClr val="f3f4f6"/>
                </a:solidFill>
                <a:latin typeface="DejaVu Sans"/>
                <a:cs typeface="DejaVu Sans"/>
              </a:rPr>
              <a:t>Trên</a:t>
            </a:r>
            <a:r>
              <a:rPr dirty="0" sz="1700" spc="34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3f4f6"/>
                </a:solidFill>
                <a:latin typeface="DejaVu Sans"/>
                <a:cs typeface="DejaVu Sans"/>
              </a:rPr>
              <a:t>Nhiều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3f4f6"/>
                </a:solidFill>
                <a:latin typeface="DejaVu Sans"/>
                <a:cs typeface="DejaVu Sans"/>
              </a:rPr>
              <a:t>Màn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3f4f6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41213" y="5651813"/>
            <a:ext cx="452267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vỡ,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lệch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47774" y="6291497"/>
            <a:ext cx="88430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Responsive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72307" y="6291497"/>
            <a:ext cx="91143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thích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03684" y="8127558"/>
            <a:ext cx="1075976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Layouts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hồi,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thích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bị.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9058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734633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Lỗi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thường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5e7eb"/>
                </a:solidFill>
                <a:latin typeface="DejaVu Sans"/>
                <a:cs typeface="DejaVu Sans"/>
              </a:rPr>
              <a:t>gặp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97316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f97316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97316"/>
                </a:solidFill>
                <a:latin typeface="DejaVu Sans"/>
                <a:cs typeface="DejaVu Sans"/>
              </a:rPr>
              <a:t>Bài</a:t>
            </a:r>
            <a:r>
              <a:rPr dirty="0" sz="4050" b="1">
                <a:solidFill>
                  <a:srgbClr val="f97316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97316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150820"/>
            <a:ext cx="296553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e5e7eb"/>
                </a:solidFill>
                <a:latin typeface="DejaVu Sans"/>
                <a:cs typeface="DejaVu Sans"/>
              </a:rPr>
              <a:t>Lỗi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5e7eb"/>
                </a:solidFill>
                <a:latin typeface="DejaVu Sans"/>
                <a:cs typeface="DejaVu Sans"/>
              </a:rPr>
              <a:t>Thường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5e7eb"/>
                </a:solidFill>
                <a:latin typeface="DejaVu Sans"/>
                <a:cs typeface="DejaVu Sans"/>
              </a:rPr>
              <a:t>Gặp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150820"/>
            <a:ext cx="352070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5e7eb"/>
                </a:solidFill>
                <a:latin typeface="DejaVu Sans"/>
                <a:cs typeface="DejaVu Sans"/>
              </a:rPr>
              <a:t>Bài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e5e7eb"/>
                </a:solidFill>
                <a:latin typeface="DejaVu Sans"/>
                <a:cs typeface="DejaVu Sans"/>
              </a:rPr>
              <a:t>Tập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5e7eb"/>
                </a:solidFill>
                <a:latin typeface="DejaVu Sans"/>
                <a:cs typeface="DejaVu Sans"/>
              </a:rPr>
              <a:t>Thực</a:t>
            </a:r>
            <a:r>
              <a:rPr dirty="0" sz="2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5e7eb"/>
                </a:solidFill>
                <a:latin typeface="DejaVu Sans"/>
                <a:cs typeface="DejaVu Sans"/>
              </a:rPr>
              <a:t>Hành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213" y="1897454"/>
            <a:ext cx="318738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Quá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3f4f6"/>
                </a:solidFill>
                <a:latin typeface="DejaVu Sans"/>
                <a:cs typeface="DejaVu Sans"/>
              </a:rPr>
              <a:t>nhiều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3f4f6"/>
                </a:solidFill>
                <a:latin typeface="DejaVu Sans"/>
                <a:cs typeface="DejaVu Sans"/>
              </a:rPr>
              <a:t>Nested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f3f4f6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31532" y="1983179"/>
            <a:ext cx="4360070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Tạo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màn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hình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"Hello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Name"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củng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cố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kiến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thức.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1213" y="2241863"/>
            <a:ext cx="4295693" cy="4844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chậm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suất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render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UI,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khiến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app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lag.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36419" y="2755458"/>
            <a:ext cx="4803426" cy="6902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gồm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28">
                <a:solidFill>
                  <a:srgbClr val="d1d5db"/>
                </a:solidFill>
                <a:latin typeface="DejaVu Sans"/>
                <a:cs typeface="DejaVu Sans"/>
              </a:rPr>
              <a:t>TextView,</a:t>
            </a:r>
            <a:r>
              <a:rPr dirty="0" sz="15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30">
                <a:solidFill>
                  <a:srgbClr val="d1d5db"/>
                </a:solidFill>
                <a:latin typeface="DejaVu Sans"/>
                <a:cs typeface="DejaVu Sans"/>
              </a:rPr>
              <a:t>EditText</a:t>
            </a:r>
            <a:r>
              <a:rPr dirty="0" sz="15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Button.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Nhập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tên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30">
                <a:solidFill>
                  <a:srgbClr val="d1d5db"/>
                </a:solidFill>
                <a:latin typeface="DejaVu Sans"/>
                <a:cs typeface="DejaVu Sans"/>
              </a:rPr>
              <a:t>EditText</a:t>
            </a:r>
            <a:r>
              <a:rPr dirty="0" sz="15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nhấn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Button.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47774" y="2881547"/>
            <a:ext cx="76118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Hiệu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3c5fd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55031" y="2881547"/>
            <a:ext cx="55551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ca5a5"/>
                </a:solidFill>
                <a:latin typeface="DejaVu Sans"/>
                <a:cs typeface="DejaVu Sans"/>
              </a:rPr>
              <a:t>Lag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1213" y="3602429"/>
            <a:ext cx="276088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Quên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Đặt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ID</a:t>
            </a:r>
            <a:r>
              <a:rPr dirty="0" sz="1700" spc="-17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3f4f6"/>
                </a:solidFill>
                <a:latin typeface="DejaVu Sans"/>
                <a:cs typeface="DejaVu Sans"/>
              </a:rPr>
              <a:t>cho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f3f4f6"/>
                </a:solidFill>
                <a:latin typeface="DejaVu Sans"/>
                <a:cs typeface="DejaVu Sans"/>
              </a:rPr>
              <a:t>View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36419" y="3612708"/>
            <a:ext cx="409162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6">
                <a:solidFill>
                  <a:srgbClr val="d1d5db"/>
                </a:solidFill>
                <a:latin typeface="DejaVu Sans"/>
                <a:cs typeface="DejaVu Sans"/>
              </a:rPr>
              <a:t>Toast</a:t>
            </a:r>
            <a:r>
              <a:rPr dirty="0" sz="1500" spc="5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dung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"Hello,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25">
                <a:solidFill>
                  <a:srgbClr val="d1d5db"/>
                </a:solidFill>
                <a:latin typeface="DejaVu Sans"/>
                <a:cs typeface="DejaVu Sans"/>
              </a:rPr>
              <a:t>[Tên]".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1213" y="3946838"/>
            <a:ext cx="440132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chiếu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Kotlin.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36419" y="4041333"/>
            <a:ext cx="1021912" cy="852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sánh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986116" y="4041333"/>
            <a:ext cx="37334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d1d5db"/>
                </a:solidFill>
                <a:latin typeface="DejaVu Sans"/>
                <a:cs typeface="DejaVu Sans"/>
              </a:rPr>
              <a:t>LinearLayout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 b="1">
                <a:solidFill>
                  <a:srgbClr val="d1d5db"/>
                </a:solidFill>
                <a:latin typeface="DejaVu Sans"/>
                <a:cs typeface="DejaVu Sans"/>
              </a:rPr>
              <a:t>ConstraintLayout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47774" y="4586522"/>
            <a:ext cx="90243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Tham</a:t>
            </a: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8b4fe"/>
                </a:solidFill>
                <a:latin typeface="DejaVu Sans"/>
                <a:cs typeface="DejaVu Sans"/>
              </a:rPr>
              <a:t>chiếu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296268" y="4586522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86efac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50532" y="5128693"/>
            <a:ext cx="112428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LinearLayout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963196" y="5128693"/>
            <a:ext cx="143443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585869" y="5128693"/>
            <a:ext cx="56289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51">
                <a:solidFill>
                  <a:srgbClr val="d1d5db"/>
                </a:solidFill>
                <a:latin typeface="DejaVu Sans"/>
                <a:cs typeface="DejaVu Sans"/>
              </a:rPr>
              <a:t>Toast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41213" y="5307404"/>
            <a:ext cx="406931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3f4f6"/>
                </a:solidFill>
                <a:latin typeface="DejaVu Sans"/>
                <a:cs typeface="DejaVu Sans"/>
              </a:rPr>
              <a:t>Không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66" b="1">
                <a:solidFill>
                  <a:srgbClr val="f3f4f6"/>
                </a:solidFill>
                <a:latin typeface="DejaVu Sans"/>
                <a:cs typeface="DejaVu Sans"/>
              </a:rPr>
              <a:t>Test</a:t>
            </a:r>
            <a:r>
              <a:rPr dirty="0" sz="1700" spc="49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56" b="1">
                <a:solidFill>
                  <a:srgbClr val="f3f4f6"/>
                </a:solidFill>
                <a:latin typeface="DejaVu Sans"/>
                <a:cs typeface="DejaVu Sans"/>
              </a:rPr>
              <a:t>Trên</a:t>
            </a:r>
            <a:r>
              <a:rPr dirty="0" sz="1700" spc="34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3f4f6"/>
                </a:solidFill>
                <a:latin typeface="DejaVu Sans"/>
                <a:cs typeface="DejaVu Sans"/>
              </a:rPr>
              <a:t>Nhiều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3f4f6"/>
                </a:solidFill>
                <a:latin typeface="DejaVu Sans"/>
                <a:cs typeface="DejaVu Sans"/>
              </a:rPr>
              <a:t>Màn</a:t>
            </a:r>
            <a:r>
              <a:rPr dirty="0" sz="17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3f4f6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41213" y="5651813"/>
            <a:ext cx="452267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vỡ,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lệch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47774" y="6291497"/>
            <a:ext cx="88430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de047"/>
                </a:solidFill>
                <a:latin typeface="DejaVu Sans"/>
                <a:cs typeface="DejaVu Sans"/>
              </a:rPr>
              <a:t>Responsive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72307" y="6291497"/>
            <a:ext cx="91143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a5b4fc"/>
                </a:solidFill>
                <a:latin typeface="DejaVu Sans"/>
                <a:cs typeface="DejaVu Sans"/>
              </a:rPr>
              <a:t>thích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03684" y="8127558"/>
            <a:ext cx="1075976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Layouts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hồi,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thích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bị.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469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5906" y="332791"/>
            <a:ext cx="889262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ff7f00"/>
                </a:solidFill>
                <a:latin typeface="DejaVu Sans"/>
                <a:cs typeface="DejaVu Sans"/>
              </a:rPr>
              <a:t>Hướng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7f00"/>
                </a:solidFill>
                <a:latin typeface="DejaVu Sans"/>
                <a:cs typeface="DejaVu Sans"/>
              </a:rPr>
              <a:t>đi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tiếp</a:t>
            </a:r>
            <a:r>
              <a:rPr dirty="0" sz="4050" spc="-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7f00"/>
                </a:solidFill>
                <a:latin typeface="DejaVu Sans"/>
                <a:cs typeface="DejaVu Sans"/>
              </a:rPr>
              <a:t>theo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213" y="1343480"/>
            <a:ext cx="334579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1" b="1">
                <a:solidFill>
                  <a:srgbClr val="ffffff"/>
                </a:solidFill>
                <a:latin typeface="DejaVu Sans"/>
                <a:cs typeface="DejaVu Sans"/>
              </a:rPr>
              <a:t>Layout: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18039" y="1353760"/>
            <a:ext cx="33649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Đã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Học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213" y="1717219"/>
            <a:ext cx="5222319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tảng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yếu,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mọi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87294" y="1849814"/>
            <a:ext cx="235648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43">
                <a:solidFill>
                  <a:srgbClr val="e0e0e0"/>
                </a:solidFill>
                <a:latin typeface="DejaVu Sans"/>
                <a:cs typeface="DejaVu Sans"/>
              </a:rPr>
              <a:t>TextView:</a:t>
            </a:r>
            <a:r>
              <a:rPr dirty="0" sz="1350" spc="3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1213" y="2175173"/>
            <a:ext cx="311278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Adapty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87294" y="2326064"/>
            <a:ext cx="3198293" cy="7035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EditText:</a:t>
            </a:r>
            <a:r>
              <a:rPr dirty="0" sz="1350" spc="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đầu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dùng.</a:t>
            </a:r>
          </a:p>
          <a:p>
            <a:pPr marL="0" marR="0">
              <a:lnSpc>
                <a:spcPts val="1564"/>
              </a:lnSpc>
              <a:spcBef>
                <a:spcPts val="206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Button: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2887285"/>
            <a:ext cx="243163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Ba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Loại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Bố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Cục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4827" y="3298369"/>
            <a:ext cx="296123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LinearLayout: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Sắp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xếp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hàng/cột.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4827" y="3593644"/>
            <a:ext cx="3587637" cy="5072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RelativeLayout: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đối.</a:t>
            </a:r>
          </a:p>
          <a:p>
            <a:pPr marL="0" marR="0">
              <a:lnSpc>
                <a:spcPts val="1368"/>
              </a:lnSpc>
              <a:spcBef>
                <a:spcPts val="906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ConstraintLayout: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hoạt,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mạnh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mẽ.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18039" y="3735010"/>
            <a:ext cx="270638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lý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kiện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18039" y="4107994"/>
            <a:ext cx="4127324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thao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tác.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31310" y="4612819"/>
            <a:ext cx="287063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kiện: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18039" y="5251748"/>
            <a:ext cx="344508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GeeksforGeeks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Event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Handling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9352" y="5527973"/>
            <a:ext cx="9854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bae6fd"/>
                </a:solidFill>
                <a:latin typeface="DejaVu Sans"/>
                <a:cs typeface="DejaVu Sans"/>
              </a:rPr>
              <a:t>LinearLayout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67806" y="5527973"/>
            <a:ext cx="110958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9f6e4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11824" y="5527973"/>
            <a:ext cx="12512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c7d2fe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32556" y="6172655"/>
            <a:ext cx="4902000" cy="5095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56" b="1">
                <a:solidFill>
                  <a:srgbClr val="ff7f00"/>
                </a:solidFill>
                <a:latin typeface="DejaVu Sans"/>
                <a:cs typeface="DejaVu Sans"/>
              </a:rPr>
              <a:t>Tuần</a:t>
            </a:r>
            <a:r>
              <a:rPr dirty="0" sz="1700" spc="34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4: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Bước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Tiếp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Theo!</a:t>
            </a:r>
          </a:p>
          <a:p>
            <a:pPr marL="0" marR="0">
              <a:lnSpc>
                <a:spcPts val="1368"/>
              </a:lnSpc>
              <a:spcBef>
                <a:spcPts val="262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Khám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phá</a:t>
            </a:r>
            <a:r>
              <a:rPr dirty="0" sz="1200" spc="3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dba74"/>
                </a:solidFill>
                <a:latin typeface="Liberation Mono"/>
                <a:cs typeface="Liberation Mono"/>
              </a:rPr>
              <a:t>Activity</a:t>
            </a:r>
            <a:r>
              <a:rPr dirty="0" sz="1200" spc="409">
                <a:solidFill>
                  <a:srgbClr val="fdba74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200" spc="32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dba74"/>
                </a:solidFill>
                <a:latin typeface="Liberation Mono"/>
                <a:cs typeface="Liberation Mono"/>
              </a:rPr>
              <a:t>Intent</a:t>
            </a:r>
            <a:r>
              <a:rPr dirty="0" sz="1200" spc="409">
                <a:solidFill>
                  <a:srgbClr val="fdba74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luồng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00107" y="6317794"/>
            <a:ext cx="133265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Lộ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học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139933" y="6317794"/>
            <a:ext cx="84497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7">
                <a:solidFill>
                  <a:srgbClr val="e0e0e0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63184" y="6842423"/>
            <a:ext cx="431066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scaler.com,</a:t>
            </a:r>
            <a:r>
              <a:rPr dirty="0" sz="1000" spc="1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geeksforgeeks.org,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1">
                <a:solidFill>
                  <a:srgbClr val="6b7280"/>
                </a:solidFill>
                <a:latin typeface="DejaVu Sans"/>
                <a:cs typeface="DejaVu Sans"/>
              </a:rPr>
              <a:t>adapty.io,</a:t>
            </a:r>
            <a:r>
              <a:rPr dirty="0" sz="1000" spc="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clouddevs.com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469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5906" y="332791"/>
            <a:ext cx="889262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ff7f00"/>
                </a:solidFill>
                <a:latin typeface="DejaVu Sans"/>
                <a:cs typeface="DejaVu Sans"/>
              </a:rPr>
              <a:t>Hướng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7f00"/>
                </a:solidFill>
                <a:latin typeface="DejaVu Sans"/>
                <a:cs typeface="DejaVu Sans"/>
              </a:rPr>
              <a:t>đi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ff7f00"/>
                </a:solidFill>
                <a:latin typeface="DejaVu Sans"/>
                <a:cs typeface="DejaVu Sans"/>
              </a:rPr>
              <a:t>tiếp</a:t>
            </a:r>
            <a:r>
              <a:rPr dirty="0" sz="4050" spc="-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7f00"/>
                </a:solidFill>
                <a:latin typeface="DejaVu Sans"/>
                <a:cs typeface="DejaVu Sans"/>
              </a:rPr>
              <a:t>theo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213" y="1343480"/>
            <a:ext cx="334579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1" b="1">
                <a:solidFill>
                  <a:srgbClr val="ffffff"/>
                </a:solidFill>
                <a:latin typeface="DejaVu Sans"/>
                <a:cs typeface="DejaVu Sans"/>
              </a:rPr>
              <a:t>Layout: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Giao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18039" y="1353760"/>
            <a:ext cx="33649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bản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Đã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Học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1213" y="1717219"/>
            <a:ext cx="5222319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tảng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yếu,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sắp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xếp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mọi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kích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thước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87294" y="1849814"/>
            <a:ext cx="235648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43">
                <a:solidFill>
                  <a:srgbClr val="e0e0e0"/>
                </a:solidFill>
                <a:latin typeface="DejaVu Sans"/>
                <a:cs typeface="DejaVu Sans"/>
              </a:rPr>
              <a:t>TextView:</a:t>
            </a:r>
            <a:r>
              <a:rPr dirty="0" sz="1350" spc="3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1213" y="2175173"/>
            <a:ext cx="311278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Adapty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layouts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87294" y="2326064"/>
            <a:ext cx="3198293" cy="7035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EditText:</a:t>
            </a:r>
            <a:r>
              <a:rPr dirty="0" sz="1350" spc="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đầu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dùng.</a:t>
            </a:r>
          </a:p>
          <a:p>
            <a:pPr marL="0" marR="0">
              <a:lnSpc>
                <a:spcPts val="1564"/>
              </a:lnSpc>
              <a:spcBef>
                <a:spcPts val="206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Button: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2887285"/>
            <a:ext cx="243163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Ba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Loại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Bố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Cục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4827" y="3298369"/>
            <a:ext cx="296123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LinearLayout: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Sắp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xếp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hàng/cột.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4827" y="3593644"/>
            <a:ext cx="3587637" cy="5072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RelativeLayout: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vị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đối.</a:t>
            </a:r>
          </a:p>
          <a:p>
            <a:pPr marL="0" marR="0">
              <a:lnSpc>
                <a:spcPts val="1368"/>
              </a:lnSpc>
              <a:spcBef>
                <a:spcPts val="906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ConstraintLayout: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Bố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cục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hoạt,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mạnh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mẽ.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18039" y="3735010"/>
            <a:ext cx="270638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lý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Sự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kiện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18039" y="4107994"/>
            <a:ext cx="4127324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thao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tác.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31310" y="4612819"/>
            <a:ext cx="287063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kiện: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18039" y="5251748"/>
            <a:ext cx="344508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GeeksforGeeks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Event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Handling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9352" y="5527973"/>
            <a:ext cx="9854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bae6fd"/>
                </a:solidFill>
                <a:latin typeface="DejaVu Sans"/>
                <a:cs typeface="DejaVu Sans"/>
              </a:rPr>
              <a:t>LinearLayout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67806" y="5527973"/>
            <a:ext cx="110958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9f6e4"/>
                </a:solidFill>
                <a:latin typeface="DejaVu Sans"/>
                <a:cs typeface="DejaVu Sans"/>
              </a:rPr>
              <a:t>RelativeLayout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11824" y="5527973"/>
            <a:ext cx="12512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c7d2fe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32556" y="6172655"/>
            <a:ext cx="4902000" cy="5095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56" b="1">
                <a:solidFill>
                  <a:srgbClr val="ff7f00"/>
                </a:solidFill>
                <a:latin typeface="DejaVu Sans"/>
                <a:cs typeface="DejaVu Sans"/>
              </a:rPr>
              <a:t>Tuần</a:t>
            </a:r>
            <a:r>
              <a:rPr dirty="0" sz="1700" spc="34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4: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7f00"/>
                </a:solidFill>
                <a:latin typeface="DejaVu Sans"/>
                <a:cs typeface="DejaVu Sans"/>
              </a:rPr>
              <a:t>Bước</a:t>
            </a:r>
            <a:r>
              <a:rPr dirty="0" sz="170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7f00"/>
                </a:solidFill>
                <a:latin typeface="DejaVu Sans"/>
                <a:cs typeface="DejaVu Sans"/>
              </a:rPr>
              <a:t>Tiếp</a:t>
            </a:r>
            <a:r>
              <a:rPr dirty="0" sz="1700" spc="-10" b="1">
                <a:solidFill>
                  <a:srgbClr val="ff7f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7f00"/>
                </a:solidFill>
                <a:latin typeface="DejaVu Sans"/>
                <a:cs typeface="DejaVu Sans"/>
              </a:rPr>
              <a:t>Theo!</a:t>
            </a:r>
          </a:p>
          <a:p>
            <a:pPr marL="0" marR="0">
              <a:lnSpc>
                <a:spcPts val="1368"/>
              </a:lnSpc>
              <a:spcBef>
                <a:spcPts val="262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Khám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phá</a:t>
            </a:r>
            <a:r>
              <a:rPr dirty="0" sz="1200" spc="3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dba74"/>
                </a:solidFill>
                <a:latin typeface="Liberation Mono"/>
                <a:cs typeface="Liberation Mono"/>
              </a:rPr>
              <a:t>Activity</a:t>
            </a:r>
            <a:r>
              <a:rPr dirty="0" sz="1200" spc="409">
                <a:solidFill>
                  <a:srgbClr val="fdba74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200" spc="32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dba74"/>
                </a:solidFill>
                <a:latin typeface="Liberation Mono"/>
                <a:cs typeface="Liberation Mono"/>
              </a:rPr>
              <a:t>Intent</a:t>
            </a:r>
            <a:r>
              <a:rPr dirty="0" sz="1200" spc="409">
                <a:solidFill>
                  <a:srgbClr val="fdba74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luồng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00107" y="6317794"/>
            <a:ext cx="133265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Lộ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học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139933" y="6317794"/>
            <a:ext cx="84497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7">
                <a:solidFill>
                  <a:srgbClr val="e0e0e0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63184" y="6842423"/>
            <a:ext cx="431066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scaler.com,</a:t>
            </a:r>
            <a:r>
              <a:rPr dirty="0" sz="1000" spc="1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geeksforgeeks.org,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1">
                <a:solidFill>
                  <a:srgbClr val="6b7280"/>
                </a:solidFill>
                <a:latin typeface="DejaVu Sans"/>
                <a:cs typeface="DejaVu Sans"/>
              </a:rPr>
              <a:t>adapty.io,</a:t>
            </a:r>
            <a:r>
              <a:rPr dirty="0" sz="1000" spc="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clouddevs.com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2025-08-28T04:02:45+00:00</dcterms:modified>
</cp:coreProperties>
</file>