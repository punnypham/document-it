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4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6208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14326" y="458610"/>
            <a:ext cx="9315764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6050" b="1" dirty="0">
                <a:solidFill>
                  <a:srgbClr val="FFFFFF"/>
                </a:solidFill>
                <a:latin typeface="DejaVu Sans"/>
                <a:cs typeface="DejaVu Sans"/>
              </a:rPr>
              <a:t>Lập trình Android với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21137" y="1420635"/>
            <a:ext cx="2715845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6050" b="1" spc="-23" dirty="0">
                <a:solidFill>
                  <a:srgbClr val="FF980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75520" y="3303853"/>
            <a:ext cx="5904656" cy="885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52" dirty="0" err="1">
                <a:solidFill>
                  <a:srgbClr val="FFFFFF"/>
                </a:solidFill>
                <a:latin typeface="DejaVu Sans"/>
                <a:cs typeface="DejaVu Sans"/>
              </a:rPr>
              <a:t>GV</a:t>
            </a:r>
            <a:r>
              <a:rPr lang="en-US" sz="2800" spc="-52" dirty="0">
                <a:solidFill>
                  <a:srgbClr val="FFFFFF"/>
                </a:solidFill>
                <a:latin typeface="DejaVu Sans"/>
                <a:cs typeface="DejaVu Sans"/>
              </a:rPr>
              <a:t>: Thái Thị Thanh Thảo</a:t>
            </a:r>
          </a:p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endParaRPr lang="en-US" sz="2800" spc="-52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52" dirty="0">
                <a:solidFill>
                  <a:srgbClr val="FFFFFF"/>
                </a:solidFill>
                <a:latin typeface="DejaVu Sans"/>
                <a:cs typeface="DejaVu Sans"/>
              </a:rPr>
              <a:t>Email: </a:t>
            </a:r>
            <a:r>
              <a:rPr lang="en-US" sz="2800" spc="-52" dirty="0" err="1">
                <a:solidFill>
                  <a:srgbClr val="FFFFFF"/>
                </a:solidFill>
                <a:latin typeface="DejaVu Sans"/>
                <a:cs typeface="DejaVu Sans"/>
              </a:rPr>
              <a:t>thaottt1@huflit.edu.vn</a:t>
            </a:r>
            <a:endParaRPr sz="2800" spc="1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426920"/>
            <a:ext cx="1340590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-60" dirty="0">
                <a:solidFill>
                  <a:srgbClr val="FFFFFF"/>
                </a:solidFill>
                <a:latin typeface="DejaVu Sans"/>
                <a:cs typeface="DejaVu Sans"/>
              </a:rPr>
              <a:t>Tuần</a:t>
            </a:r>
            <a:r>
              <a:rPr sz="2500" b="1" spc="7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4326" y="458610"/>
            <a:ext cx="9315764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6050" b="1" dirty="0">
                <a:solidFill>
                  <a:srgbClr val="FFFFFF"/>
                </a:solidFill>
                <a:latin typeface="DejaVu Sans"/>
                <a:cs typeface="DejaVu Sans"/>
              </a:rPr>
              <a:t>Lập trình Android với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21137" y="1420635"/>
            <a:ext cx="2715845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6050" b="1" spc="-23" dirty="0">
                <a:solidFill>
                  <a:srgbClr val="FF9800"/>
                </a:solidFill>
                <a:latin typeface="DejaVu Sans"/>
                <a:cs typeface="DejaVu Sans"/>
              </a:rPr>
              <a:t>Kotlin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524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83123" y="319336"/>
            <a:ext cx="6178099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Mục tiêu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học 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084" y="2486988"/>
            <a:ext cx="4848785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Hiểu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khái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niệm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sinh thái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lớn.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18075" y="2486988"/>
            <a:ext cx="451711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thạo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cài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đặt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triển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18075" y="2791788"/>
            <a:ext cx="178808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Studio.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3076" y="3298877"/>
            <a:ext cx="171305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9800"/>
                </a:solidFill>
                <a:latin typeface="DejaVu Sans"/>
                <a:cs typeface="DejaVu Sans"/>
              </a:rPr>
              <a:t>Nền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tảng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51" dirty="0">
                <a:solidFill>
                  <a:srgbClr val="FF9800"/>
                </a:solidFill>
                <a:latin typeface="DejaVu Sans"/>
                <a:cs typeface="DejaVu Sans"/>
              </a:rPr>
              <a:t>Toàn</a:t>
            </a:r>
            <a:r>
              <a:rPr sz="1200" b="1" spc="25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cầu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46067" y="3298877"/>
            <a:ext cx="17433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IDE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Chuyên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nghiệp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84" y="5049213"/>
            <a:ext cx="4936360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Xây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dựng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đầu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tiên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-</a:t>
            </a: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"Hello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28" dirty="0">
                <a:solidFill>
                  <a:srgbClr val="FFFFFF"/>
                </a:solidFill>
                <a:latin typeface="DejaVu Sans"/>
                <a:cs typeface="DejaVu Sans"/>
              </a:rPr>
              <a:t>World".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18075" y="5049213"/>
            <a:ext cx="4963334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Làm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quen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cốt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lõi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03076" y="5851577"/>
            <a:ext cx="170927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9800"/>
                </a:solidFill>
                <a:latin typeface="DejaVu Sans"/>
                <a:cs typeface="DejaVu Sans"/>
              </a:rPr>
              <a:t>Khởi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đầu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Lập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FF9800"/>
                </a:solidFill>
                <a:latin typeface="DejaVu Sans"/>
                <a:cs typeface="DejaVu Sans"/>
              </a:rPr>
              <a:t>trình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46067" y="5851577"/>
            <a:ext cx="7964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FF9800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31012" y="5851577"/>
            <a:ext cx="72603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3" dirty="0">
                <a:solidFill>
                  <a:srgbClr val="FF98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541096" y="5851577"/>
            <a:ext cx="8858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Manifest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615486" y="5851577"/>
            <a:ext cx="70882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Gradle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75213" y="7021643"/>
            <a:ext cx="5008601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"</a:t>
            </a: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Khóa học</a:t>
            </a:r>
            <a:r>
              <a:rPr sz="1500" b="1" spc="-4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dẫn dắt bạn từ kiến thức nền tảng đến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75213" y="7326443"/>
            <a:ext cx="5162488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thực hành chuyên sâu, xây dựng ứng dụng thực tế."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180509" y="7976406"/>
            <a:ext cx="47370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5E7EB"/>
                </a:solidFill>
                <a:latin typeface="DejaVu Sans"/>
                <a:cs typeface="DejaVu Sans"/>
              </a:rPr>
              <a:t>Source: freeCodeCamp.org - Android &amp; Kotlin</a:t>
            </a:r>
            <a:r>
              <a:rPr sz="1000" spc="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5E7EB"/>
                </a:solidFill>
                <a:latin typeface="DejaVu Sans"/>
                <a:cs typeface="DejaVu Sans"/>
              </a:rPr>
              <a:t>Development Masterclass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524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83123" y="319336"/>
            <a:ext cx="6178099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Mục tiêu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học 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084" y="2486988"/>
            <a:ext cx="4848785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Hiểu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khái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niệm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sinh thái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lớn.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18075" y="2486988"/>
            <a:ext cx="451711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thạo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cài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đặt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triển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18075" y="2791788"/>
            <a:ext cx="178808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Studio.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3076" y="3298877"/>
            <a:ext cx="171305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9800"/>
                </a:solidFill>
                <a:latin typeface="DejaVu Sans"/>
                <a:cs typeface="DejaVu Sans"/>
              </a:rPr>
              <a:t>Nền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tảng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51" dirty="0">
                <a:solidFill>
                  <a:srgbClr val="FF9800"/>
                </a:solidFill>
                <a:latin typeface="DejaVu Sans"/>
                <a:cs typeface="DejaVu Sans"/>
              </a:rPr>
              <a:t>Toàn</a:t>
            </a:r>
            <a:r>
              <a:rPr sz="1200" b="1" spc="25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cầu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46067" y="3298877"/>
            <a:ext cx="17433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IDE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Chuyên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nghiệp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84" y="5049213"/>
            <a:ext cx="4936360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Xây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dựng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đầu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tiên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-</a:t>
            </a: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"Hello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28" dirty="0">
                <a:solidFill>
                  <a:srgbClr val="FFFFFF"/>
                </a:solidFill>
                <a:latin typeface="DejaVu Sans"/>
                <a:cs typeface="DejaVu Sans"/>
              </a:rPr>
              <a:t>World".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18075" y="5049213"/>
            <a:ext cx="4963334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Làm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quen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cốt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lõi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03076" y="5851577"/>
            <a:ext cx="170927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9800"/>
                </a:solidFill>
                <a:latin typeface="DejaVu Sans"/>
                <a:cs typeface="DejaVu Sans"/>
              </a:rPr>
              <a:t>Khởi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đầu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Lập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FF9800"/>
                </a:solidFill>
                <a:latin typeface="DejaVu Sans"/>
                <a:cs typeface="DejaVu Sans"/>
              </a:rPr>
              <a:t>trình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46067" y="5851577"/>
            <a:ext cx="7964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FF9800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31012" y="5851577"/>
            <a:ext cx="72603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3" dirty="0">
                <a:solidFill>
                  <a:srgbClr val="FF98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541096" y="5851577"/>
            <a:ext cx="8858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Manifest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615486" y="5851577"/>
            <a:ext cx="70882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Gradle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75213" y="7021643"/>
            <a:ext cx="5008601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"</a:t>
            </a: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Khóa học</a:t>
            </a:r>
            <a:r>
              <a:rPr sz="1500" b="1" spc="-4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dẫn dắt bạn từ kiến thức nền tảng đến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75213" y="7326443"/>
            <a:ext cx="5162488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thực hành chuyên sâu, xây dựng ứng dụng thực tế."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180509" y="7976406"/>
            <a:ext cx="47370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5E7EB"/>
                </a:solidFill>
                <a:latin typeface="DejaVu Sans"/>
                <a:cs typeface="DejaVu Sans"/>
              </a:rPr>
              <a:t>Source: freeCodeCamp.org - Android &amp; Kotlin</a:t>
            </a:r>
            <a:r>
              <a:rPr sz="1000" spc="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5E7EB"/>
                </a:solidFill>
                <a:latin typeface="DejaVu Sans"/>
                <a:cs typeface="DejaVu Sans"/>
              </a:rPr>
              <a:t>Development Masterclass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41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370256"/>
            <a:ext cx="414240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  <a:r>
              <a:rPr sz="4050" b="1" spc="391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là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21631" y="2269034"/>
            <a:ext cx="142806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Hạt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nhân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Linux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53955" y="2269034"/>
            <a:ext cx="16069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Phổ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biến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rãi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56054" y="2269034"/>
            <a:ext cx="204637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Open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Source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200" b="1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Google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8462" y="2925504"/>
            <a:ext cx="2903958" cy="1065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Android được xây dựng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nền</a:t>
            </a:r>
          </a:p>
          <a:p>
            <a:pPr marL="92124" marR="0">
              <a:lnSpc>
                <a:spcPts val="1564"/>
              </a:lnSpc>
              <a:spcBef>
                <a:spcPts val="56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tảng hạt nhân Linux, mang lại</a:t>
            </a:r>
          </a:p>
          <a:p>
            <a:pPr marL="15031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sự ổn định và bảo mật cho thiết</a:t>
            </a:r>
          </a:p>
          <a:p>
            <a:pPr marL="1270694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bị.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80846" y="4554279"/>
            <a:ext cx="2826216" cy="789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07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Cho phép tùy biến cao nhờ mã</a:t>
            </a:r>
          </a:p>
          <a:p>
            <a:pPr marL="0" marR="0">
              <a:lnSpc>
                <a:spcPts val="1564"/>
              </a:lnSpc>
              <a:spcBef>
                <a:spcPts val="56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nguồn mở. Phát triển và duy trì</a:t>
            </a:r>
          </a:p>
          <a:p>
            <a:pPr marL="851892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bởi Google.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37508" y="5144829"/>
            <a:ext cx="2669199" cy="789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53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Hệ điều hành hàng đầu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</a:p>
          <a:p>
            <a:pPr marL="0" marR="0">
              <a:lnSpc>
                <a:spcPts val="1564"/>
              </a:lnSpc>
              <a:spcBef>
                <a:spcPts val="56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smartphone, tablet, TV thông</a:t>
            </a:r>
          </a:p>
          <a:p>
            <a:pPr marL="220563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minh và thiết bị đeo </a:t>
            </a:r>
            <a:r>
              <a:rPr sz="1350" spc="-50" dirty="0">
                <a:solidFill>
                  <a:srgbClr val="FFFFFF"/>
                </a:solidFill>
                <a:latin typeface="DejaVu Sans"/>
                <a:cs typeface="DejaVu Sans"/>
              </a:rPr>
              <a:t>tay.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41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370256"/>
            <a:ext cx="414240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  <a:r>
              <a:rPr sz="4050" b="1" spc="391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là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21631" y="2269034"/>
            <a:ext cx="142806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Hạt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nhân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Linux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53955" y="2269034"/>
            <a:ext cx="16069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Phổ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biến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rãi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56054" y="2269034"/>
            <a:ext cx="204637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Open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Source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200" b="1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Google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8462" y="2925504"/>
            <a:ext cx="2903958" cy="1065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Android được xây dựng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nền</a:t>
            </a:r>
          </a:p>
          <a:p>
            <a:pPr marL="92124" marR="0">
              <a:lnSpc>
                <a:spcPts val="1564"/>
              </a:lnSpc>
              <a:spcBef>
                <a:spcPts val="56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tảng hạt nhân Linux, mang lại</a:t>
            </a:r>
          </a:p>
          <a:p>
            <a:pPr marL="15031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sự ổn định và bảo mật cho thiết</a:t>
            </a:r>
          </a:p>
          <a:p>
            <a:pPr marL="1270694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bị.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80846" y="4554279"/>
            <a:ext cx="2826216" cy="789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07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Cho phép tùy biến cao nhờ mã</a:t>
            </a:r>
          </a:p>
          <a:p>
            <a:pPr marL="0" marR="0">
              <a:lnSpc>
                <a:spcPts val="1564"/>
              </a:lnSpc>
              <a:spcBef>
                <a:spcPts val="56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nguồn mở. Phát triển và duy trì</a:t>
            </a:r>
          </a:p>
          <a:p>
            <a:pPr marL="851892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bởi Google.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37508" y="5144829"/>
            <a:ext cx="2669199" cy="789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53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Hệ điều hành hàng đầu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</a:p>
          <a:p>
            <a:pPr marL="0" marR="0">
              <a:lnSpc>
                <a:spcPts val="1564"/>
              </a:lnSpc>
              <a:spcBef>
                <a:spcPts val="56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smartphone, tablet, TV thông</a:t>
            </a:r>
          </a:p>
          <a:p>
            <a:pPr marL="220563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minh và thiết bị đeo </a:t>
            </a:r>
            <a:r>
              <a:rPr sz="1350" spc="-50" dirty="0">
                <a:solidFill>
                  <a:srgbClr val="FFFFFF"/>
                </a:solidFill>
                <a:latin typeface="DejaVu Sans"/>
                <a:cs typeface="DejaVu Sans"/>
              </a:rPr>
              <a:t>tay.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590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380924"/>
            <a:ext cx="462134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Lịch sử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50376" y="497017"/>
            <a:ext cx="39674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04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4008" y="2153613"/>
            <a:ext cx="7462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2003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99087" y="2153613"/>
            <a:ext cx="7462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2005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94166" y="2153613"/>
            <a:ext cx="7462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2008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90737" y="2498022"/>
            <a:ext cx="117244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Android Inc.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95130" y="2498022"/>
            <a:ext cx="215402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Google mua lại Android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32501" y="2498022"/>
            <a:ext cx="166959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4" dirty="0">
                <a:solidFill>
                  <a:srgbClr val="FFFFFF"/>
                </a:solidFill>
                <a:latin typeface="DejaVu Sans"/>
                <a:cs typeface="DejaVu Sans"/>
              </a:rPr>
              <a:t>Ra</a:t>
            </a:r>
            <a:r>
              <a:rPr sz="1350" spc="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mắt phiên bản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61405" y="2755197"/>
            <a:ext cx="143124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được thành lập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24750" y="2755197"/>
            <a:ext cx="188511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thương mại đầu tiên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819500" y="4870501"/>
            <a:ext cx="9830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Đặc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trưng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86631" y="5009604"/>
            <a:ext cx="4395923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Các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bản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Android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đặt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tên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theo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đồ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ngọt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590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380924"/>
            <a:ext cx="462134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Lịch sử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50376" y="497017"/>
            <a:ext cx="39674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04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4008" y="2153613"/>
            <a:ext cx="7462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2003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99087" y="2153613"/>
            <a:ext cx="7462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2005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94166" y="2153613"/>
            <a:ext cx="7462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2008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90737" y="2498022"/>
            <a:ext cx="117244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Android Inc.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95130" y="2498022"/>
            <a:ext cx="215402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Google mua lại Android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32501" y="2498022"/>
            <a:ext cx="166959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4" dirty="0">
                <a:solidFill>
                  <a:srgbClr val="FFFFFF"/>
                </a:solidFill>
                <a:latin typeface="DejaVu Sans"/>
                <a:cs typeface="DejaVu Sans"/>
              </a:rPr>
              <a:t>Ra</a:t>
            </a:r>
            <a:r>
              <a:rPr sz="1350" spc="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mắt phiên bản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61405" y="2755197"/>
            <a:ext cx="143124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được thành lập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24750" y="2755197"/>
            <a:ext cx="188511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thương mại đầu tiên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819500" y="4870501"/>
            <a:ext cx="9830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Đặc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trưng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86631" y="5009604"/>
            <a:ext cx="4395923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Các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bản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Android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đặt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tên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theo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đồ</a:t>
            </a:r>
            <a:r>
              <a:rPr sz="20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2196F3"/>
                </a:solidFill>
                <a:latin typeface="DejaVu Sans"/>
                <a:cs typeface="DejaVu Sans"/>
              </a:rPr>
              <a:t>ngọt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95909" y="320351"/>
            <a:ext cx="6352573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Thị phần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50161" y="1724495"/>
            <a:ext cx="334511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1F2937"/>
                </a:solidFill>
                <a:latin typeface="DejaVu Sans"/>
                <a:cs typeface="DejaVu Sans"/>
              </a:rPr>
              <a:t>Hệ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sinh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thái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ứng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65254" y="4555683"/>
            <a:ext cx="484854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Google Play Store</a:t>
            </a:r>
            <a:r>
              <a:rPr sz="1500" spc="12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cung cấp kho ứng dụng phong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phú, đa dạng, đáp ứng mọi nhu cầu người dùng.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8591" y="5183579"/>
            <a:ext cx="3345381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Chiếm</a:t>
            </a: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tới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~70%</a:t>
            </a: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thị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trường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4" dirty="0">
                <a:solidFill>
                  <a:srgbClr val="1F2937"/>
                </a:solidFill>
                <a:latin typeface="DejaVu Sans"/>
                <a:cs typeface="DejaVu Sans"/>
              </a:rPr>
              <a:t>smartphone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toàn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F2937"/>
                </a:solidFill>
                <a:latin typeface="DejaVu Sans"/>
                <a:cs typeface="DejaVu Sans"/>
              </a:rPr>
              <a:t>cầu.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93246" y="5291372"/>
            <a:ext cx="46006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21A8"/>
                </a:solidFill>
                <a:latin typeface="DejaVu Sans"/>
                <a:cs typeface="DejaVu Sans"/>
              </a:rPr>
              <a:t>apps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42137" y="5291372"/>
            <a:ext cx="84267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D174D"/>
                </a:solidFill>
                <a:latin typeface="DejaVu Sans"/>
                <a:cs typeface="DejaVu Sans"/>
              </a:rPr>
              <a:t>ecosystem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73664" y="5291372"/>
            <a:ext cx="70459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854D0E"/>
                </a:solidFill>
                <a:latin typeface="DejaVu Sans"/>
                <a:cs typeface="DejaVu Sans"/>
              </a:rPr>
              <a:t>diversity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16583" y="5929547"/>
            <a:ext cx="5428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E40AF"/>
                </a:solidFill>
                <a:latin typeface="DejaVu Sans"/>
                <a:cs typeface="DejaVu Sans"/>
              </a:rPr>
              <a:t>global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48222" y="5929547"/>
            <a:ext cx="108070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market_leader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251328" y="6605822"/>
            <a:ext cx="39224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5E7EB"/>
                </a:solidFill>
                <a:latin typeface="DejaVu Sans"/>
                <a:cs typeface="DejaVu Sans"/>
              </a:rPr>
              <a:t>Source: So </a:t>
            </a:r>
            <a:r>
              <a:rPr sz="1000" spc="-40" dirty="0">
                <a:solidFill>
                  <a:srgbClr val="E5E7EB"/>
                </a:solidFill>
                <a:latin typeface="DejaVu Sans"/>
                <a:cs typeface="DejaVu Sans"/>
              </a:rPr>
              <a:t>You</a:t>
            </a:r>
            <a:r>
              <a:rPr sz="1000" spc="49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000" spc="-15" dirty="0">
                <a:solidFill>
                  <a:srgbClr val="E5E7EB"/>
                </a:solidFill>
                <a:latin typeface="DejaVu Sans"/>
                <a:cs typeface="DejaVu Sans"/>
              </a:rPr>
              <a:t>Want</a:t>
            </a:r>
            <a:r>
              <a:rPr sz="1000" spc="2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5E7EB"/>
                </a:solidFill>
                <a:latin typeface="DejaVu Sans"/>
                <a:cs typeface="DejaVu Sans"/>
              </a:rPr>
              <a:t>to Be an Android Developer in 2025...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95909" y="320351"/>
            <a:ext cx="6352573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Thị phần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50161" y="1724495"/>
            <a:ext cx="334511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1F2937"/>
                </a:solidFill>
                <a:latin typeface="DejaVu Sans"/>
                <a:cs typeface="DejaVu Sans"/>
              </a:rPr>
              <a:t>Hệ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sinh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thái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ứng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65254" y="4555683"/>
            <a:ext cx="484854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Google Play Store</a:t>
            </a:r>
            <a:r>
              <a:rPr sz="1500" spc="12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cung cấp kho ứng dụng phong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4B5563"/>
                </a:solidFill>
                <a:latin typeface="DejaVu Sans"/>
                <a:cs typeface="DejaVu Sans"/>
              </a:rPr>
              <a:t>phú, đa dạng, đáp ứng mọi nhu cầu người dùng.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8591" y="5183579"/>
            <a:ext cx="3345381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Chiếm</a:t>
            </a: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tới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~70%</a:t>
            </a: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thị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trường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4" dirty="0">
                <a:solidFill>
                  <a:srgbClr val="1F2937"/>
                </a:solidFill>
                <a:latin typeface="DejaVu Sans"/>
                <a:cs typeface="DejaVu Sans"/>
              </a:rPr>
              <a:t>smartphone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toàn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F2937"/>
                </a:solidFill>
                <a:latin typeface="DejaVu Sans"/>
                <a:cs typeface="DejaVu Sans"/>
              </a:rPr>
              <a:t>cầu.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93246" y="5291372"/>
            <a:ext cx="46006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21A8"/>
                </a:solidFill>
                <a:latin typeface="DejaVu Sans"/>
                <a:cs typeface="DejaVu Sans"/>
              </a:rPr>
              <a:t>apps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42137" y="5291372"/>
            <a:ext cx="84267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D174D"/>
                </a:solidFill>
                <a:latin typeface="DejaVu Sans"/>
                <a:cs typeface="DejaVu Sans"/>
              </a:rPr>
              <a:t>ecosystem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73664" y="5291372"/>
            <a:ext cx="70459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854D0E"/>
                </a:solidFill>
                <a:latin typeface="DejaVu Sans"/>
                <a:cs typeface="DejaVu Sans"/>
              </a:rPr>
              <a:t>diversity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16583" y="5929547"/>
            <a:ext cx="5428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E40AF"/>
                </a:solidFill>
                <a:latin typeface="DejaVu Sans"/>
                <a:cs typeface="DejaVu Sans"/>
              </a:rPr>
              <a:t>global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48222" y="5929547"/>
            <a:ext cx="108070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market_leader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251328" y="6605822"/>
            <a:ext cx="39224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5E7EB"/>
                </a:solidFill>
                <a:latin typeface="DejaVu Sans"/>
                <a:cs typeface="DejaVu Sans"/>
              </a:rPr>
              <a:t>Source: So </a:t>
            </a:r>
            <a:r>
              <a:rPr sz="1000" spc="-40" dirty="0">
                <a:solidFill>
                  <a:srgbClr val="E5E7EB"/>
                </a:solidFill>
                <a:latin typeface="DejaVu Sans"/>
                <a:cs typeface="DejaVu Sans"/>
              </a:rPr>
              <a:t>You</a:t>
            </a:r>
            <a:r>
              <a:rPr sz="1000" spc="49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000" spc="-15" dirty="0">
                <a:solidFill>
                  <a:srgbClr val="E5E7EB"/>
                </a:solidFill>
                <a:latin typeface="DejaVu Sans"/>
                <a:cs typeface="DejaVu Sans"/>
              </a:rPr>
              <a:t>Want</a:t>
            </a:r>
            <a:r>
              <a:rPr sz="1000" spc="2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5E7EB"/>
                </a:solidFill>
                <a:latin typeface="DejaVu Sans"/>
                <a:cs typeface="DejaVu Sans"/>
              </a:rPr>
              <a:t>to Be an Android Developer in 2025...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1244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98850" y="333807"/>
            <a:ext cx="523153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Kiến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30937" y="1449271"/>
            <a:ext cx="416719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Lớp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(Application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23" dirty="0">
                <a:solidFill>
                  <a:srgbClr val="FFFFFF"/>
                </a:solidFill>
                <a:latin typeface="DejaVu Sans"/>
                <a:cs typeface="DejaVu Sans"/>
              </a:rPr>
              <a:t>Layer)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81774" y="1947590"/>
            <a:ext cx="118160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User Interface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909469" y="1947590"/>
            <a:ext cx="98025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User-facing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5213" y="2241355"/>
            <a:ext cx="492812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Bao gồm các ứng dụng người dùng như Danh bạ, Email,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Lịch và các ứng dụng bên thứ ba.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30937" y="3259021"/>
            <a:ext cx="4135863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Lớp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khung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(Framework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23" dirty="0">
                <a:solidFill>
                  <a:srgbClr val="FFFFFF"/>
                </a:solidFill>
                <a:latin typeface="DejaVu Sans"/>
                <a:cs typeface="DejaVu Sans"/>
              </a:rPr>
              <a:t>Layer)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81774" y="3947840"/>
            <a:ext cx="46912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APIs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96880" y="3947840"/>
            <a:ext cx="11117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3730A3"/>
                </a:solidFill>
                <a:latin typeface="DejaVu Sans"/>
                <a:cs typeface="DejaVu Sans"/>
              </a:rPr>
              <a:t>Development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5213" y="4241605"/>
            <a:ext cx="515155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Cung cấp các API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Java/Kotlin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cho việc phát triển ứng dụng,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quản lý Activity, tài nguyên.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30937" y="5373571"/>
            <a:ext cx="459061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Thư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viện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33" dirty="0">
                <a:solidFill>
                  <a:srgbClr val="FFFFFF"/>
                </a:solidFill>
                <a:latin typeface="DejaVu Sans"/>
                <a:cs typeface="DejaVu Sans"/>
              </a:rPr>
              <a:t>(ART)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81774" y="5871890"/>
            <a:ext cx="113704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91B1B"/>
                </a:solidFill>
                <a:latin typeface="DejaVu Sans"/>
                <a:cs typeface="DejaVu Sans"/>
              </a:rPr>
              <a:t>Core Services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864821" y="5871890"/>
            <a:ext cx="13968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Execution Engine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75213" y="6165655"/>
            <a:ext cx="509138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Gồm thư viện gốc (C/C++) và Môi trường thực thi Android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28" dirty="0">
                <a:solidFill>
                  <a:srgbClr val="FFFFFF"/>
                </a:solidFill>
                <a:latin typeface="DejaVu Sans"/>
                <a:cs typeface="DejaVu Sans"/>
              </a:rPr>
              <a:t>(ART)</a:t>
            </a:r>
            <a:r>
              <a:rPr sz="1350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để chạy mã ứng dụng hiệu quả.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30937" y="7288097"/>
            <a:ext cx="327756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Nhân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Linux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(Linux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FFFFFF"/>
                </a:solidFill>
                <a:latin typeface="DejaVu Sans"/>
                <a:cs typeface="DejaVu Sans"/>
              </a:rPr>
              <a:t>Kernel)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81774" y="7786414"/>
            <a:ext cx="173725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D174D"/>
                </a:solidFill>
                <a:latin typeface="DejaVu Sans"/>
                <a:cs typeface="DejaVu Sans"/>
              </a:rPr>
              <a:t>Hardware Abstraction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65045" y="7786414"/>
            <a:ext cx="133840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F2937"/>
                </a:solidFill>
                <a:latin typeface="DejaVu Sans"/>
                <a:cs typeface="DejaVu Sans"/>
              </a:rPr>
              <a:t>System Services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75213" y="8080180"/>
            <a:ext cx="522314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Lớp trừu tượng phần cứng, quản lý các tác vụ cấp thấp như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driver, bộ nhớ, và bảo mật hệ thống.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01954" y="8748439"/>
            <a:ext cx="341570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Platform architecture | Android Developers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1244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98850" y="333807"/>
            <a:ext cx="523153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Kiến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30937" y="1449271"/>
            <a:ext cx="416719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Lớp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(Application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23" dirty="0">
                <a:solidFill>
                  <a:srgbClr val="FFFFFF"/>
                </a:solidFill>
                <a:latin typeface="DejaVu Sans"/>
                <a:cs typeface="DejaVu Sans"/>
              </a:rPr>
              <a:t>Layer)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81774" y="1947590"/>
            <a:ext cx="118160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User Interface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909469" y="1947590"/>
            <a:ext cx="98025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User-facing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5213" y="2241355"/>
            <a:ext cx="492812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Bao gồm các ứng dụng người dùng như Danh bạ, Email,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Lịch và các ứng dụng bên thứ ba.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30937" y="3259021"/>
            <a:ext cx="4135863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Lớp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khung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(Framework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23" dirty="0">
                <a:solidFill>
                  <a:srgbClr val="FFFFFF"/>
                </a:solidFill>
                <a:latin typeface="DejaVu Sans"/>
                <a:cs typeface="DejaVu Sans"/>
              </a:rPr>
              <a:t>Layer)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81774" y="3947840"/>
            <a:ext cx="46912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APIs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96880" y="3947840"/>
            <a:ext cx="11117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3730A3"/>
                </a:solidFill>
                <a:latin typeface="DejaVu Sans"/>
                <a:cs typeface="DejaVu Sans"/>
              </a:rPr>
              <a:t>Development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5213" y="4241605"/>
            <a:ext cx="515155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Cung cấp các API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Java/Kotlin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cho việc phát triển ứng dụng,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quản lý Activity, tài nguyên.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30937" y="5373571"/>
            <a:ext cx="459061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Thư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viện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33" dirty="0">
                <a:solidFill>
                  <a:srgbClr val="FFFFFF"/>
                </a:solidFill>
                <a:latin typeface="DejaVu Sans"/>
                <a:cs typeface="DejaVu Sans"/>
              </a:rPr>
              <a:t>(ART)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81774" y="5871890"/>
            <a:ext cx="113704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91B1B"/>
                </a:solidFill>
                <a:latin typeface="DejaVu Sans"/>
                <a:cs typeface="DejaVu Sans"/>
              </a:rPr>
              <a:t>Core Services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864821" y="5871890"/>
            <a:ext cx="13968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Execution Engine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75213" y="6165655"/>
            <a:ext cx="509138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Gồm thư viện gốc (C/C++) và Môi trường thực thi Android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28" dirty="0">
                <a:solidFill>
                  <a:srgbClr val="FFFFFF"/>
                </a:solidFill>
                <a:latin typeface="DejaVu Sans"/>
                <a:cs typeface="DejaVu Sans"/>
              </a:rPr>
              <a:t>(ART)</a:t>
            </a:r>
            <a:r>
              <a:rPr sz="1350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để chạy mã ứng dụng hiệu quả.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30937" y="7288097"/>
            <a:ext cx="327756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Nhân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Linux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(Linux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FFFFFF"/>
                </a:solidFill>
                <a:latin typeface="DejaVu Sans"/>
                <a:cs typeface="DejaVu Sans"/>
              </a:rPr>
              <a:t>Kernel)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81774" y="7786414"/>
            <a:ext cx="173725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D174D"/>
                </a:solidFill>
                <a:latin typeface="DejaVu Sans"/>
                <a:cs typeface="DejaVu Sans"/>
              </a:rPr>
              <a:t>Hardware Abstraction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65045" y="7786414"/>
            <a:ext cx="133840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F2937"/>
                </a:solidFill>
                <a:latin typeface="DejaVu Sans"/>
                <a:cs typeface="DejaVu Sans"/>
              </a:rPr>
              <a:t>System Services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75213" y="8080180"/>
            <a:ext cx="522314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Lớp trừu tượng phần cứng, quản lý các tác vụ cấp thấp như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driver, bộ nhớ, và bảo mật hệ thống.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01954" y="8748439"/>
            <a:ext cx="341570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Platform architecture | Android Developers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3699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93876" y="441510"/>
            <a:ext cx="5556491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Android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S</a:t>
            </a: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tudio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92254" y="1675712"/>
            <a:ext cx="233919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Tích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Emulator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92254" y="2010597"/>
            <a:ext cx="448428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Kiểm thử ứng dụng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nhiều thiết bị ảo một cách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hiệu quả.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85447" y="2859076"/>
            <a:ext cx="969314" cy="592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Debugging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sz="1200" spc="-38" dirty="0">
                <a:solidFill>
                  <a:srgbClr val="FFFFFF"/>
                </a:solidFill>
                <a:latin typeface="DejaVu Sans"/>
                <a:cs typeface="DejaVu Sans"/>
              </a:rPr>
              <a:t>Testing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92254" y="4190312"/>
            <a:ext cx="299849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3" dirty="0">
                <a:solidFill>
                  <a:srgbClr val="FFFFFF"/>
                </a:solidFill>
                <a:latin typeface="DejaVu Sans"/>
                <a:cs typeface="DejaVu Sans"/>
              </a:rPr>
              <a:t>Layout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Editor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92254" y="4534722"/>
            <a:ext cx="4466954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Thiết kế giao diện bằng cách </a:t>
            </a:r>
            <a:r>
              <a:rPr sz="1350" spc="-28" dirty="0">
                <a:solidFill>
                  <a:srgbClr val="FFFFFF"/>
                </a:solidFill>
                <a:latin typeface="DejaVu Sans"/>
                <a:cs typeface="DejaVu Sans"/>
              </a:rPr>
              <a:t>kéo</a:t>
            </a:r>
            <a:r>
              <a:rPr sz="1350" spc="2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và thả các thành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phần.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85447" y="5373676"/>
            <a:ext cx="56771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85447" y="5754676"/>
            <a:ext cx="66805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72182" y="6265254"/>
            <a:ext cx="392945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IDE chính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Google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92254" y="6704913"/>
            <a:ext cx="33214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thống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Logcat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mạnh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21" dirty="0">
                <a:solidFill>
                  <a:srgbClr val="FFFFFF"/>
                </a:solidFill>
                <a:latin typeface="DejaVu Sans"/>
                <a:cs typeface="DejaVu Sans"/>
              </a:rPr>
              <a:t>mẽ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34082" y="6971613"/>
            <a:ext cx="238024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Dựa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21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IntelliJ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IDEA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92254" y="7049321"/>
            <a:ext cx="443202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Theo dõi nhật </a:t>
            </a:r>
            <a:r>
              <a:rPr sz="1350" spc="-51" dirty="0">
                <a:solidFill>
                  <a:srgbClr val="FFFFFF"/>
                </a:solidFill>
                <a:latin typeface="DejaVu Sans"/>
                <a:cs typeface="DejaVu Sans"/>
              </a:rPr>
              <a:t>ký</a:t>
            </a:r>
            <a:r>
              <a:rPr sz="1350" spc="4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hệ thống và gỡ lỗi ứng dụng một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cách dễ dàng.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85447" y="7888276"/>
            <a:ext cx="101904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Diagnostics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585447" y="8278801"/>
            <a:ext cx="115782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Development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439149" y="8993930"/>
            <a:ext cx="339321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developer.android.com, freecodecamp.org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3699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93876" y="441510"/>
            <a:ext cx="5556491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Android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S</a:t>
            </a: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tudio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92254" y="1675712"/>
            <a:ext cx="233919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Tích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Emulator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92254" y="2010597"/>
            <a:ext cx="448428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Kiểm thử ứng dụng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nhiều thiết bị ảo một cách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hiệu quả.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85447" y="2859076"/>
            <a:ext cx="969314" cy="592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Debugging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sz="1200" spc="-38" dirty="0">
                <a:solidFill>
                  <a:srgbClr val="FFFFFF"/>
                </a:solidFill>
                <a:latin typeface="DejaVu Sans"/>
                <a:cs typeface="DejaVu Sans"/>
              </a:rPr>
              <a:t>Testing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92254" y="4190312"/>
            <a:ext cx="299849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3" dirty="0">
                <a:solidFill>
                  <a:srgbClr val="FFFFFF"/>
                </a:solidFill>
                <a:latin typeface="DejaVu Sans"/>
                <a:cs typeface="DejaVu Sans"/>
              </a:rPr>
              <a:t>Layout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Editor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92254" y="4534722"/>
            <a:ext cx="4466954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Thiết kế giao diện bằng cách </a:t>
            </a:r>
            <a:r>
              <a:rPr sz="1350" spc="-28" dirty="0">
                <a:solidFill>
                  <a:srgbClr val="FFFFFF"/>
                </a:solidFill>
                <a:latin typeface="DejaVu Sans"/>
                <a:cs typeface="DejaVu Sans"/>
              </a:rPr>
              <a:t>kéo</a:t>
            </a:r>
            <a:r>
              <a:rPr sz="1350" spc="2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và thả các thành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phần.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85447" y="5373676"/>
            <a:ext cx="56771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85447" y="5754676"/>
            <a:ext cx="66805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72182" y="6265254"/>
            <a:ext cx="392945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IDE chính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Google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92254" y="6704913"/>
            <a:ext cx="33214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thống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Logcat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mạnh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21" dirty="0">
                <a:solidFill>
                  <a:srgbClr val="FFFFFF"/>
                </a:solidFill>
                <a:latin typeface="DejaVu Sans"/>
                <a:cs typeface="DejaVu Sans"/>
              </a:rPr>
              <a:t>mẽ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34082" y="6971613"/>
            <a:ext cx="238024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Dựa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21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IntelliJ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IDEA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92254" y="7049321"/>
            <a:ext cx="443202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Theo dõi nhật </a:t>
            </a:r>
            <a:r>
              <a:rPr sz="1350" spc="-51" dirty="0">
                <a:solidFill>
                  <a:srgbClr val="FFFFFF"/>
                </a:solidFill>
                <a:latin typeface="DejaVu Sans"/>
                <a:cs typeface="DejaVu Sans"/>
              </a:rPr>
              <a:t>ký</a:t>
            </a:r>
            <a:r>
              <a:rPr sz="1350" spc="4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hệ thống và gỡ lỗi ứng dụng một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cách dễ dàng.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85447" y="7888276"/>
            <a:ext cx="101904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Diagnostics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585447" y="8278801"/>
            <a:ext cx="115782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Development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439149" y="8993930"/>
            <a:ext cx="339321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developer.android.com, freecodecamp.org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221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25191" y="308160"/>
            <a:ext cx="6893946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Cài đặt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môi trường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645" y="2531453"/>
            <a:ext cx="299026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1: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Cài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38662" y="2531453"/>
            <a:ext cx="3266871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2: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hình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SDK</a:t>
            </a:r>
          </a:p>
          <a:p>
            <a:pPr marL="924371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Manager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48823" y="2531453"/>
            <a:ext cx="323723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3: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Emulator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2656" y="2864828"/>
            <a:ext cx="108839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Studio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78577" y="2864828"/>
            <a:ext cx="99525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18" dirty="0">
                <a:solidFill>
                  <a:srgbClr val="FFFFFF"/>
                </a:solidFill>
                <a:latin typeface="DejaVu Sans"/>
                <a:cs typeface="DejaVu Sans"/>
              </a:rPr>
              <a:t>(AVD)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7877" y="3296472"/>
            <a:ext cx="327797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Nền tảng IDE tích hợp cho phát triển</a:t>
            </a:r>
          </a:p>
          <a:p>
            <a:pPr marL="77301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ứng dụng Android.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56533" y="3296472"/>
            <a:ext cx="3031130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303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Quản lý các công cụ, nền tảng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(platforms) và phiên bản SDK cần</a:t>
            </a:r>
          </a:p>
          <a:p>
            <a:pPr marL="1215181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thiết.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475612" y="3296472"/>
            <a:ext cx="3183642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125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Thiết lập và quản lý các Thiết bị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Android Ảo 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(AVD)</a:t>
            </a:r>
            <a:r>
              <a:rPr sz="1350" spc="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để mô phỏng môi</a:t>
            </a:r>
          </a:p>
          <a:p>
            <a:pPr marL="87704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trường thực tế.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40919" y="4735501"/>
            <a:ext cx="2914465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"Luôn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cập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SDK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đảm bảo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thích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tiếp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cận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mới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nhất."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98835" y="5726101"/>
            <a:ext cx="19266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từ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nguồn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12187" y="5726101"/>
            <a:ext cx="148098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dạng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11770" y="6677092"/>
            <a:ext cx="1879476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Tầm quan trọng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170788" y="6677092"/>
            <a:ext cx="2622079" cy="489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193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Nguồn tham khảo:</a:t>
            </a:r>
          </a:p>
          <a:p>
            <a:pPr marL="0" marR="0">
              <a:lnSpc>
                <a:spcPts val="1368"/>
              </a:lnSpc>
              <a:spcBef>
                <a:spcPts val="426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33" dirty="0">
                <a:solidFill>
                  <a:srgbClr val="FFFFFF"/>
                </a:solidFill>
                <a:latin typeface="DejaVu Sans"/>
                <a:cs typeface="DejaVu Sans"/>
              </a:rPr>
              <a:t>Tutorial</a:t>
            </a:r>
            <a:r>
              <a:rPr sz="1200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(GeeksforGeeks)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11770" y="6954826"/>
            <a:ext cx="4462171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chuẩn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ổn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định,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thiểu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tốc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làm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việc.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580982" y="7173901"/>
            <a:ext cx="321182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Build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your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ﬁrst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app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(Android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Developers)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221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25191" y="308160"/>
            <a:ext cx="6893946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Cài đặt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môi trường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645" y="2531453"/>
            <a:ext cx="299026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1: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Cài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38662" y="2531453"/>
            <a:ext cx="3266871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2: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hình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SDK</a:t>
            </a:r>
          </a:p>
          <a:p>
            <a:pPr marL="924371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Manager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48823" y="2531453"/>
            <a:ext cx="323723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3: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Emulator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2656" y="2864828"/>
            <a:ext cx="108839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Studio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78577" y="2864828"/>
            <a:ext cx="99525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18" dirty="0">
                <a:solidFill>
                  <a:srgbClr val="FFFFFF"/>
                </a:solidFill>
                <a:latin typeface="DejaVu Sans"/>
                <a:cs typeface="DejaVu Sans"/>
              </a:rPr>
              <a:t>(AVD)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7877" y="3296472"/>
            <a:ext cx="327797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Nền tảng IDE tích hợp cho phát triển</a:t>
            </a:r>
          </a:p>
          <a:p>
            <a:pPr marL="77301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ứng dụng Android.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56533" y="3296472"/>
            <a:ext cx="3031130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303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Quản lý các công cụ, nền tảng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(platforms) và phiên bản SDK cần</a:t>
            </a:r>
          </a:p>
          <a:p>
            <a:pPr marL="1215181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thiết.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475612" y="3296472"/>
            <a:ext cx="3183642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125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Thiết lập và quản lý các Thiết bị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Android Ảo 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(AVD)</a:t>
            </a:r>
            <a:r>
              <a:rPr sz="1350" spc="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để mô phỏng môi</a:t>
            </a:r>
          </a:p>
          <a:p>
            <a:pPr marL="87704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trường thực tế.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40919" y="4735501"/>
            <a:ext cx="2914465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"Luôn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cập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nhật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SDK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đảm bảo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thích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tiếp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cận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mới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nhất."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98835" y="5726101"/>
            <a:ext cx="19266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từ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nguồn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12187" y="5726101"/>
            <a:ext cx="148098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dạng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11770" y="6677092"/>
            <a:ext cx="1879476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Tầm quan trọng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170788" y="6677092"/>
            <a:ext cx="2622079" cy="489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193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Nguồn tham khảo:</a:t>
            </a:r>
          </a:p>
          <a:p>
            <a:pPr marL="0" marR="0">
              <a:lnSpc>
                <a:spcPts val="1368"/>
              </a:lnSpc>
              <a:spcBef>
                <a:spcPts val="426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33" dirty="0">
                <a:solidFill>
                  <a:srgbClr val="FFFFFF"/>
                </a:solidFill>
                <a:latin typeface="DejaVu Sans"/>
                <a:cs typeface="DejaVu Sans"/>
              </a:rPr>
              <a:t>Tutorial</a:t>
            </a:r>
            <a:r>
              <a:rPr sz="1200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(GeeksforGeeks)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11770" y="6954826"/>
            <a:ext cx="4462171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chuẩn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ổn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định,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thiểu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tốc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làm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việc.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580982" y="7173901"/>
            <a:ext cx="321182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Build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your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ﬁrst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app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(Android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Developers)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8872" y="334315"/>
            <a:ext cx="466652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Project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FF9800"/>
                </a:solidFill>
                <a:latin typeface="DejaVu Sans"/>
                <a:cs typeface="DejaVu Sans"/>
              </a:rPr>
              <a:t>mới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984" y="1484195"/>
            <a:ext cx="3149184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8541" y="2202254"/>
            <a:ext cx="102980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80012" y="2202254"/>
            <a:ext cx="242352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2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Studio.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19027" y="2227138"/>
            <a:ext cx="1560270" cy="279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New Project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8541" y="2849954"/>
            <a:ext cx="3830790" cy="2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Chọn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template</a:t>
            </a:r>
            <a:r>
              <a:rPr sz="1700" spc="66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Empty Activity</a:t>
            </a:r>
            <a:r>
              <a:rPr sz="1700" spc="-348" dirty="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8541" y="3488129"/>
            <a:ext cx="2179439" cy="2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Ngôn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ngữ:</a:t>
            </a:r>
            <a:r>
              <a:rPr sz="1700" spc="67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Kotlin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94597" y="3528493"/>
            <a:ext cx="120799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Khuyến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nghị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88541" y="4069154"/>
            <a:ext cx="171988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Minimum</a:t>
            </a: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 SDK: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09143" y="4094038"/>
            <a:ext cx="1560271" cy="279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Android 5.0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09579" y="4271443"/>
            <a:ext cx="159301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FFFFFF"/>
                </a:solidFill>
                <a:latin typeface="DejaVu Sans"/>
                <a:cs typeface="DejaVu Sans"/>
              </a:rPr>
              <a:t>thích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88541" y="4408363"/>
            <a:ext cx="1432768" cy="279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(Lollipop)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6984" y="5051738"/>
            <a:ext cx="492204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Đảm bảo cấu hình đúng để bắt đầu phát triển hiệu quả.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49020" y="5262043"/>
            <a:ext cx="40408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project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mới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Studio.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821066" y="6605822"/>
            <a:ext cx="435264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Reference: Create your ﬁrst Android app (developer.android.com)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8872" y="334315"/>
            <a:ext cx="466652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Project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FF9800"/>
                </a:solidFill>
                <a:latin typeface="DejaVu Sans"/>
                <a:cs typeface="DejaVu Sans"/>
              </a:rPr>
              <a:t>mới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984" y="1484195"/>
            <a:ext cx="3149184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8541" y="2202254"/>
            <a:ext cx="102980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80012" y="2202254"/>
            <a:ext cx="242352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2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Studio.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19027" y="2227138"/>
            <a:ext cx="1560270" cy="279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New Project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8541" y="2849954"/>
            <a:ext cx="3830790" cy="2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Chọn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template</a:t>
            </a:r>
            <a:r>
              <a:rPr sz="1700" spc="66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Empty Activity</a:t>
            </a:r>
            <a:r>
              <a:rPr sz="1700" spc="-348" dirty="0">
                <a:solidFill>
                  <a:srgbClr val="FFFFFF"/>
                </a:solidFill>
                <a:latin typeface="Liberation Mono"/>
                <a:cs typeface="Liberation Mono"/>
              </a:rPr>
              <a:t> 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8541" y="3488129"/>
            <a:ext cx="2179439" cy="2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Ngôn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ngữ:</a:t>
            </a:r>
            <a:r>
              <a:rPr sz="1700" spc="67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Kotlin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94597" y="3528493"/>
            <a:ext cx="120799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Khuyến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nghị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88541" y="4069154"/>
            <a:ext cx="171988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Minimum</a:t>
            </a: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 SDK: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09143" y="4094038"/>
            <a:ext cx="1560271" cy="279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Android 5.0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09579" y="4271443"/>
            <a:ext cx="159301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FFFFFF"/>
                </a:solidFill>
                <a:latin typeface="DejaVu Sans"/>
                <a:cs typeface="DejaVu Sans"/>
              </a:rPr>
              <a:t>thích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88541" y="4408363"/>
            <a:ext cx="1432768" cy="279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(Lollipop)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6984" y="5051738"/>
            <a:ext cx="492204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Đảm bảo cấu hình đúng để bắt đầu phát triển hiệu quả.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49020" y="5262043"/>
            <a:ext cx="40408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project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mới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Studio.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821066" y="6605822"/>
            <a:ext cx="435264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Reference: Create your ﬁrst Android app (developer.android.com)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68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45556" y="334315"/>
            <a:ext cx="7253068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project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77791" y="1328972"/>
            <a:ext cx="13012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Mã nguồn 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70292" y="1328972"/>
            <a:ext cx="16518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34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000" b="1" spc="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nguyên giao 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4270" y="1788995"/>
            <a:ext cx="1019281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2196F3"/>
                </a:solidFill>
                <a:latin typeface="DejaVu Sans"/>
                <a:cs typeface="DejaVu Sans"/>
              </a:rPr>
              <a:t>java/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7262" y="1788995"/>
            <a:ext cx="834469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2196F3"/>
                </a:solidFill>
                <a:latin typeface="DejaVu Sans"/>
                <a:cs typeface="DejaVu Sans"/>
              </a:rPr>
              <a:t>res/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4270" y="2241863"/>
            <a:ext cx="383998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Chứa mã nguồn </a:t>
            </a:r>
            <a:r>
              <a:rPr sz="1350" spc="-17" dirty="0">
                <a:solidFill>
                  <a:srgbClr val="4B5563"/>
                </a:solidFill>
                <a:latin typeface="DejaVu Sans"/>
                <a:cs typeface="DejaVu Sans"/>
              </a:rPr>
              <a:t>Kotlin</a:t>
            </a:r>
            <a:r>
              <a:rPr sz="1350" spc="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chính của ứng dụng.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7262" y="2241863"/>
            <a:ext cx="490297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Lưu trữ tài nguyên giao diện (layout, drawable, values).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9549" y="3729272"/>
            <a:ext cx="105429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Source Code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37283" y="3729272"/>
            <a:ext cx="5796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18171" y="3729272"/>
            <a:ext cx="53332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22540" y="3729272"/>
            <a:ext cx="101529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UI Elements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41281" y="3729272"/>
            <a:ext cx="6483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93012" y="3729272"/>
            <a:ext cx="6280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Assets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264967" y="4662722"/>
            <a:ext cx="151408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Cấu hình ứng dụng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429725" y="4662722"/>
            <a:ext cx="119229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Cấu hình build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94270" y="5132270"/>
            <a:ext cx="3915343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2196F3"/>
                </a:solidFill>
                <a:latin typeface="DejaVu Sans"/>
                <a:cs typeface="DejaVu Sans"/>
              </a:rPr>
              <a:t>AndroidManifest.xml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7262" y="5132270"/>
            <a:ext cx="2337491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2196F3"/>
                </a:solidFill>
                <a:latin typeface="DejaVu Sans"/>
                <a:cs typeface="DejaVu Sans"/>
              </a:rPr>
              <a:t>build.gradle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4270" y="5575613"/>
            <a:ext cx="467020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Khai báo thành phần, quyền hạn và cấu hình cơ bản.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437262" y="5575613"/>
            <a:ext cx="483501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Quản lý các dependency, phiên bản và quy trình build.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9549" y="7072547"/>
            <a:ext cx="93874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App Conﬁg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21792" y="7072547"/>
            <a:ext cx="102500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Permissions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50207" y="7072547"/>
            <a:ext cx="106151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Declarations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522540" y="7072547"/>
            <a:ext cx="109817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Build System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724178" y="7072547"/>
            <a:ext cx="116746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Dependencies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995022" y="7072547"/>
            <a:ext cx="77679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Versions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98934" y="7890943"/>
            <a:ext cx="672701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374151"/>
                </a:solidFill>
                <a:latin typeface="DejaVu Sans"/>
                <a:cs typeface="DejaVu Sans"/>
              </a:rPr>
              <a:t>Kotlin:</a:t>
            </a:r>
            <a:r>
              <a:rPr sz="1200" b="1" spc="81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Ngôn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lập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trình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hiện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đại,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súc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biểu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cảm,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140004" y="8139347"/>
            <a:ext cx="38233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Learning Android Development in 2025 (Medium)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68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45556" y="334315"/>
            <a:ext cx="7253068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project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77791" y="1328972"/>
            <a:ext cx="13012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Mã nguồn 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70292" y="1328972"/>
            <a:ext cx="16518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34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000" b="1" spc="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nguyên giao 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4270" y="1788995"/>
            <a:ext cx="1019281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2196F3"/>
                </a:solidFill>
                <a:latin typeface="DejaVu Sans"/>
                <a:cs typeface="DejaVu Sans"/>
              </a:rPr>
              <a:t>java/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7262" y="1788995"/>
            <a:ext cx="834469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2196F3"/>
                </a:solidFill>
                <a:latin typeface="DejaVu Sans"/>
                <a:cs typeface="DejaVu Sans"/>
              </a:rPr>
              <a:t>res/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4270" y="2241863"/>
            <a:ext cx="383998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Chứa mã nguồn </a:t>
            </a:r>
            <a:r>
              <a:rPr sz="1350" spc="-17" dirty="0">
                <a:solidFill>
                  <a:srgbClr val="4B5563"/>
                </a:solidFill>
                <a:latin typeface="DejaVu Sans"/>
                <a:cs typeface="DejaVu Sans"/>
              </a:rPr>
              <a:t>Kotlin</a:t>
            </a:r>
            <a:r>
              <a:rPr sz="1350" spc="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chính của ứng dụng.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7262" y="2241863"/>
            <a:ext cx="490297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Lưu trữ tài nguyên giao diện (layout, drawable, values).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9549" y="3729272"/>
            <a:ext cx="105429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Source Code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37283" y="3729272"/>
            <a:ext cx="5796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18171" y="3729272"/>
            <a:ext cx="53332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22540" y="3729272"/>
            <a:ext cx="101529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UI Elements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41281" y="3729272"/>
            <a:ext cx="6483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93012" y="3729272"/>
            <a:ext cx="6280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Assets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264967" y="4662722"/>
            <a:ext cx="151408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Cấu hình ứng dụng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429725" y="4662722"/>
            <a:ext cx="119229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Cấu hình build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94270" y="5132270"/>
            <a:ext cx="3915343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2196F3"/>
                </a:solidFill>
                <a:latin typeface="DejaVu Sans"/>
                <a:cs typeface="DejaVu Sans"/>
              </a:rPr>
              <a:t>AndroidManifest.xml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7262" y="5132270"/>
            <a:ext cx="2337491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2196F3"/>
                </a:solidFill>
                <a:latin typeface="DejaVu Sans"/>
                <a:cs typeface="DejaVu Sans"/>
              </a:rPr>
              <a:t>build.gradle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4270" y="5575613"/>
            <a:ext cx="467020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Khai báo thành phần, quyền hạn và cấu hình cơ bản.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437262" y="5575613"/>
            <a:ext cx="483501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Quản lý các dependency, phiên bản và quy trình build.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9549" y="7072547"/>
            <a:ext cx="93874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App Conﬁg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21792" y="7072547"/>
            <a:ext cx="102500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Permissions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50207" y="7072547"/>
            <a:ext cx="106151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Declarations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522540" y="7072547"/>
            <a:ext cx="109817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Build System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724178" y="7072547"/>
            <a:ext cx="116746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Dependencies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995022" y="7072547"/>
            <a:ext cx="77679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2196F3"/>
                </a:solidFill>
                <a:latin typeface="DejaVu Sans"/>
                <a:cs typeface="DejaVu Sans"/>
              </a:rPr>
              <a:t>Versions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98934" y="7890943"/>
            <a:ext cx="672701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374151"/>
                </a:solidFill>
                <a:latin typeface="DejaVu Sans"/>
                <a:cs typeface="DejaVu Sans"/>
              </a:rPr>
              <a:t>Kotlin:</a:t>
            </a:r>
            <a:r>
              <a:rPr sz="1200" b="1" spc="81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Ngôn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lập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trình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hiện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đại,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súc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biểu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cảm,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140004" y="8139347"/>
            <a:ext cx="38233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Learning Android Development in 2025 (Medium)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32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71142" y="322631"/>
            <a:ext cx="5002039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dirty="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sz="3000" b="1" spc="673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4050" b="1" spc="-37" dirty="0">
                <a:solidFill>
                  <a:srgbClr val="FFFFFF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29061" y="1613034"/>
            <a:ext cx="1808419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1" dirty="0">
                <a:solidFill>
                  <a:srgbClr val="FF9800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11058" y="1613034"/>
            <a:ext cx="1627459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98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97682" y="2419925"/>
            <a:ext cx="306307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Màn hình chính của ứng dụng.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58942" y="2419925"/>
            <a:ext cx="371188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23" dirty="0">
                <a:solidFill>
                  <a:srgbClr val="FFFFFF"/>
                </a:solidFill>
                <a:latin typeface="DejaVu Sans"/>
                <a:cs typeface="DejaVu Sans"/>
              </a:rPr>
              <a:t>File</a:t>
            </a:r>
            <a:r>
              <a:rPr sz="1500" spc="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XML 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tả giao diện người dùng.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71488" y="2916734"/>
            <a:ext cx="135277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9A3412"/>
                </a:solidFill>
                <a:latin typeface="DejaVu Sans"/>
                <a:cs typeface="DejaVu Sans"/>
              </a:rPr>
              <a:t>User</a:t>
            </a:r>
            <a:r>
              <a:rPr sz="1200" b="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9A3412"/>
                </a:solidFill>
                <a:latin typeface="DejaVu Sans"/>
                <a:cs typeface="DejaVu Sans"/>
              </a:rPr>
              <a:t>Interface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83755" y="2916734"/>
            <a:ext cx="157375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9A3412"/>
                </a:solidFill>
                <a:latin typeface="DejaVu Sans"/>
                <a:cs typeface="DejaVu Sans"/>
              </a:rPr>
              <a:t>Interaction</a:t>
            </a:r>
            <a:r>
              <a:rPr sz="1200" b="1" spc="-12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Point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90059" y="2916734"/>
            <a:ext cx="182873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9A3412"/>
                </a:solidFill>
                <a:latin typeface="DejaVu Sans"/>
                <a:cs typeface="DejaVu Sans"/>
              </a:rPr>
              <a:t>Structure</a:t>
            </a:r>
            <a:r>
              <a:rPr sz="1200" b="1" spc="-10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Deﬁnition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578279" y="2916734"/>
            <a:ext cx="143221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9A3412"/>
                </a:solidFill>
                <a:latin typeface="DejaVu Sans"/>
                <a:cs typeface="DejaVu Sans"/>
              </a:rPr>
              <a:t>UI</a:t>
            </a:r>
            <a:r>
              <a:rPr sz="1200" b="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9A3412"/>
                </a:solidFill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41499" y="6018111"/>
            <a:ext cx="239379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The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Connection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64073" y="6468804"/>
            <a:ext cx="833338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liên kết Activity với Layout. This crucial method inﬂates the XML layout, making it visible on the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screen.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7649" y="6573439"/>
            <a:ext cx="2200989" cy="279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setContentView()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8206" y="7136309"/>
            <a:ext cx="141684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9A3412"/>
                </a:solidFill>
                <a:latin typeface="DejaVu Sans"/>
                <a:cs typeface="DejaVu Sans"/>
              </a:rPr>
              <a:t>Code-UI</a:t>
            </a:r>
            <a:r>
              <a:rPr sz="1200" b="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Bridge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749748" y="7136309"/>
            <a:ext cx="159642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9A3412"/>
                </a:solidFill>
                <a:latin typeface="DejaVu Sans"/>
                <a:cs typeface="DejaVu Sans"/>
              </a:rPr>
              <a:t>Dynamic</a:t>
            </a:r>
            <a:r>
              <a:rPr sz="1200" b="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Content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46341" y="7679988"/>
            <a:ext cx="572738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Android Developers (Layouts in views, Build your ﬁrst app), freeCodeCamp.org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32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71142" y="322631"/>
            <a:ext cx="5002039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dirty="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sz="3000" b="1" spc="673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4050" b="1" spc="-37" dirty="0">
                <a:solidFill>
                  <a:srgbClr val="FFFFFF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29061" y="1613034"/>
            <a:ext cx="1808419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1" dirty="0">
                <a:solidFill>
                  <a:srgbClr val="FF9800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11058" y="1613034"/>
            <a:ext cx="1627459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98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97682" y="2419925"/>
            <a:ext cx="306307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Màn hình chính của ứng dụng.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58942" y="2419925"/>
            <a:ext cx="371188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23" dirty="0">
                <a:solidFill>
                  <a:srgbClr val="FFFFFF"/>
                </a:solidFill>
                <a:latin typeface="DejaVu Sans"/>
                <a:cs typeface="DejaVu Sans"/>
              </a:rPr>
              <a:t>File</a:t>
            </a:r>
            <a:r>
              <a:rPr sz="1500" spc="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XML 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tả giao diện người dùng.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71488" y="2916734"/>
            <a:ext cx="135277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9A3412"/>
                </a:solidFill>
                <a:latin typeface="DejaVu Sans"/>
                <a:cs typeface="DejaVu Sans"/>
              </a:rPr>
              <a:t>User</a:t>
            </a:r>
            <a:r>
              <a:rPr sz="1200" b="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9A3412"/>
                </a:solidFill>
                <a:latin typeface="DejaVu Sans"/>
                <a:cs typeface="DejaVu Sans"/>
              </a:rPr>
              <a:t>Interface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83755" y="2916734"/>
            <a:ext cx="157375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9A3412"/>
                </a:solidFill>
                <a:latin typeface="DejaVu Sans"/>
                <a:cs typeface="DejaVu Sans"/>
              </a:rPr>
              <a:t>Interaction</a:t>
            </a:r>
            <a:r>
              <a:rPr sz="1200" b="1" spc="-12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Point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90059" y="2916734"/>
            <a:ext cx="182873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9A3412"/>
                </a:solidFill>
                <a:latin typeface="DejaVu Sans"/>
                <a:cs typeface="DejaVu Sans"/>
              </a:rPr>
              <a:t>Structure</a:t>
            </a:r>
            <a:r>
              <a:rPr sz="1200" b="1" spc="-10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Deﬁnition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578279" y="2916734"/>
            <a:ext cx="143221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9A3412"/>
                </a:solidFill>
                <a:latin typeface="DejaVu Sans"/>
                <a:cs typeface="DejaVu Sans"/>
              </a:rPr>
              <a:t>UI</a:t>
            </a:r>
            <a:r>
              <a:rPr sz="1200" b="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9A3412"/>
                </a:solidFill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41499" y="6018111"/>
            <a:ext cx="239379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The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Connection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64073" y="6468804"/>
            <a:ext cx="833338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liên kết Activity với Layout. This crucial method inﬂates the XML layout, making it visible on the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screen.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7649" y="6573439"/>
            <a:ext cx="2200989" cy="279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FFFFF"/>
                </a:solidFill>
                <a:latin typeface="Liberation Mono"/>
                <a:cs typeface="Liberation Mono"/>
              </a:rPr>
              <a:t>setContentView()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8206" y="7136309"/>
            <a:ext cx="141684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9A3412"/>
                </a:solidFill>
                <a:latin typeface="DejaVu Sans"/>
                <a:cs typeface="DejaVu Sans"/>
              </a:rPr>
              <a:t>Code-UI</a:t>
            </a:r>
            <a:r>
              <a:rPr sz="1200" b="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Bridge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749748" y="7136309"/>
            <a:ext cx="159642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9A3412"/>
                </a:solidFill>
                <a:latin typeface="DejaVu Sans"/>
                <a:cs typeface="DejaVu Sans"/>
              </a:rPr>
              <a:t>Dynamic</a:t>
            </a:r>
            <a:r>
              <a:rPr sz="1200" b="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Content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46341" y="7679988"/>
            <a:ext cx="572738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Android Developers (Layouts in views, Build your ﬁrst app), freeCodeCamp.org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8819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06799" y="333807"/>
            <a:ext cx="617490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2" dirty="0">
                <a:solidFill>
                  <a:srgbClr val="FFFFFF"/>
                </a:solidFill>
                <a:latin typeface="DejaVu Sans"/>
                <a:cs typeface="DejaVu Sans"/>
              </a:rPr>
              <a:t>AndroidManifest</a:t>
            </a:r>
            <a:r>
              <a:rPr sz="4050" b="1" spc="-113" dirty="0">
                <a:solidFill>
                  <a:srgbClr val="FF9800"/>
                </a:solidFill>
                <a:latin typeface="DejaVu Sans"/>
                <a:cs typeface="DejaVu Sans"/>
              </a:rPr>
              <a:t>.xml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213" y="1342987"/>
            <a:ext cx="348273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Khai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báo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Activity 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9763" y="1803960"/>
            <a:ext cx="139716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Điểm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 Khởi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Đầu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213" y="2155630"/>
            <a:ext cx="560743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Xác định màn hình khởi đầu của ứng dụng, nơi mọi thứ bắt đầu.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69206" y="2559916"/>
            <a:ext cx="2149774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android.intent.action.MAIN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07593" y="2559916"/>
            <a:ext cx="2610706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android.intent.category.LAUNCHER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41213" y="3305137"/>
            <a:ext cx="442666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Quyền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truy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cập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(Permissions)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39763" y="3766110"/>
            <a:ext cx="242656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Sự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Đồng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Ý</a:t>
            </a:r>
            <a:r>
              <a:rPr sz="120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1213" y="4117780"/>
            <a:ext cx="554770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91" dirty="0">
                <a:solidFill>
                  <a:srgbClr val="FFFFFF"/>
                </a:solidFill>
                <a:latin typeface="DejaVu Sans"/>
                <a:cs typeface="DejaVu Sans"/>
              </a:rPr>
              <a:t>Yê</a:t>
            </a:r>
            <a:r>
              <a:rPr sz="1350" spc="-43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u cầu quyền truy cập cho các chức năng nhạy cảm (Internet,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Camera, </a:t>
            </a:r>
            <a:r>
              <a:rPr sz="1350" spc="-37" dirty="0">
                <a:solidFill>
                  <a:srgbClr val="FFFFFF"/>
                </a:solidFill>
                <a:latin typeface="DejaVu Sans"/>
                <a:cs typeface="DejaVu Sans"/>
              </a:rPr>
              <a:t>v.v.).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69206" y="4779241"/>
            <a:ext cx="1458375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&lt;uses-permission&gt;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16286" y="4776515"/>
            <a:ext cx="155933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Bảo mật &amp;</a:t>
            </a:r>
            <a:r>
              <a:rPr sz="1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Riêng tư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1213" y="5514937"/>
            <a:ext cx="4061938" cy="6824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62" dirty="0">
                <a:solidFill>
                  <a:srgbClr val="FFFFFF"/>
                </a:solidFill>
                <a:latin typeface="DejaVu Sans"/>
                <a:cs typeface="DejaVu Sans"/>
              </a:rPr>
              <a:t>Tên</a:t>
            </a:r>
            <a:r>
              <a:rPr sz="2000" b="1" spc="7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dụng,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Icon,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Theme</a:t>
            </a:r>
          </a:p>
          <a:p>
            <a:pPr marL="298549" marR="0">
              <a:lnSpc>
                <a:spcPts val="1368"/>
              </a:lnSpc>
              <a:spcBef>
                <a:spcPts val="1357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Nhận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41213" y="6327580"/>
            <a:ext cx="576216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Định nghĩa thông tin hiển thị và giao diện tổng thể của ứng dụng.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69206" y="6741391"/>
            <a:ext cx="1151087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android:label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09105" y="6741391"/>
            <a:ext cx="1074265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android:icon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872209" y="6741391"/>
            <a:ext cx="1151087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android:theme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4010" y="7517451"/>
            <a:ext cx="2023383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33" dirty="0">
                <a:solidFill>
                  <a:srgbClr val="FFFFFF"/>
                </a:solidFill>
                <a:latin typeface="DejaVu Sans"/>
                <a:cs typeface="DejaVu Sans"/>
              </a:rPr>
              <a:t>Vai</a:t>
            </a:r>
            <a:r>
              <a:rPr sz="1500" b="1" spc="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trò trung tâm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1556" y="7861860"/>
            <a:ext cx="5048045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Tệp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Manifest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là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bản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kế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Android,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khả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DejaVu Sans"/>
                <a:cs typeface="DejaVu Sans"/>
              </a:rPr>
              <a:t>nó.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730382" y="8242860"/>
            <a:ext cx="223295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Source: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8819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06799" y="333807"/>
            <a:ext cx="617490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2" dirty="0">
                <a:solidFill>
                  <a:srgbClr val="FFFFFF"/>
                </a:solidFill>
                <a:latin typeface="DejaVu Sans"/>
                <a:cs typeface="DejaVu Sans"/>
              </a:rPr>
              <a:t>AndroidManifest</a:t>
            </a:r>
            <a:r>
              <a:rPr sz="4050" b="1" spc="-113" dirty="0">
                <a:solidFill>
                  <a:srgbClr val="FF9800"/>
                </a:solidFill>
                <a:latin typeface="DejaVu Sans"/>
                <a:cs typeface="DejaVu Sans"/>
              </a:rPr>
              <a:t>.xml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213" y="1342987"/>
            <a:ext cx="348273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Khai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báo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Activity 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9763" y="1803960"/>
            <a:ext cx="139716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Điểm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 Khởi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Đầu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213" y="2155630"/>
            <a:ext cx="560743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Xác định màn hình khởi đầu của ứng dụng, nơi mọi thứ bắt đầu.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69206" y="2559916"/>
            <a:ext cx="2149774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android.intent.action.MAIN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07593" y="2559916"/>
            <a:ext cx="2610706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android.intent.category.LAUNCHER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41213" y="3305137"/>
            <a:ext cx="442666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Quyền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truy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cập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(Permissions)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39763" y="3766110"/>
            <a:ext cx="242656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Sự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Đồng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Ý</a:t>
            </a:r>
            <a:r>
              <a:rPr sz="120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1213" y="4117780"/>
            <a:ext cx="554770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91" dirty="0">
                <a:solidFill>
                  <a:srgbClr val="FFFFFF"/>
                </a:solidFill>
                <a:latin typeface="DejaVu Sans"/>
                <a:cs typeface="DejaVu Sans"/>
              </a:rPr>
              <a:t>Yê</a:t>
            </a:r>
            <a:r>
              <a:rPr sz="1350" spc="-43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u cầu quyền truy cập cho các chức năng nhạy cảm (Internet,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Camera, </a:t>
            </a:r>
            <a:r>
              <a:rPr sz="1350" spc="-37" dirty="0">
                <a:solidFill>
                  <a:srgbClr val="FFFFFF"/>
                </a:solidFill>
                <a:latin typeface="DejaVu Sans"/>
                <a:cs typeface="DejaVu Sans"/>
              </a:rPr>
              <a:t>v.v.).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69206" y="4779241"/>
            <a:ext cx="1458375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&lt;uses-permission&gt;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16286" y="4776515"/>
            <a:ext cx="155933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Bảo mật &amp;</a:t>
            </a:r>
            <a:r>
              <a:rPr sz="1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Riêng tư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1213" y="5514937"/>
            <a:ext cx="4061938" cy="6824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62" dirty="0">
                <a:solidFill>
                  <a:srgbClr val="FFFFFF"/>
                </a:solidFill>
                <a:latin typeface="DejaVu Sans"/>
                <a:cs typeface="DejaVu Sans"/>
              </a:rPr>
              <a:t>Tên</a:t>
            </a:r>
            <a:r>
              <a:rPr sz="2000" b="1" spc="7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dụng,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Icon,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Theme</a:t>
            </a:r>
          </a:p>
          <a:p>
            <a:pPr marL="298549" marR="0">
              <a:lnSpc>
                <a:spcPts val="1368"/>
              </a:lnSpc>
              <a:spcBef>
                <a:spcPts val="1357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Nhận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41213" y="6327580"/>
            <a:ext cx="576216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Định nghĩa thông tin hiển thị và giao diện tổng thể của ứng dụng.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69206" y="6741391"/>
            <a:ext cx="1151087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android:label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09105" y="6741391"/>
            <a:ext cx="1074265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android:icon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872209" y="6741391"/>
            <a:ext cx="1151087" cy="183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android:theme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4010" y="7517451"/>
            <a:ext cx="2023383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33" dirty="0">
                <a:solidFill>
                  <a:srgbClr val="FFFFFF"/>
                </a:solidFill>
                <a:latin typeface="DejaVu Sans"/>
                <a:cs typeface="DejaVu Sans"/>
              </a:rPr>
              <a:t>Vai</a:t>
            </a:r>
            <a:r>
              <a:rPr sz="1500" b="1" spc="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trò trung tâm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1556" y="7861860"/>
            <a:ext cx="5048045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Tệp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Manifest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là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bản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kế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Android,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khả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DejaVu Sans"/>
                <a:cs typeface="DejaVu Sans"/>
              </a:rPr>
              <a:t>nó.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730382" y="8242860"/>
            <a:ext cx="223295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Source: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5985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08160"/>
            <a:ext cx="5380540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Gradle &amp;</a:t>
            </a:r>
            <a:r>
              <a:rPr sz="5050" b="1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Build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9485" y="2399612"/>
            <a:ext cx="3254675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FF9800"/>
                </a:solidFill>
                <a:latin typeface="DejaVu Sans"/>
                <a:cs typeface="DejaVu Sans"/>
              </a:rPr>
              <a:t>Hệ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9800"/>
                </a:solidFill>
                <a:latin typeface="DejaVu Sans"/>
                <a:cs typeface="DejaVu Sans"/>
              </a:rPr>
              <a:t>thống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9800"/>
                </a:solidFill>
                <a:latin typeface="DejaVu Sans"/>
                <a:cs typeface="DejaVu Sans"/>
              </a:rPr>
              <a:t>Build </a:t>
            </a:r>
            <a:r>
              <a:rPr sz="1700" b="1" spc="-12" dirty="0">
                <a:solidFill>
                  <a:srgbClr val="FF9800"/>
                </a:solidFill>
                <a:latin typeface="DejaVu Sans"/>
                <a:cs typeface="DejaVu Sans"/>
              </a:rPr>
              <a:t>cốt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9800"/>
                </a:solidFill>
                <a:latin typeface="DejaVu Sans"/>
                <a:cs typeface="DejaVu Sans"/>
              </a:rPr>
              <a:t>lõi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9800"/>
                </a:solidFill>
                <a:latin typeface="DejaVu Sans"/>
                <a:cs typeface="DejaVu Sans"/>
              </a:rPr>
              <a:t>của</a:t>
            </a:r>
          </a:p>
          <a:p>
            <a:pPr marL="1077515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25428" y="2399612"/>
            <a:ext cx="309328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Quản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lý</a:t>
            </a:r>
            <a:r>
              <a:rPr sz="1700" b="1" spc="-14" dirty="0">
                <a:solidFill>
                  <a:srgbClr val="FF9800"/>
                </a:solidFill>
                <a:latin typeface="DejaVu Sans"/>
                <a:cs typeface="DejaVu Sans"/>
              </a:rPr>
              <a:t> Dependencies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&amp;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29177" y="2399612"/>
            <a:ext cx="3276545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9800"/>
                </a:solidFill>
                <a:latin typeface="DejaVu Sans"/>
                <a:cs typeface="DejaVu Sans"/>
              </a:rPr>
              <a:t>Tự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động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9800"/>
                </a:solidFill>
                <a:latin typeface="DejaVu Sans"/>
                <a:cs typeface="DejaVu Sans"/>
              </a:rPr>
              <a:t>Biên</a:t>
            </a:r>
            <a:r>
              <a:rPr sz="1700" b="1" spc="-10" dirty="0">
                <a:solidFill>
                  <a:srgbClr val="FF9800"/>
                </a:solidFill>
                <a:latin typeface="DejaVu Sans"/>
                <a:cs typeface="DejaVu Sans"/>
              </a:rPr>
              <a:t> dịch 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Đóng</a:t>
            </a:r>
          </a:p>
          <a:p>
            <a:pPr marL="1095375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gói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APK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10621" y="2694887"/>
            <a:ext cx="192299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9800"/>
                </a:solidFill>
                <a:latin typeface="DejaVu Sans"/>
                <a:cs typeface="DejaVu Sans"/>
              </a:rPr>
              <a:t>Phiên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9800"/>
                </a:solidFill>
                <a:latin typeface="DejaVu Sans"/>
                <a:cs typeface="DejaVu Sans"/>
              </a:rPr>
              <a:t>bản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SDK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7003" y="3077397"/>
            <a:ext cx="2979499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Tự động hóa toàn bộ quy trình từ</a:t>
            </a:r>
          </a:p>
          <a:p>
            <a:pPr marL="122485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mã nguồn đến ứng dụng hoàn</a:t>
            </a:r>
          </a:p>
          <a:p>
            <a:pPr marL="1153715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chỉnh.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75125" y="3077397"/>
            <a:ext cx="319398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9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Đảm bảo các thư viện và phiên bản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SDK tương thích, dễ dàng cập nhật.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91685" y="3077397"/>
            <a:ext cx="3151640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204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Biên dịch mã Kotlin/Java, tài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nguyên, và đóng gói thành ﬁle APK</a:t>
            </a:r>
          </a:p>
          <a:p>
            <a:pPr marL="1182588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cài đặt.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75159" y="4052112"/>
            <a:ext cx="947366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4" dirty="0">
                <a:solidFill>
                  <a:srgbClr val="9A3412"/>
                </a:solidFill>
                <a:latin typeface="DejaVu Sans"/>
                <a:cs typeface="DejaVu Sans"/>
              </a:rPr>
              <a:t>Automation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44663" y="4052112"/>
            <a:ext cx="867190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2" dirty="0">
                <a:solidFill>
                  <a:srgbClr val="9A3412"/>
                </a:solidFill>
                <a:latin typeface="DejaVu Sans"/>
                <a:cs typeface="DejaVu Sans"/>
              </a:rPr>
              <a:t>Integrated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61805" y="4052112"/>
            <a:ext cx="977690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2" dirty="0">
                <a:solidFill>
                  <a:srgbClr val="9A3412"/>
                </a:solidFill>
                <a:latin typeface="DejaVu Sans"/>
                <a:cs typeface="DejaVu Sans"/>
              </a:rPr>
              <a:t>Consistency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61670" y="4052112"/>
            <a:ext cx="853993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9A3412"/>
                </a:solidFill>
                <a:latin typeface="DejaVu Sans"/>
                <a:cs typeface="DejaVu Sans"/>
              </a:rPr>
              <a:t>Scalability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074347" y="4052112"/>
            <a:ext cx="987288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5" dirty="0">
                <a:solidFill>
                  <a:srgbClr val="9A3412"/>
                </a:solidFill>
                <a:latin typeface="DejaVu Sans"/>
                <a:cs typeface="DejaVu Sans"/>
              </a:rPr>
              <a:t>Deployment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383886" y="4052112"/>
            <a:ext cx="809873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5" dirty="0">
                <a:solidFill>
                  <a:srgbClr val="9A3412"/>
                </a:solidFill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07281" y="5112729"/>
            <a:ext cx="475726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9800"/>
                </a:solidFill>
                <a:latin typeface="DejaVu Sans"/>
                <a:cs typeface="DejaVu Sans"/>
              </a:rPr>
              <a:t>Tối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9800"/>
                </a:solidFill>
                <a:latin typeface="DejaVu Sans"/>
                <a:cs typeface="DejaVu Sans"/>
              </a:rPr>
              <a:t>Ưu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9800"/>
                </a:solidFill>
                <a:latin typeface="DejaVu Sans"/>
                <a:cs typeface="DejaVu Sans"/>
              </a:rPr>
              <a:t>Hóa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9800"/>
                </a:solidFill>
                <a:latin typeface="DejaVu Sans"/>
                <a:cs typeface="DejaVu Sans"/>
              </a:rPr>
              <a:t>Quy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-37" dirty="0">
                <a:solidFill>
                  <a:srgbClr val="FF9800"/>
                </a:solidFill>
                <a:latin typeface="DejaVu Sans"/>
                <a:cs typeface="DejaVu Sans"/>
              </a:rPr>
              <a:t>Trình</a:t>
            </a:r>
            <a:r>
              <a:rPr sz="2000" b="1" spc="54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9800"/>
                </a:solidFill>
                <a:latin typeface="DejaVu Sans"/>
                <a:cs typeface="DejaVu Sans"/>
              </a:rPr>
              <a:t>Phát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-37" dirty="0">
                <a:solidFill>
                  <a:srgbClr val="FF9800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5641" y="5677722"/>
            <a:ext cx="5927331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"Gradle giúp đơn giản hóa logic build phức tạp, đảm bảo tính nhất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quán giữa các môi trường, và tăng tốc chu kỳ phát triển ứng dụng."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746277" y="8728887"/>
            <a:ext cx="1024610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A3412"/>
                </a:solidFill>
                <a:latin typeface="DejaVu Sans"/>
                <a:cs typeface="DejaVu Sans"/>
              </a:rPr>
              <a:t>Performance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085730" y="8728887"/>
            <a:ext cx="825402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A3412"/>
                </a:solidFill>
                <a:latin typeface="DejaVu Sans"/>
                <a:cs typeface="DejaVu Sans"/>
              </a:rPr>
              <a:t>Reliability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672237" y="9260630"/>
            <a:ext cx="450151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Learning Android Development in 2025 [Beginner’s Edition]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5985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08160"/>
            <a:ext cx="5380540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Gradle &amp;</a:t>
            </a:r>
            <a:r>
              <a:rPr sz="5050" b="1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Build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9485" y="2399612"/>
            <a:ext cx="3254675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FF9800"/>
                </a:solidFill>
                <a:latin typeface="DejaVu Sans"/>
                <a:cs typeface="DejaVu Sans"/>
              </a:rPr>
              <a:t>Hệ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9800"/>
                </a:solidFill>
                <a:latin typeface="DejaVu Sans"/>
                <a:cs typeface="DejaVu Sans"/>
              </a:rPr>
              <a:t>thống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9800"/>
                </a:solidFill>
                <a:latin typeface="DejaVu Sans"/>
                <a:cs typeface="DejaVu Sans"/>
              </a:rPr>
              <a:t>Build </a:t>
            </a:r>
            <a:r>
              <a:rPr sz="1700" b="1" spc="-12" dirty="0">
                <a:solidFill>
                  <a:srgbClr val="FF9800"/>
                </a:solidFill>
                <a:latin typeface="DejaVu Sans"/>
                <a:cs typeface="DejaVu Sans"/>
              </a:rPr>
              <a:t>cốt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9800"/>
                </a:solidFill>
                <a:latin typeface="DejaVu Sans"/>
                <a:cs typeface="DejaVu Sans"/>
              </a:rPr>
              <a:t>lõi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9800"/>
                </a:solidFill>
                <a:latin typeface="DejaVu Sans"/>
                <a:cs typeface="DejaVu Sans"/>
              </a:rPr>
              <a:t>của</a:t>
            </a:r>
          </a:p>
          <a:p>
            <a:pPr marL="1077515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25428" y="2399612"/>
            <a:ext cx="309328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Quản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lý</a:t>
            </a:r>
            <a:r>
              <a:rPr sz="1700" b="1" spc="-14" dirty="0">
                <a:solidFill>
                  <a:srgbClr val="FF9800"/>
                </a:solidFill>
                <a:latin typeface="DejaVu Sans"/>
                <a:cs typeface="DejaVu Sans"/>
              </a:rPr>
              <a:t> Dependencies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&amp;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29177" y="2399612"/>
            <a:ext cx="3276545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9800"/>
                </a:solidFill>
                <a:latin typeface="DejaVu Sans"/>
                <a:cs typeface="DejaVu Sans"/>
              </a:rPr>
              <a:t>Tự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động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9800"/>
                </a:solidFill>
                <a:latin typeface="DejaVu Sans"/>
                <a:cs typeface="DejaVu Sans"/>
              </a:rPr>
              <a:t>Biên</a:t>
            </a:r>
            <a:r>
              <a:rPr sz="1700" b="1" spc="-10" dirty="0">
                <a:solidFill>
                  <a:srgbClr val="FF9800"/>
                </a:solidFill>
                <a:latin typeface="DejaVu Sans"/>
                <a:cs typeface="DejaVu Sans"/>
              </a:rPr>
              <a:t> dịch 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Đóng</a:t>
            </a:r>
          </a:p>
          <a:p>
            <a:pPr marL="1095375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gói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APK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10621" y="2694887"/>
            <a:ext cx="192299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9800"/>
                </a:solidFill>
                <a:latin typeface="DejaVu Sans"/>
                <a:cs typeface="DejaVu Sans"/>
              </a:rPr>
              <a:t>Phiên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9800"/>
                </a:solidFill>
                <a:latin typeface="DejaVu Sans"/>
                <a:cs typeface="DejaVu Sans"/>
              </a:rPr>
              <a:t>bản</a:t>
            </a:r>
            <a:r>
              <a:rPr sz="17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9800"/>
                </a:solidFill>
                <a:latin typeface="DejaVu Sans"/>
                <a:cs typeface="DejaVu Sans"/>
              </a:rPr>
              <a:t>SDK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7003" y="3077397"/>
            <a:ext cx="2979499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Tự động hóa toàn bộ quy trình từ</a:t>
            </a:r>
          </a:p>
          <a:p>
            <a:pPr marL="122485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mã nguồn đến ứng dụng hoàn</a:t>
            </a:r>
          </a:p>
          <a:p>
            <a:pPr marL="1153715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chỉnh.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75125" y="3077397"/>
            <a:ext cx="319398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9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Đảm bảo các thư viện và phiên bản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SDK tương thích, dễ dàng cập nhật.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91685" y="3077397"/>
            <a:ext cx="3151640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204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Biên dịch mã Kotlin/Java, tài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nguyên, và đóng gói thành ﬁle APK</a:t>
            </a:r>
          </a:p>
          <a:p>
            <a:pPr marL="1182588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cài đặt.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75159" y="4052112"/>
            <a:ext cx="947366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4" dirty="0">
                <a:solidFill>
                  <a:srgbClr val="9A3412"/>
                </a:solidFill>
                <a:latin typeface="DejaVu Sans"/>
                <a:cs typeface="DejaVu Sans"/>
              </a:rPr>
              <a:t>Automation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44663" y="4052112"/>
            <a:ext cx="867190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2" dirty="0">
                <a:solidFill>
                  <a:srgbClr val="9A3412"/>
                </a:solidFill>
                <a:latin typeface="DejaVu Sans"/>
                <a:cs typeface="DejaVu Sans"/>
              </a:rPr>
              <a:t>Integrated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61805" y="4052112"/>
            <a:ext cx="977690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2" dirty="0">
                <a:solidFill>
                  <a:srgbClr val="9A3412"/>
                </a:solidFill>
                <a:latin typeface="DejaVu Sans"/>
                <a:cs typeface="DejaVu Sans"/>
              </a:rPr>
              <a:t>Consistency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61670" y="4052112"/>
            <a:ext cx="853993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9A3412"/>
                </a:solidFill>
                <a:latin typeface="DejaVu Sans"/>
                <a:cs typeface="DejaVu Sans"/>
              </a:rPr>
              <a:t>Scalability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074347" y="4052112"/>
            <a:ext cx="987288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5" dirty="0">
                <a:solidFill>
                  <a:srgbClr val="9A3412"/>
                </a:solidFill>
                <a:latin typeface="DejaVu Sans"/>
                <a:cs typeface="DejaVu Sans"/>
              </a:rPr>
              <a:t>Deployment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383886" y="4052112"/>
            <a:ext cx="809873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5" dirty="0">
                <a:solidFill>
                  <a:srgbClr val="9A3412"/>
                </a:solidFill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07281" y="5112729"/>
            <a:ext cx="475726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9800"/>
                </a:solidFill>
                <a:latin typeface="DejaVu Sans"/>
                <a:cs typeface="DejaVu Sans"/>
              </a:rPr>
              <a:t>Tối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9800"/>
                </a:solidFill>
                <a:latin typeface="DejaVu Sans"/>
                <a:cs typeface="DejaVu Sans"/>
              </a:rPr>
              <a:t>Ưu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9800"/>
                </a:solidFill>
                <a:latin typeface="DejaVu Sans"/>
                <a:cs typeface="DejaVu Sans"/>
              </a:rPr>
              <a:t>Hóa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9800"/>
                </a:solidFill>
                <a:latin typeface="DejaVu Sans"/>
                <a:cs typeface="DejaVu Sans"/>
              </a:rPr>
              <a:t>Quy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-37" dirty="0">
                <a:solidFill>
                  <a:srgbClr val="FF9800"/>
                </a:solidFill>
                <a:latin typeface="DejaVu Sans"/>
                <a:cs typeface="DejaVu Sans"/>
              </a:rPr>
              <a:t>Trình</a:t>
            </a:r>
            <a:r>
              <a:rPr sz="2000" b="1" spc="54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9800"/>
                </a:solidFill>
                <a:latin typeface="DejaVu Sans"/>
                <a:cs typeface="DejaVu Sans"/>
              </a:rPr>
              <a:t>Phát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2000" b="1" spc="-37" dirty="0">
                <a:solidFill>
                  <a:srgbClr val="FF9800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5641" y="5677722"/>
            <a:ext cx="5927331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"Gradle giúp đơn giản hóa logic build phức tạp, đảm bảo tính nhất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quán giữa các môi trường, và tăng tốc chu kỳ phát triển ứng dụng."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746277" y="8728887"/>
            <a:ext cx="1024610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A3412"/>
                </a:solidFill>
                <a:latin typeface="DejaVu Sans"/>
                <a:cs typeface="DejaVu Sans"/>
              </a:rPr>
              <a:t>Performance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085730" y="8728887"/>
            <a:ext cx="825402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A3412"/>
                </a:solidFill>
                <a:latin typeface="DejaVu Sans"/>
                <a:cs typeface="DejaVu Sans"/>
              </a:rPr>
              <a:t>Reliability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672237" y="9260630"/>
            <a:ext cx="450151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Learning Android Development in 2025 [Beginner’s Edition]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69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3807"/>
            <a:ext cx="459897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Emulator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64" dirty="0">
                <a:solidFill>
                  <a:srgbClr val="FF9800"/>
                </a:solidFill>
                <a:latin typeface="DejaVu Sans"/>
                <a:cs typeface="DejaVu Sans"/>
              </a:rPr>
              <a:t>(AVD)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2540" y="1645612"/>
            <a:ext cx="431570" cy="2029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dirty="0">
                <a:solidFill>
                  <a:srgbClr val="FF9800"/>
                </a:solidFill>
                <a:latin typeface="DejaVu Sans"/>
                <a:cs typeface="DejaVu Sans"/>
              </a:rPr>
              <a:t>●</a:t>
            </a:r>
          </a:p>
          <a:p>
            <a:pPr marL="0" marR="0">
              <a:lnSpc>
                <a:spcPts val="2932"/>
              </a:lnSpc>
              <a:spcBef>
                <a:spcPts val="9867"/>
              </a:spcBef>
              <a:spcAft>
                <a:spcPts val="0"/>
              </a:spcAft>
            </a:pPr>
            <a:r>
              <a:rPr sz="2500" dirty="0">
                <a:solidFill>
                  <a:srgbClr val="FF9800"/>
                </a:solidFill>
                <a:latin typeface="DejaVu Sans"/>
                <a:cs typeface="DejaVu Sans"/>
              </a:rPr>
              <a:t>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23856" y="1715971"/>
            <a:ext cx="399757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Hỗ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trợ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đa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dạng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kích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thước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màn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33207" y="2242110"/>
            <a:ext cx="104095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9A3412"/>
                </a:solidFill>
                <a:latin typeface="DejaVu Sans"/>
                <a:cs typeface="DejaVu Sans"/>
              </a:rPr>
              <a:t>Kích</a:t>
            </a:r>
            <a:r>
              <a:rPr sz="1200" b="1" spc="-1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thước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17445" y="2242110"/>
            <a:ext cx="79427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75985"/>
                </a:solidFill>
                <a:latin typeface="DejaVu Sans"/>
                <a:cs typeface="DejaVu Sans"/>
              </a:rPr>
              <a:t>Thiết</a:t>
            </a:r>
            <a:r>
              <a:rPr sz="12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75985"/>
                </a:solidFill>
                <a:latin typeface="DejaVu Sans"/>
                <a:cs typeface="DejaVu Sans"/>
              </a:rPr>
              <a:t>bị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23856" y="3182821"/>
            <a:ext cx="4106291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thích nhiều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phiên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33207" y="3947085"/>
            <a:ext cx="12676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166534"/>
                </a:solidFill>
                <a:latin typeface="DejaVu Sans"/>
                <a:cs typeface="DejaVu Sans"/>
              </a:rPr>
              <a:t>Hệ</a:t>
            </a:r>
            <a:r>
              <a:rPr sz="1200" b="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166534"/>
                </a:solidFill>
                <a:latin typeface="DejaVu Sans"/>
                <a:cs typeface="DejaVu Sans"/>
              </a:rPr>
              <a:t>điều</a:t>
            </a:r>
            <a:r>
              <a:rPr sz="1200" b="1" spc="-1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166534"/>
                </a:solidFill>
                <a:latin typeface="DejaVu Sans"/>
                <a:cs typeface="DejaVu Sans"/>
              </a:rPr>
              <a:t>hành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44110" y="3947085"/>
            <a:ext cx="99584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6B21A8"/>
                </a:solidFill>
                <a:latin typeface="DejaVu Sans"/>
                <a:cs typeface="DejaVu Sans"/>
              </a:rPr>
              <a:t>Phát</a:t>
            </a:r>
            <a:r>
              <a:rPr sz="1200" b="1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6B21A8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65254" y="5019637"/>
            <a:ext cx="196532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9800"/>
                </a:solidFill>
                <a:latin typeface="DejaVu Sans"/>
                <a:cs typeface="DejaVu Sans"/>
              </a:rPr>
              <a:t>Lợi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ích chính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17096" y="5573596"/>
            <a:ext cx="4370692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cần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thật.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21891" y="6183196"/>
            <a:ext cx="4456087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Giả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lập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hoàn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chỉnh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21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máy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tính.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45088" y="6290235"/>
            <a:ext cx="9119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15E59"/>
                </a:solidFill>
                <a:latin typeface="DejaVu Sans"/>
                <a:cs typeface="DejaVu Sans"/>
              </a:rPr>
              <a:t>Kiểm</a:t>
            </a:r>
            <a:r>
              <a:rPr sz="1200" b="1" spc="-18" dirty="0">
                <a:solidFill>
                  <a:srgbClr val="115E59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5E59"/>
                </a:solidFill>
                <a:latin typeface="DejaVu Sans"/>
                <a:cs typeface="DejaVu Sans"/>
              </a:rPr>
              <a:t>thử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00292" y="6290235"/>
            <a:ext cx="93726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3F6212"/>
                </a:solidFill>
                <a:latin typeface="DejaVu Sans"/>
                <a:cs typeface="DejaVu Sans"/>
              </a:rPr>
              <a:t>Tiết</a:t>
            </a:r>
            <a:r>
              <a:rPr sz="1200" b="1" dirty="0">
                <a:solidFill>
                  <a:srgbClr val="3F6212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3F6212"/>
                </a:solidFill>
                <a:latin typeface="DejaVu Sans"/>
                <a:cs typeface="DejaVu Sans"/>
              </a:rPr>
              <a:t>kiệm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17096" y="6764222"/>
            <a:ext cx="4392138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8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phỏng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cứng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khác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nhau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31" dirty="0">
                <a:solidFill>
                  <a:srgbClr val="FFFFFF"/>
                </a:solidFill>
                <a:latin typeface="DejaVu Sans"/>
                <a:cs typeface="DejaVu Sans"/>
              </a:rPr>
              <a:t>(RAM,</a:t>
            </a:r>
            <a:r>
              <a:rPr sz="1700" spc="1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CPU).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45088" y="7490385"/>
            <a:ext cx="8909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3730A3"/>
                </a:solidFill>
                <a:latin typeface="DejaVu Sans"/>
                <a:cs typeface="DejaVu Sans"/>
              </a:rPr>
              <a:t>Cấu</a:t>
            </a:r>
            <a:r>
              <a:rPr sz="1200" b="1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3730A3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79307" y="7490385"/>
            <a:ext cx="9441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9D174D"/>
                </a:solidFill>
                <a:latin typeface="DejaVu Sans"/>
                <a:cs typeface="DejaVu Sans"/>
              </a:rPr>
              <a:t>Linh</a:t>
            </a:r>
            <a:r>
              <a:rPr sz="1200" b="1" spc="-11" dirty="0">
                <a:solidFill>
                  <a:srgbClr val="9D174D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9D174D"/>
                </a:solidFill>
                <a:latin typeface="DejaVu Sans"/>
                <a:cs typeface="DejaVu Sans"/>
              </a:rPr>
              <a:t>hoạt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69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3807"/>
            <a:ext cx="459897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Emulator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64" dirty="0">
                <a:solidFill>
                  <a:srgbClr val="FF9800"/>
                </a:solidFill>
                <a:latin typeface="DejaVu Sans"/>
                <a:cs typeface="DejaVu Sans"/>
              </a:rPr>
              <a:t>(AVD)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2540" y="1645612"/>
            <a:ext cx="431570" cy="2029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dirty="0">
                <a:solidFill>
                  <a:srgbClr val="FF9800"/>
                </a:solidFill>
                <a:latin typeface="DejaVu Sans"/>
                <a:cs typeface="DejaVu Sans"/>
              </a:rPr>
              <a:t>●</a:t>
            </a:r>
          </a:p>
          <a:p>
            <a:pPr marL="0" marR="0">
              <a:lnSpc>
                <a:spcPts val="2932"/>
              </a:lnSpc>
              <a:spcBef>
                <a:spcPts val="9867"/>
              </a:spcBef>
              <a:spcAft>
                <a:spcPts val="0"/>
              </a:spcAft>
            </a:pPr>
            <a:r>
              <a:rPr sz="2500" dirty="0">
                <a:solidFill>
                  <a:srgbClr val="FF9800"/>
                </a:solidFill>
                <a:latin typeface="DejaVu Sans"/>
                <a:cs typeface="DejaVu Sans"/>
              </a:rPr>
              <a:t>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23856" y="1715971"/>
            <a:ext cx="399757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Hỗ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trợ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đa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dạng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kích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thước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màn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33207" y="2242110"/>
            <a:ext cx="104095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9A3412"/>
                </a:solidFill>
                <a:latin typeface="DejaVu Sans"/>
                <a:cs typeface="DejaVu Sans"/>
              </a:rPr>
              <a:t>Kích</a:t>
            </a:r>
            <a:r>
              <a:rPr sz="1200" b="1" spc="-1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9A3412"/>
                </a:solidFill>
                <a:latin typeface="DejaVu Sans"/>
                <a:cs typeface="DejaVu Sans"/>
              </a:rPr>
              <a:t>thước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17445" y="2242110"/>
            <a:ext cx="79427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75985"/>
                </a:solidFill>
                <a:latin typeface="DejaVu Sans"/>
                <a:cs typeface="DejaVu Sans"/>
              </a:rPr>
              <a:t>Thiết</a:t>
            </a:r>
            <a:r>
              <a:rPr sz="1200" b="1" dirty="0">
                <a:solidFill>
                  <a:srgbClr val="075985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75985"/>
                </a:solidFill>
                <a:latin typeface="DejaVu Sans"/>
                <a:cs typeface="DejaVu Sans"/>
              </a:rPr>
              <a:t>bị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23856" y="3182821"/>
            <a:ext cx="4106291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thích nhiều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phiên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33207" y="3947085"/>
            <a:ext cx="12676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166534"/>
                </a:solidFill>
                <a:latin typeface="DejaVu Sans"/>
                <a:cs typeface="DejaVu Sans"/>
              </a:rPr>
              <a:t>Hệ</a:t>
            </a:r>
            <a:r>
              <a:rPr sz="1200" b="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166534"/>
                </a:solidFill>
                <a:latin typeface="DejaVu Sans"/>
                <a:cs typeface="DejaVu Sans"/>
              </a:rPr>
              <a:t>điều</a:t>
            </a:r>
            <a:r>
              <a:rPr sz="1200" b="1" spc="-11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166534"/>
                </a:solidFill>
                <a:latin typeface="DejaVu Sans"/>
                <a:cs typeface="DejaVu Sans"/>
              </a:rPr>
              <a:t>hành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44110" y="3947085"/>
            <a:ext cx="99584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6B21A8"/>
                </a:solidFill>
                <a:latin typeface="DejaVu Sans"/>
                <a:cs typeface="DejaVu Sans"/>
              </a:rPr>
              <a:t>Phát</a:t>
            </a:r>
            <a:r>
              <a:rPr sz="1200" b="1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6B21A8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65254" y="5019637"/>
            <a:ext cx="196532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9800"/>
                </a:solidFill>
                <a:latin typeface="DejaVu Sans"/>
                <a:cs typeface="DejaVu Sans"/>
              </a:rPr>
              <a:t>Lợi</a:t>
            </a:r>
            <a:r>
              <a:rPr sz="2000" b="1" dirty="0">
                <a:solidFill>
                  <a:srgbClr val="FF9800"/>
                </a:solidFill>
                <a:latin typeface="DejaVu Sans"/>
                <a:cs typeface="DejaVu Sans"/>
              </a:rPr>
              <a:t> ích chính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17096" y="5573596"/>
            <a:ext cx="4370692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cần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thật.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21891" y="6183196"/>
            <a:ext cx="4456087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Giả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lập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hoàn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chỉnh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21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DejaVu Sans"/>
                <a:cs typeface="DejaVu Sans"/>
              </a:rPr>
              <a:t>máy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tính.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45088" y="6290235"/>
            <a:ext cx="9119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15E59"/>
                </a:solidFill>
                <a:latin typeface="DejaVu Sans"/>
                <a:cs typeface="DejaVu Sans"/>
              </a:rPr>
              <a:t>Kiểm</a:t>
            </a:r>
            <a:r>
              <a:rPr sz="1200" b="1" spc="-18" dirty="0">
                <a:solidFill>
                  <a:srgbClr val="115E59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5E59"/>
                </a:solidFill>
                <a:latin typeface="DejaVu Sans"/>
                <a:cs typeface="DejaVu Sans"/>
              </a:rPr>
              <a:t>thử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00292" y="6290235"/>
            <a:ext cx="93726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3F6212"/>
                </a:solidFill>
                <a:latin typeface="DejaVu Sans"/>
                <a:cs typeface="DejaVu Sans"/>
              </a:rPr>
              <a:t>Tiết</a:t>
            </a:r>
            <a:r>
              <a:rPr sz="1200" b="1" dirty="0">
                <a:solidFill>
                  <a:srgbClr val="3F6212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3F6212"/>
                </a:solidFill>
                <a:latin typeface="DejaVu Sans"/>
                <a:cs typeface="DejaVu Sans"/>
              </a:rPr>
              <a:t>kiệm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17096" y="6764222"/>
            <a:ext cx="4392138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8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phỏng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cứng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khác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nhau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31" dirty="0">
                <a:solidFill>
                  <a:srgbClr val="FFFFFF"/>
                </a:solidFill>
                <a:latin typeface="DejaVu Sans"/>
                <a:cs typeface="DejaVu Sans"/>
              </a:rPr>
              <a:t>(RAM,</a:t>
            </a:r>
            <a:r>
              <a:rPr sz="1700" spc="1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CPU).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45088" y="7490385"/>
            <a:ext cx="8909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3730A3"/>
                </a:solidFill>
                <a:latin typeface="DejaVu Sans"/>
                <a:cs typeface="DejaVu Sans"/>
              </a:rPr>
              <a:t>Cấu</a:t>
            </a:r>
            <a:r>
              <a:rPr sz="1200" b="1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3730A3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79307" y="7490385"/>
            <a:ext cx="9441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9D174D"/>
                </a:solidFill>
                <a:latin typeface="DejaVu Sans"/>
                <a:cs typeface="DejaVu Sans"/>
              </a:rPr>
              <a:t>Linh</a:t>
            </a:r>
            <a:r>
              <a:rPr sz="1200" b="1" spc="-11" dirty="0">
                <a:solidFill>
                  <a:srgbClr val="9D174D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9D174D"/>
                </a:solidFill>
                <a:latin typeface="DejaVu Sans"/>
                <a:cs typeface="DejaVu Sans"/>
              </a:rPr>
              <a:t>hoạt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714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80977" y="356877"/>
            <a:ext cx="7182318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Chạy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30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thật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294854"/>
            <a:ext cx="540784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1: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lập </a:t>
            </a:r>
            <a:r>
              <a:rPr sz="2000" b="1" spc="14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294854"/>
            <a:ext cx="470615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2: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bạn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0549" y="2039313"/>
            <a:ext cx="420283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Kích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hoạt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tùy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chọn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nhà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0713" y="2536123"/>
            <a:ext cx="3093036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7" dirty="0">
                <a:solidFill>
                  <a:srgbClr val="FFFFFF"/>
                </a:solidFill>
                <a:latin typeface="DejaVu Sans"/>
                <a:cs typeface="DejaVu Sans"/>
              </a:rPr>
              <a:t>Vào</a:t>
            </a:r>
            <a:r>
              <a:rPr sz="1350" spc="3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Cài đặt &gt; Thông tin điện thoại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Nhấn 7 lần vào "Số bản dựng"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9549" y="3613957"/>
            <a:ext cx="65014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34715" y="3633007"/>
            <a:ext cx="6063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Cài đặt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87504" y="3858588"/>
            <a:ext cx="259352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cáp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USB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87504" y="4194227"/>
            <a:ext cx="4376596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USB,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nhận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ủy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quyền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có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FFFFFF"/>
                </a:solidFill>
                <a:latin typeface="DejaVu Sans"/>
                <a:cs typeface="DejaVu Sans"/>
              </a:rPr>
              <a:t>báo.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0549" y="4534863"/>
            <a:ext cx="188727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Bật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Gỡ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USB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50106" y="5031673"/>
            <a:ext cx="4084658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Tìm </a:t>
            </a:r>
            <a:r>
              <a:rPr sz="1350" spc="-49" dirty="0">
                <a:solidFill>
                  <a:srgbClr val="FFFFFF"/>
                </a:solidFill>
                <a:latin typeface="DejaVu Sans"/>
                <a:cs typeface="DejaVu Sans"/>
              </a:rPr>
              <a:t>"Tùy</a:t>
            </a:r>
            <a:r>
              <a:rPr sz="1350" spc="4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chọn nhà phát triển"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Cài đặt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Bật công tắc "Gỡ lỗi USB" để cho phép kết nối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87504" y="5220663"/>
            <a:ext cx="222255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Wi-Fi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87504" y="5556302"/>
            <a:ext cx="4378618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bảo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máy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cùng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mạng,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gỡ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52" dirty="0">
                <a:solidFill>
                  <a:srgbClr val="FFFFFF"/>
                </a:solidFill>
                <a:latin typeface="DejaVu Sans"/>
                <a:cs typeface="DejaVu Sans"/>
              </a:rPr>
              <a:t>dây.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8599" y="6128557"/>
            <a:ext cx="52000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Gỡ lỗi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26517" y="6109507"/>
            <a:ext cx="41518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USB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65105" y="6147607"/>
            <a:ext cx="8342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Không dây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588298" y="6147607"/>
            <a:ext cx="46993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20" dirty="0">
                <a:solidFill>
                  <a:srgbClr val="FFFFFF"/>
                </a:solidFill>
                <a:latin typeface="DejaVu Sans"/>
                <a:cs typeface="DejaVu Sans"/>
              </a:rPr>
              <a:t>Wi-Fi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16669" y="7117647"/>
            <a:ext cx="816836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Theo dõi logcat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Android Studio để phát hiện lỗi và xác nhận ứng dụng chạy thành công.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191898" y="7128681"/>
            <a:ext cx="41993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Mẹo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819803" y="7147731"/>
            <a:ext cx="82593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Tối ưu hóa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714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80977" y="356877"/>
            <a:ext cx="7182318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Chạy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30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thật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294854"/>
            <a:ext cx="540784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1: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lập </a:t>
            </a:r>
            <a:r>
              <a:rPr sz="2000" b="1" spc="14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294854"/>
            <a:ext cx="470615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2: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bạn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0549" y="2039313"/>
            <a:ext cx="420283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Kích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hoạt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tùy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chọn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nhà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0713" y="2536123"/>
            <a:ext cx="3093036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7" dirty="0">
                <a:solidFill>
                  <a:srgbClr val="FFFFFF"/>
                </a:solidFill>
                <a:latin typeface="DejaVu Sans"/>
                <a:cs typeface="DejaVu Sans"/>
              </a:rPr>
              <a:t>Vào</a:t>
            </a:r>
            <a:r>
              <a:rPr sz="1350" spc="3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Cài đặt &gt; Thông tin điện thoại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Nhấn 7 lần vào "Số bản dựng"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9549" y="3613957"/>
            <a:ext cx="65014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34715" y="3633007"/>
            <a:ext cx="6063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Cài đặt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87504" y="3858588"/>
            <a:ext cx="259352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cáp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USB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87504" y="4194227"/>
            <a:ext cx="4376596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USB,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nhận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ủy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quyền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có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FFFFFF"/>
                </a:solidFill>
                <a:latin typeface="DejaVu Sans"/>
                <a:cs typeface="DejaVu Sans"/>
              </a:rPr>
              <a:t>báo.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0549" y="4534863"/>
            <a:ext cx="188727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Bật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Gỡ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USB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50106" y="5031673"/>
            <a:ext cx="4084658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Tìm </a:t>
            </a:r>
            <a:r>
              <a:rPr sz="1350" spc="-49" dirty="0">
                <a:solidFill>
                  <a:srgbClr val="FFFFFF"/>
                </a:solidFill>
                <a:latin typeface="DejaVu Sans"/>
                <a:cs typeface="DejaVu Sans"/>
              </a:rPr>
              <a:t>"Tùy</a:t>
            </a:r>
            <a:r>
              <a:rPr sz="1350" spc="4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chọn nhà phát triển"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Cài đặt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Bật công tắc "Gỡ lỗi USB" để cho phép kết nối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87504" y="5220663"/>
            <a:ext cx="222255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Wi-Fi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87504" y="5556302"/>
            <a:ext cx="4378618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bảo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máy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cùng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mạng,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gỡ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52" dirty="0">
                <a:solidFill>
                  <a:srgbClr val="FFFFFF"/>
                </a:solidFill>
                <a:latin typeface="DejaVu Sans"/>
                <a:cs typeface="DejaVu Sans"/>
              </a:rPr>
              <a:t>dây.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8599" y="6128557"/>
            <a:ext cx="52000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Gỡ lỗi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26517" y="6109507"/>
            <a:ext cx="41518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USB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65105" y="6147607"/>
            <a:ext cx="8342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Không dây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588298" y="6147607"/>
            <a:ext cx="46993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20" dirty="0">
                <a:solidFill>
                  <a:srgbClr val="FFFFFF"/>
                </a:solidFill>
                <a:latin typeface="DejaVu Sans"/>
                <a:cs typeface="DejaVu Sans"/>
              </a:rPr>
              <a:t>Wi-Fi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16669" y="7117647"/>
            <a:ext cx="816836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Theo dõi logcat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Android Studio để phát hiện lỗi và xác nhận ứng dụng chạy thành công.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191898" y="7128681"/>
            <a:ext cx="41993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Mẹo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819803" y="7147731"/>
            <a:ext cx="82593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Tối ưu hóa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2661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763" y="382008"/>
            <a:ext cx="10404769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Chào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 M</a:t>
            </a:r>
            <a:r>
              <a:rPr sz="4050" b="1" spc="140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4050" b="1" spc="247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4050" b="1" spc="135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i: </a:t>
            </a:r>
            <a:r>
              <a:rPr sz="4050" b="1" dirty="0">
                <a:solidFill>
                  <a:srgbClr val="FF9800"/>
                </a:solidFill>
                <a:latin typeface="Liberation Sans"/>
                <a:cs typeface="Liberation Sans"/>
              </a:rPr>
              <a:t>Hello </a:t>
            </a:r>
            <a:r>
              <a:rPr sz="4050" b="1" spc="-28" dirty="0">
                <a:solidFill>
                  <a:srgbClr val="FF9800"/>
                </a:solidFill>
                <a:latin typeface="Liberation Sans"/>
                <a:cs typeface="Liberation Sans"/>
              </a:rPr>
              <a:t>World</a:t>
            </a:r>
            <a:r>
              <a:rPr sz="4050" b="1" spc="-137" dirty="0">
                <a:solidFill>
                  <a:srgbClr val="FF9800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9766" y="1585337"/>
            <a:ext cx="4163108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2000" b="1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Nghĩa </a:t>
            </a:r>
            <a:r>
              <a:rPr sz="20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`TextView`</a:t>
            </a:r>
            <a:r>
              <a:rPr sz="2000" b="1" spc="2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trong </a:t>
            </a:r>
            <a:r>
              <a:rPr sz="2000" b="1" spc="11" dirty="0">
                <a:solidFill>
                  <a:srgbClr val="FFFFFF"/>
                </a:solidFill>
                <a:latin typeface="Liberation Sans"/>
                <a:cs typeface="Liberation Sans"/>
              </a:rPr>
              <a:t>XML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69632" y="1585337"/>
            <a:ext cx="3549959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2000" b="1" spc="64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y</a:t>
            </a:r>
            <a:r>
              <a:rPr sz="2000" b="1" spc="173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D</a:t>
            </a:r>
            <a:r>
              <a:rPr sz="2000" b="1" spc="73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2000" b="1" spc="7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-31" dirty="0">
                <a:solidFill>
                  <a:srgbClr val="FFFFFF"/>
                </a:solidFill>
                <a:latin typeface="Liberation Sans"/>
                <a:cs typeface="Liberation Sans"/>
              </a:rPr>
              <a:t>Tra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7315" y="2268279"/>
            <a:ext cx="3477708" cy="238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TextView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:</a:t>
            </a:r>
            <a:r>
              <a:rPr sz="1350" spc="-2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Thành ph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350" i="1" dirty="0">
                <a:solidFill>
                  <a:srgbClr val="FFFFFF"/>
                </a:solidFill>
                <a:latin typeface="Liberation Sans"/>
                <a:cs typeface="Liberation Sans"/>
              </a:rPr>
              <a:t>UI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văn b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44617" y="2268279"/>
            <a:ext cx="335967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y 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d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trên</a:t>
            </a:r>
            <a:r>
              <a:rPr sz="1350" i="1" dirty="0">
                <a:solidFill>
                  <a:srgbClr val="FFFFFF"/>
                </a:solidFill>
                <a:latin typeface="Liberation Sans"/>
                <a:cs typeface="Liberation Sans"/>
              </a:rPr>
              <a:t>Emulator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ho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 thi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 b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9979" y="2915979"/>
            <a:ext cx="79457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:</a:t>
            </a:r>
            <a:r>
              <a:rPr sz="1350" spc="-2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 b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2899" y="2919896"/>
            <a:ext cx="1261927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chính cho giao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44617" y="2915979"/>
            <a:ext cx="291767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m tra hi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chu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'Hello World'.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7315" y="3046615"/>
            <a:ext cx="1893700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activity_main.xml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02111" y="3043721"/>
            <a:ext cx="503360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i="1" dirty="0">
                <a:solidFill>
                  <a:srgbClr val="FFFFFF"/>
                </a:solidFill>
                <a:latin typeface="Liberation Sans"/>
                <a:cs typeface="Liberation Sans"/>
              </a:rPr>
              <a:t>XML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29979" y="3163629"/>
            <a:ext cx="43126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52899" y="3163629"/>
            <a:ext cx="5326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88632" y="3583484"/>
            <a:ext cx="4437577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Liberation Sans"/>
                <a:cs typeface="Liberation Sans"/>
              </a:rPr>
              <a:t>Quy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trình</a:t>
            </a:r>
            <a:r>
              <a:rPr sz="1200" spc="-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  <a:r>
              <a:rPr sz="1200" spc="-8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Liberation Sans"/>
                <a:cs typeface="Liberation Sans"/>
              </a:rPr>
              <a:t>Android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Studio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ỗ</a:t>
            </a:r>
            <a:r>
              <a:rPr sz="1200" spc="4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ợ</a:t>
            </a:r>
            <a:r>
              <a:rPr sz="1200" spc="4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phát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tri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nhanh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chóng.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10381" y="3716834"/>
            <a:ext cx="3862312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"Kotlin</a:t>
            </a:r>
            <a:r>
              <a:rPr sz="1200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2" dirty="0">
                <a:solidFill>
                  <a:srgbClr val="FFFFFF"/>
                </a:solidFill>
                <a:latin typeface="Liberation Sans"/>
                <a:cs typeface="Liberation Sans"/>
              </a:rPr>
              <a:t>không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2" dirty="0">
                <a:solidFill>
                  <a:srgbClr val="FFFFFF"/>
                </a:solidFill>
                <a:latin typeface="Liberation Sans"/>
                <a:cs typeface="Liberation Sans"/>
              </a:rPr>
              <a:t>yêu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i="1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nhi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ề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i="1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FFFFFF"/>
                </a:solidFill>
                <a:latin typeface="Liberation Sans"/>
                <a:cs typeface="Liberation Sans"/>
              </a:rPr>
              <a:t>dòng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spc="3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-14" dirty="0">
                <a:solidFill>
                  <a:srgbClr val="FFFFFF"/>
                </a:solidFill>
                <a:latin typeface="Liberation Sans"/>
                <a:cs typeface="Liberation Sans"/>
              </a:rPr>
              <a:t>nói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'Hello,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World!'"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10381" y="3968176"/>
            <a:ext cx="3031796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i="1" dirty="0">
                <a:solidFill>
                  <a:srgbClr val="FFFFFF"/>
                </a:solidFill>
                <a:latin typeface="Liberation Sans"/>
                <a:cs typeface="Liberation Sans"/>
              </a:rPr>
              <a:t>- So</a:t>
            </a:r>
            <a:r>
              <a:rPr sz="1000" i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i="1" spc="-23" dirty="0">
                <a:solidFill>
                  <a:srgbClr val="FFFFFF"/>
                </a:solidFill>
                <a:latin typeface="Liberation Sans"/>
                <a:cs typeface="Liberation Sans"/>
              </a:rPr>
              <a:t>You</a:t>
            </a:r>
            <a:r>
              <a:rPr sz="1000" i="1" spc="3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i="1" dirty="0">
                <a:solidFill>
                  <a:srgbClr val="FFFFFF"/>
                </a:solidFill>
                <a:latin typeface="Liberation Sans"/>
                <a:cs typeface="Liberation Sans"/>
              </a:rPr>
              <a:t>Want to Be an</a:t>
            </a:r>
            <a:r>
              <a:rPr sz="1000" i="1" spc="-3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i="1" dirty="0">
                <a:solidFill>
                  <a:srgbClr val="FFFFFF"/>
                </a:solidFill>
                <a:latin typeface="Liberation Sans"/>
                <a:cs typeface="Liberation Sans"/>
              </a:rPr>
              <a:t>Android Developer in 2025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26690" y="10281662"/>
            <a:ext cx="3648463" cy="324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Quy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Liberation Sans"/>
                <a:cs typeface="Liberation Sans"/>
              </a:rPr>
              <a:t>Trình</a:t>
            </a:r>
            <a:r>
              <a:rPr sz="2000" b="1" spc="3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Phát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-31" dirty="0">
                <a:solidFill>
                  <a:srgbClr val="FFFFFF"/>
                </a:solidFill>
                <a:latin typeface="Liberation Sans"/>
                <a:cs typeface="Liberation Sans"/>
              </a:rPr>
              <a:t>Tri</a:t>
            </a:r>
            <a:r>
              <a:rPr sz="2000" b="1" spc="75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2000" b="1" spc="12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2000" b="1" spc="65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39142" y="11492396"/>
            <a:ext cx="2193255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1. Cài đ</a:t>
            </a:r>
            <a:r>
              <a:rPr sz="1350" b="1" spc="44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350" b="1" spc="-5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Android Studio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398591" y="11492396"/>
            <a:ext cx="1546900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2. T</a:t>
            </a:r>
            <a:r>
              <a:rPr sz="1350" b="1" spc="44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o D</a:t>
            </a:r>
            <a:r>
              <a:rPr sz="1350" b="1" spc="8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Án M</a:t>
            </a:r>
            <a:r>
              <a:rPr sz="1350" b="1" spc="44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131051" y="11492396"/>
            <a:ext cx="1754857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3. Biên d ch &amp; Ch</a:t>
            </a:r>
            <a:r>
              <a:rPr sz="1350" b="1" spc="45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26133" y="11854876"/>
            <a:ext cx="819058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Môi tr</a:t>
            </a:r>
            <a:r>
              <a:rPr sz="1000" b="1" spc="997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838378" y="11854876"/>
            <a:ext cx="667354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Kh</a:t>
            </a:r>
            <a:r>
              <a:rPr sz="1000" b="1" spc="321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i t</a:t>
            </a:r>
            <a:r>
              <a:rPr sz="1000" b="1" spc="325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o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630964" y="11854876"/>
            <a:ext cx="754946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23" dirty="0">
                <a:solidFill>
                  <a:srgbClr val="000000"/>
                </a:solidFill>
                <a:latin typeface="Liberation Sans"/>
                <a:cs typeface="Liberation Sans"/>
              </a:rPr>
              <a:t>Tri</a:t>
            </a:r>
            <a:r>
              <a:rPr sz="1000" b="1" spc="348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n khai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13204" y="12318663"/>
            <a:ext cx="270440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Ngu</a:t>
            </a:r>
            <a:r>
              <a:rPr sz="1000" spc="-11" dirty="0">
                <a:solidFill>
                  <a:srgbClr val="FFFFF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n: developer.android.com, medium.com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2661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763" y="382008"/>
            <a:ext cx="10404769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Chào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 M</a:t>
            </a:r>
            <a:r>
              <a:rPr sz="4050" b="1" spc="140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4050" b="1" spc="247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4050" b="1" spc="135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i: </a:t>
            </a:r>
            <a:r>
              <a:rPr sz="4050" b="1" dirty="0">
                <a:solidFill>
                  <a:srgbClr val="FF9800"/>
                </a:solidFill>
                <a:latin typeface="Liberation Sans"/>
                <a:cs typeface="Liberation Sans"/>
              </a:rPr>
              <a:t>Hello </a:t>
            </a:r>
            <a:r>
              <a:rPr sz="4050" b="1" spc="-28" dirty="0">
                <a:solidFill>
                  <a:srgbClr val="FF9800"/>
                </a:solidFill>
                <a:latin typeface="Liberation Sans"/>
                <a:cs typeface="Liberation Sans"/>
              </a:rPr>
              <a:t>World</a:t>
            </a:r>
            <a:r>
              <a:rPr sz="4050" b="1" spc="-137" dirty="0">
                <a:solidFill>
                  <a:srgbClr val="FF9800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9766" y="1585337"/>
            <a:ext cx="4163108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2000" b="1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Nghĩa </a:t>
            </a:r>
            <a:r>
              <a:rPr sz="20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`TextView`</a:t>
            </a:r>
            <a:r>
              <a:rPr sz="2000" b="1" spc="2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trong </a:t>
            </a:r>
            <a:r>
              <a:rPr sz="2000" b="1" spc="11" dirty="0">
                <a:solidFill>
                  <a:srgbClr val="FFFFFF"/>
                </a:solidFill>
                <a:latin typeface="Liberation Sans"/>
                <a:cs typeface="Liberation Sans"/>
              </a:rPr>
              <a:t>XML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69632" y="1585337"/>
            <a:ext cx="3549959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2000" b="1" spc="64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y</a:t>
            </a:r>
            <a:r>
              <a:rPr sz="2000" b="1" spc="173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D</a:t>
            </a:r>
            <a:r>
              <a:rPr sz="2000" b="1" spc="73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2000" b="1" spc="7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-31" dirty="0">
                <a:solidFill>
                  <a:srgbClr val="FFFFFF"/>
                </a:solidFill>
                <a:latin typeface="Liberation Sans"/>
                <a:cs typeface="Liberation Sans"/>
              </a:rPr>
              <a:t>Tra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7315" y="2268279"/>
            <a:ext cx="3477708" cy="238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TextView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:</a:t>
            </a:r>
            <a:r>
              <a:rPr sz="1350" spc="-2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Thành ph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350" i="1" dirty="0">
                <a:solidFill>
                  <a:srgbClr val="FFFFFF"/>
                </a:solidFill>
                <a:latin typeface="Liberation Sans"/>
                <a:cs typeface="Liberation Sans"/>
              </a:rPr>
              <a:t>UI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văn b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44617" y="2268279"/>
            <a:ext cx="335967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y 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d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trên</a:t>
            </a:r>
            <a:r>
              <a:rPr sz="1350" i="1" dirty="0">
                <a:solidFill>
                  <a:srgbClr val="FFFFFF"/>
                </a:solidFill>
                <a:latin typeface="Liberation Sans"/>
                <a:cs typeface="Liberation Sans"/>
              </a:rPr>
              <a:t>Emulator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ho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 thi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 b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9979" y="2915979"/>
            <a:ext cx="79457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:</a:t>
            </a:r>
            <a:r>
              <a:rPr sz="1350" spc="-2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 b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2899" y="2919896"/>
            <a:ext cx="1261927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chính cho giao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44617" y="2915979"/>
            <a:ext cx="291767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m tra hi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chu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'Hello World'.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7315" y="3046615"/>
            <a:ext cx="1893700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activity_main.xml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02111" y="3043721"/>
            <a:ext cx="503360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i="1" dirty="0">
                <a:solidFill>
                  <a:srgbClr val="FFFFFF"/>
                </a:solidFill>
                <a:latin typeface="Liberation Sans"/>
                <a:cs typeface="Liberation Sans"/>
              </a:rPr>
              <a:t>XML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29979" y="3163629"/>
            <a:ext cx="43126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52899" y="3163629"/>
            <a:ext cx="5326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88632" y="3583484"/>
            <a:ext cx="4437577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Liberation Sans"/>
                <a:cs typeface="Liberation Sans"/>
              </a:rPr>
              <a:t>Quy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trình</a:t>
            </a:r>
            <a:r>
              <a:rPr sz="1200" spc="-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  <a:r>
              <a:rPr sz="1200" spc="-8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Liberation Sans"/>
                <a:cs typeface="Liberation Sans"/>
              </a:rPr>
              <a:t>Android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Studio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ỗ</a:t>
            </a:r>
            <a:r>
              <a:rPr sz="1200" spc="4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ợ</a:t>
            </a:r>
            <a:r>
              <a:rPr sz="1200" spc="4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phát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tri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nhanh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chóng.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10381" y="3716834"/>
            <a:ext cx="3862312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"Kotlin</a:t>
            </a:r>
            <a:r>
              <a:rPr sz="1200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2" dirty="0">
                <a:solidFill>
                  <a:srgbClr val="FFFFFF"/>
                </a:solidFill>
                <a:latin typeface="Liberation Sans"/>
                <a:cs typeface="Liberation Sans"/>
              </a:rPr>
              <a:t>không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2" dirty="0">
                <a:solidFill>
                  <a:srgbClr val="FFFFFF"/>
                </a:solidFill>
                <a:latin typeface="Liberation Sans"/>
                <a:cs typeface="Liberation Sans"/>
              </a:rPr>
              <a:t>yêu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i="1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nhi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ề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i="1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FFFFFF"/>
                </a:solidFill>
                <a:latin typeface="Liberation Sans"/>
                <a:cs typeface="Liberation Sans"/>
              </a:rPr>
              <a:t>dòng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spc="3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-14" dirty="0">
                <a:solidFill>
                  <a:srgbClr val="FFFFFF"/>
                </a:solidFill>
                <a:latin typeface="Liberation Sans"/>
                <a:cs typeface="Liberation Sans"/>
              </a:rPr>
              <a:t>nói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'Hello,</a:t>
            </a:r>
            <a:r>
              <a:rPr sz="1200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World!'"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10381" y="3968176"/>
            <a:ext cx="3031796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i="1" dirty="0">
                <a:solidFill>
                  <a:srgbClr val="FFFFFF"/>
                </a:solidFill>
                <a:latin typeface="Liberation Sans"/>
                <a:cs typeface="Liberation Sans"/>
              </a:rPr>
              <a:t>- So</a:t>
            </a:r>
            <a:r>
              <a:rPr sz="1000" i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i="1" spc="-23" dirty="0">
                <a:solidFill>
                  <a:srgbClr val="FFFFFF"/>
                </a:solidFill>
                <a:latin typeface="Liberation Sans"/>
                <a:cs typeface="Liberation Sans"/>
              </a:rPr>
              <a:t>You</a:t>
            </a:r>
            <a:r>
              <a:rPr sz="1000" i="1" spc="3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i="1" dirty="0">
                <a:solidFill>
                  <a:srgbClr val="FFFFFF"/>
                </a:solidFill>
                <a:latin typeface="Liberation Sans"/>
                <a:cs typeface="Liberation Sans"/>
              </a:rPr>
              <a:t>Want to Be an</a:t>
            </a:r>
            <a:r>
              <a:rPr sz="1000" i="1" spc="-3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i="1" dirty="0">
                <a:solidFill>
                  <a:srgbClr val="FFFFFF"/>
                </a:solidFill>
                <a:latin typeface="Liberation Sans"/>
                <a:cs typeface="Liberation Sans"/>
              </a:rPr>
              <a:t>Android Developer in 2025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26690" y="10281662"/>
            <a:ext cx="3648463" cy="324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Quy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Liberation Sans"/>
                <a:cs typeface="Liberation Sans"/>
              </a:rPr>
              <a:t>Trình</a:t>
            </a:r>
            <a:r>
              <a:rPr sz="2000" b="1" spc="3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Phát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-31" dirty="0">
                <a:solidFill>
                  <a:srgbClr val="FFFFFF"/>
                </a:solidFill>
                <a:latin typeface="Liberation Sans"/>
                <a:cs typeface="Liberation Sans"/>
              </a:rPr>
              <a:t>Tri</a:t>
            </a:r>
            <a:r>
              <a:rPr sz="2000" b="1" spc="75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2000" b="1" spc="12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2000" b="1" spc="65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39142" y="11492396"/>
            <a:ext cx="2193255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1. Cài đ</a:t>
            </a:r>
            <a:r>
              <a:rPr sz="1350" b="1" spc="44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350" b="1" spc="-5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Android Studio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398591" y="11492396"/>
            <a:ext cx="1546900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2. T</a:t>
            </a:r>
            <a:r>
              <a:rPr sz="1350" b="1" spc="44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o D</a:t>
            </a:r>
            <a:r>
              <a:rPr sz="1350" b="1" spc="8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Án M</a:t>
            </a:r>
            <a:r>
              <a:rPr sz="1350" b="1" spc="44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131051" y="11492396"/>
            <a:ext cx="1754857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3. Biên d ch &amp; Ch</a:t>
            </a:r>
            <a:r>
              <a:rPr sz="1350" b="1" spc="45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26133" y="11854876"/>
            <a:ext cx="819058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Môi tr</a:t>
            </a:r>
            <a:r>
              <a:rPr sz="1000" b="1" spc="997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838378" y="11854876"/>
            <a:ext cx="667354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Kh</a:t>
            </a:r>
            <a:r>
              <a:rPr sz="1000" b="1" spc="321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i t</a:t>
            </a:r>
            <a:r>
              <a:rPr sz="1000" b="1" spc="325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o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630964" y="11854876"/>
            <a:ext cx="754946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23" dirty="0">
                <a:solidFill>
                  <a:srgbClr val="000000"/>
                </a:solidFill>
                <a:latin typeface="Liberation Sans"/>
                <a:cs typeface="Liberation Sans"/>
              </a:rPr>
              <a:t>Tri</a:t>
            </a:r>
            <a:r>
              <a:rPr sz="1000" b="1" spc="348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0000"/>
                </a:solidFill>
                <a:latin typeface="Liberation Sans"/>
                <a:cs typeface="Liberation Sans"/>
              </a:rPr>
              <a:t>n khai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13204" y="12318663"/>
            <a:ext cx="270440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Ngu</a:t>
            </a:r>
            <a:r>
              <a:rPr sz="1000" spc="-11" dirty="0">
                <a:solidFill>
                  <a:srgbClr val="FFFFF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n: developer.android.com, medium.com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3827" y="334315"/>
            <a:ext cx="396957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4" dirty="0">
                <a:solidFill>
                  <a:srgbClr val="FFFFFF"/>
                </a:solidFill>
                <a:latin typeface="DejaVu Sans"/>
                <a:cs typeface="DejaVu Sans"/>
              </a:rPr>
              <a:t>Debug</a:t>
            </a:r>
            <a:r>
              <a:rPr sz="4050" b="1" spc="29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50" b="1" spc="-112" dirty="0">
                <a:solidFill>
                  <a:srgbClr val="FF9800"/>
                </a:solidFill>
                <a:latin typeface="DejaVu Sans"/>
                <a:cs typeface="DejaVu Sans"/>
              </a:rPr>
              <a:t>cơ</a:t>
            </a:r>
            <a:r>
              <a:rPr sz="4050" b="1" spc="-109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13" dirty="0">
                <a:solidFill>
                  <a:srgbClr val="FF980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4769" y="1468829"/>
            <a:ext cx="2462196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Logcat: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37" dirty="0">
                <a:solidFill>
                  <a:srgbClr val="1F2937"/>
                </a:solidFill>
                <a:latin typeface="DejaVu Sans"/>
                <a:cs typeface="DejaVu Sans"/>
              </a:rPr>
              <a:t>Xem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1F2937"/>
                </a:solidFill>
                <a:latin typeface="DejaVu Sans"/>
                <a:cs typeface="DejaVu Sans"/>
              </a:rPr>
              <a:t>log </a:t>
            </a: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hệ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thống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50048" y="1468829"/>
            <a:ext cx="2027097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Log.d(),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Log.e()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trong</a:t>
            </a:r>
            <a:r>
              <a:rPr sz="1700" b="1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1F2937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45326" y="1468829"/>
            <a:ext cx="1477148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Debug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F2937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Breakpoint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0919" y="2233093"/>
            <a:ext cx="180095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Theo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dõi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dòng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sự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kiện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26198" y="2233093"/>
            <a:ext cx="18712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Ghi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tin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tùy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chỉnh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21476" y="2233093"/>
            <a:ext cx="197914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soát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luồng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9602" y="2660963"/>
            <a:ext cx="2991946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Hiển thị thông báo, lỗi, cảnh </a:t>
            </a:r>
            <a:r>
              <a:rPr sz="1350" spc="-11" dirty="0">
                <a:solidFill>
                  <a:srgbClr val="374151"/>
                </a:solidFill>
                <a:latin typeface="DejaVu Sans"/>
                <a:cs typeface="DejaVu Sans"/>
              </a:rPr>
              <a:t>báo.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Lọc theo tag, level, PID.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60158" y="2660963"/>
            <a:ext cx="290792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Tạm dừng chương trình tại điểm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55641" y="2776018"/>
            <a:ext cx="2482351" cy="431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33EA"/>
                </a:solidFill>
                <a:latin typeface="Liberation Mono"/>
                <a:cs typeface="Liberation Mono"/>
              </a:rPr>
              <a:t>Log.d</a:t>
            </a:r>
            <a:r>
              <a:rPr sz="1200" spc="-15" dirty="0">
                <a:solidFill>
                  <a:srgbClr val="1F2937"/>
                </a:solidFill>
                <a:latin typeface="Liberation Mono"/>
                <a:cs typeface="Liberation Mono"/>
              </a:rPr>
              <a:t>(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"APP_TAG"</a:t>
            </a:r>
            <a:r>
              <a:rPr sz="1200" dirty="0">
                <a:solidFill>
                  <a:srgbClr val="1F2937"/>
                </a:solidFill>
                <a:latin typeface="Liberation Mono"/>
                <a:cs typeface="Liberation Mono"/>
              </a:rPr>
              <a:t>,</a:t>
            </a:r>
            <a:r>
              <a:rPr sz="1200" spc="-28" dirty="0">
                <a:solidFill>
                  <a:srgbClr val="1F2937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"D</a:t>
            </a:r>
            <a:r>
              <a:rPr sz="1200" dirty="0">
                <a:solidFill>
                  <a:srgbClr val="16A34A"/>
                </a:solidFill>
                <a:latin typeface="DejaVu Sans Mono"/>
                <a:cs typeface="DejaVu Sans Mono"/>
              </a:rPr>
              <a:t>ữ</a:t>
            </a:r>
            <a:r>
              <a:rPr sz="1200" spc="391" dirty="0">
                <a:solidFill>
                  <a:srgbClr val="16A34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li</a:t>
            </a:r>
            <a:r>
              <a:rPr sz="1200" spc="-15" dirty="0">
                <a:solidFill>
                  <a:srgbClr val="16A34A"/>
                </a:solidFill>
                <a:latin typeface="DejaVu Sans Mono"/>
                <a:cs typeface="DejaVu Sans Mono"/>
              </a:rPr>
              <a:t>ệ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u: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sz="1200" spc="-15" dirty="0">
                <a:solidFill>
                  <a:srgbClr val="EF4444"/>
                </a:solidFill>
                <a:latin typeface="Liberation Mono"/>
                <a:cs typeface="Liberation Mono"/>
              </a:rPr>
              <a:t>$value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</a:t>
            </a:r>
            <a:r>
              <a:rPr sz="1200" dirty="0">
                <a:solidFill>
                  <a:srgbClr val="1F2937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22926" y="2918138"/>
            <a:ext cx="74264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cụ thể.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55641" y="3204643"/>
            <a:ext cx="2573462" cy="431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33EA"/>
                </a:solidFill>
                <a:latin typeface="Liberation Mono"/>
                <a:cs typeface="Liberation Mono"/>
              </a:rPr>
              <a:t>Log.e</a:t>
            </a:r>
            <a:r>
              <a:rPr sz="1200" spc="-15" dirty="0">
                <a:solidFill>
                  <a:srgbClr val="1F2937"/>
                </a:solidFill>
                <a:latin typeface="Liberation Mono"/>
                <a:cs typeface="Liberation Mono"/>
              </a:rPr>
              <a:t>(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"APP_ERROR"</a:t>
            </a:r>
            <a:r>
              <a:rPr sz="1200" dirty="0">
                <a:solidFill>
                  <a:srgbClr val="1F2937"/>
                </a:solidFill>
                <a:latin typeface="Liberation Mono"/>
                <a:cs typeface="Liberation Mono"/>
              </a:rPr>
              <a:t>,</a:t>
            </a:r>
            <a:r>
              <a:rPr sz="1200" spc="-28" dirty="0">
                <a:solidFill>
                  <a:srgbClr val="1F2937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"L</a:t>
            </a:r>
            <a:r>
              <a:rPr sz="1200" dirty="0">
                <a:solidFill>
                  <a:srgbClr val="16A34A"/>
                </a:solidFill>
                <a:latin typeface="DejaVu Sans Mono"/>
                <a:cs typeface="DejaVu Sans Mono"/>
              </a:rPr>
              <a:t>ỗ</a:t>
            </a:r>
            <a:r>
              <a:rPr sz="1200" dirty="0">
                <a:solidFill>
                  <a:srgbClr val="16A34A"/>
                </a:solidFill>
                <a:latin typeface="Liberation Mono"/>
                <a:cs typeface="Liberation Mono"/>
              </a:rPr>
              <a:t>i</a:t>
            </a:r>
            <a:r>
              <a:rPr sz="1200" spc="-30" dirty="0">
                <a:solidFill>
                  <a:srgbClr val="16A34A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x</a:t>
            </a:r>
            <a:r>
              <a:rPr sz="1200" spc="-360" dirty="0">
                <a:solidFill>
                  <a:srgbClr val="16A34A"/>
                </a:solidFill>
                <a:latin typeface="DejaVu Sans Mono"/>
                <a:cs typeface="DejaVu Sans Mono"/>
              </a:rPr>
              <a:t>ả</a:t>
            </a:r>
            <a:r>
              <a:rPr sz="1200" dirty="0">
                <a:solidFill>
                  <a:srgbClr val="16A34A"/>
                </a:solidFill>
                <a:latin typeface="Liberation Mono"/>
                <a:cs typeface="Liberation Mono"/>
              </a:rPr>
              <a:t>y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ra!"</a:t>
            </a:r>
            <a:r>
              <a:rPr sz="1200" dirty="0">
                <a:solidFill>
                  <a:srgbClr val="1F2937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60158" y="3261038"/>
            <a:ext cx="2855953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Kiểm tra giá trị biến, trạng thái.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Đi từng bước để theo dõi logic.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9602" y="3346763"/>
            <a:ext cx="29601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Giúp nhận diện luồng hoạt động.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807445" y="3899213"/>
            <a:ext cx="2407086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Mono"/>
                <a:cs typeface="Liberation Mono"/>
              </a:rPr>
              <a:t>Log.d()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: Thông tin gỡ lỗi.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807445" y="4251638"/>
            <a:ext cx="2656428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Mono"/>
                <a:cs typeface="Liberation Mono"/>
              </a:rPr>
              <a:t>Log.e()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: Báo cáo lỗi nghiêm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27648" y="4518338"/>
            <a:ext cx="66471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trọng.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38931" y="5777147"/>
            <a:ext cx="9912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System Log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876275" y="5777147"/>
            <a:ext cx="76541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Filtering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634209" y="5777147"/>
            <a:ext cx="132003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Custom Logging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100315" y="5777147"/>
            <a:ext cx="111872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Kotlin Syntax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529487" y="5777147"/>
            <a:ext cx="143395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Execution Control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109447" y="5777147"/>
            <a:ext cx="139764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Inspect Variables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38931" y="6072422"/>
            <a:ext cx="137708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Real-time Events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634209" y="6072422"/>
            <a:ext cx="125647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Severity Levels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529487" y="6072422"/>
            <a:ext cx="108145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Step-by-step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3827" y="334315"/>
            <a:ext cx="396957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4" dirty="0">
                <a:solidFill>
                  <a:srgbClr val="FFFFFF"/>
                </a:solidFill>
                <a:latin typeface="DejaVu Sans"/>
                <a:cs typeface="DejaVu Sans"/>
              </a:rPr>
              <a:t>Debug</a:t>
            </a:r>
            <a:r>
              <a:rPr sz="4050" b="1" spc="29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50" b="1" spc="-112" dirty="0">
                <a:solidFill>
                  <a:srgbClr val="FF9800"/>
                </a:solidFill>
                <a:latin typeface="DejaVu Sans"/>
                <a:cs typeface="DejaVu Sans"/>
              </a:rPr>
              <a:t>cơ</a:t>
            </a:r>
            <a:r>
              <a:rPr sz="4050" b="1" spc="-109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13" dirty="0">
                <a:solidFill>
                  <a:srgbClr val="FF980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4769" y="1468829"/>
            <a:ext cx="2462196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Logcat: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37" dirty="0">
                <a:solidFill>
                  <a:srgbClr val="1F2937"/>
                </a:solidFill>
                <a:latin typeface="DejaVu Sans"/>
                <a:cs typeface="DejaVu Sans"/>
              </a:rPr>
              <a:t>Xem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1F2937"/>
                </a:solidFill>
                <a:latin typeface="DejaVu Sans"/>
                <a:cs typeface="DejaVu Sans"/>
              </a:rPr>
              <a:t>log </a:t>
            </a: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hệ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thống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50048" y="1468829"/>
            <a:ext cx="2027097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Log.d(),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Log.e()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1" dirty="0">
                <a:solidFill>
                  <a:srgbClr val="1F2937"/>
                </a:solidFill>
                <a:latin typeface="DejaVu Sans"/>
                <a:cs typeface="DejaVu Sans"/>
              </a:rPr>
              <a:t>trong</a:t>
            </a:r>
            <a:r>
              <a:rPr sz="1700" b="1" spc="-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1F2937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45326" y="1468829"/>
            <a:ext cx="1477148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1F2937"/>
                </a:solidFill>
                <a:latin typeface="DejaVu Sans"/>
                <a:cs typeface="DejaVu Sans"/>
              </a:rPr>
              <a:t>Debug</a:t>
            </a:r>
            <a:r>
              <a:rPr sz="17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F2937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2" dirty="0">
                <a:solidFill>
                  <a:srgbClr val="1F2937"/>
                </a:solidFill>
                <a:latin typeface="DejaVu Sans"/>
                <a:cs typeface="DejaVu Sans"/>
              </a:rPr>
              <a:t>Breakpoint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0919" y="2233093"/>
            <a:ext cx="180095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Theo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dõi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dòng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sự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kiện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26198" y="2233093"/>
            <a:ext cx="18712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Ghi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tin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tùy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chỉnh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21476" y="2233093"/>
            <a:ext cx="197914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soát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luồng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9602" y="2660963"/>
            <a:ext cx="2991946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Hiển thị thông báo, lỗi, cảnh </a:t>
            </a:r>
            <a:r>
              <a:rPr sz="1350" spc="-11" dirty="0">
                <a:solidFill>
                  <a:srgbClr val="374151"/>
                </a:solidFill>
                <a:latin typeface="DejaVu Sans"/>
                <a:cs typeface="DejaVu Sans"/>
              </a:rPr>
              <a:t>báo.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Lọc theo tag, level, PID.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60158" y="2660963"/>
            <a:ext cx="290792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Tạm dừng chương trình tại điểm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55641" y="2776018"/>
            <a:ext cx="2482351" cy="431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33EA"/>
                </a:solidFill>
                <a:latin typeface="Liberation Mono"/>
                <a:cs typeface="Liberation Mono"/>
              </a:rPr>
              <a:t>Log.d</a:t>
            </a:r>
            <a:r>
              <a:rPr sz="1200" spc="-15" dirty="0">
                <a:solidFill>
                  <a:srgbClr val="1F2937"/>
                </a:solidFill>
                <a:latin typeface="Liberation Mono"/>
                <a:cs typeface="Liberation Mono"/>
              </a:rPr>
              <a:t>(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"APP_TAG"</a:t>
            </a:r>
            <a:r>
              <a:rPr sz="1200" dirty="0">
                <a:solidFill>
                  <a:srgbClr val="1F2937"/>
                </a:solidFill>
                <a:latin typeface="Liberation Mono"/>
                <a:cs typeface="Liberation Mono"/>
              </a:rPr>
              <a:t>,</a:t>
            </a:r>
            <a:r>
              <a:rPr sz="1200" spc="-28" dirty="0">
                <a:solidFill>
                  <a:srgbClr val="1F2937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"D</a:t>
            </a:r>
            <a:r>
              <a:rPr sz="1200" dirty="0">
                <a:solidFill>
                  <a:srgbClr val="16A34A"/>
                </a:solidFill>
                <a:latin typeface="DejaVu Sans Mono"/>
                <a:cs typeface="DejaVu Sans Mono"/>
              </a:rPr>
              <a:t>ữ</a:t>
            </a:r>
            <a:r>
              <a:rPr sz="1200" spc="391" dirty="0">
                <a:solidFill>
                  <a:srgbClr val="16A34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li</a:t>
            </a:r>
            <a:r>
              <a:rPr sz="1200" spc="-15" dirty="0">
                <a:solidFill>
                  <a:srgbClr val="16A34A"/>
                </a:solidFill>
                <a:latin typeface="DejaVu Sans Mono"/>
                <a:cs typeface="DejaVu Sans Mono"/>
              </a:rPr>
              <a:t>ệ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u: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sz="1200" spc="-15" dirty="0">
                <a:solidFill>
                  <a:srgbClr val="EF4444"/>
                </a:solidFill>
                <a:latin typeface="Liberation Mono"/>
                <a:cs typeface="Liberation Mono"/>
              </a:rPr>
              <a:t>$value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</a:t>
            </a:r>
            <a:r>
              <a:rPr sz="1200" dirty="0">
                <a:solidFill>
                  <a:srgbClr val="1F2937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22926" y="2918138"/>
            <a:ext cx="74264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cụ thể.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55641" y="3204643"/>
            <a:ext cx="2573462" cy="431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33EA"/>
                </a:solidFill>
                <a:latin typeface="Liberation Mono"/>
                <a:cs typeface="Liberation Mono"/>
              </a:rPr>
              <a:t>Log.e</a:t>
            </a:r>
            <a:r>
              <a:rPr sz="1200" spc="-15" dirty="0">
                <a:solidFill>
                  <a:srgbClr val="1F2937"/>
                </a:solidFill>
                <a:latin typeface="Liberation Mono"/>
                <a:cs typeface="Liberation Mono"/>
              </a:rPr>
              <a:t>(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"APP_ERROR"</a:t>
            </a:r>
            <a:r>
              <a:rPr sz="1200" dirty="0">
                <a:solidFill>
                  <a:srgbClr val="1F2937"/>
                </a:solidFill>
                <a:latin typeface="Liberation Mono"/>
                <a:cs typeface="Liberation Mono"/>
              </a:rPr>
              <a:t>,</a:t>
            </a:r>
            <a:r>
              <a:rPr sz="1200" spc="-28" dirty="0">
                <a:solidFill>
                  <a:srgbClr val="1F2937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"L</a:t>
            </a:r>
            <a:r>
              <a:rPr sz="1200" dirty="0">
                <a:solidFill>
                  <a:srgbClr val="16A34A"/>
                </a:solidFill>
                <a:latin typeface="DejaVu Sans Mono"/>
                <a:cs typeface="DejaVu Sans Mono"/>
              </a:rPr>
              <a:t>ỗ</a:t>
            </a:r>
            <a:r>
              <a:rPr sz="1200" dirty="0">
                <a:solidFill>
                  <a:srgbClr val="16A34A"/>
                </a:solidFill>
                <a:latin typeface="Liberation Mono"/>
                <a:cs typeface="Liberation Mono"/>
              </a:rPr>
              <a:t>i</a:t>
            </a:r>
            <a:r>
              <a:rPr sz="1200" spc="-30" dirty="0">
                <a:solidFill>
                  <a:srgbClr val="16A34A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x</a:t>
            </a:r>
            <a:r>
              <a:rPr sz="1200" spc="-360" dirty="0">
                <a:solidFill>
                  <a:srgbClr val="16A34A"/>
                </a:solidFill>
                <a:latin typeface="DejaVu Sans Mono"/>
                <a:cs typeface="DejaVu Sans Mono"/>
              </a:rPr>
              <a:t>ả</a:t>
            </a:r>
            <a:r>
              <a:rPr sz="1200" dirty="0">
                <a:solidFill>
                  <a:srgbClr val="16A34A"/>
                </a:solidFill>
                <a:latin typeface="Liberation Mono"/>
                <a:cs typeface="Liberation Mono"/>
              </a:rPr>
              <a:t>y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sz="1200" spc="-15" dirty="0">
                <a:solidFill>
                  <a:srgbClr val="16A34A"/>
                </a:solidFill>
                <a:latin typeface="Liberation Mono"/>
                <a:cs typeface="Liberation Mono"/>
              </a:rPr>
              <a:t>ra!"</a:t>
            </a:r>
            <a:r>
              <a:rPr sz="1200" dirty="0">
                <a:solidFill>
                  <a:srgbClr val="1F2937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60158" y="3261038"/>
            <a:ext cx="2855953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Kiểm tra giá trị biến, trạng thái.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Đi từng bước để theo dõi logic.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9602" y="3346763"/>
            <a:ext cx="29601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Giúp nhận diện luồng hoạt động.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807445" y="3899213"/>
            <a:ext cx="2407086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Mono"/>
                <a:cs typeface="Liberation Mono"/>
              </a:rPr>
              <a:t>Log.d()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: Thông tin gỡ lỗi.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807445" y="4251638"/>
            <a:ext cx="2656428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Mono"/>
                <a:cs typeface="Liberation Mono"/>
              </a:rPr>
              <a:t>Log.e()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: Báo cáo lỗi nghiêm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27648" y="4518338"/>
            <a:ext cx="66471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trọng.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38931" y="5777147"/>
            <a:ext cx="9912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System Log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876275" y="5777147"/>
            <a:ext cx="76541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Filtering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634209" y="5777147"/>
            <a:ext cx="132003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Custom Logging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100315" y="5777147"/>
            <a:ext cx="111872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Kotlin Syntax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529487" y="5777147"/>
            <a:ext cx="143395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Execution Control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109447" y="5777147"/>
            <a:ext cx="139764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Inspect Variables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38931" y="6072422"/>
            <a:ext cx="137708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Real-time Events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634209" y="6072422"/>
            <a:ext cx="125647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Severity Levels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529487" y="6072422"/>
            <a:ext cx="108145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Step-by-step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381940"/>
            <a:ext cx="7027928" cy="95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Resource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9800"/>
                </a:solidFill>
                <a:latin typeface="DejaVu Sans"/>
                <a:cs typeface="DejaVu Sans"/>
              </a:rPr>
              <a:t>trong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  <a:p>
            <a:pPr marL="0" marR="0">
              <a:lnSpc>
                <a:spcPts val="1955"/>
              </a:lnSpc>
              <a:spcBef>
                <a:spcPts val="514"/>
              </a:spcBef>
              <a:spcAft>
                <a:spcPts val="0"/>
              </a:spcAft>
            </a:pP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Tổ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chức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quản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lý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5E7EB"/>
                </a:solidFill>
                <a:latin typeface="DejaVu Sans"/>
                <a:cs typeface="DejaVu Sans"/>
              </a:rPr>
              <a:t>tài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nguyên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E5E7EB"/>
                </a:solidFill>
                <a:latin typeface="DejaVu Sans"/>
                <a:cs typeface="DejaVu Sans"/>
              </a:rPr>
              <a:t>một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5E7EB"/>
                </a:solidFill>
                <a:latin typeface="DejaVu Sans"/>
                <a:cs typeface="DejaVu Sans"/>
              </a:rPr>
              <a:t>cách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5E7EB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52612" y="3052243"/>
            <a:ext cx="109956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strings.xml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5692" y="3052243"/>
            <a:ext cx="10197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colors.xml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95705" y="3052243"/>
            <a:ext cx="9864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drawable/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6733" y="3480113"/>
            <a:ext cx="308026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Chứa văn bản, hỗ trợ đa ngôn ngữ</a:t>
            </a:r>
          </a:p>
          <a:p>
            <a:pPr marL="363587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và chuẩn hóa chuỗi </a:t>
            </a:r>
            <a:r>
              <a:rPr sz="1350" spc="-51" dirty="0">
                <a:solidFill>
                  <a:srgbClr val="374151"/>
                </a:solidFill>
                <a:latin typeface="DejaVu Sans"/>
                <a:cs typeface="DejaVu Sans"/>
              </a:rPr>
              <a:t>ký</a:t>
            </a:r>
            <a:r>
              <a:rPr sz="1350" spc="46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tự.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28715" y="3480113"/>
            <a:ext cx="296301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Định nghĩa màu sắc, đảm bảo sự</a:t>
            </a:r>
          </a:p>
          <a:p>
            <a:pPr marL="10358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nhất quán cho giao diện người</a:t>
            </a:r>
          </a:p>
          <a:p>
            <a:pPr marL="1161752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8167" y="3480113"/>
            <a:ext cx="285049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Lưu trữ hình ảnh, biểu tượng và</a:t>
            </a:r>
          </a:p>
          <a:p>
            <a:pPr marL="14436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các tài nguyên đồ họa khác.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6904" y="4519847"/>
            <a:ext cx="101700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Localization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92709" y="4519847"/>
            <a:ext cx="10542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Accessibility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22539" y="4519847"/>
            <a:ext cx="77772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Theming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89029" y="4519847"/>
            <a:ext cx="8089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Branding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45908" y="4519847"/>
            <a:ext cx="111079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Visual Assets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245625" y="4519847"/>
            <a:ext cx="101529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UI Elements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91517" y="5651058"/>
            <a:ext cx="10399710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Quản lý tài nguyên hiệu quả giúp xây dựng ứng dụng Android</a:t>
            </a:r>
            <a:r>
              <a:rPr sz="1500" spc="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linh hoạt, dễ bảo trì và mang lại trải nghiệm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người dùng tối ưu.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381940"/>
            <a:ext cx="7027928" cy="95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Resource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9800"/>
                </a:solidFill>
                <a:latin typeface="DejaVu Sans"/>
                <a:cs typeface="DejaVu Sans"/>
              </a:rPr>
              <a:t>trong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Android</a:t>
            </a:r>
          </a:p>
          <a:p>
            <a:pPr marL="0" marR="0">
              <a:lnSpc>
                <a:spcPts val="1955"/>
              </a:lnSpc>
              <a:spcBef>
                <a:spcPts val="514"/>
              </a:spcBef>
              <a:spcAft>
                <a:spcPts val="0"/>
              </a:spcAft>
            </a:pP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Tổ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chức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quản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lý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5E7EB"/>
                </a:solidFill>
                <a:latin typeface="DejaVu Sans"/>
                <a:cs typeface="DejaVu Sans"/>
              </a:rPr>
              <a:t>tài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nguyên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E5E7EB"/>
                </a:solidFill>
                <a:latin typeface="DejaVu Sans"/>
                <a:cs typeface="DejaVu Sans"/>
              </a:rPr>
              <a:t>một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5E7EB"/>
                </a:solidFill>
                <a:latin typeface="DejaVu Sans"/>
                <a:cs typeface="DejaVu Sans"/>
              </a:rPr>
              <a:t>cách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5E7EB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5E7EB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52612" y="3052243"/>
            <a:ext cx="109956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strings.xml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5692" y="3052243"/>
            <a:ext cx="10197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colors.xml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95705" y="3052243"/>
            <a:ext cx="9864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drawable/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6733" y="3480113"/>
            <a:ext cx="308026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Chứa văn bản, hỗ trợ đa ngôn ngữ</a:t>
            </a:r>
          </a:p>
          <a:p>
            <a:pPr marL="363587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và chuẩn hóa chuỗi </a:t>
            </a:r>
            <a:r>
              <a:rPr sz="1350" spc="-51" dirty="0">
                <a:solidFill>
                  <a:srgbClr val="374151"/>
                </a:solidFill>
                <a:latin typeface="DejaVu Sans"/>
                <a:cs typeface="DejaVu Sans"/>
              </a:rPr>
              <a:t>ký</a:t>
            </a:r>
            <a:r>
              <a:rPr sz="1350" spc="46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tự.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28715" y="3480113"/>
            <a:ext cx="296301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Định nghĩa màu sắc, đảm bảo sự</a:t>
            </a:r>
          </a:p>
          <a:p>
            <a:pPr marL="10358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nhất quán cho giao diện người</a:t>
            </a:r>
          </a:p>
          <a:p>
            <a:pPr marL="1161752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8167" y="3480113"/>
            <a:ext cx="285049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Lưu trữ hình ảnh, biểu tượng và</a:t>
            </a:r>
          </a:p>
          <a:p>
            <a:pPr marL="14436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các tài nguyên đồ họa khác.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6904" y="4519847"/>
            <a:ext cx="101700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Localization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92709" y="4519847"/>
            <a:ext cx="10542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Accessibility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22539" y="4519847"/>
            <a:ext cx="77772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Theming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89029" y="4519847"/>
            <a:ext cx="8089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Branding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45908" y="4519847"/>
            <a:ext cx="111079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Visual Assets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245625" y="4519847"/>
            <a:ext cx="101529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UI Elements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91517" y="5651058"/>
            <a:ext cx="10399710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Quản lý tài nguyên hiệu quả giúp xây dựng ứng dụng Android</a:t>
            </a:r>
            <a:r>
              <a:rPr sz="1500" spc="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linh hoạt, dễ bảo trì và mang lại trải nghiệm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người dùng tối ưu.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2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57202" y="334315"/>
            <a:ext cx="662988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5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Components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9800"/>
                </a:solidFill>
                <a:latin typeface="DejaVu Sans"/>
                <a:cs typeface="DejaVu Sans"/>
              </a:rPr>
              <a:t>cơ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980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183833"/>
            <a:ext cx="443483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"Interactive Building Blocks: Fundamental UI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479108"/>
            <a:ext cx="151663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Components."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0106" y="2652193"/>
            <a:ext cx="117068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50" dirty="0">
                <a:solidFill>
                  <a:srgbClr val="FFFFFF"/>
                </a:solidFill>
                <a:latin typeface="DejaVu Sans"/>
                <a:cs typeface="DejaVu Sans"/>
              </a:rPr>
              <a:t>Text</a:t>
            </a:r>
            <a:r>
              <a:rPr sz="1200" b="1" spc="3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Display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28888" y="2652193"/>
            <a:ext cx="10356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User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3991" y="2717358"/>
            <a:ext cx="4736043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"Arranging the Visual </a:t>
            </a:r>
            <a:r>
              <a:rPr sz="1500" spc="-10" dirty="0">
                <a:solidFill>
                  <a:srgbClr val="FFFFFF"/>
                </a:solidFill>
                <a:latin typeface="DejaVu Sans"/>
                <a:cs typeface="DejaVu Sans"/>
              </a:rPr>
              <a:t>Hierarchy:</a:t>
            </a:r>
            <a:r>
              <a:rPr sz="1500" spc="1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Layouts Deﬁne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Structure."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1556" y="3003863"/>
            <a:ext cx="2420689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Displays static, immutable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text.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30339" y="3003863"/>
            <a:ext cx="251025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Accepts and edits </a:t>
            </a:r>
            <a:r>
              <a:rPr sz="1350" spc="-11" dirty="0">
                <a:solidFill>
                  <a:srgbClr val="FFFFFF"/>
                </a:solidFill>
                <a:latin typeface="DejaVu Sans"/>
                <a:cs typeface="DejaVu Sans"/>
              </a:rPr>
              <a:t>text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from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users.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8117" y="3605447"/>
            <a:ext cx="81923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E40AF"/>
                </a:solidFill>
                <a:latin typeface="DejaVu Sans"/>
                <a:cs typeface="DejaVu Sans"/>
              </a:rPr>
              <a:t>Read-Only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21184" y="3605447"/>
            <a:ext cx="89568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Information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536900" y="3605447"/>
            <a:ext cx="84198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854D0E"/>
                </a:solidFill>
                <a:latin typeface="DejaVu Sans"/>
                <a:cs typeface="DejaVu Sans"/>
              </a:rPr>
              <a:t>Interactive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24821" y="3605447"/>
            <a:ext cx="81093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4" dirty="0">
                <a:solidFill>
                  <a:srgbClr val="3730A3"/>
                </a:solidFill>
                <a:latin typeface="DejaVu Sans"/>
                <a:cs typeface="DejaVu Sans"/>
              </a:rPr>
              <a:t>Form</a:t>
            </a:r>
            <a:r>
              <a:rPr sz="1000" spc="23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000" spc="-15" dirty="0">
                <a:solidFill>
                  <a:srgbClr val="3730A3"/>
                </a:solidFill>
                <a:latin typeface="DejaVu Sans"/>
                <a:cs typeface="DejaVu Sans"/>
              </a:rPr>
              <a:t>Field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17096" y="3605447"/>
            <a:ext cx="109701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LinearLayout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03825" y="3852343"/>
            <a:ext cx="33551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Elements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stacked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vertically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DejaVu Sans"/>
                <a:cs typeface="DejaVu Sans"/>
              </a:rPr>
              <a:t>horizontally.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017096" y="4415072"/>
            <a:ext cx="123509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03825" y="4661968"/>
            <a:ext cx="332989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Position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views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based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on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siblings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parent.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50106" y="4871518"/>
            <a:ext cx="133853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Action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36" dirty="0">
                <a:solidFill>
                  <a:srgbClr val="FFFFFF"/>
                </a:solidFill>
                <a:latin typeface="DejaVu Sans"/>
                <a:cs typeface="DejaVu Sans"/>
              </a:rPr>
              <a:t>Trigger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728888" y="4871518"/>
            <a:ext cx="130239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Image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Viewer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51556" y="5223188"/>
            <a:ext cx="237660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Initiates an action on user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tap.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430339" y="5223188"/>
            <a:ext cx="2112465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4" dirty="0">
                <a:solidFill>
                  <a:srgbClr val="FFFFFF"/>
                </a:solidFill>
                <a:latin typeface="DejaVu Sans"/>
                <a:cs typeface="DejaVu Sans"/>
              </a:rPr>
              <a:t>Renders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various image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formats.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17096" y="5224697"/>
            <a:ext cx="140024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803825" y="5471593"/>
            <a:ext cx="314133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Powerful,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ﬂat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hierarchy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complex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UIs.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58117" y="5824772"/>
            <a:ext cx="73147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91B1B"/>
                </a:solidFill>
                <a:latin typeface="DejaVu Sans"/>
                <a:cs typeface="DejaVu Sans"/>
              </a:rPr>
              <a:t>Clickable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533376" y="5824772"/>
            <a:ext cx="81035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21A8"/>
                </a:solidFill>
                <a:latin typeface="DejaVu Sans"/>
                <a:cs typeface="DejaVu Sans"/>
              </a:rPr>
              <a:t>Command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536900" y="5824772"/>
            <a:ext cx="53738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D174D"/>
                </a:solidFill>
                <a:latin typeface="DejaVu Sans"/>
                <a:cs typeface="DejaVu Sans"/>
              </a:rPr>
              <a:t>Visual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217491" y="5824772"/>
            <a:ext cx="53688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DejaVu Sans"/>
                <a:cs typeface="DejaVu Sans"/>
              </a:rPr>
              <a:t>Media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575494" y="6699563"/>
            <a:ext cx="810226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"Mastering UI components and layouts is foundational for intuitive mobile user experiences."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682055" y="7043972"/>
            <a:ext cx="88230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15E59"/>
                </a:solidFill>
                <a:latin typeface="DejaVu Sans"/>
                <a:cs typeface="DejaVu Sans"/>
              </a:rPr>
              <a:t>Mobile </a:t>
            </a:r>
            <a:r>
              <a:rPr sz="1000" spc="-15" dirty="0">
                <a:solidFill>
                  <a:srgbClr val="115E59"/>
                </a:solidFill>
                <a:latin typeface="DejaVu Sans"/>
                <a:cs typeface="DejaVu Sans"/>
              </a:rPr>
              <a:t>First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710457" y="7043972"/>
            <a:ext cx="152051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55E75"/>
                </a:solidFill>
                <a:latin typeface="DejaVu Sans"/>
                <a:cs typeface="DejaVu Sans"/>
              </a:rPr>
              <a:t>User Experience (UX)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377034" y="7043972"/>
            <a:ext cx="124740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3F6212"/>
                </a:solidFill>
                <a:latin typeface="DejaVu Sans"/>
                <a:cs typeface="DejaVu Sans"/>
              </a:rPr>
              <a:t>Design Principles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2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57202" y="334315"/>
            <a:ext cx="662988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5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Components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9800"/>
                </a:solidFill>
                <a:latin typeface="DejaVu Sans"/>
                <a:cs typeface="DejaVu Sans"/>
              </a:rPr>
              <a:t>cơ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980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183833"/>
            <a:ext cx="443483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"Interactive Building Blocks: Fundamental UI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479108"/>
            <a:ext cx="151663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Components."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0106" y="2652193"/>
            <a:ext cx="117068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50" dirty="0">
                <a:solidFill>
                  <a:srgbClr val="FFFFFF"/>
                </a:solidFill>
                <a:latin typeface="DejaVu Sans"/>
                <a:cs typeface="DejaVu Sans"/>
              </a:rPr>
              <a:t>Text</a:t>
            </a:r>
            <a:r>
              <a:rPr sz="1200" b="1" spc="3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Display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28888" y="2652193"/>
            <a:ext cx="10356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User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3991" y="2717358"/>
            <a:ext cx="4736043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"Arranging the Visual </a:t>
            </a:r>
            <a:r>
              <a:rPr sz="1500" spc="-10" dirty="0">
                <a:solidFill>
                  <a:srgbClr val="FFFFFF"/>
                </a:solidFill>
                <a:latin typeface="DejaVu Sans"/>
                <a:cs typeface="DejaVu Sans"/>
              </a:rPr>
              <a:t>Hierarchy:</a:t>
            </a:r>
            <a:r>
              <a:rPr sz="1500" spc="1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Layouts Deﬁne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Structure."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1556" y="3003863"/>
            <a:ext cx="2420689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Displays static, immutable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text.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30339" y="3003863"/>
            <a:ext cx="251025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Accepts and edits </a:t>
            </a:r>
            <a:r>
              <a:rPr sz="1350" spc="-11" dirty="0">
                <a:solidFill>
                  <a:srgbClr val="FFFFFF"/>
                </a:solidFill>
                <a:latin typeface="DejaVu Sans"/>
                <a:cs typeface="DejaVu Sans"/>
              </a:rPr>
              <a:t>text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2" dirty="0">
                <a:solidFill>
                  <a:srgbClr val="FFFFFF"/>
                </a:solidFill>
                <a:latin typeface="DejaVu Sans"/>
                <a:cs typeface="DejaVu Sans"/>
              </a:rPr>
              <a:t>from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users.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8117" y="3605447"/>
            <a:ext cx="81923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E40AF"/>
                </a:solidFill>
                <a:latin typeface="DejaVu Sans"/>
                <a:cs typeface="DejaVu Sans"/>
              </a:rPr>
              <a:t>Read-Only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21184" y="3605447"/>
            <a:ext cx="89568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Information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536900" y="3605447"/>
            <a:ext cx="84198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854D0E"/>
                </a:solidFill>
                <a:latin typeface="DejaVu Sans"/>
                <a:cs typeface="DejaVu Sans"/>
              </a:rPr>
              <a:t>Interactive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24821" y="3605447"/>
            <a:ext cx="81093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4" dirty="0">
                <a:solidFill>
                  <a:srgbClr val="3730A3"/>
                </a:solidFill>
                <a:latin typeface="DejaVu Sans"/>
                <a:cs typeface="DejaVu Sans"/>
              </a:rPr>
              <a:t>Form</a:t>
            </a:r>
            <a:r>
              <a:rPr sz="1000" spc="23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000" spc="-15" dirty="0">
                <a:solidFill>
                  <a:srgbClr val="3730A3"/>
                </a:solidFill>
                <a:latin typeface="DejaVu Sans"/>
                <a:cs typeface="DejaVu Sans"/>
              </a:rPr>
              <a:t>Field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17096" y="3605447"/>
            <a:ext cx="109701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LinearLayout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03825" y="3852343"/>
            <a:ext cx="33551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Elements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stacked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vertically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DejaVu Sans"/>
                <a:cs typeface="DejaVu Sans"/>
              </a:rPr>
              <a:t>horizontally.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017096" y="4415072"/>
            <a:ext cx="123509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03825" y="4661968"/>
            <a:ext cx="332989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Position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views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based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on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siblings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parent.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50106" y="4871518"/>
            <a:ext cx="133853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Action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36" dirty="0">
                <a:solidFill>
                  <a:srgbClr val="FFFFFF"/>
                </a:solidFill>
                <a:latin typeface="DejaVu Sans"/>
                <a:cs typeface="DejaVu Sans"/>
              </a:rPr>
              <a:t>Trigger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728888" y="4871518"/>
            <a:ext cx="130239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Image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Viewer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51556" y="5223188"/>
            <a:ext cx="237660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Initiates an action on user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tap.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430339" y="5223188"/>
            <a:ext cx="2112465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4" dirty="0">
                <a:solidFill>
                  <a:srgbClr val="FFFFFF"/>
                </a:solidFill>
                <a:latin typeface="DejaVu Sans"/>
                <a:cs typeface="DejaVu Sans"/>
              </a:rPr>
              <a:t>Renders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various image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formats.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17096" y="5224697"/>
            <a:ext cx="140024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803825" y="5471593"/>
            <a:ext cx="314133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Powerful,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ﬂat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hierarchy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complex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UIs.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58117" y="5824772"/>
            <a:ext cx="73147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91B1B"/>
                </a:solidFill>
                <a:latin typeface="DejaVu Sans"/>
                <a:cs typeface="DejaVu Sans"/>
              </a:rPr>
              <a:t>Clickable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533376" y="5824772"/>
            <a:ext cx="81035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21A8"/>
                </a:solidFill>
                <a:latin typeface="DejaVu Sans"/>
                <a:cs typeface="DejaVu Sans"/>
              </a:rPr>
              <a:t>Command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536900" y="5824772"/>
            <a:ext cx="53738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D174D"/>
                </a:solidFill>
                <a:latin typeface="DejaVu Sans"/>
                <a:cs typeface="DejaVu Sans"/>
              </a:rPr>
              <a:t>Visual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217491" y="5824772"/>
            <a:ext cx="53688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DejaVu Sans"/>
                <a:cs typeface="DejaVu Sans"/>
              </a:rPr>
              <a:t>Media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575494" y="6699563"/>
            <a:ext cx="810226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"Mastering UI components and layouts is foundational for intuitive mobile user experiences."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682055" y="7043972"/>
            <a:ext cx="88230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15E59"/>
                </a:solidFill>
                <a:latin typeface="DejaVu Sans"/>
                <a:cs typeface="DejaVu Sans"/>
              </a:rPr>
              <a:t>Mobile </a:t>
            </a:r>
            <a:r>
              <a:rPr sz="1000" spc="-15" dirty="0">
                <a:solidFill>
                  <a:srgbClr val="115E59"/>
                </a:solidFill>
                <a:latin typeface="DejaVu Sans"/>
                <a:cs typeface="DejaVu Sans"/>
              </a:rPr>
              <a:t>First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710457" y="7043972"/>
            <a:ext cx="152051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55E75"/>
                </a:solidFill>
                <a:latin typeface="DejaVu Sans"/>
                <a:cs typeface="DejaVu Sans"/>
              </a:rPr>
              <a:t>User Experience (UX)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377034" y="7043972"/>
            <a:ext cx="124740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3F6212"/>
                </a:solidFill>
                <a:latin typeface="DejaVu Sans"/>
                <a:cs typeface="DejaVu Sans"/>
              </a:rPr>
              <a:t>Design Principles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790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20317" y="452686"/>
            <a:ext cx="6303652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Activity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16811" y="1687643"/>
            <a:ext cx="113849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onCreate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6811" y="1965377"/>
            <a:ext cx="4331848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tạo,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lập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đầu.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52550" y="1992443"/>
            <a:ext cx="131401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onCreate()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811" y="2859218"/>
            <a:ext cx="96718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onStart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81559" y="3144968"/>
            <a:ext cx="1455968" cy="3719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567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onStart()</a:t>
            </a:r>
          </a:p>
          <a:p>
            <a:pPr marL="0" marR="0">
              <a:lnSpc>
                <a:spcPts val="1760"/>
              </a:lnSpc>
              <a:spcBef>
                <a:spcPts val="7264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onResume()</a:t>
            </a:r>
          </a:p>
          <a:p>
            <a:pPr marL="106412" marR="0">
              <a:lnSpc>
                <a:spcPts val="1760"/>
              </a:lnSpc>
              <a:spcBef>
                <a:spcPts val="7314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onPause()</a:t>
            </a:r>
          </a:p>
          <a:p>
            <a:pPr marL="179933" marR="0">
              <a:lnSpc>
                <a:spcPts val="1760"/>
              </a:lnSpc>
              <a:spcBef>
                <a:spcPts val="7314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onStop()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16811" y="3136952"/>
            <a:ext cx="4314204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màn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hình,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sẵn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sàng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tác.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5861" y="4049843"/>
            <a:ext cx="128044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onResume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35861" y="4327577"/>
            <a:ext cx="4370449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ở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tiền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cảnh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sẵn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sàng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hoàn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16811" y="5240468"/>
            <a:ext cx="107257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onPause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16811" y="5527727"/>
            <a:ext cx="41192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che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khuất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phần,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tạm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dừng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hoạt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16811" y="6202493"/>
            <a:ext cx="92049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onStop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16811" y="6480227"/>
            <a:ext cx="4544679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còn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thị,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dừng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hoàn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nhưng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vẫn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giữ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16811" y="7374068"/>
            <a:ext cx="1268539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onDestroy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16811" y="7661327"/>
            <a:ext cx="4281188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hủy,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thống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phóng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nguyên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liên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87513" y="7755068"/>
            <a:ext cx="1444061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onDestroy()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72467" y="8973514"/>
            <a:ext cx="367018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Ý</a:t>
            </a:r>
            <a:r>
              <a:rPr sz="1700" b="1" spc="-2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nghĩa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khi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quản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27050" y="9394877"/>
            <a:ext cx="5768955" cy="72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vòng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nguyên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quả,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tránh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FFFFFF"/>
                </a:solidFill>
                <a:latin typeface="DejaVu Sans"/>
                <a:cs typeface="DejaVu Sans"/>
              </a:rPr>
              <a:t>rò</a:t>
            </a:r>
            <a:r>
              <a:rPr sz="12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rỉ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nhớ.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bảo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trải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nghiệm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liền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mạch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thay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đổi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thái.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790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20317" y="452686"/>
            <a:ext cx="6303652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Activity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16811" y="1687643"/>
            <a:ext cx="113849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onCreate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6811" y="1965377"/>
            <a:ext cx="4331848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tạo,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lập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đầu.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52550" y="1992443"/>
            <a:ext cx="131401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onCreate()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811" y="2859218"/>
            <a:ext cx="96718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onStart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81559" y="3144968"/>
            <a:ext cx="1455968" cy="3719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567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onStart()</a:t>
            </a:r>
          </a:p>
          <a:p>
            <a:pPr marL="0" marR="0">
              <a:lnSpc>
                <a:spcPts val="1760"/>
              </a:lnSpc>
              <a:spcBef>
                <a:spcPts val="7264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onResume()</a:t>
            </a:r>
          </a:p>
          <a:p>
            <a:pPr marL="106412" marR="0">
              <a:lnSpc>
                <a:spcPts val="1760"/>
              </a:lnSpc>
              <a:spcBef>
                <a:spcPts val="7314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onPause()</a:t>
            </a:r>
          </a:p>
          <a:p>
            <a:pPr marL="179933" marR="0">
              <a:lnSpc>
                <a:spcPts val="1760"/>
              </a:lnSpc>
              <a:spcBef>
                <a:spcPts val="7314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onStop()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16811" y="3136952"/>
            <a:ext cx="4314204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màn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hình,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sẵn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sàng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tác.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5861" y="4049843"/>
            <a:ext cx="128044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onResume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35861" y="4327577"/>
            <a:ext cx="4370449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ở</a:t>
            </a: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tiền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cảnh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sẵn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sàng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hoàn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16811" y="5240468"/>
            <a:ext cx="107257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onPause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16811" y="5527727"/>
            <a:ext cx="41192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che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khuất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phần,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tạm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dừng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hoạt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16811" y="6202493"/>
            <a:ext cx="92049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onStop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16811" y="6480227"/>
            <a:ext cx="4544679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còn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thị,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dừng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hoàn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nhưng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vẫn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giữ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16811" y="7374068"/>
            <a:ext cx="1268539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9800"/>
                </a:solidFill>
                <a:latin typeface="DejaVu Sans"/>
                <a:cs typeface="DejaVu Sans"/>
              </a:rPr>
              <a:t>onDestroy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16811" y="7661327"/>
            <a:ext cx="4281188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hủy,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thống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phóng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nguyên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liên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87513" y="7755068"/>
            <a:ext cx="1444061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2196F3"/>
                </a:solidFill>
                <a:latin typeface="DejaVu Sans"/>
                <a:cs typeface="DejaVu Sans"/>
              </a:rPr>
              <a:t>onDestroy()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72467" y="8973514"/>
            <a:ext cx="367018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Ý</a:t>
            </a:r>
            <a:r>
              <a:rPr sz="1700" b="1" spc="-2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nghĩa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khi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quản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27050" y="9394877"/>
            <a:ext cx="5768955" cy="72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vòng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nguyên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quả,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tránh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FFFFFF"/>
                </a:solidFill>
                <a:latin typeface="DejaVu Sans"/>
                <a:cs typeface="DejaVu Sans"/>
              </a:rPr>
              <a:t>rò</a:t>
            </a:r>
            <a:r>
              <a:rPr sz="12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rỉ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nhớ.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 bảo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trải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nghiệm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liền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mạch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khi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Activity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thay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đổi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thái.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dụng.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70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7610" y="308667"/>
            <a:ext cx="9629059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5" dirty="0">
                <a:solidFill>
                  <a:srgbClr val="FFFFFF"/>
                </a:solidFill>
                <a:latin typeface="DejaVu Sans"/>
                <a:cs typeface="DejaVu Sans"/>
              </a:rPr>
              <a:t>Demo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chỉnh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sửa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Hello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37980" y="946842"/>
            <a:ext cx="2291099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spc="-41" dirty="0">
                <a:solidFill>
                  <a:srgbClr val="FF9800"/>
                </a:solidFill>
                <a:latin typeface="DejaVu Sans"/>
                <a:cs typeface="DejaVu Sans"/>
              </a:rPr>
              <a:t>World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31919" y="2141436"/>
            <a:ext cx="2282672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Thêm nút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chức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362" y="2179536"/>
            <a:ext cx="261528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10" dirty="0">
                <a:solidFill>
                  <a:srgbClr val="FFFFFF"/>
                </a:solidFill>
                <a:latin typeface="DejaVu Sans"/>
                <a:cs typeface="DejaVu Sans"/>
              </a:rPr>
              <a:t>Thay</a:t>
            </a:r>
            <a:r>
              <a:rPr sz="2000" b="1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đổi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văn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3633" y="2726234"/>
            <a:ext cx="26676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vị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34" dirty="0">
                <a:solidFill>
                  <a:srgbClr val="FFFFFF"/>
                </a:solidFill>
                <a:latin typeface="DejaVu Sans"/>
                <a:cs typeface="DejaVu Sans"/>
              </a:rPr>
              <a:t>TextView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'Hello</a:t>
            </a:r>
            <a:r>
              <a:rPr sz="1200" b="1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DejaVu Sans"/>
                <a:cs typeface="DejaVu Sans"/>
              </a:rPr>
              <a:t>World'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4189" y="2983409"/>
            <a:ext cx="15605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Chèn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Button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mới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0919" y="3031034"/>
            <a:ext cx="2930793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Chỉnh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sửa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thuộc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'text'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thành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'Xin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chào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Android'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DejaVu Sans"/>
                <a:cs typeface="DejaVu Sans"/>
              </a:rPr>
              <a:t>tệp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XML.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21476" y="3288209"/>
            <a:ext cx="2854914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Thêm</a:t>
            </a: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phần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tử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&lt;Button&gt;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vào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bố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cục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giao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XML.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73633" y="3669209"/>
            <a:ext cx="23642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Cập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nhật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nguyên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chuỗi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64189" y="3926384"/>
            <a:ext cx="21131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Gán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hành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nút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0919" y="3964484"/>
            <a:ext cx="2995080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Đồng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strings.xml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dễ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 và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đa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ngôn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ngữ.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21476" y="4221659"/>
            <a:ext cx="2867087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Cài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đặt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OnClickListener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chạy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ứng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khi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nhấn.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8931" y="4615171"/>
            <a:ext cx="9168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Android UI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56184" y="4615171"/>
            <a:ext cx="7886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XML Edit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529487" y="4872346"/>
            <a:ext cx="113591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Interactive UI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865815" y="4872346"/>
            <a:ext cx="100273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91B1B"/>
                </a:solidFill>
                <a:latin typeface="DejaVu Sans"/>
                <a:cs typeface="DejaVu Sans"/>
              </a:rPr>
              <a:t>Kotlin Logic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6984" y="5848170"/>
            <a:ext cx="448285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2196F3"/>
                </a:solidFill>
                <a:latin typeface="DejaVu Sans"/>
                <a:cs typeface="DejaVu Sans"/>
              </a:rPr>
              <a:t>Điểm</a:t>
            </a:r>
            <a:r>
              <a:rPr sz="1700" b="1" spc="-15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2196F3"/>
                </a:solidFill>
                <a:latin typeface="DejaVu Sans"/>
                <a:cs typeface="DejaVu Sans"/>
              </a:rPr>
              <a:t>nổi</a:t>
            </a:r>
            <a:r>
              <a:rPr sz="17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2196F3"/>
                </a:solidFill>
                <a:latin typeface="DejaVu Sans"/>
                <a:cs typeface="DejaVu Sans"/>
              </a:rPr>
              <a:t>bật</a:t>
            </a:r>
            <a:r>
              <a:rPr sz="17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2196F3"/>
                </a:solidFill>
                <a:latin typeface="DejaVu Sans"/>
                <a:cs typeface="DejaVu Sans"/>
              </a:rPr>
              <a:t>của</a:t>
            </a:r>
            <a:r>
              <a:rPr sz="17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2196F3"/>
                </a:solidFill>
                <a:latin typeface="DejaVu Sans"/>
                <a:cs typeface="DejaVu Sans"/>
              </a:rPr>
              <a:t>phát</a:t>
            </a:r>
            <a:r>
              <a:rPr sz="17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2196F3"/>
                </a:solidFill>
                <a:latin typeface="DejaVu Sans"/>
                <a:cs typeface="DejaVu Sans"/>
              </a:rPr>
              <a:t>triển</a:t>
            </a:r>
            <a:r>
              <a:rPr sz="1700" b="1" spc="-1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2196F3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88826" y="6269534"/>
            <a:ext cx="301572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2196F3"/>
                </a:solidFill>
                <a:latin typeface="DejaVu Sans"/>
                <a:cs typeface="DejaVu Sans"/>
              </a:rPr>
              <a:t>Kotlin:</a:t>
            </a:r>
            <a:r>
              <a:rPr sz="1200" b="1" spc="-37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Ngôn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ngữ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đại,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an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và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784972" y="6269534"/>
            <a:ext cx="3106487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2196F3"/>
                </a:solidFill>
                <a:latin typeface="DejaVu Sans"/>
                <a:cs typeface="DejaVu Sans"/>
              </a:rPr>
              <a:t>Android</a:t>
            </a:r>
            <a:r>
              <a:rPr sz="1200" b="1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2196F3"/>
                </a:solidFill>
                <a:latin typeface="DejaVu Sans"/>
                <a:cs typeface="DejaVu Sans"/>
              </a:rPr>
              <a:t>Studio:</a:t>
            </a:r>
            <a:r>
              <a:rPr sz="1200" b="1" spc="-38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2196F3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triển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hợp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(IDE)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2196F3"/>
                </a:solidFill>
                <a:latin typeface="DejaVu Sans"/>
                <a:cs typeface="DejaVu Sans"/>
              </a:rPr>
              <a:t>mạnh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2196F3"/>
                </a:solidFill>
                <a:latin typeface="DejaVu Sans"/>
                <a:cs typeface="DejaVu Sans"/>
              </a:rPr>
              <a:t>mẽ.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481118" y="6269534"/>
            <a:ext cx="29201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2196F3"/>
                </a:solidFill>
                <a:latin typeface="DejaVu Sans"/>
                <a:cs typeface="DejaVu Sans"/>
              </a:rPr>
              <a:t>UI</a:t>
            </a:r>
            <a:r>
              <a:rPr sz="12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b="1" spc="-10" dirty="0">
                <a:solidFill>
                  <a:srgbClr val="2196F3"/>
                </a:solidFill>
                <a:latin typeface="DejaVu Sans"/>
                <a:cs typeface="DejaVu Sans"/>
              </a:rPr>
              <a:t>linh</a:t>
            </a:r>
            <a:r>
              <a:rPr sz="1200" b="1" spc="-15" dirty="0">
                <a:solidFill>
                  <a:srgbClr val="2196F3"/>
                </a:solidFill>
                <a:latin typeface="DejaVu Sans"/>
                <a:cs typeface="DejaVu Sans"/>
              </a:rPr>
              <a:t> hoạt:</a:t>
            </a:r>
            <a:r>
              <a:rPr sz="1200" b="1" spc="-37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2196F3"/>
                </a:solidFill>
                <a:latin typeface="DejaVu Sans"/>
                <a:cs typeface="DejaVu Sans"/>
              </a:rPr>
              <a:t>kế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giao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2196F3"/>
                </a:solidFill>
                <a:latin typeface="DejaVu Sans"/>
                <a:cs typeface="DejaVu Sans"/>
              </a:rPr>
              <a:t>trực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88826" y="6488609"/>
            <a:ext cx="19725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sử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2196F3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481118" y="6488609"/>
            <a:ext cx="29532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2196F3"/>
                </a:solidFill>
                <a:latin typeface="DejaVu Sans"/>
                <a:cs typeface="DejaVu Sans"/>
              </a:rPr>
              <a:t>XML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hoặc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Jetpack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Compose.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817619" y="6879888"/>
            <a:ext cx="108607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F2937"/>
                </a:solidFill>
                <a:latin typeface="DejaVu Sans"/>
                <a:cs typeface="DejaVu Sans"/>
              </a:rPr>
              <a:t>Cross-Device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0049618" y="6879888"/>
            <a:ext cx="14658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Rapid Prototyping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618808" y="7451388"/>
            <a:ext cx="455494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Nguồn: How to Build an Android App in 2025 [8 Steps Guide + </a:t>
            </a:r>
            <a:r>
              <a:rPr sz="1000" spc="-23" dirty="0">
                <a:solidFill>
                  <a:srgbClr val="9CA3AF"/>
                </a:solidFill>
                <a:latin typeface="DejaVu Sans"/>
                <a:cs typeface="DejaVu Sans"/>
              </a:rPr>
              <a:t>FAQs]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703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7610" y="308667"/>
            <a:ext cx="9629059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5" dirty="0">
                <a:solidFill>
                  <a:srgbClr val="FFFFFF"/>
                </a:solidFill>
                <a:latin typeface="DejaVu Sans"/>
                <a:cs typeface="DejaVu Sans"/>
              </a:rPr>
              <a:t>Demo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chỉnh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sửa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Hello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37980" y="946842"/>
            <a:ext cx="2291099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spc="-41" dirty="0">
                <a:solidFill>
                  <a:srgbClr val="FF9800"/>
                </a:solidFill>
                <a:latin typeface="DejaVu Sans"/>
                <a:cs typeface="DejaVu Sans"/>
              </a:rPr>
              <a:t>World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31919" y="2141436"/>
            <a:ext cx="2282672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Thêm nút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chức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362" y="2179536"/>
            <a:ext cx="261528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10" dirty="0">
                <a:solidFill>
                  <a:srgbClr val="FFFFFF"/>
                </a:solidFill>
                <a:latin typeface="DejaVu Sans"/>
                <a:cs typeface="DejaVu Sans"/>
              </a:rPr>
              <a:t>Thay</a:t>
            </a:r>
            <a:r>
              <a:rPr sz="2000" b="1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đổi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văn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3633" y="2726234"/>
            <a:ext cx="26676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vị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34" dirty="0">
                <a:solidFill>
                  <a:srgbClr val="FFFFFF"/>
                </a:solidFill>
                <a:latin typeface="DejaVu Sans"/>
                <a:cs typeface="DejaVu Sans"/>
              </a:rPr>
              <a:t>TextView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'Hello</a:t>
            </a:r>
            <a:r>
              <a:rPr sz="1200" b="1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DejaVu Sans"/>
                <a:cs typeface="DejaVu Sans"/>
              </a:rPr>
              <a:t>World'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4189" y="2983409"/>
            <a:ext cx="15605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Chèn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Button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mới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0919" y="3031034"/>
            <a:ext cx="2930793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Chỉnh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sửa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thuộc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'text'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thành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'Xin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chào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Android'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5E7EB"/>
                </a:solidFill>
                <a:latin typeface="DejaVu Sans"/>
                <a:cs typeface="DejaVu Sans"/>
              </a:rPr>
              <a:t>tệp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XML.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21476" y="3288209"/>
            <a:ext cx="2854914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Thêm</a:t>
            </a: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phần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tử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&lt;Button&gt;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vào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bố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cục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giao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XML.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73633" y="3669209"/>
            <a:ext cx="23642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Cập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nhật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tài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nguyên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chuỗi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64189" y="3926384"/>
            <a:ext cx="21131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Gán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hành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nút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0919" y="3964484"/>
            <a:ext cx="2995080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Đồng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strings.xml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dễ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 và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đa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ngôn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ngữ.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21476" y="4221659"/>
            <a:ext cx="2867087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Cài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đặt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OnClickListener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chạy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ứng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khi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nhấn.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8931" y="4615171"/>
            <a:ext cx="9168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Android UI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56184" y="4615171"/>
            <a:ext cx="7886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XML Edit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529487" y="4872346"/>
            <a:ext cx="113591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Interactive UI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865815" y="4872346"/>
            <a:ext cx="100273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91B1B"/>
                </a:solidFill>
                <a:latin typeface="DejaVu Sans"/>
                <a:cs typeface="DejaVu Sans"/>
              </a:rPr>
              <a:t>Kotlin Logic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6984" y="5848170"/>
            <a:ext cx="448285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2196F3"/>
                </a:solidFill>
                <a:latin typeface="DejaVu Sans"/>
                <a:cs typeface="DejaVu Sans"/>
              </a:rPr>
              <a:t>Điểm</a:t>
            </a:r>
            <a:r>
              <a:rPr sz="1700" b="1" spc="-15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2196F3"/>
                </a:solidFill>
                <a:latin typeface="DejaVu Sans"/>
                <a:cs typeface="DejaVu Sans"/>
              </a:rPr>
              <a:t>nổi</a:t>
            </a:r>
            <a:r>
              <a:rPr sz="17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2196F3"/>
                </a:solidFill>
                <a:latin typeface="DejaVu Sans"/>
                <a:cs typeface="DejaVu Sans"/>
              </a:rPr>
              <a:t>bật</a:t>
            </a:r>
            <a:r>
              <a:rPr sz="17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2196F3"/>
                </a:solidFill>
                <a:latin typeface="DejaVu Sans"/>
                <a:cs typeface="DejaVu Sans"/>
              </a:rPr>
              <a:t>của</a:t>
            </a:r>
            <a:r>
              <a:rPr sz="17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2196F3"/>
                </a:solidFill>
                <a:latin typeface="DejaVu Sans"/>
                <a:cs typeface="DejaVu Sans"/>
              </a:rPr>
              <a:t>phát</a:t>
            </a:r>
            <a:r>
              <a:rPr sz="17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2196F3"/>
                </a:solidFill>
                <a:latin typeface="DejaVu Sans"/>
                <a:cs typeface="DejaVu Sans"/>
              </a:rPr>
              <a:t>triển</a:t>
            </a:r>
            <a:r>
              <a:rPr sz="1700" b="1" spc="-1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2196F3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88826" y="6269534"/>
            <a:ext cx="301572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2196F3"/>
                </a:solidFill>
                <a:latin typeface="DejaVu Sans"/>
                <a:cs typeface="DejaVu Sans"/>
              </a:rPr>
              <a:t>Kotlin:</a:t>
            </a:r>
            <a:r>
              <a:rPr sz="1200" b="1" spc="-37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Ngôn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ngữ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đại,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an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và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784972" y="6269534"/>
            <a:ext cx="3106487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2196F3"/>
                </a:solidFill>
                <a:latin typeface="DejaVu Sans"/>
                <a:cs typeface="DejaVu Sans"/>
              </a:rPr>
              <a:t>Android</a:t>
            </a:r>
            <a:r>
              <a:rPr sz="1200" b="1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2196F3"/>
                </a:solidFill>
                <a:latin typeface="DejaVu Sans"/>
                <a:cs typeface="DejaVu Sans"/>
              </a:rPr>
              <a:t>Studio:</a:t>
            </a:r>
            <a:r>
              <a:rPr sz="1200" b="1" spc="-38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2196F3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triển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hợp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(IDE)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2196F3"/>
                </a:solidFill>
                <a:latin typeface="DejaVu Sans"/>
                <a:cs typeface="DejaVu Sans"/>
              </a:rPr>
              <a:t>mạnh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2196F3"/>
                </a:solidFill>
                <a:latin typeface="DejaVu Sans"/>
                <a:cs typeface="DejaVu Sans"/>
              </a:rPr>
              <a:t>mẽ.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481118" y="6269534"/>
            <a:ext cx="29201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2196F3"/>
                </a:solidFill>
                <a:latin typeface="DejaVu Sans"/>
                <a:cs typeface="DejaVu Sans"/>
              </a:rPr>
              <a:t>UI</a:t>
            </a:r>
            <a:r>
              <a:rPr sz="1200" b="1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b="1" spc="-10" dirty="0">
                <a:solidFill>
                  <a:srgbClr val="2196F3"/>
                </a:solidFill>
                <a:latin typeface="DejaVu Sans"/>
                <a:cs typeface="DejaVu Sans"/>
              </a:rPr>
              <a:t>linh</a:t>
            </a:r>
            <a:r>
              <a:rPr sz="1200" b="1" spc="-15" dirty="0">
                <a:solidFill>
                  <a:srgbClr val="2196F3"/>
                </a:solidFill>
                <a:latin typeface="DejaVu Sans"/>
                <a:cs typeface="DejaVu Sans"/>
              </a:rPr>
              <a:t> hoạt:</a:t>
            </a:r>
            <a:r>
              <a:rPr sz="1200" b="1" spc="-37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2196F3"/>
                </a:solidFill>
                <a:latin typeface="DejaVu Sans"/>
                <a:cs typeface="DejaVu Sans"/>
              </a:rPr>
              <a:t>kế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giao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2196F3"/>
                </a:solidFill>
                <a:latin typeface="DejaVu Sans"/>
                <a:cs typeface="DejaVu Sans"/>
              </a:rPr>
              <a:t>trực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88826" y="6488609"/>
            <a:ext cx="19725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sử</a:t>
            </a:r>
            <a:r>
              <a:rPr sz="1200" spc="-1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dụng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2196F3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481118" y="6488609"/>
            <a:ext cx="29532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2196F3"/>
                </a:solidFill>
                <a:latin typeface="DejaVu Sans"/>
                <a:cs typeface="DejaVu Sans"/>
              </a:rPr>
              <a:t>XML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hoặc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2196F3"/>
                </a:solidFill>
                <a:latin typeface="DejaVu Sans"/>
                <a:cs typeface="DejaVu Sans"/>
              </a:rPr>
              <a:t>Jetpack</a:t>
            </a:r>
            <a:r>
              <a:rPr sz="1200" dirty="0">
                <a:solidFill>
                  <a:srgbClr val="2196F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2196F3"/>
                </a:solidFill>
                <a:latin typeface="DejaVu Sans"/>
                <a:cs typeface="DejaVu Sans"/>
              </a:rPr>
              <a:t>Compose.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817619" y="6879888"/>
            <a:ext cx="108607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F2937"/>
                </a:solidFill>
                <a:latin typeface="DejaVu Sans"/>
                <a:cs typeface="DejaVu Sans"/>
              </a:rPr>
              <a:t>Cross-Device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0049618" y="6879888"/>
            <a:ext cx="14658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Rapid Prototyping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618808" y="7451388"/>
            <a:ext cx="455494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Nguồn: How to Build an Android App in 2025 [8 Steps Guide + </a:t>
            </a:r>
            <a:r>
              <a:rPr sz="1000" spc="-23" dirty="0">
                <a:solidFill>
                  <a:srgbClr val="9CA3AF"/>
                </a:solidFill>
                <a:latin typeface="DejaVu Sans"/>
                <a:cs typeface="DejaVu Sans"/>
              </a:rPr>
              <a:t>FAQs]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723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245" y="380416"/>
            <a:ext cx="8507708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Best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Practices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cho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9800"/>
                </a:solidFill>
                <a:latin typeface="DejaVu Sans"/>
                <a:cs typeface="DejaVu Sans"/>
              </a:rPr>
              <a:t>người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FF9800"/>
                </a:solidFill>
                <a:latin typeface="DejaVu Sans"/>
                <a:cs typeface="DejaVu Sans"/>
              </a:rPr>
              <a:t>mới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2674" y="2456396"/>
            <a:ext cx="3045587" cy="1231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447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Đặt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62" dirty="0">
                <a:solidFill>
                  <a:srgbClr val="FFFFFF"/>
                </a:solidFill>
                <a:latin typeface="DejaVu Sans"/>
                <a:cs typeface="DejaVu Sans"/>
              </a:rPr>
              <a:t>Tên</a:t>
            </a:r>
            <a:r>
              <a:rPr sz="2000" b="1" spc="7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Minh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Bạch</a:t>
            </a:r>
          </a:p>
          <a:p>
            <a:pPr marL="0" marR="0">
              <a:lnSpc>
                <a:spcPts val="2346"/>
              </a:lnSpc>
              <a:spcBef>
                <a:spcPts val="13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khả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đọc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hiểu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code</a:t>
            </a:r>
          </a:p>
          <a:p>
            <a:pPr marL="0" marR="0">
              <a:lnSpc>
                <a:spcPts val="2346"/>
              </a:lnSpc>
              <a:spcBef>
                <a:spcPts val="10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Dễ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trì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47442" y="2456396"/>
            <a:ext cx="3075239" cy="802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8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Phân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56" dirty="0">
                <a:solidFill>
                  <a:srgbClr val="FFFFFF"/>
                </a:solidFill>
                <a:latin typeface="DejaVu Sans"/>
                <a:cs typeface="DejaVu Sans"/>
              </a:rPr>
              <a:t>Tách</a:t>
            </a:r>
            <a:r>
              <a:rPr sz="2000" b="1" spc="7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Rõ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Ràng</a:t>
            </a:r>
          </a:p>
          <a:p>
            <a:pPr marL="0" marR="0">
              <a:lnSpc>
                <a:spcPts val="2346"/>
              </a:lnSpc>
              <a:spcBef>
                <a:spcPts val="13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2000" spc="-206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quản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lý</a:t>
            </a:r>
            <a:r>
              <a:rPr sz="2000" spc="-210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án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12360" y="2456396"/>
            <a:ext cx="3217105" cy="1231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98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Đa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</a:p>
          <a:p>
            <a:pPr marL="0" marR="0">
              <a:lnSpc>
                <a:spcPts val="2346"/>
              </a:lnSpc>
              <a:spcBef>
                <a:spcPts val="13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2000" spc="-210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thích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</a:p>
          <a:p>
            <a:pPr marL="0" marR="0">
              <a:lnSpc>
                <a:spcPts val="2346"/>
              </a:lnSpc>
              <a:spcBef>
                <a:spcPts val="10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hiện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sớm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47442" y="3351746"/>
            <a:ext cx="220965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  <a:r>
              <a:rPr sz="2000" spc="-210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tái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67880" y="6221035"/>
            <a:ext cx="6975798" cy="556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Học phát triển Android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theo cách đúng đắn trong</a:t>
            </a:r>
            <a:r>
              <a:rPr sz="15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năm 2025 –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bao gồm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các công cụ, xu hướng và công nghệ mới nhất.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67880" y="6889294"/>
            <a:ext cx="596681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Source: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Learning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Development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2025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[Beginner’s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Edition]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|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 Medium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723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245" y="380416"/>
            <a:ext cx="8507708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Best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Practices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cho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9800"/>
                </a:solidFill>
                <a:latin typeface="DejaVu Sans"/>
                <a:cs typeface="DejaVu Sans"/>
              </a:rPr>
              <a:t>người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FF9800"/>
                </a:solidFill>
                <a:latin typeface="DejaVu Sans"/>
                <a:cs typeface="DejaVu Sans"/>
              </a:rPr>
              <a:t>mới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2674" y="2456396"/>
            <a:ext cx="3045587" cy="1231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447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Đặt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62" dirty="0">
                <a:solidFill>
                  <a:srgbClr val="FFFFFF"/>
                </a:solidFill>
                <a:latin typeface="DejaVu Sans"/>
                <a:cs typeface="DejaVu Sans"/>
              </a:rPr>
              <a:t>Tên</a:t>
            </a:r>
            <a:r>
              <a:rPr sz="2000" b="1" spc="7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Minh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Bạch</a:t>
            </a:r>
          </a:p>
          <a:p>
            <a:pPr marL="0" marR="0">
              <a:lnSpc>
                <a:spcPts val="2346"/>
              </a:lnSpc>
              <a:spcBef>
                <a:spcPts val="13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khả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đọc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hiểu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code</a:t>
            </a:r>
          </a:p>
          <a:p>
            <a:pPr marL="0" marR="0">
              <a:lnSpc>
                <a:spcPts val="2346"/>
              </a:lnSpc>
              <a:spcBef>
                <a:spcPts val="10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Dễ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trì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47442" y="2456396"/>
            <a:ext cx="3075239" cy="802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8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Phân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56" dirty="0">
                <a:solidFill>
                  <a:srgbClr val="FFFFFF"/>
                </a:solidFill>
                <a:latin typeface="DejaVu Sans"/>
                <a:cs typeface="DejaVu Sans"/>
              </a:rPr>
              <a:t>Tách</a:t>
            </a:r>
            <a:r>
              <a:rPr sz="2000" b="1" spc="7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Rõ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Ràng</a:t>
            </a:r>
          </a:p>
          <a:p>
            <a:pPr marL="0" marR="0">
              <a:lnSpc>
                <a:spcPts val="2346"/>
              </a:lnSpc>
              <a:spcBef>
                <a:spcPts val="13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2000" spc="-206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quản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lý</a:t>
            </a:r>
            <a:r>
              <a:rPr sz="2000" spc="-210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án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12360" y="2456396"/>
            <a:ext cx="3217105" cy="1231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98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Đa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</a:p>
          <a:p>
            <a:pPr marL="0" marR="0">
              <a:lnSpc>
                <a:spcPts val="2346"/>
              </a:lnSpc>
              <a:spcBef>
                <a:spcPts val="13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2000" spc="-210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thích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</a:p>
          <a:p>
            <a:pPr marL="0" marR="0">
              <a:lnSpc>
                <a:spcPts val="2346"/>
              </a:lnSpc>
              <a:spcBef>
                <a:spcPts val="1078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hiện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sớm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47442" y="3351746"/>
            <a:ext cx="220965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sz="2000" spc="180" dirty="0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2000" spc="-208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tính</a:t>
            </a:r>
            <a:r>
              <a:rPr sz="2000" spc="-210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tái</a:t>
            </a:r>
            <a:r>
              <a:rPr sz="2000" spc="-207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sử</a:t>
            </a:r>
            <a:r>
              <a:rPr sz="2000" spc="-209" baseline="300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aseline="30000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67880" y="6221035"/>
            <a:ext cx="6975798" cy="556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Học phát triển Android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theo cách đúng đắn trong</a:t>
            </a:r>
            <a:r>
              <a:rPr sz="15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năm 2025 –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bao gồm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các công cụ, xu hướng và công nghệ mới nhất.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67880" y="6889294"/>
            <a:ext cx="596681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Source: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Learning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Development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2025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[Beginner’s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Edition]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|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 Medium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0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3299"/>
            <a:ext cx="9726433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thường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gặp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sz="4050" b="1" spc="-23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cách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9800"/>
                </a:solidFill>
                <a:latin typeface="DejaVu Sans"/>
                <a:cs typeface="DejaVu Sans"/>
              </a:rPr>
              <a:t>khắc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9800"/>
                </a:solidFill>
                <a:latin typeface="DejaVu Sans"/>
                <a:cs typeface="DejaVu Sans"/>
              </a:rPr>
              <a:t>phục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41433" y="485229"/>
            <a:ext cx="50869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23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40048" y="2772738"/>
            <a:ext cx="2378265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đồng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phiên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SDK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35326" y="2772738"/>
            <a:ext cx="2061798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Emulator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chạy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30604" y="2772738"/>
            <a:ext cx="242242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App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crash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do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thiếu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30604" y="3077538"/>
            <a:ext cx="147610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permission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2601" y="3584626"/>
            <a:ext cx="20327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Phiên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bản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không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khớp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07879" y="3584626"/>
            <a:ext cx="19403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9800"/>
                </a:solidFill>
                <a:latin typeface="DejaVu Sans"/>
                <a:cs typeface="DejaVu Sans"/>
              </a:rPr>
              <a:t>HAXM</a:t>
            </a:r>
            <a:r>
              <a:rPr sz="1200" b="1" spc="-14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chưa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FF9800"/>
                </a:solidFill>
                <a:latin typeface="DejaVu Sans"/>
                <a:cs typeface="DejaVu Sans"/>
              </a:rPr>
              <a:t>kích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hoạt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03157" y="3584626"/>
            <a:ext cx="19377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Thiếu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quyền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9800"/>
                </a:solidFill>
                <a:latin typeface="DejaVu Sans"/>
                <a:cs typeface="DejaVu Sans"/>
              </a:rPr>
              <a:t>truy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cập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5084" y="3993447"/>
            <a:ext cx="311420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Kiểm tra và cập nhật Android SDK,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đồng bộ cấu hình Gradle.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70362" y="3993447"/>
            <a:ext cx="302402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Đảm bảo Intel HAXM được cài đặt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và kích hoạt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BIOS/UEFI.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65640" y="3993447"/>
            <a:ext cx="3116161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Kiểm tra AndroidManifest.xml và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cấp quyền truy cập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thời gian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spc="-41" dirty="0">
                <a:solidFill>
                  <a:srgbClr val="FFFFFF"/>
                </a:solidFill>
                <a:latin typeface="DejaVu Sans"/>
                <a:cs typeface="DejaVu Sans"/>
              </a:rPr>
              <a:t>chạy.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94054" y="6528606"/>
            <a:ext cx="35235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Android Developers Blog, freeCodeCamp.org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0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3299"/>
            <a:ext cx="9726433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thường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gặp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sz="4050" b="1" spc="-23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9800"/>
                </a:solidFill>
                <a:latin typeface="DejaVu Sans"/>
                <a:cs typeface="DejaVu Sans"/>
              </a:rPr>
              <a:t>cách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9800"/>
                </a:solidFill>
                <a:latin typeface="DejaVu Sans"/>
                <a:cs typeface="DejaVu Sans"/>
              </a:rPr>
              <a:t>khắc</a:t>
            </a:r>
            <a:r>
              <a:rPr sz="405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9800"/>
                </a:solidFill>
                <a:latin typeface="DejaVu Sans"/>
                <a:cs typeface="DejaVu Sans"/>
              </a:rPr>
              <a:t>phục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41433" y="485229"/>
            <a:ext cx="50869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23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40048" y="2772738"/>
            <a:ext cx="2378265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đồng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phiên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SDK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35326" y="2772738"/>
            <a:ext cx="2061798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Emulator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chạy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30604" y="2772738"/>
            <a:ext cx="242242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App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crash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do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thiếu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30604" y="3077538"/>
            <a:ext cx="147610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permission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2601" y="3584626"/>
            <a:ext cx="20327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Phiên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bản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không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khớp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07879" y="3584626"/>
            <a:ext cx="19403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9800"/>
                </a:solidFill>
                <a:latin typeface="DejaVu Sans"/>
                <a:cs typeface="DejaVu Sans"/>
              </a:rPr>
              <a:t>HAXM</a:t>
            </a:r>
            <a:r>
              <a:rPr sz="1200" b="1" spc="-14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chưa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FF9800"/>
                </a:solidFill>
                <a:latin typeface="DejaVu Sans"/>
                <a:cs typeface="DejaVu Sans"/>
              </a:rPr>
              <a:t>kích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hoạt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03157" y="3584626"/>
            <a:ext cx="19377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Thiếu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9800"/>
                </a:solidFill>
                <a:latin typeface="DejaVu Sans"/>
                <a:cs typeface="DejaVu Sans"/>
              </a:rPr>
              <a:t>quyền</a:t>
            </a:r>
            <a:r>
              <a:rPr sz="1200" b="1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9800"/>
                </a:solidFill>
                <a:latin typeface="DejaVu Sans"/>
                <a:cs typeface="DejaVu Sans"/>
              </a:rPr>
              <a:t>truy</a:t>
            </a:r>
            <a:r>
              <a:rPr sz="1200" b="1" spc="-10" dirty="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9800"/>
                </a:solidFill>
                <a:latin typeface="DejaVu Sans"/>
                <a:cs typeface="DejaVu Sans"/>
              </a:rPr>
              <a:t>cập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5084" y="3993447"/>
            <a:ext cx="311420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Kiểm tra và cập nhật Android SDK,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đồng bộ cấu hình Gradle.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70362" y="3993447"/>
            <a:ext cx="302402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Đảm bảo Intel HAXM được cài đặt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và kích hoạt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BIOS/UEFI.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65640" y="3993447"/>
            <a:ext cx="3116161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Kiểm tra AndroidManifest.xml và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cấp quyền truy cập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thời gian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spc="-41" dirty="0">
                <a:solidFill>
                  <a:srgbClr val="FFFFFF"/>
                </a:solidFill>
                <a:latin typeface="DejaVu Sans"/>
                <a:cs typeface="DejaVu Sans"/>
              </a:rPr>
              <a:t>chạy.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94054" y="6528606"/>
            <a:ext cx="35235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Android Developers Blog, freeCodeCamp.org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0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80196" y="308160"/>
            <a:ext cx="5383814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Câu hỏi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ôn 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1891" y="1712303"/>
            <a:ext cx="4196452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Studio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làm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7447" y="1883753"/>
            <a:ext cx="211443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Activity là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07447" y="3245828"/>
            <a:ext cx="3901309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Hello World</a:t>
            </a:r>
            <a:r>
              <a:rPr sz="2000" b="1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chạy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khi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nào?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21891" y="3417279"/>
            <a:ext cx="405131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Manifest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chứa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nội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dung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gì?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4317" y="4879131"/>
            <a:ext cx="3937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IDE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74117" y="4879131"/>
            <a:ext cx="7285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Công cụ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7309" y="4879131"/>
            <a:ext cx="120034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Thành phần UI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923757" y="4879131"/>
            <a:ext cx="81906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D174D"/>
                </a:solidFill>
                <a:latin typeface="DejaVu Sans"/>
                <a:cs typeface="DejaVu Sans"/>
              </a:rPr>
              <a:t>Màn hình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93106" y="5210997"/>
            <a:ext cx="3933552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Môi trường phát triển (IDE) chính thức, dùng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để viết, debug, và kiểm thử ứng dụng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94685" y="5344347"/>
            <a:ext cx="417239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Một màn hình đơn lẻ </a:t>
            </a:r>
            <a:r>
              <a:rPr sz="1350" spc="-10" dirty="0">
                <a:solidFill>
                  <a:srgbClr val="1F2937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ứng dụng, cung cấp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giao diện để người dùng tương tác.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34317" y="6622205"/>
            <a:ext cx="78562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Cấu hình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65981" y="6622205"/>
            <a:ext cx="61377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91B1B"/>
                </a:solidFill>
                <a:latin typeface="DejaVu Sans"/>
                <a:cs typeface="DejaVu Sans"/>
              </a:rPr>
              <a:t>Quyền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77309" y="6622205"/>
            <a:ext cx="73855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3730A3"/>
                </a:solidFill>
                <a:latin typeface="DejaVu Sans"/>
                <a:cs typeface="DejaVu Sans"/>
              </a:rPr>
              <a:t>Thực thi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61943" y="6622205"/>
            <a:ext cx="78819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15E59"/>
                </a:solidFill>
                <a:latin typeface="DejaVu Sans"/>
                <a:cs typeface="DejaVu Sans"/>
              </a:rPr>
              <a:t>Khởi đầu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93106" y="6963596"/>
            <a:ext cx="394520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Tệp XML khai báo các thành phần, quyền và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36097" y="6963596"/>
            <a:ext cx="3884323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Chạy được khi môi trường đã cài đặt, dự án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được tạo và triển khai lên trình giả lập hoặc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thiết bị.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93106" y="7220771"/>
            <a:ext cx="3587605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thông tin cần thiết của ứng dụng cho hệ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điều hành.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118424" y="8012855"/>
            <a:ext cx="405542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Sources: freeCodeCamp.org, GeeksforGeeks, Philipp Lackner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0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80196" y="308160"/>
            <a:ext cx="5383814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Câu hỏi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ôn 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1891" y="1712303"/>
            <a:ext cx="4196452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Studio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để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làm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7447" y="1883753"/>
            <a:ext cx="211443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Activity là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07447" y="3245828"/>
            <a:ext cx="3901309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Hello World</a:t>
            </a:r>
            <a:r>
              <a:rPr sz="2000" b="1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chạy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được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khi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nào?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21891" y="3417279"/>
            <a:ext cx="405131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Manifest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chứa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nội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dung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gì?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4317" y="4879131"/>
            <a:ext cx="3937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DejaVu Sans"/>
                <a:cs typeface="DejaVu Sans"/>
              </a:rPr>
              <a:t>IDE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74117" y="4879131"/>
            <a:ext cx="7285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DejaVu Sans"/>
                <a:cs typeface="DejaVu Sans"/>
              </a:rPr>
              <a:t>Công cụ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7309" y="4879131"/>
            <a:ext cx="120034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B21A8"/>
                </a:solidFill>
                <a:latin typeface="DejaVu Sans"/>
                <a:cs typeface="DejaVu Sans"/>
              </a:rPr>
              <a:t>Thành phần UI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923757" y="4879131"/>
            <a:ext cx="81906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D174D"/>
                </a:solidFill>
                <a:latin typeface="DejaVu Sans"/>
                <a:cs typeface="DejaVu Sans"/>
              </a:rPr>
              <a:t>Màn hình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93106" y="5210997"/>
            <a:ext cx="3933552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Môi trường phát triển (IDE) chính thức, dùng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để viết, debug, và kiểm thử ứng dụng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94685" y="5344347"/>
            <a:ext cx="417239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Một màn hình đơn lẻ </a:t>
            </a:r>
            <a:r>
              <a:rPr sz="1350" spc="-10" dirty="0">
                <a:solidFill>
                  <a:srgbClr val="1F2937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ứng dụng, cung cấp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giao diện để người dùng tương tác.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34317" y="6622205"/>
            <a:ext cx="78562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54D0E"/>
                </a:solidFill>
                <a:latin typeface="DejaVu Sans"/>
                <a:cs typeface="DejaVu Sans"/>
              </a:rPr>
              <a:t>Cấu hình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65981" y="6622205"/>
            <a:ext cx="61377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91B1B"/>
                </a:solidFill>
                <a:latin typeface="DejaVu Sans"/>
                <a:cs typeface="DejaVu Sans"/>
              </a:rPr>
              <a:t>Quyền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77309" y="6622205"/>
            <a:ext cx="73855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3730A3"/>
                </a:solidFill>
                <a:latin typeface="DejaVu Sans"/>
                <a:cs typeface="DejaVu Sans"/>
              </a:rPr>
              <a:t>Thực thi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61943" y="6622205"/>
            <a:ext cx="78819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15E59"/>
                </a:solidFill>
                <a:latin typeface="DejaVu Sans"/>
                <a:cs typeface="DejaVu Sans"/>
              </a:rPr>
              <a:t>Khởi đầu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93106" y="6963596"/>
            <a:ext cx="394520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Tệp XML khai báo các thành phần, quyền và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36097" y="6963596"/>
            <a:ext cx="3884323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Chạy được khi môi trường đã cài đặt, dự án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được tạo và triển khai lên trình giả lập hoặc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thiết bị.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93106" y="7220771"/>
            <a:ext cx="3587605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thông tin cần thiết của ứng dụng cho hệ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điều hành.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118424" y="8012855"/>
            <a:ext cx="405542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Sources: freeCodeCamp.org, GeeksforGeeks, Philipp Lackner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30265" y="434651"/>
            <a:ext cx="4283827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Bài tập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nhỏ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030" y="1659330"/>
            <a:ext cx="2020040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Cài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đặt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Studio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92029" y="1659330"/>
            <a:ext cx="1802186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"Hello 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World"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02029" y="1659330"/>
            <a:ext cx="1910582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62" dirty="0">
                <a:solidFill>
                  <a:srgbClr val="FFFFFF"/>
                </a:solidFill>
                <a:latin typeface="DejaVu Sans"/>
                <a:cs typeface="DejaVu Sans"/>
              </a:rPr>
              <a:t>Tùy</a:t>
            </a:r>
            <a:r>
              <a:rPr sz="1700" b="1" spc="4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chỉnh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7066" y="2384739"/>
            <a:ext cx="278404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Thiết lập môi trường phát triển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27065" y="2384739"/>
            <a:ext cx="271825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Khởi tạo dự án và hiển thị văn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bản đầu tiên.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37065" y="2384739"/>
            <a:ext cx="298232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Thay đổi văn bản, màu sắc và bố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cục ứng dụng.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97458" y="4976293"/>
            <a:ext cx="95669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95388" y="4976293"/>
            <a:ext cx="76150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cụ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07457" y="4976293"/>
            <a:ext cx="59553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án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844330" y="4976293"/>
            <a:ext cx="67629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17457" y="4976293"/>
            <a:ext cx="95652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kế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15239" y="4976293"/>
            <a:ext cx="109576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Cá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nhân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5641" y="5745554"/>
            <a:ext cx="10170943" cy="619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23" dirty="0">
                <a:solidFill>
                  <a:srgbClr val="FFFFFF"/>
                </a:solidFill>
                <a:latin typeface="DejaVu Sans"/>
                <a:cs typeface="DejaVu Sans"/>
              </a:rPr>
              <a:t>"Kotlin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is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concise,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FFFFFF"/>
                </a:solidFill>
                <a:latin typeface="DejaVu Sans"/>
                <a:cs typeface="DejaVu Sans"/>
              </a:rPr>
              <a:t>expressive,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and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doesn't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34" dirty="0">
                <a:solidFill>
                  <a:srgbClr val="FFFFFF"/>
                </a:solidFill>
                <a:latin typeface="DejaVu Sans"/>
                <a:cs typeface="DejaVu Sans"/>
              </a:rPr>
              <a:t>make</a:t>
            </a:r>
            <a:r>
              <a:rPr sz="170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you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write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10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lines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just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to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say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FFFFFF"/>
                </a:solidFill>
                <a:latin typeface="DejaVu Sans"/>
                <a:cs typeface="DejaVu Sans"/>
              </a:rPr>
              <a:t>“Hello,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DejaVu Sans"/>
                <a:cs typeface="DejaVu Sans"/>
              </a:rPr>
              <a:t>World!”"</a:t>
            </a:r>
          </a:p>
          <a:p>
            <a:pPr marL="0" marR="0">
              <a:lnSpc>
                <a:spcPts val="1564"/>
              </a:lnSpc>
              <a:spcBef>
                <a:spcPts val="1006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— So </a:t>
            </a:r>
            <a:r>
              <a:rPr sz="1350" spc="-91" dirty="0">
                <a:solidFill>
                  <a:srgbClr val="FFFFFF"/>
                </a:solidFill>
                <a:latin typeface="DejaVu Sans"/>
                <a:cs typeface="DejaVu Sans"/>
              </a:rPr>
              <a:t>Yo</a:t>
            </a:r>
            <a:r>
              <a:rPr sz="1350" spc="-43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u </a:t>
            </a:r>
            <a:r>
              <a:rPr sz="1350" spc="-34" dirty="0">
                <a:solidFill>
                  <a:srgbClr val="FFFFFF"/>
                </a:solidFill>
                <a:latin typeface="DejaVu Sans"/>
                <a:cs typeface="DejaVu Sans"/>
              </a:rPr>
              <a:t>Want</a:t>
            </a:r>
            <a:r>
              <a:rPr sz="1350" spc="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to Be an Android Developer in 2025 ...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954564" y="6520097"/>
            <a:ext cx="396310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So </a:t>
            </a:r>
            <a:r>
              <a:rPr sz="1000" spc="-40" dirty="0">
                <a:solidFill>
                  <a:srgbClr val="FFFFFF"/>
                </a:solidFill>
                <a:latin typeface="DejaVu Sans"/>
                <a:cs typeface="DejaVu Sans"/>
              </a:rPr>
              <a:t>You</a:t>
            </a:r>
            <a:r>
              <a:rPr sz="1000" spc="4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spc="-15" dirty="0">
                <a:solidFill>
                  <a:srgbClr val="FFFFFF"/>
                </a:solidFill>
                <a:latin typeface="DejaVu Sans"/>
                <a:cs typeface="DejaVu Sans"/>
              </a:rPr>
              <a:t>Want</a:t>
            </a:r>
            <a:r>
              <a:rPr sz="1000" spc="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to Be an Android Developer in 2025 ...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30265" y="434651"/>
            <a:ext cx="4283827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Bài tập </a:t>
            </a:r>
            <a:r>
              <a:rPr sz="5050" b="1" dirty="0">
                <a:solidFill>
                  <a:srgbClr val="FF9800"/>
                </a:solidFill>
                <a:latin typeface="DejaVu Sans"/>
                <a:cs typeface="DejaVu Sans"/>
              </a:rPr>
              <a:t>nhỏ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030" y="1659330"/>
            <a:ext cx="2020040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Cài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đặt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Studio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92029" y="1659330"/>
            <a:ext cx="1802186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"Hello </a:t>
            </a:r>
            <a:r>
              <a:rPr sz="1700" b="1" spc="-25" dirty="0">
                <a:solidFill>
                  <a:srgbClr val="FFFFFF"/>
                </a:solidFill>
                <a:latin typeface="DejaVu Sans"/>
                <a:cs typeface="DejaVu Sans"/>
              </a:rPr>
              <a:t>World"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02029" y="1659330"/>
            <a:ext cx="1910582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62" dirty="0">
                <a:solidFill>
                  <a:srgbClr val="FFFFFF"/>
                </a:solidFill>
                <a:latin typeface="DejaVu Sans"/>
                <a:cs typeface="DejaVu Sans"/>
              </a:rPr>
              <a:t>Tùy</a:t>
            </a:r>
            <a:r>
              <a:rPr sz="1700" b="1" spc="4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chỉnh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7066" y="2384739"/>
            <a:ext cx="278404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Thiết lập môi trường phát triển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27065" y="2384739"/>
            <a:ext cx="271825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Khởi tạo dự án và hiển thị văn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bản đầu tiên.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37065" y="2384739"/>
            <a:ext cx="298232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Thay đổi văn bản, màu sắc và bố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cục ứng dụng.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97458" y="4976293"/>
            <a:ext cx="95669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95388" y="4976293"/>
            <a:ext cx="76150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cụ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07457" y="4976293"/>
            <a:ext cx="59553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án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844330" y="4976293"/>
            <a:ext cx="67629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17457" y="4976293"/>
            <a:ext cx="95652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kế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15239" y="4976293"/>
            <a:ext cx="109576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Cá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nhân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5641" y="5745554"/>
            <a:ext cx="10170943" cy="619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23" dirty="0">
                <a:solidFill>
                  <a:srgbClr val="FFFFFF"/>
                </a:solidFill>
                <a:latin typeface="DejaVu Sans"/>
                <a:cs typeface="DejaVu Sans"/>
              </a:rPr>
              <a:t>"Kotlin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is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concise,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FFFFFF"/>
                </a:solidFill>
                <a:latin typeface="DejaVu Sans"/>
                <a:cs typeface="DejaVu Sans"/>
              </a:rPr>
              <a:t>expressive,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and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doesn't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34" dirty="0">
                <a:solidFill>
                  <a:srgbClr val="FFFFFF"/>
                </a:solidFill>
                <a:latin typeface="DejaVu Sans"/>
                <a:cs typeface="DejaVu Sans"/>
              </a:rPr>
              <a:t>make</a:t>
            </a:r>
            <a:r>
              <a:rPr sz="170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you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write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10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lines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just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to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say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FFFFFF"/>
                </a:solidFill>
                <a:latin typeface="DejaVu Sans"/>
                <a:cs typeface="DejaVu Sans"/>
              </a:rPr>
              <a:t>“Hello,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DejaVu Sans"/>
                <a:cs typeface="DejaVu Sans"/>
              </a:rPr>
              <a:t>World!”"</a:t>
            </a:r>
          </a:p>
          <a:p>
            <a:pPr marL="0" marR="0">
              <a:lnSpc>
                <a:spcPts val="1564"/>
              </a:lnSpc>
              <a:spcBef>
                <a:spcPts val="1006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— So </a:t>
            </a:r>
            <a:r>
              <a:rPr sz="1350" spc="-91" dirty="0">
                <a:solidFill>
                  <a:srgbClr val="FFFFFF"/>
                </a:solidFill>
                <a:latin typeface="DejaVu Sans"/>
                <a:cs typeface="DejaVu Sans"/>
              </a:rPr>
              <a:t>Yo</a:t>
            </a:r>
            <a:r>
              <a:rPr sz="1350" spc="-43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u </a:t>
            </a:r>
            <a:r>
              <a:rPr sz="1350" spc="-34" dirty="0">
                <a:solidFill>
                  <a:srgbClr val="FFFFFF"/>
                </a:solidFill>
                <a:latin typeface="DejaVu Sans"/>
                <a:cs typeface="DejaVu Sans"/>
              </a:rPr>
              <a:t>Want</a:t>
            </a:r>
            <a:r>
              <a:rPr sz="1350" spc="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to Be an Android Developer in 2025 ...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954564" y="6520097"/>
            <a:ext cx="396310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So </a:t>
            </a:r>
            <a:r>
              <a:rPr sz="1000" spc="-40" dirty="0">
                <a:solidFill>
                  <a:srgbClr val="FFFFFF"/>
                </a:solidFill>
                <a:latin typeface="DejaVu Sans"/>
                <a:cs typeface="DejaVu Sans"/>
              </a:rPr>
              <a:t>You</a:t>
            </a:r>
            <a:r>
              <a:rPr sz="1000" spc="49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spc="-15" dirty="0">
                <a:solidFill>
                  <a:srgbClr val="FFFFFF"/>
                </a:solidFill>
                <a:latin typeface="DejaVu Sans"/>
                <a:cs typeface="DejaVu Sans"/>
              </a:rPr>
              <a:t>Want</a:t>
            </a:r>
            <a:r>
              <a:rPr sz="1000" spc="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to Be an Android Developer in 2025 ...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97050" y="363360"/>
            <a:ext cx="7150196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Kết thúc </a:t>
            </a:r>
            <a:r>
              <a:rPr sz="6050" b="1" dirty="0">
                <a:solidFill>
                  <a:srgbClr val="FF9800"/>
                </a:solidFill>
                <a:latin typeface="DejaVu Sans"/>
                <a:cs typeface="DejaVu Sans"/>
              </a:rPr>
              <a:t>Buổi học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63309" y="1928293"/>
            <a:ext cx="1967292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Chủ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đề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sắp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tới: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chuyên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sâu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76771" y="2033068"/>
            <a:ext cx="18434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Kiến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tâm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2199" y="2486495"/>
            <a:ext cx="285438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Tổng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kiến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78737" y="2572220"/>
            <a:ext cx="305887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Chuẩn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46" dirty="0">
                <a:solidFill>
                  <a:srgbClr val="FFFFFF"/>
                </a:solidFill>
                <a:latin typeface="DejaVu Sans"/>
                <a:cs typeface="DejaVu Sans"/>
              </a:rPr>
              <a:t>Tuần</a:t>
            </a:r>
            <a:r>
              <a:rPr sz="2000" b="1" spc="6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48791" y="2994338"/>
            <a:ext cx="255376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Nắm vững cú pháp </a:t>
            </a:r>
            <a:r>
              <a:rPr sz="1350" spc="-17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  <a:r>
              <a:rPr sz="13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bản.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5329" y="3080063"/>
            <a:ext cx="237030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Lập trình hướng đối tượng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(OOP)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4" dirty="0">
                <a:solidFill>
                  <a:srgbClr val="FFFFFF"/>
                </a:solidFill>
                <a:latin typeface="DejaVu Sans"/>
                <a:cs typeface="DejaVu Sans"/>
              </a:rPr>
              <a:t>Kotlin.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48791" y="3680138"/>
            <a:ext cx="254585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Hiểu cấu trúc dự án Android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Studio.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35329" y="3765863"/>
            <a:ext cx="182407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Xử lý Null Safety và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Collections.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48791" y="4365938"/>
            <a:ext cx="274270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Làm quen với môi trường phát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triển.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35329" y="4451663"/>
            <a:ext cx="249755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Thực hành tạo ứng dụng cơ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bản.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88557" y="4557193"/>
            <a:ext cx="25669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"Hành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tiếp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diễn"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844384" y="5822508"/>
            <a:ext cx="207333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Nguồn tham khảo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26690" y="5870133"/>
            <a:ext cx="202561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Liên hệ chúng tôi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0568" y="6194738"/>
            <a:ext cx="94391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x@y.com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69088" y="6185968"/>
            <a:ext cx="15636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freeCodeCamp.org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500269" y="6185968"/>
            <a:ext cx="12894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Philipp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Lackner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97050" y="363360"/>
            <a:ext cx="7150196" cy="932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Kết thúc </a:t>
            </a:r>
            <a:r>
              <a:rPr sz="6050" b="1" dirty="0">
                <a:solidFill>
                  <a:srgbClr val="FF9800"/>
                </a:solidFill>
                <a:latin typeface="DejaVu Sans"/>
                <a:cs typeface="DejaVu Sans"/>
              </a:rPr>
              <a:t>Buổi học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63309" y="1928293"/>
            <a:ext cx="1967292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Chủ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đề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sắp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tới: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chuyên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sâu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76771" y="2033068"/>
            <a:ext cx="18434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Kiến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  <a:r>
              <a:rPr sz="12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tâm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2199" y="2486495"/>
            <a:ext cx="285438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Tổng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kiến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78737" y="2572220"/>
            <a:ext cx="305887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Chuẩn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46" dirty="0">
                <a:solidFill>
                  <a:srgbClr val="FFFFFF"/>
                </a:solidFill>
                <a:latin typeface="DejaVu Sans"/>
                <a:cs typeface="DejaVu Sans"/>
              </a:rPr>
              <a:t>Tuần</a:t>
            </a:r>
            <a:r>
              <a:rPr sz="2000" b="1" spc="6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48791" y="2994338"/>
            <a:ext cx="255376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Nắm vững cú pháp </a:t>
            </a:r>
            <a:r>
              <a:rPr sz="1350" spc="-17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  <a:r>
              <a:rPr sz="13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bản.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5329" y="3080063"/>
            <a:ext cx="237030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Lập trình hướng đối tượng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(OOP)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4" dirty="0">
                <a:solidFill>
                  <a:srgbClr val="FFFFFF"/>
                </a:solidFill>
                <a:latin typeface="DejaVu Sans"/>
                <a:cs typeface="DejaVu Sans"/>
              </a:rPr>
              <a:t>Kotlin.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48791" y="3680138"/>
            <a:ext cx="254585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Hiểu cấu trúc dự án Android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Studio.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35329" y="3765863"/>
            <a:ext cx="182407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Xử lý Null Safety và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Collections.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48791" y="4365938"/>
            <a:ext cx="274270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Làm quen với môi trường phát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triển.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35329" y="4451663"/>
            <a:ext cx="249755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Thực hành tạo ứng dụng cơ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bản.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88557" y="4557193"/>
            <a:ext cx="25669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"Hành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tiếp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 diễn"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844384" y="5822508"/>
            <a:ext cx="207333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Nguồn tham khảo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26690" y="5870133"/>
            <a:ext cx="202561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Liên hệ chúng tôi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0568" y="6194738"/>
            <a:ext cx="94391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x@y.com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69088" y="6185968"/>
            <a:ext cx="15636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freeCodeCamp.org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500269" y="6185968"/>
            <a:ext cx="12894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Philipp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Lackner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5673</Words>
  <Application>Microsoft Office PowerPoint</Application>
  <PresentationFormat>Widescreen</PresentationFormat>
  <Paragraphs>1114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Calibri</vt:lpstr>
      <vt:lpstr>DejaVu Sans</vt:lpstr>
      <vt:lpstr>Times New Roman</vt:lpstr>
      <vt:lpstr>DejaVu Sans Mono</vt:lpstr>
      <vt:lpstr>Liberation Sans</vt:lpstr>
      <vt:lpstr>Liberation Mono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Thái Thị Thanh Thảo</cp:lastModifiedBy>
  <cp:revision>5</cp:revision>
  <dcterms:modified xsi:type="dcterms:W3CDTF">2025-12-16T08:08:40Z</dcterms:modified>
</cp:coreProperties>
</file>